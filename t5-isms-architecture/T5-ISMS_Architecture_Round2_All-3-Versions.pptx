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(about 90 seconds)
1. Start at the foundation: every T5 site (T5A, T5B and T5C ISMS, Land Infrastructure Works, the Automated People Mover depot, Early Remote Stands) and any other site we add later plugs into one platform.
2. A dedicated Network &amp; Cyber Security Layer protects every connection before data reaches the platform.
3. T5-ISMS Sitewide unifies operations: Digital Twin, Incident &amp; Alarm Management, Sitewide Health Status, a Common Operating Picture and a Digital Workflow Engine.
4. Video Analytics (with video dispatcher and aggregators) and A.I. (ML, LLM) turn sensor and video data into insight.
5. The Orchestration Layer, built on APIs, SDKs, DIO and industry standards, lets that intelligence drive autonomous operations: robotics and automation (automated wheelchairs, patrol robots), predictive maintenance and Vision Watch.
Key message: one open-standards platform today, ready for autonomy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slideLayout" Target="../slideLayouts/slideLayout1.xml"/><Relationship Id="rId2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slideLayout" Target="../slideLayouts/slideLayout1.xml"/><Relationship Id="rId2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image" Target="../media/image-3-20.png"/><Relationship Id="rId21" Type="http://schemas.openxmlformats.org/officeDocument/2006/relationships/image" Target="../media/image-3-21.png"/><Relationship Id="rId22" Type="http://schemas.openxmlformats.org/officeDocument/2006/relationships/image" Target="../media/image-3-22.png"/><Relationship Id="rId23" Type="http://schemas.openxmlformats.org/officeDocument/2006/relationships/image" Target="../media/image-3-23.png"/><Relationship Id="rId24" Type="http://schemas.openxmlformats.org/officeDocument/2006/relationships/image" Target="../media/image-3-24.png"/><Relationship Id="rId25" Type="http://schemas.openxmlformats.org/officeDocument/2006/relationships/image" Target="../media/image-3-25.png"/><Relationship Id="rId26" Type="http://schemas.openxmlformats.org/officeDocument/2006/relationships/image" Target="../media/image-3-26.png"/><Relationship Id="rId27" Type="http://schemas.openxmlformats.org/officeDocument/2006/relationships/image" Target="../media/image-3-27.png"/><Relationship Id="rId28" Type="http://schemas.openxmlformats.org/officeDocument/2006/relationships/slideLayout" Target="../slideLayouts/slideLayout1.xml"/><Relationship Id="rId29"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274320" y="274320"/>
            <a:ext cx="219456" cy="0"/>
          </a:xfrm>
          <a:prstGeom prst="line">
            <a:avLst/>
          </a:prstGeom>
          <a:noFill/>
          <a:ln w="12700">
            <a:solidFill>
              <a:srgbClr val="00E5FF">
                <a:alpha val="65000"/>
              </a:srgbClr>
            </a:solidFill>
            <a:prstDash val="solid"/>
          </a:ln>
        </p:spPr>
      </p:sp>
      <p:sp>
        <p:nvSpPr>
          <p:cNvPr id="4" name="Shape 1"/>
          <p:cNvSpPr/>
          <p:nvPr/>
        </p:nvSpPr>
        <p:spPr>
          <a:xfrm>
            <a:off x="274320" y="274320"/>
            <a:ext cx="0" cy="219456"/>
          </a:xfrm>
          <a:prstGeom prst="line">
            <a:avLst/>
          </a:prstGeom>
          <a:noFill/>
          <a:ln w="12700">
            <a:solidFill>
              <a:srgbClr val="00E5FF">
                <a:alpha val="65000"/>
              </a:srgbClr>
            </a:solidFill>
            <a:prstDash val="solid"/>
          </a:ln>
        </p:spPr>
      </p:sp>
      <p:sp>
        <p:nvSpPr>
          <p:cNvPr id="5" name="Shape 2"/>
          <p:cNvSpPr/>
          <p:nvPr/>
        </p:nvSpPr>
        <p:spPr>
          <a:xfrm flipH="1">
            <a:off x="11697919" y="274320"/>
            <a:ext cx="219456" cy="0"/>
          </a:xfrm>
          <a:prstGeom prst="line">
            <a:avLst/>
          </a:prstGeom>
          <a:noFill/>
          <a:ln w="12700">
            <a:solidFill>
              <a:srgbClr val="00E5FF">
                <a:alpha val="65000"/>
              </a:srgbClr>
            </a:solidFill>
            <a:prstDash val="solid"/>
          </a:ln>
        </p:spPr>
      </p:sp>
      <p:sp>
        <p:nvSpPr>
          <p:cNvPr id="6" name="Shape 3"/>
          <p:cNvSpPr/>
          <p:nvPr/>
        </p:nvSpPr>
        <p:spPr>
          <a:xfrm>
            <a:off x="11917375" y="274320"/>
            <a:ext cx="0" cy="219456"/>
          </a:xfrm>
          <a:prstGeom prst="line">
            <a:avLst/>
          </a:prstGeom>
          <a:noFill/>
          <a:ln w="12700">
            <a:solidFill>
              <a:srgbClr val="00E5FF">
                <a:alpha val="65000"/>
              </a:srgbClr>
            </a:solidFill>
            <a:prstDash val="solid"/>
          </a:ln>
        </p:spPr>
      </p:sp>
      <p:sp>
        <p:nvSpPr>
          <p:cNvPr id="7" name="Shape 4"/>
          <p:cNvSpPr/>
          <p:nvPr/>
        </p:nvSpPr>
        <p:spPr>
          <a:xfrm>
            <a:off x="274320" y="6583680"/>
            <a:ext cx="219456" cy="0"/>
          </a:xfrm>
          <a:prstGeom prst="line">
            <a:avLst/>
          </a:prstGeom>
          <a:noFill/>
          <a:ln w="12700">
            <a:solidFill>
              <a:srgbClr val="00E5FF">
                <a:alpha val="65000"/>
              </a:srgbClr>
            </a:solidFill>
            <a:prstDash val="solid"/>
          </a:ln>
        </p:spPr>
      </p:sp>
      <p:sp>
        <p:nvSpPr>
          <p:cNvPr id="8" name="Shape 5"/>
          <p:cNvSpPr/>
          <p:nvPr/>
        </p:nvSpPr>
        <p:spPr>
          <a:xfrm flipV="1">
            <a:off x="274320" y="6364224"/>
            <a:ext cx="0" cy="219456"/>
          </a:xfrm>
          <a:prstGeom prst="line">
            <a:avLst/>
          </a:prstGeom>
          <a:noFill/>
          <a:ln w="12700">
            <a:solidFill>
              <a:srgbClr val="00E5FF">
                <a:alpha val="65000"/>
              </a:srgbClr>
            </a:solidFill>
            <a:prstDash val="solid"/>
          </a:ln>
        </p:spPr>
      </p:sp>
      <p:sp>
        <p:nvSpPr>
          <p:cNvPr id="9" name="Shape 6"/>
          <p:cNvSpPr/>
          <p:nvPr/>
        </p:nvSpPr>
        <p:spPr>
          <a:xfrm flipH="1">
            <a:off x="11697919" y="6583680"/>
            <a:ext cx="219456" cy="0"/>
          </a:xfrm>
          <a:prstGeom prst="line">
            <a:avLst/>
          </a:prstGeom>
          <a:noFill/>
          <a:ln w="12700">
            <a:solidFill>
              <a:srgbClr val="00E5FF">
                <a:alpha val="65000"/>
              </a:srgbClr>
            </a:solidFill>
            <a:prstDash val="solid"/>
          </a:ln>
        </p:spPr>
      </p:sp>
      <p:sp>
        <p:nvSpPr>
          <p:cNvPr id="10" name="Shape 7"/>
          <p:cNvSpPr/>
          <p:nvPr/>
        </p:nvSpPr>
        <p:spPr>
          <a:xfrm flipV="1">
            <a:off x="11917375" y="6364224"/>
            <a:ext cx="0" cy="219456"/>
          </a:xfrm>
          <a:prstGeom prst="line">
            <a:avLst/>
          </a:prstGeom>
          <a:noFill/>
          <a:ln w="12700">
            <a:solidFill>
              <a:srgbClr val="00E5FF">
                <a:alpha val="65000"/>
              </a:srgbClr>
            </a:solidFill>
            <a:prstDash val="solid"/>
          </a:ln>
        </p:spPr>
      </p:sp>
      <p:sp>
        <p:nvSpPr>
          <p:cNvPr id="11" name="Text 8"/>
          <p:cNvSpPr txBox="1"/>
          <p:nvPr/>
        </p:nvSpPr>
        <p:spPr>
          <a:xfrm>
            <a:off x="502920" y="384048"/>
            <a:ext cx="7315200" cy="219456"/>
          </a:xfrm>
          <a:prstGeom prst="rect">
            <a:avLst/>
          </a:prstGeom>
          <a:noFill/>
          <a:ln/>
        </p:spPr>
        <p:txBody>
          <a:bodyPr wrap="square" lIns="0" tIns="0" rIns="0" bIns="0" rtlCol="0" anchor="t"/>
          <a:lstStyle/>
          <a:p>
            <a:pPr indent="0" marL="0">
              <a:buNone/>
            </a:pPr>
            <a:r>
              <a:rPr lang="en-US" sz="1000" b="1" spc="400" kern="0" dirty="0">
                <a:solidFill>
                  <a:srgbClr val="00E5FF"/>
                </a:solidFill>
              </a:rPr>
              <a:t>T5 ISMS SITEWIDE  //  PRODUCT ARCHITECTURE</a:t>
            </a:r>
            <a:endParaRPr lang="en-US" sz="1000" dirty="0"/>
          </a:p>
        </p:txBody>
      </p:sp>
      <p:sp>
        <p:nvSpPr>
          <p:cNvPr id="12" name="Text 9"/>
          <p:cNvSpPr txBox="1"/>
          <p:nvPr/>
        </p:nvSpPr>
        <p:spPr>
          <a:xfrm>
            <a:off x="502920" y="658368"/>
            <a:ext cx="7863840" cy="868680"/>
          </a:xfrm>
          <a:prstGeom prst="rect">
            <a:avLst/>
          </a:prstGeom>
          <a:noFill/>
          <a:ln/>
        </p:spPr>
        <p:txBody>
          <a:bodyPr wrap="square" lIns="0" tIns="0" rIns="0" bIns="0" rtlCol="0" anchor="t"/>
          <a:lstStyle/>
          <a:p>
            <a:pPr indent="0" marL="0">
              <a:lnSpc>
                <a:spcPct val="92000"/>
              </a:lnSpc>
              <a:buNone/>
            </a:pPr>
            <a:r>
              <a:rPr lang="en-US" sz="2800" b="1" spc="150" kern="0" dirty="0">
                <a:solidFill>
                  <a:srgbClr val="FFFFFF"/>
                </a:solidFill>
                <a:effectLst>
                  <a:glow rad="101600">
                    <a:srgbClr val="00B8FF">
                      <a:alpha val="35000"/>
                    </a:srgbClr>
                  </a:glow>
                </a:effectLst>
              </a:rPr>
              <a:t>ONE PLATFORM. EVERY SITE.</a:t>
            </a:r>
            <a:endParaRPr lang="en-US" sz="2800" dirty="0"/>
          </a:p>
          <a:p>
            <a:pPr indent="0" marL="0">
              <a:lnSpc>
                <a:spcPct val="92000"/>
              </a:lnSpc>
              <a:buNone/>
            </a:pPr>
            <a:r>
              <a:rPr lang="en-US" sz="2800" b="1" spc="150" kern="0" dirty="0">
                <a:gradFill rotWithShape="1">
                  <a:gsLst>
                    <a:gs pos="0">
                      <a:srgbClr val="00E5FF"/>
                    </a:gs>
                    <a:gs pos="100000">
                      <a:srgbClr val="8B5CF6"/>
                    </a:gs>
                  </a:gsLst>
                  <a:lin ang="0" scaled="0"/>
                </a:gradFill>
                <a:effectLst>
                  <a:glow rad="101600">
                    <a:srgbClr val="00B8FF">
                      <a:alpha val="35000"/>
                    </a:srgbClr>
                  </a:glow>
                </a:effectLst>
              </a:rPr>
              <a:t>READY FOR AUTONOMY.</a:t>
            </a:r>
            <a:endParaRPr lang="en-US" sz="2800" dirty="0"/>
          </a:p>
        </p:txBody>
      </p:sp>
      <p:sp>
        <p:nvSpPr>
          <p:cNvPr id="13" name="Text 10"/>
          <p:cNvSpPr txBox="1"/>
          <p:nvPr/>
        </p:nvSpPr>
        <p:spPr>
          <a:xfrm>
            <a:off x="8823960" y="384048"/>
            <a:ext cx="2862072" cy="219456"/>
          </a:xfrm>
          <a:prstGeom prst="rect">
            <a:avLst/>
          </a:prstGeom>
          <a:noFill/>
          <a:ln/>
        </p:spPr>
        <p:txBody>
          <a:bodyPr wrap="square" lIns="0" tIns="0" rIns="0" bIns="0" rtlCol="0" anchor="t"/>
          <a:lstStyle/>
          <a:p>
            <a:pPr indent="0" marL="0">
              <a:buNone/>
            </a:pPr>
            <a:r>
              <a:rPr lang="en-US" sz="1000" b="1" spc="300" kern="0" dirty="0">
                <a:solidFill>
                  <a:srgbClr val="5E7896"/>
                </a:solidFill>
              </a:rPr>
              <a:t>01°21′N   103°59′E</a:t>
            </a:r>
            <a:endParaRPr lang="en-US" sz="1000" dirty="0"/>
          </a:p>
        </p:txBody>
      </p:sp>
      <p:sp>
        <p:nvSpPr>
          <p:cNvPr id="14" name="Text 11"/>
          <p:cNvSpPr txBox="1"/>
          <p:nvPr/>
        </p:nvSpPr>
        <p:spPr>
          <a:xfrm>
            <a:off x="8823960" y="676656"/>
            <a:ext cx="2862072" cy="822960"/>
          </a:xfrm>
          <a:prstGeom prst="rect">
            <a:avLst/>
          </a:prstGeom>
          <a:noFill/>
          <a:ln/>
        </p:spPr>
        <p:txBody>
          <a:bodyPr wrap="square" lIns="0" tIns="0" rIns="0" bIns="0" rtlCol="0" anchor="t"/>
          <a:lstStyle/>
          <a:p>
            <a:pPr indent="0" marL="0">
              <a:lnSpc>
                <a:spcPct val="115000"/>
              </a:lnSpc>
              <a:buNone/>
            </a:pPr>
            <a:r>
              <a:rPr lang="en-US" sz="1050" dirty="0">
                <a:solidFill>
                  <a:srgbClr val="8FA3BF"/>
                </a:solidFill>
              </a:rPr>
              <a:t>Open-standards based and integrated — future-ready for advanced sensors, AI/ML and autonomous technologies.</a:t>
            </a:r>
            <a:endParaRPr lang="en-US" sz="1050" dirty="0"/>
          </a:p>
        </p:txBody>
      </p:sp>
      <p:sp>
        <p:nvSpPr>
          <p:cNvPr id="15" name="Text 12"/>
          <p:cNvSpPr txBox="1"/>
          <p:nvPr/>
        </p:nvSpPr>
        <p:spPr>
          <a:xfrm>
            <a:off x="502920" y="1737360"/>
            <a:ext cx="1188720" cy="384048"/>
          </a:xfrm>
          <a:prstGeom prst="rect">
            <a:avLst/>
          </a:prstGeom>
          <a:noFill/>
          <a:ln/>
        </p:spPr>
        <p:txBody>
          <a:bodyPr wrap="square" lIns="0" tIns="0" rIns="0" bIns="0" rtlCol="0" anchor="t"/>
          <a:lstStyle/>
          <a:p>
            <a:pPr indent="0" marL="0">
              <a:spcAft>
                <a:spcPts val="200"/>
              </a:spcAft>
              <a:buNone/>
            </a:pPr>
            <a:r>
              <a:rPr lang="en-US" sz="1000" b="1" spc="100" kern="0" dirty="0">
                <a:solidFill>
                  <a:srgbClr val="00E5FF"/>
                </a:solidFill>
              </a:rPr>
              <a:t>04</a:t>
            </a:r>
            <a:endParaRPr lang="en-US" sz="1000" dirty="0"/>
          </a:p>
          <a:p>
            <a:pPr indent="0" marL="0">
              <a:spcAft>
                <a:spcPts val="200"/>
              </a:spcAft>
              <a:buNone/>
            </a:pPr>
            <a:r>
              <a:rPr lang="en-US" sz="1000" b="1" spc="100" kern="0" dirty="0">
                <a:solidFill>
                  <a:srgbClr val="FFFFFF"/>
                </a:solidFill>
              </a:rPr>
              <a:t>INTELLIGENCE</a:t>
            </a:r>
            <a:endParaRPr lang="en-US" sz="1000" dirty="0"/>
          </a:p>
        </p:txBody>
      </p:sp>
      <p:sp>
        <p:nvSpPr>
          <p:cNvPr id="16" name="Text 13"/>
          <p:cNvSpPr txBox="1"/>
          <p:nvPr/>
        </p:nvSpPr>
        <p:spPr>
          <a:xfrm>
            <a:off x="502920" y="2624328"/>
            <a:ext cx="1188720" cy="384048"/>
          </a:xfrm>
          <a:prstGeom prst="rect">
            <a:avLst/>
          </a:prstGeom>
          <a:noFill/>
          <a:ln/>
        </p:spPr>
        <p:txBody>
          <a:bodyPr wrap="square" lIns="0" tIns="0" rIns="0" bIns="0" rtlCol="0" anchor="t"/>
          <a:lstStyle/>
          <a:p>
            <a:pPr indent="0" marL="0">
              <a:spcAft>
                <a:spcPts val="200"/>
              </a:spcAft>
              <a:buNone/>
            </a:pPr>
            <a:r>
              <a:rPr lang="en-US" sz="1000" b="1" spc="100" kern="0" dirty="0">
                <a:solidFill>
                  <a:srgbClr val="00E5FF"/>
                </a:solidFill>
              </a:rPr>
              <a:t>03</a:t>
            </a:r>
            <a:endParaRPr lang="en-US" sz="1000" dirty="0"/>
          </a:p>
          <a:p>
            <a:pPr indent="0" marL="0">
              <a:spcAft>
                <a:spcPts val="200"/>
              </a:spcAft>
              <a:buNone/>
            </a:pPr>
            <a:r>
              <a:rPr lang="en-US" sz="1000" b="1" spc="100" kern="0" dirty="0">
                <a:solidFill>
                  <a:srgbClr val="FFFFFF"/>
                </a:solidFill>
              </a:rPr>
              <a:t>PLATFORM</a:t>
            </a:r>
            <a:endParaRPr lang="en-US" sz="1000" dirty="0"/>
          </a:p>
        </p:txBody>
      </p:sp>
      <p:sp>
        <p:nvSpPr>
          <p:cNvPr id="17" name="Text 14"/>
          <p:cNvSpPr txBox="1"/>
          <p:nvPr/>
        </p:nvSpPr>
        <p:spPr>
          <a:xfrm>
            <a:off x="502920" y="3950208"/>
            <a:ext cx="1188720" cy="384048"/>
          </a:xfrm>
          <a:prstGeom prst="rect">
            <a:avLst/>
          </a:prstGeom>
          <a:noFill/>
          <a:ln/>
        </p:spPr>
        <p:txBody>
          <a:bodyPr wrap="square" lIns="0" tIns="0" rIns="0" bIns="0" rtlCol="0" anchor="t"/>
          <a:lstStyle/>
          <a:p>
            <a:pPr indent="0" marL="0">
              <a:spcAft>
                <a:spcPts val="200"/>
              </a:spcAft>
              <a:buNone/>
            </a:pPr>
            <a:r>
              <a:rPr lang="en-US" sz="1000" b="1" spc="100" kern="0" dirty="0">
                <a:solidFill>
                  <a:srgbClr val="00E5FF"/>
                </a:solidFill>
              </a:rPr>
              <a:t>02</a:t>
            </a:r>
            <a:endParaRPr lang="en-US" sz="1000" dirty="0"/>
          </a:p>
          <a:p>
            <a:pPr indent="0" marL="0">
              <a:spcAft>
                <a:spcPts val="200"/>
              </a:spcAft>
              <a:buNone/>
            </a:pPr>
            <a:r>
              <a:rPr lang="en-US" sz="1000" b="1" spc="100" kern="0" dirty="0">
                <a:solidFill>
                  <a:srgbClr val="FFFFFF"/>
                </a:solidFill>
              </a:rPr>
              <a:t>SECURITY</a:t>
            </a:r>
            <a:endParaRPr lang="en-US" sz="1000" dirty="0"/>
          </a:p>
        </p:txBody>
      </p:sp>
      <p:sp>
        <p:nvSpPr>
          <p:cNvPr id="18" name="Text 15"/>
          <p:cNvSpPr txBox="1"/>
          <p:nvPr/>
        </p:nvSpPr>
        <p:spPr>
          <a:xfrm>
            <a:off x="502920" y="4608576"/>
            <a:ext cx="1188720" cy="384048"/>
          </a:xfrm>
          <a:prstGeom prst="rect">
            <a:avLst/>
          </a:prstGeom>
          <a:noFill/>
          <a:ln/>
        </p:spPr>
        <p:txBody>
          <a:bodyPr wrap="square" lIns="0" tIns="0" rIns="0" bIns="0" rtlCol="0" anchor="t"/>
          <a:lstStyle/>
          <a:p>
            <a:pPr indent="0" marL="0">
              <a:spcAft>
                <a:spcPts val="200"/>
              </a:spcAft>
              <a:buNone/>
            </a:pPr>
            <a:r>
              <a:rPr lang="en-US" sz="1000" b="1" spc="100" kern="0" dirty="0">
                <a:solidFill>
                  <a:srgbClr val="00E5FF"/>
                </a:solidFill>
              </a:rPr>
              <a:t>01</a:t>
            </a:r>
            <a:endParaRPr lang="en-US" sz="1000" dirty="0"/>
          </a:p>
          <a:p>
            <a:pPr indent="0" marL="0">
              <a:spcAft>
                <a:spcPts val="200"/>
              </a:spcAft>
              <a:buNone/>
            </a:pPr>
            <a:r>
              <a:rPr lang="en-US" sz="1000" b="1" spc="100" kern="0" dirty="0">
                <a:solidFill>
                  <a:srgbClr val="FFFFFF"/>
                </a:solidFill>
              </a:rPr>
              <a:t>SITES</a:t>
            </a:r>
            <a:endParaRPr lang="en-US" sz="1000" dirty="0"/>
          </a:p>
        </p:txBody>
      </p:sp>
      <p:sp>
        <p:nvSpPr>
          <p:cNvPr id="19" name="Text 16"/>
          <p:cNvSpPr txBox="1"/>
          <p:nvPr/>
        </p:nvSpPr>
        <p:spPr>
          <a:xfrm>
            <a:off x="9491472" y="1737360"/>
            <a:ext cx="1188720" cy="384048"/>
          </a:xfrm>
          <a:prstGeom prst="rect">
            <a:avLst/>
          </a:prstGeom>
          <a:noFill/>
          <a:ln/>
        </p:spPr>
        <p:txBody>
          <a:bodyPr wrap="square" lIns="0" tIns="0" rIns="0" bIns="0" rtlCol="0" anchor="t"/>
          <a:lstStyle/>
          <a:p>
            <a:pPr indent="0" marL="0">
              <a:spcAft>
                <a:spcPts val="200"/>
              </a:spcAft>
              <a:buNone/>
            </a:pPr>
            <a:r>
              <a:rPr lang="en-US" sz="1000" b="1" spc="100" kern="0" dirty="0">
                <a:solidFill>
                  <a:srgbClr val="00E5FF"/>
                </a:solidFill>
              </a:rPr>
              <a:t>06</a:t>
            </a:r>
            <a:endParaRPr lang="en-US" sz="1000" dirty="0"/>
          </a:p>
          <a:p>
            <a:pPr indent="0" marL="0">
              <a:spcAft>
                <a:spcPts val="200"/>
              </a:spcAft>
              <a:buNone/>
            </a:pPr>
            <a:r>
              <a:rPr lang="en-US" sz="1000" b="1" spc="100" kern="0" dirty="0">
                <a:solidFill>
                  <a:srgbClr val="FFFFFF"/>
                </a:solidFill>
              </a:rPr>
              <a:t>AUTONOMY</a:t>
            </a:r>
            <a:endParaRPr lang="en-US" sz="1000" dirty="0"/>
          </a:p>
        </p:txBody>
      </p:sp>
      <p:sp>
        <p:nvSpPr>
          <p:cNvPr id="20" name="Shape 17"/>
          <p:cNvSpPr/>
          <p:nvPr/>
        </p:nvSpPr>
        <p:spPr>
          <a:xfrm>
            <a:off x="1691640" y="1737360"/>
            <a:ext cx="3429000" cy="777240"/>
          </a:xfrm>
          <a:prstGeom prst="roundRect">
            <a:avLst>
              <a:gd name="adj" fmla="val 9412"/>
            </a:avLst>
          </a:prstGeom>
          <a:solidFill>
            <a:srgbClr val="0B1A2E">
              <a:alpha val="95000"/>
            </a:srgbClr>
          </a:solidFill>
          <a:ln w="9525">
            <a:solidFill>
              <a:srgbClr val="00E5FF">
                <a:alpha val="80000"/>
              </a:srgbClr>
            </a:solidFill>
            <a:prstDash val="solid"/>
          </a:ln>
        </p:spPr>
      </p:sp>
      <p:pic>
        <p:nvPicPr>
          <p:cNvPr id="21" name="Image 0" descr="Security Camera icon">    </p:cNvPr>
          <p:cNvPicPr>
            <a:picLocks noChangeAspect="1"/>
          </p:cNvPicPr>
          <p:nvPr/>
        </p:nvPicPr>
        <p:blipFill>
          <a:blip r:embed="rId2"/>
          <a:stretch>
            <a:fillRect/>
          </a:stretch>
        </p:blipFill>
        <p:spPr>
          <a:xfrm>
            <a:off x="1892808" y="1952244"/>
            <a:ext cx="347472" cy="347472"/>
          </a:xfrm>
          <a:prstGeom prst="rect">
            <a:avLst/>
          </a:prstGeom>
        </p:spPr>
      </p:pic>
      <p:sp>
        <p:nvSpPr>
          <p:cNvPr id="22" name="Text 18"/>
          <p:cNvSpPr txBox="1"/>
          <p:nvPr/>
        </p:nvSpPr>
        <p:spPr>
          <a:xfrm>
            <a:off x="2377440" y="1874520"/>
            <a:ext cx="2606040" cy="237744"/>
          </a:xfrm>
          <a:prstGeom prst="rect">
            <a:avLst/>
          </a:prstGeom>
          <a:noFill/>
          <a:ln/>
        </p:spPr>
        <p:txBody>
          <a:bodyPr wrap="square" lIns="0" tIns="0" rIns="0" bIns="0" rtlCol="0" anchor="t"/>
          <a:lstStyle/>
          <a:p>
            <a:pPr indent="0" marL="0">
              <a:buNone/>
            </a:pPr>
            <a:r>
              <a:rPr lang="en-US" sz="1200" b="1" spc="200" kern="0" dirty="0">
                <a:solidFill>
                  <a:srgbClr val="FFFFFF"/>
                </a:solidFill>
              </a:rPr>
              <a:t>VIDEO ANALYTICS</a:t>
            </a:r>
            <a:endParaRPr lang="en-US" sz="1200" dirty="0"/>
          </a:p>
        </p:txBody>
      </p:sp>
      <p:sp>
        <p:nvSpPr>
          <p:cNvPr id="23" name="Text 19"/>
          <p:cNvSpPr txBox="1"/>
          <p:nvPr/>
        </p:nvSpPr>
        <p:spPr>
          <a:xfrm>
            <a:off x="2377440" y="2148840"/>
            <a:ext cx="2606040" cy="237744"/>
          </a:xfrm>
          <a:prstGeom prst="rect">
            <a:avLst/>
          </a:prstGeom>
          <a:noFill/>
          <a:ln/>
        </p:spPr>
        <p:txBody>
          <a:bodyPr wrap="square" lIns="0" tIns="0" rIns="0" bIns="0" rtlCol="0" anchor="t"/>
          <a:lstStyle/>
          <a:p>
            <a:pPr indent="0" marL="0">
              <a:buNone/>
            </a:pPr>
            <a:r>
              <a:rPr lang="en-US" sz="1050" dirty="0">
                <a:solidFill>
                  <a:srgbClr val="8FA3BF"/>
                </a:solidFill>
              </a:rPr>
              <a:t>Video dispatcher &amp; aggregators</a:t>
            </a:r>
            <a:endParaRPr lang="en-US" sz="1050" dirty="0"/>
          </a:p>
        </p:txBody>
      </p:sp>
      <p:sp>
        <p:nvSpPr>
          <p:cNvPr id="24" name="Shape 20"/>
          <p:cNvSpPr/>
          <p:nvPr/>
        </p:nvSpPr>
        <p:spPr>
          <a:xfrm>
            <a:off x="5230368" y="1737360"/>
            <a:ext cx="3429000" cy="777240"/>
          </a:xfrm>
          <a:prstGeom prst="roundRect">
            <a:avLst>
              <a:gd name="adj" fmla="val 9412"/>
            </a:avLst>
          </a:prstGeom>
          <a:solidFill>
            <a:srgbClr val="1A0820">
              <a:alpha val="92000"/>
            </a:srgbClr>
          </a:solidFill>
          <a:ln w="15875">
            <a:solidFill>
              <a:srgbClr val="FF3DCB"/>
            </a:solidFill>
            <a:prstDash val="solid"/>
          </a:ln>
          <a:effectLst>
            <a:outerShdw sx="100000" sy="100000" kx="0" ky="0" algn="bl" rotWithShape="0" blurRad="203200" dist="50800" dir="5400000">
              <a:srgbClr val="FF3DCB">
                <a:alpha val="60000"/>
              </a:srgbClr>
            </a:outerShdw>
          </a:effectLst>
        </p:spPr>
      </p:sp>
      <p:pic>
        <p:nvPicPr>
          <p:cNvPr id="25" name="Image 1" descr="Brain icon">    </p:cNvPr>
          <p:cNvPicPr>
            <a:picLocks noChangeAspect="1"/>
          </p:cNvPicPr>
          <p:nvPr/>
        </p:nvPicPr>
        <p:blipFill>
          <a:blip r:embed="rId3"/>
          <a:stretch>
            <a:fillRect/>
          </a:stretch>
        </p:blipFill>
        <p:spPr>
          <a:xfrm>
            <a:off x="5431536" y="1952244"/>
            <a:ext cx="347472" cy="347472"/>
          </a:xfrm>
          <a:prstGeom prst="rect">
            <a:avLst/>
          </a:prstGeom>
        </p:spPr>
      </p:pic>
      <p:sp>
        <p:nvSpPr>
          <p:cNvPr id="26" name="Text 21"/>
          <p:cNvSpPr txBox="1"/>
          <p:nvPr/>
        </p:nvSpPr>
        <p:spPr>
          <a:xfrm>
            <a:off x="5916168" y="1856232"/>
            <a:ext cx="2606040" cy="274320"/>
          </a:xfrm>
          <a:prstGeom prst="rect">
            <a:avLst/>
          </a:prstGeom>
          <a:noFill/>
          <a:ln/>
        </p:spPr>
        <p:txBody>
          <a:bodyPr wrap="square" lIns="0" tIns="0" rIns="0" bIns="0" rtlCol="0" anchor="t"/>
          <a:lstStyle/>
          <a:p>
            <a:pPr indent="0" marL="0">
              <a:buNone/>
            </a:pPr>
            <a:r>
              <a:rPr lang="en-US" sz="1400" b="1" spc="200" kern="0" dirty="0">
                <a:solidFill>
                  <a:srgbClr val="FFFFFF"/>
                </a:solidFill>
                <a:effectLst>
                  <a:glow rad="76200">
                    <a:srgbClr val="FF3DCB">
                      <a:alpha val="40000"/>
                    </a:srgbClr>
                  </a:glow>
                </a:effectLst>
              </a:rPr>
              <a:t>A.I.</a:t>
            </a:r>
            <a:endParaRPr lang="en-US" sz="1400" dirty="0"/>
          </a:p>
        </p:txBody>
      </p:sp>
      <p:sp>
        <p:nvSpPr>
          <p:cNvPr id="27" name="Text 22"/>
          <p:cNvSpPr txBox="1"/>
          <p:nvPr/>
        </p:nvSpPr>
        <p:spPr>
          <a:xfrm>
            <a:off x="5916168" y="2148840"/>
            <a:ext cx="2606040" cy="237744"/>
          </a:xfrm>
          <a:prstGeom prst="rect">
            <a:avLst/>
          </a:prstGeom>
          <a:noFill/>
          <a:ln/>
        </p:spPr>
        <p:txBody>
          <a:bodyPr wrap="square" lIns="0" tIns="0" rIns="0" bIns="0" rtlCol="0" anchor="t"/>
          <a:lstStyle/>
          <a:p>
            <a:pPr indent="0" marL="0">
              <a:buNone/>
            </a:pPr>
            <a:r>
              <a:rPr lang="en-US" sz="1050" b="1" dirty="0">
                <a:solidFill>
                  <a:srgbClr val="F8A8EC"/>
                </a:solidFill>
              </a:rPr>
              <a:t>ML · LLM · AI</a:t>
            </a:r>
            <a:endParaRPr lang="en-US" sz="1050" dirty="0"/>
          </a:p>
        </p:txBody>
      </p:sp>
      <p:sp>
        <p:nvSpPr>
          <p:cNvPr id="28" name="Shape 23"/>
          <p:cNvSpPr/>
          <p:nvPr/>
        </p:nvSpPr>
        <p:spPr>
          <a:xfrm>
            <a:off x="1691640" y="2624328"/>
            <a:ext cx="6967728" cy="1216152"/>
          </a:xfrm>
          <a:prstGeom prst="roundRect">
            <a:avLst>
              <a:gd name="adj" fmla="val 7519"/>
            </a:avLst>
          </a:prstGeom>
          <a:solidFill>
            <a:srgbClr val="06101E">
              <a:alpha val="88000"/>
            </a:srgbClr>
          </a:solidFill>
          <a:ln w="12700">
            <a:solidFill>
              <a:srgbClr val="00E5FF"/>
            </a:solidFill>
            <a:prstDash val="solid"/>
          </a:ln>
          <a:effectLst>
            <a:outerShdw sx="100000" sy="100000" kx="0" ky="0" algn="bl" rotWithShape="0" blurRad="228600" dist="50800" dir="5400000">
              <a:srgbClr val="00E5FF">
                <a:alpha val="35000"/>
              </a:srgbClr>
            </a:outerShdw>
          </a:effectLst>
        </p:spPr>
      </p:sp>
      <p:sp>
        <p:nvSpPr>
          <p:cNvPr id="29" name="Text 24"/>
          <p:cNvSpPr txBox="1"/>
          <p:nvPr/>
        </p:nvSpPr>
        <p:spPr>
          <a:xfrm>
            <a:off x="1874520" y="2734056"/>
            <a:ext cx="3200400" cy="219456"/>
          </a:xfrm>
          <a:prstGeom prst="rect">
            <a:avLst/>
          </a:prstGeom>
          <a:noFill/>
          <a:ln/>
        </p:spPr>
        <p:txBody>
          <a:bodyPr wrap="square" lIns="0" tIns="0" rIns="0" bIns="0" rtlCol="0" anchor="t"/>
          <a:lstStyle/>
          <a:p>
            <a:pPr indent="0" marL="0">
              <a:buNone/>
            </a:pPr>
            <a:r>
              <a:rPr lang="en-US" sz="1100" b="1" spc="200" kern="0" dirty="0">
                <a:solidFill>
                  <a:srgbClr val="FFFFFF"/>
                </a:solidFill>
              </a:rPr>
              <a:t>T5-ISMS SITEWIDE</a:t>
            </a:r>
            <a:endParaRPr lang="en-US" sz="1100" dirty="0"/>
          </a:p>
        </p:txBody>
      </p:sp>
      <p:sp>
        <p:nvSpPr>
          <p:cNvPr id="30" name="Text 25"/>
          <p:cNvSpPr txBox="1"/>
          <p:nvPr/>
        </p:nvSpPr>
        <p:spPr>
          <a:xfrm>
            <a:off x="5276088" y="2734056"/>
            <a:ext cx="3200400" cy="219456"/>
          </a:xfrm>
          <a:prstGeom prst="rect">
            <a:avLst/>
          </a:prstGeom>
          <a:noFill/>
          <a:ln/>
        </p:spPr>
        <p:txBody>
          <a:bodyPr wrap="square" lIns="0" tIns="0" rIns="0" bIns="0" rtlCol="0" anchor="t"/>
          <a:lstStyle/>
          <a:p>
            <a:pPr algn="r" indent="0" marL="0">
              <a:buNone/>
            </a:pPr>
            <a:r>
              <a:rPr lang="en-US" sz="1000" b="1" spc="200" kern="0" dirty="0">
                <a:solidFill>
                  <a:srgbClr val="5E7896"/>
                </a:solidFill>
              </a:rPr>
              <a:t>5 CORE MODULES</a:t>
            </a:r>
            <a:endParaRPr lang="en-US" sz="1000" dirty="0"/>
          </a:p>
        </p:txBody>
      </p:sp>
      <p:sp>
        <p:nvSpPr>
          <p:cNvPr id="31" name="Shape 26"/>
          <p:cNvSpPr/>
          <p:nvPr/>
        </p:nvSpPr>
        <p:spPr>
          <a:xfrm>
            <a:off x="1947672" y="3026664"/>
            <a:ext cx="457200" cy="402336"/>
          </a:xfrm>
          <a:prstGeom prst="hexagon">
            <a:avLst/>
          </a:prstGeom>
          <a:solidFill>
            <a:srgbClr val="00E5FF">
              <a:alpha val="12000"/>
            </a:srgbClr>
          </a:solidFill>
          <a:ln w="9525">
            <a:solidFill>
              <a:srgbClr val="00E5FF"/>
            </a:solidFill>
            <a:prstDash val="solid"/>
          </a:ln>
        </p:spPr>
      </p:sp>
      <p:pic>
        <p:nvPicPr>
          <p:cNvPr id="32" name="Image 2" descr="Cube Transparent icon">    </p:cNvPr>
          <p:cNvPicPr>
            <a:picLocks noChangeAspect="1"/>
          </p:cNvPicPr>
          <p:nvPr/>
        </p:nvPicPr>
        <p:blipFill>
          <a:blip r:embed="rId4"/>
          <a:stretch>
            <a:fillRect/>
          </a:stretch>
        </p:blipFill>
        <p:spPr>
          <a:xfrm>
            <a:off x="2057400" y="3108960"/>
            <a:ext cx="237744" cy="237744"/>
          </a:xfrm>
          <a:prstGeom prst="rect">
            <a:avLst/>
          </a:prstGeom>
        </p:spPr>
      </p:pic>
      <p:sp>
        <p:nvSpPr>
          <p:cNvPr id="33" name="Text 27"/>
          <p:cNvSpPr txBox="1"/>
          <p:nvPr/>
        </p:nvSpPr>
        <p:spPr>
          <a:xfrm>
            <a:off x="1947672" y="3474720"/>
            <a:ext cx="1137514" cy="347472"/>
          </a:xfrm>
          <a:prstGeom prst="rect">
            <a:avLst/>
          </a:prstGeom>
          <a:noFill/>
          <a:ln/>
        </p:spPr>
        <p:txBody>
          <a:bodyPr wrap="square" lIns="0" tIns="0" rIns="0" bIns="0" rtlCol="0" anchor="t"/>
          <a:lstStyle/>
          <a:p>
            <a:pPr indent="0" marL="0">
              <a:buNone/>
            </a:pPr>
            <a:r>
              <a:rPr lang="en-US" sz="1050" dirty="0">
                <a:solidFill>
                  <a:srgbClr val="FFFFFF"/>
                </a:solidFill>
              </a:rPr>
              <a:t>Digital Twin</a:t>
            </a:r>
            <a:endParaRPr lang="en-US" sz="1050" dirty="0"/>
          </a:p>
        </p:txBody>
      </p:sp>
      <p:sp>
        <p:nvSpPr>
          <p:cNvPr id="34" name="Shape 28"/>
          <p:cNvSpPr/>
          <p:nvPr/>
        </p:nvSpPr>
        <p:spPr>
          <a:xfrm>
            <a:off x="3167482" y="3063240"/>
            <a:ext cx="0" cy="658368"/>
          </a:xfrm>
          <a:prstGeom prst="line">
            <a:avLst/>
          </a:prstGeom>
          <a:noFill/>
          <a:ln w="9525">
            <a:solidFill>
              <a:srgbClr val="17406A"/>
            </a:solidFill>
            <a:prstDash val="solid"/>
          </a:ln>
        </p:spPr>
      </p:sp>
      <p:sp>
        <p:nvSpPr>
          <p:cNvPr id="35" name="Shape 29"/>
          <p:cNvSpPr/>
          <p:nvPr/>
        </p:nvSpPr>
        <p:spPr>
          <a:xfrm>
            <a:off x="3286354" y="3026664"/>
            <a:ext cx="457200" cy="402336"/>
          </a:xfrm>
          <a:prstGeom prst="hexagon">
            <a:avLst/>
          </a:prstGeom>
          <a:solidFill>
            <a:srgbClr val="00E5FF">
              <a:alpha val="12000"/>
            </a:srgbClr>
          </a:solidFill>
          <a:ln w="9525">
            <a:solidFill>
              <a:srgbClr val="00E5FF"/>
            </a:solidFill>
            <a:prstDash val="solid"/>
          </a:ln>
        </p:spPr>
      </p:sp>
      <p:pic>
        <p:nvPicPr>
          <p:cNvPr id="36" name="Image 3" descr="Siren icon">    </p:cNvPr>
          <p:cNvPicPr>
            <a:picLocks noChangeAspect="1"/>
          </p:cNvPicPr>
          <p:nvPr/>
        </p:nvPicPr>
        <p:blipFill>
          <a:blip r:embed="rId5"/>
          <a:stretch>
            <a:fillRect/>
          </a:stretch>
        </p:blipFill>
        <p:spPr>
          <a:xfrm>
            <a:off x="3396082" y="3108960"/>
            <a:ext cx="237744" cy="237744"/>
          </a:xfrm>
          <a:prstGeom prst="rect">
            <a:avLst/>
          </a:prstGeom>
        </p:spPr>
      </p:pic>
      <p:sp>
        <p:nvSpPr>
          <p:cNvPr id="37" name="Text 30"/>
          <p:cNvSpPr txBox="1"/>
          <p:nvPr/>
        </p:nvSpPr>
        <p:spPr>
          <a:xfrm>
            <a:off x="3286354" y="3474720"/>
            <a:ext cx="1137514" cy="347472"/>
          </a:xfrm>
          <a:prstGeom prst="rect">
            <a:avLst/>
          </a:prstGeom>
          <a:noFill/>
          <a:ln/>
        </p:spPr>
        <p:txBody>
          <a:bodyPr wrap="square" lIns="0" tIns="0" rIns="0" bIns="0" rtlCol="0" anchor="t"/>
          <a:lstStyle/>
          <a:p>
            <a:pPr indent="0" marL="0">
              <a:buNone/>
            </a:pPr>
            <a:r>
              <a:rPr lang="en-US" sz="1050" dirty="0">
                <a:solidFill>
                  <a:srgbClr val="FFFFFF"/>
                </a:solidFill>
              </a:rPr>
              <a:t>Incident &amp; Alarm Management</a:t>
            </a:r>
            <a:endParaRPr lang="en-US" sz="1050" dirty="0"/>
          </a:p>
        </p:txBody>
      </p:sp>
      <p:sp>
        <p:nvSpPr>
          <p:cNvPr id="38" name="Shape 31"/>
          <p:cNvSpPr/>
          <p:nvPr/>
        </p:nvSpPr>
        <p:spPr>
          <a:xfrm>
            <a:off x="4506163" y="3063240"/>
            <a:ext cx="0" cy="658368"/>
          </a:xfrm>
          <a:prstGeom prst="line">
            <a:avLst/>
          </a:prstGeom>
          <a:noFill/>
          <a:ln w="9525">
            <a:solidFill>
              <a:srgbClr val="17406A"/>
            </a:solidFill>
            <a:prstDash val="solid"/>
          </a:ln>
        </p:spPr>
      </p:sp>
      <p:sp>
        <p:nvSpPr>
          <p:cNvPr id="39" name="Shape 32"/>
          <p:cNvSpPr/>
          <p:nvPr/>
        </p:nvSpPr>
        <p:spPr>
          <a:xfrm>
            <a:off x="4625035" y="3026664"/>
            <a:ext cx="457200" cy="402336"/>
          </a:xfrm>
          <a:prstGeom prst="hexagon">
            <a:avLst/>
          </a:prstGeom>
          <a:solidFill>
            <a:srgbClr val="00E5FF">
              <a:alpha val="12000"/>
            </a:srgbClr>
          </a:solidFill>
          <a:ln w="9525">
            <a:solidFill>
              <a:srgbClr val="00E5FF"/>
            </a:solidFill>
            <a:prstDash val="solid"/>
          </a:ln>
        </p:spPr>
      </p:sp>
      <p:pic>
        <p:nvPicPr>
          <p:cNvPr id="40" name="Image 4" descr="Heartbeat icon">    </p:cNvPr>
          <p:cNvPicPr>
            <a:picLocks noChangeAspect="1"/>
          </p:cNvPicPr>
          <p:nvPr/>
        </p:nvPicPr>
        <p:blipFill>
          <a:blip r:embed="rId6"/>
          <a:stretch>
            <a:fillRect/>
          </a:stretch>
        </p:blipFill>
        <p:spPr>
          <a:xfrm>
            <a:off x="4734763" y="3108960"/>
            <a:ext cx="237744" cy="237744"/>
          </a:xfrm>
          <a:prstGeom prst="rect">
            <a:avLst/>
          </a:prstGeom>
        </p:spPr>
      </p:pic>
      <p:sp>
        <p:nvSpPr>
          <p:cNvPr id="41" name="Text 33"/>
          <p:cNvSpPr txBox="1"/>
          <p:nvPr/>
        </p:nvSpPr>
        <p:spPr>
          <a:xfrm>
            <a:off x="4625035" y="3474720"/>
            <a:ext cx="1137514" cy="347472"/>
          </a:xfrm>
          <a:prstGeom prst="rect">
            <a:avLst/>
          </a:prstGeom>
          <a:noFill/>
          <a:ln/>
        </p:spPr>
        <p:txBody>
          <a:bodyPr wrap="square" lIns="0" tIns="0" rIns="0" bIns="0" rtlCol="0" anchor="t"/>
          <a:lstStyle/>
          <a:p>
            <a:pPr indent="0" marL="0">
              <a:buNone/>
            </a:pPr>
            <a:r>
              <a:rPr lang="en-US" sz="1050" dirty="0">
                <a:solidFill>
                  <a:srgbClr val="FFFFFF"/>
                </a:solidFill>
              </a:rPr>
              <a:t>Sitewide Health Status</a:t>
            </a:r>
            <a:endParaRPr lang="en-US" sz="1050" dirty="0"/>
          </a:p>
        </p:txBody>
      </p:sp>
      <p:sp>
        <p:nvSpPr>
          <p:cNvPr id="42" name="Shape 34"/>
          <p:cNvSpPr/>
          <p:nvPr/>
        </p:nvSpPr>
        <p:spPr>
          <a:xfrm>
            <a:off x="5844845" y="3063240"/>
            <a:ext cx="0" cy="658368"/>
          </a:xfrm>
          <a:prstGeom prst="line">
            <a:avLst/>
          </a:prstGeom>
          <a:noFill/>
          <a:ln w="9525">
            <a:solidFill>
              <a:srgbClr val="17406A"/>
            </a:solidFill>
            <a:prstDash val="solid"/>
          </a:ln>
        </p:spPr>
      </p:sp>
      <p:sp>
        <p:nvSpPr>
          <p:cNvPr id="43" name="Shape 35"/>
          <p:cNvSpPr/>
          <p:nvPr/>
        </p:nvSpPr>
        <p:spPr>
          <a:xfrm>
            <a:off x="5963717" y="3026664"/>
            <a:ext cx="457200" cy="402336"/>
          </a:xfrm>
          <a:prstGeom prst="hexagon">
            <a:avLst/>
          </a:prstGeom>
          <a:solidFill>
            <a:srgbClr val="00E5FF">
              <a:alpha val="12000"/>
            </a:srgbClr>
          </a:solidFill>
          <a:ln w="9525">
            <a:solidFill>
              <a:srgbClr val="00E5FF"/>
            </a:solidFill>
            <a:prstDash val="solid"/>
          </a:ln>
        </p:spPr>
      </p:sp>
      <p:pic>
        <p:nvPicPr>
          <p:cNvPr id="44" name="Image 5" descr="Squares Four icon">    </p:cNvPr>
          <p:cNvPicPr>
            <a:picLocks noChangeAspect="1"/>
          </p:cNvPicPr>
          <p:nvPr/>
        </p:nvPicPr>
        <p:blipFill>
          <a:blip r:embed="rId7"/>
          <a:stretch>
            <a:fillRect/>
          </a:stretch>
        </p:blipFill>
        <p:spPr>
          <a:xfrm>
            <a:off x="6073445" y="3108960"/>
            <a:ext cx="237744" cy="237744"/>
          </a:xfrm>
          <a:prstGeom prst="rect">
            <a:avLst/>
          </a:prstGeom>
        </p:spPr>
      </p:pic>
      <p:sp>
        <p:nvSpPr>
          <p:cNvPr id="45" name="Text 36"/>
          <p:cNvSpPr txBox="1"/>
          <p:nvPr/>
        </p:nvSpPr>
        <p:spPr>
          <a:xfrm>
            <a:off x="5963717" y="3474720"/>
            <a:ext cx="1137514" cy="347472"/>
          </a:xfrm>
          <a:prstGeom prst="rect">
            <a:avLst/>
          </a:prstGeom>
          <a:noFill/>
          <a:ln/>
        </p:spPr>
        <p:txBody>
          <a:bodyPr wrap="square" lIns="0" tIns="0" rIns="0" bIns="0" rtlCol="0" anchor="t"/>
          <a:lstStyle/>
          <a:p>
            <a:pPr indent="0" marL="0">
              <a:buNone/>
            </a:pPr>
            <a:r>
              <a:rPr lang="en-US" sz="1050" dirty="0">
                <a:solidFill>
                  <a:srgbClr val="FFFFFF"/>
                </a:solidFill>
              </a:rPr>
              <a:t>Common Operating Picture</a:t>
            </a:r>
            <a:endParaRPr lang="en-US" sz="1050" dirty="0"/>
          </a:p>
        </p:txBody>
      </p:sp>
      <p:sp>
        <p:nvSpPr>
          <p:cNvPr id="46" name="Shape 37"/>
          <p:cNvSpPr/>
          <p:nvPr/>
        </p:nvSpPr>
        <p:spPr>
          <a:xfrm>
            <a:off x="7183526" y="3063240"/>
            <a:ext cx="0" cy="658368"/>
          </a:xfrm>
          <a:prstGeom prst="line">
            <a:avLst/>
          </a:prstGeom>
          <a:noFill/>
          <a:ln w="9525">
            <a:solidFill>
              <a:srgbClr val="17406A"/>
            </a:solidFill>
            <a:prstDash val="solid"/>
          </a:ln>
        </p:spPr>
      </p:sp>
      <p:sp>
        <p:nvSpPr>
          <p:cNvPr id="47" name="Shape 38"/>
          <p:cNvSpPr/>
          <p:nvPr/>
        </p:nvSpPr>
        <p:spPr>
          <a:xfrm>
            <a:off x="7302398" y="3026664"/>
            <a:ext cx="457200" cy="402336"/>
          </a:xfrm>
          <a:prstGeom prst="hexagon">
            <a:avLst/>
          </a:prstGeom>
          <a:solidFill>
            <a:srgbClr val="00E5FF">
              <a:alpha val="12000"/>
            </a:srgbClr>
          </a:solidFill>
          <a:ln w="9525">
            <a:solidFill>
              <a:srgbClr val="00E5FF"/>
            </a:solidFill>
            <a:prstDash val="solid"/>
          </a:ln>
        </p:spPr>
      </p:sp>
      <p:pic>
        <p:nvPicPr>
          <p:cNvPr id="48" name="Image 6" descr="Flow Arrow icon">    </p:cNvPr>
          <p:cNvPicPr>
            <a:picLocks noChangeAspect="1"/>
          </p:cNvPicPr>
          <p:nvPr/>
        </p:nvPicPr>
        <p:blipFill>
          <a:blip r:embed="rId8"/>
          <a:stretch>
            <a:fillRect/>
          </a:stretch>
        </p:blipFill>
        <p:spPr>
          <a:xfrm>
            <a:off x="7412126" y="3108960"/>
            <a:ext cx="237744" cy="237744"/>
          </a:xfrm>
          <a:prstGeom prst="rect">
            <a:avLst/>
          </a:prstGeom>
        </p:spPr>
      </p:pic>
      <p:sp>
        <p:nvSpPr>
          <p:cNvPr id="49" name="Text 39"/>
          <p:cNvSpPr txBox="1"/>
          <p:nvPr/>
        </p:nvSpPr>
        <p:spPr>
          <a:xfrm>
            <a:off x="7302398" y="3474720"/>
            <a:ext cx="1137514" cy="347472"/>
          </a:xfrm>
          <a:prstGeom prst="rect">
            <a:avLst/>
          </a:prstGeom>
          <a:noFill/>
          <a:ln/>
        </p:spPr>
        <p:txBody>
          <a:bodyPr wrap="square" lIns="0" tIns="0" rIns="0" bIns="0" rtlCol="0" anchor="t"/>
          <a:lstStyle/>
          <a:p>
            <a:pPr indent="0" marL="0">
              <a:buNone/>
            </a:pPr>
            <a:r>
              <a:rPr lang="en-US" sz="1050" dirty="0">
                <a:solidFill>
                  <a:srgbClr val="FFFFFF"/>
                </a:solidFill>
              </a:rPr>
              <a:t>Digital Workflow Engine</a:t>
            </a:r>
            <a:endParaRPr lang="en-US" sz="1050" dirty="0"/>
          </a:p>
        </p:txBody>
      </p:sp>
      <p:sp>
        <p:nvSpPr>
          <p:cNvPr id="50" name="Shape 40"/>
          <p:cNvSpPr/>
          <p:nvPr/>
        </p:nvSpPr>
        <p:spPr>
          <a:xfrm>
            <a:off x="1691640" y="3950208"/>
            <a:ext cx="6967728" cy="548640"/>
          </a:xfrm>
          <a:prstGeom prst="roundRect">
            <a:avLst>
              <a:gd name="adj" fmla="val 13333"/>
            </a:avLst>
          </a:prstGeom>
          <a:gradFill rotWithShape="1">
            <a:gsLst>
              <a:gs pos="0">
                <a:srgbClr val="00E5FF">
                  <a:alpha val="26000"/>
                </a:srgbClr>
              </a:gs>
              <a:gs pos="55000">
                <a:srgbClr val="1D6BFF">
                  <a:alpha val="14000"/>
                </a:srgbClr>
              </a:gs>
              <a:gs pos="100000">
                <a:srgbClr val="8B5CF6">
                  <a:alpha val="26000"/>
                </a:srgbClr>
              </a:gs>
            </a:gsLst>
            <a:lin ang="0" scaled="0"/>
          </a:gradFill>
          <a:ln w="15875">
            <a:solidFill>
              <a:srgbClr val="00E5FF"/>
            </a:solidFill>
            <a:prstDash val="solid"/>
          </a:ln>
          <a:effectLst>
            <a:outerShdw sx="100000" sy="100000" kx="0" ky="0" algn="bl" rotWithShape="0" blurRad="177800" dist="50800" dir="5400000">
              <a:srgbClr val="00E5FF">
                <a:alpha val="50000"/>
              </a:srgbClr>
            </a:outerShdw>
          </a:effectLst>
        </p:spPr>
      </p:sp>
      <p:pic>
        <p:nvPicPr>
          <p:cNvPr id="51" name="Image 7" descr="Shield Check icon">    </p:cNvPr>
          <p:cNvPicPr>
            <a:picLocks noChangeAspect="1"/>
          </p:cNvPicPr>
          <p:nvPr/>
        </p:nvPicPr>
        <p:blipFill>
          <a:blip r:embed="rId9"/>
          <a:stretch>
            <a:fillRect/>
          </a:stretch>
        </p:blipFill>
        <p:spPr>
          <a:xfrm>
            <a:off x="1874520" y="4059936"/>
            <a:ext cx="329184" cy="329184"/>
          </a:xfrm>
          <a:prstGeom prst="rect">
            <a:avLst/>
          </a:prstGeom>
        </p:spPr>
      </p:pic>
      <p:sp>
        <p:nvSpPr>
          <p:cNvPr id="52" name="Text 41"/>
          <p:cNvSpPr txBox="1"/>
          <p:nvPr/>
        </p:nvSpPr>
        <p:spPr>
          <a:xfrm>
            <a:off x="2350008" y="3950208"/>
            <a:ext cx="5943600" cy="548640"/>
          </a:xfrm>
          <a:prstGeom prst="rect">
            <a:avLst/>
          </a:prstGeom>
          <a:noFill/>
          <a:ln/>
        </p:spPr>
        <p:txBody>
          <a:bodyPr wrap="square" lIns="0" tIns="0" rIns="0" bIns="0" rtlCol="0" anchor="ctr"/>
          <a:lstStyle/>
          <a:p>
            <a:pPr indent="0" marL="0">
              <a:buNone/>
            </a:pPr>
            <a:r>
              <a:rPr lang="en-US" sz="1100" b="1" spc="400" kern="0" dirty="0">
                <a:solidFill>
                  <a:srgbClr val="FFFFFF"/>
                </a:solidFill>
              </a:rPr>
              <a:t>NETWORK &amp; CYBER SECURITY LAYER</a:t>
            </a:r>
            <a:endParaRPr lang="en-US" sz="1100" dirty="0"/>
          </a:p>
        </p:txBody>
      </p:sp>
      <p:sp>
        <p:nvSpPr>
          <p:cNvPr id="53" name="Shape 42"/>
          <p:cNvSpPr/>
          <p:nvPr/>
        </p:nvSpPr>
        <p:spPr>
          <a:xfrm>
            <a:off x="8659368" y="4224528"/>
            <a:ext cx="164592" cy="0"/>
          </a:xfrm>
          <a:prstGeom prst="line">
            <a:avLst/>
          </a:prstGeom>
          <a:noFill/>
          <a:ln w="12700">
            <a:solidFill>
              <a:srgbClr val="00E5FF"/>
            </a:solidFill>
            <a:prstDash val="solid"/>
          </a:ln>
        </p:spPr>
      </p:sp>
      <p:sp>
        <p:nvSpPr>
          <p:cNvPr id="54" name="Shape 43"/>
          <p:cNvSpPr/>
          <p:nvPr/>
        </p:nvSpPr>
        <p:spPr>
          <a:xfrm>
            <a:off x="2162687" y="4498848"/>
            <a:ext cx="0" cy="109728"/>
          </a:xfrm>
          <a:prstGeom prst="line">
            <a:avLst/>
          </a:prstGeom>
          <a:noFill/>
          <a:ln w="9525">
            <a:solidFill>
              <a:srgbClr val="00E5FF">
                <a:alpha val="60000"/>
              </a:srgbClr>
            </a:solidFill>
            <a:prstDash val="solid"/>
          </a:ln>
        </p:spPr>
      </p:sp>
      <p:sp>
        <p:nvSpPr>
          <p:cNvPr id="55" name="Shape 44"/>
          <p:cNvSpPr/>
          <p:nvPr/>
        </p:nvSpPr>
        <p:spPr>
          <a:xfrm>
            <a:off x="1691640"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56" name="Image 8" descr="Buildings icon">    </p:cNvPr>
          <p:cNvPicPr>
            <a:picLocks noChangeAspect="1"/>
          </p:cNvPicPr>
          <p:nvPr/>
        </p:nvPicPr>
        <p:blipFill>
          <a:blip r:embed="rId10"/>
          <a:stretch>
            <a:fillRect/>
          </a:stretch>
        </p:blipFill>
        <p:spPr>
          <a:xfrm>
            <a:off x="1783080" y="4736592"/>
            <a:ext cx="292608" cy="292608"/>
          </a:xfrm>
          <a:prstGeom prst="rect">
            <a:avLst/>
          </a:prstGeom>
        </p:spPr>
      </p:pic>
      <p:sp>
        <p:nvSpPr>
          <p:cNvPr id="57" name="Text 45"/>
          <p:cNvSpPr txBox="1"/>
          <p:nvPr/>
        </p:nvSpPr>
        <p:spPr>
          <a:xfrm>
            <a:off x="1783080"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T5A ISMS</a:t>
            </a:r>
            <a:endParaRPr lang="en-US" sz="1000" dirty="0"/>
          </a:p>
        </p:txBody>
      </p:sp>
      <p:sp>
        <p:nvSpPr>
          <p:cNvPr id="58" name="Text 46"/>
          <p:cNvSpPr txBox="1"/>
          <p:nvPr/>
        </p:nvSpPr>
        <p:spPr>
          <a:xfrm>
            <a:off x="1783080"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Terminal 5A</a:t>
            </a:r>
            <a:endParaRPr lang="en-US" sz="1000" dirty="0"/>
          </a:p>
        </p:txBody>
      </p:sp>
      <p:sp>
        <p:nvSpPr>
          <p:cNvPr id="59" name="Shape 47"/>
          <p:cNvSpPr/>
          <p:nvPr/>
        </p:nvSpPr>
        <p:spPr>
          <a:xfrm>
            <a:off x="3166959" y="4498848"/>
            <a:ext cx="0" cy="109728"/>
          </a:xfrm>
          <a:prstGeom prst="line">
            <a:avLst/>
          </a:prstGeom>
          <a:noFill/>
          <a:ln w="9525">
            <a:solidFill>
              <a:srgbClr val="00E5FF">
                <a:alpha val="60000"/>
              </a:srgbClr>
            </a:solidFill>
            <a:prstDash val="solid"/>
          </a:ln>
        </p:spPr>
      </p:sp>
      <p:sp>
        <p:nvSpPr>
          <p:cNvPr id="60" name="Shape 48"/>
          <p:cNvSpPr/>
          <p:nvPr/>
        </p:nvSpPr>
        <p:spPr>
          <a:xfrm>
            <a:off x="2695912"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61" name="Image 9" descr="Buildings icon">    </p:cNvPr>
          <p:cNvPicPr>
            <a:picLocks noChangeAspect="1"/>
          </p:cNvPicPr>
          <p:nvPr/>
        </p:nvPicPr>
        <p:blipFill>
          <a:blip r:embed="rId11"/>
          <a:stretch>
            <a:fillRect/>
          </a:stretch>
        </p:blipFill>
        <p:spPr>
          <a:xfrm>
            <a:off x="2787352" y="4736592"/>
            <a:ext cx="292608" cy="292608"/>
          </a:xfrm>
          <a:prstGeom prst="rect">
            <a:avLst/>
          </a:prstGeom>
        </p:spPr>
      </p:pic>
      <p:sp>
        <p:nvSpPr>
          <p:cNvPr id="62" name="Text 49"/>
          <p:cNvSpPr txBox="1"/>
          <p:nvPr/>
        </p:nvSpPr>
        <p:spPr>
          <a:xfrm>
            <a:off x="2787352"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T5B ISMS</a:t>
            </a:r>
            <a:endParaRPr lang="en-US" sz="1000" dirty="0"/>
          </a:p>
        </p:txBody>
      </p:sp>
      <p:sp>
        <p:nvSpPr>
          <p:cNvPr id="63" name="Text 50"/>
          <p:cNvSpPr txBox="1"/>
          <p:nvPr/>
        </p:nvSpPr>
        <p:spPr>
          <a:xfrm>
            <a:off x="2787352"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Terminal 5B</a:t>
            </a:r>
            <a:endParaRPr lang="en-US" sz="1000" dirty="0"/>
          </a:p>
        </p:txBody>
      </p:sp>
      <p:sp>
        <p:nvSpPr>
          <p:cNvPr id="64" name="Shape 51"/>
          <p:cNvSpPr/>
          <p:nvPr/>
        </p:nvSpPr>
        <p:spPr>
          <a:xfrm>
            <a:off x="4171232" y="4498848"/>
            <a:ext cx="0" cy="109728"/>
          </a:xfrm>
          <a:prstGeom prst="line">
            <a:avLst/>
          </a:prstGeom>
          <a:noFill/>
          <a:ln w="9525">
            <a:solidFill>
              <a:srgbClr val="00E5FF">
                <a:alpha val="60000"/>
              </a:srgbClr>
            </a:solidFill>
            <a:prstDash val="solid"/>
          </a:ln>
        </p:spPr>
      </p:sp>
      <p:sp>
        <p:nvSpPr>
          <p:cNvPr id="65" name="Shape 52"/>
          <p:cNvSpPr/>
          <p:nvPr/>
        </p:nvSpPr>
        <p:spPr>
          <a:xfrm>
            <a:off x="3700185"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66" name="Image 10" descr="Buildings icon">    </p:cNvPr>
          <p:cNvPicPr>
            <a:picLocks noChangeAspect="1"/>
          </p:cNvPicPr>
          <p:nvPr/>
        </p:nvPicPr>
        <p:blipFill>
          <a:blip r:embed="rId12"/>
          <a:stretch>
            <a:fillRect/>
          </a:stretch>
        </p:blipFill>
        <p:spPr>
          <a:xfrm>
            <a:off x="3791625" y="4736592"/>
            <a:ext cx="292608" cy="292608"/>
          </a:xfrm>
          <a:prstGeom prst="rect">
            <a:avLst/>
          </a:prstGeom>
        </p:spPr>
      </p:pic>
      <p:sp>
        <p:nvSpPr>
          <p:cNvPr id="67" name="Text 53"/>
          <p:cNvSpPr txBox="1"/>
          <p:nvPr/>
        </p:nvSpPr>
        <p:spPr>
          <a:xfrm>
            <a:off x="3791625"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T5C ISMS</a:t>
            </a:r>
            <a:endParaRPr lang="en-US" sz="1000" dirty="0"/>
          </a:p>
        </p:txBody>
      </p:sp>
      <p:sp>
        <p:nvSpPr>
          <p:cNvPr id="68" name="Text 54"/>
          <p:cNvSpPr txBox="1"/>
          <p:nvPr/>
        </p:nvSpPr>
        <p:spPr>
          <a:xfrm>
            <a:off x="3791625"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Terminal 5C</a:t>
            </a:r>
            <a:endParaRPr lang="en-US" sz="1000" dirty="0"/>
          </a:p>
        </p:txBody>
      </p:sp>
      <p:sp>
        <p:nvSpPr>
          <p:cNvPr id="69" name="Shape 55"/>
          <p:cNvSpPr/>
          <p:nvPr/>
        </p:nvSpPr>
        <p:spPr>
          <a:xfrm>
            <a:off x="5175504" y="4498848"/>
            <a:ext cx="0" cy="109728"/>
          </a:xfrm>
          <a:prstGeom prst="line">
            <a:avLst/>
          </a:prstGeom>
          <a:noFill/>
          <a:ln w="9525">
            <a:solidFill>
              <a:srgbClr val="00E5FF">
                <a:alpha val="60000"/>
              </a:srgbClr>
            </a:solidFill>
            <a:prstDash val="solid"/>
          </a:ln>
        </p:spPr>
      </p:sp>
      <p:sp>
        <p:nvSpPr>
          <p:cNvPr id="70" name="Shape 56"/>
          <p:cNvSpPr/>
          <p:nvPr/>
        </p:nvSpPr>
        <p:spPr>
          <a:xfrm>
            <a:off x="4704457"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71" name="Image 11" descr="Hard Hat icon">    </p:cNvPr>
          <p:cNvPicPr>
            <a:picLocks noChangeAspect="1"/>
          </p:cNvPicPr>
          <p:nvPr/>
        </p:nvPicPr>
        <p:blipFill>
          <a:blip r:embed="rId13"/>
          <a:stretch>
            <a:fillRect/>
          </a:stretch>
        </p:blipFill>
        <p:spPr>
          <a:xfrm>
            <a:off x="4795897" y="4736592"/>
            <a:ext cx="292608" cy="292608"/>
          </a:xfrm>
          <a:prstGeom prst="rect">
            <a:avLst/>
          </a:prstGeom>
        </p:spPr>
      </p:pic>
      <p:sp>
        <p:nvSpPr>
          <p:cNvPr id="72" name="Text 57"/>
          <p:cNvSpPr txBox="1"/>
          <p:nvPr/>
        </p:nvSpPr>
        <p:spPr>
          <a:xfrm>
            <a:off x="4795897"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LIW</a:t>
            </a:r>
            <a:endParaRPr lang="en-US" sz="1000" dirty="0"/>
          </a:p>
        </p:txBody>
      </p:sp>
      <p:sp>
        <p:nvSpPr>
          <p:cNvPr id="73" name="Text 58"/>
          <p:cNvSpPr txBox="1"/>
          <p:nvPr/>
        </p:nvSpPr>
        <p:spPr>
          <a:xfrm>
            <a:off x="4795897"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Land Infrastructure Works</a:t>
            </a:r>
            <a:endParaRPr lang="en-US" sz="1000" dirty="0"/>
          </a:p>
        </p:txBody>
      </p:sp>
      <p:sp>
        <p:nvSpPr>
          <p:cNvPr id="74" name="Shape 59"/>
          <p:cNvSpPr/>
          <p:nvPr/>
        </p:nvSpPr>
        <p:spPr>
          <a:xfrm>
            <a:off x="6179776" y="4498848"/>
            <a:ext cx="0" cy="109728"/>
          </a:xfrm>
          <a:prstGeom prst="line">
            <a:avLst/>
          </a:prstGeom>
          <a:noFill/>
          <a:ln w="9525">
            <a:solidFill>
              <a:srgbClr val="00E5FF">
                <a:alpha val="60000"/>
              </a:srgbClr>
            </a:solidFill>
            <a:prstDash val="solid"/>
          </a:ln>
        </p:spPr>
      </p:sp>
      <p:sp>
        <p:nvSpPr>
          <p:cNvPr id="75" name="Shape 60"/>
          <p:cNvSpPr/>
          <p:nvPr/>
        </p:nvSpPr>
        <p:spPr>
          <a:xfrm>
            <a:off x="5708730"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76" name="Image 12" descr="Train icon">    </p:cNvPr>
          <p:cNvPicPr>
            <a:picLocks noChangeAspect="1"/>
          </p:cNvPicPr>
          <p:nvPr/>
        </p:nvPicPr>
        <p:blipFill>
          <a:blip r:embed="rId14"/>
          <a:stretch>
            <a:fillRect/>
          </a:stretch>
        </p:blipFill>
        <p:spPr>
          <a:xfrm>
            <a:off x="5800170" y="4736592"/>
            <a:ext cx="292608" cy="292608"/>
          </a:xfrm>
          <a:prstGeom prst="rect">
            <a:avLst/>
          </a:prstGeom>
        </p:spPr>
      </p:pic>
      <p:sp>
        <p:nvSpPr>
          <p:cNvPr id="77" name="Text 61"/>
          <p:cNvSpPr txBox="1"/>
          <p:nvPr/>
        </p:nvSpPr>
        <p:spPr>
          <a:xfrm>
            <a:off x="5800170"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APM DEPOT</a:t>
            </a:r>
            <a:endParaRPr lang="en-US" sz="1000" dirty="0"/>
          </a:p>
        </p:txBody>
      </p:sp>
      <p:sp>
        <p:nvSpPr>
          <p:cNvPr id="78" name="Text 62"/>
          <p:cNvSpPr txBox="1"/>
          <p:nvPr/>
        </p:nvSpPr>
        <p:spPr>
          <a:xfrm>
            <a:off x="5800170"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Automated People Mover</a:t>
            </a:r>
            <a:endParaRPr lang="en-US" sz="1000" dirty="0"/>
          </a:p>
        </p:txBody>
      </p:sp>
      <p:sp>
        <p:nvSpPr>
          <p:cNvPr id="79" name="Shape 63"/>
          <p:cNvSpPr/>
          <p:nvPr/>
        </p:nvSpPr>
        <p:spPr>
          <a:xfrm>
            <a:off x="7184049" y="4498848"/>
            <a:ext cx="0" cy="109728"/>
          </a:xfrm>
          <a:prstGeom prst="line">
            <a:avLst/>
          </a:prstGeom>
          <a:noFill/>
          <a:ln w="9525">
            <a:solidFill>
              <a:srgbClr val="00E5FF">
                <a:alpha val="60000"/>
              </a:srgbClr>
            </a:solidFill>
            <a:prstDash val="solid"/>
          </a:ln>
        </p:spPr>
      </p:sp>
      <p:sp>
        <p:nvSpPr>
          <p:cNvPr id="80" name="Shape 64"/>
          <p:cNvSpPr/>
          <p:nvPr/>
        </p:nvSpPr>
        <p:spPr>
          <a:xfrm>
            <a:off x="6713002" y="4608576"/>
            <a:ext cx="942093" cy="1426464"/>
          </a:xfrm>
          <a:prstGeom prst="roundRect">
            <a:avLst>
              <a:gd name="adj" fmla="val 7765"/>
            </a:avLst>
          </a:prstGeom>
          <a:solidFill>
            <a:srgbClr val="081426">
              <a:alpha val="90000"/>
            </a:srgbClr>
          </a:solidFill>
          <a:ln w="9525">
            <a:solidFill>
              <a:srgbClr val="1D4E7A"/>
            </a:solidFill>
            <a:prstDash val="solid"/>
          </a:ln>
        </p:spPr>
      </p:sp>
      <p:pic>
        <p:nvPicPr>
          <p:cNvPr id="81" name="Image 13" descr="Airplane icon">    </p:cNvPr>
          <p:cNvPicPr>
            <a:picLocks noChangeAspect="1"/>
          </p:cNvPicPr>
          <p:nvPr/>
        </p:nvPicPr>
        <p:blipFill>
          <a:blip r:embed="rId15"/>
          <a:stretch>
            <a:fillRect/>
          </a:stretch>
        </p:blipFill>
        <p:spPr>
          <a:xfrm>
            <a:off x="6804442" y="4736592"/>
            <a:ext cx="292608" cy="292608"/>
          </a:xfrm>
          <a:prstGeom prst="rect">
            <a:avLst/>
          </a:prstGeom>
        </p:spPr>
      </p:pic>
      <p:sp>
        <p:nvSpPr>
          <p:cNvPr id="82" name="Text 65"/>
          <p:cNvSpPr txBox="1"/>
          <p:nvPr/>
        </p:nvSpPr>
        <p:spPr>
          <a:xfrm>
            <a:off x="6804442"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ERS</a:t>
            </a:r>
            <a:endParaRPr lang="en-US" sz="1000" dirty="0"/>
          </a:p>
        </p:txBody>
      </p:sp>
      <p:sp>
        <p:nvSpPr>
          <p:cNvPr id="83" name="Text 66"/>
          <p:cNvSpPr txBox="1"/>
          <p:nvPr/>
        </p:nvSpPr>
        <p:spPr>
          <a:xfrm>
            <a:off x="6804442"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Early Remote Stands</a:t>
            </a:r>
            <a:endParaRPr lang="en-US" sz="1000" dirty="0"/>
          </a:p>
        </p:txBody>
      </p:sp>
      <p:sp>
        <p:nvSpPr>
          <p:cNvPr id="84" name="Shape 67"/>
          <p:cNvSpPr/>
          <p:nvPr/>
        </p:nvSpPr>
        <p:spPr>
          <a:xfrm>
            <a:off x="8188321" y="4498848"/>
            <a:ext cx="0" cy="109728"/>
          </a:xfrm>
          <a:prstGeom prst="line">
            <a:avLst/>
          </a:prstGeom>
          <a:noFill/>
          <a:ln w="9525">
            <a:solidFill>
              <a:srgbClr val="00E5FF">
                <a:alpha val="60000"/>
              </a:srgbClr>
            </a:solidFill>
            <a:prstDash val="solid"/>
          </a:ln>
        </p:spPr>
      </p:sp>
      <p:sp>
        <p:nvSpPr>
          <p:cNvPr id="85" name="Shape 68"/>
          <p:cNvSpPr/>
          <p:nvPr/>
        </p:nvSpPr>
        <p:spPr>
          <a:xfrm>
            <a:off x="7717275" y="4608576"/>
            <a:ext cx="942093" cy="1426464"/>
          </a:xfrm>
          <a:prstGeom prst="roundRect">
            <a:avLst>
              <a:gd name="adj" fmla="val 7765"/>
            </a:avLst>
          </a:prstGeom>
          <a:solidFill>
            <a:srgbClr val="081426">
              <a:alpha val="90000"/>
            </a:srgbClr>
          </a:solidFill>
          <a:ln w="9525">
            <a:solidFill>
              <a:srgbClr val="00E5FF"/>
            </a:solidFill>
            <a:prstDash val="dash"/>
          </a:ln>
        </p:spPr>
      </p:sp>
      <p:pic>
        <p:nvPicPr>
          <p:cNvPr id="86" name="Image 14" descr="Plus icon">    </p:cNvPr>
          <p:cNvPicPr>
            <a:picLocks noChangeAspect="1"/>
          </p:cNvPicPr>
          <p:nvPr/>
        </p:nvPicPr>
        <p:blipFill>
          <a:blip r:embed="rId16"/>
          <a:stretch>
            <a:fillRect/>
          </a:stretch>
        </p:blipFill>
        <p:spPr>
          <a:xfrm>
            <a:off x="7808715" y="4736592"/>
            <a:ext cx="292608" cy="292608"/>
          </a:xfrm>
          <a:prstGeom prst="rect">
            <a:avLst/>
          </a:prstGeom>
        </p:spPr>
      </p:pic>
      <p:sp>
        <p:nvSpPr>
          <p:cNvPr id="87" name="Text 69"/>
          <p:cNvSpPr txBox="1"/>
          <p:nvPr/>
        </p:nvSpPr>
        <p:spPr>
          <a:xfrm>
            <a:off x="7808715" y="5138928"/>
            <a:ext cx="832365" cy="219456"/>
          </a:xfrm>
          <a:prstGeom prst="rect">
            <a:avLst/>
          </a:prstGeom>
          <a:noFill/>
          <a:ln/>
        </p:spPr>
        <p:txBody>
          <a:bodyPr wrap="square" lIns="0" tIns="0" rIns="0" bIns="0" rtlCol="0" anchor="t"/>
          <a:lstStyle/>
          <a:p>
            <a:pPr indent="0" marL="0">
              <a:buNone/>
            </a:pPr>
            <a:r>
              <a:rPr lang="en-US" sz="1000" b="1" dirty="0">
                <a:solidFill>
                  <a:srgbClr val="FFFFFF"/>
                </a:solidFill>
              </a:rPr>
              <a:t>AO SITES</a:t>
            </a:r>
            <a:endParaRPr lang="en-US" sz="1000" dirty="0"/>
          </a:p>
        </p:txBody>
      </p:sp>
      <p:sp>
        <p:nvSpPr>
          <p:cNvPr id="88" name="Text 70"/>
          <p:cNvSpPr txBox="1"/>
          <p:nvPr/>
        </p:nvSpPr>
        <p:spPr>
          <a:xfrm>
            <a:off x="7808715" y="5394960"/>
            <a:ext cx="814077" cy="603504"/>
          </a:xfrm>
          <a:prstGeom prst="rect">
            <a:avLst/>
          </a:prstGeom>
          <a:noFill/>
          <a:ln/>
        </p:spPr>
        <p:txBody>
          <a:bodyPr wrap="square" lIns="0" tIns="0" rIns="0" bIns="0" rtlCol="0" anchor="t"/>
          <a:lstStyle/>
          <a:p>
            <a:pPr indent="0" marL="0">
              <a:buNone/>
            </a:pPr>
            <a:r>
              <a:rPr lang="en-US" sz="1000" dirty="0">
                <a:solidFill>
                  <a:srgbClr val="8FA3BF"/>
                </a:solidFill>
              </a:rPr>
              <a:t>Any Other Sites</a:t>
            </a:r>
            <a:endParaRPr lang="en-US" sz="1000" dirty="0"/>
          </a:p>
        </p:txBody>
      </p:sp>
      <p:sp>
        <p:nvSpPr>
          <p:cNvPr id="89" name="Shape 71"/>
          <p:cNvSpPr/>
          <p:nvPr/>
        </p:nvSpPr>
        <p:spPr>
          <a:xfrm>
            <a:off x="8823960" y="1737360"/>
            <a:ext cx="502920" cy="4297680"/>
          </a:xfrm>
          <a:prstGeom prst="roundRect">
            <a:avLst>
              <a:gd name="adj" fmla="val 18182"/>
            </a:avLst>
          </a:prstGeom>
          <a:gradFill rotWithShape="1">
            <a:gsLst>
              <a:gs pos="0">
                <a:srgbClr val="071C30"/>
              </a:gs>
              <a:gs pos="50000">
                <a:srgbClr val="0E4D6E"/>
              </a:gs>
              <a:gs pos="100000">
                <a:srgbClr val="071C30"/>
              </a:gs>
            </a:gsLst>
            <a:lin ang="5400000" scaled="0"/>
          </a:gradFill>
          <a:ln w="19050">
            <a:solidFill>
              <a:srgbClr val="00E5FF"/>
            </a:solidFill>
            <a:prstDash val="solid"/>
          </a:ln>
          <a:effectLst>
            <a:outerShdw sx="100000" sy="100000" kx="0" ky="0" algn="bl" rotWithShape="0" blurRad="279400" dist="50800" dir="5400000">
              <a:srgbClr val="00E5FF">
                <a:alpha val="70000"/>
              </a:srgbClr>
            </a:outerShdw>
          </a:effectLst>
        </p:spPr>
      </p:sp>
      <p:pic>
        <p:nvPicPr>
          <p:cNvPr id="90" name="Image 15" descr="Graph icon">    </p:cNvPr>
          <p:cNvPicPr>
            <a:picLocks noChangeAspect="1"/>
          </p:cNvPicPr>
          <p:nvPr/>
        </p:nvPicPr>
        <p:blipFill>
          <a:blip r:embed="rId17"/>
          <a:stretch>
            <a:fillRect/>
          </a:stretch>
        </p:blipFill>
        <p:spPr>
          <a:xfrm>
            <a:off x="8901684" y="1865376"/>
            <a:ext cx="347472" cy="347472"/>
          </a:xfrm>
          <a:prstGeom prst="rect">
            <a:avLst/>
          </a:prstGeom>
        </p:spPr>
      </p:pic>
      <p:sp>
        <p:nvSpPr>
          <p:cNvPr id="91" name="Text 72"/>
          <p:cNvSpPr txBox="1"/>
          <p:nvPr/>
        </p:nvSpPr>
        <p:spPr>
          <a:xfrm rot="16200000">
            <a:off x="7269480" y="3840480"/>
            <a:ext cx="3611880" cy="502920"/>
          </a:xfrm>
          <a:prstGeom prst="rect">
            <a:avLst/>
          </a:prstGeom>
          <a:noFill/>
          <a:ln/>
        </p:spPr>
        <p:txBody>
          <a:bodyPr wrap="square" lIns="0" tIns="0" rIns="0" bIns="0" rtlCol="0" anchor="ctr"/>
          <a:lstStyle/>
          <a:p>
            <a:pPr algn="ctr" indent="0" marL="0">
              <a:spcAft>
                <a:spcPts val="300"/>
              </a:spcAft>
              <a:buNone/>
            </a:pPr>
            <a:r>
              <a:rPr lang="en-US" sz="1100" b="1" spc="300" kern="0" dirty="0">
                <a:solidFill>
                  <a:srgbClr val="FFFFFF"/>
                </a:solidFill>
              </a:rPr>
              <a:t>05  /  ORCHESTRATION LAYER</a:t>
            </a:r>
            <a:endParaRPr lang="en-US" sz="1100" dirty="0"/>
          </a:p>
          <a:p>
            <a:pPr algn="ctr" indent="0" marL="0">
              <a:spcAft>
                <a:spcPts val="300"/>
              </a:spcAft>
              <a:buNone/>
            </a:pPr>
            <a:r>
              <a:rPr lang="en-US" sz="1000" spc="100" kern="0" dirty="0">
                <a:solidFill>
                  <a:srgbClr val="9FEFFF"/>
                </a:solidFill>
              </a:rPr>
              <a:t>API  ·  SDK  ·  DIO  ·  INDUSTRY STANDARDS</a:t>
            </a:r>
            <a:endParaRPr lang="en-US" sz="1100" dirty="0"/>
          </a:p>
        </p:txBody>
      </p:sp>
      <p:sp>
        <p:nvSpPr>
          <p:cNvPr id="92" name="Shape 73"/>
          <p:cNvSpPr/>
          <p:nvPr/>
        </p:nvSpPr>
        <p:spPr>
          <a:xfrm>
            <a:off x="8659368" y="2125980"/>
            <a:ext cx="164592" cy="0"/>
          </a:xfrm>
          <a:prstGeom prst="line">
            <a:avLst/>
          </a:prstGeom>
          <a:noFill/>
          <a:ln w="19050">
            <a:solidFill>
              <a:srgbClr val="FF3DCB"/>
            </a:solidFill>
            <a:prstDash val="solid"/>
            <a:headEnd type="triangle"/>
            <a:tailEnd type="triangle"/>
          </a:ln>
        </p:spPr>
      </p:sp>
      <p:sp>
        <p:nvSpPr>
          <p:cNvPr id="93" name="Shape 74"/>
          <p:cNvSpPr/>
          <p:nvPr/>
        </p:nvSpPr>
        <p:spPr>
          <a:xfrm>
            <a:off x="9491472" y="2176272"/>
            <a:ext cx="2194560" cy="1709928"/>
          </a:xfrm>
          <a:prstGeom prst="roundRect">
            <a:avLst>
              <a:gd name="adj" fmla="val 4278"/>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94" name="Image 16" descr="Robot icon">    </p:cNvPr>
          <p:cNvPicPr>
            <a:picLocks noChangeAspect="1"/>
          </p:cNvPicPr>
          <p:nvPr/>
        </p:nvPicPr>
        <p:blipFill>
          <a:blip r:embed="rId18"/>
          <a:stretch>
            <a:fillRect/>
          </a:stretch>
        </p:blipFill>
        <p:spPr>
          <a:xfrm>
            <a:off x="9628632" y="2313432"/>
            <a:ext cx="347472" cy="347472"/>
          </a:xfrm>
          <a:prstGeom prst="rect">
            <a:avLst/>
          </a:prstGeom>
        </p:spPr>
      </p:pic>
      <p:sp>
        <p:nvSpPr>
          <p:cNvPr id="95" name="Text 75"/>
          <p:cNvSpPr txBox="1"/>
          <p:nvPr/>
        </p:nvSpPr>
        <p:spPr>
          <a:xfrm>
            <a:off x="10058400" y="2313432"/>
            <a:ext cx="1554480" cy="402336"/>
          </a:xfrm>
          <a:prstGeom prst="rect">
            <a:avLst/>
          </a:prstGeom>
          <a:noFill/>
          <a:ln/>
        </p:spPr>
        <p:txBody>
          <a:bodyPr wrap="square" lIns="0" tIns="0" rIns="0" bIns="0" rtlCol="0" anchor="t"/>
          <a:lstStyle/>
          <a:p>
            <a:pPr indent="0" marL="0">
              <a:buNone/>
            </a:pPr>
            <a:r>
              <a:rPr lang="en-US" sz="1150" b="1" spc="100" kern="0" dirty="0">
                <a:solidFill>
                  <a:srgbClr val="FFFFFF"/>
                </a:solidFill>
              </a:rPr>
              <a:t>ROBOTICS &amp;</a:t>
            </a:r>
            <a:endParaRPr lang="en-US" sz="1150" dirty="0"/>
          </a:p>
          <a:p>
            <a:pPr indent="0" marL="0">
              <a:buNone/>
            </a:pPr>
            <a:r>
              <a:rPr lang="en-US" sz="1150" b="1" spc="100" kern="0" dirty="0">
                <a:solidFill>
                  <a:srgbClr val="FFFFFF"/>
                </a:solidFill>
              </a:rPr>
              <a:t>AUTOMATION</a:t>
            </a:r>
            <a:endParaRPr lang="en-US" sz="1150" dirty="0"/>
          </a:p>
        </p:txBody>
      </p:sp>
      <p:sp>
        <p:nvSpPr>
          <p:cNvPr id="96" name="Shape 76"/>
          <p:cNvSpPr/>
          <p:nvPr/>
        </p:nvSpPr>
        <p:spPr>
          <a:xfrm>
            <a:off x="9628632" y="2889504"/>
            <a:ext cx="1920240" cy="402336"/>
          </a:xfrm>
          <a:prstGeom prst="roundRect">
            <a:avLst>
              <a:gd name="adj" fmla="val 13636"/>
            </a:avLst>
          </a:prstGeom>
          <a:solidFill>
            <a:srgbClr val="140F33"/>
          </a:solidFill>
          <a:ln w="9525">
            <a:solidFill>
              <a:srgbClr val="3B2D7A"/>
            </a:solidFill>
            <a:prstDash val="solid"/>
          </a:ln>
        </p:spPr>
      </p:sp>
      <p:pic>
        <p:nvPicPr>
          <p:cNvPr id="97" name="Image 17" descr="Wheelchair Motion icon">    </p:cNvPr>
          <p:cNvPicPr>
            <a:picLocks noChangeAspect="1"/>
          </p:cNvPicPr>
          <p:nvPr/>
        </p:nvPicPr>
        <p:blipFill>
          <a:blip r:embed="rId19"/>
          <a:stretch>
            <a:fillRect/>
          </a:stretch>
        </p:blipFill>
        <p:spPr>
          <a:xfrm>
            <a:off x="9720072" y="2971800"/>
            <a:ext cx="237744" cy="237744"/>
          </a:xfrm>
          <a:prstGeom prst="rect">
            <a:avLst/>
          </a:prstGeom>
        </p:spPr>
      </p:pic>
      <p:sp>
        <p:nvSpPr>
          <p:cNvPr id="98" name="Text 77"/>
          <p:cNvSpPr txBox="1"/>
          <p:nvPr/>
        </p:nvSpPr>
        <p:spPr>
          <a:xfrm>
            <a:off x="10058400" y="2889504"/>
            <a:ext cx="1444752" cy="402336"/>
          </a:xfrm>
          <a:prstGeom prst="rect">
            <a:avLst/>
          </a:prstGeom>
          <a:noFill/>
          <a:ln/>
        </p:spPr>
        <p:txBody>
          <a:bodyPr wrap="square" lIns="0" tIns="0" rIns="0" bIns="0" rtlCol="0" anchor="ctr"/>
          <a:lstStyle/>
          <a:p>
            <a:pPr indent="0" marL="0">
              <a:buNone/>
            </a:pPr>
            <a:r>
              <a:rPr lang="en-US" sz="1050" dirty="0">
                <a:solidFill>
                  <a:srgbClr val="FFFFFF"/>
                </a:solidFill>
              </a:rPr>
              <a:t>Automated Wheelchair</a:t>
            </a:r>
            <a:endParaRPr lang="en-US" sz="1050" dirty="0"/>
          </a:p>
        </p:txBody>
      </p:sp>
      <p:sp>
        <p:nvSpPr>
          <p:cNvPr id="99" name="Shape 78"/>
          <p:cNvSpPr/>
          <p:nvPr/>
        </p:nvSpPr>
        <p:spPr>
          <a:xfrm>
            <a:off x="9628632" y="3364992"/>
            <a:ext cx="1920240" cy="402336"/>
          </a:xfrm>
          <a:prstGeom prst="roundRect">
            <a:avLst>
              <a:gd name="adj" fmla="val 13636"/>
            </a:avLst>
          </a:prstGeom>
          <a:solidFill>
            <a:srgbClr val="140F33"/>
          </a:solidFill>
          <a:ln w="9525">
            <a:solidFill>
              <a:srgbClr val="3B2D7A"/>
            </a:solidFill>
            <a:prstDash val="solid"/>
          </a:ln>
        </p:spPr>
      </p:sp>
      <p:pic>
        <p:nvPicPr>
          <p:cNvPr id="100" name="Image 18" descr="Shield Checkered icon">    </p:cNvPr>
          <p:cNvPicPr>
            <a:picLocks noChangeAspect="1"/>
          </p:cNvPicPr>
          <p:nvPr/>
        </p:nvPicPr>
        <p:blipFill>
          <a:blip r:embed="rId20"/>
          <a:stretch>
            <a:fillRect/>
          </a:stretch>
        </p:blipFill>
        <p:spPr>
          <a:xfrm>
            <a:off x="9720072" y="3447288"/>
            <a:ext cx="237744" cy="237744"/>
          </a:xfrm>
          <a:prstGeom prst="rect">
            <a:avLst/>
          </a:prstGeom>
        </p:spPr>
      </p:pic>
      <p:sp>
        <p:nvSpPr>
          <p:cNvPr id="101" name="Text 79"/>
          <p:cNvSpPr txBox="1"/>
          <p:nvPr/>
        </p:nvSpPr>
        <p:spPr>
          <a:xfrm>
            <a:off x="10058400" y="3364992"/>
            <a:ext cx="1444752" cy="402336"/>
          </a:xfrm>
          <a:prstGeom prst="rect">
            <a:avLst/>
          </a:prstGeom>
          <a:noFill/>
          <a:ln/>
        </p:spPr>
        <p:txBody>
          <a:bodyPr wrap="square" lIns="0" tIns="0" rIns="0" bIns="0" rtlCol="0" anchor="ctr"/>
          <a:lstStyle/>
          <a:p>
            <a:pPr indent="0" marL="0">
              <a:buNone/>
            </a:pPr>
            <a:r>
              <a:rPr lang="en-US" sz="1050" dirty="0">
                <a:solidFill>
                  <a:srgbClr val="FFFFFF"/>
                </a:solidFill>
              </a:rPr>
              <a:t>Patrol Robots</a:t>
            </a:r>
            <a:endParaRPr lang="en-US" sz="1050" dirty="0"/>
          </a:p>
        </p:txBody>
      </p:sp>
      <p:sp>
        <p:nvSpPr>
          <p:cNvPr id="102" name="Shape 80"/>
          <p:cNvSpPr/>
          <p:nvPr/>
        </p:nvSpPr>
        <p:spPr>
          <a:xfrm>
            <a:off x="9491472" y="3995928"/>
            <a:ext cx="2194560" cy="969264"/>
          </a:xfrm>
          <a:prstGeom prst="roundRect">
            <a:avLst>
              <a:gd name="adj" fmla="val 7547"/>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103" name="Image 19" descr="Wrench icon">    </p:cNvPr>
          <p:cNvPicPr>
            <a:picLocks noChangeAspect="1"/>
          </p:cNvPicPr>
          <p:nvPr/>
        </p:nvPicPr>
        <p:blipFill>
          <a:blip r:embed="rId21"/>
          <a:stretch>
            <a:fillRect/>
          </a:stretch>
        </p:blipFill>
        <p:spPr>
          <a:xfrm>
            <a:off x="9628632" y="4306824"/>
            <a:ext cx="347472" cy="347472"/>
          </a:xfrm>
          <a:prstGeom prst="rect">
            <a:avLst/>
          </a:prstGeom>
        </p:spPr>
      </p:pic>
      <p:sp>
        <p:nvSpPr>
          <p:cNvPr id="104" name="Text 81"/>
          <p:cNvSpPr txBox="1"/>
          <p:nvPr/>
        </p:nvSpPr>
        <p:spPr>
          <a:xfrm>
            <a:off x="10058400" y="3995928"/>
            <a:ext cx="1554480" cy="969264"/>
          </a:xfrm>
          <a:prstGeom prst="rect">
            <a:avLst/>
          </a:prstGeom>
          <a:noFill/>
          <a:ln/>
        </p:spPr>
        <p:txBody>
          <a:bodyPr wrap="square" lIns="0" tIns="0" rIns="0" bIns="0" rtlCol="0" anchor="ctr"/>
          <a:lstStyle/>
          <a:p>
            <a:pPr indent="0" marL="0">
              <a:buNone/>
            </a:pPr>
            <a:r>
              <a:rPr lang="en-US" sz="1150" b="1" spc="100" kern="0" dirty="0">
                <a:solidFill>
                  <a:srgbClr val="FFFFFF"/>
                </a:solidFill>
              </a:rPr>
              <a:t>PREDICTIVE</a:t>
            </a:r>
            <a:endParaRPr lang="en-US" sz="1150" dirty="0"/>
          </a:p>
          <a:p>
            <a:pPr indent="0" marL="0">
              <a:buNone/>
            </a:pPr>
            <a:r>
              <a:rPr lang="en-US" sz="1150" b="1" spc="100" kern="0" dirty="0">
                <a:solidFill>
                  <a:srgbClr val="FFFFFF"/>
                </a:solidFill>
              </a:rPr>
              <a:t>MAINTENANCE</a:t>
            </a:r>
            <a:endParaRPr lang="en-US" sz="1150" dirty="0"/>
          </a:p>
        </p:txBody>
      </p:sp>
      <p:sp>
        <p:nvSpPr>
          <p:cNvPr id="105" name="Shape 82"/>
          <p:cNvSpPr/>
          <p:nvPr/>
        </p:nvSpPr>
        <p:spPr>
          <a:xfrm>
            <a:off x="9326880" y="4480560"/>
            <a:ext cx="164592" cy="0"/>
          </a:xfrm>
          <a:prstGeom prst="line">
            <a:avLst/>
          </a:prstGeom>
          <a:noFill/>
          <a:ln w="15875">
            <a:solidFill>
              <a:srgbClr val="B9A2FF"/>
            </a:solidFill>
            <a:prstDash val="solid"/>
            <a:tailEnd type="triangle"/>
          </a:ln>
        </p:spPr>
      </p:sp>
      <p:sp>
        <p:nvSpPr>
          <p:cNvPr id="106" name="Shape 83"/>
          <p:cNvSpPr/>
          <p:nvPr/>
        </p:nvSpPr>
        <p:spPr>
          <a:xfrm>
            <a:off x="9491472" y="5065776"/>
            <a:ext cx="2194560" cy="969264"/>
          </a:xfrm>
          <a:prstGeom prst="roundRect">
            <a:avLst>
              <a:gd name="adj" fmla="val 7547"/>
            </a:avLst>
          </a:prstGeom>
          <a:solidFill>
            <a:srgbClr val="0D0A26">
              <a:alpha val="92000"/>
            </a:srgbClr>
          </a:solidFill>
          <a:ln w="15875">
            <a:solidFill>
              <a:srgbClr val="8B5CF6"/>
            </a:solidFill>
            <a:prstDash val="solid"/>
          </a:ln>
          <a:effectLst>
            <a:outerShdw sx="100000" sy="100000" kx="0" ky="0" algn="bl" rotWithShape="0" blurRad="177800" dist="50800" dir="5400000">
              <a:srgbClr val="8B5CF6">
                <a:alpha val="55000"/>
              </a:srgbClr>
            </a:outerShdw>
          </a:effectLst>
        </p:spPr>
      </p:sp>
      <p:pic>
        <p:nvPicPr>
          <p:cNvPr id="107" name="Image 20" descr="Eye icon">    </p:cNvPr>
          <p:cNvPicPr>
            <a:picLocks noChangeAspect="1"/>
          </p:cNvPicPr>
          <p:nvPr/>
        </p:nvPicPr>
        <p:blipFill>
          <a:blip r:embed="rId22"/>
          <a:stretch>
            <a:fillRect/>
          </a:stretch>
        </p:blipFill>
        <p:spPr>
          <a:xfrm>
            <a:off x="9628632" y="5376672"/>
            <a:ext cx="347472" cy="347472"/>
          </a:xfrm>
          <a:prstGeom prst="rect">
            <a:avLst/>
          </a:prstGeom>
        </p:spPr>
      </p:pic>
      <p:sp>
        <p:nvSpPr>
          <p:cNvPr id="108" name="Text 84"/>
          <p:cNvSpPr txBox="1"/>
          <p:nvPr/>
        </p:nvSpPr>
        <p:spPr>
          <a:xfrm>
            <a:off x="10058400" y="5065776"/>
            <a:ext cx="1554480" cy="969264"/>
          </a:xfrm>
          <a:prstGeom prst="rect">
            <a:avLst/>
          </a:prstGeom>
          <a:noFill/>
          <a:ln/>
        </p:spPr>
        <p:txBody>
          <a:bodyPr wrap="square" lIns="0" tIns="0" rIns="0" bIns="0" rtlCol="0" anchor="ctr"/>
          <a:lstStyle/>
          <a:p>
            <a:pPr indent="0" marL="0">
              <a:buNone/>
            </a:pPr>
            <a:r>
              <a:rPr lang="en-US" sz="1150" b="1" spc="100" kern="0" dirty="0">
                <a:solidFill>
                  <a:srgbClr val="FFFFFF"/>
                </a:solidFill>
              </a:rPr>
              <a:t>VISION WATCH</a:t>
            </a:r>
            <a:endParaRPr lang="en-US" sz="1150" dirty="0"/>
          </a:p>
        </p:txBody>
      </p:sp>
      <p:sp>
        <p:nvSpPr>
          <p:cNvPr id="109" name="Shape 85"/>
          <p:cNvSpPr/>
          <p:nvPr/>
        </p:nvSpPr>
        <p:spPr>
          <a:xfrm>
            <a:off x="9326880" y="5550408"/>
            <a:ext cx="164592" cy="0"/>
          </a:xfrm>
          <a:prstGeom prst="line">
            <a:avLst/>
          </a:prstGeom>
          <a:noFill/>
          <a:ln w="15875">
            <a:solidFill>
              <a:srgbClr val="B9A2FF"/>
            </a:solidFill>
            <a:prstDash val="solid"/>
            <a:tailEnd type="triangle"/>
          </a:ln>
        </p:spPr>
      </p:sp>
      <p:sp>
        <p:nvSpPr>
          <p:cNvPr id="110" name="Shape 86"/>
          <p:cNvSpPr/>
          <p:nvPr/>
        </p:nvSpPr>
        <p:spPr>
          <a:xfrm>
            <a:off x="9326880" y="3031236"/>
            <a:ext cx="164592" cy="0"/>
          </a:xfrm>
          <a:prstGeom prst="line">
            <a:avLst/>
          </a:prstGeom>
          <a:noFill/>
          <a:ln w="15875">
            <a:solidFill>
              <a:srgbClr val="B9A2FF"/>
            </a:solidFill>
            <a:prstDash val="solid"/>
            <a:headEnd type="triangle"/>
            <a:tailEnd type="triangle"/>
          </a:ln>
        </p:spPr>
      </p:sp>
      <p:sp>
        <p:nvSpPr>
          <p:cNvPr id="111" name="Text 87"/>
          <p:cNvSpPr txBox="1"/>
          <p:nvPr/>
        </p:nvSpPr>
        <p:spPr>
          <a:xfrm>
            <a:off x="502920" y="6236208"/>
            <a:ext cx="6858000" cy="219456"/>
          </a:xfrm>
          <a:prstGeom prst="rect">
            <a:avLst/>
          </a:prstGeom>
          <a:noFill/>
          <a:ln/>
        </p:spPr>
        <p:txBody>
          <a:bodyPr wrap="square" lIns="0" tIns="0" rIns="0" bIns="0" rtlCol="0" anchor="t"/>
          <a:lstStyle/>
          <a:p>
            <a:pPr indent="0" marL="0">
              <a:buNone/>
            </a:pPr>
            <a:r>
              <a:rPr lang="en-US" sz="1000" spc="200" kern="0" dirty="0">
                <a:solidFill>
                  <a:srgbClr val="5E7896"/>
                </a:solidFill>
              </a:rPr>
              <a:t>OPEN STANDARDS  ·  INTEGRATED  ·  CYBER-SECURE  ·  FUTURE-READY</a:t>
            </a:r>
            <a:endParaRPr lang="en-US" sz="1000" dirty="0"/>
          </a:p>
        </p:txBody>
      </p:sp>
      <p:sp>
        <p:nvSpPr>
          <p:cNvPr id="112" name="Text 88"/>
          <p:cNvSpPr txBox="1"/>
          <p:nvPr/>
        </p:nvSpPr>
        <p:spPr>
          <a:xfrm>
            <a:off x="7498080" y="6236208"/>
            <a:ext cx="4187952" cy="219456"/>
          </a:xfrm>
          <a:prstGeom prst="rect">
            <a:avLst/>
          </a:prstGeom>
          <a:noFill/>
          <a:ln/>
        </p:spPr>
        <p:txBody>
          <a:bodyPr wrap="square" lIns="0" tIns="0" rIns="0" bIns="0" rtlCol="0" anchor="t"/>
          <a:lstStyle/>
          <a:p>
            <a:pPr algn="r" indent="0" marL="0">
              <a:buNone/>
            </a:pPr>
            <a:r>
              <a:rPr lang="en-US" sz="1000" spc="200" kern="0" dirty="0">
                <a:solidFill>
                  <a:srgbClr val="5E7896"/>
                </a:solidFill>
              </a:rPr>
              <a:t>INTEGRATED SECURITY MANAGEMENT SYSTEM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txBox="1"/>
          <p:nvPr/>
        </p:nvSpPr>
        <p:spPr>
          <a:xfrm>
            <a:off x="502920" y="438912"/>
            <a:ext cx="5486400" cy="256032"/>
          </a:xfrm>
          <a:prstGeom prst="rect">
            <a:avLst/>
          </a:prstGeom>
          <a:noFill/>
          <a:ln/>
        </p:spPr>
        <p:txBody>
          <a:bodyPr wrap="square" lIns="0" tIns="0" rIns="0" bIns="0" rtlCol="0" anchor="t"/>
          <a:lstStyle/>
          <a:p>
            <a:pPr indent="0" marL="0">
              <a:buNone/>
            </a:pPr>
            <a:r>
              <a:rPr lang="en-US" sz="1400" b="1" dirty="0">
                <a:solidFill>
                  <a:srgbClr val="1D1D1F"/>
                </a:solidFill>
              </a:rPr>
              <a:t>T5 ISMS Sitewide</a:t>
            </a:r>
            <a:pPr indent="0" marL="0">
              <a:buNone/>
            </a:pPr>
            <a:r>
              <a:rPr lang="en-US" sz="1400" dirty="0">
                <a:solidFill>
                  <a:srgbClr val="6E6E73"/>
                </a:solidFill>
              </a:rPr>
              <a:t>  ·  Product Architecture</a:t>
            </a:r>
            <a:endParaRPr lang="en-US" sz="1400" dirty="0"/>
          </a:p>
        </p:txBody>
      </p:sp>
      <p:sp>
        <p:nvSpPr>
          <p:cNvPr id="4" name="Text 1"/>
          <p:cNvSpPr txBox="1"/>
          <p:nvPr/>
        </p:nvSpPr>
        <p:spPr>
          <a:xfrm>
            <a:off x="6217920" y="457200"/>
            <a:ext cx="5468112" cy="237744"/>
          </a:xfrm>
          <a:prstGeom prst="rect">
            <a:avLst/>
          </a:prstGeom>
          <a:noFill/>
          <a:ln/>
        </p:spPr>
        <p:txBody>
          <a:bodyPr wrap="square" lIns="0" tIns="0" rIns="0" bIns="0" rtlCol="0" anchor="t"/>
          <a:lstStyle/>
          <a:p>
            <a:pPr algn="r" indent="0" marL="0">
              <a:buNone/>
            </a:pPr>
            <a:r>
              <a:rPr lang="en-US" sz="1100" dirty="0">
                <a:solidFill>
                  <a:srgbClr val="6E6E73"/>
                </a:solidFill>
              </a:rPr>
              <a:t>Open standards  ·  Integrated  ·  Cyber-secure  ·  Future-ready</a:t>
            </a:r>
            <a:endParaRPr lang="en-US" sz="1100" dirty="0"/>
          </a:p>
        </p:txBody>
      </p:sp>
      <p:sp>
        <p:nvSpPr>
          <p:cNvPr id="5" name="Text 2"/>
          <p:cNvSpPr txBox="1"/>
          <p:nvPr/>
        </p:nvSpPr>
        <p:spPr>
          <a:xfrm>
            <a:off x="502920" y="749808"/>
            <a:ext cx="11183112" cy="566928"/>
          </a:xfrm>
          <a:prstGeom prst="rect">
            <a:avLst/>
          </a:prstGeom>
          <a:noFill/>
          <a:ln/>
        </p:spPr>
        <p:txBody>
          <a:bodyPr wrap="square" lIns="0" tIns="0" rIns="0" bIns="0" rtlCol="0" anchor="t"/>
          <a:lstStyle/>
          <a:p>
            <a:pPr indent="0" marL="0">
              <a:buNone/>
            </a:pPr>
            <a:r>
              <a:rPr lang="en-US" sz="3200" b="1" spc="-50" kern="0" dirty="0">
                <a:solidFill>
                  <a:srgbClr val="1D1D1F"/>
                </a:solidFill>
              </a:rPr>
              <a:t>One platform. Every site. </a:t>
            </a:r>
            <a:pPr indent="0" marL="0">
              <a:buNone/>
            </a:pPr>
            <a:r>
              <a:rPr lang="en-US" sz="3200" b="1" spc="-50" kern="0" dirty="0">
                <a:gradFill rotWithShape="1">
                  <a:gsLst>
                    <a:gs pos="0">
                      <a:srgbClr val="A8895A"/>
                    </a:gs>
                    <a:gs pos="55000">
                      <a:srgbClr val="8C8A8E"/>
                    </a:gs>
                    <a:gs pos="100000">
                      <a:srgbClr val="3E5170"/>
                    </a:gs>
                  </a:gsLst>
                  <a:lin ang="0" scaled="0"/>
                </a:gradFill>
              </a:rPr>
              <a:t>Ready for autonomy.</a:t>
            </a:r>
            <a:endParaRPr lang="en-US" sz="3200" dirty="0"/>
          </a:p>
        </p:txBody>
      </p:sp>
      <p:sp>
        <p:nvSpPr>
          <p:cNvPr id="6" name="Text 3"/>
          <p:cNvSpPr txBox="1"/>
          <p:nvPr/>
        </p:nvSpPr>
        <p:spPr>
          <a:xfrm>
            <a:off x="502920" y="1325880"/>
            <a:ext cx="11183112" cy="292608"/>
          </a:xfrm>
          <a:prstGeom prst="rect">
            <a:avLst/>
          </a:prstGeom>
          <a:noFill/>
          <a:ln/>
        </p:spPr>
        <p:txBody>
          <a:bodyPr wrap="square" lIns="0" tIns="0" rIns="0" bIns="0" rtlCol="0" anchor="t"/>
          <a:lstStyle/>
          <a:p>
            <a:pPr indent="0" marL="0">
              <a:buNone/>
            </a:pPr>
            <a:r>
              <a:rPr lang="en-US" sz="1400" dirty="0">
                <a:solidFill>
                  <a:srgbClr val="6E6E73"/>
                </a:solidFill>
              </a:rPr>
              <a:t>Open-standards based and integrated — future-ready for advanced sensors, AI/ML and autonomous technologies.</a:t>
            </a:r>
            <a:endParaRPr lang="en-US" sz="1400" dirty="0"/>
          </a:p>
        </p:txBody>
      </p:sp>
      <p:sp>
        <p:nvSpPr>
          <p:cNvPr id="7" name="Shape 4"/>
          <p:cNvSpPr/>
          <p:nvPr/>
        </p:nvSpPr>
        <p:spPr>
          <a:xfrm>
            <a:off x="502920" y="1828800"/>
            <a:ext cx="5029200" cy="2011680"/>
          </a:xfrm>
          <a:prstGeom prst="roundRect">
            <a:avLst>
              <a:gd name="adj" fmla="val 10000"/>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8" name="Text 5"/>
          <p:cNvSpPr txBox="1"/>
          <p:nvPr/>
        </p:nvSpPr>
        <p:spPr>
          <a:xfrm>
            <a:off x="731520" y="1993392"/>
            <a:ext cx="4114800" cy="329184"/>
          </a:xfrm>
          <a:prstGeom prst="rect">
            <a:avLst/>
          </a:prstGeom>
          <a:noFill/>
          <a:ln/>
        </p:spPr>
        <p:txBody>
          <a:bodyPr wrap="square" lIns="0" tIns="0" rIns="0" bIns="0" rtlCol="0" anchor="t"/>
          <a:lstStyle/>
          <a:p>
            <a:pPr indent="0" marL="0">
              <a:buNone/>
            </a:pPr>
            <a:r>
              <a:rPr lang="en-US" sz="2000" b="1" dirty="0">
                <a:solidFill>
                  <a:srgbClr val="1D1D1F"/>
                </a:solidFill>
              </a:rPr>
              <a:t>T5-ISMS Sitewide</a:t>
            </a:r>
            <a:endParaRPr lang="en-US" sz="2000" dirty="0"/>
          </a:p>
        </p:txBody>
      </p:sp>
      <p:sp>
        <p:nvSpPr>
          <p:cNvPr id="9" name="Text 6"/>
          <p:cNvSpPr txBox="1"/>
          <p:nvPr/>
        </p:nvSpPr>
        <p:spPr>
          <a:xfrm>
            <a:off x="731520" y="2304288"/>
            <a:ext cx="4114800" cy="237744"/>
          </a:xfrm>
          <a:prstGeom prst="rect">
            <a:avLst/>
          </a:prstGeom>
          <a:noFill/>
          <a:ln/>
        </p:spPr>
        <p:txBody>
          <a:bodyPr wrap="square" lIns="0" tIns="0" rIns="0" bIns="0" rtlCol="0" anchor="t"/>
          <a:lstStyle/>
          <a:p>
            <a:pPr indent="0" marL="0">
              <a:buNone/>
            </a:pPr>
            <a:r>
              <a:rPr lang="en-US" sz="1200" dirty="0">
                <a:solidFill>
                  <a:srgbClr val="6E6E73"/>
                </a:solidFill>
              </a:rPr>
              <a:t>Integrated Security Management System</a:t>
            </a:r>
            <a:endParaRPr lang="en-US" sz="1200" dirty="0"/>
          </a:p>
        </p:txBody>
      </p:sp>
      <p:sp>
        <p:nvSpPr>
          <p:cNvPr id="10" name="Shape 7"/>
          <p:cNvSpPr/>
          <p:nvPr/>
        </p:nvSpPr>
        <p:spPr>
          <a:xfrm>
            <a:off x="731520" y="2688336"/>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11" name="Image 0" descr="Siren icon">    </p:cNvPr>
          <p:cNvPicPr>
            <a:picLocks noChangeAspect="1"/>
          </p:cNvPicPr>
          <p:nvPr/>
        </p:nvPicPr>
        <p:blipFill>
          <a:blip r:embed="rId2"/>
          <a:stretch>
            <a:fillRect/>
          </a:stretch>
        </p:blipFill>
        <p:spPr>
          <a:xfrm>
            <a:off x="795894" y="2752710"/>
            <a:ext cx="163860" cy="163860"/>
          </a:xfrm>
          <a:prstGeom prst="rect">
            <a:avLst/>
          </a:prstGeom>
        </p:spPr>
      </p:pic>
      <p:sp>
        <p:nvSpPr>
          <p:cNvPr id="12" name="Text 8"/>
          <p:cNvSpPr txBox="1"/>
          <p:nvPr/>
        </p:nvSpPr>
        <p:spPr>
          <a:xfrm>
            <a:off x="1133856" y="2660904"/>
            <a:ext cx="2057400" cy="347472"/>
          </a:xfrm>
          <a:prstGeom prst="rect">
            <a:avLst/>
          </a:prstGeom>
          <a:noFill/>
          <a:ln/>
        </p:spPr>
        <p:txBody>
          <a:bodyPr wrap="square" lIns="0" tIns="0" rIns="0" bIns="0" rtlCol="0" anchor="ctr"/>
          <a:lstStyle/>
          <a:p>
            <a:pPr indent="0" marL="0">
              <a:buNone/>
            </a:pPr>
            <a:r>
              <a:rPr lang="en-US" sz="1150" dirty="0">
                <a:solidFill>
                  <a:srgbClr val="1D1D1F"/>
                </a:solidFill>
              </a:rPr>
              <a:t>Incident &amp; Alarm Management</a:t>
            </a:r>
            <a:endParaRPr lang="en-US" sz="1150" dirty="0"/>
          </a:p>
        </p:txBody>
      </p:sp>
      <p:sp>
        <p:nvSpPr>
          <p:cNvPr id="13" name="Shape 9"/>
          <p:cNvSpPr/>
          <p:nvPr/>
        </p:nvSpPr>
        <p:spPr>
          <a:xfrm>
            <a:off x="731520" y="3035808"/>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14" name="Image 1" descr="Squares Four icon">    </p:cNvPr>
          <p:cNvPicPr>
            <a:picLocks noChangeAspect="1"/>
          </p:cNvPicPr>
          <p:nvPr/>
        </p:nvPicPr>
        <p:blipFill>
          <a:blip r:embed="rId3"/>
          <a:stretch>
            <a:fillRect/>
          </a:stretch>
        </p:blipFill>
        <p:spPr>
          <a:xfrm>
            <a:off x="795894" y="3100182"/>
            <a:ext cx="163860" cy="163860"/>
          </a:xfrm>
          <a:prstGeom prst="rect">
            <a:avLst/>
          </a:prstGeom>
        </p:spPr>
      </p:pic>
      <p:sp>
        <p:nvSpPr>
          <p:cNvPr id="15" name="Text 10"/>
          <p:cNvSpPr txBox="1"/>
          <p:nvPr/>
        </p:nvSpPr>
        <p:spPr>
          <a:xfrm>
            <a:off x="1133856" y="3008376"/>
            <a:ext cx="2057400" cy="347472"/>
          </a:xfrm>
          <a:prstGeom prst="rect">
            <a:avLst/>
          </a:prstGeom>
          <a:noFill/>
          <a:ln/>
        </p:spPr>
        <p:txBody>
          <a:bodyPr wrap="square" lIns="0" tIns="0" rIns="0" bIns="0" rtlCol="0" anchor="ctr"/>
          <a:lstStyle/>
          <a:p>
            <a:pPr indent="0" marL="0">
              <a:buNone/>
            </a:pPr>
            <a:r>
              <a:rPr lang="en-US" sz="1150" dirty="0">
                <a:solidFill>
                  <a:srgbClr val="1D1D1F"/>
                </a:solidFill>
              </a:rPr>
              <a:t>Common Operating Picture</a:t>
            </a:r>
            <a:endParaRPr lang="en-US" sz="1150" dirty="0"/>
          </a:p>
        </p:txBody>
      </p:sp>
      <p:sp>
        <p:nvSpPr>
          <p:cNvPr id="16" name="Shape 11"/>
          <p:cNvSpPr/>
          <p:nvPr/>
        </p:nvSpPr>
        <p:spPr>
          <a:xfrm>
            <a:off x="731520" y="3383280"/>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17" name="Image 2" descr="Heartbeat icon">    </p:cNvPr>
          <p:cNvPicPr>
            <a:picLocks noChangeAspect="1"/>
          </p:cNvPicPr>
          <p:nvPr/>
        </p:nvPicPr>
        <p:blipFill>
          <a:blip r:embed="rId4"/>
          <a:stretch>
            <a:fillRect/>
          </a:stretch>
        </p:blipFill>
        <p:spPr>
          <a:xfrm>
            <a:off x="795894" y="3447654"/>
            <a:ext cx="163860" cy="163860"/>
          </a:xfrm>
          <a:prstGeom prst="rect">
            <a:avLst/>
          </a:prstGeom>
        </p:spPr>
      </p:pic>
      <p:sp>
        <p:nvSpPr>
          <p:cNvPr id="18" name="Text 12"/>
          <p:cNvSpPr txBox="1"/>
          <p:nvPr/>
        </p:nvSpPr>
        <p:spPr>
          <a:xfrm>
            <a:off x="1133856" y="3355848"/>
            <a:ext cx="2057400" cy="347472"/>
          </a:xfrm>
          <a:prstGeom prst="rect">
            <a:avLst/>
          </a:prstGeom>
          <a:noFill/>
          <a:ln/>
        </p:spPr>
        <p:txBody>
          <a:bodyPr wrap="square" lIns="0" tIns="0" rIns="0" bIns="0" rtlCol="0" anchor="ctr"/>
          <a:lstStyle/>
          <a:p>
            <a:pPr indent="0" marL="0">
              <a:buNone/>
            </a:pPr>
            <a:r>
              <a:rPr lang="en-US" sz="1150" dirty="0">
                <a:solidFill>
                  <a:srgbClr val="1D1D1F"/>
                </a:solidFill>
              </a:rPr>
              <a:t>Sitewide Health Status</a:t>
            </a:r>
            <a:endParaRPr lang="en-US" sz="1150" dirty="0"/>
          </a:p>
        </p:txBody>
      </p:sp>
      <p:sp>
        <p:nvSpPr>
          <p:cNvPr id="19" name="Shape 13"/>
          <p:cNvSpPr/>
          <p:nvPr/>
        </p:nvSpPr>
        <p:spPr>
          <a:xfrm>
            <a:off x="3246120" y="2688336"/>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20" name="Image 3" descr="Cube Transparent icon">    </p:cNvPr>
          <p:cNvPicPr>
            <a:picLocks noChangeAspect="1"/>
          </p:cNvPicPr>
          <p:nvPr/>
        </p:nvPicPr>
        <p:blipFill>
          <a:blip r:embed="rId5"/>
          <a:stretch>
            <a:fillRect/>
          </a:stretch>
        </p:blipFill>
        <p:spPr>
          <a:xfrm>
            <a:off x="3310494" y="2752710"/>
            <a:ext cx="163860" cy="163860"/>
          </a:xfrm>
          <a:prstGeom prst="rect">
            <a:avLst/>
          </a:prstGeom>
        </p:spPr>
      </p:pic>
      <p:sp>
        <p:nvSpPr>
          <p:cNvPr id="21" name="Text 14"/>
          <p:cNvSpPr txBox="1"/>
          <p:nvPr/>
        </p:nvSpPr>
        <p:spPr>
          <a:xfrm>
            <a:off x="3648456" y="2660904"/>
            <a:ext cx="1828800" cy="347472"/>
          </a:xfrm>
          <a:prstGeom prst="rect">
            <a:avLst/>
          </a:prstGeom>
          <a:noFill/>
          <a:ln/>
        </p:spPr>
        <p:txBody>
          <a:bodyPr wrap="square" lIns="0" tIns="0" rIns="0" bIns="0" rtlCol="0" anchor="ctr"/>
          <a:lstStyle/>
          <a:p>
            <a:pPr indent="0" marL="0">
              <a:buNone/>
            </a:pPr>
            <a:r>
              <a:rPr lang="en-US" sz="1150" dirty="0">
                <a:solidFill>
                  <a:srgbClr val="1D1D1F"/>
                </a:solidFill>
              </a:rPr>
              <a:t>Digital Twin</a:t>
            </a:r>
            <a:endParaRPr lang="en-US" sz="1150" dirty="0"/>
          </a:p>
        </p:txBody>
      </p:sp>
      <p:sp>
        <p:nvSpPr>
          <p:cNvPr id="22" name="Shape 15"/>
          <p:cNvSpPr/>
          <p:nvPr/>
        </p:nvSpPr>
        <p:spPr>
          <a:xfrm>
            <a:off x="3246120" y="3035808"/>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23" name="Image 4" descr="Flow Arrow icon">    </p:cNvPr>
          <p:cNvPicPr>
            <a:picLocks noChangeAspect="1"/>
          </p:cNvPicPr>
          <p:nvPr/>
        </p:nvPicPr>
        <p:blipFill>
          <a:blip r:embed="rId6"/>
          <a:stretch>
            <a:fillRect/>
          </a:stretch>
        </p:blipFill>
        <p:spPr>
          <a:xfrm>
            <a:off x="3310494" y="3100182"/>
            <a:ext cx="163860" cy="163860"/>
          </a:xfrm>
          <a:prstGeom prst="rect">
            <a:avLst/>
          </a:prstGeom>
        </p:spPr>
      </p:pic>
      <p:sp>
        <p:nvSpPr>
          <p:cNvPr id="24" name="Text 16"/>
          <p:cNvSpPr txBox="1"/>
          <p:nvPr/>
        </p:nvSpPr>
        <p:spPr>
          <a:xfrm>
            <a:off x="3648456" y="3008376"/>
            <a:ext cx="1828800" cy="347472"/>
          </a:xfrm>
          <a:prstGeom prst="rect">
            <a:avLst/>
          </a:prstGeom>
          <a:noFill/>
          <a:ln/>
        </p:spPr>
        <p:txBody>
          <a:bodyPr wrap="square" lIns="0" tIns="0" rIns="0" bIns="0" rtlCol="0" anchor="ctr"/>
          <a:lstStyle/>
          <a:p>
            <a:pPr indent="0" marL="0">
              <a:buNone/>
            </a:pPr>
            <a:r>
              <a:rPr lang="en-US" sz="1150" dirty="0">
                <a:solidFill>
                  <a:srgbClr val="1D1D1F"/>
                </a:solidFill>
              </a:rPr>
              <a:t>Digital Workflow Engine</a:t>
            </a:r>
            <a:endParaRPr lang="en-US" sz="1150" dirty="0"/>
          </a:p>
        </p:txBody>
      </p:sp>
      <p:sp>
        <p:nvSpPr>
          <p:cNvPr id="25" name="Shape 17"/>
          <p:cNvSpPr/>
          <p:nvPr/>
        </p:nvSpPr>
        <p:spPr>
          <a:xfrm>
            <a:off x="5669280" y="1828800"/>
            <a:ext cx="1554480" cy="2011680"/>
          </a:xfrm>
          <a:prstGeom prst="roundRect">
            <a:avLst>
              <a:gd name="adj" fmla="val 12941"/>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26" name="Shape 18"/>
          <p:cNvSpPr/>
          <p:nvPr/>
        </p:nvSpPr>
        <p:spPr>
          <a:xfrm>
            <a:off x="5870448" y="2029968"/>
            <a:ext cx="457200" cy="457200"/>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27" name="Image 5" descr="Security Camera icon">    </p:cNvPr>
          <p:cNvPicPr>
            <a:picLocks noChangeAspect="1"/>
          </p:cNvPicPr>
          <p:nvPr/>
        </p:nvPicPr>
        <p:blipFill>
          <a:blip r:embed="rId7"/>
          <a:stretch>
            <a:fillRect/>
          </a:stretch>
        </p:blipFill>
        <p:spPr>
          <a:xfrm>
            <a:off x="5971032" y="2130552"/>
            <a:ext cx="256032" cy="256032"/>
          </a:xfrm>
          <a:prstGeom prst="rect">
            <a:avLst/>
          </a:prstGeom>
        </p:spPr>
      </p:pic>
      <p:sp>
        <p:nvSpPr>
          <p:cNvPr id="28" name="Text 19"/>
          <p:cNvSpPr txBox="1"/>
          <p:nvPr/>
        </p:nvSpPr>
        <p:spPr>
          <a:xfrm>
            <a:off x="5870448" y="2651760"/>
            <a:ext cx="1234440" cy="512064"/>
          </a:xfrm>
          <a:prstGeom prst="rect">
            <a:avLst/>
          </a:prstGeom>
          <a:noFill/>
          <a:ln/>
        </p:spPr>
        <p:txBody>
          <a:bodyPr wrap="square" lIns="0" tIns="0" rIns="0" bIns="0" rtlCol="0" anchor="t"/>
          <a:lstStyle/>
          <a:p>
            <a:pPr indent="0" marL="0">
              <a:buNone/>
            </a:pPr>
            <a:r>
              <a:rPr lang="en-US" sz="1500" b="1" dirty="0">
                <a:solidFill>
                  <a:srgbClr val="1D1D1F"/>
                </a:solidFill>
              </a:rPr>
              <a:t>Video</a:t>
            </a:r>
            <a:endParaRPr lang="en-US" sz="1500" dirty="0"/>
          </a:p>
          <a:p>
            <a:pPr indent="0" marL="0">
              <a:buNone/>
            </a:pPr>
            <a:r>
              <a:rPr lang="en-US" sz="1500" b="1" dirty="0">
                <a:solidFill>
                  <a:srgbClr val="1D1D1F"/>
                </a:solidFill>
              </a:rPr>
              <a:t>Analytics</a:t>
            </a:r>
            <a:endParaRPr lang="en-US" sz="1500" dirty="0"/>
          </a:p>
        </p:txBody>
      </p:sp>
      <p:sp>
        <p:nvSpPr>
          <p:cNvPr id="29" name="Text 20"/>
          <p:cNvSpPr txBox="1"/>
          <p:nvPr/>
        </p:nvSpPr>
        <p:spPr>
          <a:xfrm>
            <a:off x="5870448" y="3200400"/>
            <a:ext cx="1234440" cy="512064"/>
          </a:xfrm>
          <a:prstGeom prst="rect">
            <a:avLst/>
          </a:prstGeom>
          <a:noFill/>
          <a:ln/>
        </p:spPr>
        <p:txBody>
          <a:bodyPr wrap="square" lIns="0" tIns="0" rIns="0" bIns="0" rtlCol="0" anchor="t"/>
          <a:lstStyle/>
          <a:p>
            <a:pPr indent="0" marL="0">
              <a:buNone/>
            </a:pPr>
            <a:r>
              <a:rPr lang="en-US" sz="1100" dirty="0">
                <a:solidFill>
                  <a:srgbClr val="6E6E73"/>
                </a:solidFill>
              </a:rPr>
              <a:t>Video dispatcher &amp; aggregators</a:t>
            </a:r>
            <a:endParaRPr lang="en-US" sz="1100" dirty="0"/>
          </a:p>
        </p:txBody>
      </p:sp>
      <p:sp>
        <p:nvSpPr>
          <p:cNvPr id="30" name="Shape 21"/>
          <p:cNvSpPr/>
          <p:nvPr/>
        </p:nvSpPr>
        <p:spPr>
          <a:xfrm>
            <a:off x="7360920" y="1828800"/>
            <a:ext cx="1444752" cy="2011680"/>
          </a:xfrm>
          <a:prstGeom prst="roundRect">
            <a:avLst>
              <a:gd name="adj" fmla="val 13924"/>
            </a:avLst>
          </a:prstGeom>
          <a:gradFill rotWithShape="1">
            <a:gsLst>
              <a:gs pos="0">
                <a:srgbClr val="E6DDF3"/>
              </a:gs>
              <a:gs pos="35000">
                <a:srgbClr val="D8E6F5"/>
              </a:gs>
              <a:gs pos="70000">
                <a:srgbClr val="F3E8D8"/>
              </a:gs>
              <a:gs pos="100000">
                <a:srgbClr val="EFDCE4"/>
              </a:gs>
            </a:gsLst>
            <a:lin ang="2700000" scaled="0"/>
          </a:gradFill>
          <a:ln w="19050">
            <a:solidFill>
              <a:srgbClr val="FFFFFF"/>
            </a:solidFill>
            <a:prstDash val="solid"/>
          </a:ln>
          <a:effectLst>
            <a:outerShdw sx="100000" sy="100000" kx="0" ky="0" algn="bl" rotWithShape="0" blurRad="355600" dist="101600" dir="5400000">
              <a:srgbClr val="6F7C93">
                <a:alpha val="20000"/>
              </a:srgbClr>
            </a:outerShdw>
          </a:effectLst>
        </p:spPr>
      </p:sp>
      <p:pic>
        <p:nvPicPr>
          <p:cNvPr id="31" name="Image 6" descr="Sparkle icon">    </p:cNvPr>
          <p:cNvPicPr>
            <a:picLocks noChangeAspect="1"/>
          </p:cNvPicPr>
          <p:nvPr/>
        </p:nvPicPr>
        <p:blipFill>
          <a:blip r:embed="rId8"/>
          <a:stretch>
            <a:fillRect/>
          </a:stretch>
        </p:blipFill>
        <p:spPr>
          <a:xfrm>
            <a:off x="7562088" y="2029968"/>
            <a:ext cx="365760" cy="365760"/>
          </a:xfrm>
          <a:prstGeom prst="rect">
            <a:avLst/>
          </a:prstGeom>
        </p:spPr>
      </p:pic>
      <p:sp>
        <p:nvSpPr>
          <p:cNvPr id="32" name="Text 22"/>
          <p:cNvSpPr txBox="1"/>
          <p:nvPr/>
        </p:nvSpPr>
        <p:spPr>
          <a:xfrm>
            <a:off x="7562088" y="2670048"/>
            <a:ext cx="1170432" cy="603504"/>
          </a:xfrm>
          <a:prstGeom prst="rect">
            <a:avLst/>
          </a:prstGeom>
          <a:noFill/>
          <a:ln/>
        </p:spPr>
        <p:txBody>
          <a:bodyPr wrap="square" lIns="0" tIns="0" rIns="0" bIns="0" rtlCol="0" anchor="t"/>
          <a:lstStyle/>
          <a:p>
            <a:pPr indent="0" marL="0">
              <a:buNone/>
            </a:pPr>
            <a:r>
              <a:rPr lang="en-US" sz="4000" b="1" spc="-50" kern="0" dirty="0">
                <a:solidFill>
                  <a:srgbClr val="1D1D1F"/>
                </a:solidFill>
              </a:rPr>
              <a:t>A.I.</a:t>
            </a:r>
            <a:endParaRPr lang="en-US" sz="4000" dirty="0"/>
          </a:p>
        </p:txBody>
      </p:sp>
      <p:sp>
        <p:nvSpPr>
          <p:cNvPr id="33" name="Text 23"/>
          <p:cNvSpPr txBox="1"/>
          <p:nvPr/>
        </p:nvSpPr>
        <p:spPr>
          <a:xfrm>
            <a:off x="7562088" y="3310128"/>
            <a:ext cx="1170432" cy="274320"/>
          </a:xfrm>
          <a:prstGeom prst="rect">
            <a:avLst/>
          </a:prstGeom>
          <a:noFill/>
          <a:ln/>
        </p:spPr>
        <p:txBody>
          <a:bodyPr wrap="square" lIns="0" tIns="0" rIns="0" bIns="0" rtlCol="0" anchor="t"/>
          <a:lstStyle/>
          <a:p>
            <a:pPr indent="0" marL="0">
              <a:buNone/>
            </a:pPr>
            <a:r>
              <a:rPr lang="en-US" sz="1250" b="1" dirty="0">
                <a:solidFill>
                  <a:srgbClr val="3E5170"/>
                </a:solidFill>
              </a:rPr>
              <a:t>ML · LLM · AI</a:t>
            </a:r>
            <a:endParaRPr lang="en-US" sz="1250" dirty="0"/>
          </a:p>
        </p:txBody>
      </p:sp>
      <p:sp>
        <p:nvSpPr>
          <p:cNvPr id="34" name="Shape 24"/>
          <p:cNvSpPr/>
          <p:nvPr/>
        </p:nvSpPr>
        <p:spPr>
          <a:xfrm>
            <a:off x="502920" y="3977640"/>
            <a:ext cx="8302752" cy="457200"/>
          </a:xfrm>
          <a:prstGeom prst="roundRect">
            <a:avLst>
              <a:gd name="adj" fmla="val 36000"/>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35" name="Shape 25"/>
          <p:cNvSpPr/>
          <p:nvPr/>
        </p:nvSpPr>
        <p:spPr>
          <a:xfrm>
            <a:off x="658368" y="4050792"/>
            <a:ext cx="310896" cy="310896"/>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36" name="Image 7" descr="Shield Check icon">    </p:cNvPr>
          <p:cNvPicPr>
            <a:picLocks noChangeAspect="1"/>
          </p:cNvPicPr>
          <p:nvPr/>
        </p:nvPicPr>
        <p:blipFill>
          <a:blip r:embed="rId9"/>
          <a:stretch>
            <a:fillRect/>
          </a:stretch>
        </p:blipFill>
        <p:spPr>
          <a:xfrm>
            <a:off x="726765" y="4119189"/>
            <a:ext cx="174102" cy="174102"/>
          </a:xfrm>
          <a:prstGeom prst="rect">
            <a:avLst/>
          </a:prstGeom>
        </p:spPr>
      </p:pic>
      <p:sp>
        <p:nvSpPr>
          <p:cNvPr id="37" name="Text 26"/>
          <p:cNvSpPr txBox="1"/>
          <p:nvPr/>
        </p:nvSpPr>
        <p:spPr>
          <a:xfrm>
            <a:off x="1097280" y="3977640"/>
            <a:ext cx="4572000" cy="457200"/>
          </a:xfrm>
          <a:prstGeom prst="rect">
            <a:avLst/>
          </a:prstGeom>
          <a:noFill/>
          <a:ln/>
        </p:spPr>
        <p:txBody>
          <a:bodyPr wrap="square" lIns="0" tIns="0" rIns="0" bIns="0" rtlCol="0" anchor="ctr"/>
          <a:lstStyle/>
          <a:p>
            <a:pPr indent="0" marL="0">
              <a:buNone/>
            </a:pPr>
            <a:r>
              <a:rPr lang="en-US" sz="1400" b="1" dirty="0">
                <a:solidFill>
                  <a:srgbClr val="1D1D1F"/>
                </a:solidFill>
              </a:rPr>
              <a:t>Network &amp; Cyber Security Layer</a:t>
            </a:r>
            <a:endParaRPr lang="en-US" sz="1400" dirty="0"/>
          </a:p>
        </p:txBody>
      </p:sp>
      <p:sp>
        <p:nvSpPr>
          <p:cNvPr id="38" name="Text 27"/>
          <p:cNvSpPr txBox="1"/>
          <p:nvPr/>
        </p:nvSpPr>
        <p:spPr>
          <a:xfrm>
            <a:off x="4937760" y="3977640"/>
            <a:ext cx="3685032" cy="457200"/>
          </a:xfrm>
          <a:prstGeom prst="rect">
            <a:avLst/>
          </a:prstGeom>
          <a:noFill/>
          <a:ln/>
        </p:spPr>
        <p:txBody>
          <a:bodyPr wrap="square" lIns="0" tIns="0" rIns="0" bIns="0" rtlCol="0" anchor="ctr"/>
          <a:lstStyle/>
          <a:p>
            <a:pPr algn="r" indent="0" marL="0">
              <a:buNone/>
            </a:pPr>
            <a:r>
              <a:rPr lang="en-US" sz="1100" dirty="0">
                <a:solidFill>
                  <a:srgbClr val="6E6E73"/>
                </a:solidFill>
              </a:rPr>
              <a:t>Secures every site connection</a:t>
            </a:r>
            <a:endParaRPr lang="en-US" sz="1100" dirty="0"/>
          </a:p>
        </p:txBody>
      </p:sp>
      <p:sp>
        <p:nvSpPr>
          <p:cNvPr id="39" name="Text 28"/>
          <p:cNvSpPr txBox="1"/>
          <p:nvPr/>
        </p:nvSpPr>
        <p:spPr>
          <a:xfrm>
            <a:off x="548640" y="4681728"/>
            <a:ext cx="1881378" cy="310896"/>
          </a:xfrm>
          <a:prstGeom prst="rect">
            <a:avLst/>
          </a:prstGeom>
          <a:noFill/>
          <a:ln/>
        </p:spPr>
        <p:txBody>
          <a:bodyPr wrap="square" lIns="0" tIns="0" rIns="0" bIns="0" rtlCol="0" anchor="t"/>
          <a:lstStyle/>
          <a:p>
            <a:pPr indent="0" marL="0">
              <a:buNone/>
            </a:pPr>
            <a:r>
              <a:rPr lang="en-US" sz="1700" b="1" dirty="0">
                <a:solidFill>
                  <a:srgbClr val="1D1D1F"/>
                </a:solidFill>
              </a:rPr>
              <a:t>Connected sites</a:t>
            </a:r>
            <a:endParaRPr lang="en-US" sz="1700" dirty="0"/>
          </a:p>
        </p:txBody>
      </p:sp>
      <p:sp>
        <p:nvSpPr>
          <p:cNvPr id="40" name="Text 29"/>
          <p:cNvSpPr txBox="1"/>
          <p:nvPr/>
        </p:nvSpPr>
        <p:spPr>
          <a:xfrm>
            <a:off x="548640" y="4992624"/>
            <a:ext cx="1789938" cy="365760"/>
          </a:xfrm>
          <a:prstGeom prst="rect">
            <a:avLst/>
          </a:prstGeom>
          <a:noFill/>
          <a:ln/>
        </p:spPr>
        <p:txBody>
          <a:bodyPr wrap="square" lIns="0" tIns="0" rIns="0" bIns="0" rtlCol="0" anchor="t"/>
          <a:lstStyle/>
          <a:p>
            <a:pPr indent="0" marL="0">
              <a:buNone/>
            </a:pPr>
            <a:r>
              <a:rPr lang="en-US" sz="1100" dirty="0">
                <a:solidFill>
                  <a:srgbClr val="6E6E73"/>
                </a:solidFill>
              </a:rPr>
              <a:t>T5 and beyond, on one platform.</a:t>
            </a:r>
            <a:endParaRPr lang="en-US" sz="1100" dirty="0"/>
          </a:p>
        </p:txBody>
      </p:sp>
      <p:sp>
        <p:nvSpPr>
          <p:cNvPr id="41" name="Shape 30"/>
          <p:cNvSpPr/>
          <p:nvPr/>
        </p:nvSpPr>
        <p:spPr>
          <a:xfrm>
            <a:off x="2612898" y="457200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42" name="Shape 31"/>
          <p:cNvSpPr/>
          <p:nvPr/>
        </p:nvSpPr>
        <p:spPr>
          <a:xfrm>
            <a:off x="2777490" y="475488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43" name="Image 8" descr="Buildings icon">    </p:cNvPr>
          <p:cNvPicPr>
            <a:picLocks noChangeAspect="1"/>
          </p:cNvPicPr>
          <p:nvPr/>
        </p:nvPicPr>
        <p:blipFill>
          <a:blip r:embed="rId10"/>
          <a:stretch>
            <a:fillRect/>
          </a:stretch>
        </p:blipFill>
        <p:spPr>
          <a:xfrm>
            <a:off x="2874051" y="4851441"/>
            <a:ext cx="245791" cy="245791"/>
          </a:xfrm>
          <a:prstGeom prst="rect">
            <a:avLst/>
          </a:prstGeom>
        </p:spPr>
      </p:pic>
      <p:sp>
        <p:nvSpPr>
          <p:cNvPr id="44" name="Text 32"/>
          <p:cNvSpPr txBox="1"/>
          <p:nvPr/>
        </p:nvSpPr>
        <p:spPr>
          <a:xfrm>
            <a:off x="3344418" y="469087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T5A ISMS</a:t>
            </a:r>
            <a:endParaRPr lang="en-US" sz="1400" dirty="0"/>
          </a:p>
        </p:txBody>
      </p:sp>
      <p:sp>
        <p:nvSpPr>
          <p:cNvPr id="45" name="Text 33"/>
          <p:cNvSpPr txBox="1"/>
          <p:nvPr/>
        </p:nvSpPr>
        <p:spPr>
          <a:xfrm>
            <a:off x="3344418" y="4965192"/>
            <a:ext cx="1149858" cy="365760"/>
          </a:xfrm>
          <a:prstGeom prst="rect">
            <a:avLst/>
          </a:prstGeom>
          <a:noFill/>
          <a:ln/>
        </p:spPr>
        <p:txBody>
          <a:bodyPr wrap="square" lIns="0" tIns="0" rIns="0" bIns="0" rtlCol="0" anchor="t"/>
          <a:lstStyle/>
          <a:p>
            <a:pPr indent="0" marL="0">
              <a:buNone/>
            </a:pPr>
            <a:r>
              <a:rPr lang="en-US" sz="1050" dirty="0">
                <a:solidFill>
                  <a:srgbClr val="6E6E73"/>
                </a:solidFill>
              </a:rPr>
              <a:t>Terminal 5A</a:t>
            </a:r>
            <a:endParaRPr lang="en-US" sz="1050" dirty="0"/>
          </a:p>
        </p:txBody>
      </p:sp>
      <p:sp>
        <p:nvSpPr>
          <p:cNvPr id="46" name="Shape 34"/>
          <p:cNvSpPr/>
          <p:nvPr/>
        </p:nvSpPr>
        <p:spPr>
          <a:xfrm>
            <a:off x="4722876" y="457200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47" name="Shape 35"/>
          <p:cNvSpPr/>
          <p:nvPr/>
        </p:nvSpPr>
        <p:spPr>
          <a:xfrm>
            <a:off x="4887468" y="475488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48" name="Image 9" descr="Buildings icon">    </p:cNvPr>
          <p:cNvPicPr>
            <a:picLocks noChangeAspect="1"/>
          </p:cNvPicPr>
          <p:nvPr/>
        </p:nvPicPr>
        <p:blipFill>
          <a:blip r:embed="rId11"/>
          <a:stretch>
            <a:fillRect/>
          </a:stretch>
        </p:blipFill>
        <p:spPr>
          <a:xfrm>
            <a:off x="4984029" y="4851441"/>
            <a:ext cx="245791" cy="245791"/>
          </a:xfrm>
          <a:prstGeom prst="rect">
            <a:avLst/>
          </a:prstGeom>
        </p:spPr>
      </p:pic>
      <p:sp>
        <p:nvSpPr>
          <p:cNvPr id="49" name="Text 36"/>
          <p:cNvSpPr txBox="1"/>
          <p:nvPr/>
        </p:nvSpPr>
        <p:spPr>
          <a:xfrm>
            <a:off x="5454396" y="469087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T5B ISMS</a:t>
            </a:r>
            <a:endParaRPr lang="en-US" sz="1400" dirty="0"/>
          </a:p>
        </p:txBody>
      </p:sp>
      <p:sp>
        <p:nvSpPr>
          <p:cNvPr id="50" name="Text 37"/>
          <p:cNvSpPr txBox="1"/>
          <p:nvPr/>
        </p:nvSpPr>
        <p:spPr>
          <a:xfrm>
            <a:off x="5454396" y="4965192"/>
            <a:ext cx="1149858" cy="365760"/>
          </a:xfrm>
          <a:prstGeom prst="rect">
            <a:avLst/>
          </a:prstGeom>
          <a:noFill/>
          <a:ln/>
        </p:spPr>
        <p:txBody>
          <a:bodyPr wrap="square" lIns="0" tIns="0" rIns="0" bIns="0" rtlCol="0" anchor="t"/>
          <a:lstStyle/>
          <a:p>
            <a:pPr indent="0" marL="0">
              <a:buNone/>
            </a:pPr>
            <a:r>
              <a:rPr lang="en-US" sz="1050" dirty="0">
                <a:solidFill>
                  <a:srgbClr val="6E6E73"/>
                </a:solidFill>
              </a:rPr>
              <a:t>Terminal 5B</a:t>
            </a:r>
            <a:endParaRPr lang="en-US" sz="1050" dirty="0"/>
          </a:p>
        </p:txBody>
      </p:sp>
      <p:sp>
        <p:nvSpPr>
          <p:cNvPr id="51" name="Shape 38"/>
          <p:cNvSpPr/>
          <p:nvPr/>
        </p:nvSpPr>
        <p:spPr>
          <a:xfrm>
            <a:off x="6832854" y="457200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52" name="Shape 39"/>
          <p:cNvSpPr/>
          <p:nvPr/>
        </p:nvSpPr>
        <p:spPr>
          <a:xfrm>
            <a:off x="6997446" y="475488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53" name="Image 10" descr="Buildings icon">    </p:cNvPr>
          <p:cNvPicPr>
            <a:picLocks noChangeAspect="1"/>
          </p:cNvPicPr>
          <p:nvPr/>
        </p:nvPicPr>
        <p:blipFill>
          <a:blip r:embed="rId12"/>
          <a:stretch>
            <a:fillRect/>
          </a:stretch>
        </p:blipFill>
        <p:spPr>
          <a:xfrm>
            <a:off x="7094007" y="4851441"/>
            <a:ext cx="245791" cy="245791"/>
          </a:xfrm>
          <a:prstGeom prst="rect">
            <a:avLst/>
          </a:prstGeom>
        </p:spPr>
      </p:pic>
      <p:sp>
        <p:nvSpPr>
          <p:cNvPr id="54" name="Text 40"/>
          <p:cNvSpPr txBox="1"/>
          <p:nvPr/>
        </p:nvSpPr>
        <p:spPr>
          <a:xfrm>
            <a:off x="7564374" y="469087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T5C ISMS</a:t>
            </a:r>
            <a:endParaRPr lang="en-US" sz="1400" dirty="0"/>
          </a:p>
        </p:txBody>
      </p:sp>
      <p:sp>
        <p:nvSpPr>
          <p:cNvPr id="55" name="Text 41"/>
          <p:cNvSpPr txBox="1"/>
          <p:nvPr/>
        </p:nvSpPr>
        <p:spPr>
          <a:xfrm>
            <a:off x="7564374" y="4965192"/>
            <a:ext cx="1149858" cy="365760"/>
          </a:xfrm>
          <a:prstGeom prst="rect">
            <a:avLst/>
          </a:prstGeom>
          <a:noFill/>
          <a:ln/>
        </p:spPr>
        <p:txBody>
          <a:bodyPr wrap="square" lIns="0" tIns="0" rIns="0" bIns="0" rtlCol="0" anchor="t"/>
          <a:lstStyle/>
          <a:p>
            <a:pPr indent="0" marL="0">
              <a:buNone/>
            </a:pPr>
            <a:r>
              <a:rPr lang="en-US" sz="1050" dirty="0">
                <a:solidFill>
                  <a:srgbClr val="6E6E73"/>
                </a:solidFill>
              </a:rPr>
              <a:t>Terminal 5C</a:t>
            </a:r>
            <a:endParaRPr lang="en-US" sz="1050" dirty="0"/>
          </a:p>
        </p:txBody>
      </p:sp>
      <p:sp>
        <p:nvSpPr>
          <p:cNvPr id="56" name="Shape 42"/>
          <p:cNvSpPr/>
          <p:nvPr/>
        </p:nvSpPr>
        <p:spPr>
          <a:xfrm>
            <a:off x="502920" y="553212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57" name="Shape 43"/>
          <p:cNvSpPr/>
          <p:nvPr/>
        </p:nvSpPr>
        <p:spPr>
          <a:xfrm>
            <a:off x="667512" y="571500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58" name="Image 11" descr="Hard Hat icon">    </p:cNvPr>
          <p:cNvPicPr>
            <a:picLocks noChangeAspect="1"/>
          </p:cNvPicPr>
          <p:nvPr/>
        </p:nvPicPr>
        <p:blipFill>
          <a:blip r:embed="rId13"/>
          <a:stretch>
            <a:fillRect/>
          </a:stretch>
        </p:blipFill>
        <p:spPr>
          <a:xfrm>
            <a:off x="764073" y="5811561"/>
            <a:ext cx="245791" cy="245791"/>
          </a:xfrm>
          <a:prstGeom prst="rect">
            <a:avLst/>
          </a:prstGeom>
        </p:spPr>
      </p:pic>
      <p:sp>
        <p:nvSpPr>
          <p:cNvPr id="59" name="Text 44"/>
          <p:cNvSpPr txBox="1"/>
          <p:nvPr/>
        </p:nvSpPr>
        <p:spPr>
          <a:xfrm>
            <a:off x="1234440" y="565099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LIW</a:t>
            </a:r>
            <a:endParaRPr lang="en-US" sz="1400" dirty="0"/>
          </a:p>
        </p:txBody>
      </p:sp>
      <p:sp>
        <p:nvSpPr>
          <p:cNvPr id="60" name="Text 45"/>
          <p:cNvSpPr txBox="1"/>
          <p:nvPr/>
        </p:nvSpPr>
        <p:spPr>
          <a:xfrm>
            <a:off x="1234440" y="5925312"/>
            <a:ext cx="1149858" cy="365760"/>
          </a:xfrm>
          <a:prstGeom prst="rect">
            <a:avLst/>
          </a:prstGeom>
          <a:noFill/>
          <a:ln/>
        </p:spPr>
        <p:txBody>
          <a:bodyPr wrap="square" lIns="0" tIns="0" rIns="0" bIns="0" rtlCol="0" anchor="t"/>
          <a:lstStyle/>
          <a:p>
            <a:pPr indent="0" marL="0">
              <a:buNone/>
            </a:pPr>
            <a:r>
              <a:rPr lang="en-US" sz="1050" dirty="0">
                <a:solidFill>
                  <a:srgbClr val="6E6E73"/>
                </a:solidFill>
              </a:rPr>
              <a:t>Land Infrastructure Works</a:t>
            </a:r>
            <a:endParaRPr lang="en-US" sz="1050" dirty="0"/>
          </a:p>
        </p:txBody>
      </p:sp>
      <p:sp>
        <p:nvSpPr>
          <p:cNvPr id="61" name="Shape 46"/>
          <p:cNvSpPr/>
          <p:nvPr/>
        </p:nvSpPr>
        <p:spPr>
          <a:xfrm>
            <a:off x="2612898" y="553212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62" name="Shape 47"/>
          <p:cNvSpPr/>
          <p:nvPr/>
        </p:nvSpPr>
        <p:spPr>
          <a:xfrm>
            <a:off x="2777490" y="571500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63" name="Image 12" descr="Train icon">    </p:cNvPr>
          <p:cNvPicPr>
            <a:picLocks noChangeAspect="1"/>
          </p:cNvPicPr>
          <p:nvPr/>
        </p:nvPicPr>
        <p:blipFill>
          <a:blip r:embed="rId14"/>
          <a:stretch>
            <a:fillRect/>
          </a:stretch>
        </p:blipFill>
        <p:spPr>
          <a:xfrm>
            <a:off x="2874051" y="5811561"/>
            <a:ext cx="245791" cy="245791"/>
          </a:xfrm>
          <a:prstGeom prst="rect">
            <a:avLst/>
          </a:prstGeom>
        </p:spPr>
      </p:pic>
      <p:sp>
        <p:nvSpPr>
          <p:cNvPr id="64" name="Text 48"/>
          <p:cNvSpPr txBox="1"/>
          <p:nvPr/>
        </p:nvSpPr>
        <p:spPr>
          <a:xfrm>
            <a:off x="3344418" y="565099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APM Depot</a:t>
            </a:r>
            <a:endParaRPr lang="en-US" sz="1400" dirty="0"/>
          </a:p>
        </p:txBody>
      </p:sp>
      <p:sp>
        <p:nvSpPr>
          <p:cNvPr id="65" name="Text 49"/>
          <p:cNvSpPr txBox="1"/>
          <p:nvPr/>
        </p:nvSpPr>
        <p:spPr>
          <a:xfrm>
            <a:off x="3344418" y="5925312"/>
            <a:ext cx="1149858" cy="365760"/>
          </a:xfrm>
          <a:prstGeom prst="rect">
            <a:avLst/>
          </a:prstGeom>
          <a:noFill/>
          <a:ln/>
        </p:spPr>
        <p:txBody>
          <a:bodyPr wrap="square" lIns="0" tIns="0" rIns="0" bIns="0" rtlCol="0" anchor="t"/>
          <a:lstStyle/>
          <a:p>
            <a:pPr indent="0" marL="0">
              <a:buNone/>
            </a:pPr>
            <a:r>
              <a:rPr lang="en-US" sz="1050" dirty="0">
                <a:solidFill>
                  <a:srgbClr val="6E6E73"/>
                </a:solidFill>
              </a:rPr>
              <a:t>Automated People Mover</a:t>
            </a:r>
            <a:endParaRPr lang="en-US" sz="1050" dirty="0"/>
          </a:p>
        </p:txBody>
      </p:sp>
      <p:sp>
        <p:nvSpPr>
          <p:cNvPr id="66" name="Shape 50"/>
          <p:cNvSpPr/>
          <p:nvPr/>
        </p:nvSpPr>
        <p:spPr>
          <a:xfrm>
            <a:off x="4722876" y="5532120"/>
            <a:ext cx="1972818" cy="822960"/>
          </a:xfrm>
          <a:prstGeom prst="roundRect">
            <a:avLst>
              <a:gd name="adj" fmla="val 2444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67" name="Shape 51"/>
          <p:cNvSpPr/>
          <p:nvPr/>
        </p:nvSpPr>
        <p:spPr>
          <a:xfrm>
            <a:off x="4887468" y="571500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68" name="Image 13" descr="Airplane icon">    </p:cNvPr>
          <p:cNvPicPr>
            <a:picLocks noChangeAspect="1"/>
          </p:cNvPicPr>
          <p:nvPr/>
        </p:nvPicPr>
        <p:blipFill>
          <a:blip r:embed="rId15"/>
          <a:stretch>
            <a:fillRect/>
          </a:stretch>
        </p:blipFill>
        <p:spPr>
          <a:xfrm>
            <a:off x="4984029" y="5811561"/>
            <a:ext cx="245791" cy="245791"/>
          </a:xfrm>
          <a:prstGeom prst="rect">
            <a:avLst/>
          </a:prstGeom>
        </p:spPr>
      </p:pic>
      <p:sp>
        <p:nvSpPr>
          <p:cNvPr id="69" name="Text 52"/>
          <p:cNvSpPr txBox="1"/>
          <p:nvPr/>
        </p:nvSpPr>
        <p:spPr>
          <a:xfrm>
            <a:off x="5454396" y="565099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ERS</a:t>
            </a:r>
            <a:endParaRPr lang="en-US" sz="1400" dirty="0"/>
          </a:p>
        </p:txBody>
      </p:sp>
      <p:sp>
        <p:nvSpPr>
          <p:cNvPr id="70" name="Text 53"/>
          <p:cNvSpPr txBox="1"/>
          <p:nvPr/>
        </p:nvSpPr>
        <p:spPr>
          <a:xfrm>
            <a:off x="5454396" y="5925312"/>
            <a:ext cx="1149858" cy="365760"/>
          </a:xfrm>
          <a:prstGeom prst="rect">
            <a:avLst/>
          </a:prstGeom>
          <a:noFill/>
          <a:ln/>
        </p:spPr>
        <p:txBody>
          <a:bodyPr wrap="square" lIns="0" tIns="0" rIns="0" bIns="0" rtlCol="0" anchor="t"/>
          <a:lstStyle/>
          <a:p>
            <a:pPr indent="0" marL="0">
              <a:buNone/>
            </a:pPr>
            <a:r>
              <a:rPr lang="en-US" sz="1050" dirty="0">
                <a:solidFill>
                  <a:srgbClr val="6E6E73"/>
                </a:solidFill>
              </a:rPr>
              <a:t>Early Remote Stands</a:t>
            </a:r>
            <a:endParaRPr lang="en-US" sz="1050" dirty="0"/>
          </a:p>
        </p:txBody>
      </p:sp>
      <p:sp>
        <p:nvSpPr>
          <p:cNvPr id="71" name="Shape 54"/>
          <p:cNvSpPr/>
          <p:nvPr/>
        </p:nvSpPr>
        <p:spPr>
          <a:xfrm>
            <a:off x="6832854" y="5532120"/>
            <a:ext cx="1972818" cy="822960"/>
          </a:xfrm>
          <a:prstGeom prst="roundRect">
            <a:avLst>
              <a:gd name="adj" fmla="val 24444"/>
            </a:avLst>
          </a:prstGeom>
          <a:solidFill>
            <a:srgbClr val="FFFFFF">
              <a:alpha val="30000"/>
            </a:srgbClr>
          </a:solidFill>
          <a:ln w="12700">
            <a:solidFill>
              <a:srgbClr val="A3AAB6"/>
            </a:solidFill>
            <a:prstDash val="dash"/>
          </a:ln>
        </p:spPr>
      </p:sp>
      <p:sp>
        <p:nvSpPr>
          <p:cNvPr id="72" name="Shape 55"/>
          <p:cNvSpPr/>
          <p:nvPr/>
        </p:nvSpPr>
        <p:spPr>
          <a:xfrm>
            <a:off x="6997446" y="5715000"/>
            <a:ext cx="438912" cy="43891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73" name="Image 14" descr="Plus icon">    </p:cNvPr>
          <p:cNvPicPr>
            <a:picLocks noChangeAspect="1"/>
          </p:cNvPicPr>
          <p:nvPr/>
        </p:nvPicPr>
        <p:blipFill>
          <a:blip r:embed="rId16"/>
          <a:stretch>
            <a:fillRect/>
          </a:stretch>
        </p:blipFill>
        <p:spPr>
          <a:xfrm>
            <a:off x="7094007" y="5811561"/>
            <a:ext cx="245791" cy="245791"/>
          </a:xfrm>
          <a:prstGeom prst="rect">
            <a:avLst/>
          </a:prstGeom>
        </p:spPr>
      </p:pic>
      <p:sp>
        <p:nvSpPr>
          <p:cNvPr id="74" name="Text 56"/>
          <p:cNvSpPr txBox="1"/>
          <p:nvPr/>
        </p:nvSpPr>
        <p:spPr>
          <a:xfrm>
            <a:off x="7564374" y="5650992"/>
            <a:ext cx="1149858" cy="274320"/>
          </a:xfrm>
          <a:prstGeom prst="rect">
            <a:avLst/>
          </a:prstGeom>
          <a:noFill/>
          <a:ln/>
        </p:spPr>
        <p:txBody>
          <a:bodyPr wrap="square" lIns="0" tIns="0" rIns="0" bIns="0" rtlCol="0" anchor="t"/>
          <a:lstStyle/>
          <a:p>
            <a:pPr indent="0" marL="0">
              <a:buNone/>
            </a:pPr>
            <a:r>
              <a:rPr lang="en-US" sz="1400" b="1" dirty="0">
                <a:solidFill>
                  <a:srgbClr val="1D1D1F"/>
                </a:solidFill>
              </a:rPr>
              <a:t>AO Sites</a:t>
            </a:r>
            <a:endParaRPr lang="en-US" sz="1400" dirty="0"/>
          </a:p>
        </p:txBody>
      </p:sp>
      <p:sp>
        <p:nvSpPr>
          <p:cNvPr id="75" name="Text 57"/>
          <p:cNvSpPr txBox="1"/>
          <p:nvPr/>
        </p:nvSpPr>
        <p:spPr>
          <a:xfrm>
            <a:off x="7564374" y="5925312"/>
            <a:ext cx="1149858" cy="365760"/>
          </a:xfrm>
          <a:prstGeom prst="rect">
            <a:avLst/>
          </a:prstGeom>
          <a:noFill/>
          <a:ln/>
        </p:spPr>
        <p:txBody>
          <a:bodyPr wrap="square" lIns="0" tIns="0" rIns="0" bIns="0" rtlCol="0" anchor="t"/>
          <a:lstStyle/>
          <a:p>
            <a:pPr indent="0" marL="0">
              <a:buNone/>
            </a:pPr>
            <a:r>
              <a:rPr lang="en-US" sz="1050" dirty="0">
                <a:solidFill>
                  <a:srgbClr val="6E6E73"/>
                </a:solidFill>
              </a:rPr>
              <a:t>Any Other Sites</a:t>
            </a:r>
            <a:endParaRPr lang="en-US" sz="1050" dirty="0"/>
          </a:p>
        </p:txBody>
      </p:sp>
      <p:sp>
        <p:nvSpPr>
          <p:cNvPr id="76" name="Shape 58"/>
          <p:cNvSpPr/>
          <p:nvPr/>
        </p:nvSpPr>
        <p:spPr>
          <a:xfrm>
            <a:off x="8942832" y="1828800"/>
            <a:ext cx="2743200" cy="2011680"/>
          </a:xfrm>
          <a:prstGeom prst="roundRect">
            <a:avLst>
              <a:gd name="adj" fmla="val 10000"/>
            </a:avLst>
          </a:prstGeom>
          <a:gradFill rotWithShape="1">
            <a:gsLst>
              <a:gs pos="0">
                <a:srgbClr val="FFFFFF">
                  <a:alpha val="80000"/>
                </a:srgbClr>
              </a:gs>
              <a:gs pos="100000">
                <a:srgbClr val="FFFFFF">
                  <a:alpha val="44000"/>
                </a:srgbClr>
              </a:gs>
            </a:gsLst>
            <a:lin ang="2700000" scaled="0"/>
          </a:gradFill>
          <a:ln w="22225">
            <a:gradFill rotWithShape="1">
              <a:gsLst>
                <a:gs pos="0">
                  <a:srgbClr val="D9C28F"/>
                </a:gs>
                <a:gs pos="50000">
                  <a:srgbClr val="F4ECDA"/>
                </a:gs>
                <a:gs pos="100000">
                  <a:srgbClr val="B39663"/>
                </a:gs>
              </a:gsLst>
              <a:lin ang="2700000" scaled="0"/>
            </a:gradFill>
            <a:prstDash val="solid"/>
          </a:ln>
          <a:effectLst>
            <a:outerShdw sx="100000" sy="100000" kx="0" ky="0" algn="bl" rotWithShape="0" blurRad="330200" dist="101600" dir="5400000">
              <a:srgbClr val="6F7C93">
                <a:alpha val="16000"/>
              </a:srgbClr>
            </a:outerShdw>
          </a:effectLst>
        </p:spPr>
      </p:sp>
      <p:sp>
        <p:nvSpPr>
          <p:cNvPr id="77" name="Shape 59"/>
          <p:cNvSpPr/>
          <p:nvPr/>
        </p:nvSpPr>
        <p:spPr>
          <a:xfrm>
            <a:off x="9253728" y="2029968"/>
            <a:ext cx="457200" cy="457200"/>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78" name="Image 15" descr="Graph icon">    </p:cNvPr>
          <p:cNvPicPr>
            <a:picLocks noChangeAspect="1"/>
          </p:cNvPicPr>
          <p:nvPr/>
        </p:nvPicPr>
        <p:blipFill>
          <a:blip r:embed="rId17"/>
          <a:stretch>
            <a:fillRect/>
          </a:stretch>
        </p:blipFill>
        <p:spPr>
          <a:xfrm>
            <a:off x="9354312" y="2130552"/>
            <a:ext cx="256032" cy="256032"/>
          </a:xfrm>
          <a:prstGeom prst="rect">
            <a:avLst/>
          </a:prstGeom>
        </p:spPr>
      </p:pic>
      <p:sp>
        <p:nvSpPr>
          <p:cNvPr id="79" name="Text 60"/>
          <p:cNvSpPr txBox="1"/>
          <p:nvPr/>
        </p:nvSpPr>
        <p:spPr>
          <a:xfrm>
            <a:off x="9253728" y="2633472"/>
            <a:ext cx="2331720" cy="329184"/>
          </a:xfrm>
          <a:prstGeom prst="rect">
            <a:avLst/>
          </a:prstGeom>
          <a:noFill/>
          <a:ln/>
        </p:spPr>
        <p:txBody>
          <a:bodyPr wrap="square" lIns="0" tIns="0" rIns="0" bIns="0" rtlCol="0" anchor="t"/>
          <a:lstStyle/>
          <a:p>
            <a:pPr indent="0" marL="0">
              <a:buNone/>
            </a:pPr>
            <a:r>
              <a:rPr lang="en-US" sz="1700" b="1" dirty="0">
                <a:solidFill>
                  <a:srgbClr val="1D1D1F"/>
                </a:solidFill>
              </a:rPr>
              <a:t>Orchestration Layer</a:t>
            </a:r>
            <a:endParaRPr lang="en-US" sz="1700" dirty="0"/>
          </a:p>
        </p:txBody>
      </p:sp>
      <p:sp>
        <p:nvSpPr>
          <p:cNvPr id="80" name="Shape 61"/>
          <p:cNvSpPr/>
          <p:nvPr/>
        </p:nvSpPr>
        <p:spPr>
          <a:xfrm>
            <a:off x="9253728" y="3072384"/>
            <a:ext cx="566928" cy="292608"/>
          </a:xfrm>
          <a:prstGeom prst="roundRect">
            <a:avLst>
              <a:gd name="adj" fmla="val 50000"/>
            </a:avLst>
          </a:prstGeom>
          <a:solidFill>
            <a:srgbClr val="FFFFFF">
              <a:alpha val="85000"/>
            </a:srgbClr>
          </a:solidFill>
          <a:ln w="9525">
            <a:solidFill>
              <a:srgbClr val="E1E4EA"/>
            </a:solidFill>
            <a:prstDash val="solid"/>
          </a:ln>
        </p:spPr>
      </p:sp>
      <p:sp>
        <p:nvSpPr>
          <p:cNvPr id="81" name="Text 62"/>
          <p:cNvSpPr txBox="1"/>
          <p:nvPr/>
        </p:nvSpPr>
        <p:spPr>
          <a:xfrm>
            <a:off x="9253728" y="3072384"/>
            <a:ext cx="566928" cy="292608"/>
          </a:xfrm>
          <a:prstGeom prst="rect">
            <a:avLst/>
          </a:prstGeom>
          <a:noFill/>
          <a:ln/>
        </p:spPr>
        <p:txBody>
          <a:bodyPr wrap="square" lIns="0" tIns="0" rIns="0" bIns="0" rtlCol="0" anchor="ctr"/>
          <a:lstStyle/>
          <a:p>
            <a:pPr algn="ctr" indent="0" marL="0">
              <a:buNone/>
            </a:pPr>
            <a:r>
              <a:rPr lang="en-US" sz="1100" dirty="0">
                <a:solidFill>
                  <a:srgbClr val="1D1D1F"/>
                </a:solidFill>
              </a:rPr>
              <a:t>API</a:t>
            </a:r>
            <a:endParaRPr lang="en-US" sz="1100" dirty="0"/>
          </a:p>
        </p:txBody>
      </p:sp>
      <p:sp>
        <p:nvSpPr>
          <p:cNvPr id="82" name="Shape 63"/>
          <p:cNvSpPr/>
          <p:nvPr/>
        </p:nvSpPr>
        <p:spPr>
          <a:xfrm>
            <a:off x="9912096" y="3072384"/>
            <a:ext cx="585216" cy="292608"/>
          </a:xfrm>
          <a:prstGeom prst="roundRect">
            <a:avLst>
              <a:gd name="adj" fmla="val 50000"/>
            </a:avLst>
          </a:prstGeom>
          <a:solidFill>
            <a:srgbClr val="FFFFFF">
              <a:alpha val="85000"/>
            </a:srgbClr>
          </a:solidFill>
          <a:ln w="9525">
            <a:solidFill>
              <a:srgbClr val="E1E4EA"/>
            </a:solidFill>
            <a:prstDash val="solid"/>
          </a:ln>
        </p:spPr>
      </p:sp>
      <p:sp>
        <p:nvSpPr>
          <p:cNvPr id="83" name="Text 64"/>
          <p:cNvSpPr txBox="1"/>
          <p:nvPr/>
        </p:nvSpPr>
        <p:spPr>
          <a:xfrm>
            <a:off x="9912096" y="3072384"/>
            <a:ext cx="585216" cy="292608"/>
          </a:xfrm>
          <a:prstGeom prst="rect">
            <a:avLst/>
          </a:prstGeom>
          <a:noFill/>
          <a:ln/>
        </p:spPr>
        <p:txBody>
          <a:bodyPr wrap="square" lIns="0" tIns="0" rIns="0" bIns="0" rtlCol="0" anchor="ctr"/>
          <a:lstStyle/>
          <a:p>
            <a:pPr algn="ctr" indent="0" marL="0">
              <a:buNone/>
            </a:pPr>
            <a:r>
              <a:rPr lang="en-US" sz="1100" dirty="0">
                <a:solidFill>
                  <a:srgbClr val="1D1D1F"/>
                </a:solidFill>
              </a:rPr>
              <a:t>SDK</a:t>
            </a:r>
            <a:endParaRPr lang="en-US" sz="1100" dirty="0"/>
          </a:p>
        </p:txBody>
      </p:sp>
      <p:sp>
        <p:nvSpPr>
          <p:cNvPr id="84" name="Shape 65"/>
          <p:cNvSpPr/>
          <p:nvPr/>
        </p:nvSpPr>
        <p:spPr>
          <a:xfrm>
            <a:off x="10588752" y="3072384"/>
            <a:ext cx="566928" cy="292608"/>
          </a:xfrm>
          <a:prstGeom prst="roundRect">
            <a:avLst>
              <a:gd name="adj" fmla="val 50000"/>
            </a:avLst>
          </a:prstGeom>
          <a:solidFill>
            <a:srgbClr val="FFFFFF">
              <a:alpha val="85000"/>
            </a:srgbClr>
          </a:solidFill>
          <a:ln w="9525">
            <a:solidFill>
              <a:srgbClr val="E1E4EA"/>
            </a:solidFill>
            <a:prstDash val="solid"/>
          </a:ln>
        </p:spPr>
      </p:sp>
      <p:sp>
        <p:nvSpPr>
          <p:cNvPr id="85" name="Text 66"/>
          <p:cNvSpPr txBox="1"/>
          <p:nvPr/>
        </p:nvSpPr>
        <p:spPr>
          <a:xfrm>
            <a:off x="10588752" y="3072384"/>
            <a:ext cx="566928" cy="292608"/>
          </a:xfrm>
          <a:prstGeom prst="rect">
            <a:avLst/>
          </a:prstGeom>
          <a:noFill/>
          <a:ln/>
        </p:spPr>
        <p:txBody>
          <a:bodyPr wrap="square" lIns="0" tIns="0" rIns="0" bIns="0" rtlCol="0" anchor="ctr"/>
          <a:lstStyle/>
          <a:p>
            <a:pPr algn="ctr" indent="0" marL="0">
              <a:buNone/>
            </a:pPr>
            <a:r>
              <a:rPr lang="en-US" sz="1100" dirty="0">
                <a:solidFill>
                  <a:srgbClr val="1D1D1F"/>
                </a:solidFill>
              </a:rPr>
              <a:t>DIO</a:t>
            </a:r>
            <a:endParaRPr lang="en-US" sz="1100" dirty="0"/>
          </a:p>
        </p:txBody>
      </p:sp>
      <p:sp>
        <p:nvSpPr>
          <p:cNvPr id="86" name="Shape 67"/>
          <p:cNvSpPr/>
          <p:nvPr/>
        </p:nvSpPr>
        <p:spPr>
          <a:xfrm>
            <a:off x="9253728" y="3456432"/>
            <a:ext cx="1572768" cy="292608"/>
          </a:xfrm>
          <a:prstGeom prst="roundRect">
            <a:avLst>
              <a:gd name="adj" fmla="val 50000"/>
            </a:avLst>
          </a:prstGeom>
          <a:solidFill>
            <a:srgbClr val="FFFFFF">
              <a:alpha val="85000"/>
            </a:srgbClr>
          </a:solidFill>
          <a:ln w="9525">
            <a:solidFill>
              <a:srgbClr val="E1E4EA"/>
            </a:solidFill>
            <a:prstDash val="solid"/>
          </a:ln>
        </p:spPr>
      </p:sp>
      <p:sp>
        <p:nvSpPr>
          <p:cNvPr id="87" name="Text 68"/>
          <p:cNvSpPr txBox="1"/>
          <p:nvPr/>
        </p:nvSpPr>
        <p:spPr>
          <a:xfrm>
            <a:off x="9253728" y="3456432"/>
            <a:ext cx="1572768" cy="292608"/>
          </a:xfrm>
          <a:prstGeom prst="rect">
            <a:avLst/>
          </a:prstGeom>
          <a:noFill/>
          <a:ln/>
        </p:spPr>
        <p:txBody>
          <a:bodyPr wrap="square" lIns="0" tIns="0" rIns="0" bIns="0" rtlCol="0" anchor="ctr"/>
          <a:lstStyle/>
          <a:p>
            <a:pPr algn="ctr" indent="0" marL="0">
              <a:buNone/>
            </a:pPr>
            <a:r>
              <a:rPr lang="en-US" sz="1100" dirty="0">
                <a:solidFill>
                  <a:srgbClr val="1D1D1F"/>
                </a:solidFill>
              </a:rPr>
              <a:t>Industry Standards</a:t>
            </a:r>
            <a:endParaRPr lang="en-US" sz="1100" dirty="0"/>
          </a:p>
        </p:txBody>
      </p:sp>
      <p:sp>
        <p:nvSpPr>
          <p:cNvPr id="88" name="Shape 69"/>
          <p:cNvSpPr/>
          <p:nvPr/>
        </p:nvSpPr>
        <p:spPr>
          <a:xfrm>
            <a:off x="8942832" y="3977640"/>
            <a:ext cx="2743200" cy="1280160"/>
          </a:xfrm>
          <a:prstGeom prst="roundRect">
            <a:avLst>
              <a:gd name="adj" fmla="val 15714"/>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89" name="Shape 70"/>
          <p:cNvSpPr/>
          <p:nvPr/>
        </p:nvSpPr>
        <p:spPr>
          <a:xfrm>
            <a:off x="9144000" y="4160520"/>
            <a:ext cx="347472" cy="347472"/>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90" name="Image 16" descr="Robot icon">    </p:cNvPr>
          <p:cNvPicPr>
            <a:picLocks noChangeAspect="1"/>
          </p:cNvPicPr>
          <p:nvPr/>
        </p:nvPicPr>
        <p:blipFill>
          <a:blip r:embed="rId18"/>
          <a:stretch>
            <a:fillRect/>
          </a:stretch>
        </p:blipFill>
        <p:spPr>
          <a:xfrm>
            <a:off x="9220444" y="4236964"/>
            <a:ext cx="194584" cy="194584"/>
          </a:xfrm>
          <a:prstGeom prst="rect">
            <a:avLst/>
          </a:prstGeom>
        </p:spPr>
      </p:pic>
      <p:sp>
        <p:nvSpPr>
          <p:cNvPr id="91" name="Text 71"/>
          <p:cNvSpPr txBox="1"/>
          <p:nvPr/>
        </p:nvSpPr>
        <p:spPr>
          <a:xfrm>
            <a:off x="9601200" y="4160520"/>
            <a:ext cx="1965960" cy="347472"/>
          </a:xfrm>
          <a:prstGeom prst="rect">
            <a:avLst/>
          </a:prstGeom>
          <a:noFill/>
          <a:ln/>
        </p:spPr>
        <p:txBody>
          <a:bodyPr wrap="square" lIns="0" tIns="0" rIns="0" bIns="0" rtlCol="0" anchor="ctr"/>
          <a:lstStyle/>
          <a:p>
            <a:pPr indent="0" marL="0">
              <a:buNone/>
            </a:pPr>
            <a:r>
              <a:rPr lang="en-US" sz="1350" b="1" dirty="0">
                <a:solidFill>
                  <a:srgbClr val="1D1D1F"/>
                </a:solidFill>
              </a:rPr>
              <a:t>Robotics &amp; Automation</a:t>
            </a:r>
            <a:endParaRPr lang="en-US" sz="1350" dirty="0"/>
          </a:p>
        </p:txBody>
      </p:sp>
      <p:pic>
        <p:nvPicPr>
          <p:cNvPr id="92" name="Image 17" descr="Wheelchair Motion icon">    </p:cNvPr>
          <p:cNvPicPr>
            <a:picLocks noChangeAspect="1"/>
          </p:cNvPicPr>
          <p:nvPr/>
        </p:nvPicPr>
        <p:blipFill>
          <a:blip r:embed="rId19"/>
          <a:stretch>
            <a:fillRect/>
          </a:stretch>
        </p:blipFill>
        <p:spPr>
          <a:xfrm>
            <a:off x="9208008" y="4663440"/>
            <a:ext cx="219456" cy="219456"/>
          </a:xfrm>
          <a:prstGeom prst="rect">
            <a:avLst/>
          </a:prstGeom>
        </p:spPr>
      </p:pic>
      <p:sp>
        <p:nvSpPr>
          <p:cNvPr id="93" name="Text 72"/>
          <p:cNvSpPr txBox="1"/>
          <p:nvPr/>
        </p:nvSpPr>
        <p:spPr>
          <a:xfrm>
            <a:off x="9601200" y="4636008"/>
            <a:ext cx="1965960" cy="274320"/>
          </a:xfrm>
          <a:prstGeom prst="rect">
            <a:avLst/>
          </a:prstGeom>
          <a:noFill/>
          <a:ln/>
        </p:spPr>
        <p:txBody>
          <a:bodyPr wrap="square" lIns="0" tIns="0" rIns="0" bIns="0" rtlCol="0" anchor="ctr"/>
          <a:lstStyle/>
          <a:p>
            <a:pPr indent="0" marL="0">
              <a:buNone/>
            </a:pPr>
            <a:r>
              <a:rPr lang="en-US" sz="1150" dirty="0">
                <a:solidFill>
                  <a:srgbClr val="1D1D1F"/>
                </a:solidFill>
              </a:rPr>
              <a:t>Automated Wheelchair</a:t>
            </a:r>
            <a:endParaRPr lang="en-US" sz="1150" dirty="0"/>
          </a:p>
        </p:txBody>
      </p:sp>
      <p:pic>
        <p:nvPicPr>
          <p:cNvPr id="94" name="Image 18" descr="Shield Checkered icon">    </p:cNvPr>
          <p:cNvPicPr>
            <a:picLocks noChangeAspect="1"/>
          </p:cNvPicPr>
          <p:nvPr/>
        </p:nvPicPr>
        <p:blipFill>
          <a:blip r:embed="rId20"/>
          <a:stretch>
            <a:fillRect/>
          </a:stretch>
        </p:blipFill>
        <p:spPr>
          <a:xfrm>
            <a:off x="9208008" y="4956048"/>
            <a:ext cx="219456" cy="219456"/>
          </a:xfrm>
          <a:prstGeom prst="rect">
            <a:avLst/>
          </a:prstGeom>
        </p:spPr>
      </p:pic>
      <p:sp>
        <p:nvSpPr>
          <p:cNvPr id="95" name="Text 73"/>
          <p:cNvSpPr txBox="1"/>
          <p:nvPr/>
        </p:nvSpPr>
        <p:spPr>
          <a:xfrm>
            <a:off x="9601200" y="4928616"/>
            <a:ext cx="1965960" cy="274320"/>
          </a:xfrm>
          <a:prstGeom prst="rect">
            <a:avLst/>
          </a:prstGeom>
          <a:noFill/>
          <a:ln/>
        </p:spPr>
        <p:txBody>
          <a:bodyPr wrap="square" lIns="0" tIns="0" rIns="0" bIns="0" rtlCol="0" anchor="ctr"/>
          <a:lstStyle/>
          <a:p>
            <a:pPr indent="0" marL="0">
              <a:buNone/>
            </a:pPr>
            <a:r>
              <a:rPr lang="en-US" sz="1150" dirty="0">
                <a:solidFill>
                  <a:srgbClr val="1D1D1F"/>
                </a:solidFill>
              </a:rPr>
              <a:t>Patrol Robots</a:t>
            </a:r>
            <a:endParaRPr lang="en-US" sz="1150" dirty="0"/>
          </a:p>
        </p:txBody>
      </p:sp>
      <p:sp>
        <p:nvSpPr>
          <p:cNvPr id="96" name="Shape 74"/>
          <p:cNvSpPr/>
          <p:nvPr/>
        </p:nvSpPr>
        <p:spPr>
          <a:xfrm>
            <a:off x="8942832" y="5394960"/>
            <a:ext cx="2743200" cy="411480"/>
          </a:xfrm>
          <a:prstGeom prst="roundRect">
            <a:avLst>
              <a:gd name="adj" fmla="val 40000"/>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97" name="Shape 75"/>
          <p:cNvSpPr/>
          <p:nvPr/>
        </p:nvSpPr>
        <p:spPr>
          <a:xfrm>
            <a:off x="9116568" y="5454396"/>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98" name="Image 19" descr="Wrench icon">    </p:cNvPr>
          <p:cNvPicPr>
            <a:picLocks noChangeAspect="1"/>
          </p:cNvPicPr>
          <p:nvPr/>
        </p:nvPicPr>
        <p:blipFill>
          <a:blip r:embed="rId21"/>
          <a:stretch>
            <a:fillRect/>
          </a:stretch>
        </p:blipFill>
        <p:spPr>
          <a:xfrm>
            <a:off x="9180942" y="5518770"/>
            <a:ext cx="163860" cy="163860"/>
          </a:xfrm>
          <a:prstGeom prst="rect">
            <a:avLst/>
          </a:prstGeom>
        </p:spPr>
      </p:pic>
      <p:sp>
        <p:nvSpPr>
          <p:cNvPr id="99" name="Text 76"/>
          <p:cNvSpPr txBox="1"/>
          <p:nvPr/>
        </p:nvSpPr>
        <p:spPr>
          <a:xfrm>
            <a:off x="9528048" y="5394960"/>
            <a:ext cx="2011680" cy="411480"/>
          </a:xfrm>
          <a:prstGeom prst="rect">
            <a:avLst/>
          </a:prstGeom>
          <a:noFill/>
          <a:ln/>
        </p:spPr>
        <p:txBody>
          <a:bodyPr wrap="square" lIns="0" tIns="0" rIns="0" bIns="0" rtlCol="0" anchor="ctr"/>
          <a:lstStyle/>
          <a:p>
            <a:pPr indent="0" marL="0">
              <a:buNone/>
            </a:pPr>
            <a:r>
              <a:rPr lang="en-US" sz="1300" b="1" dirty="0">
                <a:solidFill>
                  <a:srgbClr val="1D1D1F"/>
                </a:solidFill>
              </a:rPr>
              <a:t>Predictive Maintenance</a:t>
            </a:r>
            <a:endParaRPr lang="en-US" sz="1300" dirty="0"/>
          </a:p>
        </p:txBody>
      </p:sp>
      <p:sp>
        <p:nvSpPr>
          <p:cNvPr id="100" name="Shape 77"/>
          <p:cNvSpPr/>
          <p:nvPr/>
        </p:nvSpPr>
        <p:spPr>
          <a:xfrm>
            <a:off x="8942832" y="5943600"/>
            <a:ext cx="2743200" cy="411480"/>
          </a:xfrm>
          <a:prstGeom prst="roundRect">
            <a:avLst>
              <a:gd name="adj" fmla="val 40000"/>
            </a:avLst>
          </a:prstGeom>
          <a:gradFill rotWithShape="1">
            <a:gsLst>
              <a:gs pos="0">
                <a:srgbClr val="FFFFFF">
                  <a:alpha val="80000"/>
                </a:srgbClr>
              </a:gs>
              <a:gs pos="100000">
                <a:srgbClr val="FFFFFF">
                  <a:alpha val="44000"/>
                </a:srgbClr>
              </a:gs>
            </a:gsLst>
            <a:lin ang="2700000" scaled="0"/>
          </a:gradFill>
          <a:ln w="15875">
            <a:gradFill rotWithShape="1">
              <a:gsLst>
                <a:gs pos="0">
                  <a:srgbClr val="FFFFFF"/>
                </a:gs>
                <a:gs pos="60000">
                  <a:srgbClr val="FFFFFF">
                    <a:alpha val="75000"/>
                  </a:srgbClr>
                </a:gs>
                <a:gs pos="100000">
                  <a:srgbClr val="CDD3DD"/>
                </a:gs>
              </a:gsLst>
              <a:lin ang="2700000" scaled="0"/>
            </a:gradFill>
            <a:prstDash val="solid"/>
          </a:ln>
          <a:effectLst>
            <a:outerShdw sx="100000" sy="100000" kx="0" ky="0" algn="bl" rotWithShape="0" blurRad="330200" dist="101600" dir="5400000">
              <a:srgbClr val="6F7C93">
                <a:alpha val="16000"/>
              </a:srgbClr>
            </a:outerShdw>
          </a:effectLst>
        </p:spPr>
      </p:sp>
      <p:sp>
        <p:nvSpPr>
          <p:cNvPr id="101" name="Shape 78"/>
          <p:cNvSpPr/>
          <p:nvPr/>
        </p:nvSpPr>
        <p:spPr>
          <a:xfrm>
            <a:off x="9116568" y="6003036"/>
            <a:ext cx="292608" cy="292608"/>
          </a:xfrm>
          <a:prstGeom prst="ellipse">
            <a:avLst/>
          </a:prstGeom>
          <a:solidFill>
            <a:srgbClr val="FFFFFF"/>
          </a:solidFill>
          <a:ln w="12700">
            <a:solidFill>
              <a:srgbClr val="FFFFFF"/>
            </a:solidFill>
            <a:prstDash val="solid"/>
          </a:ln>
          <a:effectLst>
            <a:outerShdw sx="100000" sy="100000" kx="0" ky="0" algn="bl" rotWithShape="0" blurRad="101600" dist="25400" dir="5400000">
              <a:srgbClr val="6F7C93">
                <a:alpha val="20000"/>
              </a:srgbClr>
            </a:outerShdw>
          </a:effectLst>
        </p:spPr>
      </p:sp>
      <p:pic>
        <p:nvPicPr>
          <p:cNvPr id="102" name="Image 20" descr="Eye icon">    </p:cNvPr>
          <p:cNvPicPr>
            <a:picLocks noChangeAspect="1"/>
          </p:cNvPicPr>
          <p:nvPr/>
        </p:nvPicPr>
        <p:blipFill>
          <a:blip r:embed="rId22"/>
          <a:stretch>
            <a:fillRect/>
          </a:stretch>
        </p:blipFill>
        <p:spPr>
          <a:xfrm>
            <a:off x="9180942" y="6067410"/>
            <a:ext cx="163860" cy="163860"/>
          </a:xfrm>
          <a:prstGeom prst="rect">
            <a:avLst/>
          </a:prstGeom>
        </p:spPr>
      </p:pic>
      <p:sp>
        <p:nvSpPr>
          <p:cNvPr id="103" name="Text 79"/>
          <p:cNvSpPr txBox="1"/>
          <p:nvPr/>
        </p:nvSpPr>
        <p:spPr>
          <a:xfrm>
            <a:off x="9528048" y="5943600"/>
            <a:ext cx="2011680" cy="411480"/>
          </a:xfrm>
          <a:prstGeom prst="rect">
            <a:avLst/>
          </a:prstGeom>
          <a:noFill/>
          <a:ln/>
        </p:spPr>
        <p:txBody>
          <a:bodyPr wrap="square" lIns="0" tIns="0" rIns="0" bIns="0" rtlCol="0" anchor="ctr"/>
          <a:lstStyle/>
          <a:p>
            <a:pPr indent="0" marL="0">
              <a:buNone/>
            </a:pPr>
            <a:r>
              <a:rPr lang="en-US" sz="1300" b="1" dirty="0">
                <a:solidFill>
                  <a:srgbClr val="1D1D1F"/>
                </a:solidFill>
              </a:rPr>
              <a:t>Vision Watch</a:t>
            </a:r>
            <a:endParaRPr lang="en-US" sz="1300" dirty="0"/>
          </a:p>
        </p:txBody>
      </p:sp>
      <p:sp>
        <p:nvSpPr>
          <p:cNvPr id="104" name="Shape 80"/>
          <p:cNvSpPr/>
          <p:nvPr/>
        </p:nvSpPr>
        <p:spPr>
          <a:xfrm>
            <a:off x="8682228" y="2642616"/>
            <a:ext cx="384048" cy="384048"/>
          </a:xfrm>
          <a:prstGeom prst="ellipse">
            <a:avLst/>
          </a:prstGeom>
          <a:solidFill>
            <a:srgbClr val="FFFFFF"/>
          </a:solidFill>
          <a:ln w="9525">
            <a:solidFill>
              <a:srgbClr val="E3E6EC"/>
            </a:solidFill>
            <a:prstDash val="solid"/>
          </a:ln>
          <a:effectLst>
            <a:outerShdw sx="100000" sy="100000" kx="0" ky="0" algn="bl" rotWithShape="0" blurRad="127000" dist="38100" dir="5400000">
              <a:srgbClr val="6F7C93">
                <a:alpha val="25000"/>
              </a:srgbClr>
            </a:outerShdw>
          </a:effectLst>
        </p:spPr>
      </p:sp>
      <p:pic>
        <p:nvPicPr>
          <p:cNvPr id="105" name="Image 21" descr="Arrows Left Right icon">    </p:cNvPr>
          <p:cNvPicPr>
            <a:picLocks noChangeAspect="1"/>
          </p:cNvPicPr>
          <p:nvPr/>
        </p:nvPicPr>
        <p:blipFill>
          <a:blip r:embed="rId23"/>
          <a:stretch>
            <a:fillRect/>
          </a:stretch>
        </p:blipFill>
        <p:spPr>
          <a:xfrm>
            <a:off x="8773668" y="2734056"/>
            <a:ext cx="201168" cy="201168"/>
          </a:xfrm>
          <a:prstGeom prst="rect">
            <a:avLst/>
          </a:prstGeom>
        </p:spPr>
      </p:pic>
      <p:sp>
        <p:nvSpPr>
          <p:cNvPr id="106" name="Shape 81"/>
          <p:cNvSpPr/>
          <p:nvPr/>
        </p:nvSpPr>
        <p:spPr>
          <a:xfrm>
            <a:off x="11036808" y="3717036"/>
            <a:ext cx="384048" cy="384048"/>
          </a:xfrm>
          <a:prstGeom prst="ellipse">
            <a:avLst/>
          </a:prstGeom>
          <a:solidFill>
            <a:srgbClr val="FFFFFF"/>
          </a:solidFill>
          <a:ln w="9525">
            <a:solidFill>
              <a:srgbClr val="E3E6EC"/>
            </a:solidFill>
            <a:prstDash val="solid"/>
          </a:ln>
          <a:effectLst>
            <a:outerShdw sx="100000" sy="100000" kx="0" ky="0" algn="bl" rotWithShape="0" blurRad="127000" dist="38100" dir="5400000">
              <a:srgbClr val="6F7C93">
                <a:alpha val="25000"/>
              </a:srgbClr>
            </a:outerShdw>
          </a:effectLst>
        </p:spPr>
      </p:sp>
      <p:pic>
        <p:nvPicPr>
          <p:cNvPr id="107" name="Image 22" descr="Arrows Down Up icon">    </p:cNvPr>
          <p:cNvPicPr>
            <a:picLocks noChangeAspect="1"/>
          </p:cNvPicPr>
          <p:nvPr/>
        </p:nvPicPr>
        <p:blipFill>
          <a:blip r:embed="rId24"/>
          <a:stretch>
            <a:fillRect/>
          </a:stretch>
        </p:blipFill>
        <p:spPr>
          <a:xfrm>
            <a:off x="11128248" y="3808476"/>
            <a:ext cx="201168" cy="2011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502920" y="452628"/>
            <a:ext cx="73152" cy="73152"/>
          </a:xfrm>
          <a:prstGeom prst="rect">
            <a:avLst/>
          </a:prstGeom>
          <a:solidFill>
            <a:srgbClr val="9CC3F0"/>
          </a:solidFill>
          <a:ln/>
        </p:spPr>
      </p:sp>
      <p:sp>
        <p:nvSpPr>
          <p:cNvPr id="4" name="Text 1"/>
          <p:cNvSpPr txBox="1"/>
          <p:nvPr/>
        </p:nvSpPr>
        <p:spPr>
          <a:xfrm>
            <a:off x="685800" y="384048"/>
            <a:ext cx="7315200" cy="219456"/>
          </a:xfrm>
          <a:prstGeom prst="rect">
            <a:avLst/>
          </a:prstGeom>
          <a:noFill/>
          <a:ln/>
        </p:spPr>
        <p:txBody>
          <a:bodyPr wrap="square" lIns="0" tIns="0" rIns="0" bIns="0" rtlCol="0" anchor="t"/>
          <a:lstStyle/>
          <a:p>
            <a:pPr indent="0" marL="0">
              <a:buNone/>
            </a:pPr>
            <a:r>
              <a:rPr lang="en-US" sz="1000" b="1" spc="300" kern="0" dirty="0">
                <a:solidFill>
                  <a:srgbClr val="F3F4F6"/>
                </a:solidFill>
              </a:rPr>
              <a:t>T5 ISMS SITEWIDE</a:t>
            </a:r>
            <a:pPr indent="0" marL="0">
              <a:buNone/>
            </a:pPr>
            <a:r>
              <a:rPr lang="en-US" sz="1000" spc="300" kern="0" dirty="0">
                <a:solidFill>
                  <a:srgbClr val="9AA0AA"/>
                </a:solidFill>
              </a:rPr>
              <a:t>   /   PRODUCT ARCHITECTURE</a:t>
            </a:r>
            <a:endParaRPr lang="en-US" sz="1000" dirty="0"/>
          </a:p>
        </p:txBody>
      </p:sp>
      <p:sp>
        <p:nvSpPr>
          <p:cNvPr id="5" name="Text 2"/>
          <p:cNvSpPr txBox="1"/>
          <p:nvPr/>
        </p:nvSpPr>
        <p:spPr>
          <a:xfrm>
            <a:off x="8503920" y="384048"/>
            <a:ext cx="3182112" cy="219456"/>
          </a:xfrm>
          <a:prstGeom prst="rect">
            <a:avLst/>
          </a:prstGeom>
          <a:noFill/>
          <a:ln/>
        </p:spPr>
        <p:txBody>
          <a:bodyPr wrap="square" lIns="0" tIns="0" rIns="0" bIns="0" rtlCol="0" anchor="t"/>
          <a:lstStyle/>
          <a:p>
            <a:pPr algn="r" indent="0" marL="0">
              <a:buNone/>
            </a:pPr>
            <a:r>
              <a:rPr lang="en-US" sz="1000" spc="300" kern="0" dirty="0">
                <a:solidFill>
                  <a:srgbClr val="6B717C"/>
                </a:solidFill>
              </a:rPr>
              <a:t>01°21′N   103°59′E</a:t>
            </a:r>
            <a:endParaRPr lang="en-US" sz="1000" dirty="0"/>
          </a:p>
        </p:txBody>
      </p:sp>
      <p:sp>
        <p:nvSpPr>
          <p:cNvPr id="6" name="Text 3"/>
          <p:cNvSpPr txBox="1"/>
          <p:nvPr/>
        </p:nvSpPr>
        <p:spPr>
          <a:xfrm>
            <a:off x="502920" y="640080"/>
            <a:ext cx="11183112" cy="493776"/>
          </a:xfrm>
          <a:prstGeom prst="rect">
            <a:avLst/>
          </a:prstGeom>
          <a:noFill/>
          <a:ln/>
        </p:spPr>
        <p:txBody>
          <a:bodyPr wrap="square" lIns="0" tIns="0" rIns="0" bIns="0" rtlCol="0" anchor="t"/>
          <a:lstStyle/>
          <a:p>
            <a:pPr indent="0" marL="0">
              <a:buNone/>
            </a:pPr>
            <a:r>
              <a:rPr lang="en-US" sz="3000" b="1" spc="-30" kern="0" dirty="0">
                <a:solidFill>
                  <a:srgbClr val="F3F4F6"/>
                </a:solidFill>
              </a:rPr>
              <a:t>One platform. Every site. </a:t>
            </a:r>
            <a:pPr indent="0" marL="0">
              <a:buNone/>
            </a:pPr>
            <a:r>
              <a:rPr lang="en-US" sz="3000" b="1" spc="-30" kern="0" dirty="0">
                <a:solidFill>
                  <a:srgbClr val="7F8590"/>
                </a:solidFill>
              </a:rPr>
              <a:t>Ready for autonomy.</a:t>
            </a:r>
            <a:endParaRPr lang="en-US" sz="3000" dirty="0"/>
          </a:p>
        </p:txBody>
      </p:sp>
      <p:sp>
        <p:nvSpPr>
          <p:cNvPr id="7" name="Text 4"/>
          <p:cNvSpPr txBox="1"/>
          <p:nvPr/>
        </p:nvSpPr>
        <p:spPr>
          <a:xfrm>
            <a:off x="502920" y="1143000"/>
            <a:ext cx="10058400" cy="256032"/>
          </a:xfrm>
          <a:prstGeom prst="rect">
            <a:avLst/>
          </a:prstGeom>
          <a:noFill/>
          <a:ln/>
        </p:spPr>
        <p:txBody>
          <a:bodyPr wrap="square" lIns="0" tIns="0" rIns="0" bIns="0" rtlCol="0" anchor="t"/>
          <a:lstStyle/>
          <a:p>
            <a:pPr indent="0" marL="0">
              <a:buNone/>
            </a:pPr>
            <a:r>
              <a:rPr lang="en-US" sz="1200" dirty="0">
                <a:solidFill>
                  <a:srgbClr val="9AA0AA"/>
                </a:solidFill>
              </a:rPr>
              <a:t>Open-standards based and integrated — future-ready for advanced sensors, AI/ML and autonomous technologies.</a:t>
            </a:r>
            <a:endParaRPr lang="en-US" sz="1200" dirty="0"/>
          </a:p>
        </p:txBody>
      </p:sp>
      <p:sp>
        <p:nvSpPr>
          <p:cNvPr id="8" name="Shape 5"/>
          <p:cNvSpPr/>
          <p:nvPr/>
        </p:nvSpPr>
        <p:spPr>
          <a:xfrm>
            <a:off x="502920" y="1828800"/>
            <a:ext cx="11183112" cy="0"/>
          </a:xfrm>
          <a:prstGeom prst="line">
            <a:avLst/>
          </a:prstGeom>
          <a:noFill/>
          <a:ln w="9525">
            <a:solidFill>
              <a:srgbClr val="FFFFFF">
                <a:alpha val="18000"/>
              </a:srgbClr>
            </a:solidFill>
            <a:prstDash val="solid"/>
          </a:ln>
        </p:spPr>
      </p:sp>
      <p:sp>
        <p:nvSpPr>
          <p:cNvPr id="9" name="Text 6"/>
          <p:cNvSpPr txBox="1"/>
          <p:nvPr/>
        </p:nvSpPr>
        <p:spPr>
          <a:xfrm>
            <a:off x="571500" y="1536192"/>
            <a:ext cx="2011680" cy="219456"/>
          </a:xfrm>
          <a:prstGeom prst="rect">
            <a:avLst/>
          </a:prstGeom>
          <a:noFill/>
          <a:ln/>
        </p:spPr>
        <p:txBody>
          <a:bodyPr wrap="square" lIns="0" tIns="0" rIns="0" bIns="0" rtlCol="0" anchor="t"/>
          <a:lstStyle/>
          <a:p>
            <a:pPr algn="ctr" indent="0" marL="0">
              <a:buNone/>
            </a:pPr>
            <a:r>
              <a:rPr lang="en-US" sz="1000" b="1" spc="300" kern="0" dirty="0">
                <a:solidFill>
                  <a:srgbClr val="9CC3F0"/>
                </a:solidFill>
              </a:rPr>
              <a:t>01  </a:t>
            </a:r>
            <a:pPr algn="ctr" indent="0" marL="0">
              <a:buNone/>
            </a:pPr>
            <a:r>
              <a:rPr lang="en-US" sz="1000" b="1" spc="300" kern="0" dirty="0">
                <a:solidFill>
                  <a:srgbClr val="9AA0AA"/>
                </a:solidFill>
              </a:rPr>
              <a:t>CONNECT</a:t>
            </a:r>
            <a:endParaRPr lang="en-US" sz="1000" dirty="0"/>
          </a:p>
        </p:txBody>
      </p:sp>
      <p:sp>
        <p:nvSpPr>
          <p:cNvPr id="10" name="Shape 7"/>
          <p:cNvSpPr/>
          <p:nvPr/>
        </p:nvSpPr>
        <p:spPr>
          <a:xfrm>
            <a:off x="1540764" y="1792224"/>
            <a:ext cx="73152" cy="73152"/>
          </a:xfrm>
          <a:prstGeom prst="rect">
            <a:avLst/>
          </a:prstGeom>
          <a:solidFill>
            <a:srgbClr val="9CC3F0"/>
          </a:solidFill>
          <a:ln/>
        </p:spPr>
      </p:sp>
      <p:sp>
        <p:nvSpPr>
          <p:cNvPr id="11" name="Text 8"/>
          <p:cNvSpPr txBox="1"/>
          <p:nvPr/>
        </p:nvSpPr>
        <p:spPr>
          <a:xfrm>
            <a:off x="2057400" y="1536192"/>
            <a:ext cx="2011680" cy="219456"/>
          </a:xfrm>
          <a:prstGeom prst="rect">
            <a:avLst/>
          </a:prstGeom>
          <a:noFill/>
          <a:ln/>
        </p:spPr>
        <p:txBody>
          <a:bodyPr wrap="square" lIns="0" tIns="0" rIns="0" bIns="0" rtlCol="0" anchor="t"/>
          <a:lstStyle/>
          <a:p>
            <a:pPr algn="ctr" indent="0" marL="0">
              <a:buNone/>
            </a:pPr>
            <a:r>
              <a:rPr lang="en-US" sz="1000" b="1" spc="300" kern="0" dirty="0">
                <a:solidFill>
                  <a:srgbClr val="9CC3F0"/>
                </a:solidFill>
              </a:rPr>
              <a:t>02  </a:t>
            </a:r>
            <a:pPr algn="ctr" indent="0" marL="0">
              <a:buNone/>
            </a:pPr>
            <a:r>
              <a:rPr lang="en-US" sz="1000" b="1" spc="300" kern="0" dirty="0">
                <a:solidFill>
                  <a:srgbClr val="9AA0AA"/>
                </a:solidFill>
              </a:rPr>
              <a:t>SECURE</a:t>
            </a:r>
            <a:endParaRPr lang="en-US" sz="1000" dirty="0"/>
          </a:p>
        </p:txBody>
      </p:sp>
      <p:sp>
        <p:nvSpPr>
          <p:cNvPr id="12" name="Shape 9"/>
          <p:cNvSpPr/>
          <p:nvPr/>
        </p:nvSpPr>
        <p:spPr>
          <a:xfrm>
            <a:off x="3026664" y="1792224"/>
            <a:ext cx="73152" cy="73152"/>
          </a:xfrm>
          <a:prstGeom prst="rect">
            <a:avLst/>
          </a:prstGeom>
          <a:solidFill>
            <a:srgbClr val="9CC3F0"/>
          </a:solidFill>
          <a:ln/>
        </p:spPr>
      </p:sp>
      <p:sp>
        <p:nvSpPr>
          <p:cNvPr id="13" name="Text 10"/>
          <p:cNvSpPr txBox="1"/>
          <p:nvPr/>
        </p:nvSpPr>
        <p:spPr>
          <a:xfrm>
            <a:off x="4434840" y="1536192"/>
            <a:ext cx="2011680" cy="219456"/>
          </a:xfrm>
          <a:prstGeom prst="rect">
            <a:avLst/>
          </a:prstGeom>
          <a:noFill/>
          <a:ln/>
        </p:spPr>
        <p:txBody>
          <a:bodyPr wrap="square" lIns="0" tIns="0" rIns="0" bIns="0" rtlCol="0" anchor="t"/>
          <a:lstStyle/>
          <a:p>
            <a:pPr algn="ctr" indent="0" marL="0">
              <a:buNone/>
            </a:pPr>
            <a:r>
              <a:rPr lang="en-US" sz="1000" b="1" spc="300" kern="0" dirty="0">
                <a:solidFill>
                  <a:srgbClr val="9CC3F0"/>
                </a:solidFill>
              </a:rPr>
              <a:t>03  </a:t>
            </a:r>
            <a:pPr algn="ctr" indent="0" marL="0">
              <a:buNone/>
            </a:pPr>
            <a:r>
              <a:rPr lang="en-US" sz="1000" b="1" spc="300" kern="0" dirty="0">
                <a:solidFill>
                  <a:srgbClr val="9AA0AA"/>
                </a:solidFill>
              </a:rPr>
              <a:t>UNIFY</a:t>
            </a:r>
            <a:endParaRPr lang="en-US" sz="1000" dirty="0"/>
          </a:p>
        </p:txBody>
      </p:sp>
      <p:sp>
        <p:nvSpPr>
          <p:cNvPr id="14" name="Shape 11"/>
          <p:cNvSpPr/>
          <p:nvPr/>
        </p:nvSpPr>
        <p:spPr>
          <a:xfrm>
            <a:off x="5404104" y="1792224"/>
            <a:ext cx="73152" cy="73152"/>
          </a:xfrm>
          <a:prstGeom prst="rect">
            <a:avLst/>
          </a:prstGeom>
          <a:solidFill>
            <a:srgbClr val="9CC3F0"/>
          </a:solidFill>
          <a:ln/>
        </p:spPr>
      </p:sp>
      <p:sp>
        <p:nvSpPr>
          <p:cNvPr id="15" name="Text 12"/>
          <p:cNvSpPr txBox="1"/>
          <p:nvPr/>
        </p:nvSpPr>
        <p:spPr>
          <a:xfrm>
            <a:off x="7520940" y="1536192"/>
            <a:ext cx="2011680" cy="219456"/>
          </a:xfrm>
          <a:prstGeom prst="rect">
            <a:avLst/>
          </a:prstGeom>
          <a:noFill/>
          <a:ln/>
        </p:spPr>
        <p:txBody>
          <a:bodyPr wrap="square" lIns="0" tIns="0" rIns="0" bIns="0" rtlCol="0" anchor="t"/>
          <a:lstStyle/>
          <a:p>
            <a:pPr algn="ctr" indent="0" marL="0">
              <a:buNone/>
            </a:pPr>
            <a:r>
              <a:rPr lang="en-US" sz="1000" b="1" spc="300" kern="0" dirty="0">
                <a:solidFill>
                  <a:srgbClr val="9CC3F0"/>
                </a:solidFill>
              </a:rPr>
              <a:t>04  </a:t>
            </a:r>
            <a:pPr algn="ctr" indent="0" marL="0">
              <a:buNone/>
            </a:pPr>
            <a:r>
              <a:rPr lang="en-US" sz="1000" b="1" spc="300" kern="0" dirty="0">
                <a:solidFill>
                  <a:srgbClr val="9AA0AA"/>
                </a:solidFill>
              </a:rPr>
              <a:t>ORCHESTRATE</a:t>
            </a:r>
            <a:endParaRPr lang="en-US" sz="1000" dirty="0"/>
          </a:p>
        </p:txBody>
      </p:sp>
      <p:sp>
        <p:nvSpPr>
          <p:cNvPr id="16" name="Shape 13"/>
          <p:cNvSpPr/>
          <p:nvPr/>
        </p:nvSpPr>
        <p:spPr>
          <a:xfrm>
            <a:off x="8490204" y="1792224"/>
            <a:ext cx="73152" cy="73152"/>
          </a:xfrm>
          <a:prstGeom prst="rect">
            <a:avLst/>
          </a:prstGeom>
          <a:solidFill>
            <a:srgbClr val="9CC3F0"/>
          </a:solidFill>
          <a:ln/>
        </p:spPr>
      </p:sp>
      <p:sp>
        <p:nvSpPr>
          <p:cNvPr id="17" name="Text 14"/>
          <p:cNvSpPr txBox="1"/>
          <p:nvPr/>
        </p:nvSpPr>
        <p:spPr>
          <a:xfrm>
            <a:off x="9637776" y="1536192"/>
            <a:ext cx="2011680" cy="219456"/>
          </a:xfrm>
          <a:prstGeom prst="rect">
            <a:avLst/>
          </a:prstGeom>
          <a:noFill/>
          <a:ln/>
        </p:spPr>
        <p:txBody>
          <a:bodyPr wrap="square" lIns="0" tIns="0" rIns="0" bIns="0" rtlCol="0" anchor="t"/>
          <a:lstStyle/>
          <a:p>
            <a:pPr algn="ctr" indent="0" marL="0">
              <a:buNone/>
            </a:pPr>
            <a:r>
              <a:rPr lang="en-US" sz="1000" b="1" spc="300" kern="0" dirty="0">
                <a:solidFill>
                  <a:srgbClr val="9CC3F0"/>
                </a:solidFill>
              </a:rPr>
              <a:t>05  </a:t>
            </a:r>
            <a:pPr algn="ctr" indent="0" marL="0">
              <a:buNone/>
            </a:pPr>
            <a:r>
              <a:rPr lang="en-US" sz="1000" b="1" spc="300" kern="0" dirty="0">
                <a:solidFill>
                  <a:srgbClr val="9AA0AA"/>
                </a:solidFill>
              </a:rPr>
              <a:t>AUTOMATE</a:t>
            </a:r>
            <a:endParaRPr lang="en-US" sz="1000" dirty="0"/>
          </a:p>
        </p:txBody>
      </p:sp>
      <p:sp>
        <p:nvSpPr>
          <p:cNvPr id="18" name="Shape 15"/>
          <p:cNvSpPr/>
          <p:nvPr/>
        </p:nvSpPr>
        <p:spPr>
          <a:xfrm>
            <a:off x="10607040" y="1792224"/>
            <a:ext cx="73152" cy="73152"/>
          </a:xfrm>
          <a:prstGeom prst="rect">
            <a:avLst/>
          </a:prstGeom>
          <a:solidFill>
            <a:srgbClr val="9CC3F0"/>
          </a:solidFill>
          <a:ln/>
        </p:spPr>
      </p:sp>
      <p:sp>
        <p:nvSpPr>
          <p:cNvPr id="19" name="Shape 16"/>
          <p:cNvSpPr/>
          <p:nvPr/>
        </p:nvSpPr>
        <p:spPr>
          <a:xfrm>
            <a:off x="502920" y="2011680"/>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20" name="Image 0" descr="Buildings icon">    </p:cNvPr>
          <p:cNvPicPr>
            <a:picLocks noChangeAspect="1"/>
          </p:cNvPicPr>
          <p:nvPr/>
        </p:nvPicPr>
        <p:blipFill>
          <a:blip r:embed="rId2"/>
          <a:stretch>
            <a:fillRect/>
          </a:stretch>
        </p:blipFill>
        <p:spPr>
          <a:xfrm>
            <a:off x="630936" y="2140349"/>
            <a:ext cx="274320" cy="274320"/>
          </a:xfrm>
          <a:prstGeom prst="rect">
            <a:avLst/>
          </a:prstGeom>
        </p:spPr>
      </p:pic>
      <p:sp>
        <p:nvSpPr>
          <p:cNvPr id="21" name="Text 17"/>
          <p:cNvSpPr txBox="1"/>
          <p:nvPr/>
        </p:nvSpPr>
        <p:spPr>
          <a:xfrm>
            <a:off x="1014984" y="2075688"/>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T5A ISMS</a:t>
            </a:r>
            <a:endParaRPr lang="en-US" sz="1050" dirty="0"/>
          </a:p>
        </p:txBody>
      </p:sp>
      <p:sp>
        <p:nvSpPr>
          <p:cNvPr id="22" name="Text 18"/>
          <p:cNvSpPr txBox="1"/>
          <p:nvPr/>
        </p:nvSpPr>
        <p:spPr>
          <a:xfrm>
            <a:off x="1014984" y="2286000"/>
            <a:ext cx="1600200" cy="201168"/>
          </a:xfrm>
          <a:prstGeom prst="rect">
            <a:avLst/>
          </a:prstGeom>
          <a:noFill/>
          <a:ln/>
        </p:spPr>
        <p:txBody>
          <a:bodyPr wrap="square" lIns="0" tIns="0" rIns="0" bIns="0" rtlCol="0" anchor="t"/>
          <a:lstStyle/>
          <a:p>
            <a:pPr indent="0" marL="0">
              <a:buNone/>
            </a:pPr>
            <a:r>
              <a:rPr lang="en-US" sz="1000" dirty="0">
                <a:solidFill>
                  <a:srgbClr val="9AA0AA"/>
                </a:solidFill>
              </a:rPr>
              <a:t>Terminal 5A</a:t>
            </a:r>
            <a:endParaRPr lang="en-US" sz="1000" dirty="0"/>
          </a:p>
        </p:txBody>
      </p:sp>
      <p:sp>
        <p:nvSpPr>
          <p:cNvPr id="23" name="Shape 19"/>
          <p:cNvSpPr/>
          <p:nvPr/>
        </p:nvSpPr>
        <p:spPr>
          <a:xfrm>
            <a:off x="2651760" y="2277509"/>
            <a:ext cx="182880" cy="0"/>
          </a:xfrm>
          <a:prstGeom prst="line">
            <a:avLst/>
          </a:prstGeom>
          <a:noFill/>
          <a:ln w="9525">
            <a:solidFill>
              <a:srgbClr val="9CC3F0">
                <a:alpha val="45000"/>
              </a:srgbClr>
            </a:solidFill>
            <a:prstDash val="solid"/>
          </a:ln>
        </p:spPr>
      </p:sp>
      <p:sp>
        <p:nvSpPr>
          <p:cNvPr id="24" name="Shape 20"/>
          <p:cNvSpPr/>
          <p:nvPr/>
        </p:nvSpPr>
        <p:spPr>
          <a:xfrm>
            <a:off x="502920" y="2616490"/>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25" name="Image 1" descr="Buildings icon">    </p:cNvPr>
          <p:cNvPicPr>
            <a:picLocks noChangeAspect="1"/>
          </p:cNvPicPr>
          <p:nvPr/>
        </p:nvPicPr>
        <p:blipFill>
          <a:blip r:embed="rId3"/>
          <a:stretch>
            <a:fillRect/>
          </a:stretch>
        </p:blipFill>
        <p:spPr>
          <a:xfrm>
            <a:off x="630936" y="2745159"/>
            <a:ext cx="274320" cy="274320"/>
          </a:xfrm>
          <a:prstGeom prst="rect">
            <a:avLst/>
          </a:prstGeom>
        </p:spPr>
      </p:pic>
      <p:sp>
        <p:nvSpPr>
          <p:cNvPr id="26" name="Text 21"/>
          <p:cNvSpPr txBox="1"/>
          <p:nvPr/>
        </p:nvSpPr>
        <p:spPr>
          <a:xfrm>
            <a:off x="1014984" y="2680498"/>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T5B ISMS</a:t>
            </a:r>
            <a:endParaRPr lang="en-US" sz="1050" dirty="0"/>
          </a:p>
        </p:txBody>
      </p:sp>
      <p:sp>
        <p:nvSpPr>
          <p:cNvPr id="27" name="Text 22"/>
          <p:cNvSpPr txBox="1"/>
          <p:nvPr/>
        </p:nvSpPr>
        <p:spPr>
          <a:xfrm>
            <a:off x="1014984" y="2890810"/>
            <a:ext cx="1600200" cy="201168"/>
          </a:xfrm>
          <a:prstGeom prst="rect">
            <a:avLst/>
          </a:prstGeom>
          <a:noFill/>
          <a:ln/>
        </p:spPr>
        <p:txBody>
          <a:bodyPr wrap="square" lIns="0" tIns="0" rIns="0" bIns="0" rtlCol="0" anchor="t"/>
          <a:lstStyle/>
          <a:p>
            <a:pPr indent="0" marL="0">
              <a:buNone/>
            </a:pPr>
            <a:r>
              <a:rPr lang="en-US" sz="1000" dirty="0">
                <a:solidFill>
                  <a:srgbClr val="9AA0AA"/>
                </a:solidFill>
              </a:rPr>
              <a:t>Terminal 5B</a:t>
            </a:r>
            <a:endParaRPr lang="en-US" sz="1000" dirty="0"/>
          </a:p>
        </p:txBody>
      </p:sp>
      <p:sp>
        <p:nvSpPr>
          <p:cNvPr id="28" name="Shape 23"/>
          <p:cNvSpPr/>
          <p:nvPr/>
        </p:nvSpPr>
        <p:spPr>
          <a:xfrm>
            <a:off x="2651760" y="2882319"/>
            <a:ext cx="182880" cy="0"/>
          </a:xfrm>
          <a:prstGeom prst="line">
            <a:avLst/>
          </a:prstGeom>
          <a:noFill/>
          <a:ln w="9525">
            <a:solidFill>
              <a:srgbClr val="9CC3F0">
                <a:alpha val="45000"/>
              </a:srgbClr>
            </a:solidFill>
            <a:prstDash val="solid"/>
          </a:ln>
        </p:spPr>
      </p:sp>
      <p:sp>
        <p:nvSpPr>
          <p:cNvPr id="29" name="Shape 24"/>
          <p:cNvSpPr/>
          <p:nvPr/>
        </p:nvSpPr>
        <p:spPr>
          <a:xfrm>
            <a:off x="502920" y="3221301"/>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30" name="Image 2" descr="Buildings icon">    </p:cNvPr>
          <p:cNvPicPr>
            <a:picLocks noChangeAspect="1"/>
          </p:cNvPicPr>
          <p:nvPr/>
        </p:nvPicPr>
        <p:blipFill>
          <a:blip r:embed="rId4"/>
          <a:stretch>
            <a:fillRect/>
          </a:stretch>
        </p:blipFill>
        <p:spPr>
          <a:xfrm>
            <a:off x="630936" y="3349970"/>
            <a:ext cx="274320" cy="274320"/>
          </a:xfrm>
          <a:prstGeom prst="rect">
            <a:avLst/>
          </a:prstGeom>
        </p:spPr>
      </p:pic>
      <p:sp>
        <p:nvSpPr>
          <p:cNvPr id="31" name="Text 25"/>
          <p:cNvSpPr txBox="1"/>
          <p:nvPr/>
        </p:nvSpPr>
        <p:spPr>
          <a:xfrm>
            <a:off x="1014984" y="3285309"/>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T5C ISMS</a:t>
            </a:r>
            <a:endParaRPr lang="en-US" sz="1050" dirty="0"/>
          </a:p>
        </p:txBody>
      </p:sp>
      <p:sp>
        <p:nvSpPr>
          <p:cNvPr id="32" name="Text 26"/>
          <p:cNvSpPr txBox="1"/>
          <p:nvPr/>
        </p:nvSpPr>
        <p:spPr>
          <a:xfrm>
            <a:off x="1014984" y="3495621"/>
            <a:ext cx="1600200" cy="201168"/>
          </a:xfrm>
          <a:prstGeom prst="rect">
            <a:avLst/>
          </a:prstGeom>
          <a:noFill/>
          <a:ln/>
        </p:spPr>
        <p:txBody>
          <a:bodyPr wrap="square" lIns="0" tIns="0" rIns="0" bIns="0" rtlCol="0" anchor="t"/>
          <a:lstStyle/>
          <a:p>
            <a:pPr indent="0" marL="0">
              <a:buNone/>
            </a:pPr>
            <a:r>
              <a:rPr lang="en-US" sz="1000" dirty="0">
                <a:solidFill>
                  <a:srgbClr val="9AA0AA"/>
                </a:solidFill>
              </a:rPr>
              <a:t>Terminal 5C</a:t>
            </a:r>
            <a:endParaRPr lang="en-US" sz="1000" dirty="0"/>
          </a:p>
        </p:txBody>
      </p:sp>
      <p:sp>
        <p:nvSpPr>
          <p:cNvPr id="33" name="Shape 27"/>
          <p:cNvSpPr/>
          <p:nvPr/>
        </p:nvSpPr>
        <p:spPr>
          <a:xfrm>
            <a:off x="2651760" y="3487130"/>
            <a:ext cx="182880" cy="0"/>
          </a:xfrm>
          <a:prstGeom prst="line">
            <a:avLst/>
          </a:prstGeom>
          <a:noFill/>
          <a:ln w="9525">
            <a:solidFill>
              <a:srgbClr val="9CC3F0">
                <a:alpha val="45000"/>
              </a:srgbClr>
            </a:solidFill>
            <a:prstDash val="solid"/>
          </a:ln>
        </p:spPr>
      </p:sp>
      <p:sp>
        <p:nvSpPr>
          <p:cNvPr id="34" name="Shape 28"/>
          <p:cNvSpPr/>
          <p:nvPr/>
        </p:nvSpPr>
        <p:spPr>
          <a:xfrm>
            <a:off x="502920" y="3826111"/>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35" name="Image 3" descr="Hard Hat icon">    </p:cNvPr>
          <p:cNvPicPr>
            <a:picLocks noChangeAspect="1"/>
          </p:cNvPicPr>
          <p:nvPr/>
        </p:nvPicPr>
        <p:blipFill>
          <a:blip r:embed="rId5"/>
          <a:stretch>
            <a:fillRect/>
          </a:stretch>
        </p:blipFill>
        <p:spPr>
          <a:xfrm>
            <a:off x="630936" y="3954780"/>
            <a:ext cx="274320" cy="274320"/>
          </a:xfrm>
          <a:prstGeom prst="rect">
            <a:avLst/>
          </a:prstGeom>
        </p:spPr>
      </p:pic>
      <p:sp>
        <p:nvSpPr>
          <p:cNvPr id="36" name="Text 29"/>
          <p:cNvSpPr txBox="1"/>
          <p:nvPr/>
        </p:nvSpPr>
        <p:spPr>
          <a:xfrm>
            <a:off x="1014984" y="3890119"/>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LIW</a:t>
            </a:r>
            <a:endParaRPr lang="en-US" sz="1050" dirty="0"/>
          </a:p>
        </p:txBody>
      </p:sp>
      <p:sp>
        <p:nvSpPr>
          <p:cNvPr id="37" name="Text 30"/>
          <p:cNvSpPr txBox="1"/>
          <p:nvPr/>
        </p:nvSpPr>
        <p:spPr>
          <a:xfrm>
            <a:off x="1014984" y="4100431"/>
            <a:ext cx="1600200" cy="201168"/>
          </a:xfrm>
          <a:prstGeom prst="rect">
            <a:avLst/>
          </a:prstGeom>
          <a:noFill/>
          <a:ln/>
        </p:spPr>
        <p:txBody>
          <a:bodyPr wrap="square" lIns="0" tIns="0" rIns="0" bIns="0" rtlCol="0" anchor="t"/>
          <a:lstStyle/>
          <a:p>
            <a:pPr indent="0" marL="0">
              <a:buNone/>
            </a:pPr>
            <a:r>
              <a:rPr lang="en-US" sz="1000" dirty="0">
                <a:solidFill>
                  <a:srgbClr val="9AA0AA"/>
                </a:solidFill>
              </a:rPr>
              <a:t>Land Infrastructure Works</a:t>
            </a:r>
            <a:endParaRPr lang="en-US" sz="1000" dirty="0"/>
          </a:p>
        </p:txBody>
      </p:sp>
      <p:sp>
        <p:nvSpPr>
          <p:cNvPr id="38" name="Shape 31"/>
          <p:cNvSpPr/>
          <p:nvPr/>
        </p:nvSpPr>
        <p:spPr>
          <a:xfrm>
            <a:off x="2651760" y="4091940"/>
            <a:ext cx="182880" cy="0"/>
          </a:xfrm>
          <a:prstGeom prst="line">
            <a:avLst/>
          </a:prstGeom>
          <a:noFill/>
          <a:ln w="9525">
            <a:solidFill>
              <a:srgbClr val="9CC3F0">
                <a:alpha val="45000"/>
              </a:srgbClr>
            </a:solidFill>
            <a:prstDash val="solid"/>
          </a:ln>
        </p:spPr>
      </p:sp>
      <p:sp>
        <p:nvSpPr>
          <p:cNvPr id="39" name="Shape 32"/>
          <p:cNvSpPr/>
          <p:nvPr/>
        </p:nvSpPr>
        <p:spPr>
          <a:xfrm>
            <a:off x="502920" y="4430921"/>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40" name="Image 4" descr="Train icon">    </p:cNvPr>
          <p:cNvPicPr>
            <a:picLocks noChangeAspect="1"/>
          </p:cNvPicPr>
          <p:nvPr/>
        </p:nvPicPr>
        <p:blipFill>
          <a:blip r:embed="rId6"/>
          <a:stretch>
            <a:fillRect/>
          </a:stretch>
        </p:blipFill>
        <p:spPr>
          <a:xfrm>
            <a:off x="630936" y="4559590"/>
            <a:ext cx="274320" cy="274320"/>
          </a:xfrm>
          <a:prstGeom prst="rect">
            <a:avLst/>
          </a:prstGeom>
        </p:spPr>
      </p:pic>
      <p:sp>
        <p:nvSpPr>
          <p:cNvPr id="41" name="Text 33"/>
          <p:cNvSpPr txBox="1"/>
          <p:nvPr/>
        </p:nvSpPr>
        <p:spPr>
          <a:xfrm>
            <a:off x="1014984" y="4494929"/>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APM DEPOT</a:t>
            </a:r>
            <a:endParaRPr lang="en-US" sz="1050" dirty="0"/>
          </a:p>
        </p:txBody>
      </p:sp>
      <p:sp>
        <p:nvSpPr>
          <p:cNvPr id="42" name="Text 34"/>
          <p:cNvSpPr txBox="1"/>
          <p:nvPr/>
        </p:nvSpPr>
        <p:spPr>
          <a:xfrm>
            <a:off x="1014984" y="4705241"/>
            <a:ext cx="1600200" cy="201168"/>
          </a:xfrm>
          <a:prstGeom prst="rect">
            <a:avLst/>
          </a:prstGeom>
          <a:noFill/>
          <a:ln/>
        </p:spPr>
        <p:txBody>
          <a:bodyPr wrap="square" lIns="0" tIns="0" rIns="0" bIns="0" rtlCol="0" anchor="t"/>
          <a:lstStyle/>
          <a:p>
            <a:pPr indent="0" marL="0">
              <a:buNone/>
            </a:pPr>
            <a:r>
              <a:rPr lang="en-US" sz="1000" dirty="0">
                <a:solidFill>
                  <a:srgbClr val="9AA0AA"/>
                </a:solidFill>
              </a:rPr>
              <a:t>Automated People Mover</a:t>
            </a:r>
            <a:endParaRPr lang="en-US" sz="1000" dirty="0"/>
          </a:p>
        </p:txBody>
      </p:sp>
      <p:sp>
        <p:nvSpPr>
          <p:cNvPr id="43" name="Shape 35"/>
          <p:cNvSpPr/>
          <p:nvPr/>
        </p:nvSpPr>
        <p:spPr>
          <a:xfrm>
            <a:off x="2651760" y="4696750"/>
            <a:ext cx="182880" cy="0"/>
          </a:xfrm>
          <a:prstGeom prst="line">
            <a:avLst/>
          </a:prstGeom>
          <a:noFill/>
          <a:ln w="9525">
            <a:solidFill>
              <a:srgbClr val="9CC3F0">
                <a:alpha val="45000"/>
              </a:srgbClr>
            </a:solidFill>
            <a:prstDash val="solid"/>
          </a:ln>
        </p:spPr>
      </p:sp>
      <p:sp>
        <p:nvSpPr>
          <p:cNvPr id="44" name="Shape 36"/>
          <p:cNvSpPr/>
          <p:nvPr/>
        </p:nvSpPr>
        <p:spPr>
          <a:xfrm>
            <a:off x="502920" y="5035731"/>
            <a:ext cx="2148840" cy="531658"/>
          </a:xfrm>
          <a:prstGeom prst="roundRect">
            <a:avLst>
              <a:gd name="adj" fmla="val 17199"/>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45" name="Image 5" descr="Airplane icon">    </p:cNvPr>
          <p:cNvPicPr>
            <a:picLocks noChangeAspect="1"/>
          </p:cNvPicPr>
          <p:nvPr/>
        </p:nvPicPr>
        <p:blipFill>
          <a:blip r:embed="rId7"/>
          <a:stretch>
            <a:fillRect/>
          </a:stretch>
        </p:blipFill>
        <p:spPr>
          <a:xfrm>
            <a:off x="630936" y="5164401"/>
            <a:ext cx="274320" cy="274320"/>
          </a:xfrm>
          <a:prstGeom prst="rect">
            <a:avLst/>
          </a:prstGeom>
        </p:spPr>
      </p:pic>
      <p:sp>
        <p:nvSpPr>
          <p:cNvPr id="46" name="Text 37"/>
          <p:cNvSpPr txBox="1"/>
          <p:nvPr/>
        </p:nvSpPr>
        <p:spPr>
          <a:xfrm>
            <a:off x="1014984" y="5099739"/>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ERS</a:t>
            </a:r>
            <a:endParaRPr lang="en-US" sz="1050" dirty="0"/>
          </a:p>
        </p:txBody>
      </p:sp>
      <p:sp>
        <p:nvSpPr>
          <p:cNvPr id="47" name="Text 38"/>
          <p:cNvSpPr txBox="1"/>
          <p:nvPr/>
        </p:nvSpPr>
        <p:spPr>
          <a:xfrm>
            <a:off x="1014984" y="5310051"/>
            <a:ext cx="1600200" cy="201168"/>
          </a:xfrm>
          <a:prstGeom prst="rect">
            <a:avLst/>
          </a:prstGeom>
          <a:noFill/>
          <a:ln/>
        </p:spPr>
        <p:txBody>
          <a:bodyPr wrap="square" lIns="0" tIns="0" rIns="0" bIns="0" rtlCol="0" anchor="t"/>
          <a:lstStyle/>
          <a:p>
            <a:pPr indent="0" marL="0">
              <a:buNone/>
            </a:pPr>
            <a:r>
              <a:rPr lang="en-US" sz="1000" dirty="0">
                <a:solidFill>
                  <a:srgbClr val="9AA0AA"/>
                </a:solidFill>
              </a:rPr>
              <a:t>Early Remote Stands</a:t>
            </a:r>
            <a:endParaRPr lang="en-US" sz="1000" dirty="0"/>
          </a:p>
        </p:txBody>
      </p:sp>
      <p:sp>
        <p:nvSpPr>
          <p:cNvPr id="48" name="Shape 39"/>
          <p:cNvSpPr/>
          <p:nvPr/>
        </p:nvSpPr>
        <p:spPr>
          <a:xfrm>
            <a:off x="2651760" y="5301561"/>
            <a:ext cx="182880" cy="0"/>
          </a:xfrm>
          <a:prstGeom prst="line">
            <a:avLst/>
          </a:prstGeom>
          <a:noFill/>
          <a:ln w="9525">
            <a:solidFill>
              <a:srgbClr val="9CC3F0">
                <a:alpha val="45000"/>
              </a:srgbClr>
            </a:solidFill>
            <a:prstDash val="solid"/>
          </a:ln>
        </p:spPr>
      </p:sp>
      <p:sp>
        <p:nvSpPr>
          <p:cNvPr id="49" name="Shape 40"/>
          <p:cNvSpPr/>
          <p:nvPr/>
        </p:nvSpPr>
        <p:spPr>
          <a:xfrm>
            <a:off x="502920" y="5640542"/>
            <a:ext cx="2148840" cy="531658"/>
          </a:xfrm>
          <a:prstGeom prst="roundRect">
            <a:avLst>
              <a:gd name="adj" fmla="val 17199"/>
            </a:avLst>
          </a:prstGeom>
          <a:gradFill rotWithShape="1">
            <a:gsLst>
              <a:gs pos="0">
                <a:srgbClr val="FFFFFF">
                  <a:alpha val="7000"/>
                </a:srgbClr>
              </a:gs>
              <a:gs pos="100000">
                <a:srgbClr val="FFFFFF">
                  <a:alpha val="2000"/>
                </a:srgbClr>
              </a:gs>
            </a:gsLst>
            <a:lin ang="2700000" scaled="0"/>
          </a:gradFill>
          <a:ln w="9525">
            <a:solidFill>
              <a:srgbClr val="9CC3F0">
                <a:alpha val="70000"/>
              </a:srgbClr>
            </a:solidFill>
            <a:prstDash val="dash"/>
          </a:ln>
        </p:spPr>
      </p:sp>
      <p:pic>
        <p:nvPicPr>
          <p:cNvPr id="50" name="Image 6" descr="Plus icon">    </p:cNvPr>
          <p:cNvPicPr>
            <a:picLocks noChangeAspect="1"/>
          </p:cNvPicPr>
          <p:nvPr/>
        </p:nvPicPr>
        <p:blipFill>
          <a:blip r:embed="rId8"/>
          <a:stretch>
            <a:fillRect/>
          </a:stretch>
        </p:blipFill>
        <p:spPr>
          <a:xfrm>
            <a:off x="630936" y="5769211"/>
            <a:ext cx="274320" cy="274320"/>
          </a:xfrm>
          <a:prstGeom prst="rect">
            <a:avLst/>
          </a:prstGeom>
        </p:spPr>
      </p:pic>
      <p:sp>
        <p:nvSpPr>
          <p:cNvPr id="51" name="Text 41"/>
          <p:cNvSpPr txBox="1"/>
          <p:nvPr/>
        </p:nvSpPr>
        <p:spPr>
          <a:xfrm>
            <a:off x="1014984" y="5704550"/>
            <a:ext cx="1581912" cy="201168"/>
          </a:xfrm>
          <a:prstGeom prst="rect">
            <a:avLst/>
          </a:prstGeom>
          <a:noFill/>
          <a:ln/>
        </p:spPr>
        <p:txBody>
          <a:bodyPr wrap="square" lIns="0" tIns="0" rIns="0" bIns="0" rtlCol="0" anchor="t"/>
          <a:lstStyle/>
          <a:p>
            <a:pPr indent="0" marL="0">
              <a:buNone/>
            </a:pPr>
            <a:r>
              <a:rPr lang="en-US" sz="1050" b="1" spc="100" kern="0" dirty="0">
                <a:solidFill>
                  <a:srgbClr val="F3F4F6"/>
                </a:solidFill>
              </a:rPr>
              <a:t>AO SITES</a:t>
            </a:r>
            <a:endParaRPr lang="en-US" sz="1050" dirty="0"/>
          </a:p>
        </p:txBody>
      </p:sp>
      <p:sp>
        <p:nvSpPr>
          <p:cNvPr id="52" name="Text 42"/>
          <p:cNvSpPr txBox="1"/>
          <p:nvPr/>
        </p:nvSpPr>
        <p:spPr>
          <a:xfrm>
            <a:off x="1014984" y="5914862"/>
            <a:ext cx="1600200" cy="201168"/>
          </a:xfrm>
          <a:prstGeom prst="rect">
            <a:avLst/>
          </a:prstGeom>
          <a:noFill/>
          <a:ln/>
        </p:spPr>
        <p:txBody>
          <a:bodyPr wrap="square" lIns="0" tIns="0" rIns="0" bIns="0" rtlCol="0" anchor="t"/>
          <a:lstStyle/>
          <a:p>
            <a:pPr indent="0" marL="0">
              <a:buNone/>
            </a:pPr>
            <a:r>
              <a:rPr lang="en-US" sz="1000" dirty="0">
                <a:solidFill>
                  <a:srgbClr val="9AA0AA"/>
                </a:solidFill>
              </a:rPr>
              <a:t>Any Other Sites</a:t>
            </a:r>
            <a:endParaRPr lang="en-US" sz="1000" dirty="0"/>
          </a:p>
        </p:txBody>
      </p:sp>
      <p:sp>
        <p:nvSpPr>
          <p:cNvPr id="53" name="Shape 43"/>
          <p:cNvSpPr/>
          <p:nvPr/>
        </p:nvSpPr>
        <p:spPr>
          <a:xfrm>
            <a:off x="2651760" y="5906371"/>
            <a:ext cx="182880" cy="0"/>
          </a:xfrm>
          <a:prstGeom prst="line">
            <a:avLst/>
          </a:prstGeom>
          <a:noFill/>
          <a:ln w="9525">
            <a:solidFill>
              <a:srgbClr val="9CC3F0">
                <a:alpha val="45000"/>
              </a:srgbClr>
            </a:solidFill>
            <a:prstDash val="solid"/>
          </a:ln>
        </p:spPr>
      </p:sp>
      <p:sp>
        <p:nvSpPr>
          <p:cNvPr id="54" name="Shape 44"/>
          <p:cNvSpPr/>
          <p:nvPr/>
        </p:nvSpPr>
        <p:spPr>
          <a:xfrm>
            <a:off x="2834640" y="2011680"/>
            <a:ext cx="457200" cy="4160520"/>
          </a:xfrm>
          <a:prstGeom prst="roundRect">
            <a:avLst>
              <a:gd name="adj" fmla="val 20000"/>
            </a:avLst>
          </a:prstGeom>
          <a:gradFill rotWithShape="1">
            <a:gsLst>
              <a:gs pos="0">
                <a:srgbClr val="FFFFFF">
                  <a:alpha val="11000"/>
                </a:srgbClr>
              </a:gs>
              <a:gs pos="100000">
                <a:srgbClr val="FFFFFF">
                  <a:alpha val="3000"/>
                </a:srgbClr>
              </a:gs>
            </a:gsLst>
            <a:lin ang="2700000" scaled="0"/>
          </a:gradFill>
          <a:ln w="12700">
            <a:solidFill>
              <a:srgbClr val="9CC3F0"/>
            </a:solidFill>
            <a:prstDash val="solid"/>
          </a:ln>
          <a:effectLst>
            <a:outerShdw sx="100000" sy="100000" kx="0" ky="0" algn="bl" rotWithShape="0" blurRad="152400" dist="50800" dir="5400000">
              <a:srgbClr val="9CC3F0">
                <a:alpha val="35000"/>
              </a:srgbClr>
            </a:outerShdw>
          </a:effectLst>
        </p:spPr>
      </p:sp>
      <p:pic>
        <p:nvPicPr>
          <p:cNvPr id="55" name="Image 7" descr="Shield Check icon">    </p:cNvPr>
          <p:cNvPicPr>
            <a:picLocks noChangeAspect="1"/>
          </p:cNvPicPr>
          <p:nvPr/>
        </p:nvPicPr>
        <p:blipFill>
          <a:blip r:embed="rId9"/>
          <a:stretch>
            <a:fillRect/>
          </a:stretch>
        </p:blipFill>
        <p:spPr>
          <a:xfrm>
            <a:off x="2898648" y="2103120"/>
            <a:ext cx="329184" cy="329184"/>
          </a:xfrm>
          <a:prstGeom prst="rect">
            <a:avLst/>
          </a:prstGeom>
        </p:spPr>
      </p:pic>
      <p:sp>
        <p:nvSpPr>
          <p:cNvPr id="56" name="Text 45"/>
          <p:cNvSpPr txBox="1"/>
          <p:nvPr/>
        </p:nvSpPr>
        <p:spPr>
          <a:xfrm rot="16200000">
            <a:off x="1325880" y="4160520"/>
            <a:ext cx="3474720" cy="365760"/>
          </a:xfrm>
          <a:prstGeom prst="rect">
            <a:avLst/>
          </a:prstGeom>
          <a:noFill/>
          <a:ln/>
        </p:spPr>
        <p:txBody>
          <a:bodyPr wrap="square" lIns="0" tIns="0" rIns="0" bIns="0" rtlCol="0" anchor="ctr"/>
          <a:lstStyle/>
          <a:p>
            <a:pPr algn="ctr" indent="0" marL="0">
              <a:buNone/>
            </a:pPr>
            <a:r>
              <a:rPr lang="en-US" sz="1050" b="1" spc="250" kern="0" dirty="0">
                <a:solidFill>
                  <a:srgbClr val="F3F4F6"/>
                </a:solidFill>
              </a:rPr>
              <a:t>NETWORK &amp; CYBER SECURITY LAYER</a:t>
            </a:r>
            <a:endParaRPr lang="en-US" sz="1050" dirty="0"/>
          </a:p>
        </p:txBody>
      </p:sp>
      <p:sp>
        <p:nvSpPr>
          <p:cNvPr id="57" name="Shape 46"/>
          <p:cNvSpPr/>
          <p:nvPr/>
        </p:nvSpPr>
        <p:spPr>
          <a:xfrm>
            <a:off x="3291840" y="2514600"/>
            <a:ext cx="228600" cy="0"/>
          </a:xfrm>
          <a:prstGeom prst="line">
            <a:avLst/>
          </a:prstGeom>
          <a:noFill/>
          <a:ln w="9525">
            <a:solidFill>
              <a:srgbClr val="9CC3F0">
                <a:alpha val="55000"/>
              </a:srgbClr>
            </a:solidFill>
            <a:prstDash val="solid"/>
          </a:ln>
        </p:spPr>
      </p:sp>
      <p:sp>
        <p:nvSpPr>
          <p:cNvPr id="58" name="Shape 47"/>
          <p:cNvSpPr/>
          <p:nvPr/>
        </p:nvSpPr>
        <p:spPr>
          <a:xfrm>
            <a:off x="3291840" y="4087368"/>
            <a:ext cx="228600" cy="0"/>
          </a:xfrm>
          <a:prstGeom prst="line">
            <a:avLst/>
          </a:prstGeom>
          <a:noFill/>
          <a:ln w="9525">
            <a:solidFill>
              <a:srgbClr val="9CC3F0">
                <a:alpha val="55000"/>
              </a:srgbClr>
            </a:solidFill>
            <a:prstDash val="solid"/>
          </a:ln>
        </p:spPr>
      </p:sp>
      <p:sp>
        <p:nvSpPr>
          <p:cNvPr id="59" name="Shape 48"/>
          <p:cNvSpPr/>
          <p:nvPr/>
        </p:nvSpPr>
        <p:spPr>
          <a:xfrm>
            <a:off x="3291840" y="5669280"/>
            <a:ext cx="228600" cy="0"/>
          </a:xfrm>
          <a:prstGeom prst="line">
            <a:avLst/>
          </a:prstGeom>
          <a:noFill/>
          <a:ln w="9525">
            <a:solidFill>
              <a:srgbClr val="9CC3F0">
                <a:alpha val="55000"/>
              </a:srgbClr>
            </a:solidFill>
            <a:prstDash val="solid"/>
          </a:ln>
        </p:spPr>
      </p:sp>
      <p:sp>
        <p:nvSpPr>
          <p:cNvPr id="60" name="Shape 49"/>
          <p:cNvSpPr/>
          <p:nvPr/>
        </p:nvSpPr>
        <p:spPr>
          <a:xfrm>
            <a:off x="3520440" y="2011680"/>
            <a:ext cx="3840480" cy="4160520"/>
          </a:xfrm>
          <a:prstGeom prst="roundRect">
            <a:avLst>
              <a:gd name="adj" fmla="val 3333"/>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61" name="Image 8" descr="Stack icon">    </p:cNvPr>
          <p:cNvPicPr>
            <a:picLocks noChangeAspect="1"/>
          </p:cNvPicPr>
          <p:nvPr/>
        </p:nvPicPr>
        <p:blipFill>
          <a:blip r:embed="rId10"/>
          <a:stretch>
            <a:fillRect/>
          </a:stretch>
        </p:blipFill>
        <p:spPr>
          <a:xfrm>
            <a:off x="3703320" y="2148840"/>
            <a:ext cx="329184" cy="329184"/>
          </a:xfrm>
          <a:prstGeom prst="rect">
            <a:avLst/>
          </a:prstGeom>
        </p:spPr>
      </p:pic>
      <p:sp>
        <p:nvSpPr>
          <p:cNvPr id="62" name="Text 50"/>
          <p:cNvSpPr txBox="1"/>
          <p:nvPr/>
        </p:nvSpPr>
        <p:spPr>
          <a:xfrm>
            <a:off x="4142232" y="2130552"/>
            <a:ext cx="3017520" cy="219456"/>
          </a:xfrm>
          <a:prstGeom prst="rect">
            <a:avLst/>
          </a:prstGeom>
          <a:noFill/>
          <a:ln/>
        </p:spPr>
        <p:txBody>
          <a:bodyPr wrap="square" lIns="0" tIns="0" rIns="0" bIns="0" rtlCol="0" anchor="t"/>
          <a:lstStyle/>
          <a:p>
            <a:pPr indent="0" marL="0">
              <a:buNone/>
            </a:pPr>
            <a:r>
              <a:rPr lang="en-US" sz="1300" b="1" spc="200" kern="0" dirty="0">
                <a:solidFill>
                  <a:srgbClr val="F3F4F6"/>
                </a:solidFill>
              </a:rPr>
              <a:t>T5-ISMS SITEWIDE</a:t>
            </a:r>
            <a:endParaRPr lang="en-US" sz="1300" dirty="0"/>
          </a:p>
        </p:txBody>
      </p:sp>
      <p:sp>
        <p:nvSpPr>
          <p:cNvPr id="63" name="Text 51"/>
          <p:cNvSpPr txBox="1"/>
          <p:nvPr/>
        </p:nvSpPr>
        <p:spPr>
          <a:xfrm>
            <a:off x="4142232" y="2377440"/>
            <a:ext cx="3017520" cy="201168"/>
          </a:xfrm>
          <a:prstGeom prst="rect">
            <a:avLst/>
          </a:prstGeom>
          <a:noFill/>
          <a:ln/>
        </p:spPr>
        <p:txBody>
          <a:bodyPr wrap="square" lIns="0" tIns="0" rIns="0" bIns="0" rtlCol="0" anchor="t"/>
          <a:lstStyle/>
          <a:p>
            <a:pPr indent="0" marL="0">
              <a:buNone/>
            </a:pPr>
            <a:r>
              <a:rPr lang="en-US" sz="1000" dirty="0">
                <a:solidFill>
                  <a:srgbClr val="9AA0AA"/>
                </a:solidFill>
              </a:rPr>
              <a:t>Integrated Security Management System</a:t>
            </a:r>
            <a:endParaRPr lang="en-US" sz="1000" dirty="0"/>
          </a:p>
        </p:txBody>
      </p:sp>
      <p:sp>
        <p:nvSpPr>
          <p:cNvPr id="64" name="Shape 52"/>
          <p:cNvSpPr/>
          <p:nvPr/>
        </p:nvSpPr>
        <p:spPr>
          <a:xfrm>
            <a:off x="3703320" y="2743200"/>
            <a:ext cx="1965960" cy="548640"/>
          </a:xfrm>
          <a:prstGeom prst="roundRect">
            <a:avLst>
              <a:gd name="adj" fmla="val 1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sp>
        <p:nvSpPr>
          <p:cNvPr id="65" name="Shape 53"/>
          <p:cNvSpPr/>
          <p:nvPr/>
        </p:nvSpPr>
        <p:spPr>
          <a:xfrm>
            <a:off x="3794760" y="2834640"/>
            <a:ext cx="365760" cy="365760"/>
          </a:xfrm>
          <a:prstGeom prst="ellipse">
            <a:avLst/>
          </a:prstGeom>
          <a:solidFill>
            <a:srgbClr val="FFFFFF">
              <a:alpha val="6000"/>
            </a:srgbClr>
          </a:solidFill>
          <a:ln w="9525">
            <a:solidFill>
              <a:srgbClr val="FFFFFF">
                <a:alpha val="30000"/>
              </a:srgbClr>
            </a:solidFill>
            <a:prstDash val="solid"/>
          </a:ln>
        </p:spPr>
      </p:sp>
      <p:pic>
        <p:nvPicPr>
          <p:cNvPr id="66" name="Image 9" descr="Cube Transparent icon">    </p:cNvPr>
          <p:cNvPicPr>
            <a:picLocks noChangeAspect="1"/>
          </p:cNvPicPr>
          <p:nvPr/>
        </p:nvPicPr>
        <p:blipFill>
          <a:blip r:embed="rId11"/>
          <a:stretch>
            <a:fillRect/>
          </a:stretch>
        </p:blipFill>
        <p:spPr>
          <a:xfrm>
            <a:off x="3877056" y="2916936"/>
            <a:ext cx="201168" cy="201168"/>
          </a:xfrm>
          <a:prstGeom prst="rect">
            <a:avLst/>
          </a:prstGeom>
        </p:spPr>
      </p:pic>
      <p:sp>
        <p:nvSpPr>
          <p:cNvPr id="67" name="Text 54"/>
          <p:cNvSpPr txBox="1"/>
          <p:nvPr/>
        </p:nvSpPr>
        <p:spPr>
          <a:xfrm>
            <a:off x="4270248" y="2743200"/>
            <a:ext cx="1344168" cy="548640"/>
          </a:xfrm>
          <a:prstGeom prst="rect">
            <a:avLst/>
          </a:prstGeom>
          <a:noFill/>
          <a:ln/>
        </p:spPr>
        <p:txBody>
          <a:bodyPr wrap="square" lIns="0" tIns="0" rIns="0" bIns="0" rtlCol="0" anchor="ctr"/>
          <a:lstStyle/>
          <a:p>
            <a:pPr indent="0" marL="0">
              <a:buNone/>
            </a:pPr>
            <a:r>
              <a:rPr lang="en-US" sz="1050" dirty="0">
                <a:solidFill>
                  <a:srgbClr val="F3F4F6"/>
                </a:solidFill>
              </a:rPr>
              <a:t>Digital Twin</a:t>
            </a:r>
            <a:endParaRPr lang="en-US" sz="1050" dirty="0"/>
          </a:p>
        </p:txBody>
      </p:sp>
      <p:sp>
        <p:nvSpPr>
          <p:cNvPr id="68" name="Shape 55"/>
          <p:cNvSpPr/>
          <p:nvPr/>
        </p:nvSpPr>
        <p:spPr>
          <a:xfrm>
            <a:off x="3703320" y="3417570"/>
            <a:ext cx="1965960" cy="548640"/>
          </a:xfrm>
          <a:prstGeom prst="roundRect">
            <a:avLst>
              <a:gd name="adj" fmla="val 1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sp>
        <p:nvSpPr>
          <p:cNvPr id="69" name="Shape 56"/>
          <p:cNvSpPr/>
          <p:nvPr/>
        </p:nvSpPr>
        <p:spPr>
          <a:xfrm>
            <a:off x="3794760" y="3509010"/>
            <a:ext cx="365760" cy="365760"/>
          </a:xfrm>
          <a:prstGeom prst="ellipse">
            <a:avLst/>
          </a:prstGeom>
          <a:solidFill>
            <a:srgbClr val="FFFFFF">
              <a:alpha val="6000"/>
            </a:srgbClr>
          </a:solidFill>
          <a:ln w="9525">
            <a:solidFill>
              <a:srgbClr val="FFFFFF">
                <a:alpha val="30000"/>
              </a:srgbClr>
            </a:solidFill>
            <a:prstDash val="solid"/>
          </a:ln>
        </p:spPr>
      </p:sp>
      <p:pic>
        <p:nvPicPr>
          <p:cNvPr id="70" name="Image 10" descr="Siren icon">    </p:cNvPr>
          <p:cNvPicPr>
            <a:picLocks noChangeAspect="1"/>
          </p:cNvPicPr>
          <p:nvPr/>
        </p:nvPicPr>
        <p:blipFill>
          <a:blip r:embed="rId12"/>
          <a:stretch>
            <a:fillRect/>
          </a:stretch>
        </p:blipFill>
        <p:spPr>
          <a:xfrm>
            <a:off x="3877056" y="3591306"/>
            <a:ext cx="201168" cy="201168"/>
          </a:xfrm>
          <a:prstGeom prst="rect">
            <a:avLst/>
          </a:prstGeom>
        </p:spPr>
      </p:pic>
      <p:sp>
        <p:nvSpPr>
          <p:cNvPr id="71" name="Text 57"/>
          <p:cNvSpPr txBox="1"/>
          <p:nvPr/>
        </p:nvSpPr>
        <p:spPr>
          <a:xfrm>
            <a:off x="4270248" y="3417570"/>
            <a:ext cx="1344168" cy="548640"/>
          </a:xfrm>
          <a:prstGeom prst="rect">
            <a:avLst/>
          </a:prstGeom>
          <a:noFill/>
          <a:ln/>
        </p:spPr>
        <p:txBody>
          <a:bodyPr wrap="square" lIns="0" tIns="0" rIns="0" bIns="0" rtlCol="0" anchor="ctr"/>
          <a:lstStyle/>
          <a:p>
            <a:pPr indent="0" marL="0">
              <a:buNone/>
            </a:pPr>
            <a:r>
              <a:rPr lang="en-US" sz="1050" dirty="0">
                <a:solidFill>
                  <a:srgbClr val="F3F4F6"/>
                </a:solidFill>
              </a:rPr>
              <a:t>Incident &amp; Alarm Management</a:t>
            </a:r>
            <a:endParaRPr lang="en-US" sz="1050" dirty="0"/>
          </a:p>
        </p:txBody>
      </p:sp>
      <p:sp>
        <p:nvSpPr>
          <p:cNvPr id="72" name="Shape 58"/>
          <p:cNvSpPr/>
          <p:nvPr/>
        </p:nvSpPr>
        <p:spPr>
          <a:xfrm>
            <a:off x="3703320" y="4091940"/>
            <a:ext cx="1965960" cy="548640"/>
          </a:xfrm>
          <a:prstGeom prst="roundRect">
            <a:avLst>
              <a:gd name="adj" fmla="val 1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sp>
        <p:nvSpPr>
          <p:cNvPr id="73" name="Shape 59"/>
          <p:cNvSpPr/>
          <p:nvPr/>
        </p:nvSpPr>
        <p:spPr>
          <a:xfrm>
            <a:off x="3794760" y="4183380"/>
            <a:ext cx="365760" cy="365760"/>
          </a:xfrm>
          <a:prstGeom prst="ellipse">
            <a:avLst/>
          </a:prstGeom>
          <a:solidFill>
            <a:srgbClr val="FFFFFF">
              <a:alpha val="6000"/>
            </a:srgbClr>
          </a:solidFill>
          <a:ln w="9525">
            <a:solidFill>
              <a:srgbClr val="FFFFFF">
                <a:alpha val="30000"/>
              </a:srgbClr>
            </a:solidFill>
            <a:prstDash val="solid"/>
          </a:ln>
        </p:spPr>
      </p:sp>
      <p:pic>
        <p:nvPicPr>
          <p:cNvPr id="74" name="Image 11" descr="Heartbeat icon">    </p:cNvPr>
          <p:cNvPicPr>
            <a:picLocks noChangeAspect="1"/>
          </p:cNvPicPr>
          <p:nvPr/>
        </p:nvPicPr>
        <p:blipFill>
          <a:blip r:embed="rId13"/>
          <a:stretch>
            <a:fillRect/>
          </a:stretch>
        </p:blipFill>
        <p:spPr>
          <a:xfrm>
            <a:off x="3877056" y="4265676"/>
            <a:ext cx="201168" cy="201168"/>
          </a:xfrm>
          <a:prstGeom prst="rect">
            <a:avLst/>
          </a:prstGeom>
        </p:spPr>
      </p:pic>
      <p:sp>
        <p:nvSpPr>
          <p:cNvPr id="75" name="Text 60"/>
          <p:cNvSpPr txBox="1"/>
          <p:nvPr/>
        </p:nvSpPr>
        <p:spPr>
          <a:xfrm>
            <a:off x="4270248" y="4091940"/>
            <a:ext cx="1344168" cy="548640"/>
          </a:xfrm>
          <a:prstGeom prst="rect">
            <a:avLst/>
          </a:prstGeom>
          <a:noFill/>
          <a:ln/>
        </p:spPr>
        <p:txBody>
          <a:bodyPr wrap="square" lIns="0" tIns="0" rIns="0" bIns="0" rtlCol="0" anchor="ctr"/>
          <a:lstStyle/>
          <a:p>
            <a:pPr indent="0" marL="0">
              <a:buNone/>
            </a:pPr>
            <a:r>
              <a:rPr lang="en-US" sz="1050" dirty="0">
                <a:solidFill>
                  <a:srgbClr val="F3F4F6"/>
                </a:solidFill>
              </a:rPr>
              <a:t>Sitewide Health Status</a:t>
            </a:r>
            <a:endParaRPr lang="en-US" sz="1050" dirty="0"/>
          </a:p>
        </p:txBody>
      </p:sp>
      <p:sp>
        <p:nvSpPr>
          <p:cNvPr id="76" name="Shape 61"/>
          <p:cNvSpPr/>
          <p:nvPr/>
        </p:nvSpPr>
        <p:spPr>
          <a:xfrm>
            <a:off x="3703320" y="4766310"/>
            <a:ext cx="1965960" cy="548640"/>
          </a:xfrm>
          <a:prstGeom prst="roundRect">
            <a:avLst>
              <a:gd name="adj" fmla="val 1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sp>
        <p:nvSpPr>
          <p:cNvPr id="77" name="Shape 62"/>
          <p:cNvSpPr/>
          <p:nvPr/>
        </p:nvSpPr>
        <p:spPr>
          <a:xfrm>
            <a:off x="3794760" y="4857750"/>
            <a:ext cx="365760" cy="365760"/>
          </a:xfrm>
          <a:prstGeom prst="ellipse">
            <a:avLst/>
          </a:prstGeom>
          <a:solidFill>
            <a:srgbClr val="FFFFFF">
              <a:alpha val="6000"/>
            </a:srgbClr>
          </a:solidFill>
          <a:ln w="9525">
            <a:solidFill>
              <a:srgbClr val="FFFFFF">
                <a:alpha val="30000"/>
              </a:srgbClr>
            </a:solidFill>
            <a:prstDash val="solid"/>
          </a:ln>
        </p:spPr>
      </p:sp>
      <p:pic>
        <p:nvPicPr>
          <p:cNvPr id="78" name="Image 12" descr="Squares Four icon">    </p:cNvPr>
          <p:cNvPicPr>
            <a:picLocks noChangeAspect="1"/>
          </p:cNvPicPr>
          <p:nvPr/>
        </p:nvPicPr>
        <p:blipFill>
          <a:blip r:embed="rId14"/>
          <a:stretch>
            <a:fillRect/>
          </a:stretch>
        </p:blipFill>
        <p:spPr>
          <a:xfrm>
            <a:off x="3877056" y="4940046"/>
            <a:ext cx="201168" cy="201168"/>
          </a:xfrm>
          <a:prstGeom prst="rect">
            <a:avLst/>
          </a:prstGeom>
        </p:spPr>
      </p:pic>
      <p:sp>
        <p:nvSpPr>
          <p:cNvPr id="79" name="Text 63"/>
          <p:cNvSpPr txBox="1"/>
          <p:nvPr/>
        </p:nvSpPr>
        <p:spPr>
          <a:xfrm>
            <a:off x="4270248" y="4766310"/>
            <a:ext cx="1344168" cy="548640"/>
          </a:xfrm>
          <a:prstGeom prst="rect">
            <a:avLst/>
          </a:prstGeom>
          <a:noFill/>
          <a:ln/>
        </p:spPr>
        <p:txBody>
          <a:bodyPr wrap="square" lIns="0" tIns="0" rIns="0" bIns="0" rtlCol="0" anchor="ctr"/>
          <a:lstStyle/>
          <a:p>
            <a:pPr indent="0" marL="0">
              <a:buNone/>
            </a:pPr>
            <a:r>
              <a:rPr lang="en-US" sz="1050" dirty="0">
                <a:solidFill>
                  <a:srgbClr val="F3F4F6"/>
                </a:solidFill>
              </a:rPr>
              <a:t>Common Operating Picture</a:t>
            </a:r>
            <a:endParaRPr lang="en-US" sz="1050" dirty="0"/>
          </a:p>
        </p:txBody>
      </p:sp>
      <p:sp>
        <p:nvSpPr>
          <p:cNvPr id="80" name="Shape 64"/>
          <p:cNvSpPr/>
          <p:nvPr/>
        </p:nvSpPr>
        <p:spPr>
          <a:xfrm>
            <a:off x="3703320" y="5440680"/>
            <a:ext cx="1965960" cy="548640"/>
          </a:xfrm>
          <a:prstGeom prst="roundRect">
            <a:avLst>
              <a:gd name="adj" fmla="val 1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sp>
        <p:nvSpPr>
          <p:cNvPr id="81" name="Shape 65"/>
          <p:cNvSpPr/>
          <p:nvPr/>
        </p:nvSpPr>
        <p:spPr>
          <a:xfrm>
            <a:off x="3794760" y="5532120"/>
            <a:ext cx="365760" cy="365760"/>
          </a:xfrm>
          <a:prstGeom prst="ellipse">
            <a:avLst/>
          </a:prstGeom>
          <a:solidFill>
            <a:srgbClr val="FFFFFF">
              <a:alpha val="6000"/>
            </a:srgbClr>
          </a:solidFill>
          <a:ln w="9525">
            <a:solidFill>
              <a:srgbClr val="FFFFFF">
                <a:alpha val="30000"/>
              </a:srgbClr>
            </a:solidFill>
            <a:prstDash val="solid"/>
          </a:ln>
        </p:spPr>
      </p:sp>
      <p:pic>
        <p:nvPicPr>
          <p:cNvPr id="82" name="Image 13" descr="Flow Arrow icon">    </p:cNvPr>
          <p:cNvPicPr>
            <a:picLocks noChangeAspect="1"/>
          </p:cNvPicPr>
          <p:nvPr/>
        </p:nvPicPr>
        <p:blipFill>
          <a:blip r:embed="rId15"/>
          <a:stretch>
            <a:fillRect/>
          </a:stretch>
        </p:blipFill>
        <p:spPr>
          <a:xfrm>
            <a:off x="3877056" y="5614416"/>
            <a:ext cx="201168" cy="201168"/>
          </a:xfrm>
          <a:prstGeom prst="rect">
            <a:avLst/>
          </a:prstGeom>
        </p:spPr>
      </p:pic>
      <p:sp>
        <p:nvSpPr>
          <p:cNvPr id="83" name="Text 66"/>
          <p:cNvSpPr txBox="1"/>
          <p:nvPr/>
        </p:nvSpPr>
        <p:spPr>
          <a:xfrm>
            <a:off x="4270248" y="5440680"/>
            <a:ext cx="1344168" cy="548640"/>
          </a:xfrm>
          <a:prstGeom prst="rect">
            <a:avLst/>
          </a:prstGeom>
          <a:noFill/>
          <a:ln/>
        </p:spPr>
        <p:txBody>
          <a:bodyPr wrap="square" lIns="0" tIns="0" rIns="0" bIns="0" rtlCol="0" anchor="ctr"/>
          <a:lstStyle/>
          <a:p>
            <a:pPr indent="0" marL="0">
              <a:buNone/>
            </a:pPr>
            <a:r>
              <a:rPr lang="en-US" sz="1050" dirty="0">
                <a:solidFill>
                  <a:srgbClr val="F3F4F6"/>
                </a:solidFill>
              </a:rPr>
              <a:t>Digital Workflow Engine</a:t>
            </a:r>
            <a:endParaRPr lang="en-US" sz="1050" dirty="0"/>
          </a:p>
        </p:txBody>
      </p:sp>
      <p:sp>
        <p:nvSpPr>
          <p:cNvPr id="84" name="Shape 67"/>
          <p:cNvSpPr/>
          <p:nvPr/>
        </p:nvSpPr>
        <p:spPr>
          <a:xfrm>
            <a:off x="5806440" y="2743200"/>
            <a:ext cx="1371600" cy="1463040"/>
          </a:xfrm>
          <a:prstGeom prst="roundRect">
            <a:avLst>
              <a:gd name="adj" fmla="val 5333"/>
            </a:avLst>
          </a:prstGeom>
          <a:gradFill rotWithShape="1">
            <a:gsLst>
              <a:gs pos="0">
                <a:srgbClr val="FFFFFF">
                  <a:alpha val="20000"/>
                </a:srgbClr>
              </a:gs>
              <a:gs pos="100000">
                <a:srgbClr val="9CC3F0">
                  <a:alpha val="6000"/>
                </a:srgbClr>
              </a:gs>
            </a:gsLst>
            <a:lin ang="2700000" scaled="0"/>
          </a:gradFill>
          <a:ln w="15875">
            <a:solidFill>
              <a:srgbClr val="9CC3F0"/>
            </a:solidFill>
            <a:prstDash val="solid"/>
          </a:ln>
          <a:effectLst>
            <a:outerShdw sx="100000" sy="100000" kx="0" ky="0" algn="bl" rotWithShape="0" blurRad="228600" dist="50800" dir="5400000">
              <a:srgbClr val="9CC3F0">
                <a:alpha val="50000"/>
              </a:srgbClr>
            </a:outerShdw>
          </a:effectLst>
        </p:spPr>
      </p:sp>
      <p:pic>
        <p:nvPicPr>
          <p:cNvPr id="85" name="Image 14" descr="Brain icon">    </p:cNvPr>
          <p:cNvPicPr>
            <a:picLocks noChangeAspect="1"/>
          </p:cNvPicPr>
          <p:nvPr/>
        </p:nvPicPr>
        <p:blipFill>
          <a:blip r:embed="rId16"/>
          <a:stretch>
            <a:fillRect/>
          </a:stretch>
        </p:blipFill>
        <p:spPr>
          <a:xfrm>
            <a:off x="5943600" y="2871216"/>
            <a:ext cx="347472" cy="347472"/>
          </a:xfrm>
          <a:prstGeom prst="rect">
            <a:avLst/>
          </a:prstGeom>
        </p:spPr>
      </p:pic>
      <p:sp>
        <p:nvSpPr>
          <p:cNvPr id="86" name="Text 68"/>
          <p:cNvSpPr txBox="1"/>
          <p:nvPr/>
        </p:nvSpPr>
        <p:spPr>
          <a:xfrm>
            <a:off x="5943600" y="3273552"/>
            <a:ext cx="1143000" cy="411480"/>
          </a:xfrm>
          <a:prstGeom prst="rect">
            <a:avLst/>
          </a:prstGeom>
          <a:noFill/>
          <a:ln/>
        </p:spPr>
        <p:txBody>
          <a:bodyPr wrap="square" lIns="0" tIns="0" rIns="0" bIns="0" rtlCol="0" anchor="t"/>
          <a:lstStyle/>
          <a:p>
            <a:pPr indent="0" marL="0">
              <a:buNone/>
            </a:pPr>
            <a:r>
              <a:rPr lang="en-US" sz="2400" b="1" dirty="0">
                <a:solidFill>
                  <a:srgbClr val="F3F4F6"/>
                </a:solidFill>
              </a:rPr>
              <a:t>A.I.</a:t>
            </a:r>
            <a:endParaRPr lang="en-US" sz="2400" dirty="0"/>
          </a:p>
        </p:txBody>
      </p:sp>
      <p:sp>
        <p:nvSpPr>
          <p:cNvPr id="87" name="Text 69"/>
          <p:cNvSpPr txBox="1"/>
          <p:nvPr/>
        </p:nvSpPr>
        <p:spPr>
          <a:xfrm>
            <a:off x="5943600" y="3730752"/>
            <a:ext cx="1143000" cy="274320"/>
          </a:xfrm>
          <a:prstGeom prst="rect">
            <a:avLst/>
          </a:prstGeom>
          <a:noFill/>
          <a:ln/>
        </p:spPr>
        <p:txBody>
          <a:bodyPr wrap="square" lIns="0" tIns="0" rIns="0" bIns="0" rtlCol="0" anchor="t"/>
          <a:lstStyle/>
          <a:p>
            <a:pPr indent="0" marL="0">
              <a:buNone/>
            </a:pPr>
            <a:r>
              <a:rPr lang="en-US" sz="1050" b="1" dirty="0">
                <a:solidFill>
                  <a:srgbClr val="C9DCF2"/>
                </a:solidFill>
              </a:rPr>
              <a:t>ML · LLM · AI</a:t>
            </a:r>
            <a:endParaRPr lang="en-US" sz="1050" dirty="0"/>
          </a:p>
        </p:txBody>
      </p:sp>
      <p:sp>
        <p:nvSpPr>
          <p:cNvPr id="88" name="Shape 70"/>
          <p:cNvSpPr/>
          <p:nvPr/>
        </p:nvSpPr>
        <p:spPr>
          <a:xfrm>
            <a:off x="5806440" y="4343400"/>
            <a:ext cx="1371600" cy="1645920"/>
          </a:xfrm>
          <a:prstGeom prst="roundRect">
            <a:avLst>
              <a:gd name="adj" fmla="val 5333"/>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89" name="Image 15" descr="Security Camera icon">    </p:cNvPr>
          <p:cNvPicPr>
            <a:picLocks noChangeAspect="1"/>
          </p:cNvPicPr>
          <p:nvPr/>
        </p:nvPicPr>
        <p:blipFill>
          <a:blip r:embed="rId17"/>
          <a:stretch>
            <a:fillRect/>
          </a:stretch>
        </p:blipFill>
        <p:spPr>
          <a:xfrm>
            <a:off x="5943600" y="4471416"/>
            <a:ext cx="347472" cy="347472"/>
          </a:xfrm>
          <a:prstGeom prst="rect">
            <a:avLst/>
          </a:prstGeom>
        </p:spPr>
      </p:pic>
      <p:sp>
        <p:nvSpPr>
          <p:cNvPr id="90" name="Text 71"/>
          <p:cNvSpPr txBox="1"/>
          <p:nvPr/>
        </p:nvSpPr>
        <p:spPr>
          <a:xfrm>
            <a:off x="5943600" y="4892040"/>
            <a:ext cx="1143000" cy="384048"/>
          </a:xfrm>
          <a:prstGeom prst="rect">
            <a:avLst/>
          </a:prstGeom>
          <a:noFill/>
          <a:ln/>
        </p:spPr>
        <p:txBody>
          <a:bodyPr wrap="square" lIns="0" tIns="0" rIns="0" bIns="0" rtlCol="0" anchor="t"/>
          <a:lstStyle/>
          <a:p>
            <a:pPr indent="0" marL="0">
              <a:buNone/>
            </a:pPr>
            <a:r>
              <a:rPr lang="en-US" sz="1100" b="1" spc="100" kern="0" dirty="0">
                <a:solidFill>
                  <a:srgbClr val="F3F4F6"/>
                </a:solidFill>
              </a:rPr>
              <a:t>VIDEO</a:t>
            </a:r>
            <a:endParaRPr lang="en-US" sz="1100" dirty="0"/>
          </a:p>
          <a:p>
            <a:pPr indent="0" marL="0">
              <a:buNone/>
            </a:pPr>
            <a:r>
              <a:rPr lang="en-US" sz="1100" b="1" spc="100" kern="0" dirty="0">
                <a:solidFill>
                  <a:srgbClr val="F3F4F6"/>
                </a:solidFill>
              </a:rPr>
              <a:t>ANALYTICS</a:t>
            </a:r>
            <a:endParaRPr lang="en-US" sz="1100" dirty="0"/>
          </a:p>
        </p:txBody>
      </p:sp>
      <p:sp>
        <p:nvSpPr>
          <p:cNvPr id="91" name="Text 72"/>
          <p:cNvSpPr txBox="1"/>
          <p:nvPr/>
        </p:nvSpPr>
        <p:spPr>
          <a:xfrm>
            <a:off x="5943600" y="5312664"/>
            <a:ext cx="1143000" cy="548640"/>
          </a:xfrm>
          <a:prstGeom prst="rect">
            <a:avLst/>
          </a:prstGeom>
          <a:noFill/>
          <a:ln/>
        </p:spPr>
        <p:txBody>
          <a:bodyPr wrap="square" lIns="0" tIns="0" rIns="0" bIns="0" rtlCol="0" anchor="t"/>
          <a:lstStyle/>
          <a:p>
            <a:pPr indent="0" marL="0">
              <a:buNone/>
            </a:pPr>
            <a:r>
              <a:rPr lang="en-US" sz="1000" dirty="0">
                <a:solidFill>
                  <a:srgbClr val="9AA0AA"/>
                </a:solidFill>
              </a:rPr>
              <a:t>Video dispatcher &amp; aggregators</a:t>
            </a:r>
            <a:endParaRPr lang="en-US" sz="1000" dirty="0"/>
          </a:p>
        </p:txBody>
      </p:sp>
      <p:sp>
        <p:nvSpPr>
          <p:cNvPr id="92" name="Text 73"/>
          <p:cNvSpPr txBox="1"/>
          <p:nvPr/>
        </p:nvSpPr>
        <p:spPr>
          <a:xfrm>
            <a:off x="7543800" y="2029968"/>
            <a:ext cx="1965960" cy="420624"/>
          </a:xfrm>
          <a:prstGeom prst="rect">
            <a:avLst/>
          </a:prstGeom>
          <a:noFill/>
          <a:ln/>
        </p:spPr>
        <p:txBody>
          <a:bodyPr wrap="square" lIns="0" tIns="0" rIns="0" bIns="0" rtlCol="0" anchor="t"/>
          <a:lstStyle/>
          <a:p>
            <a:pPr algn="ctr" indent="0" marL="0">
              <a:buNone/>
            </a:pPr>
            <a:r>
              <a:rPr lang="en-US" sz="1100" b="1" spc="200" kern="0" dirty="0">
                <a:solidFill>
                  <a:srgbClr val="F3F4F6"/>
                </a:solidFill>
              </a:rPr>
              <a:t>ORCHESTRATION</a:t>
            </a:r>
            <a:endParaRPr lang="en-US" sz="1100" dirty="0"/>
          </a:p>
          <a:p>
            <a:pPr algn="ctr" indent="0" marL="0">
              <a:buNone/>
            </a:pPr>
            <a:r>
              <a:rPr lang="en-US" sz="1100" b="1" spc="200" kern="0" dirty="0">
                <a:solidFill>
                  <a:srgbClr val="F3F4F6"/>
                </a:solidFill>
              </a:rPr>
              <a:t>LAYER</a:t>
            </a:r>
            <a:endParaRPr lang="en-US" sz="1100" dirty="0"/>
          </a:p>
        </p:txBody>
      </p:sp>
      <p:sp>
        <p:nvSpPr>
          <p:cNvPr id="93" name="Shape 74"/>
          <p:cNvSpPr/>
          <p:nvPr/>
        </p:nvSpPr>
        <p:spPr>
          <a:xfrm>
            <a:off x="7749540" y="2697480"/>
            <a:ext cx="1554480" cy="1554480"/>
          </a:xfrm>
          <a:prstGeom prst="ellipse">
            <a:avLst/>
          </a:prstGeom>
          <a:solidFill>
            <a:srgbClr val="000000">
              <a:alpha val="0"/>
            </a:srgbClr>
          </a:solidFill>
          <a:ln w="9525">
            <a:solidFill>
              <a:srgbClr val="FFFFFF">
                <a:alpha val="50000"/>
              </a:srgbClr>
            </a:solidFill>
            <a:prstDash val="sysDot"/>
          </a:ln>
        </p:spPr>
      </p:sp>
      <p:sp>
        <p:nvSpPr>
          <p:cNvPr id="94" name="Shape 75"/>
          <p:cNvSpPr/>
          <p:nvPr/>
        </p:nvSpPr>
        <p:spPr>
          <a:xfrm>
            <a:off x="7904988" y="2852928"/>
            <a:ext cx="1243584" cy="1243584"/>
          </a:xfrm>
          <a:prstGeom prst="ellipse">
            <a:avLst/>
          </a:prstGeom>
          <a:gradFill rotWithShape="1">
            <a:gsLst>
              <a:gs pos="0">
                <a:srgbClr val="FFFFFF">
                  <a:alpha val="22000"/>
                </a:srgbClr>
              </a:gs>
              <a:gs pos="100000">
                <a:srgbClr val="FFFFFF">
                  <a:alpha val="4000"/>
                </a:srgbClr>
              </a:gs>
            </a:gsLst>
            <a:path path="circle">
              <a:fillToRect l="50000" t="50000" r="50000" b="50000"/>
            </a:path>
          </a:gradFill>
          <a:ln w="19050">
            <a:solidFill>
              <a:srgbClr val="9CC3F0"/>
            </a:solidFill>
            <a:prstDash val="solid"/>
          </a:ln>
          <a:effectLst>
            <a:outerShdw sx="100000" sy="100000" kx="0" ky="0" algn="bl" rotWithShape="0" blurRad="279400" dist="50800" dir="5400000">
              <a:srgbClr val="9CC3F0">
                <a:alpha val="55000"/>
              </a:srgbClr>
            </a:outerShdw>
          </a:effectLst>
        </p:spPr>
      </p:sp>
      <p:pic>
        <p:nvPicPr>
          <p:cNvPr id="95" name="Image 16" descr="Graph icon">    </p:cNvPr>
          <p:cNvPicPr>
            <a:picLocks noChangeAspect="1"/>
          </p:cNvPicPr>
          <p:nvPr/>
        </p:nvPicPr>
        <p:blipFill>
          <a:blip r:embed="rId18"/>
          <a:stretch>
            <a:fillRect/>
          </a:stretch>
        </p:blipFill>
        <p:spPr>
          <a:xfrm>
            <a:off x="8252460" y="3200400"/>
            <a:ext cx="548640" cy="548640"/>
          </a:xfrm>
          <a:prstGeom prst="rect">
            <a:avLst/>
          </a:prstGeom>
        </p:spPr>
      </p:pic>
      <p:sp>
        <p:nvSpPr>
          <p:cNvPr id="96" name="Shape 76"/>
          <p:cNvSpPr/>
          <p:nvPr/>
        </p:nvSpPr>
        <p:spPr>
          <a:xfrm>
            <a:off x="7178040" y="3474720"/>
            <a:ext cx="571500" cy="0"/>
          </a:xfrm>
          <a:prstGeom prst="line">
            <a:avLst/>
          </a:prstGeom>
          <a:noFill/>
          <a:ln w="15875">
            <a:solidFill>
              <a:srgbClr val="9CC3F0"/>
            </a:solidFill>
            <a:prstDash val="solid"/>
            <a:headEnd type="triangle"/>
            <a:tailEnd type="triangle"/>
          </a:ln>
        </p:spPr>
      </p:sp>
      <p:sp>
        <p:nvSpPr>
          <p:cNvPr id="97" name="Shape 77"/>
          <p:cNvSpPr/>
          <p:nvPr/>
        </p:nvSpPr>
        <p:spPr>
          <a:xfrm>
            <a:off x="8526780" y="4251960"/>
            <a:ext cx="0" cy="274320"/>
          </a:xfrm>
          <a:prstGeom prst="line">
            <a:avLst/>
          </a:prstGeom>
          <a:noFill/>
          <a:ln w="9525">
            <a:solidFill>
              <a:srgbClr val="9CC3F0">
                <a:alpha val="60000"/>
              </a:srgbClr>
            </a:solidFill>
            <a:prstDash val="solid"/>
          </a:ln>
        </p:spPr>
      </p:sp>
      <p:sp>
        <p:nvSpPr>
          <p:cNvPr id="98" name="Shape 78"/>
          <p:cNvSpPr/>
          <p:nvPr/>
        </p:nvSpPr>
        <p:spPr>
          <a:xfrm>
            <a:off x="7680960" y="4526280"/>
            <a:ext cx="1600200" cy="329184"/>
          </a:xfrm>
          <a:prstGeom prst="roundRect">
            <a:avLst>
              <a:gd name="adj" fmla="val 5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99" name="Image 17" descr="Code icon">    </p:cNvPr>
          <p:cNvPicPr>
            <a:picLocks noChangeAspect="1"/>
          </p:cNvPicPr>
          <p:nvPr/>
        </p:nvPicPr>
        <p:blipFill>
          <a:blip r:embed="rId19"/>
          <a:stretch>
            <a:fillRect/>
          </a:stretch>
        </p:blipFill>
        <p:spPr>
          <a:xfrm>
            <a:off x="7808976" y="4590288"/>
            <a:ext cx="201168" cy="201168"/>
          </a:xfrm>
          <a:prstGeom prst="rect">
            <a:avLst/>
          </a:prstGeom>
        </p:spPr>
      </p:pic>
      <p:sp>
        <p:nvSpPr>
          <p:cNvPr id="100" name="Text 79"/>
          <p:cNvSpPr txBox="1"/>
          <p:nvPr/>
        </p:nvSpPr>
        <p:spPr>
          <a:xfrm>
            <a:off x="8101584" y="4526280"/>
            <a:ext cx="1234440" cy="329184"/>
          </a:xfrm>
          <a:prstGeom prst="rect">
            <a:avLst/>
          </a:prstGeom>
          <a:noFill/>
          <a:ln/>
        </p:spPr>
        <p:txBody>
          <a:bodyPr wrap="square" lIns="0" tIns="0" rIns="0" bIns="0" rtlCol="0" anchor="ctr"/>
          <a:lstStyle/>
          <a:p>
            <a:pPr indent="0" marL="0">
              <a:buNone/>
            </a:pPr>
            <a:r>
              <a:rPr lang="en-US" sz="1050" dirty="0">
                <a:solidFill>
                  <a:srgbClr val="F3F4F6"/>
                </a:solidFill>
              </a:rPr>
              <a:t>API</a:t>
            </a:r>
            <a:endParaRPr lang="en-US" sz="1050" dirty="0"/>
          </a:p>
        </p:txBody>
      </p:sp>
      <p:sp>
        <p:nvSpPr>
          <p:cNvPr id="101" name="Shape 80"/>
          <p:cNvSpPr/>
          <p:nvPr/>
        </p:nvSpPr>
        <p:spPr>
          <a:xfrm>
            <a:off x="7680960" y="4937760"/>
            <a:ext cx="1600200" cy="329184"/>
          </a:xfrm>
          <a:prstGeom prst="roundRect">
            <a:avLst>
              <a:gd name="adj" fmla="val 5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102" name="Image 18" descr="Package icon">    </p:cNvPr>
          <p:cNvPicPr>
            <a:picLocks noChangeAspect="1"/>
          </p:cNvPicPr>
          <p:nvPr/>
        </p:nvPicPr>
        <p:blipFill>
          <a:blip r:embed="rId20"/>
          <a:stretch>
            <a:fillRect/>
          </a:stretch>
        </p:blipFill>
        <p:spPr>
          <a:xfrm>
            <a:off x="7808976" y="5001768"/>
            <a:ext cx="201168" cy="201168"/>
          </a:xfrm>
          <a:prstGeom prst="rect">
            <a:avLst/>
          </a:prstGeom>
        </p:spPr>
      </p:pic>
      <p:sp>
        <p:nvSpPr>
          <p:cNvPr id="103" name="Text 81"/>
          <p:cNvSpPr txBox="1"/>
          <p:nvPr/>
        </p:nvSpPr>
        <p:spPr>
          <a:xfrm>
            <a:off x="8101584" y="4937760"/>
            <a:ext cx="1234440" cy="329184"/>
          </a:xfrm>
          <a:prstGeom prst="rect">
            <a:avLst/>
          </a:prstGeom>
          <a:noFill/>
          <a:ln/>
        </p:spPr>
        <p:txBody>
          <a:bodyPr wrap="square" lIns="0" tIns="0" rIns="0" bIns="0" rtlCol="0" anchor="ctr"/>
          <a:lstStyle/>
          <a:p>
            <a:pPr indent="0" marL="0">
              <a:buNone/>
            </a:pPr>
            <a:r>
              <a:rPr lang="en-US" sz="1050" dirty="0">
                <a:solidFill>
                  <a:srgbClr val="F3F4F6"/>
                </a:solidFill>
              </a:rPr>
              <a:t>SDK</a:t>
            </a:r>
            <a:endParaRPr lang="en-US" sz="1050" dirty="0"/>
          </a:p>
        </p:txBody>
      </p:sp>
      <p:sp>
        <p:nvSpPr>
          <p:cNvPr id="104" name="Shape 82"/>
          <p:cNvSpPr/>
          <p:nvPr/>
        </p:nvSpPr>
        <p:spPr>
          <a:xfrm>
            <a:off x="7680960" y="5349240"/>
            <a:ext cx="1600200" cy="329184"/>
          </a:xfrm>
          <a:prstGeom prst="roundRect">
            <a:avLst>
              <a:gd name="adj" fmla="val 5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105" name="Image 19" descr="Plugs icon">    </p:cNvPr>
          <p:cNvPicPr>
            <a:picLocks noChangeAspect="1"/>
          </p:cNvPicPr>
          <p:nvPr/>
        </p:nvPicPr>
        <p:blipFill>
          <a:blip r:embed="rId21"/>
          <a:stretch>
            <a:fillRect/>
          </a:stretch>
        </p:blipFill>
        <p:spPr>
          <a:xfrm>
            <a:off x="7808976" y="5413248"/>
            <a:ext cx="201168" cy="201168"/>
          </a:xfrm>
          <a:prstGeom prst="rect">
            <a:avLst/>
          </a:prstGeom>
        </p:spPr>
      </p:pic>
      <p:sp>
        <p:nvSpPr>
          <p:cNvPr id="106" name="Text 83"/>
          <p:cNvSpPr txBox="1"/>
          <p:nvPr/>
        </p:nvSpPr>
        <p:spPr>
          <a:xfrm>
            <a:off x="8101584" y="5349240"/>
            <a:ext cx="1234440" cy="329184"/>
          </a:xfrm>
          <a:prstGeom prst="rect">
            <a:avLst/>
          </a:prstGeom>
          <a:noFill/>
          <a:ln/>
        </p:spPr>
        <p:txBody>
          <a:bodyPr wrap="square" lIns="0" tIns="0" rIns="0" bIns="0" rtlCol="0" anchor="ctr"/>
          <a:lstStyle/>
          <a:p>
            <a:pPr indent="0" marL="0">
              <a:buNone/>
            </a:pPr>
            <a:r>
              <a:rPr lang="en-US" sz="1050" dirty="0">
                <a:solidFill>
                  <a:srgbClr val="F3F4F6"/>
                </a:solidFill>
              </a:rPr>
              <a:t>DIO</a:t>
            </a:r>
            <a:endParaRPr lang="en-US" sz="1050" dirty="0"/>
          </a:p>
        </p:txBody>
      </p:sp>
      <p:sp>
        <p:nvSpPr>
          <p:cNvPr id="107" name="Shape 84"/>
          <p:cNvSpPr/>
          <p:nvPr/>
        </p:nvSpPr>
        <p:spPr>
          <a:xfrm>
            <a:off x="7680960" y="5760720"/>
            <a:ext cx="1600200" cy="329184"/>
          </a:xfrm>
          <a:prstGeom prst="roundRect">
            <a:avLst>
              <a:gd name="adj" fmla="val 50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108" name="Image 20" descr="Seal Check icon">    </p:cNvPr>
          <p:cNvPicPr>
            <a:picLocks noChangeAspect="1"/>
          </p:cNvPicPr>
          <p:nvPr/>
        </p:nvPicPr>
        <p:blipFill>
          <a:blip r:embed="rId22"/>
          <a:stretch>
            <a:fillRect/>
          </a:stretch>
        </p:blipFill>
        <p:spPr>
          <a:xfrm>
            <a:off x="7808976" y="5824728"/>
            <a:ext cx="201168" cy="201168"/>
          </a:xfrm>
          <a:prstGeom prst="rect">
            <a:avLst/>
          </a:prstGeom>
        </p:spPr>
      </p:pic>
      <p:sp>
        <p:nvSpPr>
          <p:cNvPr id="109" name="Text 85"/>
          <p:cNvSpPr txBox="1"/>
          <p:nvPr/>
        </p:nvSpPr>
        <p:spPr>
          <a:xfrm>
            <a:off x="8101584" y="5760720"/>
            <a:ext cx="1234440" cy="329184"/>
          </a:xfrm>
          <a:prstGeom prst="rect">
            <a:avLst/>
          </a:prstGeom>
          <a:noFill/>
          <a:ln/>
        </p:spPr>
        <p:txBody>
          <a:bodyPr wrap="square" lIns="0" tIns="0" rIns="0" bIns="0" rtlCol="0" anchor="ctr"/>
          <a:lstStyle/>
          <a:p>
            <a:pPr indent="0" marL="0">
              <a:buNone/>
            </a:pPr>
            <a:r>
              <a:rPr lang="en-US" sz="1050" dirty="0">
                <a:solidFill>
                  <a:srgbClr val="F3F4F6"/>
                </a:solidFill>
              </a:rPr>
              <a:t>Industry Standards</a:t>
            </a:r>
            <a:endParaRPr lang="en-US" sz="1050" dirty="0"/>
          </a:p>
        </p:txBody>
      </p:sp>
      <p:sp>
        <p:nvSpPr>
          <p:cNvPr id="110" name="Shape 86"/>
          <p:cNvSpPr/>
          <p:nvPr/>
        </p:nvSpPr>
        <p:spPr>
          <a:xfrm>
            <a:off x="9601200" y="2011680"/>
            <a:ext cx="2084832" cy="1874520"/>
          </a:xfrm>
          <a:prstGeom prst="roundRect">
            <a:avLst>
              <a:gd name="adj" fmla="val 4878"/>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111" name="Image 21" descr="Robot icon">    </p:cNvPr>
          <p:cNvPicPr>
            <a:picLocks noChangeAspect="1"/>
          </p:cNvPicPr>
          <p:nvPr/>
        </p:nvPicPr>
        <p:blipFill>
          <a:blip r:embed="rId23"/>
          <a:stretch>
            <a:fillRect/>
          </a:stretch>
        </p:blipFill>
        <p:spPr>
          <a:xfrm>
            <a:off x="9738360" y="2148840"/>
            <a:ext cx="347472" cy="347472"/>
          </a:xfrm>
          <a:prstGeom prst="rect">
            <a:avLst/>
          </a:prstGeom>
        </p:spPr>
      </p:pic>
      <p:sp>
        <p:nvSpPr>
          <p:cNvPr id="112" name="Text 87"/>
          <p:cNvSpPr txBox="1"/>
          <p:nvPr/>
        </p:nvSpPr>
        <p:spPr>
          <a:xfrm>
            <a:off x="10168128" y="2130552"/>
            <a:ext cx="1444752" cy="402336"/>
          </a:xfrm>
          <a:prstGeom prst="rect">
            <a:avLst/>
          </a:prstGeom>
          <a:noFill/>
          <a:ln/>
        </p:spPr>
        <p:txBody>
          <a:bodyPr wrap="square" lIns="0" tIns="0" rIns="0" bIns="0" rtlCol="0" anchor="t"/>
          <a:lstStyle/>
          <a:p>
            <a:pPr indent="0" marL="0">
              <a:buNone/>
            </a:pPr>
            <a:r>
              <a:rPr lang="en-US" sz="1150" b="1" spc="100" kern="0" dirty="0">
                <a:solidFill>
                  <a:srgbClr val="F3F4F6"/>
                </a:solidFill>
              </a:rPr>
              <a:t>ROBOTICS &amp;</a:t>
            </a:r>
            <a:endParaRPr lang="en-US" sz="1150" dirty="0"/>
          </a:p>
          <a:p>
            <a:pPr indent="0" marL="0">
              <a:buNone/>
            </a:pPr>
            <a:r>
              <a:rPr lang="en-US" sz="1150" b="1" spc="100" kern="0" dirty="0">
                <a:solidFill>
                  <a:srgbClr val="F3F4F6"/>
                </a:solidFill>
              </a:rPr>
              <a:t>AUTOMATION</a:t>
            </a:r>
            <a:endParaRPr lang="en-US" sz="1150" dirty="0"/>
          </a:p>
        </p:txBody>
      </p:sp>
      <p:sp>
        <p:nvSpPr>
          <p:cNvPr id="113" name="Shape 88"/>
          <p:cNvSpPr/>
          <p:nvPr/>
        </p:nvSpPr>
        <p:spPr>
          <a:xfrm>
            <a:off x="9738360" y="2724912"/>
            <a:ext cx="1810512" cy="457200"/>
          </a:xfrm>
          <a:prstGeom prst="roundRect">
            <a:avLst>
              <a:gd name="adj" fmla="val 12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114" name="Image 22" descr="Wheelchair Motion icon">    </p:cNvPr>
          <p:cNvPicPr>
            <a:picLocks noChangeAspect="1"/>
          </p:cNvPicPr>
          <p:nvPr/>
        </p:nvPicPr>
        <p:blipFill>
          <a:blip r:embed="rId24"/>
          <a:stretch>
            <a:fillRect/>
          </a:stretch>
        </p:blipFill>
        <p:spPr>
          <a:xfrm>
            <a:off x="9829800" y="2825496"/>
            <a:ext cx="256032" cy="256032"/>
          </a:xfrm>
          <a:prstGeom prst="rect">
            <a:avLst/>
          </a:prstGeom>
        </p:spPr>
      </p:pic>
      <p:sp>
        <p:nvSpPr>
          <p:cNvPr id="115" name="Text 89"/>
          <p:cNvSpPr txBox="1"/>
          <p:nvPr/>
        </p:nvSpPr>
        <p:spPr>
          <a:xfrm>
            <a:off x="10168128" y="2724912"/>
            <a:ext cx="1335024" cy="457200"/>
          </a:xfrm>
          <a:prstGeom prst="rect">
            <a:avLst/>
          </a:prstGeom>
          <a:noFill/>
          <a:ln/>
        </p:spPr>
        <p:txBody>
          <a:bodyPr wrap="square" lIns="0" tIns="0" rIns="0" bIns="0" rtlCol="0" anchor="ctr"/>
          <a:lstStyle/>
          <a:p>
            <a:pPr indent="0" marL="0">
              <a:buNone/>
            </a:pPr>
            <a:r>
              <a:rPr lang="en-US" sz="1050" dirty="0">
                <a:solidFill>
                  <a:srgbClr val="F3F4F6"/>
                </a:solidFill>
              </a:rPr>
              <a:t>Automated Wheelchair</a:t>
            </a:r>
            <a:endParaRPr lang="en-US" sz="1050" dirty="0"/>
          </a:p>
        </p:txBody>
      </p:sp>
      <p:sp>
        <p:nvSpPr>
          <p:cNvPr id="116" name="Shape 90"/>
          <p:cNvSpPr/>
          <p:nvPr/>
        </p:nvSpPr>
        <p:spPr>
          <a:xfrm>
            <a:off x="9738360" y="3273552"/>
            <a:ext cx="1810512" cy="457200"/>
          </a:xfrm>
          <a:prstGeom prst="roundRect">
            <a:avLst>
              <a:gd name="adj" fmla="val 12000"/>
            </a:avLst>
          </a:prstGeom>
          <a:gradFill rotWithShape="1">
            <a:gsLst>
              <a:gs pos="0">
                <a:srgbClr val="FFFFFF">
                  <a:alpha val="7000"/>
                </a:srgbClr>
              </a:gs>
              <a:gs pos="100000">
                <a:srgbClr val="FFFFFF">
                  <a:alpha val="2000"/>
                </a:srgbClr>
              </a:gs>
            </a:gsLst>
            <a:lin ang="2700000" scaled="0"/>
          </a:gradFill>
          <a:ln w="9525">
            <a:solidFill>
              <a:srgbClr val="FFFFFF">
                <a:alpha val="14000"/>
              </a:srgbClr>
            </a:solidFill>
            <a:prstDash val="solid"/>
          </a:ln>
        </p:spPr>
      </p:sp>
      <p:pic>
        <p:nvPicPr>
          <p:cNvPr id="117" name="Image 23" descr="Shield Checkered icon">    </p:cNvPr>
          <p:cNvPicPr>
            <a:picLocks noChangeAspect="1"/>
          </p:cNvPicPr>
          <p:nvPr/>
        </p:nvPicPr>
        <p:blipFill>
          <a:blip r:embed="rId25"/>
          <a:stretch>
            <a:fillRect/>
          </a:stretch>
        </p:blipFill>
        <p:spPr>
          <a:xfrm>
            <a:off x="9829800" y="3374136"/>
            <a:ext cx="256032" cy="256032"/>
          </a:xfrm>
          <a:prstGeom prst="rect">
            <a:avLst/>
          </a:prstGeom>
        </p:spPr>
      </p:pic>
      <p:sp>
        <p:nvSpPr>
          <p:cNvPr id="118" name="Text 91"/>
          <p:cNvSpPr txBox="1"/>
          <p:nvPr/>
        </p:nvSpPr>
        <p:spPr>
          <a:xfrm>
            <a:off x="10168128" y="3273552"/>
            <a:ext cx="1335024" cy="457200"/>
          </a:xfrm>
          <a:prstGeom prst="rect">
            <a:avLst/>
          </a:prstGeom>
          <a:noFill/>
          <a:ln/>
        </p:spPr>
        <p:txBody>
          <a:bodyPr wrap="square" lIns="0" tIns="0" rIns="0" bIns="0" rtlCol="0" anchor="ctr"/>
          <a:lstStyle/>
          <a:p>
            <a:pPr indent="0" marL="0">
              <a:buNone/>
            </a:pPr>
            <a:r>
              <a:rPr lang="en-US" sz="1050" dirty="0">
                <a:solidFill>
                  <a:srgbClr val="F3F4F6"/>
                </a:solidFill>
              </a:rPr>
              <a:t>Patrol Robots</a:t>
            </a:r>
            <a:endParaRPr lang="en-US" sz="1050" dirty="0"/>
          </a:p>
        </p:txBody>
      </p:sp>
      <p:sp>
        <p:nvSpPr>
          <p:cNvPr id="119" name="Shape 92"/>
          <p:cNvSpPr/>
          <p:nvPr/>
        </p:nvSpPr>
        <p:spPr>
          <a:xfrm>
            <a:off x="9601200" y="4023360"/>
            <a:ext cx="2084832" cy="1005840"/>
          </a:xfrm>
          <a:prstGeom prst="roundRect">
            <a:avLst>
              <a:gd name="adj" fmla="val 9091"/>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120" name="Image 24" descr="Wrench icon">    </p:cNvPr>
          <p:cNvPicPr>
            <a:picLocks noChangeAspect="1"/>
          </p:cNvPicPr>
          <p:nvPr/>
        </p:nvPicPr>
        <p:blipFill>
          <a:blip r:embed="rId26"/>
          <a:stretch>
            <a:fillRect/>
          </a:stretch>
        </p:blipFill>
        <p:spPr>
          <a:xfrm>
            <a:off x="9738360" y="4352544"/>
            <a:ext cx="347472" cy="347472"/>
          </a:xfrm>
          <a:prstGeom prst="rect">
            <a:avLst/>
          </a:prstGeom>
        </p:spPr>
      </p:pic>
      <p:sp>
        <p:nvSpPr>
          <p:cNvPr id="121" name="Text 93"/>
          <p:cNvSpPr txBox="1"/>
          <p:nvPr/>
        </p:nvSpPr>
        <p:spPr>
          <a:xfrm>
            <a:off x="10168128" y="4023360"/>
            <a:ext cx="1444752" cy="1005840"/>
          </a:xfrm>
          <a:prstGeom prst="rect">
            <a:avLst/>
          </a:prstGeom>
          <a:noFill/>
          <a:ln/>
        </p:spPr>
        <p:txBody>
          <a:bodyPr wrap="square" lIns="0" tIns="0" rIns="0" bIns="0" rtlCol="0" anchor="ctr"/>
          <a:lstStyle/>
          <a:p>
            <a:pPr indent="0" marL="0">
              <a:buNone/>
            </a:pPr>
            <a:r>
              <a:rPr lang="en-US" sz="1150" b="1" spc="100" kern="0" dirty="0">
                <a:solidFill>
                  <a:srgbClr val="F3F4F6"/>
                </a:solidFill>
              </a:rPr>
              <a:t>PREDICTIVE</a:t>
            </a:r>
            <a:endParaRPr lang="en-US" sz="1150" dirty="0"/>
          </a:p>
          <a:p>
            <a:pPr indent="0" marL="0">
              <a:buNone/>
            </a:pPr>
            <a:r>
              <a:rPr lang="en-US" sz="1150" b="1" spc="100" kern="0" dirty="0">
                <a:solidFill>
                  <a:srgbClr val="F3F4F6"/>
                </a:solidFill>
              </a:rPr>
              <a:t>MAINTENANCE</a:t>
            </a:r>
            <a:endParaRPr lang="en-US" sz="1150" dirty="0"/>
          </a:p>
        </p:txBody>
      </p:sp>
      <p:sp>
        <p:nvSpPr>
          <p:cNvPr id="122" name="Shape 94"/>
          <p:cNvSpPr/>
          <p:nvPr/>
        </p:nvSpPr>
        <p:spPr>
          <a:xfrm>
            <a:off x="9601200" y="5166360"/>
            <a:ext cx="2084832" cy="1005840"/>
          </a:xfrm>
          <a:prstGeom prst="roundRect">
            <a:avLst>
              <a:gd name="adj" fmla="val 9091"/>
            </a:avLst>
          </a:prstGeom>
          <a:gradFill rotWithShape="1">
            <a:gsLst>
              <a:gs pos="0">
                <a:srgbClr val="FFFFFF">
                  <a:alpha val="11000"/>
                </a:srgbClr>
              </a:gs>
              <a:gs pos="100000">
                <a:srgbClr val="FFFFFF">
                  <a:alpha val="3000"/>
                </a:srgbClr>
              </a:gs>
            </a:gsLst>
            <a:lin ang="2700000" scaled="0"/>
          </a:gradFill>
          <a:ln w="12700">
            <a:gradFill rotWithShape="1">
              <a:gsLst>
                <a:gs pos="0">
                  <a:srgbClr val="FFFFFF">
                    <a:alpha val="60000"/>
                  </a:srgbClr>
                </a:gs>
                <a:gs pos="50000">
                  <a:srgbClr val="FFFFFF">
                    <a:alpha val="14000"/>
                  </a:srgbClr>
                </a:gs>
                <a:gs pos="100000">
                  <a:srgbClr val="9CC3F0">
                    <a:alpha val="30000"/>
                  </a:srgbClr>
                </a:gs>
              </a:gsLst>
              <a:lin ang="2700000" scaled="0"/>
            </a:gradFill>
            <a:prstDash val="solid"/>
          </a:ln>
          <a:effectLst>
            <a:outerShdw sx="100000" sy="100000" kx="0" ky="0" algn="bl" rotWithShape="0" blurRad="381000" dist="101600" dir="5400000">
              <a:srgbClr val="000000">
                <a:alpha val="60000"/>
              </a:srgbClr>
            </a:outerShdw>
          </a:effectLst>
        </p:spPr>
      </p:sp>
      <p:pic>
        <p:nvPicPr>
          <p:cNvPr id="123" name="Image 25" descr="Eye icon">    </p:cNvPr>
          <p:cNvPicPr>
            <a:picLocks noChangeAspect="1"/>
          </p:cNvPicPr>
          <p:nvPr/>
        </p:nvPicPr>
        <p:blipFill>
          <a:blip r:embed="rId27"/>
          <a:stretch>
            <a:fillRect/>
          </a:stretch>
        </p:blipFill>
        <p:spPr>
          <a:xfrm>
            <a:off x="9738360" y="5495544"/>
            <a:ext cx="347472" cy="347472"/>
          </a:xfrm>
          <a:prstGeom prst="rect">
            <a:avLst/>
          </a:prstGeom>
        </p:spPr>
      </p:pic>
      <p:sp>
        <p:nvSpPr>
          <p:cNvPr id="124" name="Text 95"/>
          <p:cNvSpPr txBox="1"/>
          <p:nvPr/>
        </p:nvSpPr>
        <p:spPr>
          <a:xfrm>
            <a:off x="10168128" y="5166360"/>
            <a:ext cx="1444752" cy="1005840"/>
          </a:xfrm>
          <a:prstGeom prst="rect">
            <a:avLst/>
          </a:prstGeom>
          <a:noFill/>
          <a:ln/>
        </p:spPr>
        <p:txBody>
          <a:bodyPr wrap="square" lIns="0" tIns="0" rIns="0" bIns="0" rtlCol="0" anchor="ctr"/>
          <a:lstStyle/>
          <a:p>
            <a:pPr indent="0" marL="0">
              <a:buNone/>
            </a:pPr>
            <a:r>
              <a:rPr lang="en-US" sz="1150" b="1" spc="100" kern="0" dirty="0">
                <a:solidFill>
                  <a:srgbClr val="F3F4F6"/>
                </a:solidFill>
              </a:rPr>
              <a:t>VISION WATCH</a:t>
            </a:r>
            <a:endParaRPr lang="en-US" sz="1150" dirty="0"/>
          </a:p>
        </p:txBody>
      </p:sp>
      <p:sp>
        <p:nvSpPr>
          <p:cNvPr id="125" name="Shape 96"/>
          <p:cNvSpPr/>
          <p:nvPr/>
        </p:nvSpPr>
        <p:spPr>
          <a:xfrm>
            <a:off x="9304020" y="3474720"/>
            <a:ext cx="114300" cy="0"/>
          </a:xfrm>
          <a:prstGeom prst="line">
            <a:avLst/>
          </a:prstGeom>
          <a:noFill/>
          <a:ln w="12700">
            <a:solidFill>
              <a:srgbClr val="9CC3F0">
                <a:alpha val="75000"/>
              </a:srgbClr>
            </a:solidFill>
            <a:prstDash val="solid"/>
          </a:ln>
        </p:spPr>
      </p:sp>
      <p:sp>
        <p:nvSpPr>
          <p:cNvPr id="126" name="Shape 97"/>
          <p:cNvSpPr/>
          <p:nvPr/>
        </p:nvSpPr>
        <p:spPr>
          <a:xfrm>
            <a:off x="9418320" y="2948940"/>
            <a:ext cx="0" cy="2720340"/>
          </a:xfrm>
          <a:prstGeom prst="line">
            <a:avLst/>
          </a:prstGeom>
          <a:noFill/>
          <a:ln w="12700">
            <a:solidFill>
              <a:srgbClr val="9CC3F0">
                <a:alpha val="75000"/>
              </a:srgbClr>
            </a:solidFill>
            <a:prstDash val="solid"/>
          </a:ln>
        </p:spPr>
      </p:sp>
      <p:sp>
        <p:nvSpPr>
          <p:cNvPr id="127" name="Shape 98"/>
          <p:cNvSpPr/>
          <p:nvPr/>
        </p:nvSpPr>
        <p:spPr>
          <a:xfrm>
            <a:off x="9418320" y="2948940"/>
            <a:ext cx="182880" cy="0"/>
          </a:xfrm>
          <a:prstGeom prst="line">
            <a:avLst/>
          </a:prstGeom>
          <a:noFill/>
          <a:ln w="12700">
            <a:solidFill>
              <a:srgbClr val="9CC3F0">
                <a:alpha val="75000"/>
              </a:srgbClr>
            </a:solidFill>
            <a:prstDash val="solid"/>
            <a:tailEnd type="triangle"/>
          </a:ln>
        </p:spPr>
      </p:sp>
      <p:sp>
        <p:nvSpPr>
          <p:cNvPr id="128" name="Shape 99"/>
          <p:cNvSpPr/>
          <p:nvPr/>
        </p:nvSpPr>
        <p:spPr>
          <a:xfrm>
            <a:off x="9418320" y="4526280"/>
            <a:ext cx="182880" cy="0"/>
          </a:xfrm>
          <a:prstGeom prst="line">
            <a:avLst/>
          </a:prstGeom>
          <a:noFill/>
          <a:ln w="12700">
            <a:solidFill>
              <a:srgbClr val="9CC3F0">
                <a:alpha val="75000"/>
              </a:srgbClr>
            </a:solidFill>
            <a:prstDash val="solid"/>
            <a:tailEnd type="triangle"/>
          </a:ln>
        </p:spPr>
      </p:sp>
      <p:sp>
        <p:nvSpPr>
          <p:cNvPr id="129" name="Shape 100"/>
          <p:cNvSpPr/>
          <p:nvPr/>
        </p:nvSpPr>
        <p:spPr>
          <a:xfrm>
            <a:off x="9418320" y="5669280"/>
            <a:ext cx="182880" cy="0"/>
          </a:xfrm>
          <a:prstGeom prst="line">
            <a:avLst/>
          </a:prstGeom>
          <a:noFill/>
          <a:ln w="12700">
            <a:solidFill>
              <a:srgbClr val="9CC3F0">
                <a:alpha val="75000"/>
              </a:srgbClr>
            </a:solidFill>
            <a:prstDash val="solid"/>
            <a:tailEnd type="triangle"/>
          </a:ln>
        </p:spPr>
      </p:sp>
      <p:sp>
        <p:nvSpPr>
          <p:cNvPr id="130" name="Text 101"/>
          <p:cNvSpPr txBox="1"/>
          <p:nvPr/>
        </p:nvSpPr>
        <p:spPr>
          <a:xfrm>
            <a:off x="502920" y="6309360"/>
            <a:ext cx="6400800" cy="201168"/>
          </a:xfrm>
          <a:prstGeom prst="rect">
            <a:avLst/>
          </a:prstGeom>
          <a:noFill/>
          <a:ln/>
        </p:spPr>
        <p:txBody>
          <a:bodyPr wrap="square" lIns="0" tIns="0" rIns="0" bIns="0" rtlCol="0" anchor="t"/>
          <a:lstStyle/>
          <a:p>
            <a:pPr indent="0" marL="0">
              <a:buNone/>
            </a:pPr>
            <a:r>
              <a:rPr lang="en-US" sz="1000" spc="200" kern="0" dirty="0">
                <a:solidFill>
                  <a:srgbClr val="6B717C"/>
                </a:solidFill>
              </a:rPr>
              <a:t>OPEN STANDARDS  ·  INTEGRATED  ·  CYBER-SECURE  ·  FUTURE-READY</a:t>
            </a:r>
            <a:endParaRPr lang="en-US" sz="1000" dirty="0"/>
          </a:p>
        </p:txBody>
      </p:sp>
      <p:sp>
        <p:nvSpPr>
          <p:cNvPr id="131" name="Text 102"/>
          <p:cNvSpPr txBox="1"/>
          <p:nvPr/>
        </p:nvSpPr>
        <p:spPr>
          <a:xfrm>
            <a:off x="7498080" y="6309360"/>
            <a:ext cx="4187952" cy="201168"/>
          </a:xfrm>
          <a:prstGeom prst="rect">
            <a:avLst/>
          </a:prstGeom>
          <a:noFill/>
          <a:ln/>
        </p:spPr>
        <p:txBody>
          <a:bodyPr wrap="square" lIns="0" tIns="0" rIns="0" bIns="0" rtlCol="0" anchor="t"/>
          <a:lstStyle/>
          <a:p>
            <a:pPr algn="r" indent="0" marL="0">
              <a:buNone/>
            </a:pPr>
            <a:r>
              <a:rPr lang="en-US" sz="1000" spc="200" kern="0" dirty="0">
                <a:solidFill>
                  <a:srgbClr val="6B717C"/>
                </a:solidFill>
              </a:rPr>
              <a:t>INTEGRATED SECURITY MANAGEMENT SYSTEM</a:t>
            </a:r>
            <a:endParaRPr lang="en-US" sz="1000" dirty="0"/>
          </a:p>
        </p:txBody>
      </p:sp>
    </p:spTree>
  </p:cSld>
  <p:clrMapOvr>
    <a:masterClrMapping/>
  </p:clrMapOvr>
</p:sld>
</file>

<file path=ppt/theme/theme1.xml><?xml version="1.0" encoding="utf-8"?>
<a:theme xmlns:a="http://schemas.openxmlformats.org/drawingml/2006/main" name="T5 ISMS Command Stack">
  <a:themeElements>
    <a:clrScheme name="T5 ISMS Command Stack">
      <a:dk1>
        <a:srgbClr val="02050C"/>
      </a:dk1>
      <a:lt1>
        <a:srgbClr val="FFFFFF"/>
      </a:lt1>
      <a:dk2>
        <a:srgbClr val="081426"/>
      </a:dk2>
      <a:lt2>
        <a:srgbClr val="8FA3BF"/>
      </a:lt2>
      <a:accent1>
        <a:srgbClr val="00E5FF"/>
      </a:accent1>
      <a:accent2>
        <a:srgbClr val="8B5CF6"/>
      </a:accent2>
      <a:accent3>
        <a:srgbClr val="FF3DCB"/>
      </a:accent3>
      <a:accent4>
        <a:srgbClr val="1D6BFF"/>
      </a:accent4>
      <a:accent5>
        <a:srgbClr val="B9A2FF"/>
      </a:accent5>
      <a:accent6>
        <a:srgbClr val="5E7896"/>
      </a:accent6>
      <a:hlink>
        <a:srgbClr val="00E5FF"/>
      </a:hlink>
      <a:folHlink>
        <a:srgbClr val="8B5CF6"/>
      </a:folHlink>
    </a:clrScheme>
    <a:fontScheme name="T5 ISMS Command Sta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T5 ISMS Sitewide — Product Architecture (round 2: 3 versions)</dc:title>
  <dc:subject>T5 ISMS Sitewide product architecture</dc:subject>
  <dc:creator>PptxGenJS</dc:creator>
  <cp:lastModifiedBy>PptxGenJS</cp:lastModifiedBy>
  <cp:revision>1</cp:revision>
  <dcterms:created xsi:type="dcterms:W3CDTF">2026-10-14T15:53:08Z</dcterms:created>
  <dcterms:modified xsi:type="dcterms:W3CDTF">2026-10-14T15:53:08Z</dcterms:modified>
</cp:coreProperties>
</file>