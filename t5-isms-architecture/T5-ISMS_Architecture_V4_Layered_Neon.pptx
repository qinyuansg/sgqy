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slideLayout" Target="../slideLayouts/slideLayout1.xml"/><Relationship Id="rId2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274320" y="274320"/>
            <a:ext cx="219456" cy="0"/>
          </a:xfrm>
          <a:prstGeom prst="line">
            <a:avLst/>
          </a:prstGeom>
          <a:noFill/>
          <a:ln w="12700">
            <a:solidFill>
              <a:srgbClr val="00E5FF">
                <a:alpha val="65000"/>
              </a:srgbClr>
            </a:solidFill>
            <a:prstDash val="solid"/>
          </a:ln>
        </p:spPr>
      </p:sp>
      <p:sp>
        <p:nvSpPr>
          <p:cNvPr id="4" name="Shape 1"/>
          <p:cNvSpPr/>
          <p:nvPr/>
        </p:nvSpPr>
        <p:spPr>
          <a:xfrm>
            <a:off x="274320" y="274320"/>
            <a:ext cx="0" cy="219456"/>
          </a:xfrm>
          <a:prstGeom prst="line">
            <a:avLst/>
          </a:prstGeom>
          <a:noFill/>
          <a:ln w="12700">
            <a:solidFill>
              <a:srgbClr val="00E5FF">
                <a:alpha val="65000"/>
              </a:srgbClr>
            </a:solidFill>
            <a:prstDash val="solid"/>
          </a:ln>
        </p:spPr>
      </p:sp>
      <p:sp>
        <p:nvSpPr>
          <p:cNvPr id="5" name="Shape 2"/>
          <p:cNvSpPr/>
          <p:nvPr/>
        </p:nvSpPr>
        <p:spPr>
          <a:xfrm flipH="1">
            <a:off x="11697919" y="274320"/>
            <a:ext cx="219456" cy="0"/>
          </a:xfrm>
          <a:prstGeom prst="line">
            <a:avLst/>
          </a:prstGeom>
          <a:noFill/>
          <a:ln w="12700">
            <a:solidFill>
              <a:srgbClr val="00E5FF">
                <a:alpha val="65000"/>
              </a:srgbClr>
            </a:solidFill>
            <a:prstDash val="solid"/>
          </a:ln>
        </p:spPr>
      </p:sp>
      <p:sp>
        <p:nvSpPr>
          <p:cNvPr id="6" name="Shape 3"/>
          <p:cNvSpPr/>
          <p:nvPr/>
        </p:nvSpPr>
        <p:spPr>
          <a:xfrm>
            <a:off x="11917375" y="274320"/>
            <a:ext cx="0" cy="219456"/>
          </a:xfrm>
          <a:prstGeom prst="line">
            <a:avLst/>
          </a:prstGeom>
          <a:noFill/>
          <a:ln w="12700">
            <a:solidFill>
              <a:srgbClr val="00E5FF">
                <a:alpha val="65000"/>
              </a:srgbClr>
            </a:solidFill>
            <a:prstDash val="solid"/>
          </a:ln>
        </p:spPr>
      </p:sp>
      <p:sp>
        <p:nvSpPr>
          <p:cNvPr id="7" name="Shape 4"/>
          <p:cNvSpPr/>
          <p:nvPr/>
        </p:nvSpPr>
        <p:spPr>
          <a:xfrm>
            <a:off x="274320" y="6583680"/>
            <a:ext cx="219456" cy="0"/>
          </a:xfrm>
          <a:prstGeom prst="line">
            <a:avLst/>
          </a:prstGeom>
          <a:noFill/>
          <a:ln w="12700">
            <a:solidFill>
              <a:srgbClr val="00E5FF">
                <a:alpha val="65000"/>
              </a:srgbClr>
            </a:solidFill>
            <a:prstDash val="solid"/>
          </a:ln>
        </p:spPr>
      </p:sp>
      <p:sp>
        <p:nvSpPr>
          <p:cNvPr id="8" name="Shape 5"/>
          <p:cNvSpPr/>
          <p:nvPr/>
        </p:nvSpPr>
        <p:spPr>
          <a:xfrm flipV="1">
            <a:off x="274320" y="6364224"/>
            <a:ext cx="0" cy="219456"/>
          </a:xfrm>
          <a:prstGeom prst="line">
            <a:avLst/>
          </a:prstGeom>
          <a:noFill/>
          <a:ln w="12700">
            <a:solidFill>
              <a:srgbClr val="00E5FF">
                <a:alpha val="65000"/>
              </a:srgbClr>
            </a:solidFill>
            <a:prstDash val="solid"/>
          </a:ln>
        </p:spPr>
      </p:sp>
      <p:sp>
        <p:nvSpPr>
          <p:cNvPr id="9" name="Shape 6"/>
          <p:cNvSpPr/>
          <p:nvPr/>
        </p:nvSpPr>
        <p:spPr>
          <a:xfrm flipH="1">
            <a:off x="11697919" y="6583680"/>
            <a:ext cx="219456" cy="0"/>
          </a:xfrm>
          <a:prstGeom prst="line">
            <a:avLst/>
          </a:prstGeom>
          <a:noFill/>
          <a:ln w="12700">
            <a:solidFill>
              <a:srgbClr val="00E5FF">
                <a:alpha val="65000"/>
              </a:srgbClr>
            </a:solidFill>
            <a:prstDash val="solid"/>
          </a:ln>
        </p:spPr>
      </p:sp>
      <p:sp>
        <p:nvSpPr>
          <p:cNvPr id="10" name="Shape 7"/>
          <p:cNvSpPr/>
          <p:nvPr/>
        </p:nvSpPr>
        <p:spPr>
          <a:xfrm flipV="1">
            <a:off x="11917375" y="6364224"/>
            <a:ext cx="0" cy="219456"/>
          </a:xfrm>
          <a:prstGeom prst="line">
            <a:avLst/>
          </a:prstGeom>
          <a:noFill/>
          <a:ln w="12700">
            <a:solidFill>
              <a:srgbClr val="00E5FF">
                <a:alpha val="65000"/>
              </a:srgbClr>
            </a:solidFill>
            <a:prstDash val="solid"/>
          </a:ln>
        </p:spPr>
      </p:sp>
      <p:sp>
        <p:nvSpPr>
          <p:cNvPr id="11" name="Text 8"/>
          <p:cNvSpPr txBox="1"/>
          <p:nvPr/>
        </p:nvSpPr>
        <p:spPr>
          <a:xfrm>
            <a:off x="502920" y="384048"/>
            <a:ext cx="7315200" cy="219456"/>
          </a:xfrm>
          <a:prstGeom prst="rect">
            <a:avLst/>
          </a:prstGeom>
          <a:noFill/>
          <a:ln/>
        </p:spPr>
        <p:txBody>
          <a:bodyPr wrap="square" lIns="0" tIns="0" rIns="0" bIns="0" rtlCol="0" anchor="t"/>
          <a:lstStyle/>
          <a:p>
            <a:pPr indent="0" marL="0">
              <a:buNone/>
            </a:pPr>
            <a:r>
              <a:rPr lang="en-US" sz="1000" b="1" spc="400" kern="0" dirty="0">
                <a:solidFill>
                  <a:srgbClr val="00E5FF"/>
                </a:solidFill>
              </a:rPr>
              <a:t>T5 ISMS SITEWIDE  //  PRODUCT ARCHITECTURE</a:t>
            </a:r>
            <a:endParaRPr lang="en-US" sz="1000" dirty="0"/>
          </a:p>
        </p:txBody>
      </p:sp>
      <p:sp>
        <p:nvSpPr>
          <p:cNvPr id="12" name="Text 9"/>
          <p:cNvSpPr txBox="1"/>
          <p:nvPr/>
        </p:nvSpPr>
        <p:spPr>
          <a:xfrm>
            <a:off x="502920" y="658368"/>
            <a:ext cx="7863840" cy="868680"/>
          </a:xfrm>
          <a:prstGeom prst="rect">
            <a:avLst/>
          </a:prstGeom>
          <a:noFill/>
          <a:ln/>
        </p:spPr>
        <p:txBody>
          <a:bodyPr wrap="square" lIns="0" tIns="0" rIns="0" bIns="0" rtlCol="0" anchor="t"/>
          <a:lstStyle/>
          <a:p>
            <a:pPr indent="0" marL="0">
              <a:lnSpc>
                <a:spcPct val="92000"/>
              </a:lnSpc>
              <a:buNone/>
            </a:pPr>
            <a:r>
              <a:rPr lang="en-US" sz="2800" b="1" spc="150" kern="0" dirty="0">
                <a:solidFill>
                  <a:srgbClr val="FFFFFF"/>
                </a:solidFill>
                <a:effectLst>
                  <a:glow rad="101600">
                    <a:srgbClr val="00B8FF">
                      <a:alpha val="35000"/>
                    </a:srgbClr>
                  </a:glow>
                </a:effectLst>
              </a:rPr>
              <a:t>ONE PLATFORM. EVERY SITE.</a:t>
            </a:r>
            <a:endParaRPr lang="en-US" sz="2800" dirty="0"/>
          </a:p>
          <a:p>
            <a:pPr indent="0" marL="0">
              <a:lnSpc>
                <a:spcPct val="92000"/>
              </a:lnSpc>
              <a:buNone/>
            </a:pPr>
            <a:r>
              <a:rPr lang="en-US" sz="2800" b="1" spc="150" kern="0" dirty="0">
                <a:gradFill rotWithShape="1">
                  <a:gsLst>
                    <a:gs pos="0">
                      <a:srgbClr val="00E5FF"/>
                    </a:gs>
                    <a:gs pos="100000">
                      <a:srgbClr val="8B5CF6"/>
                    </a:gs>
                  </a:gsLst>
                  <a:lin ang="0" scaled="0"/>
                </a:gradFill>
                <a:effectLst>
                  <a:glow rad="101600">
                    <a:srgbClr val="00B8FF">
                      <a:alpha val="35000"/>
                    </a:srgbClr>
                  </a:glow>
                </a:effectLst>
              </a:rPr>
              <a:t>READY FOR AUTONOMY.</a:t>
            </a:r>
            <a:endParaRPr lang="en-US" sz="2800" dirty="0"/>
          </a:p>
        </p:txBody>
      </p:sp>
      <p:sp>
        <p:nvSpPr>
          <p:cNvPr id="13" name="Text 10"/>
          <p:cNvSpPr txBox="1"/>
          <p:nvPr/>
        </p:nvSpPr>
        <p:spPr>
          <a:xfrm>
            <a:off x="8823960" y="384048"/>
            <a:ext cx="2862072" cy="219456"/>
          </a:xfrm>
          <a:prstGeom prst="rect">
            <a:avLst/>
          </a:prstGeom>
          <a:noFill/>
          <a:ln/>
        </p:spPr>
        <p:txBody>
          <a:bodyPr wrap="square" lIns="0" tIns="0" rIns="0" bIns="0" rtlCol="0" anchor="t"/>
          <a:lstStyle/>
          <a:p>
            <a:pPr indent="0" marL="0">
              <a:buNone/>
            </a:pPr>
            <a:r>
              <a:rPr lang="en-US" sz="1000" b="1" spc="300" kern="0" dirty="0">
                <a:solidFill>
                  <a:srgbClr val="5E7896"/>
                </a:solidFill>
              </a:rPr>
              <a:t>01°21′N   103°59′E</a:t>
            </a:r>
            <a:endParaRPr lang="en-US" sz="1000" dirty="0"/>
          </a:p>
        </p:txBody>
      </p:sp>
      <p:sp>
        <p:nvSpPr>
          <p:cNvPr id="14" name="Text 11"/>
          <p:cNvSpPr txBox="1"/>
          <p:nvPr/>
        </p:nvSpPr>
        <p:spPr>
          <a:xfrm>
            <a:off x="8823960" y="676656"/>
            <a:ext cx="2862072" cy="822960"/>
          </a:xfrm>
          <a:prstGeom prst="rect">
            <a:avLst/>
          </a:prstGeom>
          <a:noFill/>
          <a:ln/>
        </p:spPr>
        <p:txBody>
          <a:bodyPr wrap="square" lIns="0" tIns="0" rIns="0" bIns="0" rtlCol="0" anchor="t"/>
          <a:lstStyle/>
          <a:p>
            <a:pPr indent="0" marL="0">
              <a:lnSpc>
                <a:spcPct val="115000"/>
              </a:lnSpc>
              <a:buNone/>
            </a:pPr>
            <a:r>
              <a:rPr lang="en-US" sz="1050" dirty="0">
                <a:solidFill>
                  <a:srgbClr val="8FA3BF"/>
                </a:solidFill>
              </a:rPr>
              <a:t>Open-standards based and integrated — future-ready for advanced sensors, AI/ML and autonomous technologies.</a:t>
            </a:r>
            <a:endParaRPr lang="en-US" sz="1050" dirty="0"/>
          </a:p>
        </p:txBody>
      </p:sp>
      <p:sp>
        <p:nvSpPr>
          <p:cNvPr id="15" name="Text 12"/>
          <p:cNvSpPr txBox="1"/>
          <p:nvPr/>
        </p:nvSpPr>
        <p:spPr>
          <a:xfrm>
            <a:off x="502920" y="1737360"/>
            <a:ext cx="1188720" cy="384048"/>
          </a:xfrm>
          <a:prstGeom prst="rect">
            <a:avLst/>
          </a:prstGeom>
          <a:noFill/>
          <a:ln/>
        </p:spPr>
        <p:txBody>
          <a:bodyPr wrap="square" lIns="0" tIns="0" rIns="0" bIns="0" rtlCol="0" anchor="t"/>
          <a:lstStyle/>
          <a:p>
            <a:pPr indent="0" marL="0">
              <a:spcAft>
                <a:spcPts val="200"/>
              </a:spcAft>
              <a:buNone/>
            </a:pPr>
            <a:r>
              <a:rPr lang="en-US" sz="1000" b="1" spc="100" kern="0" dirty="0">
                <a:solidFill>
                  <a:srgbClr val="00E5FF"/>
                </a:solidFill>
              </a:rPr>
              <a:t>04</a:t>
            </a:r>
            <a:endParaRPr lang="en-US" sz="1000" dirty="0"/>
          </a:p>
          <a:p>
            <a:pPr indent="0" marL="0">
              <a:spcAft>
                <a:spcPts val="200"/>
              </a:spcAft>
              <a:buNone/>
            </a:pPr>
            <a:r>
              <a:rPr lang="en-US" sz="1000" b="1" spc="100" kern="0" dirty="0">
                <a:solidFill>
                  <a:srgbClr val="FFFFFF"/>
                </a:solidFill>
              </a:rPr>
              <a:t>INTELLIGENCE</a:t>
            </a:r>
            <a:endParaRPr lang="en-US" sz="1000" dirty="0"/>
          </a:p>
        </p:txBody>
      </p:sp>
      <p:sp>
        <p:nvSpPr>
          <p:cNvPr id="16" name="Text 13"/>
          <p:cNvSpPr txBox="1"/>
          <p:nvPr/>
        </p:nvSpPr>
        <p:spPr>
          <a:xfrm>
            <a:off x="502920" y="2624328"/>
            <a:ext cx="1188720" cy="384048"/>
          </a:xfrm>
          <a:prstGeom prst="rect">
            <a:avLst/>
          </a:prstGeom>
          <a:noFill/>
          <a:ln/>
        </p:spPr>
        <p:txBody>
          <a:bodyPr wrap="square" lIns="0" tIns="0" rIns="0" bIns="0" rtlCol="0" anchor="t"/>
          <a:lstStyle/>
          <a:p>
            <a:pPr indent="0" marL="0">
              <a:spcAft>
                <a:spcPts val="200"/>
              </a:spcAft>
              <a:buNone/>
            </a:pPr>
            <a:r>
              <a:rPr lang="en-US" sz="1000" b="1" spc="100" kern="0" dirty="0">
                <a:solidFill>
                  <a:srgbClr val="00E5FF"/>
                </a:solidFill>
              </a:rPr>
              <a:t>03</a:t>
            </a:r>
            <a:endParaRPr lang="en-US" sz="1000" dirty="0"/>
          </a:p>
          <a:p>
            <a:pPr indent="0" marL="0">
              <a:spcAft>
                <a:spcPts val="200"/>
              </a:spcAft>
              <a:buNone/>
            </a:pPr>
            <a:r>
              <a:rPr lang="en-US" sz="1000" b="1" spc="100" kern="0" dirty="0">
                <a:solidFill>
                  <a:srgbClr val="FFFFFF"/>
                </a:solidFill>
              </a:rPr>
              <a:t>PLATFORM</a:t>
            </a:r>
            <a:endParaRPr lang="en-US" sz="1000" dirty="0"/>
          </a:p>
        </p:txBody>
      </p:sp>
      <p:sp>
        <p:nvSpPr>
          <p:cNvPr id="17" name="Text 14"/>
          <p:cNvSpPr txBox="1"/>
          <p:nvPr/>
        </p:nvSpPr>
        <p:spPr>
          <a:xfrm>
            <a:off x="502920" y="3950208"/>
            <a:ext cx="1188720" cy="384048"/>
          </a:xfrm>
          <a:prstGeom prst="rect">
            <a:avLst/>
          </a:prstGeom>
          <a:noFill/>
          <a:ln/>
        </p:spPr>
        <p:txBody>
          <a:bodyPr wrap="square" lIns="0" tIns="0" rIns="0" bIns="0" rtlCol="0" anchor="t"/>
          <a:lstStyle/>
          <a:p>
            <a:pPr indent="0" marL="0">
              <a:spcAft>
                <a:spcPts val="200"/>
              </a:spcAft>
              <a:buNone/>
            </a:pPr>
            <a:r>
              <a:rPr lang="en-US" sz="1000" b="1" spc="100" kern="0" dirty="0">
                <a:solidFill>
                  <a:srgbClr val="00E5FF"/>
                </a:solidFill>
              </a:rPr>
              <a:t>02</a:t>
            </a:r>
            <a:endParaRPr lang="en-US" sz="1000" dirty="0"/>
          </a:p>
          <a:p>
            <a:pPr indent="0" marL="0">
              <a:spcAft>
                <a:spcPts val="200"/>
              </a:spcAft>
              <a:buNone/>
            </a:pPr>
            <a:r>
              <a:rPr lang="en-US" sz="1000" b="1" spc="100" kern="0" dirty="0">
                <a:solidFill>
                  <a:srgbClr val="FFFFFF"/>
                </a:solidFill>
              </a:rPr>
              <a:t>SECURITY</a:t>
            </a:r>
            <a:endParaRPr lang="en-US" sz="1000" dirty="0"/>
          </a:p>
        </p:txBody>
      </p:sp>
      <p:sp>
        <p:nvSpPr>
          <p:cNvPr id="18" name="Text 15"/>
          <p:cNvSpPr txBox="1"/>
          <p:nvPr/>
        </p:nvSpPr>
        <p:spPr>
          <a:xfrm>
            <a:off x="502920" y="4608576"/>
            <a:ext cx="1188720" cy="384048"/>
          </a:xfrm>
          <a:prstGeom prst="rect">
            <a:avLst/>
          </a:prstGeom>
          <a:noFill/>
          <a:ln/>
        </p:spPr>
        <p:txBody>
          <a:bodyPr wrap="square" lIns="0" tIns="0" rIns="0" bIns="0" rtlCol="0" anchor="t"/>
          <a:lstStyle/>
          <a:p>
            <a:pPr indent="0" marL="0">
              <a:spcAft>
                <a:spcPts val="200"/>
              </a:spcAft>
              <a:buNone/>
            </a:pPr>
            <a:r>
              <a:rPr lang="en-US" sz="1000" b="1" spc="100" kern="0" dirty="0">
                <a:solidFill>
                  <a:srgbClr val="00E5FF"/>
                </a:solidFill>
              </a:rPr>
              <a:t>01</a:t>
            </a:r>
            <a:endParaRPr lang="en-US" sz="1000" dirty="0"/>
          </a:p>
          <a:p>
            <a:pPr indent="0" marL="0">
              <a:spcAft>
                <a:spcPts val="200"/>
              </a:spcAft>
              <a:buNone/>
            </a:pPr>
            <a:r>
              <a:rPr lang="en-US" sz="1000" b="1" spc="100" kern="0" dirty="0">
                <a:solidFill>
                  <a:srgbClr val="FFFFFF"/>
                </a:solidFill>
              </a:rPr>
              <a:t>SITES</a:t>
            </a:r>
            <a:endParaRPr lang="en-US" sz="1000" dirty="0"/>
          </a:p>
        </p:txBody>
      </p:sp>
      <p:sp>
        <p:nvSpPr>
          <p:cNvPr id="19" name="Text 16"/>
          <p:cNvSpPr txBox="1"/>
          <p:nvPr/>
        </p:nvSpPr>
        <p:spPr>
          <a:xfrm>
            <a:off x="9491472" y="1737360"/>
            <a:ext cx="1188720" cy="384048"/>
          </a:xfrm>
          <a:prstGeom prst="rect">
            <a:avLst/>
          </a:prstGeom>
          <a:noFill/>
          <a:ln/>
        </p:spPr>
        <p:txBody>
          <a:bodyPr wrap="square" lIns="0" tIns="0" rIns="0" bIns="0" rtlCol="0" anchor="t"/>
          <a:lstStyle/>
          <a:p>
            <a:pPr indent="0" marL="0">
              <a:spcAft>
                <a:spcPts val="200"/>
              </a:spcAft>
              <a:buNone/>
            </a:pPr>
            <a:r>
              <a:rPr lang="en-US" sz="1000" b="1" spc="100" kern="0" dirty="0">
                <a:solidFill>
                  <a:srgbClr val="00E5FF"/>
                </a:solidFill>
              </a:rPr>
              <a:t>06</a:t>
            </a:r>
            <a:endParaRPr lang="en-US" sz="1000" dirty="0"/>
          </a:p>
          <a:p>
            <a:pPr indent="0" marL="0">
              <a:spcAft>
                <a:spcPts val="200"/>
              </a:spcAft>
              <a:buNone/>
            </a:pPr>
            <a:r>
              <a:rPr lang="en-US" sz="1000" b="1" spc="100" kern="0" dirty="0">
                <a:solidFill>
                  <a:srgbClr val="FFFFFF"/>
                </a:solidFill>
              </a:rPr>
              <a:t>AUTONOMY</a:t>
            </a:r>
            <a:endParaRPr lang="en-US" sz="1000" dirty="0"/>
          </a:p>
        </p:txBody>
      </p:sp>
      <p:sp>
        <p:nvSpPr>
          <p:cNvPr id="20" name="Shape 17"/>
          <p:cNvSpPr/>
          <p:nvPr/>
        </p:nvSpPr>
        <p:spPr>
          <a:xfrm>
            <a:off x="1691640" y="1737360"/>
            <a:ext cx="3429000" cy="777240"/>
          </a:xfrm>
          <a:prstGeom prst="roundRect">
            <a:avLst>
              <a:gd name="adj" fmla="val 9412"/>
            </a:avLst>
          </a:prstGeom>
          <a:solidFill>
            <a:srgbClr val="0B1A2E">
              <a:alpha val="95000"/>
            </a:srgbClr>
          </a:solidFill>
          <a:ln w="9525">
            <a:solidFill>
              <a:srgbClr val="00E5FF">
                <a:alpha val="80000"/>
              </a:srgbClr>
            </a:solidFill>
            <a:prstDash val="solid"/>
          </a:ln>
        </p:spPr>
      </p:sp>
      <p:pic>
        <p:nvPicPr>
          <p:cNvPr id="21" name="Image 0" descr="Security Camera icon">    </p:cNvPr>
          <p:cNvPicPr>
            <a:picLocks noChangeAspect="1"/>
          </p:cNvPicPr>
          <p:nvPr/>
        </p:nvPicPr>
        <p:blipFill>
          <a:blip r:embed="rId2"/>
          <a:stretch>
            <a:fillRect/>
          </a:stretch>
        </p:blipFill>
        <p:spPr>
          <a:xfrm>
            <a:off x="1892808" y="1952244"/>
            <a:ext cx="347472" cy="347472"/>
          </a:xfrm>
          <a:prstGeom prst="rect">
            <a:avLst/>
          </a:prstGeom>
        </p:spPr>
      </p:pic>
      <p:sp>
        <p:nvSpPr>
          <p:cNvPr id="22" name="Text 18"/>
          <p:cNvSpPr txBox="1"/>
          <p:nvPr/>
        </p:nvSpPr>
        <p:spPr>
          <a:xfrm>
            <a:off x="2377440" y="1874520"/>
            <a:ext cx="2606040" cy="237744"/>
          </a:xfrm>
          <a:prstGeom prst="rect">
            <a:avLst/>
          </a:prstGeom>
          <a:noFill/>
          <a:ln/>
        </p:spPr>
        <p:txBody>
          <a:bodyPr wrap="square" lIns="0" tIns="0" rIns="0" bIns="0" rtlCol="0" anchor="t"/>
          <a:lstStyle/>
          <a:p>
            <a:pPr indent="0" marL="0">
              <a:buNone/>
            </a:pPr>
            <a:r>
              <a:rPr lang="en-US" sz="1200" b="1" spc="200" kern="0" dirty="0">
                <a:solidFill>
                  <a:srgbClr val="FFFFFF"/>
                </a:solidFill>
              </a:rPr>
              <a:t>VIDEO ANALYTICS</a:t>
            </a:r>
            <a:endParaRPr lang="en-US" sz="1200" dirty="0"/>
          </a:p>
        </p:txBody>
      </p:sp>
      <p:sp>
        <p:nvSpPr>
          <p:cNvPr id="23" name="Text 19"/>
          <p:cNvSpPr txBox="1"/>
          <p:nvPr/>
        </p:nvSpPr>
        <p:spPr>
          <a:xfrm>
            <a:off x="2377440" y="2148840"/>
            <a:ext cx="2606040" cy="237744"/>
          </a:xfrm>
          <a:prstGeom prst="rect">
            <a:avLst/>
          </a:prstGeom>
          <a:noFill/>
          <a:ln/>
        </p:spPr>
        <p:txBody>
          <a:bodyPr wrap="square" lIns="0" tIns="0" rIns="0" bIns="0" rtlCol="0" anchor="t"/>
          <a:lstStyle/>
          <a:p>
            <a:pPr indent="0" marL="0">
              <a:buNone/>
            </a:pPr>
            <a:r>
              <a:rPr lang="en-US" sz="1050" dirty="0">
                <a:solidFill>
                  <a:srgbClr val="8FA3BF"/>
                </a:solidFill>
              </a:rPr>
              <a:t>Video dispatcher &amp; aggregators</a:t>
            </a:r>
            <a:endParaRPr lang="en-US" sz="1050" dirty="0"/>
          </a:p>
        </p:txBody>
      </p:sp>
      <p:sp>
        <p:nvSpPr>
          <p:cNvPr id="24" name="Shape 20"/>
          <p:cNvSpPr/>
          <p:nvPr/>
        </p:nvSpPr>
        <p:spPr>
          <a:xfrm>
            <a:off x="5230368" y="1737360"/>
            <a:ext cx="3429000" cy="777240"/>
          </a:xfrm>
          <a:prstGeom prst="roundRect">
            <a:avLst>
              <a:gd name="adj" fmla="val 9412"/>
            </a:avLst>
          </a:prstGeom>
          <a:solidFill>
            <a:srgbClr val="1A0820">
              <a:alpha val="92000"/>
            </a:srgbClr>
          </a:solidFill>
          <a:ln w="15875">
            <a:solidFill>
              <a:srgbClr val="FF3DCB"/>
            </a:solidFill>
            <a:prstDash val="solid"/>
          </a:ln>
          <a:effectLst>
            <a:outerShdw sx="100000" sy="100000" kx="0" ky="0" algn="bl" rotWithShape="0" blurRad="203200" dist="50800" dir="5400000">
              <a:srgbClr val="FF3DCB">
                <a:alpha val="60000"/>
              </a:srgbClr>
            </a:outerShdw>
          </a:effectLst>
        </p:spPr>
      </p:sp>
      <p:pic>
        <p:nvPicPr>
          <p:cNvPr id="25" name="Image 1" descr="Brain icon">    </p:cNvPr>
          <p:cNvPicPr>
            <a:picLocks noChangeAspect="1"/>
          </p:cNvPicPr>
          <p:nvPr/>
        </p:nvPicPr>
        <p:blipFill>
          <a:blip r:embed="rId3"/>
          <a:stretch>
            <a:fillRect/>
          </a:stretch>
        </p:blipFill>
        <p:spPr>
          <a:xfrm>
            <a:off x="5431536" y="1952244"/>
            <a:ext cx="347472" cy="347472"/>
          </a:xfrm>
          <a:prstGeom prst="rect">
            <a:avLst/>
          </a:prstGeom>
        </p:spPr>
      </p:pic>
      <p:sp>
        <p:nvSpPr>
          <p:cNvPr id="26" name="Text 21"/>
          <p:cNvSpPr txBox="1"/>
          <p:nvPr/>
        </p:nvSpPr>
        <p:spPr>
          <a:xfrm>
            <a:off x="5916168" y="1856232"/>
            <a:ext cx="2606040" cy="274320"/>
          </a:xfrm>
          <a:prstGeom prst="rect">
            <a:avLst/>
          </a:prstGeom>
          <a:noFill/>
          <a:ln/>
        </p:spPr>
        <p:txBody>
          <a:bodyPr wrap="square" lIns="0" tIns="0" rIns="0" bIns="0" rtlCol="0" anchor="t"/>
          <a:lstStyle/>
          <a:p>
            <a:pPr indent="0" marL="0">
              <a:buNone/>
            </a:pPr>
            <a:r>
              <a:rPr lang="en-US" sz="1400" b="1" spc="200" kern="0" dirty="0">
                <a:solidFill>
                  <a:srgbClr val="FFFFFF"/>
                </a:solidFill>
                <a:effectLst>
                  <a:glow rad="76200">
                    <a:srgbClr val="FF3DCB">
                      <a:alpha val="40000"/>
                    </a:srgbClr>
                  </a:glow>
                </a:effectLst>
              </a:rPr>
              <a:t>A.I.</a:t>
            </a:r>
            <a:endParaRPr lang="en-US" sz="1400" dirty="0"/>
          </a:p>
        </p:txBody>
      </p:sp>
      <p:sp>
        <p:nvSpPr>
          <p:cNvPr id="27" name="Text 22"/>
          <p:cNvSpPr txBox="1"/>
          <p:nvPr/>
        </p:nvSpPr>
        <p:spPr>
          <a:xfrm>
            <a:off x="5916168" y="2148840"/>
            <a:ext cx="2606040" cy="237744"/>
          </a:xfrm>
          <a:prstGeom prst="rect">
            <a:avLst/>
          </a:prstGeom>
          <a:noFill/>
          <a:ln/>
        </p:spPr>
        <p:txBody>
          <a:bodyPr wrap="square" lIns="0" tIns="0" rIns="0" bIns="0" rtlCol="0" anchor="t"/>
          <a:lstStyle/>
          <a:p>
            <a:pPr indent="0" marL="0">
              <a:buNone/>
            </a:pPr>
            <a:r>
              <a:rPr lang="en-US" sz="1050" b="1" dirty="0">
                <a:solidFill>
                  <a:srgbClr val="F8A8EC"/>
                </a:solidFill>
              </a:rPr>
              <a:t>ML · LLM · AI</a:t>
            </a:r>
            <a:endParaRPr lang="en-US" sz="1050" dirty="0"/>
          </a:p>
        </p:txBody>
      </p:sp>
      <p:sp>
        <p:nvSpPr>
          <p:cNvPr id="28" name="Shape 23"/>
          <p:cNvSpPr/>
          <p:nvPr/>
        </p:nvSpPr>
        <p:spPr>
          <a:xfrm>
            <a:off x="1691640" y="2624328"/>
            <a:ext cx="6967728" cy="1216152"/>
          </a:xfrm>
          <a:prstGeom prst="roundRect">
            <a:avLst>
              <a:gd name="adj" fmla="val 7519"/>
            </a:avLst>
          </a:prstGeom>
          <a:solidFill>
            <a:srgbClr val="06101E">
              <a:alpha val="88000"/>
            </a:srgbClr>
          </a:solidFill>
          <a:ln w="12700">
            <a:solidFill>
              <a:srgbClr val="00E5FF"/>
            </a:solidFill>
            <a:prstDash val="solid"/>
          </a:ln>
          <a:effectLst>
            <a:outerShdw sx="100000" sy="100000" kx="0" ky="0" algn="bl" rotWithShape="0" blurRad="228600" dist="50800" dir="5400000">
              <a:srgbClr val="00E5FF">
                <a:alpha val="35000"/>
              </a:srgbClr>
            </a:outerShdw>
          </a:effectLst>
        </p:spPr>
      </p:sp>
      <p:sp>
        <p:nvSpPr>
          <p:cNvPr id="29" name="Text 24"/>
          <p:cNvSpPr txBox="1"/>
          <p:nvPr/>
        </p:nvSpPr>
        <p:spPr>
          <a:xfrm>
            <a:off x="1874520" y="2734056"/>
            <a:ext cx="3200400" cy="219456"/>
          </a:xfrm>
          <a:prstGeom prst="rect">
            <a:avLst/>
          </a:prstGeom>
          <a:noFill/>
          <a:ln/>
        </p:spPr>
        <p:txBody>
          <a:bodyPr wrap="square" lIns="0" tIns="0" rIns="0" bIns="0" rtlCol="0" anchor="t"/>
          <a:lstStyle/>
          <a:p>
            <a:pPr indent="0" marL="0">
              <a:buNone/>
            </a:pPr>
            <a:r>
              <a:rPr lang="en-US" sz="1100" b="1" spc="200" kern="0" dirty="0">
                <a:solidFill>
                  <a:srgbClr val="FFFFFF"/>
                </a:solidFill>
              </a:rPr>
              <a:t>T5-ISMS SITEWIDE</a:t>
            </a:r>
            <a:endParaRPr lang="en-US" sz="1100" dirty="0"/>
          </a:p>
        </p:txBody>
      </p:sp>
      <p:sp>
        <p:nvSpPr>
          <p:cNvPr id="30" name="Text 25"/>
          <p:cNvSpPr txBox="1"/>
          <p:nvPr/>
        </p:nvSpPr>
        <p:spPr>
          <a:xfrm>
            <a:off x="5276088" y="2734056"/>
            <a:ext cx="3200400" cy="219456"/>
          </a:xfrm>
          <a:prstGeom prst="rect">
            <a:avLst/>
          </a:prstGeom>
          <a:noFill/>
          <a:ln/>
        </p:spPr>
        <p:txBody>
          <a:bodyPr wrap="square" lIns="0" tIns="0" rIns="0" bIns="0" rtlCol="0" anchor="t"/>
          <a:lstStyle/>
          <a:p>
            <a:pPr algn="r" indent="0" marL="0">
              <a:buNone/>
            </a:pPr>
            <a:r>
              <a:rPr lang="en-US" sz="1000" b="1" spc="200" kern="0" dirty="0">
                <a:solidFill>
                  <a:srgbClr val="5E7896"/>
                </a:solidFill>
              </a:rPr>
              <a:t>5 CORE MODULES</a:t>
            </a:r>
            <a:endParaRPr lang="en-US" sz="1000" dirty="0"/>
          </a:p>
        </p:txBody>
      </p:sp>
      <p:sp>
        <p:nvSpPr>
          <p:cNvPr id="31" name="Shape 26"/>
          <p:cNvSpPr/>
          <p:nvPr/>
        </p:nvSpPr>
        <p:spPr>
          <a:xfrm>
            <a:off x="1947672" y="3026664"/>
            <a:ext cx="457200" cy="402336"/>
          </a:xfrm>
          <a:prstGeom prst="hexagon">
            <a:avLst/>
          </a:prstGeom>
          <a:solidFill>
            <a:srgbClr val="00E5FF">
              <a:alpha val="12000"/>
            </a:srgbClr>
          </a:solidFill>
          <a:ln w="9525">
            <a:solidFill>
              <a:srgbClr val="00E5FF"/>
            </a:solidFill>
            <a:prstDash val="solid"/>
          </a:ln>
        </p:spPr>
      </p:sp>
      <p:pic>
        <p:nvPicPr>
          <p:cNvPr id="32" name="Image 2" descr="Cube Transparent icon">    </p:cNvPr>
          <p:cNvPicPr>
            <a:picLocks noChangeAspect="1"/>
          </p:cNvPicPr>
          <p:nvPr/>
        </p:nvPicPr>
        <p:blipFill>
          <a:blip r:embed="rId4"/>
          <a:stretch>
            <a:fillRect/>
          </a:stretch>
        </p:blipFill>
        <p:spPr>
          <a:xfrm>
            <a:off x="2057400" y="3108960"/>
            <a:ext cx="237744" cy="237744"/>
          </a:xfrm>
          <a:prstGeom prst="rect">
            <a:avLst/>
          </a:prstGeom>
        </p:spPr>
      </p:pic>
      <p:sp>
        <p:nvSpPr>
          <p:cNvPr id="33" name="Text 27"/>
          <p:cNvSpPr txBox="1"/>
          <p:nvPr/>
        </p:nvSpPr>
        <p:spPr>
          <a:xfrm>
            <a:off x="1947672" y="3474720"/>
            <a:ext cx="1137514" cy="347472"/>
          </a:xfrm>
          <a:prstGeom prst="rect">
            <a:avLst/>
          </a:prstGeom>
          <a:noFill/>
          <a:ln/>
        </p:spPr>
        <p:txBody>
          <a:bodyPr wrap="square" lIns="0" tIns="0" rIns="0" bIns="0" rtlCol="0" anchor="t"/>
          <a:lstStyle/>
          <a:p>
            <a:pPr indent="0" marL="0">
              <a:buNone/>
            </a:pPr>
            <a:r>
              <a:rPr lang="en-US" sz="1050" dirty="0">
                <a:solidFill>
                  <a:srgbClr val="FFFFFF"/>
                </a:solidFill>
              </a:rPr>
              <a:t>Digital Twin</a:t>
            </a:r>
            <a:endParaRPr lang="en-US" sz="1050" dirty="0"/>
          </a:p>
        </p:txBody>
      </p:sp>
      <p:sp>
        <p:nvSpPr>
          <p:cNvPr id="34" name="Shape 28"/>
          <p:cNvSpPr/>
          <p:nvPr/>
        </p:nvSpPr>
        <p:spPr>
          <a:xfrm>
            <a:off x="3167482" y="3063240"/>
            <a:ext cx="0" cy="658368"/>
          </a:xfrm>
          <a:prstGeom prst="line">
            <a:avLst/>
          </a:prstGeom>
          <a:noFill/>
          <a:ln w="9525">
            <a:solidFill>
              <a:srgbClr val="17406A"/>
            </a:solidFill>
            <a:prstDash val="solid"/>
          </a:ln>
        </p:spPr>
      </p:sp>
      <p:sp>
        <p:nvSpPr>
          <p:cNvPr id="35" name="Shape 29"/>
          <p:cNvSpPr/>
          <p:nvPr/>
        </p:nvSpPr>
        <p:spPr>
          <a:xfrm>
            <a:off x="3286354" y="3026664"/>
            <a:ext cx="457200" cy="402336"/>
          </a:xfrm>
          <a:prstGeom prst="hexagon">
            <a:avLst/>
          </a:prstGeom>
          <a:solidFill>
            <a:srgbClr val="00E5FF">
              <a:alpha val="12000"/>
            </a:srgbClr>
          </a:solidFill>
          <a:ln w="9525">
            <a:solidFill>
              <a:srgbClr val="00E5FF"/>
            </a:solidFill>
            <a:prstDash val="solid"/>
          </a:ln>
        </p:spPr>
      </p:sp>
      <p:pic>
        <p:nvPicPr>
          <p:cNvPr id="36" name="Image 3" descr="Siren icon">    </p:cNvPr>
          <p:cNvPicPr>
            <a:picLocks noChangeAspect="1"/>
          </p:cNvPicPr>
          <p:nvPr/>
        </p:nvPicPr>
        <p:blipFill>
          <a:blip r:embed="rId5"/>
          <a:stretch>
            <a:fillRect/>
          </a:stretch>
        </p:blipFill>
        <p:spPr>
          <a:xfrm>
            <a:off x="3396082" y="3108960"/>
            <a:ext cx="237744" cy="237744"/>
          </a:xfrm>
          <a:prstGeom prst="rect">
            <a:avLst/>
          </a:prstGeom>
        </p:spPr>
      </p:pic>
      <p:sp>
        <p:nvSpPr>
          <p:cNvPr id="37" name="Text 30"/>
          <p:cNvSpPr txBox="1"/>
          <p:nvPr/>
        </p:nvSpPr>
        <p:spPr>
          <a:xfrm>
            <a:off x="3286354" y="3474720"/>
            <a:ext cx="1137514" cy="347472"/>
          </a:xfrm>
          <a:prstGeom prst="rect">
            <a:avLst/>
          </a:prstGeom>
          <a:noFill/>
          <a:ln/>
        </p:spPr>
        <p:txBody>
          <a:bodyPr wrap="square" lIns="0" tIns="0" rIns="0" bIns="0" rtlCol="0" anchor="t"/>
          <a:lstStyle/>
          <a:p>
            <a:pPr indent="0" marL="0">
              <a:buNone/>
            </a:pPr>
            <a:r>
              <a:rPr lang="en-US" sz="1050" dirty="0">
                <a:solidFill>
                  <a:srgbClr val="FFFFFF"/>
                </a:solidFill>
              </a:rPr>
              <a:t>Incident &amp; Alarm Management</a:t>
            </a:r>
            <a:endParaRPr lang="en-US" sz="1050" dirty="0"/>
          </a:p>
        </p:txBody>
      </p:sp>
      <p:sp>
        <p:nvSpPr>
          <p:cNvPr id="38" name="Shape 31"/>
          <p:cNvSpPr/>
          <p:nvPr/>
        </p:nvSpPr>
        <p:spPr>
          <a:xfrm>
            <a:off x="4506163" y="3063240"/>
            <a:ext cx="0" cy="658368"/>
          </a:xfrm>
          <a:prstGeom prst="line">
            <a:avLst/>
          </a:prstGeom>
          <a:noFill/>
          <a:ln w="9525">
            <a:solidFill>
              <a:srgbClr val="17406A"/>
            </a:solidFill>
            <a:prstDash val="solid"/>
          </a:ln>
        </p:spPr>
      </p:sp>
      <p:sp>
        <p:nvSpPr>
          <p:cNvPr id="39" name="Shape 32"/>
          <p:cNvSpPr/>
          <p:nvPr/>
        </p:nvSpPr>
        <p:spPr>
          <a:xfrm>
            <a:off x="4625035" y="3026664"/>
            <a:ext cx="457200" cy="402336"/>
          </a:xfrm>
          <a:prstGeom prst="hexagon">
            <a:avLst/>
          </a:prstGeom>
          <a:solidFill>
            <a:srgbClr val="00E5FF">
              <a:alpha val="12000"/>
            </a:srgbClr>
          </a:solidFill>
          <a:ln w="9525">
            <a:solidFill>
              <a:srgbClr val="00E5FF"/>
            </a:solidFill>
            <a:prstDash val="solid"/>
          </a:ln>
        </p:spPr>
      </p:sp>
      <p:pic>
        <p:nvPicPr>
          <p:cNvPr id="40" name="Image 4" descr="Heartbeat icon">    </p:cNvPr>
          <p:cNvPicPr>
            <a:picLocks noChangeAspect="1"/>
          </p:cNvPicPr>
          <p:nvPr/>
        </p:nvPicPr>
        <p:blipFill>
          <a:blip r:embed="rId6"/>
          <a:stretch>
            <a:fillRect/>
          </a:stretch>
        </p:blipFill>
        <p:spPr>
          <a:xfrm>
            <a:off x="4734763" y="3108960"/>
            <a:ext cx="237744" cy="237744"/>
          </a:xfrm>
          <a:prstGeom prst="rect">
            <a:avLst/>
          </a:prstGeom>
        </p:spPr>
      </p:pic>
      <p:sp>
        <p:nvSpPr>
          <p:cNvPr id="41" name="Text 33"/>
          <p:cNvSpPr txBox="1"/>
          <p:nvPr/>
        </p:nvSpPr>
        <p:spPr>
          <a:xfrm>
            <a:off x="4625035" y="3474720"/>
            <a:ext cx="1137514" cy="347472"/>
          </a:xfrm>
          <a:prstGeom prst="rect">
            <a:avLst/>
          </a:prstGeom>
          <a:noFill/>
          <a:ln/>
        </p:spPr>
        <p:txBody>
          <a:bodyPr wrap="square" lIns="0" tIns="0" rIns="0" bIns="0" rtlCol="0" anchor="t"/>
          <a:lstStyle/>
          <a:p>
            <a:pPr indent="0" marL="0">
              <a:buNone/>
            </a:pPr>
            <a:r>
              <a:rPr lang="en-US" sz="1050" dirty="0">
                <a:solidFill>
                  <a:srgbClr val="FFFFFF"/>
                </a:solidFill>
              </a:rPr>
              <a:t>Sitewide Health Status</a:t>
            </a:r>
            <a:endParaRPr lang="en-US" sz="1050" dirty="0"/>
          </a:p>
        </p:txBody>
      </p:sp>
      <p:sp>
        <p:nvSpPr>
          <p:cNvPr id="42" name="Shape 34"/>
          <p:cNvSpPr/>
          <p:nvPr/>
        </p:nvSpPr>
        <p:spPr>
          <a:xfrm>
            <a:off x="5844845" y="3063240"/>
            <a:ext cx="0" cy="658368"/>
          </a:xfrm>
          <a:prstGeom prst="line">
            <a:avLst/>
          </a:prstGeom>
          <a:noFill/>
          <a:ln w="9525">
            <a:solidFill>
              <a:srgbClr val="17406A"/>
            </a:solidFill>
            <a:prstDash val="solid"/>
          </a:ln>
        </p:spPr>
      </p:sp>
      <p:sp>
        <p:nvSpPr>
          <p:cNvPr id="43" name="Shape 35"/>
          <p:cNvSpPr/>
          <p:nvPr/>
        </p:nvSpPr>
        <p:spPr>
          <a:xfrm>
            <a:off x="5963717" y="3026664"/>
            <a:ext cx="457200" cy="402336"/>
          </a:xfrm>
          <a:prstGeom prst="hexagon">
            <a:avLst/>
          </a:prstGeom>
          <a:solidFill>
            <a:srgbClr val="00E5FF">
              <a:alpha val="12000"/>
            </a:srgbClr>
          </a:solidFill>
          <a:ln w="9525">
            <a:solidFill>
              <a:srgbClr val="00E5FF"/>
            </a:solidFill>
            <a:prstDash val="solid"/>
          </a:ln>
        </p:spPr>
      </p:sp>
      <p:pic>
        <p:nvPicPr>
          <p:cNvPr id="44" name="Image 5" descr="Squares Four icon">    </p:cNvPr>
          <p:cNvPicPr>
            <a:picLocks noChangeAspect="1"/>
          </p:cNvPicPr>
          <p:nvPr/>
        </p:nvPicPr>
        <p:blipFill>
          <a:blip r:embed="rId7"/>
          <a:stretch>
            <a:fillRect/>
          </a:stretch>
        </p:blipFill>
        <p:spPr>
          <a:xfrm>
            <a:off x="6073445" y="3108960"/>
            <a:ext cx="237744" cy="237744"/>
          </a:xfrm>
          <a:prstGeom prst="rect">
            <a:avLst/>
          </a:prstGeom>
        </p:spPr>
      </p:pic>
      <p:sp>
        <p:nvSpPr>
          <p:cNvPr id="45" name="Text 36"/>
          <p:cNvSpPr txBox="1"/>
          <p:nvPr/>
        </p:nvSpPr>
        <p:spPr>
          <a:xfrm>
            <a:off x="5963717" y="3474720"/>
            <a:ext cx="1137514" cy="347472"/>
          </a:xfrm>
          <a:prstGeom prst="rect">
            <a:avLst/>
          </a:prstGeom>
          <a:noFill/>
          <a:ln/>
        </p:spPr>
        <p:txBody>
          <a:bodyPr wrap="square" lIns="0" tIns="0" rIns="0" bIns="0" rtlCol="0" anchor="t"/>
          <a:lstStyle/>
          <a:p>
            <a:pPr indent="0" marL="0">
              <a:buNone/>
            </a:pPr>
            <a:r>
              <a:rPr lang="en-US" sz="1050" dirty="0">
                <a:solidFill>
                  <a:srgbClr val="FFFFFF"/>
                </a:solidFill>
              </a:rPr>
              <a:t>Common Operating Picture</a:t>
            </a:r>
            <a:endParaRPr lang="en-US" sz="1050" dirty="0"/>
          </a:p>
        </p:txBody>
      </p:sp>
      <p:sp>
        <p:nvSpPr>
          <p:cNvPr id="46" name="Shape 37"/>
          <p:cNvSpPr/>
          <p:nvPr/>
        </p:nvSpPr>
        <p:spPr>
          <a:xfrm>
            <a:off x="7183526" y="3063240"/>
            <a:ext cx="0" cy="658368"/>
          </a:xfrm>
          <a:prstGeom prst="line">
            <a:avLst/>
          </a:prstGeom>
          <a:noFill/>
          <a:ln w="9525">
            <a:solidFill>
              <a:srgbClr val="17406A"/>
            </a:solidFill>
            <a:prstDash val="solid"/>
          </a:ln>
        </p:spPr>
      </p:sp>
      <p:sp>
        <p:nvSpPr>
          <p:cNvPr id="47" name="Shape 38"/>
          <p:cNvSpPr/>
          <p:nvPr/>
        </p:nvSpPr>
        <p:spPr>
          <a:xfrm>
            <a:off x="7302398" y="3026664"/>
            <a:ext cx="457200" cy="402336"/>
          </a:xfrm>
          <a:prstGeom prst="hexagon">
            <a:avLst/>
          </a:prstGeom>
          <a:solidFill>
            <a:srgbClr val="00E5FF">
              <a:alpha val="12000"/>
            </a:srgbClr>
          </a:solidFill>
          <a:ln w="9525">
            <a:solidFill>
              <a:srgbClr val="00E5FF"/>
            </a:solidFill>
            <a:prstDash val="solid"/>
          </a:ln>
        </p:spPr>
      </p:sp>
      <p:pic>
        <p:nvPicPr>
          <p:cNvPr id="48" name="Image 6" descr="Flow Arrow icon">    </p:cNvPr>
          <p:cNvPicPr>
            <a:picLocks noChangeAspect="1"/>
          </p:cNvPicPr>
          <p:nvPr/>
        </p:nvPicPr>
        <p:blipFill>
          <a:blip r:embed="rId8"/>
          <a:stretch>
            <a:fillRect/>
          </a:stretch>
        </p:blipFill>
        <p:spPr>
          <a:xfrm>
            <a:off x="7412126" y="3108960"/>
            <a:ext cx="237744" cy="237744"/>
          </a:xfrm>
          <a:prstGeom prst="rect">
            <a:avLst/>
          </a:prstGeom>
        </p:spPr>
      </p:pic>
      <p:sp>
        <p:nvSpPr>
          <p:cNvPr id="49" name="Text 39"/>
          <p:cNvSpPr txBox="1"/>
          <p:nvPr/>
        </p:nvSpPr>
        <p:spPr>
          <a:xfrm>
            <a:off x="7302398" y="3474720"/>
            <a:ext cx="1137514" cy="347472"/>
          </a:xfrm>
          <a:prstGeom prst="rect">
            <a:avLst/>
          </a:prstGeom>
          <a:noFill/>
          <a:ln/>
        </p:spPr>
        <p:txBody>
          <a:bodyPr wrap="square" lIns="0" tIns="0" rIns="0" bIns="0" rtlCol="0" anchor="t"/>
          <a:lstStyle/>
          <a:p>
            <a:pPr indent="0" marL="0">
              <a:buNone/>
            </a:pPr>
            <a:r>
              <a:rPr lang="en-US" sz="1050" dirty="0">
                <a:solidFill>
                  <a:srgbClr val="FFFFFF"/>
                </a:solidFill>
              </a:rPr>
              <a:t>Digital Workflow Engine</a:t>
            </a:r>
            <a:endParaRPr lang="en-US" sz="1050" dirty="0"/>
          </a:p>
        </p:txBody>
      </p:sp>
      <p:sp>
        <p:nvSpPr>
          <p:cNvPr id="50" name="Shape 40"/>
          <p:cNvSpPr/>
          <p:nvPr/>
        </p:nvSpPr>
        <p:spPr>
          <a:xfrm>
            <a:off x="1691640" y="3950208"/>
            <a:ext cx="6967728" cy="548640"/>
          </a:xfrm>
          <a:prstGeom prst="roundRect">
            <a:avLst>
              <a:gd name="adj" fmla="val 13333"/>
            </a:avLst>
          </a:prstGeom>
          <a:gradFill rotWithShape="1">
            <a:gsLst>
              <a:gs pos="0">
                <a:srgbClr val="00E5FF">
                  <a:alpha val="26000"/>
                </a:srgbClr>
              </a:gs>
              <a:gs pos="55000">
                <a:srgbClr val="1D6BFF">
                  <a:alpha val="14000"/>
                </a:srgbClr>
              </a:gs>
              <a:gs pos="100000">
                <a:srgbClr val="8B5CF6">
                  <a:alpha val="26000"/>
                </a:srgbClr>
              </a:gs>
            </a:gsLst>
            <a:lin ang="0" scaled="0"/>
          </a:gradFill>
          <a:ln w="15875">
            <a:solidFill>
              <a:srgbClr val="00E5FF"/>
            </a:solidFill>
            <a:prstDash val="solid"/>
          </a:ln>
          <a:effectLst>
            <a:outerShdw sx="100000" sy="100000" kx="0" ky="0" algn="bl" rotWithShape="0" blurRad="177800" dist="50800" dir="5400000">
              <a:srgbClr val="00E5FF">
                <a:alpha val="50000"/>
              </a:srgbClr>
            </a:outerShdw>
          </a:effectLst>
        </p:spPr>
      </p:sp>
      <p:pic>
        <p:nvPicPr>
          <p:cNvPr id="51" name="Image 7" descr="Shield Check icon">    </p:cNvPr>
          <p:cNvPicPr>
            <a:picLocks noChangeAspect="1"/>
          </p:cNvPicPr>
          <p:nvPr/>
        </p:nvPicPr>
        <p:blipFill>
          <a:blip r:embed="rId9"/>
          <a:stretch>
            <a:fillRect/>
          </a:stretch>
        </p:blipFill>
        <p:spPr>
          <a:xfrm>
            <a:off x="1874520" y="4059936"/>
            <a:ext cx="329184" cy="329184"/>
          </a:xfrm>
          <a:prstGeom prst="rect">
            <a:avLst/>
          </a:prstGeom>
        </p:spPr>
      </p:pic>
      <p:sp>
        <p:nvSpPr>
          <p:cNvPr id="52" name="Text 41"/>
          <p:cNvSpPr txBox="1"/>
          <p:nvPr/>
        </p:nvSpPr>
        <p:spPr>
          <a:xfrm>
            <a:off x="2350008" y="3950208"/>
            <a:ext cx="5943600" cy="548640"/>
          </a:xfrm>
          <a:prstGeom prst="rect">
            <a:avLst/>
          </a:prstGeom>
          <a:noFill/>
          <a:ln/>
        </p:spPr>
        <p:txBody>
          <a:bodyPr wrap="square" lIns="0" tIns="0" rIns="0" bIns="0" rtlCol="0" anchor="ctr"/>
          <a:lstStyle/>
          <a:p>
            <a:pPr indent="0" marL="0">
              <a:buNone/>
            </a:pPr>
            <a:r>
              <a:rPr lang="en-US" sz="1100" b="1" spc="400" kern="0" dirty="0">
                <a:solidFill>
                  <a:srgbClr val="FFFFFF"/>
                </a:solidFill>
              </a:rPr>
              <a:t>NETWORK &amp; CYBER SECURITY LAYER</a:t>
            </a:r>
            <a:endParaRPr lang="en-US" sz="1100" dirty="0"/>
          </a:p>
        </p:txBody>
      </p:sp>
      <p:sp>
        <p:nvSpPr>
          <p:cNvPr id="53" name="Shape 42"/>
          <p:cNvSpPr/>
          <p:nvPr/>
        </p:nvSpPr>
        <p:spPr>
          <a:xfrm>
            <a:off x="8659368" y="4224528"/>
            <a:ext cx="164592" cy="0"/>
          </a:xfrm>
          <a:prstGeom prst="line">
            <a:avLst/>
          </a:prstGeom>
          <a:noFill/>
          <a:ln w="12700">
            <a:solidFill>
              <a:srgbClr val="00E5FF"/>
            </a:solidFill>
            <a:prstDash val="solid"/>
          </a:ln>
        </p:spPr>
      </p:sp>
      <p:sp>
        <p:nvSpPr>
          <p:cNvPr id="54" name="Shape 43"/>
          <p:cNvSpPr/>
          <p:nvPr/>
        </p:nvSpPr>
        <p:spPr>
          <a:xfrm>
            <a:off x="2162687" y="4498848"/>
            <a:ext cx="0" cy="109728"/>
          </a:xfrm>
          <a:prstGeom prst="line">
            <a:avLst/>
          </a:prstGeom>
          <a:noFill/>
          <a:ln w="9525">
            <a:solidFill>
              <a:srgbClr val="00E5FF">
                <a:alpha val="60000"/>
              </a:srgbClr>
            </a:solidFill>
            <a:prstDash val="solid"/>
          </a:ln>
        </p:spPr>
      </p:sp>
      <p:sp>
        <p:nvSpPr>
          <p:cNvPr id="55" name="Shape 44"/>
          <p:cNvSpPr/>
          <p:nvPr/>
        </p:nvSpPr>
        <p:spPr>
          <a:xfrm>
            <a:off x="1691640"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56" name="Image 8" descr="Buildings icon">    </p:cNvPr>
          <p:cNvPicPr>
            <a:picLocks noChangeAspect="1"/>
          </p:cNvPicPr>
          <p:nvPr/>
        </p:nvPicPr>
        <p:blipFill>
          <a:blip r:embed="rId10"/>
          <a:stretch>
            <a:fillRect/>
          </a:stretch>
        </p:blipFill>
        <p:spPr>
          <a:xfrm>
            <a:off x="1783080" y="4736592"/>
            <a:ext cx="292608" cy="292608"/>
          </a:xfrm>
          <a:prstGeom prst="rect">
            <a:avLst/>
          </a:prstGeom>
        </p:spPr>
      </p:pic>
      <p:sp>
        <p:nvSpPr>
          <p:cNvPr id="57" name="Text 45"/>
          <p:cNvSpPr txBox="1"/>
          <p:nvPr/>
        </p:nvSpPr>
        <p:spPr>
          <a:xfrm>
            <a:off x="1783080"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T5A ISMS</a:t>
            </a:r>
            <a:endParaRPr lang="en-US" sz="1000" dirty="0"/>
          </a:p>
        </p:txBody>
      </p:sp>
      <p:sp>
        <p:nvSpPr>
          <p:cNvPr id="58" name="Text 46"/>
          <p:cNvSpPr txBox="1"/>
          <p:nvPr/>
        </p:nvSpPr>
        <p:spPr>
          <a:xfrm>
            <a:off x="1783080"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Terminal 5A</a:t>
            </a:r>
            <a:endParaRPr lang="en-US" sz="1000" dirty="0"/>
          </a:p>
        </p:txBody>
      </p:sp>
      <p:sp>
        <p:nvSpPr>
          <p:cNvPr id="59" name="Shape 47"/>
          <p:cNvSpPr/>
          <p:nvPr/>
        </p:nvSpPr>
        <p:spPr>
          <a:xfrm>
            <a:off x="3166959" y="4498848"/>
            <a:ext cx="0" cy="109728"/>
          </a:xfrm>
          <a:prstGeom prst="line">
            <a:avLst/>
          </a:prstGeom>
          <a:noFill/>
          <a:ln w="9525">
            <a:solidFill>
              <a:srgbClr val="00E5FF">
                <a:alpha val="60000"/>
              </a:srgbClr>
            </a:solidFill>
            <a:prstDash val="solid"/>
          </a:ln>
        </p:spPr>
      </p:sp>
      <p:sp>
        <p:nvSpPr>
          <p:cNvPr id="60" name="Shape 48"/>
          <p:cNvSpPr/>
          <p:nvPr/>
        </p:nvSpPr>
        <p:spPr>
          <a:xfrm>
            <a:off x="2695912"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61" name="Image 9" descr="Buildings icon">    </p:cNvPr>
          <p:cNvPicPr>
            <a:picLocks noChangeAspect="1"/>
          </p:cNvPicPr>
          <p:nvPr/>
        </p:nvPicPr>
        <p:blipFill>
          <a:blip r:embed="rId11"/>
          <a:stretch>
            <a:fillRect/>
          </a:stretch>
        </p:blipFill>
        <p:spPr>
          <a:xfrm>
            <a:off x="2787352" y="4736592"/>
            <a:ext cx="292608" cy="292608"/>
          </a:xfrm>
          <a:prstGeom prst="rect">
            <a:avLst/>
          </a:prstGeom>
        </p:spPr>
      </p:pic>
      <p:sp>
        <p:nvSpPr>
          <p:cNvPr id="62" name="Text 49"/>
          <p:cNvSpPr txBox="1"/>
          <p:nvPr/>
        </p:nvSpPr>
        <p:spPr>
          <a:xfrm>
            <a:off x="2787352"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T5B ISMS</a:t>
            </a:r>
            <a:endParaRPr lang="en-US" sz="1000" dirty="0"/>
          </a:p>
        </p:txBody>
      </p:sp>
      <p:sp>
        <p:nvSpPr>
          <p:cNvPr id="63" name="Text 50"/>
          <p:cNvSpPr txBox="1"/>
          <p:nvPr/>
        </p:nvSpPr>
        <p:spPr>
          <a:xfrm>
            <a:off x="2787352"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Terminal 5B</a:t>
            </a:r>
            <a:endParaRPr lang="en-US" sz="1000" dirty="0"/>
          </a:p>
        </p:txBody>
      </p:sp>
      <p:sp>
        <p:nvSpPr>
          <p:cNvPr id="64" name="Shape 51"/>
          <p:cNvSpPr/>
          <p:nvPr/>
        </p:nvSpPr>
        <p:spPr>
          <a:xfrm>
            <a:off x="4171232" y="4498848"/>
            <a:ext cx="0" cy="109728"/>
          </a:xfrm>
          <a:prstGeom prst="line">
            <a:avLst/>
          </a:prstGeom>
          <a:noFill/>
          <a:ln w="9525">
            <a:solidFill>
              <a:srgbClr val="00E5FF">
                <a:alpha val="60000"/>
              </a:srgbClr>
            </a:solidFill>
            <a:prstDash val="solid"/>
          </a:ln>
        </p:spPr>
      </p:sp>
      <p:sp>
        <p:nvSpPr>
          <p:cNvPr id="65" name="Shape 52"/>
          <p:cNvSpPr/>
          <p:nvPr/>
        </p:nvSpPr>
        <p:spPr>
          <a:xfrm>
            <a:off x="3700185"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66" name="Image 10" descr="Buildings icon">    </p:cNvPr>
          <p:cNvPicPr>
            <a:picLocks noChangeAspect="1"/>
          </p:cNvPicPr>
          <p:nvPr/>
        </p:nvPicPr>
        <p:blipFill>
          <a:blip r:embed="rId12"/>
          <a:stretch>
            <a:fillRect/>
          </a:stretch>
        </p:blipFill>
        <p:spPr>
          <a:xfrm>
            <a:off x="3791625" y="4736592"/>
            <a:ext cx="292608" cy="292608"/>
          </a:xfrm>
          <a:prstGeom prst="rect">
            <a:avLst/>
          </a:prstGeom>
        </p:spPr>
      </p:pic>
      <p:sp>
        <p:nvSpPr>
          <p:cNvPr id="67" name="Text 53"/>
          <p:cNvSpPr txBox="1"/>
          <p:nvPr/>
        </p:nvSpPr>
        <p:spPr>
          <a:xfrm>
            <a:off x="3791625"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T5C ISMS</a:t>
            </a:r>
            <a:endParaRPr lang="en-US" sz="1000" dirty="0"/>
          </a:p>
        </p:txBody>
      </p:sp>
      <p:sp>
        <p:nvSpPr>
          <p:cNvPr id="68" name="Text 54"/>
          <p:cNvSpPr txBox="1"/>
          <p:nvPr/>
        </p:nvSpPr>
        <p:spPr>
          <a:xfrm>
            <a:off x="3791625"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Terminal 5C</a:t>
            </a:r>
            <a:endParaRPr lang="en-US" sz="1000" dirty="0"/>
          </a:p>
        </p:txBody>
      </p:sp>
      <p:sp>
        <p:nvSpPr>
          <p:cNvPr id="69" name="Shape 55"/>
          <p:cNvSpPr/>
          <p:nvPr/>
        </p:nvSpPr>
        <p:spPr>
          <a:xfrm>
            <a:off x="5175504" y="4498848"/>
            <a:ext cx="0" cy="109728"/>
          </a:xfrm>
          <a:prstGeom prst="line">
            <a:avLst/>
          </a:prstGeom>
          <a:noFill/>
          <a:ln w="9525">
            <a:solidFill>
              <a:srgbClr val="00E5FF">
                <a:alpha val="60000"/>
              </a:srgbClr>
            </a:solidFill>
            <a:prstDash val="solid"/>
          </a:ln>
        </p:spPr>
      </p:sp>
      <p:sp>
        <p:nvSpPr>
          <p:cNvPr id="70" name="Shape 56"/>
          <p:cNvSpPr/>
          <p:nvPr/>
        </p:nvSpPr>
        <p:spPr>
          <a:xfrm>
            <a:off x="4704457"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71" name="Image 11" descr="Hard Hat icon">    </p:cNvPr>
          <p:cNvPicPr>
            <a:picLocks noChangeAspect="1"/>
          </p:cNvPicPr>
          <p:nvPr/>
        </p:nvPicPr>
        <p:blipFill>
          <a:blip r:embed="rId13"/>
          <a:stretch>
            <a:fillRect/>
          </a:stretch>
        </p:blipFill>
        <p:spPr>
          <a:xfrm>
            <a:off x="4795897" y="4736592"/>
            <a:ext cx="292608" cy="292608"/>
          </a:xfrm>
          <a:prstGeom prst="rect">
            <a:avLst/>
          </a:prstGeom>
        </p:spPr>
      </p:pic>
      <p:sp>
        <p:nvSpPr>
          <p:cNvPr id="72" name="Text 57"/>
          <p:cNvSpPr txBox="1"/>
          <p:nvPr/>
        </p:nvSpPr>
        <p:spPr>
          <a:xfrm>
            <a:off x="4795897"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LIW</a:t>
            </a:r>
            <a:endParaRPr lang="en-US" sz="1000" dirty="0"/>
          </a:p>
        </p:txBody>
      </p:sp>
      <p:sp>
        <p:nvSpPr>
          <p:cNvPr id="73" name="Text 58"/>
          <p:cNvSpPr txBox="1"/>
          <p:nvPr/>
        </p:nvSpPr>
        <p:spPr>
          <a:xfrm>
            <a:off x="4795897"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Land Infrastructure Works</a:t>
            </a:r>
            <a:endParaRPr lang="en-US" sz="1000" dirty="0"/>
          </a:p>
        </p:txBody>
      </p:sp>
      <p:sp>
        <p:nvSpPr>
          <p:cNvPr id="74" name="Shape 59"/>
          <p:cNvSpPr/>
          <p:nvPr/>
        </p:nvSpPr>
        <p:spPr>
          <a:xfrm>
            <a:off x="6179776" y="4498848"/>
            <a:ext cx="0" cy="109728"/>
          </a:xfrm>
          <a:prstGeom prst="line">
            <a:avLst/>
          </a:prstGeom>
          <a:noFill/>
          <a:ln w="9525">
            <a:solidFill>
              <a:srgbClr val="00E5FF">
                <a:alpha val="60000"/>
              </a:srgbClr>
            </a:solidFill>
            <a:prstDash val="solid"/>
          </a:ln>
        </p:spPr>
      </p:sp>
      <p:sp>
        <p:nvSpPr>
          <p:cNvPr id="75" name="Shape 60"/>
          <p:cNvSpPr/>
          <p:nvPr/>
        </p:nvSpPr>
        <p:spPr>
          <a:xfrm>
            <a:off x="5708730"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76" name="Image 12" descr="Train icon">    </p:cNvPr>
          <p:cNvPicPr>
            <a:picLocks noChangeAspect="1"/>
          </p:cNvPicPr>
          <p:nvPr/>
        </p:nvPicPr>
        <p:blipFill>
          <a:blip r:embed="rId14"/>
          <a:stretch>
            <a:fillRect/>
          </a:stretch>
        </p:blipFill>
        <p:spPr>
          <a:xfrm>
            <a:off x="5800170" y="4736592"/>
            <a:ext cx="292608" cy="292608"/>
          </a:xfrm>
          <a:prstGeom prst="rect">
            <a:avLst/>
          </a:prstGeom>
        </p:spPr>
      </p:pic>
      <p:sp>
        <p:nvSpPr>
          <p:cNvPr id="77" name="Text 61"/>
          <p:cNvSpPr txBox="1"/>
          <p:nvPr/>
        </p:nvSpPr>
        <p:spPr>
          <a:xfrm>
            <a:off x="5800170"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APM DEPOT</a:t>
            </a:r>
            <a:endParaRPr lang="en-US" sz="1000" dirty="0"/>
          </a:p>
        </p:txBody>
      </p:sp>
      <p:sp>
        <p:nvSpPr>
          <p:cNvPr id="78" name="Text 62"/>
          <p:cNvSpPr txBox="1"/>
          <p:nvPr/>
        </p:nvSpPr>
        <p:spPr>
          <a:xfrm>
            <a:off x="5800170"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Automated People Mover</a:t>
            </a:r>
            <a:endParaRPr lang="en-US" sz="1000" dirty="0"/>
          </a:p>
        </p:txBody>
      </p:sp>
      <p:sp>
        <p:nvSpPr>
          <p:cNvPr id="79" name="Shape 63"/>
          <p:cNvSpPr/>
          <p:nvPr/>
        </p:nvSpPr>
        <p:spPr>
          <a:xfrm>
            <a:off x="7184049" y="4498848"/>
            <a:ext cx="0" cy="109728"/>
          </a:xfrm>
          <a:prstGeom prst="line">
            <a:avLst/>
          </a:prstGeom>
          <a:noFill/>
          <a:ln w="9525">
            <a:solidFill>
              <a:srgbClr val="00E5FF">
                <a:alpha val="60000"/>
              </a:srgbClr>
            </a:solidFill>
            <a:prstDash val="solid"/>
          </a:ln>
        </p:spPr>
      </p:sp>
      <p:sp>
        <p:nvSpPr>
          <p:cNvPr id="80" name="Shape 64"/>
          <p:cNvSpPr/>
          <p:nvPr/>
        </p:nvSpPr>
        <p:spPr>
          <a:xfrm>
            <a:off x="6713002"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81" name="Image 13" descr="Airplane icon">    </p:cNvPr>
          <p:cNvPicPr>
            <a:picLocks noChangeAspect="1"/>
          </p:cNvPicPr>
          <p:nvPr/>
        </p:nvPicPr>
        <p:blipFill>
          <a:blip r:embed="rId15"/>
          <a:stretch>
            <a:fillRect/>
          </a:stretch>
        </p:blipFill>
        <p:spPr>
          <a:xfrm>
            <a:off x="6804442" y="4736592"/>
            <a:ext cx="292608" cy="292608"/>
          </a:xfrm>
          <a:prstGeom prst="rect">
            <a:avLst/>
          </a:prstGeom>
        </p:spPr>
      </p:pic>
      <p:sp>
        <p:nvSpPr>
          <p:cNvPr id="82" name="Text 65"/>
          <p:cNvSpPr txBox="1"/>
          <p:nvPr/>
        </p:nvSpPr>
        <p:spPr>
          <a:xfrm>
            <a:off x="6804442"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ERS</a:t>
            </a:r>
            <a:endParaRPr lang="en-US" sz="1000" dirty="0"/>
          </a:p>
        </p:txBody>
      </p:sp>
      <p:sp>
        <p:nvSpPr>
          <p:cNvPr id="83" name="Text 66"/>
          <p:cNvSpPr txBox="1"/>
          <p:nvPr/>
        </p:nvSpPr>
        <p:spPr>
          <a:xfrm>
            <a:off x="6804442"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Early Remote Stands</a:t>
            </a:r>
            <a:endParaRPr lang="en-US" sz="1000" dirty="0"/>
          </a:p>
        </p:txBody>
      </p:sp>
      <p:sp>
        <p:nvSpPr>
          <p:cNvPr id="84" name="Shape 67"/>
          <p:cNvSpPr/>
          <p:nvPr/>
        </p:nvSpPr>
        <p:spPr>
          <a:xfrm>
            <a:off x="8188321" y="4498848"/>
            <a:ext cx="0" cy="109728"/>
          </a:xfrm>
          <a:prstGeom prst="line">
            <a:avLst/>
          </a:prstGeom>
          <a:noFill/>
          <a:ln w="9525">
            <a:solidFill>
              <a:srgbClr val="00E5FF">
                <a:alpha val="60000"/>
              </a:srgbClr>
            </a:solidFill>
            <a:prstDash val="solid"/>
          </a:ln>
        </p:spPr>
      </p:sp>
      <p:sp>
        <p:nvSpPr>
          <p:cNvPr id="85" name="Shape 68"/>
          <p:cNvSpPr/>
          <p:nvPr/>
        </p:nvSpPr>
        <p:spPr>
          <a:xfrm>
            <a:off x="7717275" y="4608576"/>
            <a:ext cx="942093" cy="1426464"/>
          </a:xfrm>
          <a:prstGeom prst="roundRect">
            <a:avLst>
              <a:gd name="adj" fmla="val 7765"/>
            </a:avLst>
          </a:prstGeom>
          <a:solidFill>
            <a:srgbClr val="081426">
              <a:alpha val="90000"/>
            </a:srgbClr>
          </a:solidFill>
          <a:ln w="9525">
            <a:solidFill>
              <a:srgbClr val="00E5FF"/>
            </a:solidFill>
            <a:prstDash val="dash"/>
          </a:ln>
        </p:spPr>
      </p:sp>
      <p:pic>
        <p:nvPicPr>
          <p:cNvPr id="86" name="Image 14" descr="Plus icon">    </p:cNvPr>
          <p:cNvPicPr>
            <a:picLocks noChangeAspect="1"/>
          </p:cNvPicPr>
          <p:nvPr/>
        </p:nvPicPr>
        <p:blipFill>
          <a:blip r:embed="rId16"/>
          <a:stretch>
            <a:fillRect/>
          </a:stretch>
        </p:blipFill>
        <p:spPr>
          <a:xfrm>
            <a:off x="7808715" y="4736592"/>
            <a:ext cx="292608" cy="292608"/>
          </a:xfrm>
          <a:prstGeom prst="rect">
            <a:avLst/>
          </a:prstGeom>
        </p:spPr>
      </p:pic>
      <p:sp>
        <p:nvSpPr>
          <p:cNvPr id="87" name="Text 69"/>
          <p:cNvSpPr txBox="1"/>
          <p:nvPr/>
        </p:nvSpPr>
        <p:spPr>
          <a:xfrm>
            <a:off x="7808715"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AO SITES</a:t>
            </a:r>
            <a:endParaRPr lang="en-US" sz="1000" dirty="0"/>
          </a:p>
        </p:txBody>
      </p:sp>
      <p:sp>
        <p:nvSpPr>
          <p:cNvPr id="88" name="Text 70"/>
          <p:cNvSpPr txBox="1"/>
          <p:nvPr/>
        </p:nvSpPr>
        <p:spPr>
          <a:xfrm>
            <a:off x="7808715"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Any Other Sites</a:t>
            </a:r>
            <a:endParaRPr lang="en-US" sz="1000" dirty="0"/>
          </a:p>
        </p:txBody>
      </p:sp>
      <p:sp>
        <p:nvSpPr>
          <p:cNvPr id="89" name="Shape 71"/>
          <p:cNvSpPr/>
          <p:nvPr/>
        </p:nvSpPr>
        <p:spPr>
          <a:xfrm>
            <a:off x="8823960" y="1737360"/>
            <a:ext cx="502920" cy="4297680"/>
          </a:xfrm>
          <a:prstGeom prst="roundRect">
            <a:avLst>
              <a:gd name="adj" fmla="val 18182"/>
            </a:avLst>
          </a:prstGeom>
          <a:gradFill rotWithShape="1">
            <a:gsLst>
              <a:gs pos="0">
                <a:srgbClr val="071C30"/>
              </a:gs>
              <a:gs pos="50000">
                <a:srgbClr val="0E4D6E"/>
              </a:gs>
              <a:gs pos="100000">
                <a:srgbClr val="071C30"/>
              </a:gs>
            </a:gsLst>
            <a:lin ang="5400000" scaled="0"/>
          </a:gradFill>
          <a:ln w="19050">
            <a:solidFill>
              <a:srgbClr val="00E5FF"/>
            </a:solidFill>
            <a:prstDash val="solid"/>
          </a:ln>
          <a:effectLst>
            <a:outerShdw sx="100000" sy="100000" kx="0" ky="0" algn="bl" rotWithShape="0" blurRad="279400" dist="50800" dir="5400000">
              <a:srgbClr val="00E5FF">
                <a:alpha val="70000"/>
              </a:srgbClr>
            </a:outerShdw>
          </a:effectLst>
        </p:spPr>
      </p:sp>
      <p:pic>
        <p:nvPicPr>
          <p:cNvPr id="90" name="Image 15" descr="Graph icon">    </p:cNvPr>
          <p:cNvPicPr>
            <a:picLocks noChangeAspect="1"/>
          </p:cNvPicPr>
          <p:nvPr/>
        </p:nvPicPr>
        <p:blipFill>
          <a:blip r:embed="rId17"/>
          <a:stretch>
            <a:fillRect/>
          </a:stretch>
        </p:blipFill>
        <p:spPr>
          <a:xfrm>
            <a:off x="8901684" y="1865376"/>
            <a:ext cx="347472" cy="347472"/>
          </a:xfrm>
          <a:prstGeom prst="rect">
            <a:avLst/>
          </a:prstGeom>
        </p:spPr>
      </p:pic>
      <p:sp>
        <p:nvSpPr>
          <p:cNvPr id="91" name="Text 72"/>
          <p:cNvSpPr txBox="1"/>
          <p:nvPr/>
        </p:nvSpPr>
        <p:spPr>
          <a:xfrm rot="16200000">
            <a:off x="7269480" y="3840480"/>
            <a:ext cx="3611880" cy="502920"/>
          </a:xfrm>
          <a:prstGeom prst="rect">
            <a:avLst/>
          </a:prstGeom>
          <a:noFill/>
          <a:ln/>
        </p:spPr>
        <p:txBody>
          <a:bodyPr wrap="square" lIns="0" tIns="0" rIns="0" bIns="0" rtlCol="0" anchor="ctr"/>
          <a:lstStyle/>
          <a:p>
            <a:pPr algn="ctr" indent="0" marL="0">
              <a:spcAft>
                <a:spcPts val="300"/>
              </a:spcAft>
              <a:buNone/>
            </a:pPr>
            <a:r>
              <a:rPr lang="en-US" sz="1100" b="1" spc="300" kern="0" dirty="0">
                <a:solidFill>
                  <a:srgbClr val="FFFFFF"/>
                </a:solidFill>
              </a:rPr>
              <a:t>05  /  ORCHESTRATION LAYER</a:t>
            </a:r>
            <a:endParaRPr lang="en-US" sz="1100" dirty="0"/>
          </a:p>
          <a:p>
            <a:pPr algn="ctr" indent="0" marL="0">
              <a:spcAft>
                <a:spcPts val="300"/>
              </a:spcAft>
              <a:buNone/>
            </a:pPr>
            <a:r>
              <a:rPr lang="en-US" sz="1000" spc="100" kern="0" dirty="0">
                <a:solidFill>
                  <a:srgbClr val="9FEFFF"/>
                </a:solidFill>
              </a:rPr>
              <a:t>API  ·  SDK  ·  DIO  ·  INDUSTRY STANDARDS</a:t>
            </a:r>
            <a:endParaRPr lang="en-US" sz="1100" dirty="0"/>
          </a:p>
        </p:txBody>
      </p:sp>
      <p:sp>
        <p:nvSpPr>
          <p:cNvPr id="92" name="Shape 73"/>
          <p:cNvSpPr/>
          <p:nvPr/>
        </p:nvSpPr>
        <p:spPr>
          <a:xfrm>
            <a:off x="8659368" y="2125980"/>
            <a:ext cx="164592" cy="0"/>
          </a:xfrm>
          <a:prstGeom prst="line">
            <a:avLst/>
          </a:prstGeom>
          <a:noFill/>
          <a:ln w="19050">
            <a:solidFill>
              <a:srgbClr val="FF3DCB"/>
            </a:solidFill>
            <a:prstDash val="solid"/>
            <a:headEnd type="triangle"/>
            <a:tailEnd type="triangle"/>
          </a:ln>
        </p:spPr>
      </p:sp>
      <p:sp>
        <p:nvSpPr>
          <p:cNvPr id="93" name="Shape 74"/>
          <p:cNvSpPr/>
          <p:nvPr/>
        </p:nvSpPr>
        <p:spPr>
          <a:xfrm>
            <a:off x="9491472" y="2176272"/>
            <a:ext cx="2194560" cy="1709928"/>
          </a:xfrm>
          <a:prstGeom prst="roundRect">
            <a:avLst>
              <a:gd name="adj" fmla="val 4278"/>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94" name="Image 16" descr="Robot icon">    </p:cNvPr>
          <p:cNvPicPr>
            <a:picLocks noChangeAspect="1"/>
          </p:cNvPicPr>
          <p:nvPr/>
        </p:nvPicPr>
        <p:blipFill>
          <a:blip r:embed="rId18"/>
          <a:stretch>
            <a:fillRect/>
          </a:stretch>
        </p:blipFill>
        <p:spPr>
          <a:xfrm>
            <a:off x="9628632" y="2313432"/>
            <a:ext cx="347472" cy="347472"/>
          </a:xfrm>
          <a:prstGeom prst="rect">
            <a:avLst/>
          </a:prstGeom>
        </p:spPr>
      </p:pic>
      <p:sp>
        <p:nvSpPr>
          <p:cNvPr id="95" name="Text 75"/>
          <p:cNvSpPr txBox="1"/>
          <p:nvPr/>
        </p:nvSpPr>
        <p:spPr>
          <a:xfrm>
            <a:off x="10058400" y="2313432"/>
            <a:ext cx="1554480" cy="402336"/>
          </a:xfrm>
          <a:prstGeom prst="rect">
            <a:avLst/>
          </a:prstGeom>
          <a:noFill/>
          <a:ln/>
        </p:spPr>
        <p:txBody>
          <a:bodyPr wrap="square" lIns="0" tIns="0" rIns="0" bIns="0" rtlCol="0" anchor="t"/>
          <a:lstStyle/>
          <a:p>
            <a:pPr indent="0" marL="0">
              <a:buNone/>
            </a:pPr>
            <a:r>
              <a:rPr lang="en-US" sz="1150" b="1" spc="100" kern="0" dirty="0">
                <a:solidFill>
                  <a:srgbClr val="FFFFFF"/>
                </a:solidFill>
              </a:rPr>
              <a:t>ROBOTICS &amp;</a:t>
            </a:r>
            <a:endParaRPr lang="en-US" sz="1150" dirty="0"/>
          </a:p>
          <a:p>
            <a:pPr indent="0" marL="0">
              <a:buNone/>
            </a:pPr>
            <a:r>
              <a:rPr lang="en-US" sz="1150" b="1" spc="100" kern="0" dirty="0">
                <a:solidFill>
                  <a:srgbClr val="FFFFFF"/>
                </a:solidFill>
              </a:rPr>
              <a:t>AUTOMATION</a:t>
            </a:r>
            <a:endParaRPr lang="en-US" sz="1150" dirty="0"/>
          </a:p>
        </p:txBody>
      </p:sp>
      <p:sp>
        <p:nvSpPr>
          <p:cNvPr id="96" name="Shape 76"/>
          <p:cNvSpPr/>
          <p:nvPr/>
        </p:nvSpPr>
        <p:spPr>
          <a:xfrm>
            <a:off x="9628632" y="2889504"/>
            <a:ext cx="1920240" cy="402336"/>
          </a:xfrm>
          <a:prstGeom prst="roundRect">
            <a:avLst>
              <a:gd name="adj" fmla="val 13636"/>
            </a:avLst>
          </a:prstGeom>
          <a:solidFill>
            <a:srgbClr val="140F33"/>
          </a:solidFill>
          <a:ln w="9525">
            <a:solidFill>
              <a:srgbClr val="3B2D7A"/>
            </a:solidFill>
            <a:prstDash val="solid"/>
          </a:ln>
        </p:spPr>
      </p:sp>
      <p:pic>
        <p:nvPicPr>
          <p:cNvPr id="97" name="Image 17" descr="Wheelchair Motion icon">    </p:cNvPr>
          <p:cNvPicPr>
            <a:picLocks noChangeAspect="1"/>
          </p:cNvPicPr>
          <p:nvPr/>
        </p:nvPicPr>
        <p:blipFill>
          <a:blip r:embed="rId19"/>
          <a:stretch>
            <a:fillRect/>
          </a:stretch>
        </p:blipFill>
        <p:spPr>
          <a:xfrm>
            <a:off x="9720072" y="2971800"/>
            <a:ext cx="237744" cy="237744"/>
          </a:xfrm>
          <a:prstGeom prst="rect">
            <a:avLst/>
          </a:prstGeom>
        </p:spPr>
      </p:pic>
      <p:sp>
        <p:nvSpPr>
          <p:cNvPr id="98" name="Text 77"/>
          <p:cNvSpPr txBox="1"/>
          <p:nvPr/>
        </p:nvSpPr>
        <p:spPr>
          <a:xfrm>
            <a:off x="10058400" y="2889504"/>
            <a:ext cx="1444752" cy="402336"/>
          </a:xfrm>
          <a:prstGeom prst="rect">
            <a:avLst/>
          </a:prstGeom>
          <a:noFill/>
          <a:ln/>
        </p:spPr>
        <p:txBody>
          <a:bodyPr wrap="square" lIns="0" tIns="0" rIns="0" bIns="0" rtlCol="0" anchor="ctr"/>
          <a:lstStyle/>
          <a:p>
            <a:pPr indent="0" marL="0">
              <a:buNone/>
            </a:pPr>
            <a:r>
              <a:rPr lang="en-US" sz="1050" dirty="0">
                <a:solidFill>
                  <a:srgbClr val="FFFFFF"/>
                </a:solidFill>
              </a:rPr>
              <a:t>Automated Wheelchair</a:t>
            </a:r>
            <a:endParaRPr lang="en-US" sz="1050" dirty="0"/>
          </a:p>
        </p:txBody>
      </p:sp>
      <p:sp>
        <p:nvSpPr>
          <p:cNvPr id="99" name="Shape 78"/>
          <p:cNvSpPr/>
          <p:nvPr/>
        </p:nvSpPr>
        <p:spPr>
          <a:xfrm>
            <a:off x="9628632" y="3364992"/>
            <a:ext cx="1920240" cy="402336"/>
          </a:xfrm>
          <a:prstGeom prst="roundRect">
            <a:avLst>
              <a:gd name="adj" fmla="val 13636"/>
            </a:avLst>
          </a:prstGeom>
          <a:solidFill>
            <a:srgbClr val="140F33"/>
          </a:solidFill>
          <a:ln w="9525">
            <a:solidFill>
              <a:srgbClr val="3B2D7A"/>
            </a:solidFill>
            <a:prstDash val="solid"/>
          </a:ln>
        </p:spPr>
      </p:sp>
      <p:pic>
        <p:nvPicPr>
          <p:cNvPr id="100" name="Image 18" descr="Shield Checkered icon">    </p:cNvPr>
          <p:cNvPicPr>
            <a:picLocks noChangeAspect="1"/>
          </p:cNvPicPr>
          <p:nvPr/>
        </p:nvPicPr>
        <p:blipFill>
          <a:blip r:embed="rId20"/>
          <a:stretch>
            <a:fillRect/>
          </a:stretch>
        </p:blipFill>
        <p:spPr>
          <a:xfrm>
            <a:off x="9720072" y="3447288"/>
            <a:ext cx="237744" cy="237744"/>
          </a:xfrm>
          <a:prstGeom prst="rect">
            <a:avLst/>
          </a:prstGeom>
        </p:spPr>
      </p:pic>
      <p:sp>
        <p:nvSpPr>
          <p:cNvPr id="101" name="Text 79"/>
          <p:cNvSpPr txBox="1"/>
          <p:nvPr/>
        </p:nvSpPr>
        <p:spPr>
          <a:xfrm>
            <a:off x="10058400" y="3364992"/>
            <a:ext cx="1444752" cy="402336"/>
          </a:xfrm>
          <a:prstGeom prst="rect">
            <a:avLst/>
          </a:prstGeom>
          <a:noFill/>
          <a:ln/>
        </p:spPr>
        <p:txBody>
          <a:bodyPr wrap="square" lIns="0" tIns="0" rIns="0" bIns="0" rtlCol="0" anchor="ctr"/>
          <a:lstStyle/>
          <a:p>
            <a:pPr indent="0" marL="0">
              <a:buNone/>
            </a:pPr>
            <a:r>
              <a:rPr lang="en-US" sz="1050" dirty="0">
                <a:solidFill>
                  <a:srgbClr val="FFFFFF"/>
                </a:solidFill>
              </a:rPr>
              <a:t>Patrol Robots</a:t>
            </a:r>
            <a:endParaRPr lang="en-US" sz="1050" dirty="0"/>
          </a:p>
        </p:txBody>
      </p:sp>
      <p:sp>
        <p:nvSpPr>
          <p:cNvPr id="102" name="Shape 80"/>
          <p:cNvSpPr/>
          <p:nvPr/>
        </p:nvSpPr>
        <p:spPr>
          <a:xfrm>
            <a:off x="9491472" y="3995928"/>
            <a:ext cx="2194560" cy="969264"/>
          </a:xfrm>
          <a:prstGeom prst="roundRect">
            <a:avLst>
              <a:gd name="adj" fmla="val 7547"/>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103" name="Image 19" descr="Wrench icon">    </p:cNvPr>
          <p:cNvPicPr>
            <a:picLocks noChangeAspect="1"/>
          </p:cNvPicPr>
          <p:nvPr/>
        </p:nvPicPr>
        <p:blipFill>
          <a:blip r:embed="rId21"/>
          <a:stretch>
            <a:fillRect/>
          </a:stretch>
        </p:blipFill>
        <p:spPr>
          <a:xfrm>
            <a:off x="9628632" y="4306824"/>
            <a:ext cx="347472" cy="347472"/>
          </a:xfrm>
          <a:prstGeom prst="rect">
            <a:avLst/>
          </a:prstGeom>
        </p:spPr>
      </p:pic>
      <p:sp>
        <p:nvSpPr>
          <p:cNvPr id="104" name="Text 81"/>
          <p:cNvSpPr txBox="1"/>
          <p:nvPr/>
        </p:nvSpPr>
        <p:spPr>
          <a:xfrm>
            <a:off x="10058400" y="3995928"/>
            <a:ext cx="1554480" cy="969264"/>
          </a:xfrm>
          <a:prstGeom prst="rect">
            <a:avLst/>
          </a:prstGeom>
          <a:noFill/>
          <a:ln/>
        </p:spPr>
        <p:txBody>
          <a:bodyPr wrap="square" lIns="0" tIns="0" rIns="0" bIns="0" rtlCol="0" anchor="ctr"/>
          <a:lstStyle/>
          <a:p>
            <a:pPr indent="0" marL="0">
              <a:buNone/>
            </a:pPr>
            <a:r>
              <a:rPr lang="en-US" sz="1150" b="1" spc="100" kern="0" dirty="0">
                <a:solidFill>
                  <a:srgbClr val="FFFFFF"/>
                </a:solidFill>
              </a:rPr>
              <a:t>PREDICTIVE</a:t>
            </a:r>
            <a:endParaRPr lang="en-US" sz="1150" dirty="0"/>
          </a:p>
          <a:p>
            <a:pPr indent="0" marL="0">
              <a:buNone/>
            </a:pPr>
            <a:r>
              <a:rPr lang="en-US" sz="1150" b="1" spc="100" kern="0" dirty="0">
                <a:solidFill>
                  <a:srgbClr val="FFFFFF"/>
                </a:solidFill>
              </a:rPr>
              <a:t>MAINTENANCE</a:t>
            </a:r>
            <a:endParaRPr lang="en-US" sz="1150" dirty="0"/>
          </a:p>
        </p:txBody>
      </p:sp>
      <p:sp>
        <p:nvSpPr>
          <p:cNvPr id="105" name="Shape 82"/>
          <p:cNvSpPr/>
          <p:nvPr/>
        </p:nvSpPr>
        <p:spPr>
          <a:xfrm>
            <a:off x="9326880" y="4480560"/>
            <a:ext cx="164592" cy="0"/>
          </a:xfrm>
          <a:prstGeom prst="line">
            <a:avLst/>
          </a:prstGeom>
          <a:noFill/>
          <a:ln w="15875">
            <a:solidFill>
              <a:srgbClr val="B9A2FF"/>
            </a:solidFill>
            <a:prstDash val="solid"/>
            <a:tailEnd type="triangle"/>
          </a:ln>
        </p:spPr>
      </p:sp>
      <p:sp>
        <p:nvSpPr>
          <p:cNvPr id="106" name="Shape 83"/>
          <p:cNvSpPr/>
          <p:nvPr/>
        </p:nvSpPr>
        <p:spPr>
          <a:xfrm>
            <a:off x="9491472" y="5065776"/>
            <a:ext cx="2194560" cy="969264"/>
          </a:xfrm>
          <a:prstGeom prst="roundRect">
            <a:avLst>
              <a:gd name="adj" fmla="val 7547"/>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107" name="Image 20" descr="Eye icon">    </p:cNvPr>
          <p:cNvPicPr>
            <a:picLocks noChangeAspect="1"/>
          </p:cNvPicPr>
          <p:nvPr/>
        </p:nvPicPr>
        <p:blipFill>
          <a:blip r:embed="rId22"/>
          <a:stretch>
            <a:fillRect/>
          </a:stretch>
        </p:blipFill>
        <p:spPr>
          <a:xfrm>
            <a:off x="9628632" y="5376672"/>
            <a:ext cx="347472" cy="347472"/>
          </a:xfrm>
          <a:prstGeom prst="rect">
            <a:avLst/>
          </a:prstGeom>
        </p:spPr>
      </p:pic>
      <p:sp>
        <p:nvSpPr>
          <p:cNvPr id="108" name="Text 84"/>
          <p:cNvSpPr txBox="1"/>
          <p:nvPr/>
        </p:nvSpPr>
        <p:spPr>
          <a:xfrm>
            <a:off x="10058400" y="5065776"/>
            <a:ext cx="1554480" cy="969264"/>
          </a:xfrm>
          <a:prstGeom prst="rect">
            <a:avLst/>
          </a:prstGeom>
          <a:noFill/>
          <a:ln/>
        </p:spPr>
        <p:txBody>
          <a:bodyPr wrap="square" lIns="0" tIns="0" rIns="0" bIns="0" rtlCol="0" anchor="ctr"/>
          <a:lstStyle/>
          <a:p>
            <a:pPr indent="0" marL="0">
              <a:buNone/>
            </a:pPr>
            <a:r>
              <a:rPr lang="en-US" sz="1150" b="1" spc="100" kern="0" dirty="0">
                <a:solidFill>
                  <a:srgbClr val="FFFFFF"/>
                </a:solidFill>
              </a:rPr>
              <a:t>VISION WATCH</a:t>
            </a:r>
            <a:endParaRPr lang="en-US" sz="1150" dirty="0"/>
          </a:p>
        </p:txBody>
      </p:sp>
      <p:sp>
        <p:nvSpPr>
          <p:cNvPr id="109" name="Shape 85"/>
          <p:cNvSpPr/>
          <p:nvPr/>
        </p:nvSpPr>
        <p:spPr>
          <a:xfrm>
            <a:off x="9326880" y="5550408"/>
            <a:ext cx="164592" cy="0"/>
          </a:xfrm>
          <a:prstGeom prst="line">
            <a:avLst/>
          </a:prstGeom>
          <a:noFill/>
          <a:ln w="15875">
            <a:solidFill>
              <a:srgbClr val="B9A2FF"/>
            </a:solidFill>
            <a:prstDash val="solid"/>
            <a:tailEnd type="triangle"/>
          </a:ln>
        </p:spPr>
      </p:sp>
      <p:sp>
        <p:nvSpPr>
          <p:cNvPr id="110" name="Shape 86"/>
          <p:cNvSpPr/>
          <p:nvPr/>
        </p:nvSpPr>
        <p:spPr>
          <a:xfrm>
            <a:off x="9326880" y="3031236"/>
            <a:ext cx="164592" cy="0"/>
          </a:xfrm>
          <a:prstGeom prst="line">
            <a:avLst/>
          </a:prstGeom>
          <a:noFill/>
          <a:ln w="15875">
            <a:solidFill>
              <a:srgbClr val="B9A2FF"/>
            </a:solidFill>
            <a:prstDash val="solid"/>
            <a:headEnd type="triangle"/>
            <a:tailEnd type="triangle"/>
          </a:ln>
        </p:spPr>
      </p:sp>
      <p:sp>
        <p:nvSpPr>
          <p:cNvPr id="111" name="Text 87"/>
          <p:cNvSpPr txBox="1"/>
          <p:nvPr/>
        </p:nvSpPr>
        <p:spPr>
          <a:xfrm>
            <a:off x="502920" y="6236208"/>
            <a:ext cx="6858000" cy="219456"/>
          </a:xfrm>
          <a:prstGeom prst="rect">
            <a:avLst/>
          </a:prstGeom>
          <a:noFill/>
          <a:ln/>
        </p:spPr>
        <p:txBody>
          <a:bodyPr wrap="square" lIns="0" tIns="0" rIns="0" bIns="0" rtlCol="0" anchor="t"/>
          <a:lstStyle/>
          <a:p>
            <a:pPr indent="0" marL="0">
              <a:buNone/>
            </a:pPr>
            <a:r>
              <a:rPr lang="en-US" sz="1000" spc="200" kern="0" dirty="0">
                <a:solidFill>
                  <a:srgbClr val="5E7896"/>
                </a:solidFill>
              </a:rPr>
              <a:t>OPEN STANDARDS  ·  INTEGRATED  ·  CYBER-SECURE  ·  FUTURE-READY</a:t>
            </a:r>
            <a:endParaRPr lang="en-US" sz="1000" dirty="0"/>
          </a:p>
        </p:txBody>
      </p:sp>
      <p:sp>
        <p:nvSpPr>
          <p:cNvPr id="112" name="Text 88"/>
          <p:cNvSpPr txBox="1"/>
          <p:nvPr/>
        </p:nvSpPr>
        <p:spPr>
          <a:xfrm>
            <a:off x="7498080" y="6236208"/>
            <a:ext cx="4187952" cy="219456"/>
          </a:xfrm>
          <a:prstGeom prst="rect">
            <a:avLst/>
          </a:prstGeom>
          <a:noFill/>
          <a:ln/>
        </p:spPr>
        <p:txBody>
          <a:bodyPr wrap="square" lIns="0" tIns="0" rIns="0" bIns="0" rtlCol="0" anchor="t"/>
          <a:lstStyle/>
          <a:p>
            <a:pPr algn="r" indent="0" marL="0">
              <a:buNone/>
            </a:pPr>
            <a:r>
              <a:rPr lang="en-US" sz="1000" spc="200" kern="0" dirty="0">
                <a:solidFill>
                  <a:srgbClr val="5E7896"/>
                </a:solidFill>
              </a:rPr>
              <a:t>INTEGRATED SECURITY MANAGEMENT SYSTEM</a:t>
            </a:r>
            <a:endParaRPr lang="en-US" sz="1000" dirty="0"/>
          </a:p>
        </p:txBody>
      </p:sp>
    </p:spTree>
  </p:cSld>
  <p:clrMapOvr>
    <a:masterClrMapping/>
  </p:clrMapOvr>
</p:sld>
</file>

<file path=ppt/theme/theme1.xml><?xml version="1.0" encoding="utf-8"?>
<a:theme xmlns:a="http://schemas.openxmlformats.org/drawingml/2006/main" name="T5 ISMS Command Stack">
  <a:themeElements>
    <a:clrScheme name="T5 ISMS Command Stack">
      <a:dk1>
        <a:srgbClr val="02050C"/>
      </a:dk1>
      <a:lt1>
        <a:srgbClr val="FFFFFF"/>
      </a:lt1>
      <a:dk2>
        <a:srgbClr val="081426"/>
      </a:dk2>
      <a:lt2>
        <a:srgbClr val="8FA3BF"/>
      </a:lt2>
      <a:accent1>
        <a:srgbClr val="00E5FF"/>
      </a:accent1>
      <a:accent2>
        <a:srgbClr val="8B5CF6"/>
      </a:accent2>
      <a:accent3>
        <a:srgbClr val="FF3DCB"/>
      </a:accent3>
      <a:accent4>
        <a:srgbClr val="1D6BFF"/>
      </a:accent4>
      <a:accent5>
        <a:srgbClr val="B9A2FF"/>
      </a:accent5>
      <a:accent6>
        <a:srgbClr val="5E7896"/>
      </a:accent6>
      <a:hlink>
        <a:srgbClr val="00E5FF"/>
      </a:hlink>
      <a:folHlink>
        <a:srgbClr val="8B5CF6"/>
      </a:folHlink>
    </a:clrScheme>
    <a:fontScheme name="T5 ISMS Command St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T5 ISMS Sitewide — Product Architecture (V4)</dc:title>
  <dc:subject>T5 ISMS Sitewide product architecture</dc:subject>
  <dc:creator>PptxGenJS</dc:creator>
  <cp:lastModifiedBy>PptxGenJS</cp:lastModifiedBy>
  <cp:revision>1</cp:revision>
  <dcterms:created xsi:type="dcterms:W3CDTF">2026-10-14T15:53:08Z</dcterms:created>
  <dcterms:modified xsi:type="dcterms:W3CDTF">2026-10-14T15:53:08Z</dcterms:modified>
</cp:coreProperties>
</file>