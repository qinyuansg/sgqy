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90 seconds)
1. Start at the foundation: every T5 site (T5A, T5B and T5C ISMS, Land Infrastructure Works, the Automated People Mover depot, Early Remote Stands) and any other site we add later plugs into one platform.
2. A dedicated Network &amp; Cyber Security Layer protects every connection before data reaches the platform.
3. T5-ISMS Sitewide unifies operations: Digital Twin, Incident &amp; Alarm Management, Sitewide Health Status, a Common Operating Picture and a Digital Workflow Engine.
4. Video Analytics (with video dispatcher and aggregators) and A.I. (ML, LLM) turn sensor and video data into insight.
5. The Orchestration Layer, built on APIs, SDKs, DIO and industry standards, lets that intelligence drive autonomous operations: robotics and automation (automated wheelchairs, patrol robots), predictive maintenance and Vision Watch.
Key message: one open-standards platform today, ready for autonomy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slideLayout" Target="../slideLayouts/slideLayout1.xml"/><Relationship Id="rId2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02920" y="384048"/>
            <a:ext cx="7315200" cy="219456"/>
          </a:xfrm>
          <a:prstGeom prst="rect">
            <a:avLst/>
          </a:prstGeom>
          <a:noFill/>
          <a:ln/>
        </p:spPr>
        <p:txBody>
          <a:bodyPr wrap="square" lIns="0" tIns="0" rIns="0" bIns="0" rtlCol="0" anchor="t"/>
          <a:lstStyle/>
          <a:p>
            <a:pPr indent="0" marL="0">
              <a:buNone/>
            </a:pPr>
            <a:r>
              <a:rPr lang="en-US" sz="1000" b="1" spc="300" kern="0" dirty="0">
                <a:solidFill>
                  <a:srgbClr val="FFFFFF"/>
                </a:solidFill>
              </a:rPr>
              <a:t>T5 ISMS SITEWIDE</a:t>
            </a:r>
            <a:pPr indent="0" marL="0">
              <a:buNone/>
            </a:pPr>
            <a:r>
              <a:rPr lang="en-US" sz="1000" spc="300" kern="0" dirty="0">
                <a:solidFill>
                  <a:srgbClr val="A8A8A8"/>
                </a:solidFill>
              </a:rPr>
              <a:t>   /   PRODUCT ARCHITECTURE</a:t>
            </a:r>
            <a:endParaRPr lang="en-US" sz="1000" dirty="0"/>
          </a:p>
        </p:txBody>
      </p:sp>
      <p:sp>
        <p:nvSpPr>
          <p:cNvPr id="4" name="Text 1"/>
          <p:cNvSpPr txBox="1"/>
          <p:nvPr/>
        </p:nvSpPr>
        <p:spPr>
          <a:xfrm>
            <a:off x="502920" y="658368"/>
            <a:ext cx="7863840" cy="868680"/>
          </a:xfrm>
          <a:prstGeom prst="rect">
            <a:avLst/>
          </a:prstGeom>
          <a:noFill/>
          <a:ln/>
        </p:spPr>
        <p:txBody>
          <a:bodyPr wrap="square" lIns="0" tIns="0" rIns="0" bIns="0" rtlCol="0" anchor="t"/>
          <a:lstStyle/>
          <a:p>
            <a:pPr indent="0" marL="0">
              <a:lnSpc>
                <a:spcPct val="92000"/>
              </a:lnSpc>
              <a:buNone/>
            </a:pPr>
            <a:r>
              <a:rPr lang="en-US" sz="2800" b="1" spc="150" kern="0" dirty="0">
                <a:solidFill>
                  <a:srgbClr val="FFFFFF"/>
                </a:solidFill>
              </a:rPr>
              <a:t>ONE PLATFORM. EVERY SITE.</a:t>
            </a:r>
            <a:endParaRPr lang="en-US" sz="2800" dirty="0"/>
          </a:p>
          <a:p>
            <a:pPr indent="0" marL="0">
              <a:lnSpc>
                <a:spcPct val="92000"/>
              </a:lnSpc>
              <a:buNone/>
            </a:pPr>
            <a:r>
              <a:rPr lang="en-US" sz="2800" b="1" spc="150" kern="0" dirty="0">
                <a:solidFill>
                  <a:srgbClr val="FFFFFF"/>
                </a:solidFill>
              </a:rPr>
              <a:t>READY FOR AUTONOMY.</a:t>
            </a:r>
            <a:endParaRPr lang="en-US" sz="2800" dirty="0"/>
          </a:p>
        </p:txBody>
      </p:sp>
      <p:sp>
        <p:nvSpPr>
          <p:cNvPr id="5" name="Text 2"/>
          <p:cNvSpPr txBox="1"/>
          <p:nvPr/>
        </p:nvSpPr>
        <p:spPr>
          <a:xfrm>
            <a:off x="8823960" y="384048"/>
            <a:ext cx="2862072" cy="219456"/>
          </a:xfrm>
          <a:prstGeom prst="rect">
            <a:avLst/>
          </a:prstGeom>
          <a:noFill/>
          <a:ln/>
        </p:spPr>
        <p:txBody>
          <a:bodyPr wrap="square" lIns="0" tIns="0" rIns="0" bIns="0" rtlCol="0" anchor="t"/>
          <a:lstStyle/>
          <a:p>
            <a:pPr indent="0" marL="0">
              <a:buNone/>
            </a:pPr>
            <a:r>
              <a:rPr lang="en-US" sz="1000" spc="300" kern="0" dirty="0">
                <a:solidFill>
                  <a:srgbClr val="6F6F6F"/>
                </a:solidFill>
              </a:rPr>
              <a:t>01°21′N   103°59′E</a:t>
            </a:r>
            <a:endParaRPr lang="en-US" sz="1000" dirty="0"/>
          </a:p>
        </p:txBody>
      </p:sp>
      <p:sp>
        <p:nvSpPr>
          <p:cNvPr id="6" name="Text 3"/>
          <p:cNvSpPr txBox="1"/>
          <p:nvPr/>
        </p:nvSpPr>
        <p:spPr>
          <a:xfrm>
            <a:off x="8823960" y="676656"/>
            <a:ext cx="2862072" cy="822960"/>
          </a:xfrm>
          <a:prstGeom prst="rect">
            <a:avLst/>
          </a:prstGeom>
          <a:noFill/>
          <a:ln/>
        </p:spPr>
        <p:txBody>
          <a:bodyPr wrap="square" lIns="0" tIns="0" rIns="0" bIns="0" rtlCol="0" anchor="t"/>
          <a:lstStyle/>
          <a:p>
            <a:pPr indent="0" marL="0">
              <a:lnSpc>
                <a:spcPct val="115000"/>
              </a:lnSpc>
              <a:buNone/>
            </a:pPr>
            <a:r>
              <a:rPr lang="en-US" sz="1050" dirty="0">
                <a:solidFill>
                  <a:srgbClr val="A8A8A8"/>
                </a:solidFill>
              </a:rPr>
              <a:t>Open-standards based and integrated — future-ready for advanced sensors, AI/ML and autonomous technologies.</a:t>
            </a:r>
            <a:endParaRPr lang="en-US" sz="1050" dirty="0"/>
          </a:p>
        </p:txBody>
      </p:sp>
      <p:sp>
        <p:nvSpPr>
          <p:cNvPr id="7" name="Text 4"/>
          <p:cNvSpPr txBox="1"/>
          <p:nvPr/>
        </p:nvSpPr>
        <p:spPr>
          <a:xfrm>
            <a:off x="502920" y="1737360"/>
            <a:ext cx="1188720" cy="384048"/>
          </a:xfrm>
          <a:prstGeom prst="rect">
            <a:avLst/>
          </a:prstGeom>
          <a:noFill/>
          <a:ln/>
        </p:spPr>
        <p:txBody>
          <a:bodyPr wrap="square" lIns="0" tIns="0" rIns="0" bIns="0" rtlCol="0" anchor="t"/>
          <a:lstStyle/>
          <a:p>
            <a:pPr indent="0" marL="0">
              <a:spcAft>
                <a:spcPts val="200"/>
              </a:spcAft>
              <a:buNone/>
            </a:pPr>
            <a:r>
              <a:rPr lang="en-US" sz="1000" spc="100" kern="0" dirty="0">
                <a:solidFill>
                  <a:srgbClr val="6F6F6F"/>
                </a:solidFill>
              </a:rPr>
              <a:t>04</a:t>
            </a:r>
            <a:endParaRPr lang="en-US" sz="1000" dirty="0"/>
          </a:p>
          <a:p>
            <a:pPr indent="0" marL="0">
              <a:spcAft>
                <a:spcPts val="200"/>
              </a:spcAft>
              <a:buNone/>
            </a:pPr>
            <a:r>
              <a:rPr lang="en-US" sz="1000" b="1" spc="100" kern="0" dirty="0">
                <a:solidFill>
                  <a:srgbClr val="FFFFFF"/>
                </a:solidFill>
              </a:rPr>
              <a:t>INTELLIGENCE</a:t>
            </a:r>
            <a:endParaRPr lang="en-US" sz="1000" dirty="0"/>
          </a:p>
        </p:txBody>
      </p:sp>
      <p:sp>
        <p:nvSpPr>
          <p:cNvPr id="8" name="Text 5"/>
          <p:cNvSpPr txBox="1"/>
          <p:nvPr/>
        </p:nvSpPr>
        <p:spPr>
          <a:xfrm>
            <a:off x="502920" y="2624328"/>
            <a:ext cx="1188720" cy="384048"/>
          </a:xfrm>
          <a:prstGeom prst="rect">
            <a:avLst/>
          </a:prstGeom>
          <a:noFill/>
          <a:ln/>
        </p:spPr>
        <p:txBody>
          <a:bodyPr wrap="square" lIns="0" tIns="0" rIns="0" bIns="0" rtlCol="0" anchor="t"/>
          <a:lstStyle/>
          <a:p>
            <a:pPr indent="0" marL="0">
              <a:spcAft>
                <a:spcPts val="200"/>
              </a:spcAft>
              <a:buNone/>
            </a:pPr>
            <a:r>
              <a:rPr lang="en-US" sz="1000" spc="100" kern="0" dirty="0">
                <a:solidFill>
                  <a:srgbClr val="6F6F6F"/>
                </a:solidFill>
              </a:rPr>
              <a:t>03</a:t>
            </a:r>
            <a:endParaRPr lang="en-US" sz="1000" dirty="0"/>
          </a:p>
          <a:p>
            <a:pPr indent="0" marL="0">
              <a:spcAft>
                <a:spcPts val="200"/>
              </a:spcAft>
              <a:buNone/>
            </a:pPr>
            <a:r>
              <a:rPr lang="en-US" sz="1000" b="1" spc="100" kern="0" dirty="0">
                <a:solidFill>
                  <a:srgbClr val="FFFFFF"/>
                </a:solidFill>
              </a:rPr>
              <a:t>PLATFORM</a:t>
            </a:r>
            <a:endParaRPr lang="en-US" sz="1000" dirty="0"/>
          </a:p>
        </p:txBody>
      </p:sp>
      <p:sp>
        <p:nvSpPr>
          <p:cNvPr id="9" name="Text 6"/>
          <p:cNvSpPr txBox="1"/>
          <p:nvPr/>
        </p:nvSpPr>
        <p:spPr>
          <a:xfrm>
            <a:off x="502920" y="3950208"/>
            <a:ext cx="1188720" cy="384048"/>
          </a:xfrm>
          <a:prstGeom prst="rect">
            <a:avLst/>
          </a:prstGeom>
          <a:noFill/>
          <a:ln/>
        </p:spPr>
        <p:txBody>
          <a:bodyPr wrap="square" lIns="0" tIns="0" rIns="0" bIns="0" rtlCol="0" anchor="t"/>
          <a:lstStyle/>
          <a:p>
            <a:pPr indent="0" marL="0">
              <a:spcAft>
                <a:spcPts val="200"/>
              </a:spcAft>
              <a:buNone/>
            </a:pPr>
            <a:r>
              <a:rPr lang="en-US" sz="1000" spc="100" kern="0" dirty="0">
                <a:solidFill>
                  <a:srgbClr val="6F6F6F"/>
                </a:solidFill>
              </a:rPr>
              <a:t>02</a:t>
            </a:r>
            <a:endParaRPr lang="en-US" sz="1000" dirty="0"/>
          </a:p>
          <a:p>
            <a:pPr indent="0" marL="0">
              <a:spcAft>
                <a:spcPts val="200"/>
              </a:spcAft>
              <a:buNone/>
            </a:pPr>
            <a:r>
              <a:rPr lang="en-US" sz="1000" b="1" spc="100" kern="0" dirty="0">
                <a:solidFill>
                  <a:srgbClr val="FFFFFF"/>
                </a:solidFill>
              </a:rPr>
              <a:t>SECURITY</a:t>
            </a:r>
            <a:endParaRPr lang="en-US" sz="1000" dirty="0"/>
          </a:p>
        </p:txBody>
      </p:sp>
      <p:sp>
        <p:nvSpPr>
          <p:cNvPr id="10" name="Text 7"/>
          <p:cNvSpPr txBox="1"/>
          <p:nvPr/>
        </p:nvSpPr>
        <p:spPr>
          <a:xfrm>
            <a:off x="502920" y="4608576"/>
            <a:ext cx="1188720" cy="384048"/>
          </a:xfrm>
          <a:prstGeom prst="rect">
            <a:avLst/>
          </a:prstGeom>
          <a:noFill/>
          <a:ln/>
        </p:spPr>
        <p:txBody>
          <a:bodyPr wrap="square" lIns="0" tIns="0" rIns="0" bIns="0" rtlCol="0" anchor="t"/>
          <a:lstStyle/>
          <a:p>
            <a:pPr indent="0" marL="0">
              <a:spcAft>
                <a:spcPts val="200"/>
              </a:spcAft>
              <a:buNone/>
            </a:pPr>
            <a:r>
              <a:rPr lang="en-US" sz="1000" spc="100" kern="0" dirty="0">
                <a:solidFill>
                  <a:srgbClr val="6F6F6F"/>
                </a:solidFill>
              </a:rPr>
              <a:t>01</a:t>
            </a:r>
            <a:endParaRPr lang="en-US" sz="1000" dirty="0"/>
          </a:p>
          <a:p>
            <a:pPr indent="0" marL="0">
              <a:spcAft>
                <a:spcPts val="200"/>
              </a:spcAft>
              <a:buNone/>
            </a:pPr>
            <a:r>
              <a:rPr lang="en-US" sz="1000" b="1" spc="100" kern="0" dirty="0">
                <a:solidFill>
                  <a:srgbClr val="FFFFFF"/>
                </a:solidFill>
              </a:rPr>
              <a:t>SITES</a:t>
            </a:r>
            <a:endParaRPr lang="en-US" sz="1000" dirty="0"/>
          </a:p>
        </p:txBody>
      </p:sp>
      <p:sp>
        <p:nvSpPr>
          <p:cNvPr id="11" name="Text 8"/>
          <p:cNvSpPr txBox="1"/>
          <p:nvPr/>
        </p:nvSpPr>
        <p:spPr>
          <a:xfrm>
            <a:off x="9491472" y="1737360"/>
            <a:ext cx="1188720" cy="384048"/>
          </a:xfrm>
          <a:prstGeom prst="rect">
            <a:avLst/>
          </a:prstGeom>
          <a:noFill/>
          <a:ln/>
        </p:spPr>
        <p:txBody>
          <a:bodyPr wrap="square" lIns="0" tIns="0" rIns="0" bIns="0" rtlCol="0" anchor="t"/>
          <a:lstStyle/>
          <a:p>
            <a:pPr indent="0" marL="0">
              <a:spcAft>
                <a:spcPts val="200"/>
              </a:spcAft>
              <a:buNone/>
            </a:pPr>
            <a:r>
              <a:rPr lang="en-US" sz="1000" spc="100" kern="0" dirty="0">
                <a:solidFill>
                  <a:srgbClr val="6F6F6F"/>
                </a:solidFill>
              </a:rPr>
              <a:t>06</a:t>
            </a:r>
            <a:endParaRPr lang="en-US" sz="1000" dirty="0"/>
          </a:p>
          <a:p>
            <a:pPr indent="0" marL="0">
              <a:spcAft>
                <a:spcPts val="200"/>
              </a:spcAft>
              <a:buNone/>
            </a:pPr>
            <a:r>
              <a:rPr lang="en-US" sz="1000" b="1" spc="100" kern="0" dirty="0">
                <a:solidFill>
                  <a:srgbClr val="FFFFFF"/>
                </a:solidFill>
              </a:rPr>
              <a:t>AUTONOMY</a:t>
            </a:r>
            <a:endParaRPr lang="en-US" sz="1000" dirty="0"/>
          </a:p>
        </p:txBody>
      </p:sp>
      <p:sp>
        <p:nvSpPr>
          <p:cNvPr id="12" name="Shape 9"/>
          <p:cNvSpPr/>
          <p:nvPr/>
        </p:nvSpPr>
        <p:spPr>
          <a:xfrm>
            <a:off x="1691640" y="1737360"/>
            <a:ext cx="3429000" cy="777240"/>
          </a:xfrm>
          <a:prstGeom prst="rect">
            <a:avLst/>
          </a:prstGeom>
          <a:solidFill>
            <a:srgbClr val="080808"/>
          </a:solidFill>
          <a:ln w="9525">
            <a:solidFill>
              <a:srgbClr val="3C3C3C"/>
            </a:solidFill>
            <a:prstDash val="solid"/>
          </a:ln>
        </p:spPr>
      </p:sp>
      <p:pic>
        <p:nvPicPr>
          <p:cNvPr id="13" name="Image 0" descr="Security Camera icon">    </p:cNvPr>
          <p:cNvPicPr>
            <a:picLocks noChangeAspect="1"/>
          </p:cNvPicPr>
          <p:nvPr/>
        </p:nvPicPr>
        <p:blipFill>
          <a:blip r:embed="rId2"/>
          <a:stretch>
            <a:fillRect/>
          </a:stretch>
        </p:blipFill>
        <p:spPr>
          <a:xfrm>
            <a:off x="1892808" y="1961388"/>
            <a:ext cx="329184" cy="329184"/>
          </a:xfrm>
          <a:prstGeom prst="rect">
            <a:avLst/>
          </a:prstGeom>
        </p:spPr>
      </p:pic>
      <p:sp>
        <p:nvSpPr>
          <p:cNvPr id="14" name="Text 10"/>
          <p:cNvSpPr txBox="1"/>
          <p:nvPr/>
        </p:nvSpPr>
        <p:spPr>
          <a:xfrm>
            <a:off x="2377440" y="1874520"/>
            <a:ext cx="2606040" cy="237744"/>
          </a:xfrm>
          <a:prstGeom prst="rect">
            <a:avLst/>
          </a:prstGeom>
          <a:noFill/>
          <a:ln/>
        </p:spPr>
        <p:txBody>
          <a:bodyPr wrap="square" lIns="0" tIns="0" rIns="0" bIns="0" rtlCol="0" anchor="t"/>
          <a:lstStyle/>
          <a:p>
            <a:pPr indent="0" marL="0">
              <a:buNone/>
            </a:pPr>
            <a:r>
              <a:rPr lang="en-US" sz="1200" b="1" spc="200" kern="0" dirty="0">
                <a:solidFill>
                  <a:srgbClr val="FFFFFF"/>
                </a:solidFill>
              </a:rPr>
              <a:t>VIDEO ANALYTICS</a:t>
            </a:r>
            <a:endParaRPr lang="en-US" sz="1200" dirty="0"/>
          </a:p>
        </p:txBody>
      </p:sp>
      <p:sp>
        <p:nvSpPr>
          <p:cNvPr id="15" name="Text 11"/>
          <p:cNvSpPr txBox="1"/>
          <p:nvPr/>
        </p:nvSpPr>
        <p:spPr>
          <a:xfrm>
            <a:off x="2377440" y="2148840"/>
            <a:ext cx="2606040" cy="237744"/>
          </a:xfrm>
          <a:prstGeom prst="rect">
            <a:avLst/>
          </a:prstGeom>
          <a:noFill/>
          <a:ln/>
        </p:spPr>
        <p:txBody>
          <a:bodyPr wrap="square" lIns="0" tIns="0" rIns="0" bIns="0" rtlCol="0" anchor="t"/>
          <a:lstStyle/>
          <a:p>
            <a:pPr indent="0" marL="0">
              <a:buNone/>
            </a:pPr>
            <a:r>
              <a:rPr lang="en-US" sz="1050" dirty="0">
                <a:solidFill>
                  <a:srgbClr val="A8A8A8"/>
                </a:solidFill>
              </a:rPr>
              <a:t>Video dispatcher &amp; aggregators</a:t>
            </a:r>
            <a:endParaRPr lang="en-US" sz="1050" dirty="0"/>
          </a:p>
        </p:txBody>
      </p:sp>
      <p:sp>
        <p:nvSpPr>
          <p:cNvPr id="16" name="Shape 12"/>
          <p:cNvSpPr/>
          <p:nvPr/>
        </p:nvSpPr>
        <p:spPr>
          <a:xfrm>
            <a:off x="5230368" y="1737360"/>
            <a:ext cx="3429000" cy="777240"/>
          </a:xfrm>
          <a:prstGeom prst="rect">
            <a:avLst/>
          </a:prstGeom>
          <a:gradFill rotWithShape="1">
            <a:gsLst>
              <a:gs pos="0">
                <a:srgbClr val="FFFFFF">
                  <a:alpha val="14000"/>
                </a:srgbClr>
              </a:gs>
              <a:gs pos="100000">
                <a:srgbClr val="FFFFFF">
                  <a:alpha val="2000"/>
                </a:srgbClr>
              </a:gs>
            </a:gsLst>
            <a:lin ang="0" scaled="0"/>
          </a:gradFill>
          <a:ln w="12700">
            <a:solidFill>
              <a:srgbClr val="D9D9D9"/>
            </a:solidFill>
            <a:prstDash val="solid"/>
          </a:ln>
        </p:spPr>
      </p:sp>
      <p:pic>
        <p:nvPicPr>
          <p:cNvPr id="17" name="Image 1" descr="Brain icon">    </p:cNvPr>
          <p:cNvPicPr>
            <a:picLocks noChangeAspect="1"/>
          </p:cNvPicPr>
          <p:nvPr/>
        </p:nvPicPr>
        <p:blipFill>
          <a:blip r:embed="rId3"/>
          <a:stretch>
            <a:fillRect/>
          </a:stretch>
        </p:blipFill>
        <p:spPr>
          <a:xfrm>
            <a:off x="5431536" y="1961388"/>
            <a:ext cx="329184" cy="329184"/>
          </a:xfrm>
          <a:prstGeom prst="rect">
            <a:avLst/>
          </a:prstGeom>
        </p:spPr>
      </p:pic>
      <p:sp>
        <p:nvSpPr>
          <p:cNvPr id="18" name="Text 13"/>
          <p:cNvSpPr txBox="1"/>
          <p:nvPr/>
        </p:nvSpPr>
        <p:spPr>
          <a:xfrm>
            <a:off x="5916168" y="1874520"/>
            <a:ext cx="2606040" cy="237744"/>
          </a:xfrm>
          <a:prstGeom prst="rect">
            <a:avLst/>
          </a:prstGeom>
          <a:noFill/>
          <a:ln/>
        </p:spPr>
        <p:txBody>
          <a:bodyPr wrap="square" lIns="0" tIns="0" rIns="0" bIns="0" rtlCol="0" anchor="t"/>
          <a:lstStyle/>
          <a:p>
            <a:pPr indent="0" marL="0">
              <a:buNone/>
            </a:pPr>
            <a:r>
              <a:rPr lang="en-US" sz="1200" b="1" spc="200" kern="0" dirty="0">
                <a:solidFill>
                  <a:srgbClr val="FFFFFF"/>
                </a:solidFill>
              </a:rPr>
              <a:t>A.I.</a:t>
            </a:r>
            <a:endParaRPr lang="en-US" sz="1200" dirty="0"/>
          </a:p>
        </p:txBody>
      </p:sp>
      <p:sp>
        <p:nvSpPr>
          <p:cNvPr id="19" name="Text 14"/>
          <p:cNvSpPr txBox="1"/>
          <p:nvPr/>
        </p:nvSpPr>
        <p:spPr>
          <a:xfrm>
            <a:off x="5916168" y="2148840"/>
            <a:ext cx="2606040" cy="237744"/>
          </a:xfrm>
          <a:prstGeom prst="rect">
            <a:avLst/>
          </a:prstGeom>
          <a:noFill/>
          <a:ln/>
        </p:spPr>
        <p:txBody>
          <a:bodyPr wrap="square" lIns="0" tIns="0" rIns="0" bIns="0" rtlCol="0" anchor="t"/>
          <a:lstStyle/>
          <a:p>
            <a:pPr indent="0" marL="0">
              <a:buNone/>
            </a:pPr>
            <a:r>
              <a:rPr lang="en-US" sz="1050" dirty="0">
                <a:solidFill>
                  <a:srgbClr val="A8A8A8"/>
                </a:solidFill>
              </a:rPr>
              <a:t>ML · LLM · AI</a:t>
            </a:r>
            <a:endParaRPr lang="en-US" sz="1050" dirty="0"/>
          </a:p>
        </p:txBody>
      </p:sp>
      <p:sp>
        <p:nvSpPr>
          <p:cNvPr id="20" name="Shape 15"/>
          <p:cNvSpPr/>
          <p:nvPr/>
        </p:nvSpPr>
        <p:spPr>
          <a:xfrm>
            <a:off x="1691640" y="2624328"/>
            <a:ext cx="6967728" cy="1216152"/>
          </a:xfrm>
          <a:prstGeom prst="rect">
            <a:avLst/>
          </a:prstGeom>
          <a:solidFill>
            <a:srgbClr val="080808"/>
          </a:solidFill>
          <a:ln w="9525">
            <a:solidFill>
              <a:srgbClr val="3C3C3C"/>
            </a:solidFill>
            <a:prstDash val="solid"/>
          </a:ln>
        </p:spPr>
      </p:sp>
      <p:sp>
        <p:nvSpPr>
          <p:cNvPr id="21" name="Text 16"/>
          <p:cNvSpPr txBox="1"/>
          <p:nvPr/>
        </p:nvSpPr>
        <p:spPr>
          <a:xfrm>
            <a:off x="1856232" y="2734056"/>
            <a:ext cx="3200400" cy="219456"/>
          </a:xfrm>
          <a:prstGeom prst="rect">
            <a:avLst/>
          </a:prstGeom>
          <a:noFill/>
          <a:ln/>
        </p:spPr>
        <p:txBody>
          <a:bodyPr wrap="square" lIns="0" tIns="0" rIns="0" bIns="0" rtlCol="0" anchor="t"/>
          <a:lstStyle/>
          <a:p>
            <a:pPr indent="0" marL="0">
              <a:buNone/>
            </a:pPr>
            <a:r>
              <a:rPr lang="en-US" sz="1100" b="1" spc="200" kern="0" dirty="0">
                <a:solidFill>
                  <a:srgbClr val="FFFFFF"/>
                </a:solidFill>
              </a:rPr>
              <a:t>T5-ISMS SITEWIDE</a:t>
            </a:r>
            <a:endParaRPr lang="en-US" sz="1100" dirty="0"/>
          </a:p>
        </p:txBody>
      </p:sp>
      <p:sp>
        <p:nvSpPr>
          <p:cNvPr id="22" name="Text 17"/>
          <p:cNvSpPr txBox="1"/>
          <p:nvPr/>
        </p:nvSpPr>
        <p:spPr>
          <a:xfrm>
            <a:off x="5294376" y="2734056"/>
            <a:ext cx="3200400" cy="219456"/>
          </a:xfrm>
          <a:prstGeom prst="rect">
            <a:avLst/>
          </a:prstGeom>
          <a:noFill/>
          <a:ln/>
        </p:spPr>
        <p:txBody>
          <a:bodyPr wrap="square" lIns="0" tIns="0" rIns="0" bIns="0" rtlCol="0" anchor="t"/>
          <a:lstStyle/>
          <a:p>
            <a:pPr algn="r" indent="0" marL="0">
              <a:buNone/>
            </a:pPr>
            <a:r>
              <a:rPr lang="en-US" sz="1000" spc="200" kern="0" dirty="0">
                <a:solidFill>
                  <a:srgbClr val="6F6F6F"/>
                </a:solidFill>
              </a:rPr>
              <a:t>5 CORE MODULES</a:t>
            </a:r>
            <a:endParaRPr lang="en-US" sz="1000" dirty="0"/>
          </a:p>
        </p:txBody>
      </p:sp>
      <p:pic>
        <p:nvPicPr>
          <p:cNvPr id="23" name="Image 2" descr="Cube Transparent icon">    </p:cNvPr>
          <p:cNvPicPr>
            <a:picLocks noChangeAspect="1"/>
          </p:cNvPicPr>
          <p:nvPr/>
        </p:nvPicPr>
        <p:blipFill>
          <a:blip r:embed="rId4"/>
          <a:stretch>
            <a:fillRect/>
          </a:stretch>
        </p:blipFill>
        <p:spPr>
          <a:xfrm>
            <a:off x="1965960" y="3081528"/>
            <a:ext cx="292608" cy="292608"/>
          </a:xfrm>
          <a:prstGeom prst="rect">
            <a:avLst/>
          </a:prstGeom>
        </p:spPr>
      </p:pic>
      <p:sp>
        <p:nvSpPr>
          <p:cNvPr id="24" name="Text 18"/>
          <p:cNvSpPr txBox="1"/>
          <p:nvPr/>
        </p:nvSpPr>
        <p:spPr>
          <a:xfrm>
            <a:off x="1965960" y="3429000"/>
            <a:ext cx="1110082" cy="365760"/>
          </a:xfrm>
          <a:prstGeom prst="rect">
            <a:avLst/>
          </a:prstGeom>
          <a:noFill/>
          <a:ln/>
        </p:spPr>
        <p:txBody>
          <a:bodyPr wrap="square" lIns="0" tIns="0" rIns="0" bIns="0" rtlCol="0" anchor="t"/>
          <a:lstStyle/>
          <a:p>
            <a:pPr indent="0" marL="0">
              <a:buNone/>
            </a:pPr>
            <a:r>
              <a:rPr lang="en-US" sz="1050" dirty="0">
                <a:solidFill>
                  <a:srgbClr val="FFFFFF"/>
                </a:solidFill>
              </a:rPr>
              <a:t>Digital Twin</a:t>
            </a:r>
            <a:endParaRPr lang="en-US" sz="1050" dirty="0"/>
          </a:p>
        </p:txBody>
      </p:sp>
      <p:sp>
        <p:nvSpPr>
          <p:cNvPr id="25" name="Shape 19"/>
          <p:cNvSpPr/>
          <p:nvPr/>
        </p:nvSpPr>
        <p:spPr>
          <a:xfrm>
            <a:off x="3167482" y="3081528"/>
            <a:ext cx="0" cy="640080"/>
          </a:xfrm>
          <a:prstGeom prst="line">
            <a:avLst/>
          </a:prstGeom>
          <a:noFill/>
          <a:ln w="9525">
            <a:solidFill>
              <a:srgbClr val="2A2A2A"/>
            </a:solidFill>
            <a:prstDash val="solid"/>
          </a:ln>
        </p:spPr>
      </p:sp>
      <p:pic>
        <p:nvPicPr>
          <p:cNvPr id="26" name="Image 3" descr="Siren icon">    </p:cNvPr>
          <p:cNvPicPr>
            <a:picLocks noChangeAspect="1"/>
          </p:cNvPicPr>
          <p:nvPr/>
        </p:nvPicPr>
        <p:blipFill>
          <a:blip r:embed="rId5"/>
          <a:stretch>
            <a:fillRect/>
          </a:stretch>
        </p:blipFill>
        <p:spPr>
          <a:xfrm>
            <a:off x="3304642" y="3081528"/>
            <a:ext cx="292608" cy="292608"/>
          </a:xfrm>
          <a:prstGeom prst="rect">
            <a:avLst/>
          </a:prstGeom>
        </p:spPr>
      </p:pic>
      <p:sp>
        <p:nvSpPr>
          <p:cNvPr id="27" name="Text 20"/>
          <p:cNvSpPr txBox="1"/>
          <p:nvPr/>
        </p:nvSpPr>
        <p:spPr>
          <a:xfrm>
            <a:off x="3304642" y="3429000"/>
            <a:ext cx="1110082" cy="365760"/>
          </a:xfrm>
          <a:prstGeom prst="rect">
            <a:avLst/>
          </a:prstGeom>
          <a:noFill/>
          <a:ln/>
        </p:spPr>
        <p:txBody>
          <a:bodyPr wrap="square" lIns="0" tIns="0" rIns="0" bIns="0" rtlCol="0" anchor="t"/>
          <a:lstStyle/>
          <a:p>
            <a:pPr indent="0" marL="0">
              <a:buNone/>
            </a:pPr>
            <a:r>
              <a:rPr lang="en-US" sz="1050" dirty="0">
                <a:solidFill>
                  <a:srgbClr val="FFFFFF"/>
                </a:solidFill>
              </a:rPr>
              <a:t>Incident &amp; Alarm Management</a:t>
            </a:r>
            <a:endParaRPr lang="en-US" sz="1050" dirty="0"/>
          </a:p>
        </p:txBody>
      </p:sp>
      <p:sp>
        <p:nvSpPr>
          <p:cNvPr id="28" name="Shape 21"/>
          <p:cNvSpPr/>
          <p:nvPr/>
        </p:nvSpPr>
        <p:spPr>
          <a:xfrm>
            <a:off x="4506163" y="3081528"/>
            <a:ext cx="0" cy="640080"/>
          </a:xfrm>
          <a:prstGeom prst="line">
            <a:avLst/>
          </a:prstGeom>
          <a:noFill/>
          <a:ln w="9525">
            <a:solidFill>
              <a:srgbClr val="2A2A2A"/>
            </a:solidFill>
            <a:prstDash val="solid"/>
          </a:ln>
        </p:spPr>
      </p:sp>
      <p:pic>
        <p:nvPicPr>
          <p:cNvPr id="29" name="Image 4" descr="Heartbeat icon">    </p:cNvPr>
          <p:cNvPicPr>
            <a:picLocks noChangeAspect="1"/>
          </p:cNvPicPr>
          <p:nvPr/>
        </p:nvPicPr>
        <p:blipFill>
          <a:blip r:embed="rId6"/>
          <a:stretch>
            <a:fillRect/>
          </a:stretch>
        </p:blipFill>
        <p:spPr>
          <a:xfrm>
            <a:off x="4643323" y="3081528"/>
            <a:ext cx="292608" cy="292608"/>
          </a:xfrm>
          <a:prstGeom prst="rect">
            <a:avLst/>
          </a:prstGeom>
        </p:spPr>
      </p:pic>
      <p:sp>
        <p:nvSpPr>
          <p:cNvPr id="30" name="Text 22"/>
          <p:cNvSpPr txBox="1"/>
          <p:nvPr/>
        </p:nvSpPr>
        <p:spPr>
          <a:xfrm>
            <a:off x="4643323" y="3429000"/>
            <a:ext cx="1110082" cy="365760"/>
          </a:xfrm>
          <a:prstGeom prst="rect">
            <a:avLst/>
          </a:prstGeom>
          <a:noFill/>
          <a:ln/>
        </p:spPr>
        <p:txBody>
          <a:bodyPr wrap="square" lIns="0" tIns="0" rIns="0" bIns="0" rtlCol="0" anchor="t"/>
          <a:lstStyle/>
          <a:p>
            <a:pPr indent="0" marL="0">
              <a:buNone/>
            </a:pPr>
            <a:r>
              <a:rPr lang="en-US" sz="1050" dirty="0">
                <a:solidFill>
                  <a:srgbClr val="FFFFFF"/>
                </a:solidFill>
              </a:rPr>
              <a:t>Sitewide Health Status</a:t>
            </a:r>
            <a:endParaRPr lang="en-US" sz="1050" dirty="0"/>
          </a:p>
        </p:txBody>
      </p:sp>
      <p:sp>
        <p:nvSpPr>
          <p:cNvPr id="31" name="Shape 23"/>
          <p:cNvSpPr/>
          <p:nvPr/>
        </p:nvSpPr>
        <p:spPr>
          <a:xfrm>
            <a:off x="5844845" y="3081528"/>
            <a:ext cx="0" cy="640080"/>
          </a:xfrm>
          <a:prstGeom prst="line">
            <a:avLst/>
          </a:prstGeom>
          <a:noFill/>
          <a:ln w="9525">
            <a:solidFill>
              <a:srgbClr val="2A2A2A"/>
            </a:solidFill>
            <a:prstDash val="solid"/>
          </a:ln>
        </p:spPr>
      </p:sp>
      <p:pic>
        <p:nvPicPr>
          <p:cNvPr id="32" name="Image 5" descr="Squares Four icon">    </p:cNvPr>
          <p:cNvPicPr>
            <a:picLocks noChangeAspect="1"/>
          </p:cNvPicPr>
          <p:nvPr/>
        </p:nvPicPr>
        <p:blipFill>
          <a:blip r:embed="rId7"/>
          <a:stretch>
            <a:fillRect/>
          </a:stretch>
        </p:blipFill>
        <p:spPr>
          <a:xfrm>
            <a:off x="5982005" y="3081528"/>
            <a:ext cx="292608" cy="292608"/>
          </a:xfrm>
          <a:prstGeom prst="rect">
            <a:avLst/>
          </a:prstGeom>
        </p:spPr>
      </p:pic>
      <p:sp>
        <p:nvSpPr>
          <p:cNvPr id="33" name="Text 24"/>
          <p:cNvSpPr txBox="1"/>
          <p:nvPr/>
        </p:nvSpPr>
        <p:spPr>
          <a:xfrm>
            <a:off x="5982005" y="3429000"/>
            <a:ext cx="1110082" cy="365760"/>
          </a:xfrm>
          <a:prstGeom prst="rect">
            <a:avLst/>
          </a:prstGeom>
          <a:noFill/>
          <a:ln/>
        </p:spPr>
        <p:txBody>
          <a:bodyPr wrap="square" lIns="0" tIns="0" rIns="0" bIns="0" rtlCol="0" anchor="t"/>
          <a:lstStyle/>
          <a:p>
            <a:pPr indent="0" marL="0">
              <a:buNone/>
            </a:pPr>
            <a:r>
              <a:rPr lang="en-US" sz="1050" dirty="0">
                <a:solidFill>
                  <a:srgbClr val="FFFFFF"/>
                </a:solidFill>
              </a:rPr>
              <a:t>Common Operating Picture</a:t>
            </a:r>
            <a:endParaRPr lang="en-US" sz="1050" dirty="0"/>
          </a:p>
        </p:txBody>
      </p:sp>
      <p:sp>
        <p:nvSpPr>
          <p:cNvPr id="34" name="Shape 25"/>
          <p:cNvSpPr/>
          <p:nvPr/>
        </p:nvSpPr>
        <p:spPr>
          <a:xfrm>
            <a:off x="7183526" y="3081528"/>
            <a:ext cx="0" cy="640080"/>
          </a:xfrm>
          <a:prstGeom prst="line">
            <a:avLst/>
          </a:prstGeom>
          <a:noFill/>
          <a:ln w="9525">
            <a:solidFill>
              <a:srgbClr val="2A2A2A"/>
            </a:solidFill>
            <a:prstDash val="solid"/>
          </a:ln>
        </p:spPr>
      </p:sp>
      <p:pic>
        <p:nvPicPr>
          <p:cNvPr id="35" name="Image 6" descr="Flow Arrow icon">    </p:cNvPr>
          <p:cNvPicPr>
            <a:picLocks noChangeAspect="1"/>
          </p:cNvPicPr>
          <p:nvPr/>
        </p:nvPicPr>
        <p:blipFill>
          <a:blip r:embed="rId8"/>
          <a:stretch>
            <a:fillRect/>
          </a:stretch>
        </p:blipFill>
        <p:spPr>
          <a:xfrm>
            <a:off x="7320686" y="3081528"/>
            <a:ext cx="292608" cy="292608"/>
          </a:xfrm>
          <a:prstGeom prst="rect">
            <a:avLst/>
          </a:prstGeom>
        </p:spPr>
      </p:pic>
      <p:sp>
        <p:nvSpPr>
          <p:cNvPr id="36" name="Text 26"/>
          <p:cNvSpPr txBox="1"/>
          <p:nvPr/>
        </p:nvSpPr>
        <p:spPr>
          <a:xfrm>
            <a:off x="7320686" y="3429000"/>
            <a:ext cx="1110082" cy="365760"/>
          </a:xfrm>
          <a:prstGeom prst="rect">
            <a:avLst/>
          </a:prstGeom>
          <a:noFill/>
          <a:ln/>
        </p:spPr>
        <p:txBody>
          <a:bodyPr wrap="square" lIns="0" tIns="0" rIns="0" bIns="0" rtlCol="0" anchor="t"/>
          <a:lstStyle/>
          <a:p>
            <a:pPr indent="0" marL="0">
              <a:buNone/>
            </a:pPr>
            <a:r>
              <a:rPr lang="en-US" sz="1050" dirty="0">
                <a:solidFill>
                  <a:srgbClr val="FFFFFF"/>
                </a:solidFill>
              </a:rPr>
              <a:t>Digital Workflow Engine</a:t>
            </a:r>
            <a:endParaRPr lang="en-US" sz="1050" dirty="0"/>
          </a:p>
        </p:txBody>
      </p:sp>
      <p:sp>
        <p:nvSpPr>
          <p:cNvPr id="37" name="Shape 27"/>
          <p:cNvSpPr/>
          <p:nvPr/>
        </p:nvSpPr>
        <p:spPr>
          <a:xfrm>
            <a:off x="1691640" y="3950208"/>
            <a:ext cx="6967728" cy="548640"/>
          </a:xfrm>
          <a:prstGeom prst="rect">
            <a:avLst/>
          </a:prstGeom>
          <a:solidFill>
            <a:srgbClr val="FFFFFF">
              <a:alpha val="8000"/>
            </a:srgbClr>
          </a:solidFill>
          <a:ln w="9525">
            <a:solidFill>
              <a:srgbClr val="4A4A4A"/>
            </a:solidFill>
            <a:prstDash val="solid"/>
          </a:ln>
        </p:spPr>
      </p:sp>
      <p:pic>
        <p:nvPicPr>
          <p:cNvPr id="38" name="Image 7" descr="Shield Check icon">    </p:cNvPr>
          <p:cNvPicPr>
            <a:picLocks noChangeAspect="1"/>
          </p:cNvPicPr>
          <p:nvPr/>
        </p:nvPicPr>
        <p:blipFill>
          <a:blip r:embed="rId9"/>
          <a:stretch>
            <a:fillRect/>
          </a:stretch>
        </p:blipFill>
        <p:spPr>
          <a:xfrm>
            <a:off x="1874520" y="4078224"/>
            <a:ext cx="292608" cy="292608"/>
          </a:xfrm>
          <a:prstGeom prst="rect">
            <a:avLst/>
          </a:prstGeom>
        </p:spPr>
      </p:pic>
      <p:sp>
        <p:nvSpPr>
          <p:cNvPr id="39" name="Text 28"/>
          <p:cNvSpPr txBox="1"/>
          <p:nvPr/>
        </p:nvSpPr>
        <p:spPr>
          <a:xfrm>
            <a:off x="2313432" y="3950208"/>
            <a:ext cx="5943600" cy="548640"/>
          </a:xfrm>
          <a:prstGeom prst="rect">
            <a:avLst/>
          </a:prstGeom>
          <a:noFill/>
          <a:ln/>
        </p:spPr>
        <p:txBody>
          <a:bodyPr wrap="square" lIns="0" tIns="0" rIns="0" bIns="0" rtlCol="0" anchor="ctr"/>
          <a:lstStyle/>
          <a:p>
            <a:pPr indent="0" marL="0">
              <a:buNone/>
            </a:pPr>
            <a:r>
              <a:rPr lang="en-US" sz="1100" b="1" spc="400" kern="0" dirty="0">
                <a:solidFill>
                  <a:srgbClr val="FFFFFF"/>
                </a:solidFill>
              </a:rPr>
              <a:t>NETWORK &amp; CYBER SECURITY LAYER</a:t>
            </a:r>
            <a:endParaRPr lang="en-US" sz="1100" dirty="0"/>
          </a:p>
        </p:txBody>
      </p:sp>
      <p:sp>
        <p:nvSpPr>
          <p:cNvPr id="40" name="Shape 29"/>
          <p:cNvSpPr/>
          <p:nvPr/>
        </p:nvSpPr>
        <p:spPr>
          <a:xfrm>
            <a:off x="8659368" y="4224528"/>
            <a:ext cx="164592" cy="0"/>
          </a:xfrm>
          <a:prstGeom prst="line">
            <a:avLst/>
          </a:prstGeom>
          <a:noFill/>
          <a:ln w="9525">
            <a:solidFill>
              <a:srgbClr val="6F6F6F"/>
            </a:solidFill>
            <a:prstDash val="solid"/>
          </a:ln>
        </p:spPr>
      </p:sp>
      <p:sp>
        <p:nvSpPr>
          <p:cNvPr id="41" name="Shape 30"/>
          <p:cNvSpPr/>
          <p:nvPr/>
        </p:nvSpPr>
        <p:spPr>
          <a:xfrm>
            <a:off x="2162687" y="4498848"/>
            <a:ext cx="0" cy="109728"/>
          </a:xfrm>
          <a:prstGeom prst="line">
            <a:avLst/>
          </a:prstGeom>
          <a:noFill/>
          <a:ln w="9525">
            <a:solidFill>
              <a:srgbClr val="5A5A5A"/>
            </a:solidFill>
            <a:prstDash val="solid"/>
          </a:ln>
        </p:spPr>
      </p:sp>
      <p:sp>
        <p:nvSpPr>
          <p:cNvPr id="42" name="Shape 31"/>
          <p:cNvSpPr/>
          <p:nvPr/>
        </p:nvSpPr>
        <p:spPr>
          <a:xfrm>
            <a:off x="1691640" y="4608576"/>
            <a:ext cx="942093" cy="1426464"/>
          </a:xfrm>
          <a:prstGeom prst="rect">
            <a:avLst/>
          </a:prstGeom>
          <a:solidFill>
            <a:srgbClr val="080808"/>
          </a:solidFill>
          <a:ln w="9525">
            <a:solidFill>
              <a:srgbClr val="3C3C3C"/>
            </a:solidFill>
            <a:prstDash val="solid"/>
          </a:ln>
        </p:spPr>
      </p:sp>
      <p:pic>
        <p:nvPicPr>
          <p:cNvPr id="43" name="Image 8" descr="Buildings icon">    </p:cNvPr>
          <p:cNvPicPr>
            <a:picLocks noChangeAspect="1"/>
          </p:cNvPicPr>
          <p:nvPr/>
        </p:nvPicPr>
        <p:blipFill>
          <a:blip r:embed="rId10"/>
          <a:stretch>
            <a:fillRect/>
          </a:stretch>
        </p:blipFill>
        <p:spPr>
          <a:xfrm>
            <a:off x="1783080" y="4736592"/>
            <a:ext cx="274320" cy="274320"/>
          </a:xfrm>
          <a:prstGeom prst="rect">
            <a:avLst/>
          </a:prstGeom>
        </p:spPr>
      </p:pic>
      <p:sp>
        <p:nvSpPr>
          <p:cNvPr id="44" name="Text 32"/>
          <p:cNvSpPr txBox="1"/>
          <p:nvPr/>
        </p:nvSpPr>
        <p:spPr>
          <a:xfrm>
            <a:off x="1783080" y="5120640"/>
            <a:ext cx="832365" cy="219456"/>
          </a:xfrm>
          <a:prstGeom prst="rect">
            <a:avLst/>
          </a:prstGeom>
          <a:noFill/>
          <a:ln/>
        </p:spPr>
        <p:txBody>
          <a:bodyPr wrap="square" lIns="0" tIns="0" rIns="0" bIns="0" rtlCol="0" anchor="t"/>
          <a:lstStyle/>
          <a:p>
            <a:pPr indent="0" marL="0">
              <a:buNone/>
            </a:pPr>
            <a:r>
              <a:rPr lang="en-US" sz="1000" b="1" dirty="0">
                <a:solidFill>
                  <a:srgbClr val="FFFFFF"/>
                </a:solidFill>
              </a:rPr>
              <a:t>T5A ISMS</a:t>
            </a:r>
            <a:endParaRPr lang="en-US" sz="1000" dirty="0"/>
          </a:p>
        </p:txBody>
      </p:sp>
      <p:sp>
        <p:nvSpPr>
          <p:cNvPr id="45" name="Text 33"/>
          <p:cNvSpPr txBox="1"/>
          <p:nvPr/>
        </p:nvSpPr>
        <p:spPr>
          <a:xfrm>
            <a:off x="1783080" y="5376672"/>
            <a:ext cx="814077" cy="603504"/>
          </a:xfrm>
          <a:prstGeom prst="rect">
            <a:avLst/>
          </a:prstGeom>
          <a:noFill/>
          <a:ln/>
        </p:spPr>
        <p:txBody>
          <a:bodyPr wrap="square" lIns="0" tIns="0" rIns="0" bIns="0" rtlCol="0" anchor="t"/>
          <a:lstStyle/>
          <a:p>
            <a:pPr indent="0" marL="0">
              <a:buNone/>
            </a:pPr>
            <a:r>
              <a:rPr lang="en-US" sz="1000" dirty="0">
                <a:solidFill>
                  <a:srgbClr val="A8A8A8"/>
                </a:solidFill>
              </a:rPr>
              <a:t>Terminal 5A</a:t>
            </a:r>
            <a:endParaRPr lang="en-US" sz="1000" dirty="0"/>
          </a:p>
        </p:txBody>
      </p:sp>
      <p:sp>
        <p:nvSpPr>
          <p:cNvPr id="46" name="Shape 34"/>
          <p:cNvSpPr/>
          <p:nvPr/>
        </p:nvSpPr>
        <p:spPr>
          <a:xfrm>
            <a:off x="3166959" y="4498848"/>
            <a:ext cx="0" cy="109728"/>
          </a:xfrm>
          <a:prstGeom prst="line">
            <a:avLst/>
          </a:prstGeom>
          <a:noFill/>
          <a:ln w="9525">
            <a:solidFill>
              <a:srgbClr val="5A5A5A"/>
            </a:solidFill>
            <a:prstDash val="solid"/>
          </a:ln>
        </p:spPr>
      </p:sp>
      <p:sp>
        <p:nvSpPr>
          <p:cNvPr id="47" name="Shape 35"/>
          <p:cNvSpPr/>
          <p:nvPr/>
        </p:nvSpPr>
        <p:spPr>
          <a:xfrm>
            <a:off x="2695912" y="4608576"/>
            <a:ext cx="942093" cy="1426464"/>
          </a:xfrm>
          <a:prstGeom prst="rect">
            <a:avLst/>
          </a:prstGeom>
          <a:solidFill>
            <a:srgbClr val="080808"/>
          </a:solidFill>
          <a:ln w="9525">
            <a:solidFill>
              <a:srgbClr val="3C3C3C"/>
            </a:solidFill>
            <a:prstDash val="solid"/>
          </a:ln>
        </p:spPr>
      </p:sp>
      <p:pic>
        <p:nvPicPr>
          <p:cNvPr id="48" name="Image 9" descr="Buildings icon">    </p:cNvPr>
          <p:cNvPicPr>
            <a:picLocks noChangeAspect="1"/>
          </p:cNvPicPr>
          <p:nvPr/>
        </p:nvPicPr>
        <p:blipFill>
          <a:blip r:embed="rId11"/>
          <a:stretch>
            <a:fillRect/>
          </a:stretch>
        </p:blipFill>
        <p:spPr>
          <a:xfrm>
            <a:off x="2787352" y="4736592"/>
            <a:ext cx="274320" cy="274320"/>
          </a:xfrm>
          <a:prstGeom prst="rect">
            <a:avLst/>
          </a:prstGeom>
        </p:spPr>
      </p:pic>
      <p:sp>
        <p:nvSpPr>
          <p:cNvPr id="49" name="Text 36"/>
          <p:cNvSpPr txBox="1"/>
          <p:nvPr/>
        </p:nvSpPr>
        <p:spPr>
          <a:xfrm>
            <a:off x="2787352" y="5120640"/>
            <a:ext cx="832365" cy="219456"/>
          </a:xfrm>
          <a:prstGeom prst="rect">
            <a:avLst/>
          </a:prstGeom>
          <a:noFill/>
          <a:ln/>
        </p:spPr>
        <p:txBody>
          <a:bodyPr wrap="square" lIns="0" tIns="0" rIns="0" bIns="0" rtlCol="0" anchor="t"/>
          <a:lstStyle/>
          <a:p>
            <a:pPr indent="0" marL="0">
              <a:buNone/>
            </a:pPr>
            <a:r>
              <a:rPr lang="en-US" sz="1000" b="1" dirty="0">
                <a:solidFill>
                  <a:srgbClr val="FFFFFF"/>
                </a:solidFill>
              </a:rPr>
              <a:t>T5B ISMS</a:t>
            </a:r>
            <a:endParaRPr lang="en-US" sz="1000" dirty="0"/>
          </a:p>
        </p:txBody>
      </p:sp>
      <p:sp>
        <p:nvSpPr>
          <p:cNvPr id="50" name="Text 37"/>
          <p:cNvSpPr txBox="1"/>
          <p:nvPr/>
        </p:nvSpPr>
        <p:spPr>
          <a:xfrm>
            <a:off x="2787352" y="5376672"/>
            <a:ext cx="814077" cy="603504"/>
          </a:xfrm>
          <a:prstGeom prst="rect">
            <a:avLst/>
          </a:prstGeom>
          <a:noFill/>
          <a:ln/>
        </p:spPr>
        <p:txBody>
          <a:bodyPr wrap="square" lIns="0" tIns="0" rIns="0" bIns="0" rtlCol="0" anchor="t"/>
          <a:lstStyle/>
          <a:p>
            <a:pPr indent="0" marL="0">
              <a:buNone/>
            </a:pPr>
            <a:r>
              <a:rPr lang="en-US" sz="1000" dirty="0">
                <a:solidFill>
                  <a:srgbClr val="A8A8A8"/>
                </a:solidFill>
              </a:rPr>
              <a:t>Terminal 5B</a:t>
            </a:r>
            <a:endParaRPr lang="en-US" sz="1000" dirty="0"/>
          </a:p>
        </p:txBody>
      </p:sp>
      <p:sp>
        <p:nvSpPr>
          <p:cNvPr id="51" name="Shape 38"/>
          <p:cNvSpPr/>
          <p:nvPr/>
        </p:nvSpPr>
        <p:spPr>
          <a:xfrm>
            <a:off x="4171232" y="4498848"/>
            <a:ext cx="0" cy="109728"/>
          </a:xfrm>
          <a:prstGeom prst="line">
            <a:avLst/>
          </a:prstGeom>
          <a:noFill/>
          <a:ln w="9525">
            <a:solidFill>
              <a:srgbClr val="5A5A5A"/>
            </a:solidFill>
            <a:prstDash val="solid"/>
          </a:ln>
        </p:spPr>
      </p:sp>
      <p:sp>
        <p:nvSpPr>
          <p:cNvPr id="52" name="Shape 39"/>
          <p:cNvSpPr/>
          <p:nvPr/>
        </p:nvSpPr>
        <p:spPr>
          <a:xfrm>
            <a:off x="3700185" y="4608576"/>
            <a:ext cx="942093" cy="1426464"/>
          </a:xfrm>
          <a:prstGeom prst="rect">
            <a:avLst/>
          </a:prstGeom>
          <a:solidFill>
            <a:srgbClr val="080808"/>
          </a:solidFill>
          <a:ln w="9525">
            <a:solidFill>
              <a:srgbClr val="3C3C3C"/>
            </a:solidFill>
            <a:prstDash val="solid"/>
          </a:ln>
        </p:spPr>
      </p:sp>
      <p:pic>
        <p:nvPicPr>
          <p:cNvPr id="53" name="Image 10" descr="Buildings icon">    </p:cNvPr>
          <p:cNvPicPr>
            <a:picLocks noChangeAspect="1"/>
          </p:cNvPicPr>
          <p:nvPr/>
        </p:nvPicPr>
        <p:blipFill>
          <a:blip r:embed="rId12"/>
          <a:stretch>
            <a:fillRect/>
          </a:stretch>
        </p:blipFill>
        <p:spPr>
          <a:xfrm>
            <a:off x="3791625" y="4736592"/>
            <a:ext cx="274320" cy="274320"/>
          </a:xfrm>
          <a:prstGeom prst="rect">
            <a:avLst/>
          </a:prstGeom>
        </p:spPr>
      </p:pic>
      <p:sp>
        <p:nvSpPr>
          <p:cNvPr id="54" name="Text 40"/>
          <p:cNvSpPr txBox="1"/>
          <p:nvPr/>
        </p:nvSpPr>
        <p:spPr>
          <a:xfrm>
            <a:off x="3791625" y="5120640"/>
            <a:ext cx="832365" cy="219456"/>
          </a:xfrm>
          <a:prstGeom prst="rect">
            <a:avLst/>
          </a:prstGeom>
          <a:noFill/>
          <a:ln/>
        </p:spPr>
        <p:txBody>
          <a:bodyPr wrap="square" lIns="0" tIns="0" rIns="0" bIns="0" rtlCol="0" anchor="t"/>
          <a:lstStyle/>
          <a:p>
            <a:pPr indent="0" marL="0">
              <a:buNone/>
            </a:pPr>
            <a:r>
              <a:rPr lang="en-US" sz="1000" b="1" dirty="0">
                <a:solidFill>
                  <a:srgbClr val="FFFFFF"/>
                </a:solidFill>
              </a:rPr>
              <a:t>T5C ISMS</a:t>
            </a:r>
            <a:endParaRPr lang="en-US" sz="1000" dirty="0"/>
          </a:p>
        </p:txBody>
      </p:sp>
      <p:sp>
        <p:nvSpPr>
          <p:cNvPr id="55" name="Text 41"/>
          <p:cNvSpPr txBox="1"/>
          <p:nvPr/>
        </p:nvSpPr>
        <p:spPr>
          <a:xfrm>
            <a:off x="3791625" y="5376672"/>
            <a:ext cx="814077" cy="603504"/>
          </a:xfrm>
          <a:prstGeom prst="rect">
            <a:avLst/>
          </a:prstGeom>
          <a:noFill/>
          <a:ln/>
        </p:spPr>
        <p:txBody>
          <a:bodyPr wrap="square" lIns="0" tIns="0" rIns="0" bIns="0" rtlCol="0" anchor="t"/>
          <a:lstStyle/>
          <a:p>
            <a:pPr indent="0" marL="0">
              <a:buNone/>
            </a:pPr>
            <a:r>
              <a:rPr lang="en-US" sz="1000" dirty="0">
                <a:solidFill>
                  <a:srgbClr val="A8A8A8"/>
                </a:solidFill>
              </a:rPr>
              <a:t>Terminal 5C</a:t>
            </a:r>
            <a:endParaRPr lang="en-US" sz="1000" dirty="0"/>
          </a:p>
        </p:txBody>
      </p:sp>
      <p:sp>
        <p:nvSpPr>
          <p:cNvPr id="56" name="Shape 42"/>
          <p:cNvSpPr/>
          <p:nvPr/>
        </p:nvSpPr>
        <p:spPr>
          <a:xfrm>
            <a:off x="5175504" y="4498848"/>
            <a:ext cx="0" cy="109728"/>
          </a:xfrm>
          <a:prstGeom prst="line">
            <a:avLst/>
          </a:prstGeom>
          <a:noFill/>
          <a:ln w="9525">
            <a:solidFill>
              <a:srgbClr val="5A5A5A"/>
            </a:solidFill>
            <a:prstDash val="solid"/>
          </a:ln>
        </p:spPr>
      </p:sp>
      <p:sp>
        <p:nvSpPr>
          <p:cNvPr id="57" name="Shape 43"/>
          <p:cNvSpPr/>
          <p:nvPr/>
        </p:nvSpPr>
        <p:spPr>
          <a:xfrm>
            <a:off x="4704457" y="4608576"/>
            <a:ext cx="942093" cy="1426464"/>
          </a:xfrm>
          <a:prstGeom prst="rect">
            <a:avLst/>
          </a:prstGeom>
          <a:solidFill>
            <a:srgbClr val="080808"/>
          </a:solidFill>
          <a:ln w="9525">
            <a:solidFill>
              <a:srgbClr val="3C3C3C"/>
            </a:solidFill>
            <a:prstDash val="solid"/>
          </a:ln>
        </p:spPr>
      </p:sp>
      <p:pic>
        <p:nvPicPr>
          <p:cNvPr id="58" name="Image 11" descr="Hard Hat icon">    </p:cNvPr>
          <p:cNvPicPr>
            <a:picLocks noChangeAspect="1"/>
          </p:cNvPicPr>
          <p:nvPr/>
        </p:nvPicPr>
        <p:blipFill>
          <a:blip r:embed="rId13"/>
          <a:stretch>
            <a:fillRect/>
          </a:stretch>
        </p:blipFill>
        <p:spPr>
          <a:xfrm>
            <a:off x="4795897" y="4736592"/>
            <a:ext cx="274320" cy="274320"/>
          </a:xfrm>
          <a:prstGeom prst="rect">
            <a:avLst/>
          </a:prstGeom>
        </p:spPr>
      </p:pic>
      <p:sp>
        <p:nvSpPr>
          <p:cNvPr id="59" name="Text 44"/>
          <p:cNvSpPr txBox="1"/>
          <p:nvPr/>
        </p:nvSpPr>
        <p:spPr>
          <a:xfrm>
            <a:off x="4795897" y="5120640"/>
            <a:ext cx="832365" cy="219456"/>
          </a:xfrm>
          <a:prstGeom prst="rect">
            <a:avLst/>
          </a:prstGeom>
          <a:noFill/>
          <a:ln/>
        </p:spPr>
        <p:txBody>
          <a:bodyPr wrap="square" lIns="0" tIns="0" rIns="0" bIns="0" rtlCol="0" anchor="t"/>
          <a:lstStyle/>
          <a:p>
            <a:pPr indent="0" marL="0">
              <a:buNone/>
            </a:pPr>
            <a:r>
              <a:rPr lang="en-US" sz="1000" b="1" dirty="0">
                <a:solidFill>
                  <a:srgbClr val="FFFFFF"/>
                </a:solidFill>
              </a:rPr>
              <a:t>LIW</a:t>
            </a:r>
            <a:endParaRPr lang="en-US" sz="1000" dirty="0"/>
          </a:p>
        </p:txBody>
      </p:sp>
      <p:sp>
        <p:nvSpPr>
          <p:cNvPr id="60" name="Text 45"/>
          <p:cNvSpPr txBox="1"/>
          <p:nvPr/>
        </p:nvSpPr>
        <p:spPr>
          <a:xfrm>
            <a:off x="4795897" y="5376672"/>
            <a:ext cx="814077" cy="603504"/>
          </a:xfrm>
          <a:prstGeom prst="rect">
            <a:avLst/>
          </a:prstGeom>
          <a:noFill/>
          <a:ln/>
        </p:spPr>
        <p:txBody>
          <a:bodyPr wrap="square" lIns="0" tIns="0" rIns="0" bIns="0" rtlCol="0" anchor="t"/>
          <a:lstStyle/>
          <a:p>
            <a:pPr indent="0" marL="0">
              <a:buNone/>
            </a:pPr>
            <a:r>
              <a:rPr lang="en-US" sz="1000" dirty="0">
                <a:solidFill>
                  <a:srgbClr val="A8A8A8"/>
                </a:solidFill>
              </a:rPr>
              <a:t>Land Infrastructure Works</a:t>
            </a:r>
            <a:endParaRPr lang="en-US" sz="1000" dirty="0"/>
          </a:p>
        </p:txBody>
      </p:sp>
      <p:sp>
        <p:nvSpPr>
          <p:cNvPr id="61" name="Shape 46"/>
          <p:cNvSpPr/>
          <p:nvPr/>
        </p:nvSpPr>
        <p:spPr>
          <a:xfrm>
            <a:off x="6179776" y="4498848"/>
            <a:ext cx="0" cy="109728"/>
          </a:xfrm>
          <a:prstGeom prst="line">
            <a:avLst/>
          </a:prstGeom>
          <a:noFill/>
          <a:ln w="9525">
            <a:solidFill>
              <a:srgbClr val="5A5A5A"/>
            </a:solidFill>
            <a:prstDash val="solid"/>
          </a:ln>
        </p:spPr>
      </p:sp>
      <p:sp>
        <p:nvSpPr>
          <p:cNvPr id="62" name="Shape 47"/>
          <p:cNvSpPr/>
          <p:nvPr/>
        </p:nvSpPr>
        <p:spPr>
          <a:xfrm>
            <a:off x="5708730" y="4608576"/>
            <a:ext cx="942093" cy="1426464"/>
          </a:xfrm>
          <a:prstGeom prst="rect">
            <a:avLst/>
          </a:prstGeom>
          <a:solidFill>
            <a:srgbClr val="080808"/>
          </a:solidFill>
          <a:ln w="9525">
            <a:solidFill>
              <a:srgbClr val="3C3C3C"/>
            </a:solidFill>
            <a:prstDash val="solid"/>
          </a:ln>
        </p:spPr>
      </p:sp>
      <p:pic>
        <p:nvPicPr>
          <p:cNvPr id="63" name="Image 12" descr="Train icon">    </p:cNvPr>
          <p:cNvPicPr>
            <a:picLocks noChangeAspect="1"/>
          </p:cNvPicPr>
          <p:nvPr/>
        </p:nvPicPr>
        <p:blipFill>
          <a:blip r:embed="rId14"/>
          <a:stretch>
            <a:fillRect/>
          </a:stretch>
        </p:blipFill>
        <p:spPr>
          <a:xfrm>
            <a:off x="5800170" y="4736592"/>
            <a:ext cx="274320" cy="274320"/>
          </a:xfrm>
          <a:prstGeom prst="rect">
            <a:avLst/>
          </a:prstGeom>
        </p:spPr>
      </p:pic>
      <p:sp>
        <p:nvSpPr>
          <p:cNvPr id="64" name="Text 48"/>
          <p:cNvSpPr txBox="1"/>
          <p:nvPr/>
        </p:nvSpPr>
        <p:spPr>
          <a:xfrm>
            <a:off x="5800170" y="5120640"/>
            <a:ext cx="832365" cy="219456"/>
          </a:xfrm>
          <a:prstGeom prst="rect">
            <a:avLst/>
          </a:prstGeom>
          <a:noFill/>
          <a:ln/>
        </p:spPr>
        <p:txBody>
          <a:bodyPr wrap="square" lIns="0" tIns="0" rIns="0" bIns="0" rtlCol="0" anchor="t"/>
          <a:lstStyle/>
          <a:p>
            <a:pPr indent="0" marL="0">
              <a:buNone/>
            </a:pPr>
            <a:r>
              <a:rPr lang="en-US" sz="1000" b="1" dirty="0">
                <a:solidFill>
                  <a:srgbClr val="FFFFFF"/>
                </a:solidFill>
              </a:rPr>
              <a:t>APM DEPOT</a:t>
            </a:r>
            <a:endParaRPr lang="en-US" sz="1000" dirty="0"/>
          </a:p>
        </p:txBody>
      </p:sp>
      <p:sp>
        <p:nvSpPr>
          <p:cNvPr id="65" name="Text 49"/>
          <p:cNvSpPr txBox="1"/>
          <p:nvPr/>
        </p:nvSpPr>
        <p:spPr>
          <a:xfrm>
            <a:off x="5800170" y="5376672"/>
            <a:ext cx="814077" cy="603504"/>
          </a:xfrm>
          <a:prstGeom prst="rect">
            <a:avLst/>
          </a:prstGeom>
          <a:noFill/>
          <a:ln/>
        </p:spPr>
        <p:txBody>
          <a:bodyPr wrap="square" lIns="0" tIns="0" rIns="0" bIns="0" rtlCol="0" anchor="t"/>
          <a:lstStyle/>
          <a:p>
            <a:pPr indent="0" marL="0">
              <a:buNone/>
            </a:pPr>
            <a:r>
              <a:rPr lang="en-US" sz="1000" dirty="0">
                <a:solidFill>
                  <a:srgbClr val="A8A8A8"/>
                </a:solidFill>
              </a:rPr>
              <a:t>Automated People Mover</a:t>
            </a:r>
            <a:endParaRPr lang="en-US" sz="1000" dirty="0"/>
          </a:p>
        </p:txBody>
      </p:sp>
      <p:sp>
        <p:nvSpPr>
          <p:cNvPr id="66" name="Shape 50"/>
          <p:cNvSpPr/>
          <p:nvPr/>
        </p:nvSpPr>
        <p:spPr>
          <a:xfrm>
            <a:off x="7184049" y="4498848"/>
            <a:ext cx="0" cy="109728"/>
          </a:xfrm>
          <a:prstGeom prst="line">
            <a:avLst/>
          </a:prstGeom>
          <a:noFill/>
          <a:ln w="9525">
            <a:solidFill>
              <a:srgbClr val="5A5A5A"/>
            </a:solidFill>
            <a:prstDash val="solid"/>
          </a:ln>
        </p:spPr>
      </p:sp>
      <p:sp>
        <p:nvSpPr>
          <p:cNvPr id="67" name="Shape 51"/>
          <p:cNvSpPr/>
          <p:nvPr/>
        </p:nvSpPr>
        <p:spPr>
          <a:xfrm>
            <a:off x="6713002" y="4608576"/>
            <a:ext cx="942093" cy="1426464"/>
          </a:xfrm>
          <a:prstGeom prst="rect">
            <a:avLst/>
          </a:prstGeom>
          <a:solidFill>
            <a:srgbClr val="080808"/>
          </a:solidFill>
          <a:ln w="9525">
            <a:solidFill>
              <a:srgbClr val="3C3C3C"/>
            </a:solidFill>
            <a:prstDash val="solid"/>
          </a:ln>
        </p:spPr>
      </p:sp>
      <p:pic>
        <p:nvPicPr>
          <p:cNvPr id="68" name="Image 13" descr="Airplane icon">    </p:cNvPr>
          <p:cNvPicPr>
            <a:picLocks noChangeAspect="1"/>
          </p:cNvPicPr>
          <p:nvPr/>
        </p:nvPicPr>
        <p:blipFill>
          <a:blip r:embed="rId15"/>
          <a:stretch>
            <a:fillRect/>
          </a:stretch>
        </p:blipFill>
        <p:spPr>
          <a:xfrm>
            <a:off x="6804442" y="4736592"/>
            <a:ext cx="274320" cy="274320"/>
          </a:xfrm>
          <a:prstGeom prst="rect">
            <a:avLst/>
          </a:prstGeom>
        </p:spPr>
      </p:pic>
      <p:sp>
        <p:nvSpPr>
          <p:cNvPr id="69" name="Text 52"/>
          <p:cNvSpPr txBox="1"/>
          <p:nvPr/>
        </p:nvSpPr>
        <p:spPr>
          <a:xfrm>
            <a:off x="6804442" y="5120640"/>
            <a:ext cx="832365" cy="219456"/>
          </a:xfrm>
          <a:prstGeom prst="rect">
            <a:avLst/>
          </a:prstGeom>
          <a:noFill/>
          <a:ln/>
        </p:spPr>
        <p:txBody>
          <a:bodyPr wrap="square" lIns="0" tIns="0" rIns="0" bIns="0" rtlCol="0" anchor="t"/>
          <a:lstStyle/>
          <a:p>
            <a:pPr indent="0" marL="0">
              <a:buNone/>
            </a:pPr>
            <a:r>
              <a:rPr lang="en-US" sz="1000" b="1" dirty="0">
                <a:solidFill>
                  <a:srgbClr val="FFFFFF"/>
                </a:solidFill>
              </a:rPr>
              <a:t>ERS</a:t>
            </a:r>
            <a:endParaRPr lang="en-US" sz="1000" dirty="0"/>
          </a:p>
        </p:txBody>
      </p:sp>
      <p:sp>
        <p:nvSpPr>
          <p:cNvPr id="70" name="Text 53"/>
          <p:cNvSpPr txBox="1"/>
          <p:nvPr/>
        </p:nvSpPr>
        <p:spPr>
          <a:xfrm>
            <a:off x="6804442" y="5376672"/>
            <a:ext cx="814077" cy="603504"/>
          </a:xfrm>
          <a:prstGeom prst="rect">
            <a:avLst/>
          </a:prstGeom>
          <a:noFill/>
          <a:ln/>
        </p:spPr>
        <p:txBody>
          <a:bodyPr wrap="square" lIns="0" tIns="0" rIns="0" bIns="0" rtlCol="0" anchor="t"/>
          <a:lstStyle/>
          <a:p>
            <a:pPr indent="0" marL="0">
              <a:buNone/>
            </a:pPr>
            <a:r>
              <a:rPr lang="en-US" sz="1000" dirty="0">
                <a:solidFill>
                  <a:srgbClr val="A8A8A8"/>
                </a:solidFill>
              </a:rPr>
              <a:t>Early Remote Stands</a:t>
            </a:r>
            <a:endParaRPr lang="en-US" sz="1000" dirty="0"/>
          </a:p>
        </p:txBody>
      </p:sp>
      <p:sp>
        <p:nvSpPr>
          <p:cNvPr id="71" name="Shape 54"/>
          <p:cNvSpPr/>
          <p:nvPr/>
        </p:nvSpPr>
        <p:spPr>
          <a:xfrm>
            <a:off x="8188321" y="4498848"/>
            <a:ext cx="0" cy="109728"/>
          </a:xfrm>
          <a:prstGeom prst="line">
            <a:avLst/>
          </a:prstGeom>
          <a:noFill/>
          <a:ln w="9525">
            <a:solidFill>
              <a:srgbClr val="5A5A5A"/>
            </a:solidFill>
            <a:prstDash val="solid"/>
          </a:ln>
        </p:spPr>
      </p:sp>
      <p:sp>
        <p:nvSpPr>
          <p:cNvPr id="72" name="Shape 55"/>
          <p:cNvSpPr/>
          <p:nvPr/>
        </p:nvSpPr>
        <p:spPr>
          <a:xfrm>
            <a:off x="7717275" y="4608576"/>
            <a:ext cx="942093" cy="1426464"/>
          </a:xfrm>
          <a:prstGeom prst="rect">
            <a:avLst/>
          </a:prstGeom>
          <a:solidFill>
            <a:srgbClr val="080808"/>
          </a:solidFill>
          <a:ln w="9525">
            <a:solidFill>
              <a:srgbClr val="6A6A6A"/>
            </a:solidFill>
            <a:prstDash val="dash"/>
          </a:ln>
        </p:spPr>
      </p:sp>
      <p:pic>
        <p:nvPicPr>
          <p:cNvPr id="73" name="Image 14" descr="Plus icon">    </p:cNvPr>
          <p:cNvPicPr>
            <a:picLocks noChangeAspect="1"/>
          </p:cNvPicPr>
          <p:nvPr/>
        </p:nvPicPr>
        <p:blipFill>
          <a:blip r:embed="rId16"/>
          <a:stretch>
            <a:fillRect/>
          </a:stretch>
        </p:blipFill>
        <p:spPr>
          <a:xfrm>
            <a:off x="7808715" y="4736592"/>
            <a:ext cx="274320" cy="274320"/>
          </a:xfrm>
          <a:prstGeom prst="rect">
            <a:avLst/>
          </a:prstGeom>
        </p:spPr>
      </p:pic>
      <p:sp>
        <p:nvSpPr>
          <p:cNvPr id="74" name="Text 56"/>
          <p:cNvSpPr txBox="1"/>
          <p:nvPr/>
        </p:nvSpPr>
        <p:spPr>
          <a:xfrm>
            <a:off x="7808715" y="5120640"/>
            <a:ext cx="832365" cy="219456"/>
          </a:xfrm>
          <a:prstGeom prst="rect">
            <a:avLst/>
          </a:prstGeom>
          <a:noFill/>
          <a:ln/>
        </p:spPr>
        <p:txBody>
          <a:bodyPr wrap="square" lIns="0" tIns="0" rIns="0" bIns="0" rtlCol="0" anchor="t"/>
          <a:lstStyle/>
          <a:p>
            <a:pPr indent="0" marL="0">
              <a:buNone/>
            </a:pPr>
            <a:r>
              <a:rPr lang="en-US" sz="1000" b="1" dirty="0">
                <a:solidFill>
                  <a:srgbClr val="FFFFFF"/>
                </a:solidFill>
              </a:rPr>
              <a:t>AO SITES</a:t>
            </a:r>
            <a:endParaRPr lang="en-US" sz="1000" dirty="0"/>
          </a:p>
        </p:txBody>
      </p:sp>
      <p:sp>
        <p:nvSpPr>
          <p:cNvPr id="75" name="Text 57"/>
          <p:cNvSpPr txBox="1"/>
          <p:nvPr/>
        </p:nvSpPr>
        <p:spPr>
          <a:xfrm>
            <a:off x="7808715" y="5376672"/>
            <a:ext cx="814077" cy="603504"/>
          </a:xfrm>
          <a:prstGeom prst="rect">
            <a:avLst/>
          </a:prstGeom>
          <a:noFill/>
          <a:ln/>
        </p:spPr>
        <p:txBody>
          <a:bodyPr wrap="square" lIns="0" tIns="0" rIns="0" bIns="0" rtlCol="0" anchor="t"/>
          <a:lstStyle/>
          <a:p>
            <a:pPr indent="0" marL="0">
              <a:buNone/>
            </a:pPr>
            <a:r>
              <a:rPr lang="en-US" sz="1000" dirty="0">
                <a:solidFill>
                  <a:srgbClr val="A8A8A8"/>
                </a:solidFill>
              </a:rPr>
              <a:t>Any Other Sites</a:t>
            </a:r>
            <a:endParaRPr lang="en-US" sz="1000" dirty="0"/>
          </a:p>
        </p:txBody>
      </p:sp>
      <p:sp>
        <p:nvSpPr>
          <p:cNvPr id="76" name="Shape 58"/>
          <p:cNvSpPr/>
          <p:nvPr/>
        </p:nvSpPr>
        <p:spPr>
          <a:xfrm>
            <a:off x="8823960" y="1737360"/>
            <a:ext cx="502920" cy="4297680"/>
          </a:xfrm>
          <a:prstGeom prst="rect">
            <a:avLst/>
          </a:prstGeom>
          <a:solidFill>
            <a:srgbClr val="FFFFFF">
              <a:alpha val="7000"/>
            </a:srgbClr>
          </a:solidFill>
          <a:ln w="9525">
            <a:solidFill>
              <a:srgbClr val="8A8A8A"/>
            </a:solidFill>
            <a:prstDash val="solid"/>
          </a:ln>
        </p:spPr>
      </p:sp>
      <p:sp>
        <p:nvSpPr>
          <p:cNvPr id="77" name="Text 59"/>
          <p:cNvSpPr txBox="1"/>
          <p:nvPr/>
        </p:nvSpPr>
        <p:spPr>
          <a:xfrm rot="16200000">
            <a:off x="7063740" y="3634740"/>
            <a:ext cx="4023360" cy="502920"/>
          </a:xfrm>
          <a:prstGeom prst="rect">
            <a:avLst/>
          </a:prstGeom>
          <a:noFill/>
          <a:ln/>
        </p:spPr>
        <p:txBody>
          <a:bodyPr wrap="square" lIns="0" tIns="0" rIns="0" bIns="0" rtlCol="0" anchor="ctr"/>
          <a:lstStyle/>
          <a:p>
            <a:pPr algn="ctr" indent="0" marL="0">
              <a:spcAft>
                <a:spcPts val="300"/>
              </a:spcAft>
              <a:buNone/>
            </a:pPr>
            <a:r>
              <a:rPr lang="en-US" sz="1100" b="1" spc="300" kern="0" dirty="0">
                <a:solidFill>
                  <a:srgbClr val="FFFFFF"/>
                </a:solidFill>
              </a:rPr>
              <a:t>05  /  ORCHESTRATION LAYER</a:t>
            </a:r>
            <a:endParaRPr lang="en-US" sz="1100" dirty="0"/>
          </a:p>
          <a:p>
            <a:pPr algn="ctr" indent="0" marL="0">
              <a:spcAft>
                <a:spcPts val="300"/>
              </a:spcAft>
              <a:buNone/>
            </a:pPr>
            <a:r>
              <a:rPr lang="en-US" sz="1000" spc="150" kern="0" dirty="0">
                <a:solidFill>
                  <a:srgbClr val="A8A8A8"/>
                </a:solidFill>
              </a:rPr>
              <a:t>API  ·  SDK  ·  DIO  ·  INDUSTRY STANDARDS</a:t>
            </a:r>
            <a:endParaRPr lang="en-US" sz="1100" dirty="0"/>
          </a:p>
        </p:txBody>
      </p:sp>
      <p:sp>
        <p:nvSpPr>
          <p:cNvPr id="78" name="Shape 60"/>
          <p:cNvSpPr/>
          <p:nvPr/>
        </p:nvSpPr>
        <p:spPr>
          <a:xfrm>
            <a:off x="8659368" y="2125980"/>
            <a:ext cx="164592" cy="0"/>
          </a:xfrm>
          <a:prstGeom prst="line">
            <a:avLst/>
          </a:prstGeom>
          <a:noFill/>
          <a:ln w="15875">
            <a:solidFill>
              <a:srgbClr val="FFFFFF"/>
            </a:solidFill>
            <a:prstDash val="solid"/>
            <a:headEnd type="triangle"/>
            <a:tailEnd type="triangle"/>
          </a:ln>
        </p:spPr>
      </p:sp>
      <p:sp>
        <p:nvSpPr>
          <p:cNvPr id="79" name="Shape 61"/>
          <p:cNvSpPr/>
          <p:nvPr/>
        </p:nvSpPr>
        <p:spPr>
          <a:xfrm>
            <a:off x="9491472" y="2176272"/>
            <a:ext cx="2194560" cy="1709928"/>
          </a:xfrm>
          <a:prstGeom prst="rect">
            <a:avLst/>
          </a:prstGeom>
          <a:solidFill>
            <a:srgbClr val="080808"/>
          </a:solidFill>
          <a:ln w="12700">
            <a:solidFill>
              <a:srgbClr val="D9D9D9"/>
            </a:solidFill>
            <a:prstDash val="solid"/>
          </a:ln>
        </p:spPr>
      </p:sp>
      <p:pic>
        <p:nvPicPr>
          <p:cNvPr id="80" name="Image 15" descr="Robot icon">    </p:cNvPr>
          <p:cNvPicPr>
            <a:picLocks noChangeAspect="1"/>
          </p:cNvPicPr>
          <p:nvPr/>
        </p:nvPicPr>
        <p:blipFill>
          <a:blip r:embed="rId17"/>
          <a:stretch>
            <a:fillRect/>
          </a:stretch>
        </p:blipFill>
        <p:spPr>
          <a:xfrm>
            <a:off x="9674352" y="2359152"/>
            <a:ext cx="329184" cy="329184"/>
          </a:xfrm>
          <a:prstGeom prst="rect">
            <a:avLst/>
          </a:prstGeom>
        </p:spPr>
      </p:pic>
      <p:sp>
        <p:nvSpPr>
          <p:cNvPr id="81" name="Text 62"/>
          <p:cNvSpPr txBox="1"/>
          <p:nvPr/>
        </p:nvSpPr>
        <p:spPr>
          <a:xfrm>
            <a:off x="10131552" y="2331720"/>
            <a:ext cx="1417320" cy="384048"/>
          </a:xfrm>
          <a:prstGeom prst="rect">
            <a:avLst/>
          </a:prstGeom>
          <a:noFill/>
          <a:ln/>
        </p:spPr>
        <p:txBody>
          <a:bodyPr wrap="square" lIns="0" tIns="0" rIns="0" bIns="0" rtlCol="0" anchor="t"/>
          <a:lstStyle/>
          <a:p>
            <a:pPr indent="0" marL="0">
              <a:buNone/>
            </a:pPr>
            <a:r>
              <a:rPr lang="en-US" sz="1150" b="1" spc="100" kern="0" dirty="0">
                <a:solidFill>
                  <a:srgbClr val="FFFFFF"/>
                </a:solidFill>
              </a:rPr>
              <a:t>ROBOTICS &amp;</a:t>
            </a:r>
            <a:endParaRPr lang="en-US" sz="1150" dirty="0"/>
          </a:p>
          <a:p>
            <a:pPr indent="0" marL="0">
              <a:buNone/>
            </a:pPr>
            <a:r>
              <a:rPr lang="en-US" sz="1150" b="1" spc="100" kern="0" dirty="0">
                <a:solidFill>
                  <a:srgbClr val="FFFFFF"/>
                </a:solidFill>
              </a:rPr>
              <a:t>AUTOMATION</a:t>
            </a:r>
            <a:endParaRPr lang="en-US" sz="1150" dirty="0"/>
          </a:p>
        </p:txBody>
      </p:sp>
      <p:sp>
        <p:nvSpPr>
          <p:cNvPr id="82" name="Shape 63"/>
          <p:cNvSpPr/>
          <p:nvPr/>
        </p:nvSpPr>
        <p:spPr>
          <a:xfrm>
            <a:off x="9674352" y="2889504"/>
            <a:ext cx="1828800" cy="0"/>
          </a:xfrm>
          <a:prstGeom prst="line">
            <a:avLst/>
          </a:prstGeom>
          <a:noFill/>
          <a:ln w="9525">
            <a:solidFill>
              <a:srgbClr val="2E2E2E"/>
            </a:solidFill>
            <a:prstDash val="solid"/>
          </a:ln>
        </p:spPr>
      </p:sp>
      <p:pic>
        <p:nvPicPr>
          <p:cNvPr id="83" name="Image 16" descr="Wheelchair Motion icon">    </p:cNvPr>
          <p:cNvPicPr>
            <a:picLocks noChangeAspect="1"/>
          </p:cNvPicPr>
          <p:nvPr/>
        </p:nvPicPr>
        <p:blipFill>
          <a:blip r:embed="rId18"/>
          <a:stretch>
            <a:fillRect/>
          </a:stretch>
        </p:blipFill>
        <p:spPr>
          <a:xfrm>
            <a:off x="9692640" y="3063240"/>
            <a:ext cx="256032" cy="256032"/>
          </a:xfrm>
          <a:prstGeom prst="rect">
            <a:avLst/>
          </a:prstGeom>
        </p:spPr>
      </p:pic>
      <p:sp>
        <p:nvSpPr>
          <p:cNvPr id="84" name="Text 64"/>
          <p:cNvSpPr txBox="1"/>
          <p:nvPr/>
        </p:nvSpPr>
        <p:spPr>
          <a:xfrm>
            <a:off x="10058400" y="3044952"/>
            <a:ext cx="1508760" cy="292608"/>
          </a:xfrm>
          <a:prstGeom prst="rect">
            <a:avLst/>
          </a:prstGeom>
          <a:noFill/>
          <a:ln/>
        </p:spPr>
        <p:txBody>
          <a:bodyPr wrap="square" lIns="0" tIns="0" rIns="0" bIns="0" rtlCol="0" anchor="ctr"/>
          <a:lstStyle/>
          <a:p>
            <a:pPr indent="0" marL="0">
              <a:buNone/>
            </a:pPr>
            <a:r>
              <a:rPr lang="en-US" sz="1050" dirty="0">
                <a:solidFill>
                  <a:srgbClr val="FFFFFF"/>
                </a:solidFill>
              </a:rPr>
              <a:t>Automated Wheelchair</a:t>
            </a:r>
            <a:endParaRPr lang="en-US" sz="1050" dirty="0"/>
          </a:p>
        </p:txBody>
      </p:sp>
      <p:pic>
        <p:nvPicPr>
          <p:cNvPr id="85" name="Image 17" descr="Shield Checkered icon">    </p:cNvPr>
          <p:cNvPicPr>
            <a:picLocks noChangeAspect="1"/>
          </p:cNvPicPr>
          <p:nvPr/>
        </p:nvPicPr>
        <p:blipFill>
          <a:blip r:embed="rId19"/>
          <a:stretch>
            <a:fillRect/>
          </a:stretch>
        </p:blipFill>
        <p:spPr>
          <a:xfrm>
            <a:off x="9692640" y="3465576"/>
            <a:ext cx="256032" cy="256032"/>
          </a:xfrm>
          <a:prstGeom prst="rect">
            <a:avLst/>
          </a:prstGeom>
        </p:spPr>
      </p:pic>
      <p:sp>
        <p:nvSpPr>
          <p:cNvPr id="86" name="Text 65"/>
          <p:cNvSpPr txBox="1"/>
          <p:nvPr/>
        </p:nvSpPr>
        <p:spPr>
          <a:xfrm>
            <a:off x="10058400" y="3447288"/>
            <a:ext cx="1508760" cy="292608"/>
          </a:xfrm>
          <a:prstGeom prst="rect">
            <a:avLst/>
          </a:prstGeom>
          <a:noFill/>
          <a:ln/>
        </p:spPr>
        <p:txBody>
          <a:bodyPr wrap="square" lIns="0" tIns="0" rIns="0" bIns="0" rtlCol="0" anchor="ctr"/>
          <a:lstStyle/>
          <a:p>
            <a:pPr indent="0" marL="0">
              <a:buNone/>
            </a:pPr>
            <a:r>
              <a:rPr lang="en-US" sz="1050" dirty="0">
                <a:solidFill>
                  <a:srgbClr val="FFFFFF"/>
                </a:solidFill>
              </a:rPr>
              <a:t>Patrol Robots</a:t>
            </a:r>
            <a:endParaRPr lang="en-US" sz="1050" dirty="0"/>
          </a:p>
        </p:txBody>
      </p:sp>
      <p:sp>
        <p:nvSpPr>
          <p:cNvPr id="87" name="Shape 66"/>
          <p:cNvSpPr/>
          <p:nvPr/>
        </p:nvSpPr>
        <p:spPr>
          <a:xfrm>
            <a:off x="9491472" y="3995928"/>
            <a:ext cx="2194560" cy="969264"/>
          </a:xfrm>
          <a:prstGeom prst="rect">
            <a:avLst/>
          </a:prstGeom>
          <a:solidFill>
            <a:srgbClr val="080808"/>
          </a:solidFill>
          <a:ln w="9525">
            <a:solidFill>
              <a:srgbClr val="3C3C3C"/>
            </a:solidFill>
            <a:prstDash val="solid"/>
          </a:ln>
        </p:spPr>
      </p:sp>
      <p:pic>
        <p:nvPicPr>
          <p:cNvPr id="88" name="Image 18" descr="Wrench icon">    </p:cNvPr>
          <p:cNvPicPr>
            <a:picLocks noChangeAspect="1"/>
          </p:cNvPicPr>
          <p:nvPr/>
        </p:nvPicPr>
        <p:blipFill>
          <a:blip r:embed="rId20"/>
          <a:stretch>
            <a:fillRect/>
          </a:stretch>
        </p:blipFill>
        <p:spPr>
          <a:xfrm>
            <a:off x="9674352" y="4315968"/>
            <a:ext cx="329184" cy="329184"/>
          </a:xfrm>
          <a:prstGeom prst="rect">
            <a:avLst/>
          </a:prstGeom>
        </p:spPr>
      </p:pic>
      <p:sp>
        <p:nvSpPr>
          <p:cNvPr id="89" name="Text 67"/>
          <p:cNvSpPr txBox="1"/>
          <p:nvPr/>
        </p:nvSpPr>
        <p:spPr>
          <a:xfrm>
            <a:off x="10131552" y="3995928"/>
            <a:ext cx="1417320" cy="969264"/>
          </a:xfrm>
          <a:prstGeom prst="rect">
            <a:avLst/>
          </a:prstGeom>
          <a:noFill/>
          <a:ln/>
        </p:spPr>
        <p:txBody>
          <a:bodyPr wrap="square" lIns="0" tIns="0" rIns="0" bIns="0" rtlCol="0" anchor="ctr"/>
          <a:lstStyle/>
          <a:p>
            <a:pPr indent="0" marL="0">
              <a:buNone/>
            </a:pPr>
            <a:r>
              <a:rPr lang="en-US" sz="1150" b="1" spc="100" kern="0" dirty="0">
                <a:solidFill>
                  <a:srgbClr val="FFFFFF"/>
                </a:solidFill>
              </a:rPr>
              <a:t>PREDICTIVE</a:t>
            </a:r>
            <a:endParaRPr lang="en-US" sz="1150" dirty="0"/>
          </a:p>
          <a:p>
            <a:pPr indent="0" marL="0">
              <a:buNone/>
            </a:pPr>
            <a:r>
              <a:rPr lang="en-US" sz="1150" b="1" spc="100" kern="0" dirty="0">
                <a:solidFill>
                  <a:srgbClr val="FFFFFF"/>
                </a:solidFill>
              </a:rPr>
              <a:t>MAINTENANCE</a:t>
            </a:r>
            <a:endParaRPr lang="en-US" sz="1150" dirty="0"/>
          </a:p>
        </p:txBody>
      </p:sp>
      <p:sp>
        <p:nvSpPr>
          <p:cNvPr id="90" name="Shape 68"/>
          <p:cNvSpPr/>
          <p:nvPr/>
        </p:nvSpPr>
        <p:spPr>
          <a:xfrm>
            <a:off x="9326880" y="4480560"/>
            <a:ext cx="164592" cy="0"/>
          </a:xfrm>
          <a:prstGeom prst="line">
            <a:avLst/>
          </a:prstGeom>
          <a:noFill/>
          <a:ln w="9525">
            <a:solidFill>
              <a:srgbClr val="A8A8A8"/>
            </a:solidFill>
            <a:prstDash val="solid"/>
          </a:ln>
        </p:spPr>
      </p:sp>
      <p:sp>
        <p:nvSpPr>
          <p:cNvPr id="91" name="Shape 69"/>
          <p:cNvSpPr/>
          <p:nvPr/>
        </p:nvSpPr>
        <p:spPr>
          <a:xfrm>
            <a:off x="9491472" y="5065776"/>
            <a:ext cx="2194560" cy="969264"/>
          </a:xfrm>
          <a:prstGeom prst="rect">
            <a:avLst/>
          </a:prstGeom>
          <a:solidFill>
            <a:srgbClr val="080808"/>
          </a:solidFill>
          <a:ln w="9525">
            <a:solidFill>
              <a:srgbClr val="3C3C3C"/>
            </a:solidFill>
            <a:prstDash val="solid"/>
          </a:ln>
        </p:spPr>
      </p:sp>
      <p:pic>
        <p:nvPicPr>
          <p:cNvPr id="92" name="Image 19" descr="Eye icon">    </p:cNvPr>
          <p:cNvPicPr>
            <a:picLocks noChangeAspect="1"/>
          </p:cNvPicPr>
          <p:nvPr/>
        </p:nvPicPr>
        <p:blipFill>
          <a:blip r:embed="rId21"/>
          <a:stretch>
            <a:fillRect/>
          </a:stretch>
        </p:blipFill>
        <p:spPr>
          <a:xfrm>
            <a:off x="9674352" y="5385816"/>
            <a:ext cx="329184" cy="329184"/>
          </a:xfrm>
          <a:prstGeom prst="rect">
            <a:avLst/>
          </a:prstGeom>
        </p:spPr>
      </p:pic>
      <p:sp>
        <p:nvSpPr>
          <p:cNvPr id="93" name="Text 70"/>
          <p:cNvSpPr txBox="1"/>
          <p:nvPr/>
        </p:nvSpPr>
        <p:spPr>
          <a:xfrm>
            <a:off x="10131552" y="5065776"/>
            <a:ext cx="1417320" cy="969264"/>
          </a:xfrm>
          <a:prstGeom prst="rect">
            <a:avLst/>
          </a:prstGeom>
          <a:noFill/>
          <a:ln/>
        </p:spPr>
        <p:txBody>
          <a:bodyPr wrap="square" lIns="0" tIns="0" rIns="0" bIns="0" rtlCol="0" anchor="ctr"/>
          <a:lstStyle/>
          <a:p>
            <a:pPr indent="0" marL="0">
              <a:buNone/>
            </a:pPr>
            <a:r>
              <a:rPr lang="en-US" sz="1150" b="1" spc="100" kern="0" dirty="0">
                <a:solidFill>
                  <a:srgbClr val="FFFFFF"/>
                </a:solidFill>
              </a:rPr>
              <a:t>VISION WATCH</a:t>
            </a:r>
            <a:endParaRPr lang="en-US" sz="1150" dirty="0"/>
          </a:p>
        </p:txBody>
      </p:sp>
      <p:sp>
        <p:nvSpPr>
          <p:cNvPr id="94" name="Shape 71"/>
          <p:cNvSpPr/>
          <p:nvPr/>
        </p:nvSpPr>
        <p:spPr>
          <a:xfrm>
            <a:off x="9326880" y="5550408"/>
            <a:ext cx="164592" cy="0"/>
          </a:xfrm>
          <a:prstGeom prst="line">
            <a:avLst/>
          </a:prstGeom>
          <a:noFill/>
          <a:ln w="9525">
            <a:solidFill>
              <a:srgbClr val="A8A8A8"/>
            </a:solidFill>
            <a:prstDash val="solid"/>
          </a:ln>
        </p:spPr>
      </p:sp>
      <p:sp>
        <p:nvSpPr>
          <p:cNvPr id="95" name="Shape 72"/>
          <p:cNvSpPr/>
          <p:nvPr/>
        </p:nvSpPr>
        <p:spPr>
          <a:xfrm>
            <a:off x="9326880" y="3031236"/>
            <a:ext cx="164592" cy="0"/>
          </a:xfrm>
          <a:prstGeom prst="line">
            <a:avLst/>
          </a:prstGeom>
          <a:noFill/>
          <a:ln w="15875">
            <a:solidFill>
              <a:srgbClr val="FFFFFF"/>
            </a:solidFill>
            <a:prstDash val="solid"/>
            <a:headEnd type="triangle"/>
            <a:tailEnd type="triangle"/>
          </a:ln>
        </p:spPr>
      </p:sp>
      <p:sp>
        <p:nvSpPr>
          <p:cNvPr id="96" name="Text 73"/>
          <p:cNvSpPr txBox="1"/>
          <p:nvPr/>
        </p:nvSpPr>
        <p:spPr>
          <a:xfrm>
            <a:off x="502920" y="6236208"/>
            <a:ext cx="6858000" cy="219456"/>
          </a:xfrm>
          <a:prstGeom prst="rect">
            <a:avLst/>
          </a:prstGeom>
          <a:noFill/>
          <a:ln/>
        </p:spPr>
        <p:txBody>
          <a:bodyPr wrap="square" lIns="0" tIns="0" rIns="0" bIns="0" rtlCol="0" anchor="t"/>
          <a:lstStyle/>
          <a:p>
            <a:pPr indent="0" marL="0">
              <a:buNone/>
            </a:pPr>
            <a:r>
              <a:rPr lang="en-US" sz="1000" spc="200" kern="0" dirty="0">
                <a:solidFill>
                  <a:srgbClr val="A8A8A8"/>
                </a:solidFill>
              </a:rPr>
              <a:t>OPEN STANDARDS  ·  INTEGRATED  ·  CYBER-SECURE  ·  FUTURE-READY</a:t>
            </a:r>
            <a:endParaRPr lang="en-US" sz="1000" dirty="0"/>
          </a:p>
        </p:txBody>
      </p:sp>
      <p:sp>
        <p:nvSpPr>
          <p:cNvPr id="97" name="Text 74"/>
          <p:cNvSpPr txBox="1"/>
          <p:nvPr/>
        </p:nvSpPr>
        <p:spPr>
          <a:xfrm>
            <a:off x="7498080" y="6236208"/>
            <a:ext cx="4187952" cy="219456"/>
          </a:xfrm>
          <a:prstGeom prst="rect">
            <a:avLst/>
          </a:prstGeom>
          <a:noFill/>
          <a:ln/>
        </p:spPr>
        <p:txBody>
          <a:bodyPr wrap="square" lIns="0" tIns="0" rIns="0" bIns="0" rtlCol="0" anchor="t"/>
          <a:lstStyle/>
          <a:p>
            <a:pPr algn="r" indent="0" marL="0">
              <a:buNone/>
            </a:pPr>
            <a:r>
              <a:rPr lang="en-US" sz="1000" spc="200" kern="0" dirty="0">
                <a:solidFill>
                  <a:srgbClr val="6F6F6F"/>
                </a:solidFill>
              </a:rPr>
              <a:t>INTEGRATED SECURITY MANAGEMENT SYSTEM</a:t>
            </a:r>
            <a:endParaRPr lang="en-US" sz="1000" dirty="0"/>
          </a:p>
        </p:txBody>
      </p:sp>
    </p:spTree>
  </p:cSld>
  <p:clrMapOvr>
    <a:masterClrMapping/>
  </p:clrMapOvr>
</p:sld>
</file>

<file path=ppt/theme/theme1.xml><?xml version="1.0" encoding="utf-8"?>
<a:theme xmlns:a="http://schemas.openxmlformats.org/drawingml/2006/main" name="T5 ISMS Orbital">
  <a:themeElements>
    <a:clrScheme name="T5 ISMS Orbital">
      <a:dk1>
        <a:srgbClr val="000000"/>
      </a:dk1>
      <a:lt1>
        <a:srgbClr val="FFFFFF"/>
      </a:lt1>
      <a:dk2>
        <a:srgbClr val="0A0A0A"/>
      </a:dk2>
      <a:lt2>
        <a:srgbClr val="A8A8A8"/>
      </a:lt2>
      <a:accent1>
        <a:srgbClr val="FFFFFF"/>
      </a:accent1>
      <a:accent2>
        <a:srgbClr val="A8A8A8"/>
      </a:accent2>
      <a:accent3>
        <a:srgbClr val="8CB8FF"/>
      </a:accent3>
      <a:accent4>
        <a:srgbClr val="6F6F6F"/>
      </a:accent4>
      <a:accent5>
        <a:srgbClr val="3C3C3C"/>
      </a:accent5>
      <a:accent6>
        <a:srgbClr val="FFF1DC"/>
      </a:accent6>
      <a:hlink>
        <a:srgbClr val="8CB8FF"/>
      </a:hlink>
      <a:folHlink>
        <a:srgbClr val="A8A8A8"/>
      </a:folHlink>
    </a:clrScheme>
    <a:fontScheme name="T5 ISMS Orbit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T5 ISMS Sitewide — Product Architecture (V1)</dc:title>
  <dc:subject>T5 ISMS Sitewide product architecture</dc:subject>
  <dc:creator>PptxGenJS</dc:creator>
  <cp:lastModifiedBy>PptxGenJS</cp:lastModifiedBy>
  <cp:revision>1</cp:revision>
  <dcterms:created xsi:type="dcterms:W3CDTF">2026-10-14T06:58:22Z</dcterms:created>
  <dcterms:modified xsi:type="dcterms:W3CDTF">2026-10-14T06:58:22Z</dcterms:modified>
</cp:coreProperties>
</file>