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image" Target="../media/image-1-27.png"/><Relationship Id="rId28" Type="http://schemas.openxmlformats.org/officeDocument/2006/relationships/slideLayout" Target="../slideLayouts/slideLayout1.xml"/><Relationship Id="rId2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274320" y="274320"/>
            <a:ext cx="219456" cy="0"/>
          </a:xfrm>
          <a:prstGeom prst="line">
            <a:avLst/>
          </a:prstGeom>
          <a:noFill/>
          <a:ln w="12700">
            <a:solidFill>
              <a:srgbClr val="00E5FF">
                <a:alpha val="65000"/>
              </a:srgbClr>
            </a:solidFill>
            <a:prstDash val="solid"/>
          </a:ln>
        </p:spPr>
      </p:sp>
      <p:sp>
        <p:nvSpPr>
          <p:cNvPr id="4" name="Shape 1"/>
          <p:cNvSpPr/>
          <p:nvPr/>
        </p:nvSpPr>
        <p:spPr>
          <a:xfrm>
            <a:off x="274320" y="274320"/>
            <a:ext cx="0" cy="219456"/>
          </a:xfrm>
          <a:prstGeom prst="line">
            <a:avLst/>
          </a:prstGeom>
          <a:noFill/>
          <a:ln w="12700">
            <a:solidFill>
              <a:srgbClr val="00E5FF">
                <a:alpha val="65000"/>
              </a:srgbClr>
            </a:solidFill>
            <a:prstDash val="solid"/>
          </a:ln>
        </p:spPr>
      </p:sp>
      <p:sp>
        <p:nvSpPr>
          <p:cNvPr id="5" name="Shape 2"/>
          <p:cNvSpPr/>
          <p:nvPr/>
        </p:nvSpPr>
        <p:spPr>
          <a:xfrm flipH="1">
            <a:off x="11697919" y="274320"/>
            <a:ext cx="219456" cy="0"/>
          </a:xfrm>
          <a:prstGeom prst="line">
            <a:avLst/>
          </a:prstGeom>
          <a:noFill/>
          <a:ln w="12700">
            <a:solidFill>
              <a:srgbClr val="00E5FF">
                <a:alpha val="65000"/>
              </a:srgbClr>
            </a:solidFill>
            <a:prstDash val="solid"/>
          </a:ln>
        </p:spPr>
      </p:sp>
      <p:sp>
        <p:nvSpPr>
          <p:cNvPr id="6" name="Shape 3"/>
          <p:cNvSpPr/>
          <p:nvPr/>
        </p:nvSpPr>
        <p:spPr>
          <a:xfrm>
            <a:off x="11917375" y="274320"/>
            <a:ext cx="0" cy="219456"/>
          </a:xfrm>
          <a:prstGeom prst="line">
            <a:avLst/>
          </a:prstGeom>
          <a:noFill/>
          <a:ln w="12700">
            <a:solidFill>
              <a:srgbClr val="00E5FF">
                <a:alpha val="65000"/>
              </a:srgbClr>
            </a:solidFill>
            <a:prstDash val="solid"/>
          </a:ln>
        </p:spPr>
      </p:sp>
      <p:sp>
        <p:nvSpPr>
          <p:cNvPr id="7" name="Shape 4"/>
          <p:cNvSpPr/>
          <p:nvPr/>
        </p:nvSpPr>
        <p:spPr>
          <a:xfrm>
            <a:off x="274320" y="6583680"/>
            <a:ext cx="219456" cy="0"/>
          </a:xfrm>
          <a:prstGeom prst="line">
            <a:avLst/>
          </a:prstGeom>
          <a:noFill/>
          <a:ln w="12700">
            <a:solidFill>
              <a:srgbClr val="00E5FF">
                <a:alpha val="65000"/>
              </a:srgbClr>
            </a:solidFill>
            <a:prstDash val="solid"/>
          </a:ln>
        </p:spPr>
      </p:sp>
      <p:sp>
        <p:nvSpPr>
          <p:cNvPr id="8" name="Shape 5"/>
          <p:cNvSpPr/>
          <p:nvPr/>
        </p:nvSpPr>
        <p:spPr>
          <a:xfrm flipV="1">
            <a:off x="274320" y="6364224"/>
            <a:ext cx="0" cy="219456"/>
          </a:xfrm>
          <a:prstGeom prst="line">
            <a:avLst/>
          </a:prstGeom>
          <a:noFill/>
          <a:ln w="12700">
            <a:solidFill>
              <a:srgbClr val="00E5FF">
                <a:alpha val="65000"/>
              </a:srgbClr>
            </a:solidFill>
            <a:prstDash val="solid"/>
          </a:ln>
        </p:spPr>
      </p:sp>
      <p:sp>
        <p:nvSpPr>
          <p:cNvPr id="9" name="Shape 6"/>
          <p:cNvSpPr/>
          <p:nvPr/>
        </p:nvSpPr>
        <p:spPr>
          <a:xfrm flipH="1">
            <a:off x="11697919" y="6583680"/>
            <a:ext cx="219456" cy="0"/>
          </a:xfrm>
          <a:prstGeom prst="line">
            <a:avLst/>
          </a:prstGeom>
          <a:noFill/>
          <a:ln w="12700">
            <a:solidFill>
              <a:srgbClr val="00E5FF">
                <a:alpha val="65000"/>
              </a:srgbClr>
            </a:solidFill>
            <a:prstDash val="solid"/>
          </a:ln>
        </p:spPr>
      </p:sp>
      <p:sp>
        <p:nvSpPr>
          <p:cNvPr id="10" name="Shape 7"/>
          <p:cNvSpPr/>
          <p:nvPr/>
        </p:nvSpPr>
        <p:spPr>
          <a:xfrm flipV="1">
            <a:off x="11917375" y="6364224"/>
            <a:ext cx="0" cy="219456"/>
          </a:xfrm>
          <a:prstGeom prst="line">
            <a:avLst/>
          </a:prstGeom>
          <a:noFill/>
          <a:ln w="12700">
            <a:solidFill>
              <a:srgbClr val="00E5FF">
                <a:alpha val="65000"/>
              </a:srgbClr>
            </a:solidFill>
            <a:prstDash val="solid"/>
          </a:ln>
        </p:spPr>
      </p:sp>
      <p:sp>
        <p:nvSpPr>
          <p:cNvPr id="11" name="Text 8"/>
          <p:cNvSpPr txBox="1"/>
          <p:nvPr/>
        </p:nvSpPr>
        <p:spPr>
          <a:xfrm>
            <a:off x="502920" y="384048"/>
            <a:ext cx="7315200" cy="219456"/>
          </a:xfrm>
          <a:prstGeom prst="rect">
            <a:avLst/>
          </a:prstGeom>
          <a:noFill/>
          <a:ln/>
        </p:spPr>
        <p:txBody>
          <a:bodyPr wrap="square" lIns="0" tIns="0" rIns="0" bIns="0" rtlCol="0" anchor="t"/>
          <a:lstStyle/>
          <a:p>
            <a:pPr indent="0" marL="0">
              <a:buNone/>
            </a:pPr>
            <a:r>
              <a:rPr lang="en-US" sz="1000" b="1" spc="400" kern="0" dirty="0">
                <a:solidFill>
                  <a:srgbClr val="00E5FF"/>
                </a:solidFill>
              </a:rPr>
              <a:t>T5 ISMS SITEWIDE  //  PRODUCT ARCHITECTURE</a:t>
            </a:r>
            <a:endParaRPr lang="en-US" sz="1000" dirty="0"/>
          </a:p>
        </p:txBody>
      </p:sp>
      <p:sp>
        <p:nvSpPr>
          <p:cNvPr id="12" name="Text 9"/>
          <p:cNvSpPr txBox="1"/>
          <p:nvPr/>
        </p:nvSpPr>
        <p:spPr>
          <a:xfrm>
            <a:off x="502920" y="640080"/>
            <a:ext cx="11183112" cy="457200"/>
          </a:xfrm>
          <a:prstGeom prst="rect">
            <a:avLst/>
          </a:prstGeom>
          <a:noFill/>
          <a:ln/>
        </p:spPr>
        <p:txBody>
          <a:bodyPr wrap="square" lIns="0" tIns="0" rIns="0" bIns="0" rtlCol="0" anchor="t"/>
          <a:lstStyle/>
          <a:p>
            <a:pPr indent="0" marL="0">
              <a:buNone/>
            </a:pPr>
            <a:r>
              <a:rPr lang="en-US" sz="2400" b="1" spc="150" kern="0" dirty="0">
                <a:solidFill>
                  <a:srgbClr val="FFFFFF"/>
                </a:solidFill>
                <a:effectLst>
                  <a:glow rad="101600">
                    <a:srgbClr val="00B8FF">
                      <a:alpha val="35000"/>
                    </a:srgbClr>
                  </a:glow>
                </a:effectLst>
              </a:rPr>
              <a:t>ONE PLATFORM. EVERY SITE. </a:t>
            </a:r>
            <a:pPr indent="0" marL="0">
              <a:buNone/>
            </a:pPr>
            <a:r>
              <a:rPr lang="en-US" sz="2400" b="1" spc="150" kern="0" dirty="0">
                <a:gradFill rotWithShape="1">
                  <a:gsLst>
                    <a:gs pos="0">
                      <a:srgbClr val="00E5FF"/>
                    </a:gs>
                    <a:gs pos="100000">
                      <a:srgbClr val="8B5CF6"/>
                    </a:gs>
                  </a:gsLst>
                  <a:lin ang="0" scaled="0"/>
                </a:gradFill>
                <a:effectLst>
                  <a:glow rad="101600">
                    <a:srgbClr val="00B8FF">
                      <a:alpha val="35000"/>
                    </a:srgbClr>
                  </a:glow>
                </a:effectLst>
              </a:rPr>
              <a:t>READY FOR AUTONOMY.</a:t>
            </a:r>
            <a:endParaRPr lang="en-US" sz="2400" dirty="0"/>
          </a:p>
        </p:txBody>
      </p:sp>
      <p:sp>
        <p:nvSpPr>
          <p:cNvPr id="13" name="Text 10"/>
          <p:cNvSpPr txBox="1"/>
          <p:nvPr/>
        </p:nvSpPr>
        <p:spPr>
          <a:xfrm>
            <a:off x="502920" y="1097280"/>
            <a:ext cx="10058400" cy="274320"/>
          </a:xfrm>
          <a:prstGeom prst="rect">
            <a:avLst/>
          </a:prstGeom>
          <a:noFill/>
          <a:ln/>
        </p:spPr>
        <p:txBody>
          <a:bodyPr wrap="square" lIns="0" tIns="0" rIns="0" bIns="0" rtlCol="0" anchor="t"/>
          <a:lstStyle/>
          <a:p>
            <a:pPr indent="0" marL="0">
              <a:buNone/>
            </a:pPr>
            <a:r>
              <a:rPr lang="en-US" sz="1200" dirty="0">
                <a:solidFill>
                  <a:srgbClr val="8FA3BF"/>
                </a:solidFill>
              </a:rPr>
              <a:t>Open-standards based and integrated — future-ready for advanced sensors, AI/ML and autonomous technologies.</a:t>
            </a:r>
            <a:endParaRPr lang="en-US" sz="1200" dirty="0"/>
          </a:p>
        </p:txBody>
      </p:sp>
      <p:sp>
        <p:nvSpPr>
          <p:cNvPr id="14" name="Shape 11"/>
          <p:cNvSpPr/>
          <p:nvPr/>
        </p:nvSpPr>
        <p:spPr>
          <a:xfrm>
            <a:off x="502920" y="1828800"/>
            <a:ext cx="11183112" cy="0"/>
          </a:xfrm>
          <a:prstGeom prst="line">
            <a:avLst/>
          </a:prstGeom>
          <a:noFill/>
          <a:ln w="9525">
            <a:solidFill>
              <a:srgbClr val="00E5FF">
                <a:alpha val="28000"/>
              </a:srgbClr>
            </a:solidFill>
            <a:prstDash val="solid"/>
          </a:ln>
        </p:spPr>
      </p:sp>
      <p:sp>
        <p:nvSpPr>
          <p:cNvPr id="15" name="Text 12"/>
          <p:cNvSpPr txBox="1"/>
          <p:nvPr/>
        </p:nvSpPr>
        <p:spPr>
          <a:xfrm>
            <a:off x="57150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01  </a:t>
            </a:r>
            <a:pPr algn="ctr" indent="0" marL="0">
              <a:buNone/>
            </a:pPr>
            <a:r>
              <a:rPr lang="en-US" sz="1000" b="1" spc="300" kern="0" dirty="0">
                <a:solidFill>
                  <a:srgbClr val="FFFFFF"/>
                </a:solidFill>
              </a:rPr>
              <a:t>CONNECT</a:t>
            </a:r>
            <a:endParaRPr lang="en-US" sz="1000" dirty="0"/>
          </a:p>
        </p:txBody>
      </p:sp>
      <p:sp>
        <p:nvSpPr>
          <p:cNvPr id="16" name="Shape 13"/>
          <p:cNvSpPr/>
          <p:nvPr/>
        </p:nvSpPr>
        <p:spPr>
          <a:xfrm>
            <a:off x="153162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17" name="Text 14"/>
          <p:cNvSpPr txBox="1"/>
          <p:nvPr/>
        </p:nvSpPr>
        <p:spPr>
          <a:xfrm>
            <a:off x="205740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02  </a:t>
            </a:r>
            <a:pPr algn="ctr" indent="0" marL="0">
              <a:buNone/>
            </a:pPr>
            <a:r>
              <a:rPr lang="en-US" sz="1000" b="1" spc="300" kern="0" dirty="0">
                <a:solidFill>
                  <a:srgbClr val="FFFFFF"/>
                </a:solidFill>
              </a:rPr>
              <a:t>SECURE</a:t>
            </a:r>
            <a:endParaRPr lang="en-US" sz="1000" dirty="0"/>
          </a:p>
        </p:txBody>
      </p:sp>
      <p:sp>
        <p:nvSpPr>
          <p:cNvPr id="18" name="Shape 15"/>
          <p:cNvSpPr/>
          <p:nvPr/>
        </p:nvSpPr>
        <p:spPr>
          <a:xfrm>
            <a:off x="301752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19" name="Text 16"/>
          <p:cNvSpPr txBox="1"/>
          <p:nvPr/>
        </p:nvSpPr>
        <p:spPr>
          <a:xfrm>
            <a:off x="443484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03  </a:t>
            </a:r>
            <a:pPr algn="ctr" indent="0" marL="0">
              <a:buNone/>
            </a:pPr>
            <a:r>
              <a:rPr lang="en-US" sz="1000" b="1" spc="300" kern="0" dirty="0">
                <a:solidFill>
                  <a:srgbClr val="FFFFFF"/>
                </a:solidFill>
              </a:rPr>
              <a:t>UNIFY</a:t>
            </a:r>
            <a:endParaRPr lang="en-US" sz="1000" dirty="0"/>
          </a:p>
        </p:txBody>
      </p:sp>
      <p:sp>
        <p:nvSpPr>
          <p:cNvPr id="20" name="Shape 17"/>
          <p:cNvSpPr/>
          <p:nvPr/>
        </p:nvSpPr>
        <p:spPr>
          <a:xfrm>
            <a:off x="539496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21" name="Text 18"/>
          <p:cNvSpPr txBox="1"/>
          <p:nvPr/>
        </p:nvSpPr>
        <p:spPr>
          <a:xfrm>
            <a:off x="752094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04  </a:t>
            </a:r>
            <a:pPr algn="ctr" indent="0" marL="0">
              <a:buNone/>
            </a:pPr>
            <a:r>
              <a:rPr lang="en-US" sz="1000" b="1" spc="300" kern="0" dirty="0">
                <a:solidFill>
                  <a:srgbClr val="FFFFFF"/>
                </a:solidFill>
              </a:rPr>
              <a:t>ORCHESTRATE</a:t>
            </a:r>
            <a:endParaRPr lang="en-US" sz="1000" dirty="0"/>
          </a:p>
        </p:txBody>
      </p:sp>
      <p:sp>
        <p:nvSpPr>
          <p:cNvPr id="22" name="Shape 19"/>
          <p:cNvSpPr/>
          <p:nvPr/>
        </p:nvSpPr>
        <p:spPr>
          <a:xfrm>
            <a:off x="848106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23" name="Text 20"/>
          <p:cNvSpPr txBox="1"/>
          <p:nvPr/>
        </p:nvSpPr>
        <p:spPr>
          <a:xfrm>
            <a:off x="9637776"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05  </a:t>
            </a:r>
            <a:pPr algn="ctr" indent="0" marL="0">
              <a:buNone/>
            </a:pPr>
            <a:r>
              <a:rPr lang="en-US" sz="1000" b="1" spc="300" kern="0" dirty="0">
                <a:solidFill>
                  <a:srgbClr val="FFFFFF"/>
                </a:solidFill>
              </a:rPr>
              <a:t>AUTOMATE</a:t>
            </a:r>
            <a:endParaRPr lang="en-US" sz="1000" dirty="0"/>
          </a:p>
        </p:txBody>
      </p:sp>
      <p:sp>
        <p:nvSpPr>
          <p:cNvPr id="24" name="Shape 21"/>
          <p:cNvSpPr/>
          <p:nvPr/>
        </p:nvSpPr>
        <p:spPr>
          <a:xfrm>
            <a:off x="10597896"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25" name="Shape 22"/>
          <p:cNvSpPr/>
          <p:nvPr/>
        </p:nvSpPr>
        <p:spPr>
          <a:xfrm>
            <a:off x="502920" y="2011680"/>
            <a:ext cx="2148840" cy="531658"/>
          </a:xfrm>
          <a:prstGeom prst="roundRect">
            <a:avLst>
              <a:gd name="adj" fmla="val 13759"/>
            </a:avLst>
          </a:prstGeom>
          <a:solidFill>
            <a:srgbClr val="081426">
              <a:alpha val="90000"/>
            </a:srgbClr>
          </a:solidFill>
          <a:ln w="9525">
            <a:solidFill>
              <a:srgbClr val="1D4E7A"/>
            </a:solidFill>
            <a:prstDash val="solid"/>
          </a:ln>
        </p:spPr>
      </p:sp>
      <p:pic>
        <p:nvPicPr>
          <p:cNvPr id="26" name="Image 0" descr="Buildings icon">    </p:cNvPr>
          <p:cNvPicPr>
            <a:picLocks noChangeAspect="1"/>
          </p:cNvPicPr>
          <p:nvPr/>
        </p:nvPicPr>
        <p:blipFill>
          <a:blip r:embed="rId2"/>
          <a:stretch>
            <a:fillRect/>
          </a:stretch>
        </p:blipFill>
        <p:spPr>
          <a:xfrm>
            <a:off x="621792" y="2140349"/>
            <a:ext cx="274320" cy="274320"/>
          </a:xfrm>
          <a:prstGeom prst="rect">
            <a:avLst/>
          </a:prstGeom>
        </p:spPr>
      </p:pic>
      <p:sp>
        <p:nvSpPr>
          <p:cNvPr id="27" name="Text 23"/>
          <p:cNvSpPr txBox="1"/>
          <p:nvPr/>
        </p:nvSpPr>
        <p:spPr>
          <a:xfrm>
            <a:off x="1014984" y="2075688"/>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T5A ISMS</a:t>
            </a:r>
            <a:endParaRPr lang="en-US" sz="1050" dirty="0"/>
          </a:p>
        </p:txBody>
      </p:sp>
      <p:sp>
        <p:nvSpPr>
          <p:cNvPr id="28" name="Text 24"/>
          <p:cNvSpPr txBox="1"/>
          <p:nvPr/>
        </p:nvSpPr>
        <p:spPr>
          <a:xfrm>
            <a:off x="1014984" y="2286000"/>
            <a:ext cx="1600200" cy="201168"/>
          </a:xfrm>
          <a:prstGeom prst="rect">
            <a:avLst/>
          </a:prstGeom>
          <a:noFill/>
          <a:ln/>
        </p:spPr>
        <p:txBody>
          <a:bodyPr wrap="square" lIns="0" tIns="0" rIns="0" bIns="0" rtlCol="0" anchor="t"/>
          <a:lstStyle/>
          <a:p>
            <a:pPr indent="0" marL="0">
              <a:buNone/>
            </a:pPr>
            <a:r>
              <a:rPr lang="en-US" sz="1000" dirty="0">
                <a:solidFill>
                  <a:srgbClr val="8FA3BF"/>
                </a:solidFill>
              </a:rPr>
              <a:t>Terminal 5A</a:t>
            </a:r>
            <a:endParaRPr lang="en-US" sz="1000" dirty="0"/>
          </a:p>
        </p:txBody>
      </p:sp>
      <p:sp>
        <p:nvSpPr>
          <p:cNvPr id="29" name="Shape 25"/>
          <p:cNvSpPr/>
          <p:nvPr/>
        </p:nvSpPr>
        <p:spPr>
          <a:xfrm>
            <a:off x="2651760" y="2277509"/>
            <a:ext cx="182880" cy="0"/>
          </a:xfrm>
          <a:prstGeom prst="line">
            <a:avLst/>
          </a:prstGeom>
          <a:noFill/>
          <a:ln w="9525">
            <a:solidFill>
              <a:srgbClr val="00E5FF">
                <a:alpha val="60000"/>
              </a:srgbClr>
            </a:solidFill>
            <a:prstDash val="solid"/>
          </a:ln>
        </p:spPr>
      </p:sp>
      <p:sp>
        <p:nvSpPr>
          <p:cNvPr id="30" name="Shape 26"/>
          <p:cNvSpPr/>
          <p:nvPr/>
        </p:nvSpPr>
        <p:spPr>
          <a:xfrm>
            <a:off x="502920" y="2616490"/>
            <a:ext cx="2148840" cy="531658"/>
          </a:xfrm>
          <a:prstGeom prst="roundRect">
            <a:avLst>
              <a:gd name="adj" fmla="val 13759"/>
            </a:avLst>
          </a:prstGeom>
          <a:solidFill>
            <a:srgbClr val="081426">
              <a:alpha val="90000"/>
            </a:srgbClr>
          </a:solidFill>
          <a:ln w="9525">
            <a:solidFill>
              <a:srgbClr val="1D4E7A"/>
            </a:solidFill>
            <a:prstDash val="solid"/>
          </a:ln>
        </p:spPr>
      </p:sp>
      <p:pic>
        <p:nvPicPr>
          <p:cNvPr id="31" name="Image 1" descr="Buildings icon">    </p:cNvPr>
          <p:cNvPicPr>
            <a:picLocks noChangeAspect="1"/>
          </p:cNvPicPr>
          <p:nvPr/>
        </p:nvPicPr>
        <p:blipFill>
          <a:blip r:embed="rId3"/>
          <a:stretch>
            <a:fillRect/>
          </a:stretch>
        </p:blipFill>
        <p:spPr>
          <a:xfrm>
            <a:off x="621792" y="2745159"/>
            <a:ext cx="274320" cy="274320"/>
          </a:xfrm>
          <a:prstGeom prst="rect">
            <a:avLst/>
          </a:prstGeom>
        </p:spPr>
      </p:pic>
      <p:sp>
        <p:nvSpPr>
          <p:cNvPr id="32" name="Text 27"/>
          <p:cNvSpPr txBox="1"/>
          <p:nvPr/>
        </p:nvSpPr>
        <p:spPr>
          <a:xfrm>
            <a:off x="1014984" y="2680498"/>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T5B ISMS</a:t>
            </a:r>
            <a:endParaRPr lang="en-US" sz="1050" dirty="0"/>
          </a:p>
        </p:txBody>
      </p:sp>
      <p:sp>
        <p:nvSpPr>
          <p:cNvPr id="33" name="Text 28"/>
          <p:cNvSpPr txBox="1"/>
          <p:nvPr/>
        </p:nvSpPr>
        <p:spPr>
          <a:xfrm>
            <a:off x="1014984" y="2890810"/>
            <a:ext cx="1600200" cy="201168"/>
          </a:xfrm>
          <a:prstGeom prst="rect">
            <a:avLst/>
          </a:prstGeom>
          <a:noFill/>
          <a:ln/>
        </p:spPr>
        <p:txBody>
          <a:bodyPr wrap="square" lIns="0" tIns="0" rIns="0" bIns="0" rtlCol="0" anchor="t"/>
          <a:lstStyle/>
          <a:p>
            <a:pPr indent="0" marL="0">
              <a:buNone/>
            </a:pPr>
            <a:r>
              <a:rPr lang="en-US" sz="1000" dirty="0">
                <a:solidFill>
                  <a:srgbClr val="8FA3BF"/>
                </a:solidFill>
              </a:rPr>
              <a:t>Terminal 5B</a:t>
            </a:r>
            <a:endParaRPr lang="en-US" sz="1000" dirty="0"/>
          </a:p>
        </p:txBody>
      </p:sp>
      <p:sp>
        <p:nvSpPr>
          <p:cNvPr id="34" name="Shape 29"/>
          <p:cNvSpPr/>
          <p:nvPr/>
        </p:nvSpPr>
        <p:spPr>
          <a:xfrm>
            <a:off x="2651760" y="2882319"/>
            <a:ext cx="182880" cy="0"/>
          </a:xfrm>
          <a:prstGeom prst="line">
            <a:avLst/>
          </a:prstGeom>
          <a:noFill/>
          <a:ln w="9525">
            <a:solidFill>
              <a:srgbClr val="00E5FF">
                <a:alpha val="60000"/>
              </a:srgbClr>
            </a:solidFill>
            <a:prstDash val="solid"/>
          </a:ln>
        </p:spPr>
      </p:sp>
      <p:sp>
        <p:nvSpPr>
          <p:cNvPr id="35" name="Shape 30"/>
          <p:cNvSpPr/>
          <p:nvPr/>
        </p:nvSpPr>
        <p:spPr>
          <a:xfrm>
            <a:off x="502920" y="3221301"/>
            <a:ext cx="2148840" cy="531658"/>
          </a:xfrm>
          <a:prstGeom prst="roundRect">
            <a:avLst>
              <a:gd name="adj" fmla="val 13759"/>
            </a:avLst>
          </a:prstGeom>
          <a:solidFill>
            <a:srgbClr val="081426">
              <a:alpha val="90000"/>
            </a:srgbClr>
          </a:solidFill>
          <a:ln w="9525">
            <a:solidFill>
              <a:srgbClr val="1D4E7A"/>
            </a:solidFill>
            <a:prstDash val="solid"/>
          </a:ln>
        </p:spPr>
      </p:sp>
      <p:pic>
        <p:nvPicPr>
          <p:cNvPr id="36" name="Image 2" descr="Buildings icon">    </p:cNvPr>
          <p:cNvPicPr>
            <a:picLocks noChangeAspect="1"/>
          </p:cNvPicPr>
          <p:nvPr/>
        </p:nvPicPr>
        <p:blipFill>
          <a:blip r:embed="rId4"/>
          <a:stretch>
            <a:fillRect/>
          </a:stretch>
        </p:blipFill>
        <p:spPr>
          <a:xfrm>
            <a:off x="621792" y="3349970"/>
            <a:ext cx="274320" cy="274320"/>
          </a:xfrm>
          <a:prstGeom prst="rect">
            <a:avLst/>
          </a:prstGeom>
        </p:spPr>
      </p:pic>
      <p:sp>
        <p:nvSpPr>
          <p:cNvPr id="37" name="Text 31"/>
          <p:cNvSpPr txBox="1"/>
          <p:nvPr/>
        </p:nvSpPr>
        <p:spPr>
          <a:xfrm>
            <a:off x="1014984" y="328530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T5C ISMS</a:t>
            </a:r>
            <a:endParaRPr lang="en-US" sz="1050" dirty="0"/>
          </a:p>
        </p:txBody>
      </p:sp>
      <p:sp>
        <p:nvSpPr>
          <p:cNvPr id="38" name="Text 32"/>
          <p:cNvSpPr txBox="1"/>
          <p:nvPr/>
        </p:nvSpPr>
        <p:spPr>
          <a:xfrm>
            <a:off x="1014984" y="3495621"/>
            <a:ext cx="1600200" cy="201168"/>
          </a:xfrm>
          <a:prstGeom prst="rect">
            <a:avLst/>
          </a:prstGeom>
          <a:noFill/>
          <a:ln/>
        </p:spPr>
        <p:txBody>
          <a:bodyPr wrap="square" lIns="0" tIns="0" rIns="0" bIns="0" rtlCol="0" anchor="t"/>
          <a:lstStyle/>
          <a:p>
            <a:pPr indent="0" marL="0">
              <a:buNone/>
            </a:pPr>
            <a:r>
              <a:rPr lang="en-US" sz="1000" dirty="0">
                <a:solidFill>
                  <a:srgbClr val="8FA3BF"/>
                </a:solidFill>
              </a:rPr>
              <a:t>Terminal 5C</a:t>
            </a:r>
            <a:endParaRPr lang="en-US" sz="1000" dirty="0"/>
          </a:p>
        </p:txBody>
      </p:sp>
      <p:sp>
        <p:nvSpPr>
          <p:cNvPr id="39" name="Shape 33"/>
          <p:cNvSpPr/>
          <p:nvPr/>
        </p:nvSpPr>
        <p:spPr>
          <a:xfrm>
            <a:off x="2651760" y="3487130"/>
            <a:ext cx="182880" cy="0"/>
          </a:xfrm>
          <a:prstGeom prst="line">
            <a:avLst/>
          </a:prstGeom>
          <a:noFill/>
          <a:ln w="9525">
            <a:solidFill>
              <a:srgbClr val="00E5FF">
                <a:alpha val="60000"/>
              </a:srgbClr>
            </a:solidFill>
            <a:prstDash val="solid"/>
          </a:ln>
        </p:spPr>
      </p:sp>
      <p:sp>
        <p:nvSpPr>
          <p:cNvPr id="40" name="Shape 34"/>
          <p:cNvSpPr/>
          <p:nvPr/>
        </p:nvSpPr>
        <p:spPr>
          <a:xfrm>
            <a:off x="502920" y="3826111"/>
            <a:ext cx="2148840" cy="531658"/>
          </a:xfrm>
          <a:prstGeom prst="roundRect">
            <a:avLst>
              <a:gd name="adj" fmla="val 13759"/>
            </a:avLst>
          </a:prstGeom>
          <a:solidFill>
            <a:srgbClr val="081426">
              <a:alpha val="90000"/>
            </a:srgbClr>
          </a:solidFill>
          <a:ln w="9525">
            <a:solidFill>
              <a:srgbClr val="1D4E7A"/>
            </a:solidFill>
            <a:prstDash val="solid"/>
          </a:ln>
        </p:spPr>
      </p:sp>
      <p:pic>
        <p:nvPicPr>
          <p:cNvPr id="41" name="Image 3" descr="Hard Hat icon">    </p:cNvPr>
          <p:cNvPicPr>
            <a:picLocks noChangeAspect="1"/>
          </p:cNvPicPr>
          <p:nvPr/>
        </p:nvPicPr>
        <p:blipFill>
          <a:blip r:embed="rId5"/>
          <a:stretch>
            <a:fillRect/>
          </a:stretch>
        </p:blipFill>
        <p:spPr>
          <a:xfrm>
            <a:off x="621792" y="3954780"/>
            <a:ext cx="274320" cy="274320"/>
          </a:xfrm>
          <a:prstGeom prst="rect">
            <a:avLst/>
          </a:prstGeom>
        </p:spPr>
      </p:pic>
      <p:sp>
        <p:nvSpPr>
          <p:cNvPr id="42" name="Text 35"/>
          <p:cNvSpPr txBox="1"/>
          <p:nvPr/>
        </p:nvSpPr>
        <p:spPr>
          <a:xfrm>
            <a:off x="1014984" y="389011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LIW</a:t>
            </a:r>
            <a:endParaRPr lang="en-US" sz="1050" dirty="0"/>
          </a:p>
        </p:txBody>
      </p:sp>
      <p:sp>
        <p:nvSpPr>
          <p:cNvPr id="43" name="Text 36"/>
          <p:cNvSpPr txBox="1"/>
          <p:nvPr/>
        </p:nvSpPr>
        <p:spPr>
          <a:xfrm>
            <a:off x="1014984" y="4100431"/>
            <a:ext cx="1600200" cy="201168"/>
          </a:xfrm>
          <a:prstGeom prst="rect">
            <a:avLst/>
          </a:prstGeom>
          <a:noFill/>
          <a:ln/>
        </p:spPr>
        <p:txBody>
          <a:bodyPr wrap="square" lIns="0" tIns="0" rIns="0" bIns="0" rtlCol="0" anchor="t"/>
          <a:lstStyle/>
          <a:p>
            <a:pPr indent="0" marL="0">
              <a:buNone/>
            </a:pPr>
            <a:r>
              <a:rPr lang="en-US" sz="1000" dirty="0">
                <a:solidFill>
                  <a:srgbClr val="8FA3BF"/>
                </a:solidFill>
              </a:rPr>
              <a:t>Land Infrastructure Works</a:t>
            </a:r>
            <a:endParaRPr lang="en-US" sz="1000" dirty="0"/>
          </a:p>
        </p:txBody>
      </p:sp>
      <p:sp>
        <p:nvSpPr>
          <p:cNvPr id="44" name="Shape 37"/>
          <p:cNvSpPr/>
          <p:nvPr/>
        </p:nvSpPr>
        <p:spPr>
          <a:xfrm>
            <a:off x="2651760" y="4091940"/>
            <a:ext cx="182880" cy="0"/>
          </a:xfrm>
          <a:prstGeom prst="line">
            <a:avLst/>
          </a:prstGeom>
          <a:noFill/>
          <a:ln w="9525">
            <a:solidFill>
              <a:srgbClr val="00E5FF">
                <a:alpha val="60000"/>
              </a:srgbClr>
            </a:solidFill>
            <a:prstDash val="solid"/>
          </a:ln>
        </p:spPr>
      </p:sp>
      <p:sp>
        <p:nvSpPr>
          <p:cNvPr id="45" name="Shape 38"/>
          <p:cNvSpPr/>
          <p:nvPr/>
        </p:nvSpPr>
        <p:spPr>
          <a:xfrm>
            <a:off x="502920" y="4430921"/>
            <a:ext cx="2148840" cy="531658"/>
          </a:xfrm>
          <a:prstGeom prst="roundRect">
            <a:avLst>
              <a:gd name="adj" fmla="val 13759"/>
            </a:avLst>
          </a:prstGeom>
          <a:solidFill>
            <a:srgbClr val="081426">
              <a:alpha val="90000"/>
            </a:srgbClr>
          </a:solidFill>
          <a:ln w="9525">
            <a:solidFill>
              <a:srgbClr val="1D4E7A"/>
            </a:solidFill>
            <a:prstDash val="solid"/>
          </a:ln>
        </p:spPr>
      </p:sp>
      <p:pic>
        <p:nvPicPr>
          <p:cNvPr id="46" name="Image 4" descr="Train icon">    </p:cNvPr>
          <p:cNvPicPr>
            <a:picLocks noChangeAspect="1"/>
          </p:cNvPicPr>
          <p:nvPr/>
        </p:nvPicPr>
        <p:blipFill>
          <a:blip r:embed="rId6"/>
          <a:stretch>
            <a:fillRect/>
          </a:stretch>
        </p:blipFill>
        <p:spPr>
          <a:xfrm>
            <a:off x="621792" y="4559590"/>
            <a:ext cx="274320" cy="274320"/>
          </a:xfrm>
          <a:prstGeom prst="rect">
            <a:avLst/>
          </a:prstGeom>
        </p:spPr>
      </p:pic>
      <p:sp>
        <p:nvSpPr>
          <p:cNvPr id="47" name="Text 39"/>
          <p:cNvSpPr txBox="1"/>
          <p:nvPr/>
        </p:nvSpPr>
        <p:spPr>
          <a:xfrm>
            <a:off x="1014984" y="449492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APM DEPOT</a:t>
            </a:r>
            <a:endParaRPr lang="en-US" sz="1050" dirty="0"/>
          </a:p>
        </p:txBody>
      </p:sp>
      <p:sp>
        <p:nvSpPr>
          <p:cNvPr id="48" name="Text 40"/>
          <p:cNvSpPr txBox="1"/>
          <p:nvPr/>
        </p:nvSpPr>
        <p:spPr>
          <a:xfrm>
            <a:off x="1014984" y="4705241"/>
            <a:ext cx="1600200" cy="201168"/>
          </a:xfrm>
          <a:prstGeom prst="rect">
            <a:avLst/>
          </a:prstGeom>
          <a:noFill/>
          <a:ln/>
        </p:spPr>
        <p:txBody>
          <a:bodyPr wrap="square" lIns="0" tIns="0" rIns="0" bIns="0" rtlCol="0" anchor="t"/>
          <a:lstStyle/>
          <a:p>
            <a:pPr indent="0" marL="0">
              <a:buNone/>
            </a:pPr>
            <a:r>
              <a:rPr lang="en-US" sz="1000" dirty="0">
                <a:solidFill>
                  <a:srgbClr val="8FA3BF"/>
                </a:solidFill>
              </a:rPr>
              <a:t>Automated People Mover</a:t>
            </a:r>
            <a:endParaRPr lang="en-US" sz="1000" dirty="0"/>
          </a:p>
        </p:txBody>
      </p:sp>
      <p:sp>
        <p:nvSpPr>
          <p:cNvPr id="49" name="Shape 41"/>
          <p:cNvSpPr/>
          <p:nvPr/>
        </p:nvSpPr>
        <p:spPr>
          <a:xfrm>
            <a:off x="2651760" y="4696750"/>
            <a:ext cx="182880" cy="0"/>
          </a:xfrm>
          <a:prstGeom prst="line">
            <a:avLst/>
          </a:prstGeom>
          <a:noFill/>
          <a:ln w="9525">
            <a:solidFill>
              <a:srgbClr val="00E5FF">
                <a:alpha val="60000"/>
              </a:srgbClr>
            </a:solidFill>
            <a:prstDash val="solid"/>
          </a:ln>
        </p:spPr>
      </p:sp>
      <p:sp>
        <p:nvSpPr>
          <p:cNvPr id="50" name="Shape 42"/>
          <p:cNvSpPr/>
          <p:nvPr/>
        </p:nvSpPr>
        <p:spPr>
          <a:xfrm>
            <a:off x="502920" y="5035731"/>
            <a:ext cx="2148840" cy="531658"/>
          </a:xfrm>
          <a:prstGeom prst="roundRect">
            <a:avLst>
              <a:gd name="adj" fmla="val 13759"/>
            </a:avLst>
          </a:prstGeom>
          <a:solidFill>
            <a:srgbClr val="081426">
              <a:alpha val="90000"/>
            </a:srgbClr>
          </a:solidFill>
          <a:ln w="9525">
            <a:solidFill>
              <a:srgbClr val="1D4E7A"/>
            </a:solidFill>
            <a:prstDash val="solid"/>
          </a:ln>
        </p:spPr>
      </p:sp>
      <p:pic>
        <p:nvPicPr>
          <p:cNvPr id="51" name="Image 5" descr="Airplane icon">    </p:cNvPr>
          <p:cNvPicPr>
            <a:picLocks noChangeAspect="1"/>
          </p:cNvPicPr>
          <p:nvPr/>
        </p:nvPicPr>
        <p:blipFill>
          <a:blip r:embed="rId7"/>
          <a:stretch>
            <a:fillRect/>
          </a:stretch>
        </p:blipFill>
        <p:spPr>
          <a:xfrm>
            <a:off x="621792" y="5164401"/>
            <a:ext cx="274320" cy="274320"/>
          </a:xfrm>
          <a:prstGeom prst="rect">
            <a:avLst/>
          </a:prstGeom>
        </p:spPr>
      </p:pic>
      <p:sp>
        <p:nvSpPr>
          <p:cNvPr id="52" name="Text 43"/>
          <p:cNvSpPr txBox="1"/>
          <p:nvPr/>
        </p:nvSpPr>
        <p:spPr>
          <a:xfrm>
            <a:off x="1014984" y="509973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ERS</a:t>
            </a:r>
            <a:endParaRPr lang="en-US" sz="1050" dirty="0"/>
          </a:p>
        </p:txBody>
      </p:sp>
      <p:sp>
        <p:nvSpPr>
          <p:cNvPr id="53" name="Text 44"/>
          <p:cNvSpPr txBox="1"/>
          <p:nvPr/>
        </p:nvSpPr>
        <p:spPr>
          <a:xfrm>
            <a:off x="1014984" y="5310051"/>
            <a:ext cx="1600200" cy="201168"/>
          </a:xfrm>
          <a:prstGeom prst="rect">
            <a:avLst/>
          </a:prstGeom>
          <a:noFill/>
          <a:ln/>
        </p:spPr>
        <p:txBody>
          <a:bodyPr wrap="square" lIns="0" tIns="0" rIns="0" bIns="0" rtlCol="0" anchor="t"/>
          <a:lstStyle/>
          <a:p>
            <a:pPr indent="0" marL="0">
              <a:buNone/>
            </a:pPr>
            <a:r>
              <a:rPr lang="en-US" sz="1000" dirty="0">
                <a:solidFill>
                  <a:srgbClr val="8FA3BF"/>
                </a:solidFill>
              </a:rPr>
              <a:t>Early Remote Stands</a:t>
            </a:r>
            <a:endParaRPr lang="en-US" sz="1000" dirty="0"/>
          </a:p>
        </p:txBody>
      </p:sp>
      <p:sp>
        <p:nvSpPr>
          <p:cNvPr id="54" name="Shape 45"/>
          <p:cNvSpPr/>
          <p:nvPr/>
        </p:nvSpPr>
        <p:spPr>
          <a:xfrm>
            <a:off x="2651760" y="5301561"/>
            <a:ext cx="182880" cy="0"/>
          </a:xfrm>
          <a:prstGeom prst="line">
            <a:avLst/>
          </a:prstGeom>
          <a:noFill/>
          <a:ln w="9525">
            <a:solidFill>
              <a:srgbClr val="00E5FF">
                <a:alpha val="60000"/>
              </a:srgbClr>
            </a:solidFill>
            <a:prstDash val="solid"/>
          </a:ln>
        </p:spPr>
      </p:sp>
      <p:sp>
        <p:nvSpPr>
          <p:cNvPr id="55" name="Shape 46"/>
          <p:cNvSpPr/>
          <p:nvPr/>
        </p:nvSpPr>
        <p:spPr>
          <a:xfrm>
            <a:off x="502920" y="5640542"/>
            <a:ext cx="2148840" cy="531658"/>
          </a:xfrm>
          <a:prstGeom prst="roundRect">
            <a:avLst>
              <a:gd name="adj" fmla="val 13759"/>
            </a:avLst>
          </a:prstGeom>
          <a:solidFill>
            <a:srgbClr val="081426">
              <a:alpha val="90000"/>
            </a:srgbClr>
          </a:solidFill>
          <a:ln w="9525">
            <a:solidFill>
              <a:srgbClr val="00E5FF"/>
            </a:solidFill>
            <a:prstDash val="dash"/>
          </a:ln>
        </p:spPr>
      </p:sp>
      <p:pic>
        <p:nvPicPr>
          <p:cNvPr id="56" name="Image 6" descr="Plus icon">    </p:cNvPr>
          <p:cNvPicPr>
            <a:picLocks noChangeAspect="1"/>
          </p:cNvPicPr>
          <p:nvPr/>
        </p:nvPicPr>
        <p:blipFill>
          <a:blip r:embed="rId8"/>
          <a:stretch>
            <a:fillRect/>
          </a:stretch>
        </p:blipFill>
        <p:spPr>
          <a:xfrm>
            <a:off x="621792" y="5769211"/>
            <a:ext cx="274320" cy="274320"/>
          </a:xfrm>
          <a:prstGeom prst="rect">
            <a:avLst/>
          </a:prstGeom>
        </p:spPr>
      </p:pic>
      <p:sp>
        <p:nvSpPr>
          <p:cNvPr id="57" name="Text 47"/>
          <p:cNvSpPr txBox="1"/>
          <p:nvPr/>
        </p:nvSpPr>
        <p:spPr>
          <a:xfrm>
            <a:off x="1014984" y="5704550"/>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AO SITES</a:t>
            </a:r>
            <a:endParaRPr lang="en-US" sz="1050" dirty="0"/>
          </a:p>
        </p:txBody>
      </p:sp>
      <p:sp>
        <p:nvSpPr>
          <p:cNvPr id="58" name="Text 48"/>
          <p:cNvSpPr txBox="1"/>
          <p:nvPr/>
        </p:nvSpPr>
        <p:spPr>
          <a:xfrm>
            <a:off x="1014984" y="5914862"/>
            <a:ext cx="1600200" cy="201168"/>
          </a:xfrm>
          <a:prstGeom prst="rect">
            <a:avLst/>
          </a:prstGeom>
          <a:noFill/>
          <a:ln/>
        </p:spPr>
        <p:txBody>
          <a:bodyPr wrap="square" lIns="0" tIns="0" rIns="0" bIns="0" rtlCol="0" anchor="t"/>
          <a:lstStyle/>
          <a:p>
            <a:pPr indent="0" marL="0">
              <a:buNone/>
            </a:pPr>
            <a:r>
              <a:rPr lang="en-US" sz="1000" dirty="0">
                <a:solidFill>
                  <a:srgbClr val="8FA3BF"/>
                </a:solidFill>
              </a:rPr>
              <a:t>Any Other Sites</a:t>
            </a:r>
            <a:endParaRPr lang="en-US" sz="1000" dirty="0"/>
          </a:p>
        </p:txBody>
      </p:sp>
      <p:sp>
        <p:nvSpPr>
          <p:cNvPr id="59" name="Shape 49"/>
          <p:cNvSpPr/>
          <p:nvPr/>
        </p:nvSpPr>
        <p:spPr>
          <a:xfrm>
            <a:off x="2651760" y="5906371"/>
            <a:ext cx="182880" cy="0"/>
          </a:xfrm>
          <a:prstGeom prst="line">
            <a:avLst/>
          </a:prstGeom>
          <a:noFill/>
          <a:ln w="9525">
            <a:solidFill>
              <a:srgbClr val="00E5FF">
                <a:alpha val="60000"/>
              </a:srgbClr>
            </a:solidFill>
            <a:prstDash val="solid"/>
          </a:ln>
        </p:spPr>
      </p:sp>
      <p:sp>
        <p:nvSpPr>
          <p:cNvPr id="60" name="Shape 50"/>
          <p:cNvSpPr/>
          <p:nvPr/>
        </p:nvSpPr>
        <p:spPr>
          <a:xfrm>
            <a:off x="2834640" y="2011680"/>
            <a:ext cx="457200" cy="4160520"/>
          </a:xfrm>
          <a:prstGeom prst="roundRect">
            <a:avLst>
              <a:gd name="adj" fmla="val 20000"/>
            </a:avLst>
          </a:prstGeom>
          <a:gradFill rotWithShape="1">
            <a:gsLst>
              <a:gs pos="0">
                <a:srgbClr val="00E5FF">
                  <a:alpha val="30000"/>
                </a:srgbClr>
              </a:gs>
              <a:gs pos="55000">
                <a:srgbClr val="1D6BFF">
                  <a:alpha val="18000"/>
                </a:srgbClr>
              </a:gs>
              <a:gs pos="100000">
                <a:srgbClr val="8B5CF6">
                  <a:alpha val="30000"/>
                </a:srgbClr>
              </a:gs>
            </a:gsLst>
            <a:lin ang="5400000" scaled="0"/>
          </a:gradFill>
          <a:ln w="15875">
            <a:solidFill>
              <a:srgbClr val="00E5FF"/>
            </a:solidFill>
            <a:prstDash val="solid"/>
          </a:ln>
          <a:effectLst>
            <a:outerShdw sx="100000" sy="100000" kx="0" ky="0" algn="bl" rotWithShape="0" blurRad="177800" dist="50800" dir="5400000">
              <a:srgbClr val="00E5FF">
                <a:alpha val="55000"/>
              </a:srgbClr>
            </a:outerShdw>
          </a:effectLst>
        </p:spPr>
      </p:sp>
      <p:pic>
        <p:nvPicPr>
          <p:cNvPr id="61" name="Image 7" descr="Shield Check icon">    </p:cNvPr>
          <p:cNvPicPr>
            <a:picLocks noChangeAspect="1"/>
          </p:cNvPicPr>
          <p:nvPr/>
        </p:nvPicPr>
        <p:blipFill>
          <a:blip r:embed="rId9"/>
          <a:stretch>
            <a:fillRect/>
          </a:stretch>
        </p:blipFill>
        <p:spPr>
          <a:xfrm>
            <a:off x="2898648" y="2103120"/>
            <a:ext cx="329184" cy="329184"/>
          </a:xfrm>
          <a:prstGeom prst="rect">
            <a:avLst/>
          </a:prstGeom>
        </p:spPr>
      </p:pic>
      <p:sp>
        <p:nvSpPr>
          <p:cNvPr id="62" name="Text 51"/>
          <p:cNvSpPr txBox="1"/>
          <p:nvPr/>
        </p:nvSpPr>
        <p:spPr>
          <a:xfrm rot="16200000">
            <a:off x="1325880" y="4160520"/>
            <a:ext cx="3474720" cy="365760"/>
          </a:xfrm>
          <a:prstGeom prst="rect">
            <a:avLst/>
          </a:prstGeom>
          <a:noFill/>
          <a:ln/>
        </p:spPr>
        <p:txBody>
          <a:bodyPr wrap="square" lIns="0" tIns="0" rIns="0" bIns="0" rtlCol="0" anchor="ctr"/>
          <a:lstStyle/>
          <a:p>
            <a:pPr algn="ctr" indent="0" marL="0">
              <a:buNone/>
            </a:pPr>
            <a:r>
              <a:rPr lang="en-US" sz="1050" b="1" spc="250" kern="0" dirty="0">
                <a:solidFill>
                  <a:srgbClr val="FFFFFF"/>
                </a:solidFill>
              </a:rPr>
              <a:t>NETWORK &amp; CYBER SECURITY LAYER</a:t>
            </a:r>
            <a:endParaRPr lang="en-US" sz="1050" dirty="0"/>
          </a:p>
        </p:txBody>
      </p:sp>
      <p:sp>
        <p:nvSpPr>
          <p:cNvPr id="63" name="Shape 52"/>
          <p:cNvSpPr/>
          <p:nvPr/>
        </p:nvSpPr>
        <p:spPr>
          <a:xfrm>
            <a:off x="3291840" y="2514600"/>
            <a:ext cx="228600" cy="0"/>
          </a:xfrm>
          <a:prstGeom prst="line">
            <a:avLst/>
          </a:prstGeom>
          <a:noFill/>
          <a:ln w="12700">
            <a:solidFill>
              <a:srgbClr val="00E5FF">
                <a:alpha val="75000"/>
              </a:srgbClr>
            </a:solidFill>
            <a:prstDash val="solid"/>
          </a:ln>
        </p:spPr>
      </p:sp>
      <p:sp>
        <p:nvSpPr>
          <p:cNvPr id="64" name="Shape 53"/>
          <p:cNvSpPr/>
          <p:nvPr/>
        </p:nvSpPr>
        <p:spPr>
          <a:xfrm>
            <a:off x="3291840" y="4087368"/>
            <a:ext cx="228600" cy="0"/>
          </a:xfrm>
          <a:prstGeom prst="line">
            <a:avLst/>
          </a:prstGeom>
          <a:noFill/>
          <a:ln w="12700">
            <a:solidFill>
              <a:srgbClr val="00E5FF">
                <a:alpha val="75000"/>
              </a:srgbClr>
            </a:solidFill>
            <a:prstDash val="solid"/>
          </a:ln>
        </p:spPr>
      </p:sp>
      <p:sp>
        <p:nvSpPr>
          <p:cNvPr id="65" name="Shape 54"/>
          <p:cNvSpPr/>
          <p:nvPr/>
        </p:nvSpPr>
        <p:spPr>
          <a:xfrm>
            <a:off x="3291840" y="5669280"/>
            <a:ext cx="228600" cy="0"/>
          </a:xfrm>
          <a:prstGeom prst="line">
            <a:avLst/>
          </a:prstGeom>
          <a:noFill/>
          <a:ln w="12700">
            <a:solidFill>
              <a:srgbClr val="00E5FF">
                <a:alpha val="75000"/>
              </a:srgbClr>
            </a:solidFill>
            <a:prstDash val="solid"/>
          </a:ln>
        </p:spPr>
      </p:sp>
      <p:sp>
        <p:nvSpPr>
          <p:cNvPr id="66" name="Shape 55"/>
          <p:cNvSpPr/>
          <p:nvPr/>
        </p:nvSpPr>
        <p:spPr>
          <a:xfrm>
            <a:off x="3520440" y="2011680"/>
            <a:ext cx="3840480" cy="4160520"/>
          </a:xfrm>
          <a:prstGeom prst="roundRect">
            <a:avLst>
              <a:gd name="adj" fmla="val 2857"/>
            </a:avLst>
          </a:prstGeom>
          <a:solidFill>
            <a:srgbClr val="06101E">
              <a:alpha val="88000"/>
            </a:srgbClr>
          </a:solidFill>
          <a:ln w="12700">
            <a:solidFill>
              <a:srgbClr val="00E5FF"/>
            </a:solidFill>
            <a:prstDash val="solid"/>
          </a:ln>
          <a:effectLst>
            <a:outerShdw sx="100000" sy="100000" kx="0" ky="0" algn="bl" rotWithShape="0" blurRad="228600" dist="50800" dir="5400000">
              <a:srgbClr val="00E5FF">
                <a:alpha val="35000"/>
              </a:srgbClr>
            </a:outerShdw>
          </a:effectLst>
        </p:spPr>
      </p:sp>
      <p:pic>
        <p:nvPicPr>
          <p:cNvPr id="67" name="Image 8" descr="Stack icon">    </p:cNvPr>
          <p:cNvPicPr>
            <a:picLocks noChangeAspect="1"/>
          </p:cNvPicPr>
          <p:nvPr/>
        </p:nvPicPr>
        <p:blipFill>
          <a:blip r:embed="rId10"/>
          <a:stretch>
            <a:fillRect/>
          </a:stretch>
        </p:blipFill>
        <p:spPr>
          <a:xfrm>
            <a:off x="3703320" y="2148840"/>
            <a:ext cx="329184" cy="329184"/>
          </a:xfrm>
          <a:prstGeom prst="rect">
            <a:avLst/>
          </a:prstGeom>
        </p:spPr>
      </p:pic>
      <p:sp>
        <p:nvSpPr>
          <p:cNvPr id="68" name="Text 56"/>
          <p:cNvSpPr txBox="1"/>
          <p:nvPr/>
        </p:nvSpPr>
        <p:spPr>
          <a:xfrm>
            <a:off x="4142232" y="2130552"/>
            <a:ext cx="3017520" cy="219456"/>
          </a:xfrm>
          <a:prstGeom prst="rect">
            <a:avLst/>
          </a:prstGeom>
          <a:noFill/>
          <a:ln/>
        </p:spPr>
        <p:txBody>
          <a:bodyPr wrap="square" lIns="0" tIns="0" rIns="0" bIns="0" rtlCol="0" anchor="t"/>
          <a:lstStyle/>
          <a:p>
            <a:pPr indent="0" marL="0">
              <a:buNone/>
            </a:pPr>
            <a:r>
              <a:rPr lang="en-US" sz="1300" b="1" spc="200" kern="0" dirty="0">
                <a:solidFill>
                  <a:srgbClr val="FFFFFF"/>
                </a:solidFill>
              </a:rPr>
              <a:t>T5-ISMS SITEWIDE</a:t>
            </a:r>
            <a:endParaRPr lang="en-US" sz="1300" dirty="0"/>
          </a:p>
        </p:txBody>
      </p:sp>
      <p:sp>
        <p:nvSpPr>
          <p:cNvPr id="69" name="Text 57"/>
          <p:cNvSpPr txBox="1"/>
          <p:nvPr/>
        </p:nvSpPr>
        <p:spPr>
          <a:xfrm>
            <a:off x="4142232" y="2377440"/>
            <a:ext cx="3017520" cy="201168"/>
          </a:xfrm>
          <a:prstGeom prst="rect">
            <a:avLst/>
          </a:prstGeom>
          <a:noFill/>
          <a:ln/>
        </p:spPr>
        <p:txBody>
          <a:bodyPr wrap="square" lIns="0" tIns="0" rIns="0" bIns="0" rtlCol="0" anchor="t"/>
          <a:lstStyle/>
          <a:p>
            <a:pPr indent="0" marL="0">
              <a:buNone/>
            </a:pPr>
            <a:r>
              <a:rPr lang="en-US" sz="1000" dirty="0">
                <a:solidFill>
                  <a:srgbClr val="8FA3BF"/>
                </a:solidFill>
              </a:rPr>
              <a:t>Integrated Security Management System</a:t>
            </a:r>
            <a:endParaRPr lang="en-US" sz="1000" dirty="0"/>
          </a:p>
        </p:txBody>
      </p:sp>
      <p:sp>
        <p:nvSpPr>
          <p:cNvPr id="70" name="Shape 58"/>
          <p:cNvSpPr/>
          <p:nvPr/>
        </p:nvSpPr>
        <p:spPr>
          <a:xfrm>
            <a:off x="3703320" y="2743200"/>
            <a:ext cx="1965960" cy="548640"/>
          </a:xfrm>
          <a:prstGeom prst="roundRect">
            <a:avLst>
              <a:gd name="adj" fmla="val 10000"/>
            </a:avLst>
          </a:prstGeom>
          <a:solidFill>
            <a:srgbClr val="0B1A2E">
              <a:alpha val="95000"/>
            </a:srgbClr>
          </a:solidFill>
          <a:ln w="9525">
            <a:solidFill>
              <a:srgbClr val="17406A"/>
            </a:solidFill>
            <a:prstDash val="solid"/>
          </a:ln>
        </p:spPr>
      </p:sp>
      <p:sp>
        <p:nvSpPr>
          <p:cNvPr id="71" name="Shape 59"/>
          <p:cNvSpPr/>
          <p:nvPr/>
        </p:nvSpPr>
        <p:spPr>
          <a:xfrm>
            <a:off x="3794760" y="2843784"/>
            <a:ext cx="402336" cy="347472"/>
          </a:xfrm>
          <a:prstGeom prst="hexagon">
            <a:avLst/>
          </a:prstGeom>
          <a:solidFill>
            <a:srgbClr val="00E5FF">
              <a:alpha val="12000"/>
            </a:srgbClr>
          </a:solidFill>
          <a:ln w="9525">
            <a:solidFill>
              <a:srgbClr val="00E5FF"/>
            </a:solidFill>
            <a:prstDash val="solid"/>
          </a:ln>
        </p:spPr>
      </p:sp>
      <p:pic>
        <p:nvPicPr>
          <p:cNvPr id="72" name="Image 9" descr="Cube Transparent icon">    </p:cNvPr>
          <p:cNvPicPr>
            <a:picLocks noChangeAspect="1"/>
          </p:cNvPicPr>
          <p:nvPr/>
        </p:nvPicPr>
        <p:blipFill>
          <a:blip r:embed="rId11"/>
          <a:stretch>
            <a:fillRect/>
          </a:stretch>
        </p:blipFill>
        <p:spPr>
          <a:xfrm>
            <a:off x="3886200" y="2907792"/>
            <a:ext cx="219456" cy="219456"/>
          </a:xfrm>
          <a:prstGeom prst="rect">
            <a:avLst/>
          </a:prstGeom>
        </p:spPr>
      </p:pic>
      <p:sp>
        <p:nvSpPr>
          <p:cNvPr id="73" name="Text 60"/>
          <p:cNvSpPr txBox="1"/>
          <p:nvPr/>
        </p:nvSpPr>
        <p:spPr>
          <a:xfrm>
            <a:off x="4306824" y="2743200"/>
            <a:ext cx="1307592" cy="548640"/>
          </a:xfrm>
          <a:prstGeom prst="rect">
            <a:avLst/>
          </a:prstGeom>
          <a:noFill/>
          <a:ln/>
        </p:spPr>
        <p:txBody>
          <a:bodyPr wrap="square" lIns="0" tIns="0" rIns="0" bIns="0" rtlCol="0" anchor="ctr"/>
          <a:lstStyle/>
          <a:p>
            <a:pPr indent="0" marL="0">
              <a:buNone/>
            </a:pPr>
            <a:r>
              <a:rPr lang="en-US" sz="1050" dirty="0">
                <a:solidFill>
                  <a:srgbClr val="FFFFFF"/>
                </a:solidFill>
              </a:rPr>
              <a:t>Digital Twin</a:t>
            </a:r>
            <a:endParaRPr lang="en-US" sz="1050" dirty="0"/>
          </a:p>
        </p:txBody>
      </p:sp>
      <p:sp>
        <p:nvSpPr>
          <p:cNvPr id="74" name="Shape 61"/>
          <p:cNvSpPr/>
          <p:nvPr/>
        </p:nvSpPr>
        <p:spPr>
          <a:xfrm>
            <a:off x="3703320" y="3417570"/>
            <a:ext cx="1965960" cy="548640"/>
          </a:xfrm>
          <a:prstGeom prst="roundRect">
            <a:avLst>
              <a:gd name="adj" fmla="val 10000"/>
            </a:avLst>
          </a:prstGeom>
          <a:solidFill>
            <a:srgbClr val="0B1A2E">
              <a:alpha val="95000"/>
            </a:srgbClr>
          </a:solidFill>
          <a:ln w="9525">
            <a:solidFill>
              <a:srgbClr val="17406A"/>
            </a:solidFill>
            <a:prstDash val="solid"/>
          </a:ln>
        </p:spPr>
      </p:sp>
      <p:sp>
        <p:nvSpPr>
          <p:cNvPr id="75" name="Shape 62"/>
          <p:cNvSpPr/>
          <p:nvPr/>
        </p:nvSpPr>
        <p:spPr>
          <a:xfrm>
            <a:off x="3794760" y="3518154"/>
            <a:ext cx="402336" cy="347472"/>
          </a:xfrm>
          <a:prstGeom prst="hexagon">
            <a:avLst/>
          </a:prstGeom>
          <a:solidFill>
            <a:srgbClr val="00E5FF">
              <a:alpha val="12000"/>
            </a:srgbClr>
          </a:solidFill>
          <a:ln w="9525">
            <a:solidFill>
              <a:srgbClr val="00E5FF"/>
            </a:solidFill>
            <a:prstDash val="solid"/>
          </a:ln>
        </p:spPr>
      </p:sp>
      <p:pic>
        <p:nvPicPr>
          <p:cNvPr id="76" name="Image 10" descr="Siren icon">    </p:cNvPr>
          <p:cNvPicPr>
            <a:picLocks noChangeAspect="1"/>
          </p:cNvPicPr>
          <p:nvPr/>
        </p:nvPicPr>
        <p:blipFill>
          <a:blip r:embed="rId12"/>
          <a:stretch>
            <a:fillRect/>
          </a:stretch>
        </p:blipFill>
        <p:spPr>
          <a:xfrm>
            <a:off x="3886200" y="3582162"/>
            <a:ext cx="219456" cy="219456"/>
          </a:xfrm>
          <a:prstGeom prst="rect">
            <a:avLst/>
          </a:prstGeom>
        </p:spPr>
      </p:pic>
      <p:sp>
        <p:nvSpPr>
          <p:cNvPr id="77" name="Text 63"/>
          <p:cNvSpPr txBox="1"/>
          <p:nvPr/>
        </p:nvSpPr>
        <p:spPr>
          <a:xfrm>
            <a:off x="4306824" y="3417570"/>
            <a:ext cx="1307592" cy="548640"/>
          </a:xfrm>
          <a:prstGeom prst="rect">
            <a:avLst/>
          </a:prstGeom>
          <a:noFill/>
          <a:ln/>
        </p:spPr>
        <p:txBody>
          <a:bodyPr wrap="square" lIns="0" tIns="0" rIns="0" bIns="0" rtlCol="0" anchor="ctr"/>
          <a:lstStyle/>
          <a:p>
            <a:pPr indent="0" marL="0">
              <a:buNone/>
            </a:pPr>
            <a:r>
              <a:rPr lang="en-US" sz="1050" dirty="0">
                <a:solidFill>
                  <a:srgbClr val="FFFFFF"/>
                </a:solidFill>
              </a:rPr>
              <a:t>Incident &amp; Alarm Management</a:t>
            </a:r>
            <a:endParaRPr lang="en-US" sz="1050" dirty="0"/>
          </a:p>
        </p:txBody>
      </p:sp>
      <p:sp>
        <p:nvSpPr>
          <p:cNvPr id="78" name="Shape 64"/>
          <p:cNvSpPr/>
          <p:nvPr/>
        </p:nvSpPr>
        <p:spPr>
          <a:xfrm>
            <a:off x="3703320" y="4091940"/>
            <a:ext cx="1965960" cy="548640"/>
          </a:xfrm>
          <a:prstGeom prst="roundRect">
            <a:avLst>
              <a:gd name="adj" fmla="val 10000"/>
            </a:avLst>
          </a:prstGeom>
          <a:solidFill>
            <a:srgbClr val="0B1A2E">
              <a:alpha val="95000"/>
            </a:srgbClr>
          </a:solidFill>
          <a:ln w="9525">
            <a:solidFill>
              <a:srgbClr val="17406A"/>
            </a:solidFill>
            <a:prstDash val="solid"/>
          </a:ln>
        </p:spPr>
      </p:sp>
      <p:sp>
        <p:nvSpPr>
          <p:cNvPr id="79" name="Shape 65"/>
          <p:cNvSpPr/>
          <p:nvPr/>
        </p:nvSpPr>
        <p:spPr>
          <a:xfrm>
            <a:off x="3794760" y="4192524"/>
            <a:ext cx="402336" cy="347472"/>
          </a:xfrm>
          <a:prstGeom prst="hexagon">
            <a:avLst/>
          </a:prstGeom>
          <a:solidFill>
            <a:srgbClr val="00E5FF">
              <a:alpha val="12000"/>
            </a:srgbClr>
          </a:solidFill>
          <a:ln w="9525">
            <a:solidFill>
              <a:srgbClr val="00E5FF"/>
            </a:solidFill>
            <a:prstDash val="solid"/>
          </a:ln>
        </p:spPr>
      </p:sp>
      <p:pic>
        <p:nvPicPr>
          <p:cNvPr id="80" name="Image 11" descr="Heartbeat icon">    </p:cNvPr>
          <p:cNvPicPr>
            <a:picLocks noChangeAspect="1"/>
          </p:cNvPicPr>
          <p:nvPr/>
        </p:nvPicPr>
        <p:blipFill>
          <a:blip r:embed="rId13"/>
          <a:stretch>
            <a:fillRect/>
          </a:stretch>
        </p:blipFill>
        <p:spPr>
          <a:xfrm>
            <a:off x="3886200" y="4256532"/>
            <a:ext cx="219456" cy="219456"/>
          </a:xfrm>
          <a:prstGeom prst="rect">
            <a:avLst/>
          </a:prstGeom>
        </p:spPr>
      </p:pic>
      <p:sp>
        <p:nvSpPr>
          <p:cNvPr id="81" name="Text 66"/>
          <p:cNvSpPr txBox="1"/>
          <p:nvPr/>
        </p:nvSpPr>
        <p:spPr>
          <a:xfrm>
            <a:off x="4306824" y="4091940"/>
            <a:ext cx="1307592" cy="548640"/>
          </a:xfrm>
          <a:prstGeom prst="rect">
            <a:avLst/>
          </a:prstGeom>
          <a:noFill/>
          <a:ln/>
        </p:spPr>
        <p:txBody>
          <a:bodyPr wrap="square" lIns="0" tIns="0" rIns="0" bIns="0" rtlCol="0" anchor="ctr"/>
          <a:lstStyle/>
          <a:p>
            <a:pPr indent="0" marL="0">
              <a:buNone/>
            </a:pPr>
            <a:r>
              <a:rPr lang="en-US" sz="1050" dirty="0">
                <a:solidFill>
                  <a:srgbClr val="FFFFFF"/>
                </a:solidFill>
              </a:rPr>
              <a:t>Sitewide Health Status</a:t>
            </a:r>
            <a:endParaRPr lang="en-US" sz="1050" dirty="0"/>
          </a:p>
        </p:txBody>
      </p:sp>
      <p:sp>
        <p:nvSpPr>
          <p:cNvPr id="82" name="Shape 67"/>
          <p:cNvSpPr/>
          <p:nvPr/>
        </p:nvSpPr>
        <p:spPr>
          <a:xfrm>
            <a:off x="3703320" y="4766310"/>
            <a:ext cx="1965960" cy="548640"/>
          </a:xfrm>
          <a:prstGeom prst="roundRect">
            <a:avLst>
              <a:gd name="adj" fmla="val 10000"/>
            </a:avLst>
          </a:prstGeom>
          <a:solidFill>
            <a:srgbClr val="0B1A2E">
              <a:alpha val="95000"/>
            </a:srgbClr>
          </a:solidFill>
          <a:ln w="9525">
            <a:solidFill>
              <a:srgbClr val="17406A"/>
            </a:solidFill>
            <a:prstDash val="solid"/>
          </a:ln>
        </p:spPr>
      </p:sp>
      <p:sp>
        <p:nvSpPr>
          <p:cNvPr id="83" name="Shape 68"/>
          <p:cNvSpPr/>
          <p:nvPr/>
        </p:nvSpPr>
        <p:spPr>
          <a:xfrm>
            <a:off x="3794760" y="4866894"/>
            <a:ext cx="402336" cy="347472"/>
          </a:xfrm>
          <a:prstGeom prst="hexagon">
            <a:avLst/>
          </a:prstGeom>
          <a:solidFill>
            <a:srgbClr val="00E5FF">
              <a:alpha val="12000"/>
            </a:srgbClr>
          </a:solidFill>
          <a:ln w="9525">
            <a:solidFill>
              <a:srgbClr val="00E5FF"/>
            </a:solidFill>
            <a:prstDash val="solid"/>
          </a:ln>
        </p:spPr>
      </p:sp>
      <p:pic>
        <p:nvPicPr>
          <p:cNvPr id="84" name="Image 12" descr="Squares Four icon">    </p:cNvPr>
          <p:cNvPicPr>
            <a:picLocks noChangeAspect="1"/>
          </p:cNvPicPr>
          <p:nvPr/>
        </p:nvPicPr>
        <p:blipFill>
          <a:blip r:embed="rId14"/>
          <a:stretch>
            <a:fillRect/>
          </a:stretch>
        </p:blipFill>
        <p:spPr>
          <a:xfrm>
            <a:off x="3886200" y="4930902"/>
            <a:ext cx="219456" cy="219456"/>
          </a:xfrm>
          <a:prstGeom prst="rect">
            <a:avLst/>
          </a:prstGeom>
        </p:spPr>
      </p:pic>
      <p:sp>
        <p:nvSpPr>
          <p:cNvPr id="85" name="Text 69"/>
          <p:cNvSpPr txBox="1"/>
          <p:nvPr/>
        </p:nvSpPr>
        <p:spPr>
          <a:xfrm>
            <a:off x="4306824" y="4766310"/>
            <a:ext cx="1307592" cy="548640"/>
          </a:xfrm>
          <a:prstGeom prst="rect">
            <a:avLst/>
          </a:prstGeom>
          <a:noFill/>
          <a:ln/>
        </p:spPr>
        <p:txBody>
          <a:bodyPr wrap="square" lIns="0" tIns="0" rIns="0" bIns="0" rtlCol="0" anchor="ctr"/>
          <a:lstStyle/>
          <a:p>
            <a:pPr indent="0" marL="0">
              <a:buNone/>
            </a:pPr>
            <a:r>
              <a:rPr lang="en-US" sz="1050" dirty="0">
                <a:solidFill>
                  <a:srgbClr val="FFFFFF"/>
                </a:solidFill>
              </a:rPr>
              <a:t>Common Operating Picture</a:t>
            </a:r>
            <a:endParaRPr lang="en-US" sz="1050" dirty="0"/>
          </a:p>
        </p:txBody>
      </p:sp>
      <p:sp>
        <p:nvSpPr>
          <p:cNvPr id="86" name="Shape 70"/>
          <p:cNvSpPr/>
          <p:nvPr/>
        </p:nvSpPr>
        <p:spPr>
          <a:xfrm>
            <a:off x="3703320" y="5440680"/>
            <a:ext cx="1965960" cy="548640"/>
          </a:xfrm>
          <a:prstGeom prst="roundRect">
            <a:avLst>
              <a:gd name="adj" fmla="val 10000"/>
            </a:avLst>
          </a:prstGeom>
          <a:solidFill>
            <a:srgbClr val="0B1A2E">
              <a:alpha val="95000"/>
            </a:srgbClr>
          </a:solidFill>
          <a:ln w="9525">
            <a:solidFill>
              <a:srgbClr val="17406A"/>
            </a:solidFill>
            <a:prstDash val="solid"/>
          </a:ln>
        </p:spPr>
      </p:sp>
      <p:sp>
        <p:nvSpPr>
          <p:cNvPr id="87" name="Shape 71"/>
          <p:cNvSpPr/>
          <p:nvPr/>
        </p:nvSpPr>
        <p:spPr>
          <a:xfrm>
            <a:off x="3794760" y="5541264"/>
            <a:ext cx="402336" cy="347472"/>
          </a:xfrm>
          <a:prstGeom prst="hexagon">
            <a:avLst/>
          </a:prstGeom>
          <a:solidFill>
            <a:srgbClr val="00E5FF">
              <a:alpha val="12000"/>
            </a:srgbClr>
          </a:solidFill>
          <a:ln w="9525">
            <a:solidFill>
              <a:srgbClr val="00E5FF"/>
            </a:solidFill>
            <a:prstDash val="solid"/>
          </a:ln>
        </p:spPr>
      </p:sp>
      <p:pic>
        <p:nvPicPr>
          <p:cNvPr id="88" name="Image 13" descr="Flow Arrow icon">    </p:cNvPr>
          <p:cNvPicPr>
            <a:picLocks noChangeAspect="1"/>
          </p:cNvPicPr>
          <p:nvPr/>
        </p:nvPicPr>
        <p:blipFill>
          <a:blip r:embed="rId15"/>
          <a:stretch>
            <a:fillRect/>
          </a:stretch>
        </p:blipFill>
        <p:spPr>
          <a:xfrm>
            <a:off x="3886200" y="5605272"/>
            <a:ext cx="219456" cy="219456"/>
          </a:xfrm>
          <a:prstGeom prst="rect">
            <a:avLst/>
          </a:prstGeom>
        </p:spPr>
      </p:pic>
      <p:sp>
        <p:nvSpPr>
          <p:cNvPr id="89" name="Text 72"/>
          <p:cNvSpPr txBox="1"/>
          <p:nvPr/>
        </p:nvSpPr>
        <p:spPr>
          <a:xfrm>
            <a:off x="4306824" y="5440680"/>
            <a:ext cx="1307592" cy="548640"/>
          </a:xfrm>
          <a:prstGeom prst="rect">
            <a:avLst/>
          </a:prstGeom>
          <a:noFill/>
          <a:ln/>
        </p:spPr>
        <p:txBody>
          <a:bodyPr wrap="square" lIns="0" tIns="0" rIns="0" bIns="0" rtlCol="0" anchor="ctr"/>
          <a:lstStyle/>
          <a:p>
            <a:pPr indent="0" marL="0">
              <a:buNone/>
            </a:pPr>
            <a:r>
              <a:rPr lang="en-US" sz="1050" dirty="0">
                <a:solidFill>
                  <a:srgbClr val="FFFFFF"/>
                </a:solidFill>
              </a:rPr>
              <a:t>Digital Workflow Engine</a:t>
            </a:r>
            <a:endParaRPr lang="en-US" sz="1050" dirty="0"/>
          </a:p>
        </p:txBody>
      </p:sp>
      <p:sp>
        <p:nvSpPr>
          <p:cNvPr id="90" name="Shape 73"/>
          <p:cNvSpPr/>
          <p:nvPr/>
        </p:nvSpPr>
        <p:spPr>
          <a:xfrm>
            <a:off x="5806440" y="2743200"/>
            <a:ext cx="1371600" cy="1463040"/>
          </a:xfrm>
          <a:prstGeom prst="roundRect">
            <a:avLst>
              <a:gd name="adj" fmla="val 5333"/>
            </a:avLst>
          </a:prstGeom>
          <a:solidFill>
            <a:srgbClr val="1A0820">
              <a:alpha val="92000"/>
            </a:srgbClr>
          </a:solidFill>
          <a:ln w="15875">
            <a:solidFill>
              <a:srgbClr val="FF3DCB"/>
            </a:solidFill>
            <a:prstDash val="solid"/>
          </a:ln>
          <a:effectLst>
            <a:outerShdw sx="100000" sy="100000" kx="0" ky="0" algn="bl" rotWithShape="0" blurRad="203200" dist="50800" dir="5400000">
              <a:srgbClr val="FF3DCB">
                <a:alpha val="60000"/>
              </a:srgbClr>
            </a:outerShdw>
          </a:effectLst>
        </p:spPr>
      </p:sp>
      <p:pic>
        <p:nvPicPr>
          <p:cNvPr id="91" name="Image 14" descr="Brain icon">    </p:cNvPr>
          <p:cNvPicPr>
            <a:picLocks noChangeAspect="1"/>
          </p:cNvPicPr>
          <p:nvPr/>
        </p:nvPicPr>
        <p:blipFill>
          <a:blip r:embed="rId16"/>
          <a:stretch>
            <a:fillRect/>
          </a:stretch>
        </p:blipFill>
        <p:spPr>
          <a:xfrm>
            <a:off x="5943600" y="2871216"/>
            <a:ext cx="347472" cy="347472"/>
          </a:xfrm>
          <a:prstGeom prst="rect">
            <a:avLst/>
          </a:prstGeom>
        </p:spPr>
      </p:pic>
      <p:sp>
        <p:nvSpPr>
          <p:cNvPr id="92" name="Text 74"/>
          <p:cNvSpPr txBox="1"/>
          <p:nvPr/>
        </p:nvSpPr>
        <p:spPr>
          <a:xfrm>
            <a:off x="5943600" y="3273552"/>
            <a:ext cx="1143000" cy="411480"/>
          </a:xfrm>
          <a:prstGeom prst="rect">
            <a:avLst/>
          </a:prstGeom>
          <a:noFill/>
          <a:ln/>
        </p:spPr>
        <p:txBody>
          <a:bodyPr wrap="square" lIns="0" tIns="0" rIns="0" bIns="0" rtlCol="0" anchor="t"/>
          <a:lstStyle/>
          <a:p>
            <a:pPr indent="0" marL="0">
              <a:buNone/>
            </a:pPr>
            <a:r>
              <a:rPr lang="en-US" sz="2400" b="1" dirty="0">
                <a:solidFill>
                  <a:srgbClr val="FFFFFF"/>
                </a:solidFill>
                <a:effectLst>
                  <a:glow rad="76200">
                    <a:srgbClr val="FF3DCB">
                      <a:alpha val="40000"/>
                    </a:srgbClr>
                  </a:glow>
                </a:effectLst>
              </a:rPr>
              <a:t>A.I.</a:t>
            </a:r>
            <a:endParaRPr lang="en-US" sz="2400" dirty="0"/>
          </a:p>
        </p:txBody>
      </p:sp>
      <p:sp>
        <p:nvSpPr>
          <p:cNvPr id="93" name="Text 75"/>
          <p:cNvSpPr txBox="1"/>
          <p:nvPr/>
        </p:nvSpPr>
        <p:spPr>
          <a:xfrm>
            <a:off x="5943600" y="3730752"/>
            <a:ext cx="1143000" cy="274320"/>
          </a:xfrm>
          <a:prstGeom prst="rect">
            <a:avLst/>
          </a:prstGeom>
          <a:noFill/>
          <a:ln/>
        </p:spPr>
        <p:txBody>
          <a:bodyPr wrap="square" lIns="0" tIns="0" rIns="0" bIns="0" rtlCol="0" anchor="t"/>
          <a:lstStyle/>
          <a:p>
            <a:pPr indent="0" marL="0">
              <a:buNone/>
            </a:pPr>
            <a:r>
              <a:rPr lang="en-US" sz="1050" b="1" dirty="0">
                <a:solidFill>
                  <a:srgbClr val="F8A8EC"/>
                </a:solidFill>
              </a:rPr>
              <a:t>ML · LLM · AI</a:t>
            </a:r>
            <a:endParaRPr lang="en-US" sz="1050" dirty="0"/>
          </a:p>
        </p:txBody>
      </p:sp>
      <p:sp>
        <p:nvSpPr>
          <p:cNvPr id="94" name="Shape 76"/>
          <p:cNvSpPr/>
          <p:nvPr/>
        </p:nvSpPr>
        <p:spPr>
          <a:xfrm>
            <a:off x="5806440" y="4343400"/>
            <a:ext cx="1371600" cy="1645920"/>
          </a:xfrm>
          <a:prstGeom prst="roundRect">
            <a:avLst>
              <a:gd name="adj" fmla="val 5333"/>
            </a:avLst>
          </a:prstGeom>
          <a:solidFill>
            <a:srgbClr val="0B1A2E">
              <a:alpha val="95000"/>
            </a:srgbClr>
          </a:solidFill>
          <a:ln w="9525">
            <a:solidFill>
              <a:srgbClr val="00E5FF">
                <a:alpha val="80000"/>
              </a:srgbClr>
            </a:solidFill>
            <a:prstDash val="solid"/>
          </a:ln>
        </p:spPr>
      </p:sp>
      <p:pic>
        <p:nvPicPr>
          <p:cNvPr id="95" name="Image 15" descr="Security Camera icon">    </p:cNvPr>
          <p:cNvPicPr>
            <a:picLocks noChangeAspect="1"/>
          </p:cNvPicPr>
          <p:nvPr/>
        </p:nvPicPr>
        <p:blipFill>
          <a:blip r:embed="rId17"/>
          <a:stretch>
            <a:fillRect/>
          </a:stretch>
        </p:blipFill>
        <p:spPr>
          <a:xfrm>
            <a:off x="5943600" y="4471416"/>
            <a:ext cx="347472" cy="347472"/>
          </a:xfrm>
          <a:prstGeom prst="rect">
            <a:avLst/>
          </a:prstGeom>
        </p:spPr>
      </p:pic>
      <p:sp>
        <p:nvSpPr>
          <p:cNvPr id="96" name="Text 77"/>
          <p:cNvSpPr txBox="1"/>
          <p:nvPr/>
        </p:nvSpPr>
        <p:spPr>
          <a:xfrm>
            <a:off x="5943600" y="4892040"/>
            <a:ext cx="1143000" cy="384048"/>
          </a:xfrm>
          <a:prstGeom prst="rect">
            <a:avLst/>
          </a:prstGeom>
          <a:noFill/>
          <a:ln/>
        </p:spPr>
        <p:txBody>
          <a:bodyPr wrap="square" lIns="0" tIns="0" rIns="0" bIns="0" rtlCol="0" anchor="t"/>
          <a:lstStyle/>
          <a:p>
            <a:pPr indent="0" marL="0">
              <a:buNone/>
            </a:pPr>
            <a:r>
              <a:rPr lang="en-US" sz="1100" b="1" spc="100" kern="0" dirty="0">
                <a:solidFill>
                  <a:srgbClr val="FFFFFF"/>
                </a:solidFill>
              </a:rPr>
              <a:t>VIDEO</a:t>
            </a:r>
            <a:endParaRPr lang="en-US" sz="1100" dirty="0"/>
          </a:p>
          <a:p>
            <a:pPr indent="0" marL="0">
              <a:buNone/>
            </a:pPr>
            <a:r>
              <a:rPr lang="en-US" sz="1100" b="1" spc="100" kern="0" dirty="0">
                <a:solidFill>
                  <a:srgbClr val="FFFFFF"/>
                </a:solidFill>
              </a:rPr>
              <a:t>ANALYTICS</a:t>
            </a:r>
            <a:endParaRPr lang="en-US" sz="1100" dirty="0"/>
          </a:p>
        </p:txBody>
      </p:sp>
      <p:sp>
        <p:nvSpPr>
          <p:cNvPr id="97" name="Text 78"/>
          <p:cNvSpPr txBox="1"/>
          <p:nvPr/>
        </p:nvSpPr>
        <p:spPr>
          <a:xfrm>
            <a:off x="5943600" y="5312664"/>
            <a:ext cx="1143000" cy="548640"/>
          </a:xfrm>
          <a:prstGeom prst="rect">
            <a:avLst/>
          </a:prstGeom>
          <a:noFill/>
          <a:ln/>
        </p:spPr>
        <p:txBody>
          <a:bodyPr wrap="square" lIns="0" tIns="0" rIns="0" bIns="0" rtlCol="0" anchor="t"/>
          <a:lstStyle/>
          <a:p>
            <a:pPr indent="0" marL="0">
              <a:buNone/>
            </a:pPr>
            <a:r>
              <a:rPr lang="en-US" sz="1000" dirty="0">
                <a:solidFill>
                  <a:srgbClr val="8FA3BF"/>
                </a:solidFill>
              </a:rPr>
              <a:t>Video dispatcher &amp; aggregators</a:t>
            </a:r>
            <a:endParaRPr lang="en-US" sz="1000" dirty="0"/>
          </a:p>
        </p:txBody>
      </p:sp>
      <p:sp>
        <p:nvSpPr>
          <p:cNvPr id="98" name="Text 79"/>
          <p:cNvSpPr txBox="1"/>
          <p:nvPr/>
        </p:nvSpPr>
        <p:spPr>
          <a:xfrm>
            <a:off x="7543800" y="2029968"/>
            <a:ext cx="1965960" cy="420624"/>
          </a:xfrm>
          <a:prstGeom prst="rect">
            <a:avLst/>
          </a:prstGeom>
          <a:noFill/>
          <a:ln/>
        </p:spPr>
        <p:txBody>
          <a:bodyPr wrap="square" lIns="0" tIns="0" rIns="0" bIns="0" rtlCol="0" anchor="t"/>
          <a:lstStyle/>
          <a:p>
            <a:pPr algn="ctr" indent="0" marL="0">
              <a:buNone/>
            </a:pPr>
            <a:r>
              <a:rPr lang="en-US" sz="1100" b="1" spc="200" kern="0" dirty="0">
                <a:solidFill>
                  <a:srgbClr val="FFFFFF"/>
                </a:solidFill>
              </a:rPr>
              <a:t>ORCHESTRATION</a:t>
            </a:r>
            <a:endParaRPr lang="en-US" sz="1100" dirty="0"/>
          </a:p>
          <a:p>
            <a:pPr algn="ctr" indent="0" marL="0">
              <a:buNone/>
            </a:pPr>
            <a:r>
              <a:rPr lang="en-US" sz="1100" b="1" spc="200" kern="0" dirty="0">
                <a:solidFill>
                  <a:srgbClr val="FFFFFF"/>
                </a:solidFill>
              </a:rPr>
              <a:t>LAYER</a:t>
            </a:r>
            <a:endParaRPr lang="en-US" sz="1100" dirty="0"/>
          </a:p>
        </p:txBody>
      </p:sp>
      <p:sp>
        <p:nvSpPr>
          <p:cNvPr id="99" name="Shape 80"/>
          <p:cNvSpPr/>
          <p:nvPr/>
        </p:nvSpPr>
        <p:spPr>
          <a:xfrm>
            <a:off x="7749540" y="2697480"/>
            <a:ext cx="1554480" cy="1554480"/>
          </a:xfrm>
          <a:prstGeom prst="ellipse">
            <a:avLst/>
          </a:prstGeom>
          <a:solidFill>
            <a:srgbClr val="000000">
              <a:alpha val="0"/>
            </a:srgbClr>
          </a:solidFill>
          <a:ln w="12700">
            <a:solidFill>
              <a:srgbClr val="00E5FF">
                <a:alpha val="75000"/>
              </a:srgbClr>
            </a:solidFill>
            <a:prstDash val="sysDot"/>
          </a:ln>
        </p:spPr>
      </p:sp>
      <p:sp>
        <p:nvSpPr>
          <p:cNvPr id="100" name="Shape 81"/>
          <p:cNvSpPr/>
          <p:nvPr/>
        </p:nvSpPr>
        <p:spPr>
          <a:xfrm>
            <a:off x="7904988" y="2852928"/>
            <a:ext cx="1243584" cy="1243584"/>
          </a:xfrm>
          <a:prstGeom prst="ellipse">
            <a:avLst/>
          </a:prstGeom>
          <a:gradFill rotWithShape="1">
            <a:gsLst>
              <a:gs pos="0">
                <a:srgbClr val="0E5A80"/>
              </a:gs>
              <a:gs pos="60000">
                <a:srgbClr val="082238"/>
              </a:gs>
              <a:gs pos="100000">
                <a:srgbClr val="050F1C"/>
              </a:gs>
            </a:gsLst>
            <a:path path="circle">
              <a:fillToRect l="50000" t="50000" r="50000" b="50000"/>
            </a:path>
          </a:gradFill>
          <a:ln w="19050">
            <a:solidFill>
              <a:srgbClr val="00E5FF"/>
            </a:solidFill>
            <a:prstDash val="solid"/>
          </a:ln>
          <a:effectLst>
            <a:outerShdw sx="100000" sy="100000" kx="0" ky="0" algn="bl" rotWithShape="0" blurRad="279400" dist="50800" dir="5400000">
              <a:srgbClr val="00E5FF">
                <a:alpha val="75000"/>
              </a:srgbClr>
            </a:outerShdw>
          </a:effectLst>
        </p:spPr>
      </p:sp>
      <p:pic>
        <p:nvPicPr>
          <p:cNvPr id="101" name="Image 16" descr="Graph icon">    </p:cNvPr>
          <p:cNvPicPr>
            <a:picLocks noChangeAspect="1"/>
          </p:cNvPicPr>
          <p:nvPr/>
        </p:nvPicPr>
        <p:blipFill>
          <a:blip r:embed="rId18"/>
          <a:stretch>
            <a:fillRect/>
          </a:stretch>
        </p:blipFill>
        <p:spPr>
          <a:xfrm>
            <a:off x="8234172" y="3182112"/>
            <a:ext cx="585216" cy="585216"/>
          </a:xfrm>
          <a:prstGeom prst="rect">
            <a:avLst/>
          </a:prstGeom>
        </p:spPr>
      </p:pic>
      <p:sp>
        <p:nvSpPr>
          <p:cNvPr id="102" name="Shape 82"/>
          <p:cNvSpPr/>
          <p:nvPr/>
        </p:nvSpPr>
        <p:spPr>
          <a:xfrm>
            <a:off x="7178040" y="3474720"/>
            <a:ext cx="571500" cy="0"/>
          </a:xfrm>
          <a:prstGeom prst="line">
            <a:avLst/>
          </a:prstGeom>
          <a:noFill/>
          <a:ln w="19050">
            <a:solidFill>
              <a:srgbClr val="FF3DCB"/>
            </a:solidFill>
            <a:prstDash val="solid"/>
            <a:headEnd type="triangle"/>
            <a:tailEnd type="triangle"/>
          </a:ln>
        </p:spPr>
      </p:sp>
      <p:sp>
        <p:nvSpPr>
          <p:cNvPr id="103" name="Shape 83"/>
          <p:cNvSpPr/>
          <p:nvPr/>
        </p:nvSpPr>
        <p:spPr>
          <a:xfrm>
            <a:off x="8526780" y="4251960"/>
            <a:ext cx="0" cy="274320"/>
          </a:xfrm>
          <a:prstGeom prst="line">
            <a:avLst/>
          </a:prstGeom>
          <a:noFill/>
          <a:ln w="12700">
            <a:solidFill>
              <a:srgbClr val="00E5FF">
                <a:alpha val="75000"/>
              </a:srgbClr>
            </a:solidFill>
            <a:prstDash val="solid"/>
          </a:ln>
        </p:spPr>
      </p:sp>
      <p:sp>
        <p:nvSpPr>
          <p:cNvPr id="104" name="Shape 84"/>
          <p:cNvSpPr/>
          <p:nvPr/>
        </p:nvSpPr>
        <p:spPr>
          <a:xfrm>
            <a:off x="7680960" y="452628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05" name="Image 17" descr="Code icon">    </p:cNvPr>
          <p:cNvPicPr>
            <a:picLocks noChangeAspect="1"/>
          </p:cNvPicPr>
          <p:nvPr/>
        </p:nvPicPr>
        <p:blipFill>
          <a:blip r:embed="rId19"/>
          <a:stretch>
            <a:fillRect/>
          </a:stretch>
        </p:blipFill>
        <p:spPr>
          <a:xfrm>
            <a:off x="7808976" y="4590288"/>
            <a:ext cx="201168" cy="201168"/>
          </a:xfrm>
          <a:prstGeom prst="rect">
            <a:avLst/>
          </a:prstGeom>
        </p:spPr>
      </p:pic>
      <p:sp>
        <p:nvSpPr>
          <p:cNvPr id="106" name="Text 85"/>
          <p:cNvSpPr txBox="1"/>
          <p:nvPr/>
        </p:nvSpPr>
        <p:spPr>
          <a:xfrm>
            <a:off x="8101584" y="4526280"/>
            <a:ext cx="1234440" cy="329184"/>
          </a:xfrm>
          <a:prstGeom prst="rect">
            <a:avLst/>
          </a:prstGeom>
          <a:noFill/>
          <a:ln/>
        </p:spPr>
        <p:txBody>
          <a:bodyPr wrap="square" lIns="0" tIns="0" rIns="0" bIns="0" rtlCol="0" anchor="ctr"/>
          <a:lstStyle/>
          <a:p>
            <a:pPr indent="0" marL="0">
              <a:buNone/>
            </a:pPr>
            <a:r>
              <a:rPr lang="en-US" sz="1050" dirty="0">
                <a:solidFill>
                  <a:srgbClr val="FFFFFF"/>
                </a:solidFill>
              </a:rPr>
              <a:t>API</a:t>
            </a:r>
            <a:endParaRPr lang="en-US" sz="1050" dirty="0"/>
          </a:p>
        </p:txBody>
      </p:sp>
      <p:sp>
        <p:nvSpPr>
          <p:cNvPr id="107" name="Shape 86"/>
          <p:cNvSpPr/>
          <p:nvPr/>
        </p:nvSpPr>
        <p:spPr>
          <a:xfrm>
            <a:off x="7680960" y="493776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08" name="Image 18" descr="Package icon">    </p:cNvPr>
          <p:cNvPicPr>
            <a:picLocks noChangeAspect="1"/>
          </p:cNvPicPr>
          <p:nvPr/>
        </p:nvPicPr>
        <p:blipFill>
          <a:blip r:embed="rId20"/>
          <a:stretch>
            <a:fillRect/>
          </a:stretch>
        </p:blipFill>
        <p:spPr>
          <a:xfrm>
            <a:off x="7808976" y="5001768"/>
            <a:ext cx="201168" cy="201168"/>
          </a:xfrm>
          <a:prstGeom prst="rect">
            <a:avLst/>
          </a:prstGeom>
        </p:spPr>
      </p:pic>
      <p:sp>
        <p:nvSpPr>
          <p:cNvPr id="109" name="Text 87"/>
          <p:cNvSpPr txBox="1"/>
          <p:nvPr/>
        </p:nvSpPr>
        <p:spPr>
          <a:xfrm>
            <a:off x="8101584" y="4937760"/>
            <a:ext cx="1234440" cy="329184"/>
          </a:xfrm>
          <a:prstGeom prst="rect">
            <a:avLst/>
          </a:prstGeom>
          <a:noFill/>
          <a:ln/>
        </p:spPr>
        <p:txBody>
          <a:bodyPr wrap="square" lIns="0" tIns="0" rIns="0" bIns="0" rtlCol="0" anchor="ctr"/>
          <a:lstStyle/>
          <a:p>
            <a:pPr indent="0" marL="0">
              <a:buNone/>
            </a:pPr>
            <a:r>
              <a:rPr lang="en-US" sz="1050" dirty="0">
                <a:solidFill>
                  <a:srgbClr val="FFFFFF"/>
                </a:solidFill>
              </a:rPr>
              <a:t>SDK</a:t>
            </a:r>
            <a:endParaRPr lang="en-US" sz="1050" dirty="0"/>
          </a:p>
        </p:txBody>
      </p:sp>
      <p:sp>
        <p:nvSpPr>
          <p:cNvPr id="110" name="Shape 88"/>
          <p:cNvSpPr/>
          <p:nvPr/>
        </p:nvSpPr>
        <p:spPr>
          <a:xfrm>
            <a:off x="7680960" y="534924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11" name="Image 19" descr="Plugs icon">    </p:cNvPr>
          <p:cNvPicPr>
            <a:picLocks noChangeAspect="1"/>
          </p:cNvPicPr>
          <p:nvPr/>
        </p:nvPicPr>
        <p:blipFill>
          <a:blip r:embed="rId21"/>
          <a:stretch>
            <a:fillRect/>
          </a:stretch>
        </p:blipFill>
        <p:spPr>
          <a:xfrm>
            <a:off x="7808976" y="5413248"/>
            <a:ext cx="201168" cy="201168"/>
          </a:xfrm>
          <a:prstGeom prst="rect">
            <a:avLst/>
          </a:prstGeom>
        </p:spPr>
      </p:pic>
      <p:sp>
        <p:nvSpPr>
          <p:cNvPr id="112" name="Text 89"/>
          <p:cNvSpPr txBox="1"/>
          <p:nvPr/>
        </p:nvSpPr>
        <p:spPr>
          <a:xfrm>
            <a:off x="8101584" y="5349240"/>
            <a:ext cx="1234440" cy="329184"/>
          </a:xfrm>
          <a:prstGeom prst="rect">
            <a:avLst/>
          </a:prstGeom>
          <a:noFill/>
          <a:ln/>
        </p:spPr>
        <p:txBody>
          <a:bodyPr wrap="square" lIns="0" tIns="0" rIns="0" bIns="0" rtlCol="0" anchor="ctr"/>
          <a:lstStyle/>
          <a:p>
            <a:pPr indent="0" marL="0">
              <a:buNone/>
            </a:pPr>
            <a:r>
              <a:rPr lang="en-US" sz="1050" dirty="0">
                <a:solidFill>
                  <a:srgbClr val="FFFFFF"/>
                </a:solidFill>
              </a:rPr>
              <a:t>DIO</a:t>
            </a:r>
            <a:endParaRPr lang="en-US" sz="1050" dirty="0"/>
          </a:p>
        </p:txBody>
      </p:sp>
      <p:sp>
        <p:nvSpPr>
          <p:cNvPr id="113" name="Shape 90"/>
          <p:cNvSpPr/>
          <p:nvPr/>
        </p:nvSpPr>
        <p:spPr>
          <a:xfrm>
            <a:off x="7680960" y="576072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14" name="Image 20" descr="Seal Check icon">    </p:cNvPr>
          <p:cNvPicPr>
            <a:picLocks noChangeAspect="1"/>
          </p:cNvPicPr>
          <p:nvPr/>
        </p:nvPicPr>
        <p:blipFill>
          <a:blip r:embed="rId22"/>
          <a:stretch>
            <a:fillRect/>
          </a:stretch>
        </p:blipFill>
        <p:spPr>
          <a:xfrm>
            <a:off x="7808976" y="5824728"/>
            <a:ext cx="201168" cy="201168"/>
          </a:xfrm>
          <a:prstGeom prst="rect">
            <a:avLst/>
          </a:prstGeom>
        </p:spPr>
      </p:pic>
      <p:sp>
        <p:nvSpPr>
          <p:cNvPr id="115" name="Text 91"/>
          <p:cNvSpPr txBox="1"/>
          <p:nvPr/>
        </p:nvSpPr>
        <p:spPr>
          <a:xfrm>
            <a:off x="8101584" y="5760720"/>
            <a:ext cx="1234440" cy="329184"/>
          </a:xfrm>
          <a:prstGeom prst="rect">
            <a:avLst/>
          </a:prstGeom>
          <a:noFill/>
          <a:ln/>
        </p:spPr>
        <p:txBody>
          <a:bodyPr wrap="square" lIns="0" tIns="0" rIns="0" bIns="0" rtlCol="0" anchor="ctr"/>
          <a:lstStyle/>
          <a:p>
            <a:pPr indent="0" marL="0">
              <a:buNone/>
            </a:pPr>
            <a:r>
              <a:rPr lang="en-US" sz="1050" dirty="0">
                <a:solidFill>
                  <a:srgbClr val="FFFFFF"/>
                </a:solidFill>
              </a:rPr>
              <a:t>Industry Standards</a:t>
            </a:r>
            <a:endParaRPr lang="en-US" sz="1050" dirty="0"/>
          </a:p>
        </p:txBody>
      </p:sp>
      <p:sp>
        <p:nvSpPr>
          <p:cNvPr id="116" name="Shape 92"/>
          <p:cNvSpPr/>
          <p:nvPr/>
        </p:nvSpPr>
        <p:spPr>
          <a:xfrm>
            <a:off x="9601200" y="2011680"/>
            <a:ext cx="2084832" cy="1874520"/>
          </a:xfrm>
          <a:prstGeom prst="roundRect">
            <a:avLst>
              <a:gd name="adj" fmla="val 3902"/>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17" name="Image 21" descr="Robot icon">    </p:cNvPr>
          <p:cNvPicPr>
            <a:picLocks noChangeAspect="1"/>
          </p:cNvPicPr>
          <p:nvPr/>
        </p:nvPicPr>
        <p:blipFill>
          <a:blip r:embed="rId23"/>
          <a:stretch>
            <a:fillRect/>
          </a:stretch>
        </p:blipFill>
        <p:spPr>
          <a:xfrm>
            <a:off x="9738360" y="2148840"/>
            <a:ext cx="347472" cy="347472"/>
          </a:xfrm>
          <a:prstGeom prst="rect">
            <a:avLst/>
          </a:prstGeom>
        </p:spPr>
      </p:pic>
      <p:sp>
        <p:nvSpPr>
          <p:cNvPr id="118" name="Text 93"/>
          <p:cNvSpPr txBox="1"/>
          <p:nvPr/>
        </p:nvSpPr>
        <p:spPr>
          <a:xfrm>
            <a:off x="10168128" y="2130552"/>
            <a:ext cx="1444752" cy="402336"/>
          </a:xfrm>
          <a:prstGeom prst="rect">
            <a:avLst/>
          </a:prstGeom>
          <a:noFill/>
          <a:ln/>
        </p:spPr>
        <p:txBody>
          <a:bodyPr wrap="square" lIns="0" tIns="0" rIns="0" bIns="0" rtlCol="0" anchor="t"/>
          <a:lstStyle/>
          <a:p>
            <a:pPr indent="0" marL="0">
              <a:buNone/>
            </a:pPr>
            <a:r>
              <a:rPr lang="en-US" sz="1150" b="1" spc="100" kern="0" dirty="0">
                <a:solidFill>
                  <a:srgbClr val="FFFFFF"/>
                </a:solidFill>
              </a:rPr>
              <a:t>ROBOTICS &amp;</a:t>
            </a:r>
            <a:endParaRPr lang="en-US" sz="1150" dirty="0"/>
          </a:p>
          <a:p>
            <a:pPr indent="0" marL="0">
              <a:buNone/>
            </a:pPr>
            <a:r>
              <a:rPr lang="en-US" sz="1150" b="1" spc="100" kern="0" dirty="0">
                <a:solidFill>
                  <a:srgbClr val="FFFFFF"/>
                </a:solidFill>
              </a:rPr>
              <a:t>AUTOMATION</a:t>
            </a:r>
            <a:endParaRPr lang="en-US" sz="1150" dirty="0"/>
          </a:p>
        </p:txBody>
      </p:sp>
      <p:sp>
        <p:nvSpPr>
          <p:cNvPr id="119" name="Shape 94"/>
          <p:cNvSpPr/>
          <p:nvPr/>
        </p:nvSpPr>
        <p:spPr>
          <a:xfrm>
            <a:off x="9738360" y="2724912"/>
            <a:ext cx="1810512" cy="457200"/>
          </a:xfrm>
          <a:prstGeom prst="roundRect">
            <a:avLst>
              <a:gd name="adj" fmla="val 12000"/>
            </a:avLst>
          </a:prstGeom>
          <a:solidFill>
            <a:srgbClr val="140F33"/>
          </a:solidFill>
          <a:ln w="9525">
            <a:solidFill>
              <a:srgbClr val="3B2D7A"/>
            </a:solidFill>
            <a:prstDash val="solid"/>
          </a:ln>
        </p:spPr>
      </p:sp>
      <p:pic>
        <p:nvPicPr>
          <p:cNvPr id="120" name="Image 22" descr="Wheelchair Motion icon">    </p:cNvPr>
          <p:cNvPicPr>
            <a:picLocks noChangeAspect="1"/>
          </p:cNvPicPr>
          <p:nvPr/>
        </p:nvPicPr>
        <p:blipFill>
          <a:blip r:embed="rId24"/>
          <a:stretch>
            <a:fillRect/>
          </a:stretch>
        </p:blipFill>
        <p:spPr>
          <a:xfrm>
            <a:off x="9829800" y="2825496"/>
            <a:ext cx="256032" cy="256032"/>
          </a:xfrm>
          <a:prstGeom prst="rect">
            <a:avLst/>
          </a:prstGeom>
        </p:spPr>
      </p:pic>
      <p:sp>
        <p:nvSpPr>
          <p:cNvPr id="121" name="Text 95"/>
          <p:cNvSpPr txBox="1"/>
          <p:nvPr/>
        </p:nvSpPr>
        <p:spPr>
          <a:xfrm>
            <a:off x="10168128" y="2724912"/>
            <a:ext cx="1335024" cy="457200"/>
          </a:xfrm>
          <a:prstGeom prst="rect">
            <a:avLst/>
          </a:prstGeom>
          <a:noFill/>
          <a:ln/>
        </p:spPr>
        <p:txBody>
          <a:bodyPr wrap="square" lIns="0" tIns="0" rIns="0" bIns="0" rtlCol="0" anchor="ctr"/>
          <a:lstStyle/>
          <a:p>
            <a:pPr indent="0" marL="0">
              <a:buNone/>
            </a:pPr>
            <a:r>
              <a:rPr lang="en-US" sz="1050" dirty="0">
                <a:solidFill>
                  <a:srgbClr val="FFFFFF"/>
                </a:solidFill>
              </a:rPr>
              <a:t>Automated Wheelchair</a:t>
            </a:r>
            <a:endParaRPr lang="en-US" sz="1050" dirty="0"/>
          </a:p>
        </p:txBody>
      </p:sp>
      <p:sp>
        <p:nvSpPr>
          <p:cNvPr id="122" name="Shape 96"/>
          <p:cNvSpPr/>
          <p:nvPr/>
        </p:nvSpPr>
        <p:spPr>
          <a:xfrm>
            <a:off x="9738360" y="3273552"/>
            <a:ext cx="1810512" cy="457200"/>
          </a:xfrm>
          <a:prstGeom prst="roundRect">
            <a:avLst>
              <a:gd name="adj" fmla="val 12000"/>
            </a:avLst>
          </a:prstGeom>
          <a:solidFill>
            <a:srgbClr val="140F33"/>
          </a:solidFill>
          <a:ln w="9525">
            <a:solidFill>
              <a:srgbClr val="3B2D7A"/>
            </a:solidFill>
            <a:prstDash val="solid"/>
          </a:ln>
        </p:spPr>
      </p:sp>
      <p:pic>
        <p:nvPicPr>
          <p:cNvPr id="123" name="Image 23" descr="Shield Checkered icon">    </p:cNvPr>
          <p:cNvPicPr>
            <a:picLocks noChangeAspect="1"/>
          </p:cNvPicPr>
          <p:nvPr/>
        </p:nvPicPr>
        <p:blipFill>
          <a:blip r:embed="rId25"/>
          <a:stretch>
            <a:fillRect/>
          </a:stretch>
        </p:blipFill>
        <p:spPr>
          <a:xfrm>
            <a:off x="9829800" y="3374136"/>
            <a:ext cx="256032" cy="256032"/>
          </a:xfrm>
          <a:prstGeom prst="rect">
            <a:avLst/>
          </a:prstGeom>
        </p:spPr>
      </p:pic>
      <p:sp>
        <p:nvSpPr>
          <p:cNvPr id="124" name="Text 97"/>
          <p:cNvSpPr txBox="1"/>
          <p:nvPr/>
        </p:nvSpPr>
        <p:spPr>
          <a:xfrm>
            <a:off x="10168128" y="3273552"/>
            <a:ext cx="1335024" cy="457200"/>
          </a:xfrm>
          <a:prstGeom prst="rect">
            <a:avLst/>
          </a:prstGeom>
          <a:noFill/>
          <a:ln/>
        </p:spPr>
        <p:txBody>
          <a:bodyPr wrap="square" lIns="0" tIns="0" rIns="0" bIns="0" rtlCol="0" anchor="ctr"/>
          <a:lstStyle/>
          <a:p>
            <a:pPr indent="0" marL="0">
              <a:buNone/>
            </a:pPr>
            <a:r>
              <a:rPr lang="en-US" sz="1050" dirty="0">
                <a:solidFill>
                  <a:srgbClr val="FFFFFF"/>
                </a:solidFill>
              </a:rPr>
              <a:t>Patrol Robots</a:t>
            </a:r>
            <a:endParaRPr lang="en-US" sz="1050" dirty="0"/>
          </a:p>
        </p:txBody>
      </p:sp>
      <p:sp>
        <p:nvSpPr>
          <p:cNvPr id="125" name="Shape 98"/>
          <p:cNvSpPr/>
          <p:nvPr/>
        </p:nvSpPr>
        <p:spPr>
          <a:xfrm>
            <a:off x="9601200" y="4023360"/>
            <a:ext cx="2084832" cy="1005840"/>
          </a:xfrm>
          <a:prstGeom prst="roundRect">
            <a:avLst>
              <a:gd name="adj" fmla="val 7273"/>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26" name="Image 24" descr="Wrench icon">    </p:cNvPr>
          <p:cNvPicPr>
            <a:picLocks noChangeAspect="1"/>
          </p:cNvPicPr>
          <p:nvPr/>
        </p:nvPicPr>
        <p:blipFill>
          <a:blip r:embed="rId26"/>
          <a:stretch>
            <a:fillRect/>
          </a:stretch>
        </p:blipFill>
        <p:spPr>
          <a:xfrm>
            <a:off x="9738360" y="4352544"/>
            <a:ext cx="347472" cy="347472"/>
          </a:xfrm>
          <a:prstGeom prst="rect">
            <a:avLst/>
          </a:prstGeom>
        </p:spPr>
      </p:pic>
      <p:sp>
        <p:nvSpPr>
          <p:cNvPr id="127" name="Text 99"/>
          <p:cNvSpPr txBox="1"/>
          <p:nvPr/>
        </p:nvSpPr>
        <p:spPr>
          <a:xfrm>
            <a:off x="10168128" y="4023360"/>
            <a:ext cx="1444752" cy="1005840"/>
          </a:xfrm>
          <a:prstGeom prst="rect">
            <a:avLst/>
          </a:prstGeom>
          <a:noFill/>
          <a:ln/>
        </p:spPr>
        <p:txBody>
          <a:bodyPr wrap="square" lIns="0" tIns="0" rIns="0" bIns="0" rtlCol="0" anchor="ctr"/>
          <a:lstStyle/>
          <a:p>
            <a:pPr indent="0" marL="0">
              <a:buNone/>
            </a:pPr>
            <a:r>
              <a:rPr lang="en-US" sz="1150" b="1" spc="100" kern="0" dirty="0">
                <a:solidFill>
                  <a:srgbClr val="FFFFFF"/>
                </a:solidFill>
              </a:rPr>
              <a:t>PREDICTIVE</a:t>
            </a:r>
            <a:endParaRPr lang="en-US" sz="1150" dirty="0"/>
          </a:p>
          <a:p>
            <a:pPr indent="0" marL="0">
              <a:buNone/>
            </a:pPr>
            <a:r>
              <a:rPr lang="en-US" sz="1150" b="1" spc="100" kern="0" dirty="0">
                <a:solidFill>
                  <a:srgbClr val="FFFFFF"/>
                </a:solidFill>
              </a:rPr>
              <a:t>MAINTENANCE</a:t>
            </a:r>
            <a:endParaRPr lang="en-US" sz="1150" dirty="0"/>
          </a:p>
        </p:txBody>
      </p:sp>
      <p:sp>
        <p:nvSpPr>
          <p:cNvPr id="128" name="Shape 100"/>
          <p:cNvSpPr/>
          <p:nvPr/>
        </p:nvSpPr>
        <p:spPr>
          <a:xfrm>
            <a:off x="9601200" y="5166360"/>
            <a:ext cx="2084832" cy="1005840"/>
          </a:xfrm>
          <a:prstGeom prst="roundRect">
            <a:avLst>
              <a:gd name="adj" fmla="val 7273"/>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29" name="Image 25" descr="Eye icon">    </p:cNvPr>
          <p:cNvPicPr>
            <a:picLocks noChangeAspect="1"/>
          </p:cNvPicPr>
          <p:nvPr/>
        </p:nvPicPr>
        <p:blipFill>
          <a:blip r:embed="rId27"/>
          <a:stretch>
            <a:fillRect/>
          </a:stretch>
        </p:blipFill>
        <p:spPr>
          <a:xfrm>
            <a:off x="9738360" y="5495544"/>
            <a:ext cx="347472" cy="347472"/>
          </a:xfrm>
          <a:prstGeom prst="rect">
            <a:avLst/>
          </a:prstGeom>
        </p:spPr>
      </p:pic>
      <p:sp>
        <p:nvSpPr>
          <p:cNvPr id="130" name="Text 101"/>
          <p:cNvSpPr txBox="1"/>
          <p:nvPr/>
        </p:nvSpPr>
        <p:spPr>
          <a:xfrm>
            <a:off x="10168128" y="5166360"/>
            <a:ext cx="1444752" cy="1005840"/>
          </a:xfrm>
          <a:prstGeom prst="rect">
            <a:avLst/>
          </a:prstGeom>
          <a:noFill/>
          <a:ln/>
        </p:spPr>
        <p:txBody>
          <a:bodyPr wrap="square" lIns="0" tIns="0" rIns="0" bIns="0" rtlCol="0" anchor="ctr"/>
          <a:lstStyle/>
          <a:p>
            <a:pPr indent="0" marL="0">
              <a:buNone/>
            </a:pPr>
            <a:r>
              <a:rPr lang="en-US" sz="1150" b="1" spc="100" kern="0" dirty="0">
                <a:solidFill>
                  <a:srgbClr val="FFFFFF"/>
                </a:solidFill>
              </a:rPr>
              <a:t>VISION WATCH</a:t>
            </a:r>
            <a:endParaRPr lang="en-US" sz="1150" dirty="0"/>
          </a:p>
        </p:txBody>
      </p:sp>
      <p:sp>
        <p:nvSpPr>
          <p:cNvPr id="131" name="Shape 102"/>
          <p:cNvSpPr/>
          <p:nvPr/>
        </p:nvSpPr>
        <p:spPr>
          <a:xfrm>
            <a:off x="9304020" y="3474720"/>
            <a:ext cx="114300" cy="0"/>
          </a:xfrm>
          <a:prstGeom prst="line">
            <a:avLst/>
          </a:prstGeom>
          <a:noFill/>
          <a:ln w="15875">
            <a:solidFill>
              <a:srgbClr val="B9A2FF"/>
            </a:solidFill>
            <a:prstDash val="solid"/>
          </a:ln>
        </p:spPr>
      </p:sp>
      <p:sp>
        <p:nvSpPr>
          <p:cNvPr id="132" name="Shape 103"/>
          <p:cNvSpPr/>
          <p:nvPr/>
        </p:nvSpPr>
        <p:spPr>
          <a:xfrm>
            <a:off x="9418320" y="2948940"/>
            <a:ext cx="0" cy="2720340"/>
          </a:xfrm>
          <a:prstGeom prst="line">
            <a:avLst/>
          </a:prstGeom>
          <a:noFill/>
          <a:ln w="15875">
            <a:solidFill>
              <a:srgbClr val="B9A2FF"/>
            </a:solidFill>
            <a:prstDash val="solid"/>
          </a:ln>
        </p:spPr>
      </p:sp>
      <p:sp>
        <p:nvSpPr>
          <p:cNvPr id="133" name="Shape 104"/>
          <p:cNvSpPr/>
          <p:nvPr/>
        </p:nvSpPr>
        <p:spPr>
          <a:xfrm>
            <a:off x="9418320" y="2948940"/>
            <a:ext cx="182880" cy="0"/>
          </a:xfrm>
          <a:prstGeom prst="line">
            <a:avLst/>
          </a:prstGeom>
          <a:noFill/>
          <a:ln w="15875">
            <a:solidFill>
              <a:srgbClr val="B9A2FF"/>
            </a:solidFill>
            <a:prstDash val="solid"/>
            <a:tailEnd type="triangle"/>
          </a:ln>
        </p:spPr>
      </p:sp>
      <p:sp>
        <p:nvSpPr>
          <p:cNvPr id="134" name="Shape 105"/>
          <p:cNvSpPr/>
          <p:nvPr/>
        </p:nvSpPr>
        <p:spPr>
          <a:xfrm>
            <a:off x="9418320" y="4526280"/>
            <a:ext cx="182880" cy="0"/>
          </a:xfrm>
          <a:prstGeom prst="line">
            <a:avLst/>
          </a:prstGeom>
          <a:noFill/>
          <a:ln w="15875">
            <a:solidFill>
              <a:srgbClr val="B9A2FF"/>
            </a:solidFill>
            <a:prstDash val="solid"/>
            <a:tailEnd type="triangle"/>
          </a:ln>
        </p:spPr>
      </p:sp>
      <p:sp>
        <p:nvSpPr>
          <p:cNvPr id="135" name="Shape 106"/>
          <p:cNvSpPr/>
          <p:nvPr/>
        </p:nvSpPr>
        <p:spPr>
          <a:xfrm>
            <a:off x="9418320" y="5669280"/>
            <a:ext cx="182880" cy="0"/>
          </a:xfrm>
          <a:prstGeom prst="line">
            <a:avLst/>
          </a:prstGeom>
          <a:noFill/>
          <a:ln w="15875">
            <a:solidFill>
              <a:srgbClr val="B9A2FF"/>
            </a:solidFill>
            <a:prstDash val="solid"/>
            <a:tailEnd type="triangle"/>
          </a:ln>
        </p:spPr>
      </p:sp>
      <p:sp>
        <p:nvSpPr>
          <p:cNvPr id="136" name="Text 107"/>
          <p:cNvSpPr txBox="1"/>
          <p:nvPr/>
        </p:nvSpPr>
        <p:spPr>
          <a:xfrm>
            <a:off x="502920" y="6309360"/>
            <a:ext cx="6400800" cy="201168"/>
          </a:xfrm>
          <a:prstGeom prst="rect">
            <a:avLst/>
          </a:prstGeom>
          <a:noFill/>
          <a:ln/>
        </p:spPr>
        <p:txBody>
          <a:bodyPr wrap="square" lIns="0" tIns="0" rIns="0" bIns="0" rtlCol="0" anchor="t"/>
          <a:lstStyle/>
          <a:p>
            <a:pPr indent="0" marL="0">
              <a:buNone/>
            </a:pPr>
            <a:r>
              <a:rPr lang="en-US" sz="1000" spc="200" kern="0" dirty="0">
                <a:solidFill>
                  <a:srgbClr val="5E7896"/>
                </a:solidFill>
              </a:rPr>
              <a:t>OPEN STANDARDS  ·  INTEGRATED  ·  CYBER-SECURE  ·  FUTURE-READY</a:t>
            </a:r>
            <a:endParaRPr lang="en-US" sz="1000" dirty="0"/>
          </a:p>
        </p:txBody>
      </p:sp>
    </p:spTree>
  </p:cSld>
  <p:clrMapOvr>
    <a:masterClrMapping/>
  </p:clrMapOvr>
</p:sld>
</file>

<file path=ppt/theme/theme1.xml><?xml version="1.0" encoding="utf-8"?>
<a:theme xmlns:a="http://schemas.openxmlformats.org/drawingml/2006/main" name="T5 ISMS Command">
  <a:themeElements>
    <a:clrScheme name="T5 ISMS Command">
      <a:dk1>
        <a:srgbClr val="02050C"/>
      </a:dk1>
      <a:lt1>
        <a:srgbClr val="FFFFFF"/>
      </a:lt1>
      <a:dk2>
        <a:srgbClr val="081426"/>
      </a:dk2>
      <a:lt2>
        <a:srgbClr val="8FA3BF"/>
      </a:lt2>
      <a:accent1>
        <a:srgbClr val="00E5FF"/>
      </a:accent1>
      <a:accent2>
        <a:srgbClr val="8B5CF6"/>
      </a:accent2>
      <a:accent3>
        <a:srgbClr val="FF3DCB"/>
      </a:accent3>
      <a:accent4>
        <a:srgbClr val="1D6BFF"/>
      </a:accent4>
      <a:accent5>
        <a:srgbClr val="B9A2FF"/>
      </a:accent5>
      <a:accent6>
        <a:srgbClr val="5E7896"/>
      </a:accent6>
      <a:hlink>
        <a:srgbClr val="00E5FF"/>
      </a:hlink>
      <a:folHlink>
        <a:srgbClr val="8B5CF6"/>
      </a:folHlink>
    </a:clrScheme>
    <a:fontScheme name="T5 ISMS Comma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(V3)</dc:title>
  <dc:subject>T5 ISMS Sitewide product architecture</dc:subject>
  <dc:creator>PptxGenJS</dc:creator>
  <cp:lastModifiedBy>PptxGenJS</cp:lastModifiedBy>
  <cp:revision>1</cp:revision>
  <dcterms:created xsi:type="dcterms:W3CDTF">2026-10-14T06:58:23Z</dcterms:created>
  <dcterms:modified xsi:type="dcterms:W3CDTF">2026-10-14T06:58:23Z</dcterms:modified>
</cp:coreProperties>
</file>