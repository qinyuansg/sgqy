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handoutMasterIdLst>
    <p:handoutMasterId r:id="rId27"/>
  </p:handoutMasterIdLst>
  <p:sldIdLst>
    <p:sldId id="600" r:id="rId35"/>
    <p:sldId id="601" r:id="rId36"/>
    <p:sldId id="602" r:id="rId37"/>
    <p:sldId id="603" r:id="rId38"/>
    <p:sldId id="604" r:id="rId39"/>
    <p:sldId id="605" r:id="rId40"/>
    <p:sldId id="606" r:id="rId41"/>
    <p:sldId id="607" r:id="rId42"/>
    <p:sldId id="608" r:id="rId43"/>
    <p:sldId id="609" r:id="rId44"/>
    <p:sldId id="610" r:id="rId45"/>
    <p:sldId id="611" r:id="rId46"/>
    <p:sldId id="612" r:id="rId47"/>
    <p:sldId id="613" r:id="rId48"/>
    <p:sldId id="614" r:id="rId49"/>
    <p:sldId id="615" r:id="rId50"/>
    <p:sldId id="616" r:id="rId51"/>
    <p:sldId id="617" r:id="rId52"/>
    <p:sldId id="618" r:id="rId53"/>
    <p:sldId id="619" r:id="rId54"/>
    <p:sldId id="620" r:id="rId55"/>
    <p:sldId id="621" r:id="rId56"/>
    <p:sldId id="622" r:id="rId57"/>
    <p:sldId id="623" r:id="rId58"/>
    <p:sldId id="624" r:id="rId59"/>
    <p:sldId id="625" r:id="rId60"/>
    <p:sldId id="626" r:id="rId61"/>
    <p:sldId id="627" r:id="rId62"/>
    <p:sldId id="628" r:id="rId63"/>
    <p:sldId id="629" r:id="rId64"/>
    <p:sldId id="630" r:id="rId65"/>
    <p:sldId id="631" r:id="rId66"/>
    <p:sldId id="632" r:id="rId67"/>
    <p:sldId id="633" r:id="rId68"/>
    <p:sldId id="634" r:id="rId69"/>
    <p:sldId id="635" r:id="rId70"/>
    <p:sldId id="636" r:id="rId71"/>
    <p:sldId id="637" r:id="rId72"/>
    <p:sldId id="638" r:id="rId73"/>
    <p:sldId id="639"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4D0"/>
    <a:srgbClr val="0000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59EDD3-291C-45FC-C893-EF7FCF019A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F6EA241D-EAE3-60C0-E6C5-42EB154A94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13935D-AD2E-4E45-9F10-EE2611B3B8D1}" type="datetimeFigureOut">
              <a:rPr lang="en-SG" smtClean="0"/>
              <a:t>27/10/2026</a:t>
            </a:fld>
            <a:endParaRPr lang="en-SG"/>
          </a:p>
        </p:txBody>
      </p:sp>
      <p:sp>
        <p:nvSpPr>
          <p:cNvPr id="4" name="Footer Placeholder 3">
            <a:extLst>
              <a:ext uri="{FF2B5EF4-FFF2-40B4-BE49-F238E27FC236}">
                <a16:creationId xmlns:a16="http://schemas.microsoft.com/office/drawing/2014/main" id="{41C560BA-040E-B009-AF38-ED3324EDB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267B00-12F8-8763-FB64-518FB91AE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FBD81B-A0DF-40C2-A45D-AEB8D2153280}" type="slidenum">
              <a:rPr lang="en-SG" smtClean="0"/>
              <a:t>‹#›</a:t>
            </a:fld>
            <a:endParaRPr lang="en-SG"/>
          </a:p>
        </p:txBody>
      </p:sp>
    </p:spTree>
    <p:extLst>
      <p:ext uri="{BB962C8B-B14F-4D97-AF65-F5344CB8AC3E}">
        <p14:creationId xmlns:p14="http://schemas.microsoft.com/office/powerpoint/2010/main" val="3631801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7C30B-32FA-4F85-87F2-0EDBBAA5BFD5}" type="datetimeFigureOut">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D9013-D3CF-4749-A6CE-301E3BD661CF}" type="slidenum">
              <a:t>‹#›</a:t>
            </a:fld>
            <a:endParaRPr lang="en-US"/>
          </a:p>
        </p:txBody>
      </p:sp>
    </p:spTree>
    <p:extLst>
      <p:ext uri="{BB962C8B-B14F-4D97-AF65-F5344CB8AC3E}">
        <p14:creationId xmlns:p14="http://schemas.microsoft.com/office/powerpoint/2010/main" val="303504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0:00 · 25 s} Good [morning]. I'm [Name], Chief Product Officer, with [Name], our CMO. FastPass is a walk-through lane: phone in your pocket, face matched in stride. It gives airports departure capacity without building a terminal. We're asking for [US$X M] in four tranches, from one live lane to a first paid order by 2028.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0:25 · 45 s} Here's a departure today. Follow the amber line. Check-in looks at your passport. Immigration looks again. Security, often a third time. The gate, a fourth. Up to four checks of one identity, most of them staffed. {pause} Airports are out of space: Manila moved 52 million passengers last year through terminals built for about 35 million. New terminals take eight to ten years. And border agencies are out of people: Singapore's Home Affairs Minister says manpower can't keep growing. The lever left is more travellers per lane and per officer. {Not spoken: public speech; no ICA involvement or endorsement is implied. Group corporate communications to clear the quote before external use.}</a:t>
            </a:r>
          </a:p>
          <a:p/>
          <a:p>
            <a:r>
              <a:t>—— SOURCES (not spoken) ——</a:t>
            </a:r>
          </a:p>
          <a:p>
            <a:r>
              <a:t>DEM11 · GMA News, 'NAIA hits record-high 52M passenger volume in 2025' (Jan 2026) · https://www.gmanetwork.com/news/topstories/nation/971370/naia-hits-record-high-52m-passenger-volume-in-2025/story/</a:t>
            </a:r>
          </a:p>
          <a:p>
            <a:r>
              <a:t>DEM10 · Singapore Ministry of Transport, 'Update on Development Plans for Changi Airport Terminal 5' (8 Jan 2025) · https://www.mot.gov.sg/news-resources/newsroom/update-on-development-plans-for-changi-airport-terminal-5/</a:t>
            </a:r>
          </a:p>
          <a:p>
            <a:r>
              <a:t>FAC14 · Prime Minister's Office Singapore, 'PM Lawrence Wong at the Changi Airport Terminal 5 Groundbreaking Ceremony' (14 May 2025) · https://www.pmo.gov.sg/Newsroom/PM-Lawrence-Wong-at-the-Changi-Airport-Terminal-5-Groundbreaking-Ceremony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DEM13 · Singapore Ministry of Home Affairs, 'ICA Workplan Seminar 2025' (speech by Minister K Shanmugam) · https://www.mha.gov.sg/media-room/newsroom/ica-workplan-seminar-2025/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1:10 · 35 s} Why now? SITA's survey puts biometric border control at 54 percent of surveyed airports, heading for 83 percent by 2028. {Keep the next sentence only if the CTO confirms retrofit:} FastPass runs on gates airports already own, so that's an installed base to upgrade. 79 percent of surveyed passengers would keep their passport on their phone. Singapore logged about 127 million passport-less clearances last year, and Indonesia now runs walk-through corridors. ICAO has proposed standards for a phone-held travel credential. Our pilot targets 2027, inside that window.</a:t>
            </a:r>
          </a:p>
          <a:p/>
          <a:p>
            <a:r>
              <a:t>—— SOURCES (not spoken) ——</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WHY10 · SITA Passenger IT Insights 2025, 'Passengers Are Already Digital. This Is a Big Opportunity for Aviation' (GlobeNewswire, 7 Oct 2025) · https://www.globenewswire.com/news-release/2025/10/07/3162210/0/en/Passengers-Are-Already-Digital-This-Is-a-Big-Opportunity-for-Aviation.html</a:t>
            </a:r>
          </a:p>
          <a:p>
            <a:r>
              <a:t>WHY12 · ICA Annual Statistics Report 2025 · https://www.ica.gov.sg/docs/default-source/ica/stats/annual-stats-report/ica-annual-statistics-report-2025.pdf</a:t>
            </a:r>
          </a:p>
          <a:p>
            <a:r>
              <a:t>WHY11 · ICA media release, 'Passport-less clearance fully rolled out at Changi Airport' (24 Oct 2024) · https://www.ica.gov.sg/news-and-publications/newsroom/media-release/passport-less-clearance-fully-rolled-out-at-changi-airport</a:t>
            </a:r>
          </a:p>
          <a:p>
            <a:r>
              <a:t>COM2 · Amadeus press release, 'Indonesia replaces immigration barriers with Amadeus Seamless Corridors' (Nov 2025) · https://amadeus.com/en/newsroom/press-releases/indonesia-replaces-immigration-barriers-with-amadeus-seamless-corridors</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1:45 · 40 s} Walking through without stopping is proven: Dubai's corridor matches your face to a record you registered earlier. FastPass adds a second factor you never take out: your phone, paired with the lane over Bluetooth as you walk up. At full rollout, four document stops become zero; in the pilot lane, one becomes zero. Our bet: two factors let an agency open walk-through to more travellers, where today eligibility is limited. Milestone one tests that. If agencies don't value it, we stop or redesign.</a:t>
            </a:r>
          </a:p>
          <a:p/>
          <a:p>
            <a:r>
              <a:t>—— SOURCES (not spoken) ——</a:t>
            </a:r>
          </a:p>
          <a:p>
            <a:r>
              <a:t>WHY13 · International Airport Review, 'Dubai's biometric Red Carpet processes more than 439,000 travellers in six months' (2026) · https://www.internationalairportreview.com/dubais-biometric-red-carpet-processes-more-than-439000-travellers-in-six-months/2136321.article</a:t>
            </a:r>
          </a:p>
          <a:p>
            <a:r>
              <a:t>WHY11 · ICA media release, 'Passport-less clearance fully rolled out at Changi Airport' (24 Oct 2024) · https://www.ica.gov.sg/news-and-publications/newsroom/media-release/passport-less-clearance-fully-rolled-out-at-changi-airport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2:25 · 80 s · frame 5a} This is an illustrated walkthrough of the prototype we demonstrated end to end at Singapore Airshow in February. Each of today's four checks has a FastPass step.  {click}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2:40 · frame 5b} One: at home, she enrols once with a passport scan and a selfie. The credential stays encrypted on her phone, in our app or an airline's app.  {click}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2:55 · frame 5c} Two: the lane. As she walks up, her phone pairs over Bluetooth, still in her pocket, and the camera matches her face as she walks. {pause 3 s} Cleared. Two factors, and nobody stopped.  {click}</a:t>
            </a:r>
          </a:p>
          <a:p/>
          <a:p>
            <a:r>
              <a:t>{Real-footage rule: if real Airshow footage exists, a 20–25 s muted clip replaces the photo and this script is cut to fit; otherwise use at least one real photo of a person at the live gate, captioned with date and place.}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3:15 · frame 5d} Three: a reader re-confirms her before X-ray, and at the gate, face and phone board the flight once the airline's systems are connected.  {click}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3:30 · frame 5e} Four: the control room, the software the airport licenses every year. It sees every clearance beside CCTV and incidents, and officers act only on exceptions, like this phone that never paired.  {click}</a:t>
            </a:r>
          </a:p>
          <a:p/>
          <a:p>
            <a:r>
              <a:t>{Confirm before use: each of the five modules, the BLE pairing and the boarding step ran live at the Airshow, not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3:45 · 50 s} What's true today: all five modules are built, integrated and were run end to end at the Airshow. Since then we've held [N] expert conversations, and [N] airports and agencies are discussing a pilot. Two things came up every time: [learning one] and [learning two]. Now the honest part. We're pre-revenue, with no signed pilot or letter of intent. So the pilot scorecard is written down with the airport and agency before go-live, and a staffed lane stays open beside it. Hit the numbers, and the airport decides on more lanes. Miss, and we stop or redesign. {Handoff to CMO.}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4:35 · 50 s, after a 3 s handoff} Thanks, [Name]. Competition, straight. Matching faces in stride is proven: IDEMIA and NEC sell walk-through gates, and Amadeus runs corridors in Indonesia. E-gates and SITA's Aruba credential check two factors, but you stop to present them. The EU's Smart-Trust pilot, run with Vision-Box, tested phone plus face in stride years ago, so we don't claim to be first. Our wedge is two factors with nothing taken out, plus the control room. One flag: in July, Hamad and SITA launched a journey called 'Fast Pass'; our trademark check is [under way]. And strategics are buying this layer: Amadeus bought Vision-Box for about 320 million euros. {Moat to build, for Q&amp;A: accreditation earned in the pilot, control-room integration, [IP status].}</a:t>
            </a:r>
          </a:p>
          <a:p/>
          <a:p>
            <a:r>
              <a:t>—— SOURCES (not spoken) ——</a:t>
            </a:r>
          </a:p>
          <a:p>
            <a:r>
              <a:t>COM5 · IDEMIA MFace brochure (Oct 2025) · https://www.idemia.com/wp-content/uploads/2025/10/mface-brochure-idemia-22102025.pdf</a:t>
            </a:r>
          </a:p>
          <a:p>
            <a:r>
              <a:t>COM2 · Amadeus press release, 'Indonesia replaces immigration barriers with Amadeus Seamless Corridors' (Nov 2025) · https://amadeus.com/en/newsroom/press-releases/indonesia-replaces-immigration-barriers-with-amadeus-seamless-corridors</a:t>
            </a:r>
          </a:p>
          <a:p>
            <a:r>
              <a:t>COM9 · NEC press release, walkthrough gates ordered by Japan's Immigration Services Agency (25 Mar 2025) · https://www.nec.com/en/press/202503/global_20250325_02.html</a:t>
            </a:r>
          </a:p>
          <a:p>
            <a:r>
              <a:t>COM8 · PhocusWire, 'Aruba preps full launch of passport-free arrivals process' · https://www.phocuswire.com/aruba-preps-full-launch-passport-free-arrivals-process</a:t>
            </a:r>
          </a:p>
          <a:p>
            <a:r>
              <a:t>COM7 · SITA Smart Path product page · https://www.sita.aero/smartpath</a:t>
            </a:r>
          </a:p>
          <a:p>
            <a:r>
              <a:t>COM10 · Singapore EDB, 'Thales redefines the airport journey with AI-powered biometrics' · https://www.edb.gov.sg/en/business-insights/insights/thales-redefines-the-airport-journey-with-ai-powered-biometrics.html</a:t>
            </a:r>
          </a:p>
          <a:p>
            <a:r>
              <a:t>COM3 · CORDIS, project 778571 Smart-Trust (2018–2020) · https://cordis.europa.eu/project/id/778571</a:t>
            </a:r>
          </a:p>
          <a:p>
            <a:r>
              <a:t>COM1 · Amadeus press release, 'Vision-Box biometrics acquisition complete' (Apr 2024) · https://amadeus.com/en/newsroom/press-releases/vision-box-biometrics-acquisition-complete</a:t>
            </a:r>
          </a:p>
          <a:p>
            <a:r>
              <a:t>COM14 · SITA press release, 'SITA becomes leader in airport solutions following Materna IPS acquisition' (Jul 2024) · https://www.sita.aero/pressroom/news-releases/sita-becomes-leader-in-airport-solutions-following-materna-ips-acquisition/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5:25 · 50 s} Automated border control reaches about five billion dollars by 2030, and about 83 percent of it is at airports today. We estimate our two regions at 10 to 15 percent of that, and the part FastPass can serve at 10 to 15 percent again: 42 to 94 million dollars a year, about 65 at the midpoint. It's deliberately narrow: it counts e-gates and kiosks only, and our software and other touchpoints sit outside it. Immigration is the wedge; the rest of the journey is the expansion we must prove. Our 10-to-15-million target, still to confirm, is about a fifth of it.</a:t>
            </a:r>
          </a:p>
          <a:p/>
          <a:p>
            <a:r>
              <a:t>—— SOURCES (not spoken) ——</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DEM2 · ACI World, 'Global airport passenger traffic reaches record 9.8 billion in 2025' (23 Sep 2026) · https://aci.aero/2026/09/23/global-airport-passenger-traffic-reaches-record-9-8-billion-in-2025-airports-council-international-world-reports/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6:15 · 45 s} How we make money. We land with one lane for one traveller group. The airport pays once for lane hardware and installation, then every year for the software licence and support. When the pilot hits its numbers, we add lanes, connect every touchpoint on the same platform, and repeat across terminals and airports. Margins grow because each airport reuses one product core instead of custom engineering. For scale, 2017 and 2018 public tenders imply roughly 140 to 235 thousand euros per unit; the low end is a framework ceiling that includes kiosks; our own prices stay open until the pilot sets them.</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7:00 · 50 s} The airport operator buys capacity: more departures per lane. The border agency approves and gains officer time: officers supervise exceptions instead of checking everyone. In some countries an agency or ministry funds the lane, so we structure the pilot with whoever pays. Airlines bring travellers through enrolment in their apps; about three in four travellers say they'd share biometrics to skip document checks. Today's e-gate is the benchmark: up to 180 travellers an hour, one officer watching four to ten gates. Our lane has to beat that, and the pilot measures it. We start at congested brownfield gateways where the Group already works.</a:t>
            </a:r>
          </a:p>
          <a:p/>
          <a:p>
            <a:r>
              <a:t>—— SOURCES (not spoken) ——</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a:p>
            <a:r>
              <a:t>ROI6 · UK Home Office, Border Force Aviation Forum minutes (Feb 2018) · https://assets.publishing.service.gov.uk/government/uploads/system/uploads/attachment_data/file/707604/Aviation-Forum-minutes-Feb-2018.pdf</a:t>
            </a:r>
          </a:p>
          <a:p>
            <a:r>
              <a:t>FAC13 · IATA press release, '2025 Global Passenger Survey: mobile and digital ID are the future of travel' (5 Nov 2025)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7:50 · 30 s} [Name] leads the venture [full-time], with [Name] on product, me on marketing and [Name] on technology, drawn from three ST Engineering business areas. We went from concept to the Airshow prototype in [N] months. The programme funds two hires: a commercial lead with airport and border-agency sales, and a certification and privacy lead.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8:20 · 65 s} Here's the ask: [US$X M] over [N] months, for pilot deployment, certification and testing, product hardening and go-to-market hires. T1 and T2 put the lane live; T3 and T4 take it to a paid order. Four milestones: One: a pilot signed with an airport and its border agency, which tests whether the agency accepts the phone credential. Two: a live lane, after independent accuracy and spoofing tests. Three: a readout on throughput, officer time, false accepts and rejects, and enrolment; if we miss, we stop or redesign. Four: the first paid multi-lane order. Today we ask for [approval of the programme and Tranche 1], [one introduction to a pilot airport and its border agency] and [an executive sponsor]. Airports first, then seaports and land borders: one trusted identity for every checkpoint, without showing a document. Thank you. {Leave on screen for Q&amp;A.}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index · not presented. Click any row to jump; "Back to the ask" returns to the ask (beat 12, physical slide 16) for Q&amp;A. In slideshow you can also type 16 + Enter.}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 backup for Q&amp;A, not presented}</a:t>
            </a:r>
          </a:p>
          <a:p>
            <a:r>
              <a:t>Every external number maps to one source. Short tags on slides; this slide's notes list all 78 sources (id · title · URL).</a:t>
            </a:r>
          </a:p>
          <a:p/>
          <a:p>
            <a:r>
              <a:t>Priority click-checks (on-slide figures): SITA 54% → 83% (Apr 2026) · SITA 79% (Oct 2025) · ICA ~127M (2025) · Manila 52M vs ~35M · Dubai DWC 2032 and Changi T5 mid-2030s · MarketsandMarkets US$2.56B / US$5.03B / 83.1% · Amadeus Indonesia corridors (Nov 2025) · ICAO FALP/14-WP/21 (proposed) · Riga 180 vs 60–70/hr and 1:4 · Gatwick 1:10 · Riga EUR 1.87M / 8 gates · Aena EUR 90M / 652 units · IATA 74% · Hamad 'Fast Pass' (Jul 2026) · INTERNAL only: Amadeus–Vision-Box €320M. Change log only (superseded): FAC1, FAC3.</a:t>
            </a:r>
          </a:p>
          <a:p/>
          <a:p>
            <a:r>
              <a:t>TEAM WORKING NOTES (INTERNAL, from the build spec)</a:t>
            </a:r>
          </a:p>
          <a:p>
            <a:r>
              <a:t>Purpose: One place to check every external number used anywhere: main slides, notes, appendix and Q&amp;A. Each data_id has exactly one entry in the source list delivered with this spec (id · title · URL · what it supports), so A1 is the map and the source list is the single copy of the titles and URLs.</a:t>
            </a:r>
          </a:p>
          <a:p>
            <a:r>
              <a:t>• Builder rule: on-slide footers carry short tags (publisher, title, month and year). Paste each slide's source-list entries into its notes pane below '—— SOURCES (not spoken) ——'.</a:t>
            </a:r>
          </a:p>
          <a:p>
            <a:r>
              <a:t>• Main-deck map:</a:t>
            </a:r>
          </a:p>
          <a:p>
            <a:r>
              <a:t>   - S2: DEM11, DEM10, FAC14, DEM9, DEM9B, DEM13</a:t>
            </a:r>
          </a:p>
          <a:p>
            <a:r>
              <a:t>   - S3: FAC4, WHY10, WHY12, WHY11, COM2, WHY6</a:t>
            </a:r>
          </a:p>
          <a:p>
            <a:r>
              <a:t>   - S4: WHY13, WHY11</a:t>
            </a:r>
          </a:p>
          <a:p>
            <a:r>
              <a:t>   - S7: COM5, COM2, COM9, COM8, COM7, COM10, COM3, COM1, COM14, WHY14</a:t>
            </a:r>
          </a:p>
          <a:p>
            <a:r>
              <a:t>   - S8: FAC6, FAC7, FAC8, DEM2</a:t>
            </a:r>
          </a:p>
          <a:p>
            <a:r>
              <a:t>   - S9: ROI8, ROI9</a:t>
            </a:r>
          </a:p>
          <a:p>
            <a:r>
              <a:t>   - S10: ROI5, ROI6, FAC13</a:t>
            </a:r>
          </a:p>
          <a:p>
            <a:r>
              <a:t>• Appendix and Q&amp;A map:</a:t>
            </a:r>
          </a:p>
          <a:p>
            <a:r>
              <a:t>   - A3: FAC5, FAC6–FAC9, FAC10/DEM6, DEM2–DEM5, DEM8, DEM9, DEM9B, DEM12, DEM12B</a:t>
            </a:r>
          </a:p>
          <a:p>
            <a:r>
              <a:t>   - A4: COM1–COM12, COM5B, COM14, FAC12, FAC15, WHY11, WHY13, WHY13B, WHY14</a:t>
            </a:r>
          </a:p>
          <a:p>
            <a:r>
              <a:t>   - A5: COM1, COM13, COM14, COM14B, COM14C, COM15, COM15B</a:t>
            </a:r>
          </a:p>
          <a:p>
            <a:r>
              <a:t>   - A7: ROI2, ROI4, ROI5</a:t>
            </a:r>
          </a:p>
          <a:p>
            <a:r>
              <a:t>   - A8: WHY9</a:t>
            </a:r>
          </a:p>
          <a:p>
            <a:r>
              <a:t>   - A9: WHY1, WHY1B, WHY2–WHY8, WHY15, WHY16</a:t>
            </a:r>
          </a:p>
          <a:p>
            <a:r>
              <a:t>   - A10: DEM2–DEM4, DEM9, WHY2, WHY7, WHY14, FAC13</a:t>
            </a:r>
          </a:p>
          <a:p>
            <a:r>
              <a:t>   - A11: FAC1, FAC2, ROI1, ROI2, ROI4, ROI5, ROI8, ROI9, ROI11–ROI16, ROI14B</a:t>
            </a:r>
          </a:p>
          <a:p>
            <a:r>
              <a:t>   - Change log only (superseded): FAC1, FAC3</a:t>
            </a:r>
          </a:p>
          <a:p>
            <a:r>
              <a:t>• Verification status: research could not open any primary page, and this revision's re-check was also blocked because the shared search budget was used up. Every figure therefore rests on search excerpts, at medium confidence at best.</a:t>
            </a:r>
          </a:p>
          <a:p>
            <a:r>
              <a:t>• SHIP GATE G-SRC (owner [CMO], due [date], before either file leaves the team): click-check every URL and its exact wording.</a:t>
            </a:r>
          </a:p>
          <a:p>
            <a:r>
              <a:t>   - A figure that cannot be confirmed on its primary page is deleted from the slide, or marked '(reported by [outlet])'.</a:t>
            </a:r>
          </a:p>
          <a:p>
            <a:r>
              <a:t>   - Where sources conflict, use the conservative value: NAIA design capacity 35M; IATA 72–74% ('about three in four'); Dubai corridor 3.4 s attributed to GDRFA (Paravision reported about 14 s).</a:t>
            </a:r>
          </a:p>
          <a:p>
            <a:r>
              <a:t>• Two URLs were added from memory, not from the research, and need the same check: WHY1B (European Commission EES policy page, for 'fully operational 10 Apr 2026') and ROI14B (Axon investor-relations site; locate the 4 Nov 2025 Q3 release).</a:t>
            </a:r>
          </a:p>
          <a:p>
            <a:r>
              <a:t>• Priority click-checks (on-slide figures):</a:t>
            </a:r>
          </a:p>
          <a:p>
            <a:r>
              <a:t>   - SITA 54% → 83% (Apr 2026)</a:t>
            </a:r>
          </a:p>
          <a:p>
            <a:r>
              <a:t>   - SITA 79% (Oct 2025)</a:t>
            </a:r>
          </a:p>
          <a:p>
            <a:r>
              <a:t>   - ICA ~127M (2025)</a:t>
            </a:r>
          </a:p>
          <a:p>
            <a:r>
              <a:t>   - Manila 52M vs ~35M</a:t>
            </a:r>
          </a:p>
          <a:p>
            <a:r>
              <a:t>   - Dubai DWC 2032 and Changi T5 mid-2030s</a:t>
            </a:r>
          </a:p>
          <a:p>
            <a:r>
              <a:t>   - MarketsandMarkets US$2.56B / US$5.03B / 83.1%</a:t>
            </a:r>
          </a:p>
          <a:p>
            <a:r>
              <a:t>   - Amadeus Indonesia corridors (Nov 2025)</a:t>
            </a:r>
          </a:p>
          <a:p>
            <a:r>
              <a:t>   - ICAO FALP/14-WP/21 (proposed)</a:t>
            </a:r>
          </a:p>
          <a:p>
            <a:r>
              <a:t>   - Riga 180 vs 60–70/hr and 1:4</a:t>
            </a:r>
          </a:p>
          <a:p>
            <a:r>
              <a:t>   - Gatwick 1:10</a:t>
            </a:r>
          </a:p>
          <a:p>
            <a:r>
              <a:t>   - Riga EUR 1.87M / 8 gates</a:t>
            </a:r>
          </a:p>
          <a:p>
            <a:r>
              <a:t>   - Aena EUR 90M / 652 units</a:t>
            </a:r>
          </a:p>
          <a:p>
            <a:r>
              <a:t>   - IATA 74%</a:t>
            </a:r>
          </a:p>
          <a:p>
            <a:r>
              <a:t>   - Hamad 'Fast Pass' (Jul 2026)</a:t>
            </a:r>
          </a:p>
          <a:p>
            <a:r>
              <a:t>   - INTERNAL only: Amadeus–Vision-Box €320M</a:t>
            </a:r>
          </a:p>
          <a:p/>
          <a:p>
            <a:r>
              <a:t>—— SOURCES (not spoken) ——</a:t>
            </a:r>
          </a:p>
          <a:p>
            <a:r>
              <a:t>DEM11 · GMA News, 'NAIA hits record-high 52M passenger volume in 2025' (Jan 2026) · https://www.gmanetwork.com/news/topstories/nation/971370/naia-hits-record-high-52m-passenger-volume-in-2025/story/</a:t>
            </a:r>
          </a:p>
          <a:p>
            <a:r>
              <a:t>DEM10 · Singapore Ministry of Transport, 'Update on Development Plans for Changi Airport Terminal 5' (8 Jan 2025) · https://www.mot.gov.sg/news-resources/newsroom/update-on-development-plans-for-changi-airport-terminal-5/</a:t>
            </a:r>
          </a:p>
          <a:p>
            <a:r>
              <a:t>FAC14 · Prime Minister's Office Singapore, 'PM Lawrence Wong at the Changi Airport Terminal 5 Groundbreaking Ceremony' (14 May 2025) · https://www.pmo.gov.sg/Newsroom/PM-Lawrence-Wong-at-the-Changi-Airport-Terminal-5-Groundbreaking-Ceremony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DEM13 · Singapore Ministry of Home Affairs, 'ICA Workplan Seminar 2025' (speech by Minister K Shanmugam) · https://www.mha.gov.sg/media-room/newsroom/ica-workplan-seminar-2025/</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WHY10 · SITA Passenger IT Insights 2025, 'Passengers Are Already Digital. This Is a Big Opportunity for Aviation' (GlobeNewswire, 7 Oct 2025) · https://www.globenewswire.com/news-release/2025/10/07/3162210/0/en/Passengers-Are-Already-Digital-This-Is-a-Big-Opportunity-for-Aviation.html</a:t>
            </a:r>
          </a:p>
          <a:p>
            <a:r>
              <a:t>WHY12 · ICA Annual Statistics Report 2025 · https://www.ica.gov.sg/docs/default-source/ica/stats/annual-stats-report/ica-annual-statistics-report-2025.pdf</a:t>
            </a:r>
          </a:p>
          <a:p>
            <a:r>
              <a:t>WHY11 · ICA media release, 'Passport-less clearance fully rolled out at Changi Airport' (24 Oct 2024) · https://www.ica.gov.sg/news-and-publications/newsroom/media-release/passport-less-clearance-fully-rolled-out-at-changi-airport</a:t>
            </a:r>
          </a:p>
          <a:p>
            <a:r>
              <a:t>COM2 · Amadeus press release, 'Indonesia replaces immigration barriers with Amadeus Seamless Corridors' (Nov 2025) · https://amadeus.com/en/newsroom/press-releases/indonesia-replaces-immigration-barriers-with-amadeus-seamless-corridors</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a:p>
            <a:r>
              <a:t>WHY13 · International Airport Review, 'Dubai's biometric Red Carpet processes more than 439,000 travellers in six months' (2026) · https://www.internationalairportreview.com/dubais-biometric-red-carpet-processes-more-than-439000-travellers-in-six-months/2136321.article</a:t>
            </a:r>
          </a:p>
          <a:p>
            <a:r>
              <a:t>WHY13B · Gulf News, 'Dubai's biometric Red-Carpet processes 745,188 travellers in eight months of 2026' · https://gulfnews.com/uae/dubais-biometric-red-carpet-processes-745188-travellers-in-eight-months-of-2026-1.500666738</a:t>
            </a:r>
          </a:p>
          <a:p>
            <a:r>
              <a:t>FAC12 · Paravision, 'Paravision collaborates with Emaratech to power Red Carpet Smart Corridor at Dubai International Airport' (Sep 2025) · https://www.paravision.ai/news/paravision-collaborates-with-emaratech-to-power-red-carpet-smart-corridor-at-dubai-international-airport/</a:t>
            </a:r>
          </a:p>
          <a:p>
            <a:r>
              <a:t>COM5 · IDEMIA MFace brochure (Oct 2025) · https://www.idemia.com/wp-content/uploads/2025/10/mface-brochure-idemia-22102025.pdf</a:t>
            </a:r>
          </a:p>
          <a:p>
            <a:r>
              <a:t>COM5B · IDEMIA press release, 'Zayed International Airport revolutionizes passenger experience: IDEMIA's biometric solutions, over 1 million passengers processed' (6 Mar 2024) · https://www.idemia.com/press-release/zayed-international-airport-revolutionizes-passenger-experience-idemias-biometric-solutions-over-1-million-passengers-processed-2024-03-06</a:t>
            </a:r>
          </a:p>
          <a:p>
            <a:r>
              <a:t>COM4 · IDEMIA press release, 'IDEMIA selected to supply Automated Border Control System' (9 May 2023) · https://idemia.com/press-release/idemia-selected-supply-automated-border-control-system-2023-05-09</a:t>
            </a:r>
          </a:p>
          <a:p>
            <a:r>
              <a:t>COM6 · IDEMIA, ID2Travel / Digital Travel Credential page · https://idemia.com/id2travel</a:t>
            </a:r>
          </a:p>
          <a:p>
            <a:r>
              <a:t>COM9 · NEC press release, walkthrough gates ordered by Japan's Immigration Services Agency (25 Mar 2025) · https://www.nec.com/en/press/202503/global_20250325_02.html</a:t>
            </a:r>
          </a:p>
          <a:p>
            <a:r>
              <a:t>COM8 · PhocusWire, 'Aruba preps full launch of passport-free arrivals process' · https://www.phocuswire.com/aruba-preps-full-launch-passport-free-arrivals-process</a:t>
            </a:r>
          </a:p>
          <a:p>
            <a:r>
              <a:t>COM7 · SITA Smart Path product page · https://www.sita.aero/smartpath</a:t>
            </a:r>
          </a:p>
          <a:p>
            <a:r>
              <a:t>COM10 · Singapore EDB, 'Thales redefines the airport journey with AI-powered biometrics' · https://www.edb.gov.sg/en/business-insights/insights/thales-redefines-the-airport-journey-with-ai-powered-biometrics.html</a:t>
            </a:r>
          </a:p>
          <a:p>
            <a:r>
              <a:t>COM3 · CORDIS, project 778571 Smart-Trust (2018–2020) · https://cordis.europa.eu/project/id/778571</a:t>
            </a:r>
          </a:p>
          <a:p>
            <a:r>
              <a:t>COM1 · Amadeus press release, 'Vision-Box biometrics acquisition complete' (Apr 2024) · https://amadeus.com/en/newsroom/press-releases/vision-box-biometrics-acquisition-complete</a:t>
            </a:r>
          </a:p>
          <a:p>
            <a:r>
              <a:t>COM14 · SITA press release, 'SITA becomes leader in airport solutions following Materna IPS acquisition' (Jul 2024) · https://www.sita.aero/pressroom/news-releases/sita-becomes-leader-in-airport-solutions-following-materna-ips-acquisition/</a:t>
            </a:r>
          </a:p>
          <a:p>
            <a:r>
              <a:t>COM14B · IN Groupe, 'IN Groupe successfully completes the acquisition of IDEMIA Smart Identity' (1 Jul 2025) · https://ingroupe.com/news/in-groupe-successfully-completes-the-acquisition-of-idemia-smart-identity-to-become-the-global-leader-in-secure-identity-solutions/</a:t>
            </a:r>
          </a:p>
          <a:p>
            <a:r>
              <a:t>COM14C · Thales press release, 'Thales completes acquisition of Gemalto' (Apr 2019) · https://www.thalesgroup.com/en/news-centre/press-releases/thales-completes-acquisition-gemalto-become-global-leader-digital</a:t>
            </a:r>
          </a:p>
          <a:p>
            <a:r>
              <a:t>WHY14 · Hamad International Airport, 'Hamad International Airport rolls out biometric travel across more than 700 touchpoints' (Jul 2026) · https://dohahamadairport.com/press-releases/news/hamad-international-airport-rolls-out-biometric-travel-across-more-700</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FAC9 · Research and Markets (Mordor Intelligence), 'Automated Border Control Market Share Analysis'; Lucintel ABC market · https://www.researchandmarkets.com/reports/5026050/automated-border-control-market-share</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DEM5 · ACI Asia-Pacific &amp; Middle East, 'Asia-Pacific and Middle East airports set for strong growth in passenger traffic' (Short-Term Forecast 2025–2028, c. Dec 2025) · https://www.aci-asiapac.aero/media-centre/news/asia-pacific-and-middle-east-airports-set-for-strong-growth-in-passenger-traffic</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a:p>
            <a:r>
              <a:t>FAC10 · International Airport Review, 'Airports in Asia-Pacific and Middle East to invest $240 billion in expansion by 2035' · https://www.internationalairportreview.com/news/259618/airports-in-asia-pacific-and-middle-east-to-invest-240-billion-in-expansion-by-2035/</a:t>
            </a:r>
          </a:p>
          <a:p>
            <a:r>
              <a:t>FAC5 · Airport World, 'Data co-ordination key to success of IT investment in aviation' (SITA Air Transport IT Insights 2025, Apr 2026) · https://airport-world.com/data-co-ordination-key-to-success-of-it-investment-in-aviation/</a:t>
            </a:r>
          </a:p>
          <a:p>
            <a:r>
              <a:t>DEM8 · Argaam, 'Saudi airport traffic rises to 140.9M passengers in 2025: GACA' · https://www.argaam.com/en/article/articledetail/id/1876411</a:t>
            </a:r>
          </a:p>
          <a:p>
            <a:r>
              <a:t>DEM12 · Khaosod English, 'Suvarnabhumi to open Auto Gates to 31 more nationalities' (17 Aug 2026) · https://www.khaosodenglish.com/featured/2026/08/17/suvarnabhumi-to-open-auto-gates-to-31-more-nationalities/</a:t>
            </a:r>
          </a:p>
          <a:p>
            <a:r>
              <a:t>DEM12B · Nation Thailand, Suvarnabhumi East Expansion targeted for 2030 (Sep 2025) · https://www.nationthailand.com/business/corporate/40055094</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a:p>
            <a:r>
              <a:t>ROI6 · UK Home Office, Border Force Aviation Forum minutes (Feb 2018) · https://assets.publishing.service.gov.uk/government/uploads/system/uploads/attachment_data/file/707604/Aviation-Forum-minutes-Feb-2018.pdf</a:t>
            </a:r>
          </a:p>
          <a:p>
            <a:r>
              <a:t>FAC13 · IATA press release, '2025 Global Passenger Survey: mobile and digital ID are the future of travel' (5 Nov 2025) · https://www.iata.org/en/pressroom/2025-releases/2025-11-05-02/</a:t>
            </a:r>
          </a:p>
          <a:p>
            <a:r>
              <a:t>WHY9 · IATA 2025 Global Passenger Survey (same release as FAC13) · https://www.iata.org/en/pressroom/2025-releases/2025-11-05-02/</a:t>
            </a:r>
          </a:p>
          <a:p>
            <a:r>
              <a:t>ROI12 · World Bank PPP Resource Center summary of ACI World Airport Economics Report (2021 edition, FY2019 data) · https://ppp.worldbank.org/node/6996</a:t>
            </a:r>
          </a:p>
          <a:p>
            <a:r>
              <a:t>ROI13 · ACI EUROPE, 'About ACI EUROPE' · https://www.aci-europe.org/about/</a:t>
            </a:r>
          </a:p>
          <a:p>
            <a:r>
              <a:t>ROI1 · Delta, 'Delta Expands Optional Facial Recognition Boarding to New Airports and More Customers' (Jun 2019) · https://pro.delta.com/content/corporate/us/en/news/news-archive/2019/june-2019/delta-expands-optional-facial-recognition-boarding-to-new-airpor.html</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ROI11 · Welsh Government, 'Welsh Government invests £1m to improve border efficiency at Cardiff Airport' (Mar 2019) · https://www.gov.wales/welsh-government-invests-ps1m-improve-border-efficiency-cardiff-airport</a:t>
            </a:r>
          </a:p>
          <a:p>
            <a:r>
              <a:t>ROI14 · Axon Enterprise, Form 10-K FY2025 (SEC) · https://www.sec.gov/Archives/edgar/data/1069183/000162828026011360/axon-20251231.htm</a:t>
            </a:r>
          </a:p>
          <a:p>
            <a:r>
              <a:t>ROI14B · Axon press release, 'Axon reports Q3 2025 revenue of $711 million, up 31% year over year' (4 Nov 2025), via Axon investor relations · https://investor.axon.com/</a:t>
            </a:r>
          </a:p>
          <a:p>
            <a:r>
              <a:t>ROI15 · Evolv Technologies Holdings, Form 10-K FY2025 (SEC) · https://www.sec.gov/Archives/edgar/data/1805385/000180538526000012/evlv-20251231.htm</a:t>
            </a:r>
          </a:p>
          <a:p>
            <a:r>
              <a:t>ROI16 · Motorola Solutions, Form 10-K FY2025 (SEC) · https://www.sec.gov/Archives/edgar/data/68505/000006850526000010/msi-20251231.htm</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a:p>
            <a:r>
              <a:t>COM11 · Collins Aerospace newsroom, 'Collins deploys biometrics solution at Tokyo Haneda Airport' (Jul 2021) · https://www.collinsaerospace.com/newsroom/News/2021/07/Collins-deploys-biometrics-solution-Tokyo-Haneda-Airport</a:t>
            </a:r>
          </a:p>
          <a:p>
            <a:r>
              <a:t>COM12 · Indra press release, ABC systems for Aena (10 Dec 2018) · https://www.indracompany.com/sites/default/files/181210pr_abcs_aena.pdf</a:t>
            </a:r>
          </a:p>
          <a:p>
            <a:r>
              <a:t>COM13 · BigBear.ai newsroom, 'BigBear.ai completes Pangiam acquisition' · https://bigbear.ai/newsroom/bigbear-ai-completes-pangiam-acquisition/</a:t>
            </a:r>
          </a:p>
          <a:p>
            <a:r>
              <a:t>COM15 · FinTech Futures, 'US identity platform Persona hits $2bn valuation after $200m Series D' (Apr 2025) · https://www.fintechfutures.com/venture-capital-funding/us-identity-platform-persona-hits-2bn-valuation-after-200m-series-d</a:t>
            </a:r>
          </a:p>
          <a:p>
            <a:r>
              <a:t>COM15B · Renaissance Capital, 'Identity verification service Clear Secure prices IPO above the range at $31' (Jun 2021) · https://www.renaissancecapital.com/IPO-Center/News/83419/identity-verification-service-clear-secure-prices-ipo-above-the-range-at-31</a:t>
            </a:r>
          </a:p>
          <a:p>
            <a:r>
              <a:t>WHY1 · European Commission (DG HOME), 'Commission set launch date of the Entry/Exit System to 12 October 2025' (30 Jul 2025) · https://home-affairs.ec.europa.eu/news/commission-set-launch-date-entryexit-system-12-october-2025-2025-07-30_en</a:t>
            </a:r>
          </a:p>
          <a:p>
            <a:r>
              <a:t>WHY1B · European Commission, Entry/Exit System policy page (Smart Borders) · https://home-affairs.ec.europa.eu/policies/schengen-borders-and-visa/smart-borders/entry-exit-system_en</a:t>
            </a:r>
          </a:p>
          <a:p>
            <a:r>
              <a:t>WHY2 · The Local, 'Mayhem and chaos: Europe's airports demand urgent review of new border system' (18 Dec 2025) · https://www.thelocal.com/20251218/mayhem-and-chaos-europes-airports-demand-urgent-review-of-new-border-system</a:t>
            </a:r>
          </a:p>
          <a:p>
            <a:r>
              <a:t>WHY3 · European Commission, 'Commission proposes digital passports and ID cards for easier travel' (8 Oct 2024) · https://commission.europa.eu/news-and-media/news/commission-proposes-digital-passports-and-id-cards-easier-travel-2024-10-08-0_en</a:t>
            </a:r>
          </a:p>
          <a:p>
            <a:r>
              <a:t>WHY4 · European Commission, 'European Digital Identity (EUDI) Regulation' · https://digital-strategy.ec.europa.eu/en/policies/eudi-regulation</a:t>
            </a:r>
          </a:p>
          <a:p>
            <a:r>
              <a:t>WHY5 · ICAO TRIP Guide on the Digital Travel Credential, Part 1 (v1.0, Sep 2025) · https://www.icao.int/sites/default/files/TRIP/Publications/GM-ICAOTRIPGuide_DTC_p1.pdf</a:t>
            </a:r>
          </a:p>
          <a:p>
            <a:r>
              <a:t>WHY7 · Keesing Platform, 'Finland's Digital Travel Credential pilot program results' · https://platform.keesingtechnologies.com/finlands-digital-travel-credential-pilot-program-results/</a:t>
            </a:r>
          </a:p>
          <a:p>
            <a:r>
              <a:t>WHY8 · IATA press release, 'Fully Digital Travel Experience Closer to Reality' (30 Oct 2024) · https://www.iata.org/en/pressroom/2024-releases/2024-10-30-03/</a:t>
            </a:r>
          </a:p>
          <a:p>
            <a:r>
              <a:t>WHY15 · Federal Register 2025-19655, 'Collection of Biometric Data From Aliens Upon Entry to and Departure From the United States' (27 Oct 2025) · https://www.federalregister.gov/documents/2025/10/27/2025-19655/collection-of-biometric-data-from-aliens-upon-entry-to-and-departure-from-the-united-states</a:t>
            </a:r>
          </a:p>
          <a:p>
            <a:r>
              <a:t>WHY16 · Skift, 'New Apple Feature Stores Passport Info in Digital Wallet' (12 Nov 2025) · https://skift.com/2025/11/12/apple-digital-passport-id-tsa-travel/</a:t>
            </a:r>
          </a:p>
          <a:p>
            <a:r>
              <a:t>FAC2 · IATA press release, 'Air Travel Demand Will More Than Double by 2050' (17 Mar 2026) · https://www.iata.org/en/pressroom/2026-releases/2026-03-17-01/</a:t>
            </a:r>
          </a:p>
          <a:p>
            <a:r>
              <a:t>FAC1 · IATA, 'Global Outlook for Air Transport: A local sweet spot' (Dec 2023) · https://www.iata.org/en/iata-repository/publications/economic-reports/global-outlook-for-air-transport---december-2023---report/</a:t>
            </a:r>
          </a:p>
          <a:p>
            <a:r>
              <a:t>FAC3 · SITA press release, 'Aviation industry doubles down on cybersecurity as IT spend climbs to new highs' (Feb 2025) · https://www.sita.aero/about-us/pressroom/news-releases/aviation-industry-doubles-down-on-cybersecurity-as-it-spend-climbs-to-new-highs/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 backup for Q&amp;A, not presented}</a:t>
            </a:r>
          </a:p>
          <a:p>
            <a:r>
              <a:t>Six steps, five modules, one platform. Backup for CTO and COO product questions. Live status per module to confirm.</a:t>
            </a:r>
          </a:p>
          <a:p/>
          <a:p>
            <a:r>
              <a:t>TEAM WORKING NOTES (INTERNAL, from the build spec)</a:t>
            </a:r>
          </a:p>
          <a:p>
            <a:r>
              <a:t>Purpose: Backup for CTO and COO product questions, kept out of the 80-second walkthrough.</a:t>
            </a:r>
          </a:p>
          <a:p>
            <a:r>
              <a:t>• Old slide 4 hardware bento: fix the clipped chips. Add a status badge per module: 'Shown live, Feb 2026' or '[concept]'. The platform tile uses the synthetic table.</a:t>
            </a:r>
          </a:p>
          <a:p>
            <a:r>
              <a:t>• Full 6-step Morph tour (old slides 5–11), every frame tagged 'Illustration':</a:t>
            </a:r>
          </a:p>
          <a:p>
            <a:r>
              <a:t>   - Enrol</a:t>
            </a:r>
          </a:p>
          <a:p>
            <a:r>
              <a:t>   - Approach (BLE pairing)</a:t>
            </a:r>
          </a:p>
          <a:p>
            <a:r>
              <a:t>   - Walk through</a:t>
            </a:r>
          </a:p>
          <a:p>
            <a:r>
              <a:t>   - Pre-screen (Nova Plus profile check; X-ray still applies)</a:t>
            </a:r>
          </a:p>
          <a:p>
            <a:r>
              <a:t>   - Board</a:t>
            </a:r>
          </a:p>
          <a:p>
            <a:r>
              <a:t>   - Oversee</a:t>
            </a:r>
          </a:p>
          <a:p>
            <a:r>
              <a:t>• Annotated BLE lane diagram (old slide 7), with callouts enlarged to 14pt or more.</a:t>
            </a:r>
          </a:p>
          <a:p>
            <a:r>
              <a:t>• Claim fix: replace 'passport-free' with 'no documents shown at checkpoints for enrolled, eligible travellers; the passport is still carried as required (ICAO DTC Type 1)'.</a:t>
            </a:r>
          </a:p>
          <a:p>
            <a:r>
              <a:t>• Check-in coverage: none of the five modules is a check-in or bag-drop device. Check-in is covered by app enrolment plus the airline's own online check-in [to confirm]. Bag drop is out of scope today.</a:t>
            </a:r>
          </a:p>
          <a:p>
            <a:r>
              <a:t>• Personal data:</a:t>
            </a:r>
          </a:p>
          <a:p>
            <a:r>
              <a:t>   - app screenshots carry a SPECIMEN overlay, with the ID, date-of-birth and passport fields masked;</a:t>
            </a:r>
          </a:p>
          <a:p>
            <a:r>
              <a:t>   - the Status TV shows '#sequence · CLEARED' only;</a:t>
            </a:r>
          </a:p>
          <a:p>
            <a:r>
              <a:t>   - the passenger log is the synthetic rebuild (no real-looking names, faces or NRIC-format IDs).</a:t>
            </a:r>
          </a:p>
          <a:p>
            <a:r>
              <a:t>• Counts reconciled: up to 4 document checks today · 5 modules · 6 steps · 1 platform (AGIL® Secure Platform).</a:t>
            </a:r>
          </a:p>
          <a:p>
            <a:r>
              <a:t>• FastPass AI Scanning (AI luggage threat detection, from the CMO deck): roadmap only, see A15.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 backup for Q&amp;A, not presented}</a:t>
            </a:r>
          </a:p>
          <a:p>
            <a:r>
              <a:t>The FastPass lane: BLE beacon plus a face camera. Prototype lane hardware. Image type [photo / render] to confirm.</a:t>
            </a:r>
          </a:p>
          <a:p/>
          <a:p>
            <a:r>
              <a:t>{Team working notes: see the first slide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 backup for Q&amp;A, not presented}</a:t>
            </a:r>
          </a:p>
          <a:p>
            <a:r>
              <a:t>Recompute the beachhead: US$42–94M a year in 2030. Every input and step, plus what the figure does not cover.</a:t>
            </a:r>
          </a:p>
          <a:p/>
          <a:p>
            <a:r>
              <a:t>TEAM WORKING NOTES (INTERNAL, from the build spec)</a:t>
            </a:r>
          </a:p>
          <a:p>
            <a:r>
              <a:t>Purpose: Lets an analyst recompute every figure. Also holds what came off slide 8, the segment definition and the 2026 regional picture.</a:t>
            </a:r>
          </a:p>
          <a:p>
            <a:r>
              <a:t>• Funnel, per year in 2030:</a:t>
            </a:r>
          </a:p>
          <a:p>
            <a:r>
              <a:t>   - US$5,030M × 83.1% = US$4,180M</a:t>
            </a:r>
          </a:p>
          <a:p>
            <a:r>
              <a:t>   - × 10–15% = US$418–627M</a:t>
            </a:r>
          </a:p>
          <a:p>
            <a:r>
              <a:t>   - × 10–15% = US$41.8–94.0M</a:t>
            </a:r>
          </a:p>
          <a:p>
            <a:r>
              <a:t>   - Midpoint at 12.5% × 12.5% = US$65.3M (the arithmetic mean of the range is US$68M)</a:t>
            </a:r>
          </a:p>
          <a:p>
            <a:r>
              <a:t>   - To scale, the serviceable bar is 0.8–1.9% of global ABC and 1.0–2.25% of airport ABC, which is why slide 8 is tagged 'Not to scale'.</a:t>
            </a:r>
          </a:p>
          <a:p>
            <a:r>
              <a:t>• Correction:</a:t>
            </a:r>
          </a:p>
          <a:p>
            <a:r>
              <a:t>   - Deck 12 read 'US$50–75M over 5 years ≈ US$10–15M a year'. That matches no reading of its own funnel.</a:t>
            </a:r>
          </a:p>
          <a:p>
            <a:r>
              <a:t>   - US$10–15M a year is kept only as a candidate revenue target: ≈15–23% of the ~US$65M midpoint, and 11–36% across the range.</a:t>
            </a:r>
          </a:p>
          <a:p>
            <a:r>
              <a:t>   - It needs written CPO/CMO confirmation and a target year, and never appears in EXTERNAL until then.</a:t>
            </a:r>
          </a:p>
          <a:p>
            <a:r>
              <a:t>• Implied scale: at the 2017–18 tender anchors (~€140–235k per unit, ≈US$150–255k), US$10–15M a year is roughly 40–100 gate-equivalents a year, fewer once software and services are counted. With M4 in [2028], that is a steep ramp, and the bottom-up must show it.</a:t>
            </a:r>
          </a:p>
          <a:p>
            <a:r>
              <a:t>• Bottom-up cross-check, to build before external use: [N] qualifying airports in ME + SEA × [N] lanes × US$[X] one-off + US$[Y]/yr software and services = US$[Z]M a year. It must reconcile with the top-down figure.</a:t>
            </a:r>
          </a:p>
          <a:p>
            <a:r>
              <a:t>• Other readings, for reference:</a:t>
            </a:r>
          </a:p>
          <a:p>
            <a:r>
              <a:t>   - Cumulative 2026–2030 on the MarketsandMarkets path (US$19.5B): US$162–365M.</a:t>
            </a:r>
          </a:p>
          <a:p>
            <a:r>
              <a:t>   - On the 2025 base (US$2.56B): US$21–48M a year.</a:t>
            </a:r>
          </a:p>
          <a:p>
            <a:r>
              <a:t>   - Sensitivity: each 1-point change in either 10–15% share moves the beachhead by about US$4.2–6.3M a year.</a:t>
            </a:r>
          </a:p>
          <a:p>
            <a:r>
              <a:t>• Scope caveat:</a:t>
            </a:r>
          </a:p>
          <a:p>
            <a:r>
              <a:t>   - ABC covers border e-gates and kiosks, mostly one-off hardware.</a:t>
            </a:r>
          </a:p>
          <a:p>
            <a:r>
              <a:t>   - FastPass's recurring software, check-in, security pre-screen, boarding and the platform sit outside it.</a:t>
            </a:r>
          </a:p>
          <a:p>
            <a:r>
              <a:t>   - So the beachhead understates FastPass's scope, but it is not a software market: never imply software margins on the ABC figure.</a:t>
            </a:r>
          </a:p>
          <a:p>
            <a:r>
              <a:t>• Input labels:</a:t>
            </a:r>
          </a:p>
          <a:p>
            <a:r>
              <a:t>   - 83.1% is MarketsandMarkets' 2025 airport share applied to 2030.</a:t>
            </a:r>
          </a:p>
          <a:p>
            <a:r>
              <a:t>   - Asia-Pacific's 32.6% (2024) includes China, Japan and India, so it is not a proxy for SEA.</a:t>
            </a:r>
          </a:p>
          <a:p>
            <a:r>
              <a:t>   - Independent estimates put ABC at US$5.0–5.4B by 2030 (Research and Markets/Mordor; Lucintel; FAC9, low confidence).</a:t>
            </a:r>
          </a:p>
          <a:p>
            <a:r>
              <a:t>• Brownfield:</a:t>
            </a:r>
          </a:p>
          <a:p>
            <a:r>
              <a:t>   - '~78% of ME/SEA airport projects are brownfield' is an internal URS figure [state whether it counts projects].</a:t>
            </a:r>
          </a:p>
          <a:p>
            <a:r>
              <a:t>   - External anchor: ACI APAC &amp; MID, 57% of US$240B capex 2025–2035 goes to brownfield, by value (FAC10/DEM6).</a:t>
            </a:r>
          </a:p>
          <a:p>
            <a:r>
              <a:t>   - These are different metrics; never merge them.</a:t>
            </a:r>
          </a:p>
          <a:p>
            <a:r>
              <a:t>• Segment (proposed, team to confirm): 'congested international gateways that cannot add a terminal soon'. This replaces 'Tier-2 airports that lack hub budgets'.</a:t>
            </a:r>
          </a:p>
          <a:p>
            <a:r>
              <a:t>• Filter:</a:t>
            </a:r>
          </a:p>
          <a:p>
            <a:r>
              <a:t>   - brownfield;</a:t>
            </a:r>
          </a:p>
          <a:p>
            <a:r>
              <a:t>   - at or above design capacity at peak;</a:t>
            </a:r>
          </a:p>
          <a:p>
            <a:r>
              <a:t>   - no incumbent end-to-end biometric programme (excludes Changi, DXB and Doha);</a:t>
            </a:r>
          </a:p>
          <a:p>
            <a:r>
              <a:t>   - an existing Group relationship;</a:t>
            </a:r>
          </a:p>
          <a:p>
            <a:r>
              <a:t>   - a regulator open to pilots.</a:t>
            </a:r>
          </a:p>
          <a:p>
            <a:r>
              <a:t>• Test NAIA-type national gateways (~50M passengers) against the filter. First three targets: [Airport A] · [Airport B] · [Airport C].</a:t>
            </a:r>
          </a:p>
          <a:p>
            <a:r>
              <a:t>• Wider pool, not TAM: airports spent US$14.8B on IT in 2025, 7.3% of revenue (SITA, FAC5).</a:t>
            </a:r>
          </a:p>
          <a:p>
            <a:r>
              <a:t>• 2026 regional context:</a:t>
            </a:r>
          </a:p>
          <a:p>
            <a:r>
              <a:t>   - Middle East airport traffic −21% in H1 2026 (ACI, DEM2).</a:t>
            </a:r>
          </a:p>
          <a:p>
            <a:r>
              <a:t>   - ME carriers −14.2% YoY in Aug 2026 (IATA, DEM3).</a:t>
            </a:r>
          </a:p>
          <a:p>
            <a:r>
              <a:t>   - IATA forecasts ME demand −11.4% for 2026 (DEM4).</a:t>
            </a:r>
          </a:p>
          <a:p>
            <a:r>
              <a:t>   - ACI's +5.4%/yr ME forecast for 2025–28 predates the war (DEM5, label it 'pre-war').</a:t>
            </a:r>
          </a:p>
          <a:p>
            <a:r>
              <a:t>   - Saudi airports handled 140.9M passengers in 2025, 65M of them domestic; Jeddah is reported at ~107% of design capacity (single source, verify, DEM8).</a:t>
            </a:r>
          </a:p>
          <a:p>
            <a:r>
              <a:t>   - Bangkok: 5,000–6,000 arrivals an hour reach immigration at peak, and 47% still need an officer after the Aug 2026 autogate extension. The East Expansion slipped from Mar 2025 to a 2030 target (DEM12, DEM12B).</a:t>
            </a:r>
          </a:p>
          <a:p>
            <a:r>
              <a:t>   - Dubai DWC phase 1 opens 2032 (DEM9, DEM9B).</a:t>
            </a:r>
          </a:p>
          <a:p>
            <a:r>
              <a:t>• Hence 'we sell efficiency, not growth', and an SEA or dual-region pilot as the hedge.</a:t>
            </a:r>
          </a:p>
          <a:p/>
          <a:p>
            <a:r>
              <a:t>—— SOURCES (not spoken) ——</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FAC9 · Research and Markets (Mordor Intelligence), 'Automated Border Control Market Share Analysis'; Lucintel ABC market · https://www.researchandmarkets.com/reports/5026050/automated-border-control-market-share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 backup for Q&amp;A, not presented}</a:t>
            </a:r>
          </a:p>
          <a:p>
            <a:r>
              <a:t>Who we target first, and the 2026 headwind. Proposed segment for the team to confirm; regional data for the pilot-market call.</a:t>
            </a:r>
          </a:p>
          <a:p/>
          <a:p>
            <a:r>
              <a:t>{Team working notes: see the first slide of this section.}</a:t>
            </a:r>
          </a:p>
          <a:p/>
          <a:p>
            <a:r>
              <a:t>—— SOURCES (not spoken) ——</a:t>
            </a:r>
          </a:p>
          <a:p>
            <a:r>
              <a:t>DEM11 · GMA News, 'NAIA hits record-high 52M passenger volume in 2025' (Jan 2026) · https://www.gmanetwork.com/news/topstories/nation/971370/naia-hits-record-high-52m-passenger-volume-in-2025/story/</a:t>
            </a:r>
          </a:p>
          <a:p>
            <a:r>
              <a:t>FAC5 · Airport World, 'Data co-ordination key to success of IT investment in aviation' (SITA Air Transport IT Insights 2025, Apr 2026) · https://airport-world.com/data-co-ordination-key-to-success-of-it-investment-in-aviation/</a:t>
            </a:r>
          </a:p>
          <a:p>
            <a:r>
              <a:t>FAC10 · International Airport Review, 'Airports in Asia-Pacific and Middle East to invest $240 billion in expansion by 2035' · https://www.internationalairportreview.com/news/259618/airports-in-asia-pacific-and-middle-east-to-invest-240-billion-in-expansion-by-2035/</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DEM5 · ACI Asia-Pacific &amp; Middle East, 'Asia-Pacific and Middle East airports set for strong growth in passenger traffic' (Short-Term Forecast 2025–2028, c. Dec 2025) · https://www.aci-asiapac.aero/media-centre/news/asia-pacific-and-middle-east-airports-set-for-strong-growth-in-passenger-traffic</a:t>
            </a:r>
          </a:p>
          <a:p>
            <a:r>
              <a:t>DEM8 · Argaam, 'Saudi airport traffic rises to 140.9M passengers in 2025: GACA' · https://www.argaam.com/en/article/articledetail/id/1876411</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DEM12 · Khaosod English, 'Suvarnabhumi to open Auto Gates to 31 more nationalities' (17 Aug 2026) · https://www.khaosodenglish.com/featured/2026/08/17/suvarnabhumi-to-open-auto-gates-to-31-more-nationalities/</a:t>
            </a:r>
          </a:p>
          <a:p>
            <a:r>
              <a:t>DEM12B · Nation Thailand, Suvarnabhumi East Expansion targeted for 2030 (Sep 2025) · https://www.nationthailand.com/business/corporate/40055094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 backup for Q&amp;A, not presented}</a:t>
            </a:r>
          </a:p>
          <a:p>
            <a:r>
              <a:t>Competitor matrix behind the slide-7 map. Public sources only; 'not found in public sources' ≠ 'cannot'.</a:t>
            </a:r>
          </a:p>
          <a:p/>
          <a:p>
            <a:r>
              <a:t>Vendor detail: IDEMIA sells ABC e-gates and MFace (walk-through, multi-face, liveness); holds Singapore's ABCS contract for air, land and sea (May 2023; at Changi since 2017); Zayed &gt;1M passengers by Mar 2024 (vendor-reported); ID2Travel phone credential + face. SITA Smart Path: mobile enrolment, then stop-and-look touchpoints, runs on NEC I:Delight at Frankfurt; &gt;3,000 touchpoints in Asia (vendor); Aruba DTC with Indicio: tap the phone at the e-gate, then face (two factors, stop); partner on Hamad 'Fast Pass' (Jul 2026); acquired Materna IPS (2024). Amadeus / Vision-Box: Seamless Corridors in Indonesia, &gt;30 crossings/min per corridor at Hajj peak (vendor-reported), pre-registered in the All Indonesia app, opened first to elderly and disabled travellers, face-only status [verify]; Free Flow corridor (2023–24); Orchestra ops platform (Emirates DXB T3, 2020); Smart-Trust EU pilot of smartphone + biometrics on the move (2018–20) is prior art. NEC: walk-through face gates for Japan's ISA at Kansai, Narita and Haneda (Apr 2025), after a kiosk document step; Face Express since 2021. Thales Fly to Gate: token in a phone wallet shared with the airport backend with consent; face matched at a pod (stop); 600+ touchpoints, 7 Adani airports, up to 30% faster (vendor). Collins SelfPass: stop-and-look, Haneda (2021). Indra / Minsait: stop-and-go document + face/fingerprint ABC at Aena (2018).</a:t>
            </a:r>
          </a:p>
          <a:p/>
          <a:p>
            <a:r>
              <a:t>TEAM WORKING NOTES (INTERNAL, from the build spec)</a:t>
            </a:r>
          </a:p>
          <a:p>
            <a:r>
              <a:t>Purpose: Backs every placement on slide 7 and closes the team's note 'USP needs compare with Idemia'. Public sources only; everything else is marked [verify].</a:t>
            </a:r>
          </a:p>
          <a:p>
            <a:r>
              <a:t>• Columns: what they sell · face matched in stride · carried credential checked in the lane · read passively (stays in the pocket) · security-ops integration · notable deployments · source.</a:t>
            </a:r>
          </a:p>
          <a:p>
            <a:r>
              <a:t>• Axis correction: standard ABC e-gates read the passport chip and match the face, so they are two factors, stop and present. The slide's Y-axis is 'stored face only → face + a credential you carry'. The FastPass wedge is 'two factors, nothing taken out, in stride'. Never call a lane single-factor unless it is.</a:t>
            </a:r>
          </a:p>
          <a:p>
            <a:r>
              <a:t>• IDEMIA (COM4, COM5, COM5B, COM6):</a:t>
            </a:r>
          </a:p>
          <a:p>
            <a:r>
              <a:t>   - Sells ABC e-gates and MFace (walk-through, multi-face, with presentation-attack detection).</a:t>
            </a:r>
          </a:p>
          <a:p>
            <a:r>
              <a:t>   - Holds Singapore's ICA ABCS contract for air, land and sea (May 2023; at Changi since 2017).</a:t>
            </a:r>
          </a:p>
          <a:p>
            <a:r>
              <a:t>   - Zayed: &gt;1M passengers by Mar 2024 (vendor-reported).</a:t>
            </a:r>
          </a:p>
          <a:p>
            <a:r>
              <a:t>   - ID2Travel DTC app (phone credential + face match).</a:t>
            </a:r>
          </a:p>
          <a:p>
            <a:r>
              <a:t>   - In stride: yes. Carried credential checked passively in the lane: not found [verify].</a:t>
            </a:r>
          </a:p>
          <a:p>
            <a:r>
              <a:t>• SITA (COM7, COM8, WHY14, COM14):</a:t>
            </a:r>
          </a:p>
          <a:p>
            <a:r>
              <a:t>   - Smart Path: mobile enrolment, then stop-and-look touchpoints; runs on NEC I:Delight at Frankfurt; vendor claims &gt;3,000 touchpoints in Asia.</a:t>
            </a:r>
          </a:p>
          <a:p>
            <a:r>
              <a:t>   - Aruba DTC with Indicio: tap the phone at the e-gate, then the face is matched (two factors, stop).</a:t>
            </a:r>
          </a:p>
          <a:p>
            <a:r>
              <a:t>   - Partner on Hamad 'Fast Pass' (Jul 2026). Acquired Materna IPS (2024).</a:t>
            </a:r>
          </a:p>
          <a:p>
            <a:r>
              <a:t>   - Ops platform: [verify].</a:t>
            </a:r>
          </a:p>
          <a:p>
            <a:r>
              <a:t>• Amadeus / Vision-Box (COM1, COM2, COM3):</a:t>
            </a:r>
          </a:p>
          <a:p>
            <a:r>
              <a:t>   - Seamless Corridors in Indonesia: &gt;30 crossings/min per corridor at Hajj peak (vendor-reported); travellers pre-register in the All Indonesia app; open first to elderly and disabled travellers; face-only status [verify].</a:t>
            </a:r>
          </a:p>
          <a:p>
            <a:r>
              <a:t>   - Free Flow corridor (2023–24).</a:t>
            </a:r>
          </a:p>
          <a:p>
            <a:r>
              <a:t>   - Orchestra ops platform (Emirates DXB T3, 2020): counts in the ops-integration column.</a:t>
            </a:r>
          </a:p>
          <a:p>
            <a:r>
              <a:t>   - Smart-Trust EU pilot of smartphone + biometrics on the move (Lisbon, Schiphol, 2018–20). This is prior art: never claim 'first'.</a:t>
            </a:r>
          </a:p>
          <a:p>
            <a:r>
              <a:t>   - Acquired at ~€320M EV (Apr 2024).</a:t>
            </a:r>
          </a:p>
          <a:p>
            <a:r>
              <a:t>• NEC (COM9): walkthrough face gates for Japan's ISA at Kansai, Narita and Haneda (Apr 2025), used after a kiosk document step; Face Express since 2021. Device factor: none found.</a:t>
            </a:r>
          </a:p>
          <a:p>
            <a:r>
              <a:t>• Thales (COM10): Fly to Gate. The biometric token sits in a phone wallet and is shared with the airport backend with consent; the face is matched at a pod (stop). Placed under 'stored face only' because the phone is not checked in the lane [verify]. Vendor claims 600+ touchpoints, 7 Adani airports and up to 30% faster processing.</a:t>
            </a:r>
          </a:p>
          <a:p>
            <a:r>
              <a:t>• Collins Aerospace (COM11): SelfPass, stop-and-look; Haneda (2021). Legacy references only. Indra / Minsait (COM12): stop-and-go document + face/fingerprint ABC at Aena airports (2018).</a:t>
            </a:r>
          </a:p>
          <a:p>
            <a:r>
              <a:t>• Market evidence, not plotted as rivals:</a:t>
            </a:r>
          </a:p>
          <a:p>
            <a:r>
              <a:t>   - Dubai GDRFA Red Carpet corridor: 745,188 travellers Jan–Aug 2026; 3.4 s vs 12.5 s per GDRFA (Paravision cites about 14 s); face only, pre-registered (WHY13, WHY13B, FAC12).</a:t>
            </a:r>
          </a:p>
          <a:p>
            <a:r>
              <a:t>   - Hamad 'Fast Pass' with Qatar Airways and SITA: 700+ touchpoints, app enrolment (WHY14).</a:t>
            </a:r>
          </a:p>
          <a:p>
            <a:r>
              <a:t>   - Changi ICA passport-less clearance: 25 s → 10 s; foreign visitors on departure only (WHY11).</a:t>
            </a:r>
          </a:p>
          <a:p>
            <a:r>
              <a:t>   - Never imply any ICA/HTX partnership.</a:t>
            </a:r>
          </a:p>
          <a:p>
            <a:r>
              <a:t>• Market leaders by ranking: IDEMIA, Thales and Vision-Box (ABI Research, Jul 2023, FAC15).</a:t>
            </a:r>
          </a:p>
          <a:p>
            <a:r>
              <a:t>• Moat to build (honest):</a:t>
            </a:r>
          </a:p>
          <a:p>
            <a:r>
              <a:t>   - accreditation earned in the pilot;</a:t>
            </a:r>
          </a:p>
          <a:p>
            <a:r>
              <a:t>   - control-room integration, a switching cost only where a customer runs its security operations on AGIL® Secure Platform (this coexists with open interfaces at the lane);</a:t>
            </a:r>
          </a:p>
          <a:p>
            <a:r>
              <a:t>   - government-grade delivery in ME/SEA;</a:t>
            </a:r>
          </a:p>
          <a:p>
            <a:r>
              <a:t>   - IP: [state the actual status, e.g. 'no patents filed yet', if true].</a:t>
            </a:r>
          </a:p>
          <a:p>
            <a:r>
              <a:t>• 'Why can't they copy it in 12 months?': [team answer]. Copy risk is real.</a:t>
            </a:r>
          </a:p>
          <a:p>
            <a:r>
              <a:t>• Wording rules: never 'first', 'only' or 'unique'. 'Not found in public sources' ≠ 'cannot'.</a:t>
            </a:r>
          </a:p>
          <a:p/>
          <a:p>
            <a:r>
              <a:t>—— SOURCES (not spoken) ——</a:t>
            </a:r>
          </a:p>
          <a:p>
            <a:r>
              <a:t>COM1 · Amadeus press release, 'Vision-Box biometrics acquisition complete' (Apr 2024) · https://amadeus.com/en/newsroom/press-releases/vision-box-biometrics-acquisition-complete</a:t>
            </a:r>
          </a:p>
          <a:p>
            <a:r>
              <a:t>COM2 · Amadeus press release, 'Indonesia replaces immigration barriers with Amadeus Seamless Corridors' (Nov 2025) · https://amadeus.com/en/newsroom/press-releases/indonesia-replaces-immigration-barriers-with-amadeus-seamless-corridors</a:t>
            </a:r>
          </a:p>
          <a:p>
            <a:r>
              <a:t>COM3 · CORDIS, project 778571 Smart-Trust (2018–2020) · https://cordis.europa.eu/project/id/778571</a:t>
            </a:r>
          </a:p>
          <a:p>
            <a:r>
              <a:t>COM4 · IDEMIA press release, 'IDEMIA selected to supply Automated Border Control System' (9 May 2023) · https://idemia.com/press-release/idemia-selected-supply-automated-border-control-system-2023-05-09</a:t>
            </a:r>
          </a:p>
          <a:p>
            <a:r>
              <a:t>COM5 · IDEMIA MFace brochure (Oct 2025) · https://www.idemia.com/wp-content/uploads/2025/10/mface-brochure-idemia-22102025.pdf</a:t>
            </a:r>
          </a:p>
          <a:p>
            <a:r>
              <a:t>COM5B · IDEMIA press release, 'Zayed International Airport revolutionizes passenger experience: IDEMIA's biometric solutions, over 1 million passengers processed' (6 Mar 2024) · https://www.idemia.com/press-release/zayed-international-airport-revolutionizes-passenger-experience-idemias-biometric-solutions-over-1-million-passengers-processed-2024-03-06</a:t>
            </a:r>
          </a:p>
          <a:p>
            <a:r>
              <a:t>COM6 · IDEMIA, ID2Travel / Digital Travel Credential page · https://idemia.com/id2travel</a:t>
            </a:r>
          </a:p>
          <a:p>
            <a:r>
              <a:t>COM7 · SITA Smart Path product page · https://www.sita.aero/smartpath</a:t>
            </a:r>
          </a:p>
          <a:p>
            <a:r>
              <a:t>COM8 · PhocusWire, 'Aruba preps full launch of passport-free arrivals process' · https://www.phocuswire.com/aruba-preps-full-launch-passport-free-arrivals-process</a:t>
            </a:r>
          </a:p>
          <a:p>
            <a:r>
              <a:t>COM9 · NEC press release, walkthrough gates ordered by Japan's Immigration Services Agency (25 Mar 2025) · https://www.nec.com/en/press/202503/global_20250325_02.html</a:t>
            </a:r>
          </a:p>
          <a:p>
            <a:r>
              <a:t>COM10 · Singapore EDB, 'Thales redefines the airport journey with AI-powered biometrics' · https://www.edb.gov.sg/en/business-insights/insights/thales-redefines-the-airport-journey-with-ai-powered-biometrics.html</a:t>
            </a:r>
          </a:p>
          <a:p>
            <a:r>
              <a:t>COM11 · Collins Aerospace newsroom, 'Collins deploys biometrics solution at Tokyo Haneda Airport' (Jul 2021) · https://www.collinsaerospace.com/newsroom/News/2021/07/Collins-deploys-biometrics-solution-Tokyo-Haneda-Airport</a:t>
            </a:r>
          </a:p>
          <a:p>
            <a:r>
              <a:t>COM12 · Indra press release, ABC systems for Aena (10 Dec 2018) · https://www.indracompany.com/sites/default/files/181210pr_abcs_aena.pdf</a:t>
            </a:r>
          </a:p>
          <a:p>
            <a:r>
              <a:t>COM14 · SITA press release, 'SITA becomes leader in airport solutions following Materna IPS acquisition' (Jul 2024) · https://www.sita.aero/pressroom/news-releases/sita-becomes-leader-in-airport-solutions-following-materna-ips-acquisition/</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 backup for Q&amp;A, not presented}</a:t>
            </a:r>
          </a:p>
          <a:p>
            <a:r>
              <a:t>Market evidence and the moat to build. Agencies and airports are possible buyers, so they are not plotted as rivals.</a:t>
            </a:r>
          </a:p>
          <a:p/>
          <a:p>
            <a:r>
              <a:t>{Team working notes: see the first slide of this section.}</a:t>
            </a:r>
          </a:p>
          <a:p/>
          <a:p>
            <a:r>
              <a:t>—— SOURCES (not spoken) ——</a:t>
            </a:r>
          </a:p>
          <a:p>
            <a:r>
              <a:t>WHY11 · ICA media release, 'Passport-less clearance fully rolled out at Changi Airport' (24 Oct 2024) · https://www.ica.gov.sg/news-and-publications/newsroom/media-release/passport-less-clearance-fully-rolled-out-at-changi-airport</a:t>
            </a:r>
          </a:p>
          <a:p>
            <a:r>
              <a:t>WHY13 · International Airport Review, 'Dubai's biometric Red Carpet processes more than 439,000 travellers in six months' (2026) · https://www.internationalairportreview.com/dubais-biometric-red-carpet-processes-more-than-439000-travellers-in-six-months/2136321.article</a:t>
            </a:r>
          </a:p>
          <a:p>
            <a:r>
              <a:t>WHY13B · Gulf News, 'Dubai's biometric Red-Carpet processes 745,188 travellers in eight months of 2026' · https://gulfnews.com/uae/dubais-biometric-red-carpet-processes-745188-travellers-in-eight-months-of-2026-1.500666738</a:t>
            </a:r>
          </a:p>
          <a:p>
            <a:r>
              <a:t>FAC12 · Paravision, 'Paravision collaborates with Emaratech to power Red Carpet Smart Corridor at Dubai International Airport' (Sep 2025) · https://www.paravision.ai/news/paravision-collaborates-with-emaratech-to-power-red-carpet-smart-corridor-at-dubai-international-airport/</a:t>
            </a:r>
          </a:p>
          <a:p>
            <a:r>
              <a:t>WHY14 · Hamad International Airport, 'Hamad International Airport rolls out biometric travel across more than 700 touchpoints' (Jul 2026) · https://dohahamadairport.com/press-releases/news/hamad-international-airport-rolls-out-biometric-travel-across-more-700</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 backup for Q&amp;A, not presented}</a:t>
            </a:r>
          </a:p>
          <a:p>
            <a:r>
              <a:t>The identity layer produces real outcomes. Comps for context, not a valuation of FastPass.</a:t>
            </a:r>
          </a:p>
          <a:p/>
          <a:p>
            <a:r>
              <a:t>TEAM WORKING NOTES (INTERNAL, from the build spec)</a:t>
            </a:r>
          </a:p>
          <a:p>
            <a:r>
              <a:t>Purpose: Shows that the identity layer produces real outcomes, without implying a valuation for a pre-revenue venture. The €320M chip moved here from the EXTERNAL competition slide, where it read as an exit ceiling.</a:t>
            </a:r>
          </a:p>
          <a:p>
            <a:r>
              <a:t>• Amadeus–Vision-Box: ~€320M EV, ~16× 2023 normalised EBITDA, ~€70M expected 2023 revenue (~4.6×, derived), ~470 staff; completed Apr 2024 (COM1).</a:t>
            </a:r>
          </a:p>
          <a:p>
            <a:r>
              <a:t>• BigBear.ai–Pangiam: ~US$70M all-stock; announced Nov 2023, closed early 2024 (COM13).</a:t>
            </a:r>
          </a:p>
          <a:p>
            <a:r>
              <a:t>• Consolidation (COM14, COM14B, COM14C): SITA–Materna IPS (2024, value not disclosed) · IN Groupe–IDEMIA Smart Identity (Jul 2025, n/d) · Thales–Gemalto, €4.8B (Apr 2019).</a:t>
            </a:r>
          </a:p>
          <a:p>
            <a:r>
              <a:t>• Venture and public comps (COM15, COM15B): Persona, US$200M Series D at US$2B, co-led by Founders Fund and Ribbit (Apr 2025) · CLEAR Secure IPO at US$31, US$409M raised, 38 airports (Jun 2021).</a:t>
            </a:r>
          </a:p>
          <a:p/>
          <a:p>
            <a:r>
              <a:t>—— SOURCES (not spoken) ——</a:t>
            </a:r>
          </a:p>
          <a:p>
            <a:r>
              <a:t>COM1 · Amadeus press release, 'Vision-Box biometrics acquisition complete' (Apr 2024) · https://amadeus.com/en/newsroom/press-releases/vision-box-biometrics-acquisition-complete</a:t>
            </a:r>
          </a:p>
          <a:p>
            <a:r>
              <a:t>COM13 · BigBear.ai newsroom, 'BigBear.ai completes Pangiam acquisition' · https://bigbear.ai/newsroom/bigbear-ai-completes-pangiam-acquisition/</a:t>
            </a:r>
          </a:p>
          <a:p>
            <a:r>
              <a:t>COM14 · SITA press release, 'SITA becomes leader in airport solutions following Materna IPS acquisition' (Jul 2024) · https://www.sita.aero/pressroom/news-releases/sita-becomes-leader-in-airport-solutions-following-materna-ips-acquisition/</a:t>
            </a:r>
          </a:p>
          <a:p>
            <a:r>
              <a:t>COM14B · IN Groupe, 'IN Groupe successfully completes the acquisition of IDEMIA Smart Identity' (1 Jul 2025) · https://ingroupe.com/news/in-groupe-successfully-completes-the-acquisition-of-idemia-smart-identity-to-become-the-global-leader-in-secure-identity-solutions/</a:t>
            </a:r>
          </a:p>
          <a:p>
            <a:r>
              <a:t>COM14C · Thales press release, 'Thales completes acquisition of Gemalto' (Apr 2019) · https://www.thalesgroup.com/en/news-centre/press-releases/thales-completes-acquisition-gemalto-become-global-leader-digital</a:t>
            </a:r>
          </a:p>
          <a:p>
            <a:r>
              <a:t>COM15 · FinTech Futures, 'US identity platform Persona hits $2bn valuation after $200m Series D' (Apr 2025) · https://www.fintechfutures.com/venture-capital-funding/us-identity-platform-persona-hits-2bn-valuation-after-200m-series-d</a:t>
            </a:r>
          </a:p>
          <a:p>
            <a:r>
              <a:t>COM15B · Renaissance Capital, 'Identity verification service Clear Secure prices IPO above the range at $31' (Jun 2021) · https://www.renaissancecapital.com/IPO-Center/News/83419/identity-verification-service-clear-secure-prices-ipo-above-the-range-at-31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 backup for Q&amp;A, not presented}</a:t>
            </a:r>
          </a:p>
          <a:p>
            <a:r>
              <a:t>AGIL® Secure Platform: the command layer behind every step. Six capabilities. The AI recommends, the officer decides [confirm].</a:t>
            </a:r>
          </a:p>
          <a:p/>
          <a:p>
            <a:r>
              <a:t>TEAM WORKING NOTES (INTERNAL, from the build spec)</a:t>
            </a:r>
          </a:p>
          <a:p>
            <a:r>
              <a:t>Purpose: The command-layer depth behind walkthrough step 4 (old slide 13), for CTO and COO questions.</a:t>
            </a:r>
          </a:p>
          <a:p>
            <a:r>
              <a:t>• Hub diagram with six capabilities: traveller transactions · lane &amp; gate control · exception management · assistive AI · 3D operational view · video analytics.</a:t>
            </a:r>
          </a:p>
          <a:p>
            <a:r>
              <a:t>• Assistive AI is human-in-the-loop: the AI recommends, the officer decides, and every decision is logged for audit [confirm].</a:t>
            </a:r>
          </a:p>
          <a:p>
            <a:r>
              <a:t>• Integrations: CCTV, access control, incident management [list the systems and interfaces, confirm]; third-party gates through open interfaces [confirm: this decides whether the 83% of airports with biometric borders is an installed base to upgrade].</a:t>
            </a:r>
          </a:p>
          <a:p>
            <a:r>
              <a:t>• Dashboard: use the synthetic rebuild only (masked IDs, silhouettes, 'TRAVELLER 0412'). Never use the original screenshot, which shows real-looking names, faces, NRIC-format IDs and informal group names. Status words are CLEARED / EXCEPTION, not CLEAR / FAIL.</a:t>
            </a:r>
          </a:p>
          <a:p>
            <a:r>
              <a:t>• Naming: use 'AGIL® Secure Platform' everywhere. Retire 'ISMP' and 'one command layer' in external decks.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 backup for Q&amp;A, not presented}</a:t>
            </a:r>
          </a:p>
          <a:p>
            <a:r>
              <a:t>Pilot design: one airport, one group, one lane. The COO's confidence slide. The full scorecard is on A7b.</a:t>
            </a:r>
          </a:p>
          <a:p/>
          <a:p>
            <a:r>
              <a:t>TEAM WORKING NOTES (INTERNAL, from the build spec)</a:t>
            </a:r>
          </a:p>
          <a:p>
            <a:r>
              <a:t>Purpose: The COO's confidence slide. Expands the slide-6 chips and defines exactly what milestones M2 and M3 measure.</a:t>
            </a:r>
          </a:p>
          <a:p>
            <a:r>
              <a:t>• Scope:</a:t>
            </a:r>
          </a:p>
          <a:p>
            <a:r>
              <a:t>   - one airport [name], one traveller group [eligibility set by the border agency], one lane, [N] months;</a:t>
            </a:r>
          </a:p>
          <a:p>
            <a:r>
              <a:t>   - [paid / co-funded: decide before external use, since investors read it as a signal];</a:t>
            </a:r>
          </a:p>
          <a:p>
            <a:r>
              <a:t>   - payer and procurement route in the first market [to validate];</a:t>
            </a:r>
          </a:p>
          <a:p>
            <a:r>
              <a:t>   - whether the lane converts an existing one or adds one, and the floor space it takes [agree with the airport];</a:t>
            </a:r>
          </a:p>
          <a:p>
            <a:r>
              <a:t>   - baseline measured on the existing e-gate or booth lane for [N] weeks;</a:t>
            </a:r>
          </a:p>
          <a:p>
            <a:r>
              <a:t>   - scorecard signed by the airport and the agency.</a:t>
            </a:r>
          </a:p>
          <a:p>
            <a:r>
              <a:t>• Full scorecard (baseline / target / go-no-go). The team sets the targets now; they need no data.</a:t>
            </a:r>
          </a:p>
          <a:p>
            <a:r>
              <a:t>   - throughput (travellers/lane/hr) vs the measured e-gate baseline</a:t>
            </a:r>
          </a:p>
          <a:p>
            <a:r>
              <a:t>   - immigration seconds per traveller</a:t>
            </a:r>
          </a:p>
          <a:p>
            <a:r>
              <a:t>   - kerb-to-gate minutes (−20–30%, team target)</a:t>
            </a:r>
          </a:p>
          <a:p>
            <a:r>
              <a:t>   - false-accept (impostor) rate</a:t>
            </a:r>
          </a:p>
          <a:p>
            <a:r>
              <a:t>   - false-reject rate</a:t>
            </a:r>
          </a:p>
          <a:p>
            <a:r>
              <a:t>   - BLE pairing success with the phone locked or backgrounded, iOS and Android</a:t>
            </a:r>
          </a:p>
          <a:p>
            <a:r>
              <a:t>   - mis-pairing rate in a crowded lane</a:t>
            </a:r>
          </a:p>
          <a:p>
            <a:r>
              <a:t>   - exceptions per 100</a:t>
            </a:r>
          </a:p>
          <a:p>
            <a:r>
              <a:t>   - officer minutes per 100</a:t>
            </a:r>
          </a:p>
          <a:p>
            <a:r>
              <a:t>   - enrolment of eligible travellers, against break-even uptake per lane [X%]</a:t>
            </a:r>
          </a:p>
          <a:p>
            <a:r>
              <a:t>   - lane availability</a:t>
            </a:r>
          </a:p>
          <a:p>
            <a:r>
              <a:t>   - traveller satisfaction</a:t>
            </a:r>
          </a:p>
          <a:p>
            <a:r>
              <a:t>   - custom-engineering days (margin proxy)</a:t>
            </a:r>
          </a:p>
          <a:p>
            <a:r>
              <a:t>• Benchmarks (comparables, not FastPass claims):</a:t>
            </a:r>
          </a:p>
          <a:p>
            <a:r>
              <a:t>   - e-gate up to 180/hr vs 60–70 at a staffed booth (Riga, ROI5)</a:t>
            </a:r>
          </a:p>
          <a:p>
            <a:r>
              <a:t>   - Changi 25 s → 10 s (ROI4)</a:t>
            </a:r>
          </a:p>
          <a:p>
            <a:r>
              <a:t>   - −30% boarding time in a SITA/Turkish Airlines trial (ROI2)</a:t>
            </a:r>
          </a:p>
          <a:p>
            <a:r>
              <a:t>• Prototype measures to date, controlled conditions: match time [X s] · false-reject [X%] · throughput [X/lane/hr] · BLE pairing [X%]. Or say: 'scripted end-to-end demo; to be measured in the pilot'.</a:t>
            </a:r>
          </a:p>
          <a:p>
            <a:r>
              <a:t>• Fallback:</a:t>
            </a:r>
          </a:p>
          <a:p>
            <a:r>
              <a:t>   - a staffed lane beside every FastPass lane;</a:t>
            </a:r>
          </a:p>
          <a:p>
            <a:r>
              <a:t>   - documents accepted at any point;</a:t>
            </a:r>
          </a:p>
          <a:p>
            <a:r>
              <a:t>   - no traveller is forced into biometrics.</a:t>
            </a:r>
          </a:p>
          <a:p>
            <a:r>
              <a:t>• Failure modes covered: dead or forgotten phone, BLE congestion, wrong phone paired, face no-match, tailgating, outage.</a:t>
            </a:r>
          </a:p>
          <a:p>
            <a:r>
              <a:t>• Flow for families with children who have no phone, wheelchair users and assisted travellers: [design].</a:t>
            </a:r>
          </a:p>
          <a:p>
            <a:r>
              <a:t>• Officer intervention: exception alert in AGIL® Secure Platform → officer review → manual clearance or referral; every decision logged.</a:t>
            </a:r>
          </a:p>
          <a:p>
            <a:r>
              <a:t>• Milestone exits:</a:t>
            </a:r>
          </a:p>
          <a:p>
            <a:r>
              <a:t>   - M2 exit = lane live, plus independent ISO/IEC 19795 and 30107-3 tests, plus BLE relay and mis-pairing tests passed. INTERNAL: this releases T3.</a:t>
            </a:r>
          </a:p>
          <a:p>
            <a:r>
              <a:t>   - M3 exit = KPIs met. INTERNAL: this releases T4.</a:t>
            </a:r>
          </a:p>
          <a:p>
            <a:r>
              <a:t>• Commercial trigger: KPIs met → the airport decides on [N] lanes for US$[X] within [N] months [if written into the pilot agreement]. KPIs missed → stop or redesign, with no further tranche. This is the single rule used on slides 4, 6 and 12 and in A10.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 backup for Q&amp;A, not presented}</a:t>
            </a:r>
          </a:p>
          <a:p>
            <a:r>
              <a:t>Pilot scorecard: targets set now, measured live. Baseline, target and go / no-go agreed with the airport and agency before go-live.</a:t>
            </a:r>
          </a:p>
          <a:p/>
          <a:p>
            <a:r>
              <a:t>{Team working notes: see the first slide of this section.}</a:t>
            </a:r>
          </a:p>
          <a:p/>
          <a:p>
            <a:r>
              <a:t>—— SOURCES (not spoken) ——</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 backup for Q&amp;A, not presented}</a:t>
            </a:r>
          </a:p>
          <a:p>
            <a:r>
              <a:t>Trust, privacy and security: what the CTO confirms. Design intent, test plan and data protection. Bracketed items need CTO sign-off.</a:t>
            </a:r>
          </a:p>
          <a:p/>
          <a:p>
            <a:r>
              <a:t>TEAM WORKING NOTES (INTERNAL, from the build spec)</a:t>
            </a:r>
          </a:p>
          <a:p>
            <a:r>
              <a:t>Purpose: Answers the CTO's and regulated-industry investors' first questions on assurance and data.</a:t>
            </a:r>
          </a:p>
          <a:p>
            <a:r>
              <a:t>• Architecture and data flow: where the face match runs (phone, gate or server) and what crosses the BLE link [CTO to confirm].</a:t>
            </a:r>
          </a:p>
          <a:p>
            <a:r>
              <a:t>• Second-factor binding [CTO to confirm before any external use]:</a:t>
            </a:r>
          </a:p>
          <a:p>
            <a:r>
              <a:t>   - the lane cryptographically challenges the credential held on the paired phone, rather than merely detecting a beacon;</a:t>
            </a:r>
          </a:p>
          <a:p>
            <a:r>
              <a:t>   - the live face must match that credential;</a:t>
            </a:r>
          </a:p>
          <a:p>
            <a:r>
              <a:t>   - a wrong pairing must produce a no-match exception routed to an officer, never a false accept.</a:t>
            </a:r>
          </a:p>
          <a:p>
            <a:r>
              <a:t>• Enrolment assurance:</a:t>
            </a:r>
          </a:p>
          <a:p>
            <a:r>
              <a:t>   - passport chip read with ICAO 9303 passive authentication, or data-page OCR [confirm]; if OCR-only, fix it before any agency pitch;</a:t>
            </a:r>
          </a:p>
          <a:p>
            <a:r>
              <a:t>   - liveness selfie;</a:t>
            </a:r>
          </a:p>
          <a:p>
            <a:r>
              <a:t>   - credential encrypted on the device [secure enclave / keystore, confirm].</a:t>
            </a:r>
          </a:p>
          <a:p>
            <a:r>
              <a:t>• Testing:</a:t>
            </a:r>
          </a:p>
          <a:p>
            <a:r>
              <a:t>   - liveness / presentation-attack testing to ISO/IEC 30107-3 [plan];</a:t>
            </a:r>
          </a:p>
          <a:p>
            <a:r>
              <a:t>   - biometric performance to ISO/IEC 19795 [plan];</a:t>
            </a:r>
          </a:p>
          <a:p>
            <a:r>
              <a:t>   - demographic accuracy testing [plan];</a:t>
            </a:r>
          </a:p>
          <a:p>
            <a:r>
              <a:t>   - algorithm provenance and NIST FRTE standing [own or licensed, confirm].</a:t>
            </a:r>
          </a:p>
          <a:p>
            <a:r>
              <a:t>• BLE threat model: wrong phone paired in a crowded lane, relay attacks, spoofed beacons, tailgating [mitigations to document].</a:t>
            </a:r>
          </a:p>
          <a:p>
            <a:r>
              <a:t>• Public displays carry no personal data (sequence number + CLEARED only). Demo and marketing screens use synthetic data only.</a:t>
            </a:r>
          </a:p>
          <a:p>
            <a:r>
              <a:t>• Privacy: consent and opt-in at enrolment; retention; data controller per deployment. Laws: Singapore PDPA, UAE PDPL, Saudi PDPL, Malaysia/Thailand PDPA, Indonesia PDP Law, and GDPR for EU travellers [verify applicability].</a:t>
            </a:r>
          </a:p>
          <a:p>
            <a:r>
              <a:t>• Traveller trust: 42% of travellers hesitant about biometrics would reconsider if data protection were guaranteed (IATA GPS 2025, WHY9).</a:t>
            </a:r>
          </a:p>
          <a:p>
            <a:r>
              <a:t>• Old slide-14 feature cards: Trusted by design · Easy to adopt (SDK) · Connected ecosystem · AI-assisted decisions.</a:t>
            </a:r>
          </a:p>
          <a:p/>
          <a:p>
            <a:r>
              <a:t>—— SOURCES (not spoken) ——</a:t>
            </a:r>
          </a:p>
          <a:p>
            <a:r>
              <a:t>WHY9 · IATA 2025 Global Passenger Survey (same release as FAC13)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 backup for Q&amp;A, not presented}</a:t>
            </a:r>
          </a:p>
          <a:p>
            <a:r>
              <a:t>How an agency could accept a phone-held credential. Standards status, precedents and the certification plan per country.</a:t>
            </a:r>
          </a:p>
          <a:p/>
          <a:p>
            <a:r>
              <a:t>Do not put ETIAS on a 2026 timeline.</a:t>
            </a:r>
          </a:p>
          <a:p/>
          <a:p>
            <a:r>
              <a:t>TEAM WORKING NOTES (INTERNAL, from the build spec)</a:t>
            </a:r>
          </a:p>
          <a:p>
            <a:r>
              <a:t>Purpose: How a border agency could come to accept a phone-held credential, and what must be certified in each target country. Holds the EU/US items moved off slide 3.</a:t>
            </a:r>
          </a:p>
          <a:p>
            <a:r>
              <a:t>• Who legally approves on-the-move clearance in each target country: [agency, process, timeline, owner].</a:t>
            </a:r>
          </a:p>
          <a:p>
            <a:r>
              <a:t>• ICAO DTC (WHY5, WHY6):</a:t>
            </a:r>
          </a:p>
          <a:p>
            <a:r>
              <a:t>   - Type 1 (physical passport still carried): specifications endorsed in 2020; State implementation guide v1.0 in Sep 2025.</a:t>
            </a:r>
          </a:p>
          <a:p>
            <a:r>
              <a:t>   - Annex 9 SARPs proposed at FALP/14 in Apr 2026: proposed, not adopted. The report goes to the Air Transport Committee in fall 2026.</a:t>
            </a:r>
          </a:p>
          <a:p>
            <a:r>
              <a:t>   - Types 2 and 3 are not ready.</a:t>
            </a:r>
          </a:p>
          <a:p>
            <a:r>
              <a:t>• EU:</a:t>
            </a:r>
          </a:p>
          <a:p>
            <a:r>
              <a:t>   - EES rolled out progressively from 12 Oct 2025 and has been fully operational since 10 Apr 2026 (WHY1, WHY1B).</a:t>
            </a:r>
          </a:p>
          <a:p>
            <a:r>
              <a:t>   - ACI Europe reports ~70% longer processing times; the Commission disputes this (WHY2).</a:t>
            </a:r>
          </a:p>
          <a:p>
            <a:r>
              <a:t>   - The EU Digital Travel app is still in legislation, expected around 2030 (WHY3).</a:t>
            </a:r>
          </a:p>
          <a:p>
            <a:r>
              <a:t>   - EUDI wallets are due by end-2026; they are general identity wallets, not passports (WHY4).</a:t>
            </a:r>
          </a:p>
          <a:p>
            <a:r>
              <a:t>   - Do not put ETIAS on a 2026 timeline.</a:t>
            </a:r>
          </a:p>
          <a:p>
            <a:r>
              <a:t>• US:</a:t>
            </a:r>
          </a:p>
          <a:p>
            <a:r>
              <a:t>   - A DHS rule effective 26 Dec 2025 lets CBP require facial biometrics from all non-citizens on entry and exit; it enables nationwide biometric exit but does not complete it (WHY15).</a:t>
            </a:r>
          </a:p>
          <a:p>
            <a:r>
              <a:t>   - Apple Digital ID: a passport-derived ID accepted in beta at TSA checkpoints in 250+ US airports, for domestic travel only (WHY16).</a:t>
            </a:r>
          </a:p>
          <a:p>
            <a:r>
              <a:t>• Precedents:</a:t>
            </a:r>
          </a:p>
          <a:p>
            <a:r>
              <a:t>   - Finland border-guard DTC pilot: 355 checks averaging ~8 s; 90% would reuse it (WHY7).</a:t>
            </a:r>
          </a:p>
          <a:p>
            <a:r>
              <a:t>   - IATA One ID wallet + biometrics proof of concept, Hong Kong–Narita (Oct 2024, WHY8).</a:t>
            </a:r>
          </a:p>
          <a:p>
            <a:r>
              <a:t>• Certification roadmap: [certification, owner, target quarter] per country. Eligibility at launch: [which traveller groups; foreign nationals subject to agency approval].</a:t>
            </a:r>
          </a:p>
          <a:p/>
          <a:p>
            <a:r>
              <a:t>—— SOURCES (not spoken) ——</a:t>
            </a:r>
          </a:p>
          <a:p>
            <a:r>
              <a:t>WHY1 · European Commission (DG HOME), 'Commission set launch date of the Entry/Exit System to 12 October 2025' (30 Jul 2025) · https://home-affairs.ec.europa.eu/news/commission-set-launch-date-entryexit-system-12-october-2025-2025-07-30_en</a:t>
            </a:r>
          </a:p>
          <a:p>
            <a:r>
              <a:t>WHY1B · European Commission, Entry/Exit System policy page (Smart Borders) · https://home-affairs.ec.europa.eu/policies/schengen-borders-and-visa/smart-borders/entry-exit-system_en</a:t>
            </a:r>
          </a:p>
          <a:p>
            <a:r>
              <a:t>WHY2 · The Local, 'Mayhem and chaos: Europe's airports demand urgent review of new border system' (18 Dec 2025) · https://www.thelocal.com/20251218/mayhem-and-chaos-europes-airports-demand-urgent-review-of-new-border-system</a:t>
            </a:r>
          </a:p>
          <a:p>
            <a:r>
              <a:t>WHY3 · European Commission, 'Commission proposes digital passports and ID cards for easier travel' (8 Oct 2024) · https://commission.europa.eu/news-and-media/news/commission-proposes-digital-passports-and-id-cards-easier-travel-2024-10-08-0_en</a:t>
            </a:r>
          </a:p>
          <a:p>
            <a:r>
              <a:t>WHY4 · European Commission, 'European Digital Identity (EUDI) Regulation' · https://digital-strategy.ec.europa.eu/en/policies/eudi-regulation</a:t>
            </a:r>
          </a:p>
          <a:p>
            <a:r>
              <a:t>WHY5 · ICAO TRIP Guide on the Digital Travel Credential, Part 1 (v1.0, Sep 2025) · https://www.icao.int/sites/default/files/TRIP/Publications/GM-ICAOTRIPGuide_DTC_p1.pdf</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a:p>
            <a:r>
              <a:t>WHY7 · Keesing Platform, 'Finland's Digital Travel Credential pilot program results' · https://platform.keesingtechnologies.com/finlands-digital-travel-credential-pilot-program-results/</a:t>
            </a:r>
          </a:p>
          <a:p>
            <a:r>
              <a:t>WHY8 · IATA press release, 'Fully Digital Travel Experience Closer to Reality' (30 Oct 2024) · https://www.iata.org/en/pressroom/2024-releases/2024-10-30-03/</a:t>
            </a:r>
          </a:p>
          <a:p>
            <a:r>
              <a:t>WHY15 · Federal Register 2025-19655, 'Collection of Biometric Data From Aliens Upon Entry to and Departure From the United States' (27 Oct 2025) · https://www.federalregister.gov/documents/2025/10/27/2025-19655/collection-of-biometric-data-from-aliens-upon-entry-to-and-departure-from-the-united-states</a:t>
            </a:r>
          </a:p>
          <a:p>
            <a:r>
              <a:t>WHY16 · Skift, 'New Apple Feature Stores Passport Info in Digital Wallet' (12 Nov 2025) · https://skift.com/2025/11/12/apple-digital-passport-id-tsa-travel/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 backup for Q&amp;A, not presented}</a:t>
            </a:r>
          </a:p>
          <a:p>
            <a:r>
              <a:t>Risks you will raise, and the milestone that retires each. Agency, technical, privacy, adoption, payer, market and flow risks.</a:t>
            </a:r>
          </a:p>
          <a:p/>
          <a:p>
            <a:r>
              <a:t>TEAM WORKING NOTES (INTERNAL, from the build spec)</a:t>
            </a:r>
          </a:p>
          <a:p>
            <a:r>
              <a:t>Purpose: Names the risks a Sequoia, General Catalyst or Lightspeed partner will raise, before they raise them. Each risk is tied to the slide-12 milestone that retires it.</a:t>
            </a:r>
          </a:p>
          <a:p>
            <a:r>
              <a:t>• Border agency declines the phone credential, or sees no value in a second factor → co-design the pilot with the agency; align to ICAO DTC Type 1 (target); Finland DTC precedent (WHY7). If agencies don't value it, the lane would compete as a face-only corridor: stop or redesign → M1.</a:t>
            </a:r>
          </a:p>
          <a:p>
            <a:r>
              <a:t>• Accuracy, spoofing, wrong-phone pairing, relay attack → independent ISO/IEC 19795 and 30107-3 tests; BLE mis-pairing and relay tests; the face must match the paired credential → M2 exit.</a:t>
            </a:r>
          </a:p>
          <a:p>
            <a:r>
              <a:t>• Privacy and data protection → credential encrypted on the phone; opt-in; data-controller and retention model per country [legal review]; no personal data on public displays → M1.</a:t>
            </a:r>
          </a:p>
          <a:p>
            <a:r>
              <a:t>• Enrolment cold start → airline-app SDK; eligible segments; enrolment is an M3 KPI against break-even uptake per lane [X%]; about three in four travellers willing (FAC13) → M3.</a:t>
            </a:r>
          </a:p>
          <a:p>
            <a:r>
              <a:t>• Payer mismatch: the airport buys, but the agency saves officer time → payback split per payer and budget holder; procurement route per country; co-funding discussed at M1 → M1.</a:t>
            </a:r>
          </a:p>
          <a:p>
            <a:r>
              <a:t>• Middle East 2026 traffic shock:</a:t>
            </a:r>
          </a:p>
          <a:p>
            <a:r>
              <a:t>   - ME carriers −60.8% YoY in Mar 2026 and −14.2% in Aug 2026;</a:t>
            </a:r>
          </a:p>
          <a:p>
            <a:r>
              <a:t>   - IATA forecasts ME demand −11.4% for 2026 and a US$4.3B ME airline loss;</a:t>
            </a:r>
          </a:p>
          <a:p>
            <a:r>
              <a:t>   - ACI: ME airport traffic −21% in H1 2026 (DEM2–DEM4).</a:t>
            </a:r>
          </a:p>
          <a:p>
            <a:r>
              <a:t>• Mitigation: SEA or dual-region pilot; sell efficiency, not growth; long-cycle builds continue (DWC 2032, DEM9) → M1 market choice.</a:t>
            </a:r>
          </a:p>
          <a:p>
            <a:r>
              <a:t>• Flow failure like EES (ACI Europe says EES raised processing times ~70%, Dec 2025; the Commission disputes it, WHY2) → redesign the flow, not just the gate; staffed fallback lane → M2.</a:t>
            </a:r>
          </a:p>
          <a:p>
            <a:r>
              <a:t>• Replacement cycle won by incumbents first (SITA: 83% of surveyed airports with biometric borders by 2028) → retrofit onto installed third-party gates [CTO to confirm]; if not possible, price and target the replacement cycle → M1–M2.</a:t>
            </a:r>
          </a:p>
          <a:p>
            <a:r>
              <a:t>• Incumbents copy the device factor → accreditation earned in the pilot; control-room integration; [IP] → M3–M4.</a:t>
            </a:r>
          </a:p>
          <a:p>
            <a:r>
              <a:t>• Procurement cycle longer than runway → innovation-pilot route; Group channel; runway sized to [X–Y] months; M1 date checked for realism ([Q1 2027] is about 5 months away with no partner signed) → M1.</a:t>
            </a:r>
          </a:p>
          <a:p>
            <a:r>
              <a:t>• Brand: Hamad International, Qatar Airways and SITA launched 'Fast Pass' in Jul 2026 in our target region (WHY14) → trademark and naming check in ME/SEA classes; fallback names prepared → before external launch.</a:t>
            </a:r>
          </a:p>
          <a:p>
            <a:r>
              <a:t>• Freedom to operate on the BLE lane → patent / FTO review before any 'proprietary' claim → before external launch. INTERNAL &amp; PRIVILEGED file only: Axess AG US12367722B2 (BLE phone-to-gate access lane, seen in search snippets) is referred to counsel. Remove the patent number entirely from the EXTERNAL file.</a:t>
            </a:r>
          </a:p>
          <a:p>
            <a:r>
              <a:t>• Matching accuracy and demographic bias · cyber attack · airline departure-control integration delay: [mitigation for each].</a:t>
            </a:r>
          </a:p>
          <a:p/>
          <a:p>
            <a:r>
              <a:t>—— SOURCES (not spoken) ——</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WHY2 · The Local, 'Mayhem and chaos: Europe's airports demand urgent review of new border system' (18 Dec 2025) · https://www.thelocal.com/20251218/mayhem-and-chaos-europes-airports-demand-urgent-review-of-new-border-system</a:t>
            </a:r>
          </a:p>
          <a:p>
            <a:r>
              <a:t>WHY7 · Keesing Platform, 'Finland's Digital Travel Credential pilot program results' · https://platform.keesingtechnologies.com/finlands-digital-travel-credential-pilot-program-results/</a:t>
            </a:r>
          </a:p>
          <a:p>
            <a:r>
              <a:t>FAC13 · IATA press release, '2025 Global Passenger Survey: mobile and digital ID are the future of travel' (5 Nov 2025)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 backup for Q&amp;A, not presented}</a:t>
            </a:r>
          </a:p>
          <a:p>
            <a:r>
              <a:t>Risks you will raise, and the milestone that retires each. Competitive, procurement, brand, IP and delivery risks.</a:t>
            </a:r>
          </a:p>
          <a:p/>
          <a:p>
            <a:r>
              <a:t>{Team working notes: see the first slide of this section.}</a:t>
            </a:r>
          </a:p>
          <a:p/>
          <a:p>
            <a:r>
              <a:t>—— SOURCES (not spoken) ——</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 backup for Q&amp;A, not presented}</a:t>
            </a:r>
          </a:p>
          <a:p>
            <a:r>
              <a:t>Unit economics and payback per payer (placeholders). FastPass values stay bracketed until a pilot prices them and Finance validates them.</a:t>
            </a:r>
          </a:p>
          <a:p/>
          <a:p>
            <a:r>
              <a:t>TEAM WORKING NOTES (INTERNAL, from the build spec)</a:t>
            </a:r>
          </a:p>
          <a:p>
            <a:r>
              <a:t>Purpose: Finance detail behind slides 9 and 10, including what came off those slides. All FastPass values stay bracketed until a pilot prices them and Finance validates them.</a:t>
            </a:r>
          </a:p>
          <a:p>
            <a:r>
              <a:t>• Per lane: hardware US$[X] one-off · implementation [X%] · software US$[Y]/lane/yr · SLA support US$[Z]/yr · gross margin per line [X%] · recurring share by year 3 [X%] · blended gross margin [X%].</a:t>
            </a:r>
          </a:p>
          <a:p>
            <a:r>
              <a:t>• Payback per payer, each labelled with its budget holder and agreed with the pilot airport and agency before go-live.</a:t>
            </a:r>
          </a:p>
          <a:p>
            <a:r>
              <a:t>   - Airport side: added departures per lane per hour × [value per departure: aero and dwell/retail revenue] + airport-employed staff hours redeployed (check-in and gate agents; screeners where the airport employs them), against lane cost [US$X] = [N] months.</a:t>
            </a:r>
          </a:p>
          <a:p>
            <a:r>
              <a:t>   - Agency side: officer-hours redeployed [N] × loaded cost [US$/hr] = [N] months.</a:t>
            </a:r>
          </a:p>
          <a:p>
            <a:r>
              <a:t>   - State the FastPass case as incremental over the existing e-gate baseline.</a:t>
            </a:r>
          </a:p>
          <a:p>
            <a:r>
              <a:t>   - Where the agency gains, co-funding is part of the M1 conversation.</a:t>
            </a:r>
          </a:p>
          <a:p>
            <a:r>
              <a:t>• Procurement precedents (who pays differs by country):</a:t>
            </a:r>
          </a:p>
          <a:p>
            <a:r>
              <a:t>   - Aena, an airport operator, ran an ABC framework (ROI9).</a:t>
            </a:r>
          </a:p>
          <a:p>
            <a:r>
              <a:t>   - Riga's gates were funded by the Interior Ministry and an EU fund (ROI8).</a:t>
            </a:r>
          </a:p>
          <a:p>
            <a:r>
              <a:t>   - Cardiff: up to £1M funded by the Welsh Government, because Border Force installs e-gates free only above 2M inbound passengers (ROI11).</a:t>
            </a:r>
          </a:p>
          <a:p>
            <a:r>
              <a:t>   - Route for each target country: [to validate].</a:t>
            </a:r>
          </a:p>
          <a:p>
            <a:r>
              <a:t>• Public cost anchors (derived, not FastPass prices): ~€140–235k per unit from 2017–18 tenders:</a:t>
            </a:r>
          </a:p>
          <a:p>
            <a:r>
              <a:t>   - Aena's EUR 90M framework ceiling ÷ 652 maximum units ≈ €138k; its 'equipos' include kiosks as well as e-gates;</a:t>
            </a:r>
          </a:p>
          <a:p>
            <a:r>
              <a:t>   - Riga's EUR 1.87M all-in ÷ 8 gates ≈ €234k.</a:t>
            </a:r>
          </a:p>
          <a:p>
            <a:r>
              <a:t>• Margin and mix comparables (context only; these are large public companies, and FastPass has no price yet):</a:t>
            </a:r>
          </a:p>
          <a:p>
            <a:r>
              <a:t>   - Axon: software &amp; services ~74% gross margin (Q3 2025 release, ROI14B) vs 59.7% blended (FY2025 10-K, ROI14)</a:t>
            </a:r>
          </a:p>
          <a:p>
            <a:r>
              <a:t>   - Evolv: subscription 56% gross margin with hardware bundled, a caution (ROI15)</a:t>
            </a:r>
          </a:p>
          <a:p>
            <a:r>
              <a:t>   - Motorola Solutions: software &amp; services 38% of revenue (ROI16)</a:t>
            </a:r>
          </a:p>
          <a:p>
            <a:r>
              <a:t>• Buyer ROI context (comparable deployments only):</a:t>
            </a:r>
          </a:p>
          <a:p>
            <a:r>
              <a:t>   - ~60% of airport opex is staff and contracted services (ACI FY2019, via World Bank summary; contracted services are not all labour; ROI12)</a:t>
            </a:r>
          </a:p>
          <a:p>
            <a:r>
              <a:t>   - ~20% of opex is security-related (ACI Europe, ROI13)</a:t>
            </a:r>
          </a:p>
          <a:p>
            <a:r>
              <a:t>   - Changi 25 s → 10 s (ROI4); −30% boarding, SITA/IST (ROI2); ~9 min per wide-body boarding, Delta (ROI1)</a:t>
            </a:r>
          </a:p>
          <a:p>
            <a:r>
              <a:t>   - Illustrative peak: 1 officer × 4 gates × 180/hr ≈ 720 pax/hr per officer vs 60–70 at a booth. This is not a FastPass claim.</a:t>
            </a:r>
          </a:p>
          <a:p>
            <a:r>
              <a:t>• 5-year plan, as a native chart once validated, labelled 'plan, internal estimate': lanes deployed, revenue, recurring %, gross margin, burn, break-even year. Derive the ask from a bottom-up cost of M1–M4.</a:t>
            </a:r>
          </a:p>
          <a:p>
            <a:r>
              <a:t>• Demand context: IATA, Mar 2026: air travel demand more than doubles by 2050 (3.1% CAGR; APAC 3.8%/yr) (FAC2). This supersedes deck 12's '2× by 2040' (IATA, Dec 2023, FAC1).</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ROI11 · Welsh Government, 'Welsh Government invests £1m to improve border efficiency at Cardiff Airport' (Mar 2019) · https://www.gov.wales/welsh-government-invests-ps1m-improve-border-efficiency-cardiff-airport</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 backup for Q&amp;A, not presented}</a:t>
            </a:r>
          </a:p>
          <a:p>
            <a:r>
              <a:t>Cost anchors, margin comparables and the 5-year plan. Public anchors and large-company comparables: context only, not FastPass prices.</a:t>
            </a:r>
          </a:p>
          <a:p/>
          <a:p>
            <a:r>
              <a:t>{Team working notes: see the first slide of this section.}</a:t>
            </a:r>
          </a:p>
          <a:p/>
          <a:p>
            <a:r>
              <a:t>—— SOURCES (not spoken) ——</a:t>
            </a:r>
          </a:p>
          <a:p>
            <a:r>
              <a:t>FAC1 · IATA, 'Global Outlook for Air Transport: A local sweet spot' (Dec 2023) · https://www.iata.org/en/iata-repository/publications/economic-reports/global-outlook-for-air-transport---december-2023---report/</a:t>
            </a:r>
          </a:p>
          <a:p>
            <a:r>
              <a:t>FAC2 · IATA press release, 'Air Travel Demand Will More Than Double by 2050' (17 Mar 2026) · https://www.iata.org/en/pressroom/2026-releases/2026-03-17-01/</a:t>
            </a:r>
          </a:p>
          <a:p>
            <a:r>
              <a:t>ROI1 · Delta, 'Delta Expands Optional Facial Recognition Boarding to New Airports and More Customers' (Jun 2019) · https://pro.delta.com/content/corporate/us/en/news/news-archive/2019/june-2019/delta-expands-optional-facial-recognition-boarding-to-new-airpor.html</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ROI12 · World Bank PPP Resource Center summary of ACI World Airport Economics Report (2021 edition, FY2019 data) · https://ppp.worldbank.org/node/6996</a:t>
            </a:r>
          </a:p>
          <a:p>
            <a:r>
              <a:t>ROI13 · ACI EUROPE, 'About ACI EUROPE' · https://www.aci-europe.org/about/</a:t>
            </a:r>
          </a:p>
          <a:p>
            <a:r>
              <a:t>ROI14 · Axon Enterprise, Form 10-K FY2025 (SEC) · https://www.sec.gov/Archives/edgar/data/1069183/000162828026011360/axon-20251231.htm</a:t>
            </a:r>
          </a:p>
          <a:p>
            <a:r>
              <a:t>ROI14B · Axon press release, 'Axon reports Q3 2025 revenue of $711 million, up 31% year over year' (4 Nov 2025), via Axon investor relations · https://investor.axon.com/</a:t>
            </a:r>
          </a:p>
          <a:p>
            <a:r>
              <a:t>ROI15 · Evolv Technologies Holdings, Form 10-K FY2025 (SEC) · https://www.sec.gov/Archives/edgar/data/1805385/000180538526000012/evlv-20251231.htm</a:t>
            </a:r>
          </a:p>
          <a:p>
            <a:r>
              <a:t>ROI16 · Motorola Solutions, Form 10-K FY2025 (SEC) · https://www.sec.gov/Archives/edgar/data/68505/000006850526000010/msi-20251231.htm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A12 · backup for Q&amp;A, not presented}</a:t>
            </a:r>
          </a:p>
          <a:p>
            <a:r>
              <a:t>Team, Group fit and what an investor would own. Answers the CEO ('why a venture?') and the VC ('what would I own?').</a:t>
            </a:r>
          </a:p>
          <a:p/>
          <a:p>
            <a:r>
              <a:t>TEAM WORKING NOTES (INTERNAL, from the build spec)</a:t>
            </a:r>
          </a:p>
          <a:p>
            <a:r>
              <a:t>Purpose: Answers the CEO's question ('why a venture, not a feature?') and the external VC's question ('what would I own?').</a:t>
            </a:r>
          </a:p>
          <a:p>
            <a:r>
              <a:t>• Full bios: [Name, role, track record, full-time status, equity] × 4 leads · advisors [Name] · hires funded by this round (commercial lead with airport / border-agency sales; certification &amp; privacy lead). Concept to Airshow prototype: [N] months.</a:t>
            </a:r>
          </a:p>
          <a:p>
            <a:r>
              <a:t>• Why a venture: [rationale]. Group pull-through across Smart Security &amp; Automation, Smart Utilities &amp; Infrastructure and Urban Solutions; revenue contribution target US$[X M] by 2030 (INTERNAL only).</a:t>
            </a:r>
          </a:p>
          <a:p>
            <a:r>
              <a:t>• What an investor would own (EXTERNAL):</a:t>
            </a:r>
          </a:p>
          <a:p>
            <a:r>
              <a:t>   - structure: [NewCo spin-out or internal venture via STEV / In.Vent];</a:t>
            </a:r>
          </a:p>
          <a:p>
            <a:r>
              <a:t>   - IP and AGIL® Secure Platform rights: [assigned or exclusively licensed to the venture];</a:t>
            </a:r>
          </a:p>
          <a:p>
            <a:r>
              <a:t>   - cap table: [placeholder];</a:t>
            </a:r>
          </a:p>
          <a:p>
            <a:r>
              <a:t>   - ST Engineering as [shareholder / supplier / channel];</a:t>
            </a:r>
          </a:p>
          <a:p>
            <a:r>
              <a:t>   - Group supply on arm's-length terms;</a:t>
            </a:r>
          </a:p>
          <a:p>
            <a:r>
              <a:t>   - no parent veto on an exit [TBC].</a:t>
            </a:r>
          </a:p>
          <a:p>
            <a:r>
              <a:t>• Channel-conflict rules: can FastPass sell through non-ST integrators, and into airports where other ST Engineering units compete? How are related-party sales handled? [TBC]</a:t>
            </a:r>
          </a:p>
          <a:p>
            <a:r>
              <a:t>• If the face-matching algorithm is licensed from a competitor, say so, and show that the venture's value is the second factor in the lane and the control-room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A13 · backup for Q&amp;A, not presented}</a:t>
            </a:r>
          </a:p>
          <a:p>
            <a:r>
              <a:t>Every internal number, labelled and owned. So no estimate reaches investors as an external fact.</a:t>
            </a:r>
          </a:p>
          <a:p/>
          <a:p>
            <a:r>
              <a:t>TEAM WORKING NOTES (INTERNAL, from the build spec)</a:t>
            </a:r>
          </a:p>
          <a:p>
            <a:r>
              <a:t>Purpose: Every internal number, with its label, owner and validation plan, so no estimate reaches investors as an external fact.</a:t>
            </a:r>
          </a:p>
          <a:p>
            <a:r>
              <a:t>• Up to 4 document checks per departure: process framing (check-in, immigration, security, boarding; domestic departures have no immigration) · owner [CPO].</a:t>
            </a:r>
          </a:p>
          <a:p>
            <a:r>
              <a:t>• Up to 4 → 0 at full rollout: design target; requires airline online check-in and departure-control integration · pilot is 1 → 0 at immigration · owner [CPO].</a:t>
            </a:r>
          </a:p>
          <a:p>
            <a:r>
              <a:t>• ≥4 staff per checkpoint workflow: internal estimate · validate in the pilot baseline · owner [COO].</a:t>
            </a:r>
          </a:p>
          <a:p>
            <a:r>
              <a:t>• 10–15% ME + SEA share of airport ABC: internal estimate (URS) · method [to document] · owner [CMO].</a:t>
            </a:r>
          </a:p>
          <a:p>
            <a:r>
              <a:t>• 10–15% FastPass-serviceable share: internal estimate (URS) · method [to document] · owner [CMO].</a:t>
            </a:r>
          </a:p>
          <a:p>
            <a:r>
              <a:t>• US$10–15M a year: candidate revenue target (~15–23% of midpoint), INTERNAL only · team to confirm the reading and target year in writing · owner [CMO / Finance].</a:t>
            </a:r>
          </a:p>
          <a:p>
            <a:r>
              <a:t>• 20–30% less kerb-to-gate time: team target, unvalidated (an earlier internal target was 8–11 min kerb to gate) · pilot measures the baseline · owner [CPO].</a:t>
            </a:r>
          </a:p>
          <a:p>
            <a:r>
              <a:t>• ~78% brownfield (URS): unsourced · shown in A3 beside ACI's 57% by value · owner [CMO].</a:t>
            </a:r>
          </a:p>
          <a:p>
            <a:r>
              <a:t>• 35+ years of secure, mission-critical delivery: company claim.</a:t>
            </a:r>
          </a:p>
          <a:p>
            <a:r>
              <a:t>• Prototype demonstrated end to end at Singapore Airshow, Feb 2026: company record (not externally verifiable); per-module live status to confirm.</a:t>
            </a:r>
          </a:p>
          <a:p>
            <a:r>
              <a:t>• Every [X] price, margin, KPI, date and count: placeholder until confirmed (tiers in A16).</a:t>
            </a:r>
          </a:p>
          <a:p/>
          <a:p>
            <a:r>
              <a:t>—— SOURCES (not spoken) ——</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A14 · backup for Q&amp;A, not presented}</a:t>
            </a:r>
          </a:p>
          <a:p>
            <a:r>
              <a:t>Ten questions most likely to decide the room. Ownership, scale, demand, payer and measured gain. Full bank of 42 in the presenter pack.</a:t>
            </a:r>
          </a:p>
          <a:p/>
          <a:p>
            <a:r>
              <a:t>TEAM WORKING NOTES (INTERNAL, from the build spec)</a:t>
            </a:r>
          </a:p>
          <a:p>
            <a:r>
              <a:t>Purpose: Rehearsal sheet for the CPO and CMO. The full bank (42 questions across nine categories) ships with this spec; these are the ten most likely to decide the room. Each answer uses only facts in this deck, or says plainly what is not known yet.</a:t>
            </a:r>
          </a:p>
          <a:p>
            <a:r>
              <a:t>• What would I own? → Not decided yet. For outside money we expect a NewCo, IP assigned or exclusively licensed, full-time leads with equity and arm's-length Group supply (A12). Until then, the first money is the Group's.</a:t>
            </a:r>
          </a:p>
          <a:p>
            <a:r>
              <a:t>• Is this venture-scale? → The US$42–94M is a deliberately narrow beachhead: ABC e-gates and kiosks in two regions. The path to US$100M+ (every touchpoint, software, other airports and borders) is a hypothesis the pilot must open.</a:t>
            </a:r>
          </a:p>
          <a:p>
            <a:r>
              <a:t>• Which agency has asked for a second factor? → None yet. That is the bet M1 tests, and if agencies don't value it we stop or redesign.</a:t>
            </a:r>
          </a:p>
          <a:p>
            <a:r>
              <a:t>• Who pays: airport or agency? → It differs by country (Aena, Riga, Cardiff precedents). We compute payback per payer and structure the pilot with the budget holder (A11).</a:t>
            </a:r>
          </a:p>
          <a:p>
            <a:r>
              <a:t>• What's your measured gain over an e-gate? → Not measured yet. The pilot measures throughput against the existing e-gate baseline, with a go/no-go agreed in advance.</a:t>
            </a:r>
          </a:p>
          <a:p>
            <a:r>
              <a:t>• Was the demo real? → It is an illustrated walkthrough of the prototype demonstrated end to end at the Airshow. Real footage: [show / none]. Measured: [figures / none yet].</a:t>
            </a:r>
          </a:p>
          <a:p>
            <a:r>
              <a:t>• How is Bluetooth a second factor? What about relay or mis-pairing? → Design intent: a cryptographic challenge to the paired phone's credential, plus a face match to that credential [CTO]. Independent tests are M2's exit criteria.</a:t>
            </a:r>
          </a:p>
          <a:p>
            <a:r>
              <a:t>• Can you use the name 'Fast Pass'? → Hamad, Qatar Airways and SITA launched it in Jul 2026. Our trademark review is [status], and fallback names are ready.</a:t>
            </a:r>
          </a:p>
          <a:p>
            <a:r>
              <a:t>• Why lead with the Middle East after −21% in H1 2026? → We sell efficiency, not growth; an SEA or dual-region pilot is the hedge; build-outs like DWC 2032 continue.</a:t>
            </a:r>
          </a:p>
          <a:p>
            <a:r>
              <a:t>• How much, and what's true at the end? → [US$X M] over [N] months buys M1–M4. In 12 months: a signed pilot and a live lane (M1–M2); the KPI readout (M3) follows by [Qx 2028]. Not revenue.</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ROI11 · Welsh Government, 'Welsh Government invests £1m to improve border efficiency at Cardiff Airport' (Mar 2019) · https://www.gov.wales/welsh-government-invests-ps1m-improve-border-efficiency-cardiff-airport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A14 · backup for Q&amp;A, not presented}</a:t>
            </a:r>
          </a:p>
          <a:p>
            <a:r>
              <a:t>Ten questions most likely to decide the room. Demo, security, brand, market and the ask. Full bank of 42 in the presenter pack.</a:t>
            </a:r>
          </a:p>
          <a:p/>
          <a:p>
            <a:r>
              <a:t>{Team working notes: see the first slide of this section.}</a:t>
            </a:r>
          </a:p>
          <a:p/>
          <a:p>
            <a:r>
              <a:t>—— SOURCES (not spoken) ——</a:t>
            </a:r>
          </a:p>
          <a:p>
            <a:r>
              <a:t>DEM2 · ACI World, 'Global airport passenger traffic reaches record 9.8 billion in 2025' (23 Sep 2026) · https://aci.aero/2026/09/23/global-airport-passenger-traffic-reaches-record-9-8-billion-in-2025-airports-council-international-world-reports/</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A15 · backup for Q&amp;A, not presented}</a:t>
            </a:r>
          </a:p>
          <a:p>
            <a:r>
              <a:t>The trusted identity layer for every checkpoint. Future options, kept out of the main pitch. Airports first.</a:t>
            </a:r>
          </a:p>
          <a:p/>
          <a:p>
            <a:r>
              <a:t>TEAM WORKING NOTES (INTERNAL, from the build spec)</a:t>
            </a:r>
          </a:p>
          <a:p>
            <a:r>
              <a:t>Purpose: Keeps future options out of the main pitch while backing the slide-12 vision line.</a:t>
            </a:r>
          </a:p>
          <a:p>
            <a:r>
              <a:t>• Vision: 'The trusted identity layer for every checkpoint': no documents shown at any checkpoint a person crosses. Airports first.</a:t>
            </a:r>
          </a:p>
          <a:p>
            <a:r>
              <a:t>• Next capabilities: accept airline-issued, ICAO DTC and EUDI wallet credentials as the device factor through the SDK [CTO to confirm feasibility] · arrivals and transit · lounge.</a:t>
            </a:r>
          </a:p>
          <a:p>
            <a:r>
              <a:t>• Technology options: LiDAR, iris, e-concierge, AI luggage scanning ('FastPass AI Scanning').</a:t>
            </a:r>
          </a:p>
          <a:p>
            <a:r>
              <a:t>• New markets: congested airports worldwide → seaports, cruise and land borders → secure campuses [to confirm].</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A16 · backup for Q&amp;A, not presented}</a:t>
            </a:r>
          </a:p>
          <a:p>
            <a:r>
              <a:t>Ship gates: what must be filled, and when. No slide reaches a room with a bracket as its focal element.</a:t>
            </a:r>
          </a:p>
          <a:p/>
          <a:p>
            <a:r>
              <a:t>TEAM WORKING NOTES (INTERNAL, from the build spec)</a:t>
            </a:r>
          </a:p>
          <a:p>
            <a:r>
              <a:t>Purpose: Splits every bracket by when it must be filled, so no slide reaches a room with a bracket as its focal element.</a:t>
            </a:r>
          </a:p>
          <a:p>
            <a:r>
              <a:t>• TIER 1, fill before ANY showing (INTERNAL included):</a:t>
            </a:r>
          </a:p>
          <a:p>
            <a:r>
              <a:t>   - ask amount and runway;</a:t>
            </a:r>
          </a:p>
          <a:p>
            <a:r>
              <a:t>   - milestone dates M1–M4, with the M1 date checked for realism;</a:t>
            </a:r>
          </a:p>
          <a:p>
            <a:r>
              <a:t>   - presenter names;</a:t>
            </a:r>
          </a:p>
          <a:p>
            <a:r>
              <a:t>   - slide-6 counts (conversations; airports and agencies in talks) and two permissioned learnings, or delete that sentence;</a:t>
            </a:r>
          </a:p>
          <a:p>
            <a:r>
              <a:t>   - scorecard targets and go/no-go thresholds (A7; the team sets these now);</a:t>
            </a:r>
          </a:p>
          <a:p>
            <a:r>
              <a:t>   - per-module confirmation that each module, the BLE pairing and the boarding step ran live;</a:t>
            </a:r>
          </a:p>
          <a:p>
            <a:r>
              <a:t>   - PII rebuild of the demo screens;</a:t>
            </a:r>
          </a:p>
          <a:p>
            <a:r>
              <a:t>   - corporate-comms clearance of the Minister's quote.</a:t>
            </a:r>
          </a:p>
          <a:p>
            <a:r>
              <a:t>• TIER 2, fill before the EXTERNAL file is sent:</a:t>
            </a:r>
          </a:p>
          <a:p>
            <a:r>
              <a:t>   - structure, IP and platform owner, ST Engineering's role (slide 11 panel, slide 12 footer);</a:t>
            </a:r>
          </a:p>
          <a:p>
            <a:r>
              <a:t>   - named, photographed, full-time leads;</a:t>
            </a:r>
          </a:p>
          <a:p>
            <a:r>
              <a:t>   - pilot market decided (SEA or dual-region recommended, given the 2026 ME traffic);</a:t>
            </a:r>
          </a:p>
          <a:p>
            <a:r>
              <a:t>   - paid or co-funded pilot;</a:t>
            </a:r>
          </a:p>
          <a:p>
            <a:r>
              <a:t>   - written confirmation of the revenue target and its year, plus the bottom-up (A3);</a:t>
            </a:r>
          </a:p>
          <a:p>
            <a:r>
              <a:t>   - trademark check on 'FastPass';</a:t>
            </a:r>
          </a:p>
          <a:p>
            <a:r>
              <a:t>   - the G-SRC click-check (A1);</a:t>
            </a:r>
          </a:p>
          <a:p>
            <a:r>
              <a:t>   - CTO confirmation of second-factor binding and enrolment assurance (A8);</a:t>
            </a:r>
          </a:p>
          <a:p>
            <a:r>
              <a:t>   - the two-factor wording tested with [N] border-agency contacts;</a:t>
            </a:r>
          </a:p>
          <a:p>
            <a:r>
              <a:t>   - a text diff of EXTERNAL against INTERNAL.</a:t>
            </a:r>
          </a:p>
          <a:p>
            <a:r>
              <a:t>• TIER 3, may stay bracketed (appendix only): per-lane prices, unit economics, 5-year plan, use-of-funds percentages, certification roadmap, channel-conflict rules, the expansion steps beyond airports.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69637" y="373412"/>
            <a:ext cx="3077240" cy="924165"/>
          </a:xfrm>
          <a:prstGeom prst="rect">
            <a:avLst/>
          </a:prstGeom>
        </p:spPr>
      </p:pic>
      <p:sp>
        <p:nvSpPr>
          <p:cNvPr id="4" name="Title 1"/>
          <p:cNvSpPr>
            <a:spLocks noGrp="1"/>
          </p:cNvSpPr>
          <p:nvPr>
            <p:ph type="ctrTitle" hasCustomPrompt="1"/>
          </p:nvPr>
        </p:nvSpPr>
        <p:spPr>
          <a:xfrm>
            <a:off x="619759" y="2666273"/>
            <a:ext cx="9482183" cy="1354217"/>
          </a:xfrm>
        </p:spPr>
        <p:txBody>
          <a:bodyPr wrap="square" anchor="t" anchorCtr="0">
            <a:spAutoFit/>
          </a:bodyPr>
          <a:lstStyle>
            <a:lvl1pPr algn="l">
              <a:lnSpc>
                <a:spcPct val="100000"/>
              </a:lnSpc>
              <a:defRPr sz="4000" baseline="0">
                <a:solidFill>
                  <a:schemeClr val="bg1"/>
                </a:solidFill>
              </a:defRPr>
            </a:lvl1pPr>
          </a:lstStyle>
          <a:p>
            <a:r>
              <a:rPr lang="en-US"/>
              <a:t>This is over slide option 1, </a:t>
            </a:r>
            <a:br>
              <a:rPr lang="en-US"/>
            </a:br>
            <a:r>
              <a:rPr lang="en-US"/>
              <a:t>title font is Arial Black in 30pt </a:t>
            </a:r>
          </a:p>
        </p:txBody>
      </p:sp>
      <p:sp>
        <p:nvSpPr>
          <p:cNvPr id="5" name="Subtitle 2"/>
          <p:cNvSpPr>
            <a:spLocks noGrp="1"/>
          </p:cNvSpPr>
          <p:nvPr>
            <p:ph type="subTitle" idx="1" hasCustomPrompt="1"/>
          </p:nvPr>
        </p:nvSpPr>
        <p:spPr>
          <a:xfrm>
            <a:off x="619760" y="4067747"/>
            <a:ext cx="9699897" cy="461665"/>
          </a:xfrm>
        </p:spPr>
        <p:txBody>
          <a:bodyPr wrap="square">
            <a:spAutoFit/>
          </a:bodyPr>
          <a:lstStyle>
            <a:lvl1pPr marL="0" indent="0" algn="l">
              <a:lnSpc>
                <a:spcPct val="100000"/>
              </a:lnSpc>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 date or presenter’s name, use font Arial in 18pt</a:t>
            </a:r>
          </a:p>
        </p:txBody>
      </p:sp>
      <p:sp>
        <p:nvSpPr>
          <p:cNvPr id="14" name="Text Placeholder 13"/>
          <p:cNvSpPr>
            <a:spLocks noGrp="1"/>
          </p:cNvSpPr>
          <p:nvPr>
            <p:ph type="body" sz="quarter" idx="10" hasCustomPrompt="1"/>
          </p:nvPr>
        </p:nvSpPr>
        <p:spPr>
          <a:xfrm>
            <a:off x="619760" y="6248400"/>
            <a:ext cx="7339875" cy="276935"/>
          </a:xfrm>
        </p:spPr>
        <p:txBody>
          <a:bodyPr wrap="square">
            <a:spAutoFit/>
          </a:bodyPr>
          <a:lstStyle>
            <a:lvl1pPr marL="0" indent="0">
              <a:buNone/>
              <a:defRPr sz="1333">
                <a:solidFill>
                  <a:schemeClr val="bg1"/>
                </a:solidFill>
              </a:defRPr>
            </a:lvl1pPr>
          </a:lstStyle>
          <a:p>
            <a:pPr lvl="0"/>
            <a:r>
              <a:rPr lang="en-US"/>
              <a:t>Remember to classify your document – use font Arial in 10pt </a:t>
            </a:r>
          </a:p>
        </p:txBody>
      </p:sp>
    </p:spTree>
    <p:extLst>
      <p:ext uri="{BB962C8B-B14F-4D97-AF65-F5344CB8AC3E}">
        <p14:creationId xmlns:p14="http://schemas.microsoft.com/office/powerpoint/2010/main" val="3227731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T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
          <p:cNvPicPr>
            <a:picLocks noChangeAspect="1"/>
          </p:cNvPicPr>
          <p:nvPr/>
        </p:nvPicPr>
        <p:blipFill>
          <a:blip r:embed="rId3"/>
          <a:stretch>
            <a:fillRect/>
          </a:stretch>
        </p:blipFill>
        <p:spPr>
          <a:xfrm>
            <a:off x="0" y="0"/>
            <a:ext cx="137160" cy="1673352"/>
          </a:xfrm>
          <a:prstGeom prst="rect">
            <a:avLst/>
          </a:prstGeom>
        </p:spPr>
      </p:pic>
      <p:pic>
        <p:nvPicPr>
          <p:cNvPr id="3" name="Image 1" descr=""/>
          <p:cNvPicPr>
            <a:picLocks noChangeAspect="1"/>
          </p:cNvPicPr>
          <p:nvPr/>
        </p:nvPicPr>
        <p:blipFill>
          <a:blip r:embed="rId4"/>
          <a:stretch>
            <a:fillRect/>
          </a:stretch>
        </p:blipFill>
        <p:spPr>
          <a:xfrm>
            <a:off x="9710928" y="384048"/>
            <a:ext cx="1920240" cy="576072"/>
          </a:xfrm>
          <a:prstGeom prst="rect">
            <a:avLst/>
          </a:prstGeom>
        </p:spPr>
      </p:pic>
      <p:sp>
        <p:nvSpPr>
          <p:cNvPr id="4" name="Text 0"/>
          <p:cNvSpPr>
            <a:spLocks noGrp="1"/>
          </p:cNvSpPr>
          <p:nvPr>
            <p:ph type="body" idx="102" hasCustomPrompt="1"/>
          </p:nvPr>
        </p:nvSpPr>
        <p:spPr>
          <a:xfrm>
            <a:off x="429768" y="566928"/>
            <a:ext cx="8686800" cy="292608"/>
          </a:xfrm>
          <a:prstGeom prst="rect">
            <a:avLst/>
          </a:prstGeom>
          <a:noFill/>
          <a:ln/>
        </p:spPr>
        <p:txBody>
          <a:bodyPr wrap="square" rtlCol="0"/>
          <a:lstStyle>
            <a:lvl1pPr marL="0" indent="0" algn="l">
              <a:buNone/>
              <a:defRPr lang="en-US" sz="1400" dirty="0">
                <a:solidFill>
                  <a:schemeClr val="accent4"/>
                </a:solidFill>
              </a:defRPr>
            </a:lvl1pPr>
          </a:lstStyle>
          <a:p>
            <a:pPr marL="0" indent="0" algn="l">
              <a:buNone/>
            </a:pPr>
            <a:endParaRPr lang="en-US" sz="1400"/>
          </a:p>
        </p:txBody>
      </p:sp>
      <p:sp>
        <p:nvSpPr>
          <p:cNvPr id="5" name="Text 0"/>
          <p:cNvSpPr>
            <a:spLocks noGrp="1"/>
          </p:cNvSpPr>
          <p:nvPr>
            <p:ph type="title" idx="103" hasCustomPrompt="1"/>
          </p:nvPr>
        </p:nvSpPr>
        <p:spPr>
          <a:xfrm>
            <a:off x="411480" y="868680"/>
            <a:ext cx="9235440" cy="530352"/>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a:p>
        </p:txBody>
      </p:sp>
      <p:sp>
        <p:nvSpPr>
          <p:cNvPr id="6" name="Text 0"/>
          <p:cNvSpPr>
            <a:spLocks noGrp="1"/>
          </p:cNvSpPr>
          <p:nvPr>
            <p:ph type="body" idx="104" hasCustomPrompt="1"/>
          </p:nvPr>
        </p:nvSpPr>
        <p:spPr>
          <a:xfrm>
            <a:off x="429768" y="1417320"/>
            <a:ext cx="10607040" cy="347472"/>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endParaRPr lang="en-US" sz="150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61193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533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7.png"/><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31.png"/><Relationship Id="rId6" Type="http://schemas.openxmlformats.org/officeDocument/2006/relationships/image" Target="../media/image77.png"/><Relationship Id="rId7" Type="http://schemas.openxmlformats.org/officeDocument/2006/relationships/image" Target="../media/image7.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8.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9.png"/><Relationship Id="rId6" Type="http://schemas.openxmlformats.org/officeDocument/2006/relationships/image" Target="../media/image7.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7.png"/><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3.png"/><Relationship Id="rId4" Type="http://schemas.openxmlformats.org/officeDocument/2006/relationships/image" Target="../media/image7.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64.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7.png"/><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7.png"/><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5.png"/><Relationship Id="rId3" Type="http://schemas.openxmlformats.org/officeDocument/2006/relationships/notesSlide" Target="../notesSlides/notesSlide37.xml"/><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8.xml"/><Relationship Id="rId5" Type="http://schemas.openxmlformats.org/officeDocument/2006/relationships/slide" Target="slide39.xml"/><Relationship Id="rId6" Type="http://schemas.openxmlformats.org/officeDocument/2006/relationships/slide" Target="slide40.xml"/><Relationship Id="rId7" Type="http://schemas.openxmlformats.org/officeDocument/2006/relationships/slide" Target="slide42.xml"/><Relationship Id="rId8" Type="http://schemas.openxmlformats.org/officeDocument/2006/relationships/slide" Target="slide44.xml"/><Relationship Id="rId9" Type="http://schemas.openxmlformats.org/officeDocument/2006/relationships/slide" Target="slide46.xml"/><Relationship Id="rId10" Type="http://schemas.openxmlformats.org/officeDocument/2006/relationships/slide" Target="slide47.xml"/><Relationship Id="rId11" Type="http://schemas.openxmlformats.org/officeDocument/2006/relationships/slide" Target="slide48.xml"/><Relationship Id="rId12" Type="http://schemas.openxmlformats.org/officeDocument/2006/relationships/slide" Target="slide50.xml"/><Relationship Id="rId13" Type="http://schemas.openxmlformats.org/officeDocument/2006/relationships/slide" Target="slide51.xml"/><Relationship Id="rId14" Type="http://schemas.openxmlformats.org/officeDocument/2006/relationships/slide" Target="slide52.xml"/><Relationship Id="rId15" Type="http://schemas.openxmlformats.org/officeDocument/2006/relationships/slide" Target="slide54.xml"/><Relationship Id="rId16" Type="http://schemas.openxmlformats.org/officeDocument/2006/relationships/slide" Target="slide56.xml"/><Relationship Id="rId17" Type="http://schemas.openxmlformats.org/officeDocument/2006/relationships/slide" Target="slide57.xml"/><Relationship Id="rId18" Type="http://schemas.openxmlformats.org/officeDocument/2006/relationships/slide" Target="slide58.xml"/><Relationship Id="rId19" Type="http://schemas.openxmlformats.org/officeDocument/2006/relationships/slide" Target="slide60.xml"/><Relationship Id="rId20" Type="http://schemas.openxmlformats.org/officeDocument/2006/relationships/slide" Target="slide61.xml"/><Relationship Id="rId21" Type="http://schemas.openxmlformats.org/officeDocument/2006/relationships/slide" Target="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9.xml"/><Relationship Id="rId5" Type="http://schemas.openxmlformats.org/officeDocument/2006/relationships/slide" Target="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1.png"/><Relationship Id="rId8" Type="http://schemas.openxmlformats.org/officeDocument/2006/relationships/image" Target="../media/image7.png"/><Relationship Id="rId9" Type="http://schemas.openxmlformats.org/officeDocument/2006/relationships/notesSlide" Target="../notesSlides/notesSlide40.xml"/><Relationship Id="rId10" Type="http://schemas.openxmlformats.org/officeDocument/2006/relationships/slide" Target="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96.png"/><Relationship Id="rId4" Type="http://schemas.openxmlformats.org/officeDocument/2006/relationships/image" Target="../media/image7.png"/><Relationship Id="rId5" Type="http://schemas.openxmlformats.org/officeDocument/2006/relationships/notesSlide" Target="../notesSlides/notesSlide41.xml"/><Relationship Id="rId6" Type="http://schemas.openxmlformats.org/officeDocument/2006/relationships/slide" Target="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2.xml"/><Relationship Id="rId5" Type="http://schemas.openxmlformats.org/officeDocument/2006/relationships/slide" Target="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3.xml"/><Relationship Id="rId5" Type="http://schemas.openxmlformats.org/officeDocument/2006/relationships/slide" Target="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4.xml"/><Relationship Id="rId5" Type="http://schemas.openxmlformats.org/officeDocument/2006/relationships/slide" Target="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5.xml"/><Relationship Id="rId5" Type="http://schemas.openxmlformats.org/officeDocument/2006/relationships/slide" Target="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6.xml"/><Relationship Id="rId5" Type="http://schemas.openxmlformats.org/officeDocument/2006/relationships/slide" Target="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81.png"/><Relationship Id="rId10" Type="http://schemas.openxmlformats.org/officeDocument/2006/relationships/image" Target="../media/image7.png"/><Relationship Id="rId11" Type="http://schemas.openxmlformats.org/officeDocument/2006/relationships/notesSlide" Target="../notesSlides/notesSlide47.xml"/><Relationship Id="rId12" Type="http://schemas.openxmlformats.org/officeDocument/2006/relationships/slide" Target="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8.xml"/><Relationship Id="rId5" Type="http://schemas.openxmlformats.org/officeDocument/2006/relationships/slide" Target="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9.xml"/><Relationship Id="rId5" Type="http://schemas.openxmlformats.org/officeDocument/2006/relationships/slide" Target="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0.xml"/><Relationship Id="rId5" Type="http://schemas.openxmlformats.org/officeDocument/2006/relationships/slide" Target="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1.xml"/><Relationship Id="rId5" Type="http://schemas.openxmlformats.org/officeDocument/2006/relationships/slide" Target="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2.xml"/><Relationship Id="rId5" Type="http://schemas.openxmlformats.org/officeDocument/2006/relationships/slide" Target="slide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3.xml"/><Relationship Id="rId5" Type="http://schemas.openxmlformats.org/officeDocument/2006/relationships/slide" Target="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4.xml"/><Relationship Id="rId5" Type="http://schemas.openxmlformats.org/officeDocument/2006/relationships/slide" Target="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5.xml"/><Relationship Id="rId5" Type="http://schemas.openxmlformats.org/officeDocument/2006/relationships/slide" Target="slide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6.xml"/><Relationship Id="rId5" Type="http://schemas.openxmlformats.org/officeDocument/2006/relationships/slide" Target="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7.xml"/><Relationship Id="rId5" Type="http://schemas.openxmlformats.org/officeDocument/2006/relationships/slide" Target="slide3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8.xml"/><Relationship Id="rId5" Type="http://schemas.openxmlformats.org/officeDocument/2006/relationships/slide" Target="slide3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9.xml"/><Relationship Id="rId5" Type="http://schemas.openxmlformats.org/officeDocument/2006/relationships/slide" Target="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60.xml"/><Relationship Id="rId5" Type="http://schemas.openxmlformats.org/officeDocument/2006/relationships/slide" Target="slide3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61.xml"/><Relationship Id="rId5" Type="http://schemas.openxmlformats.org/officeDocument/2006/relationships/slide" Target="slide38.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548640" y="1024128"/>
            <a:ext cx="5534497" cy="329184"/>
          </a:xfrm>
          <a:prstGeom prst="roundRect">
            <a:avLst>
              <a:gd name="adj" fmla="val 50000"/>
            </a:avLst>
          </a:prstGeom>
          <a:ln w="12700">
            <a:solidFill>
              <a:srgbClr val="FFFFFF"/>
            </a:solidFill>
            <a:prstDash val="solid"/>
          </a:ln>
        </p:spPr>
      </p:sp>
      <p:sp>
        <p:nvSpPr>
          <p:cNvPr id="4" name="Text 1"/>
          <p:cNvSpPr txBox="1"/>
          <p:nvPr/>
        </p:nvSpPr>
        <p:spPr>
          <a:xfrm>
            <a:off x="548640" y="1024128"/>
            <a:ext cx="5534497" cy="329184"/>
          </a:xfrm>
          <a:prstGeom prst="rect">
            <a:avLst/>
          </a:prstGeom>
          <a:noFill/>
          <a:ln/>
        </p:spPr>
        <p:txBody>
          <a:bodyPr wrap="square" lIns="0" tIns="0" rIns="0" bIns="0" rtlCol="0" anchor="ctr"/>
          <a:lstStyle/>
          <a:p>
            <a:pPr algn="ctr" indent="0" marL="0">
              <a:buNone/>
            </a:pPr>
            <a:r>
              <a:rPr lang="en-US" sz="1400" dirty="0">
                <a:solidFill>
                  <a:srgbClr val="FFFFFF"/>
                </a:solidFill>
              </a:rPr>
              <a:t>ST Engineering InnoChamp 2026 (internal innovation programme)</a:t>
            </a:r>
            <a:endParaRPr lang="en-US" sz="1400" dirty="0"/>
          </a:p>
        </p:txBody>
      </p:sp>
      <p:sp>
        <p:nvSpPr>
          <p:cNvPr id="5" name="!!eyebrow"/>
          <p:cNvSpPr txBox="1"/>
          <p:nvPr/>
        </p:nvSpPr>
        <p:spPr>
          <a:xfrm>
            <a:off x="548640" y="1463040"/>
            <a:ext cx="7315200" cy="292608"/>
          </a:xfrm>
          <a:prstGeom prst="rect">
            <a:avLst/>
          </a:prstGeom>
          <a:noFill/>
          <a:ln/>
        </p:spPr>
        <p:txBody>
          <a:bodyPr wrap="square" lIns="0" tIns="0" rIns="0" bIns="0" rtlCol="0" anchor="ctr"/>
          <a:lstStyle/>
          <a:p>
            <a:pPr indent="0" marL="0">
              <a:buNone/>
            </a:pPr>
            <a:r>
              <a:rPr lang="en-US" sz="1400" b="1" spc="200" kern="0" dirty="0">
                <a:solidFill>
                  <a:srgbClr val="FFFFFF"/>
                </a:solidFill>
                <a:latin typeface="+mj-lt"/>
              </a:rPr>
              <a:t>INVESTOR PITCH · [DATE]</a:t>
            </a:r>
            <a:endParaRPr lang="en-US" sz="1400" dirty="0"/>
          </a:p>
        </p:txBody>
      </p:sp>
      <p:sp>
        <p:nvSpPr>
          <p:cNvPr id="6" name="!!title"/>
          <p:cNvSpPr txBox="1"/>
          <p:nvPr/>
        </p:nvSpPr>
        <p:spPr>
          <a:xfrm>
            <a:off x="548640" y="1828800"/>
            <a:ext cx="10515600" cy="868680"/>
          </a:xfrm>
          <a:prstGeom prst="rect">
            <a:avLst/>
          </a:prstGeom>
          <a:noFill/>
          <a:ln/>
        </p:spPr>
        <p:txBody>
          <a:bodyPr wrap="square" lIns="0" tIns="0" rIns="0" bIns="0" rtlCol="0" anchor="ctr"/>
          <a:lstStyle/>
          <a:p>
            <a:pPr indent="0" marL="0">
              <a:buNone/>
            </a:pPr>
            <a:r>
              <a:rPr lang="en-US" sz="5400" b="1" dirty="0">
                <a:solidFill>
                  <a:srgbClr val="FFFFFF"/>
                </a:solidFill>
                <a:latin typeface="+mj-lt"/>
              </a:rPr>
              <a:t>AGIL® Secure FastPass</a:t>
            </a:r>
            <a:endParaRPr lang="en-US" sz="5400" dirty="0"/>
          </a:p>
        </p:txBody>
      </p:sp>
      <p:sp>
        <p:nvSpPr>
          <p:cNvPr id="7" name="Text 4"/>
          <p:cNvSpPr txBox="1"/>
          <p:nvPr/>
        </p:nvSpPr>
        <p:spPr>
          <a:xfrm>
            <a:off x="548640" y="2743200"/>
            <a:ext cx="10515600" cy="548640"/>
          </a:xfrm>
          <a:prstGeom prst="rect">
            <a:avLst/>
          </a:prstGeom>
          <a:noFill/>
          <a:ln/>
        </p:spPr>
        <p:txBody>
          <a:bodyPr wrap="square" lIns="0" tIns="0" rIns="0" bIns="0" rtlCol="0" anchor="ctr"/>
          <a:lstStyle/>
          <a:p>
            <a:pPr indent="0" marL="0">
              <a:buNone/>
            </a:pPr>
            <a:r>
              <a:rPr lang="en-US" sz="3000" b="1" dirty="0">
                <a:solidFill>
                  <a:srgbClr val="FFFFFF"/>
                </a:solidFill>
              </a:rPr>
              <a:t>Departure capacity without building a terminal.</a:t>
            </a:r>
            <a:endParaRPr lang="en-US" sz="3000" dirty="0"/>
          </a:p>
        </p:txBody>
      </p:sp>
      <p:sp>
        <p:nvSpPr>
          <p:cNvPr id="8" name="Text 5"/>
          <p:cNvSpPr txBox="1"/>
          <p:nvPr/>
        </p:nvSpPr>
        <p:spPr>
          <a:xfrm>
            <a:off x="548640" y="5074920"/>
            <a:ext cx="10058400" cy="310896"/>
          </a:xfrm>
          <a:prstGeom prst="rect">
            <a:avLst/>
          </a:prstGeom>
          <a:noFill/>
          <a:ln/>
        </p:spPr>
        <p:txBody>
          <a:bodyPr wrap="square" lIns="0" tIns="0" rIns="0" bIns="0" rtlCol="0" anchor="ctr"/>
          <a:lstStyle/>
          <a:p>
            <a:pPr indent="0" marL="0">
              <a:buNone/>
            </a:pPr>
            <a:r>
              <a:rPr lang="en-US" sz="1600" dirty="0">
                <a:solidFill>
                  <a:srgbClr val="FFFFFF"/>
                </a:solidFill>
              </a:rPr>
              <a:t>[Name], Chief Product Officer  ·  [Name], Chief Marketing Officer</a:t>
            </a:r>
            <a:endParaRPr lang="en-US" sz="1600" dirty="0"/>
          </a:p>
        </p:txBody>
      </p:sp>
      <p:sp>
        <p:nvSpPr>
          <p:cNvPr id="9" name="Shape 6"/>
          <p:cNvSpPr/>
          <p:nvPr/>
        </p:nvSpPr>
        <p:spPr>
          <a:xfrm>
            <a:off x="548640" y="5532120"/>
            <a:ext cx="8000206" cy="420624"/>
          </a:xfrm>
          <a:prstGeom prst="roundRect">
            <a:avLst>
              <a:gd name="adj" fmla="val 50000"/>
            </a:avLst>
          </a:prstGeom>
          <a:solidFill>
            <a:srgbClr val="FFFFFF">
              <a:alpha val="12000"/>
            </a:srgbClr>
          </a:solidFill>
          <a:ln w="15875">
            <a:solidFill>
              <a:srgbClr val="FFFFFF"/>
            </a:solidFill>
            <a:prstDash val="solid"/>
          </a:ln>
        </p:spPr>
      </p:sp>
      <p:sp>
        <p:nvSpPr>
          <p:cNvPr id="10" name="Text 7"/>
          <p:cNvSpPr txBox="1"/>
          <p:nvPr/>
        </p:nvSpPr>
        <p:spPr>
          <a:xfrm>
            <a:off x="548640" y="5532120"/>
            <a:ext cx="8000206" cy="420624"/>
          </a:xfrm>
          <a:prstGeom prst="rect">
            <a:avLst/>
          </a:prstGeom>
          <a:noFill/>
          <a:ln/>
        </p:spPr>
        <p:txBody>
          <a:bodyPr wrap="square" lIns="0" tIns="0" rIns="0" bIns="0" rtlCol="0" anchor="ctr"/>
          <a:lstStyle/>
          <a:p>
            <a:pPr algn="ctr" indent="0" marL="0">
              <a:buNone/>
            </a:pPr>
            <a:r>
              <a:rPr lang="en-US" sz="1600" b="1" dirty="0">
                <a:solidFill>
                  <a:srgbClr val="FFFFFF"/>
                </a:solidFill>
              </a:rPr>
              <a:t>Asking [US$X M] in four tranches  ·  lane live [Qx 2027]  ·  paid order [Qx 2028]</a:t>
            </a:r>
            <a:endParaRPr lang="en-US" sz="16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Problem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Up to four ID checks per departure, most staffed.</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Airports are running out of space; border agencies, out of people.</a:t>
            </a:r>
            <a:endParaRPr lang="en-US" sz="1800" dirty="0"/>
          </a:p>
        </p:txBody>
      </p:sp>
      <p:sp>
        <p:nvSpPr>
          <p:cNvPr id="8" name="Shape 3"/>
          <p:cNvSpPr/>
          <p:nvPr/>
        </p:nvSpPr>
        <p:spPr>
          <a:xfrm>
            <a:off x="4572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566928" y="1993392"/>
            <a:ext cx="292608" cy="292608"/>
          </a:xfrm>
          <a:prstGeom prst="ellipse">
            <a:avLst/>
          </a:prstGeom>
          <a:solidFill>
            <a:srgbClr val="0B2545"/>
          </a:solidFill>
          <a:ln/>
        </p:spPr>
      </p:sp>
      <p:sp>
        <p:nvSpPr>
          <p:cNvPr id="10" name="Text 5"/>
          <p:cNvSpPr txBox="1"/>
          <p:nvPr/>
        </p:nvSpPr>
        <p:spPr>
          <a:xfrm>
            <a:off x="5669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6"/>
          <p:cNvSpPr txBox="1"/>
          <p:nvPr/>
        </p:nvSpPr>
        <p:spPr>
          <a:xfrm>
            <a:off x="9509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Check-in</a:t>
            </a:r>
            <a:endParaRPr lang="en-US" sz="1500" dirty="0"/>
          </a:p>
        </p:txBody>
      </p:sp>
      <p:sp>
        <p:nvSpPr>
          <p:cNvPr id="12" name="Shape 7"/>
          <p:cNvSpPr/>
          <p:nvPr/>
        </p:nvSpPr>
        <p:spPr>
          <a:xfrm>
            <a:off x="2692908" y="1975104"/>
            <a:ext cx="329184" cy="329184"/>
          </a:xfrm>
          <a:prstGeom prst="ellipse">
            <a:avLst/>
          </a:prstGeom>
          <a:solidFill>
            <a:srgbClr val="FDE6E8"/>
          </a:solidFill>
          <a:ln/>
        </p:spPr>
      </p:sp>
      <p:pic>
        <p:nvPicPr>
          <p:cNvPr id="13" name="Image 0" descr="">    </p:cNvPr>
          <p:cNvPicPr>
            <a:picLocks noChangeAspect="1"/>
          </p:cNvPicPr>
          <p:nvPr/>
        </p:nvPicPr>
        <p:blipFill>
          <a:blip r:embed="rId3"/>
          <a:stretch>
            <a:fillRect/>
          </a:stretch>
        </p:blipFill>
        <p:spPr>
          <a:xfrm>
            <a:off x="2766060" y="2048256"/>
            <a:ext cx="182880" cy="182880"/>
          </a:xfrm>
          <a:prstGeom prst="rect">
            <a:avLst/>
          </a:prstGeom>
        </p:spPr>
      </p:pic>
      <p:sp>
        <p:nvSpPr>
          <p:cNvPr id="14" name="Shape 8"/>
          <p:cNvSpPr/>
          <p:nvPr/>
        </p:nvSpPr>
        <p:spPr>
          <a:xfrm>
            <a:off x="33147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15" name="Shape 9"/>
          <p:cNvSpPr/>
          <p:nvPr/>
        </p:nvSpPr>
        <p:spPr>
          <a:xfrm>
            <a:off x="3424428" y="1993392"/>
            <a:ext cx="292608" cy="292608"/>
          </a:xfrm>
          <a:prstGeom prst="ellipse">
            <a:avLst/>
          </a:prstGeom>
          <a:solidFill>
            <a:srgbClr val="0B2545"/>
          </a:solidFill>
          <a:ln/>
        </p:spPr>
      </p:sp>
      <p:sp>
        <p:nvSpPr>
          <p:cNvPr id="16" name="Text 10"/>
          <p:cNvSpPr txBox="1"/>
          <p:nvPr/>
        </p:nvSpPr>
        <p:spPr>
          <a:xfrm>
            <a:off x="34244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1"/>
          <p:cNvSpPr txBox="1"/>
          <p:nvPr/>
        </p:nvSpPr>
        <p:spPr>
          <a:xfrm>
            <a:off x="38084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Immigration</a:t>
            </a:r>
            <a:endParaRPr lang="en-US" sz="1500" dirty="0"/>
          </a:p>
        </p:txBody>
      </p:sp>
      <p:sp>
        <p:nvSpPr>
          <p:cNvPr id="18" name="Shape 12"/>
          <p:cNvSpPr/>
          <p:nvPr/>
        </p:nvSpPr>
        <p:spPr>
          <a:xfrm>
            <a:off x="5550408" y="1975104"/>
            <a:ext cx="329184" cy="329184"/>
          </a:xfrm>
          <a:prstGeom prst="ellipse">
            <a:avLst/>
          </a:prstGeom>
          <a:solidFill>
            <a:srgbClr val="FDE6E8"/>
          </a:solidFill>
          <a:ln/>
        </p:spPr>
      </p:sp>
      <p:pic>
        <p:nvPicPr>
          <p:cNvPr id="19" name="Image 1" descr="">    </p:cNvPr>
          <p:cNvPicPr>
            <a:picLocks noChangeAspect="1"/>
          </p:cNvPicPr>
          <p:nvPr/>
        </p:nvPicPr>
        <p:blipFill>
          <a:blip r:embed="rId3"/>
          <a:stretch>
            <a:fillRect/>
          </a:stretch>
        </p:blipFill>
        <p:spPr>
          <a:xfrm>
            <a:off x="5623560" y="2048256"/>
            <a:ext cx="182880" cy="182880"/>
          </a:xfrm>
          <a:prstGeom prst="rect">
            <a:avLst/>
          </a:prstGeom>
        </p:spPr>
      </p:pic>
      <p:sp>
        <p:nvSpPr>
          <p:cNvPr id="20" name="Shape 13"/>
          <p:cNvSpPr/>
          <p:nvPr/>
        </p:nvSpPr>
        <p:spPr>
          <a:xfrm>
            <a:off x="61722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21" name="Shape 14"/>
          <p:cNvSpPr/>
          <p:nvPr/>
        </p:nvSpPr>
        <p:spPr>
          <a:xfrm>
            <a:off x="6281928" y="1993392"/>
            <a:ext cx="292608" cy="292608"/>
          </a:xfrm>
          <a:prstGeom prst="ellipse">
            <a:avLst/>
          </a:prstGeom>
          <a:solidFill>
            <a:srgbClr val="0B2545"/>
          </a:solidFill>
          <a:ln/>
        </p:spPr>
      </p:sp>
      <p:sp>
        <p:nvSpPr>
          <p:cNvPr id="22" name="Text 15"/>
          <p:cNvSpPr txBox="1"/>
          <p:nvPr/>
        </p:nvSpPr>
        <p:spPr>
          <a:xfrm>
            <a:off x="62819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16"/>
          <p:cNvSpPr txBox="1"/>
          <p:nvPr/>
        </p:nvSpPr>
        <p:spPr>
          <a:xfrm>
            <a:off x="66659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Security screening</a:t>
            </a:r>
            <a:endParaRPr lang="en-US" sz="1500" dirty="0"/>
          </a:p>
        </p:txBody>
      </p:sp>
      <p:sp>
        <p:nvSpPr>
          <p:cNvPr id="24" name="Shape 17"/>
          <p:cNvSpPr/>
          <p:nvPr/>
        </p:nvSpPr>
        <p:spPr>
          <a:xfrm>
            <a:off x="8407908" y="1975104"/>
            <a:ext cx="329184" cy="329184"/>
          </a:xfrm>
          <a:prstGeom prst="ellipse">
            <a:avLst/>
          </a:prstGeom>
          <a:solidFill>
            <a:srgbClr val="FDE6E8"/>
          </a:solidFill>
          <a:ln/>
        </p:spPr>
      </p:sp>
      <p:pic>
        <p:nvPicPr>
          <p:cNvPr id="25" name="Image 2" descr="">    </p:cNvPr>
          <p:cNvPicPr>
            <a:picLocks noChangeAspect="1"/>
          </p:cNvPicPr>
          <p:nvPr/>
        </p:nvPicPr>
        <p:blipFill>
          <a:blip r:embed="rId3"/>
          <a:stretch>
            <a:fillRect/>
          </a:stretch>
        </p:blipFill>
        <p:spPr>
          <a:xfrm>
            <a:off x="8481060" y="2048256"/>
            <a:ext cx="182880" cy="182880"/>
          </a:xfrm>
          <a:prstGeom prst="rect">
            <a:avLst/>
          </a:prstGeom>
        </p:spPr>
      </p:pic>
      <p:sp>
        <p:nvSpPr>
          <p:cNvPr id="26" name="Shape 18"/>
          <p:cNvSpPr/>
          <p:nvPr/>
        </p:nvSpPr>
        <p:spPr>
          <a:xfrm>
            <a:off x="90297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27" name="Shape 19"/>
          <p:cNvSpPr/>
          <p:nvPr/>
        </p:nvSpPr>
        <p:spPr>
          <a:xfrm>
            <a:off x="9139428" y="1993392"/>
            <a:ext cx="292608" cy="292608"/>
          </a:xfrm>
          <a:prstGeom prst="ellipse">
            <a:avLst/>
          </a:prstGeom>
          <a:solidFill>
            <a:srgbClr val="0B2545"/>
          </a:solidFill>
          <a:ln/>
        </p:spPr>
      </p:sp>
      <p:sp>
        <p:nvSpPr>
          <p:cNvPr id="28" name="Text 20"/>
          <p:cNvSpPr txBox="1"/>
          <p:nvPr/>
        </p:nvSpPr>
        <p:spPr>
          <a:xfrm>
            <a:off x="91394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9" name="Text 21"/>
          <p:cNvSpPr txBox="1"/>
          <p:nvPr/>
        </p:nvSpPr>
        <p:spPr>
          <a:xfrm>
            <a:off x="95234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Boarding gate</a:t>
            </a:r>
            <a:endParaRPr lang="en-US" sz="1500" dirty="0"/>
          </a:p>
        </p:txBody>
      </p:sp>
      <p:sp>
        <p:nvSpPr>
          <p:cNvPr id="30" name="Shape 22"/>
          <p:cNvSpPr/>
          <p:nvPr/>
        </p:nvSpPr>
        <p:spPr>
          <a:xfrm>
            <a:off x="11265408" y="1975104"/>
            <a:ext cx="329184" cy="329184"/>
          </a:xfrm>
          <a:prstGeom prst="ellipse">
            <a:avLst/>
          </a:prstGeom>
          <a:solidFill>
            <a:srgbClr val="FDE6E8"/>
          </a:solidFill>
          <a:ln/>
        </p:spPr>
      </p:sp>
      <p:pic>
        <p:nvPicPr>
          <p:cNvPr id="31" name="Image 3" descr="">    </p:cNvPr>
          <p:cNvPicPr>
            <a:picLocks noChangeAspect="1"/>
          </p:cNvPicPr>
          <p:nvPr/>
        </p:nvPicPr>
        <p:blipFill>
          <a:blip r:embed="rId3"/>
          <a:stretch>
            <a:fillRect/>
          </a:stretch>
        </p:blipFill>
        <p:spPr>
          <a:xfrm>
            <a:off x="11338560" y="2048256"/>
            <a:ext cx="182880" cy="182880"/>
          </a:xfrm>
          <a:prstGeom prst="rect">
            <a:avLst/>
          </a:prstGeom>
        </p:spPr>
      </p:pic>
      <p:pic>
        <p:nvPicPr>
          <p:cNvPr id="32" name="Today: departure journey without FastPass" descr="Isometric airport today: queues and staff at check-in, immigration, security screening and boarding gate">    </p:cNvPr>
          <p:cNvPicPr>
            <a:picLocks noChangeAspect="1"/>
          </p:cNvPicPr>
          <p:nvPr/>
        </p:nvPicPr>
        <p:blipFill>
          <a:blip r:embed="rId4"/>
          <a:stretch>
            <a:fillRect/>
          </a:stretch>
        </p:blipFill>
        <p:spPr>
          <a:xfrm>
            <a:off x="2691597" y="2432304"/>
            <a:ext cx="6808500" cy="2103120"/>
          </a:xfrm>
          <a:prstGeom prst="rect">
            <a:avLst/>
          </a:prstGeom>
        </p:spPr>
      </p:pic>
      <p:sp>
        <p:nvSpPr>
          <p:cNvPr id="33" name="Shape 23"/>
          <p:cNvSpPr/>
          <p:nvPr/>
        </p:nvSpPr>
        <p:spPr>
          <a:xfrm>
            <a:off x="3455832" y="3788272"/>
            <a:ext cx="310896" cy="310896"/>
          </a:xfrm>
          <a:prstGeom prst="ellipse">
            <a:avLst/>
          </a:prstGeom>
          <a:solidFill>
            <a:srgbClr val="E30613"/>
          </a:solidFill>
          <a:ln w="15875">
            <a:solidFill>
              <a:srgbClr val="FFFFFF"/>
            </a:solidFill>
            <a:prstDash val="solid"/>
          </a:ln>
        </p:spPr>
      </p:sp>
      <p:sp>
        <p:nvSpPr>
          <p:cNvPr id="34" name="Text 24"/>
          <p:cNvSpPr txBox="1"/>
          <p:nvPr/>
        </p:nvSpPr>
        <p:spPr>
          <a:xfrm>
            <a:off x="3455832" y="378827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35" name="Shape 25"/>
          <p:cNvSpPr/>
          <p:nvPr/>
        </p:nvSpPr>
        <p:spPr>
          <a:xfrm>
            <a:off x="4475324" y="3331995"/>
            <a:ext cx="310896" cy="310896"/>
          </a:xfrm>
          <a:prstGeom prst="ellipse">
            <a:avLst/>
          </a:prstGeom>
          <a:solidFill>
            <a:srgbClr val="E30613"/>
          </a:solidFill>
          <a:ln w="15875">
            <a:solidFill>
              <a:srgbClr val="FFFFFF"/>
            </a:solidFill>
            <a:prstDash val="solid"/>
          </a:ln>
        </p:spPr>
      </p:sp>
      <p:sp>
        <p:nvSpPr>
          <p:cNvPr id="36" name="Text 26"/>
          <p:cNvSpPr txBox="1"/>
          <p:nvPr/>
        </p:nvSpPr>
        <p:spPr>
          <a:xfrm>
            <a:off x="4475324" y="3331995"/>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7" name="Shape 27"/>
          <p:cNvSpPr/>
          <p:nvPr/>
        </p:nvSpPr>
        <p:spPr>
          <a:xfrm>
            <a:off x="6350335" y="3203668"/>
            <a:ext cx="310896" cy="310896"/>
          </a:xfrm>
          <a:prstGeom prst="ellipse">
            <a:avLst/>
          </a:prstGeom>
          <a:solidFill>
            <a:srgbClr val="E30613"/>
          </a:solidFill>
          <a:ln w="15875">
            <a:solidFill>
              <a:srgbClr val="FFFFFF"/>
            </a:solidFill>
            <a:prstDash val="solid"/>
          </a:ln>
        </p:spPr>
      </p:sp>
      <p:sp>
        <p:nvSpPr>
          <p:cNvPr id="38" name="Text 28"/>
          <p:cNvSpPr txBox="1"/>
          <p:nvPr/>
        </p:nvSpPr>
        <p:spPr>
          <a:xfrm>
            <a:off x="6350335" y="32036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9" name="Shape 29"/>
          <p:cNvSpPr/>
          <p:nvPr/>
        </p:nvSpPr>
        <p:spPr>
          <a:xfrm>
            <a:off x="7811846" y="3624297"/>
            <a:ext cx="310896" cy="310896"/>
          </a:xfrm>
          <a:prstGeom prst="ellipse">
            <a:avLst/>
          </a:prstGeom>
          <a:solidFill>
            <a:srgbClr val="E30613"/>
          </a:solidFill>
          <a:ln w="15875">
            <a:solidFill>
              <a:srgbClr val="FFFFFF"/>
            </a:solidFill>
            <a:prstDash val="solid"/>
          </a:ln>
        </p:spPr>
      </p:sp>
      <p:sp>
        <p:nvSpPr>
          <p:cNvPr id="40" name="Text 30"/>
          <p:cNvSpPr txBox="1"/>
          <p:nvPr/>
        </p:nvSpPr>
        <p:spPr>
          <a:xfrm>
            <a:off x="7811846" y="3624297"/>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41" name="Shape 31"/>
          <p:cNvSpPr/>
          <p:nvPr/>
        </p:nvSpPr>
        <p:spPr>
          <a:xfrm>
            <a:off x="2691597" y="2450592"/>
            <a:ext cx="1019814" cy="274320"/>
          </a:xfrm>
          <a:prstGeom prst="roundRect">
            <a:avLst>
              <a:gd name="adj" fmla="val 50000"/>
            </a:avLst>
          </a:prstGeom>
          <a:solidFill>
            <a:srgbClr val="FFFFFF">
              <a:alpha val="90000"/>
            </a:srgbClr>
          </a:solidFill>
          <a:ln w="9525">
            <a:solidFill>
              <a:srgbClr val="E1E6ED"/>
            </a:solidFill>
            <a:prstDash val="solid"/>
          </a:ln>
        </p:spPr>
      </p:sp>
      <p:sp>
        <p:nvSpPr>
          <p:cNvPr id="42" name="Text 32"/>
          <p:cNvSpPr txBox="1"/>
          <p:nvPr/>
        </p:nvSpPr>
        <p:spPr>
          <a:xfrm>
            <a:off x="2691597" y="2450592"/>
            <a:ext cx="1019814"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Illustrative</a:t>
            </a:r>
            <a:endParaRPr lang="en-US" sz="1400" dirty="0"/>
          </a:p>
        </p:txBody>
      </p:sp>
      <p:sp>
        <p:nvSpPr>
          <p:cNvPr id="43" name="Shape 33"/>
          <p:cNvSpPr/>
          <p:nvPr/>
        </p:nvSpPr>
        <p:spPr>
          <a:xfrm>
            <a:off x="9582912" y="2651760"/>
            <a:ext cx="2121408" cy="864108"/>
          </a:xfrm>
          <a:prstGeom prst="roundRect">
            <a:avLst>
              <a:gd name="adj" fmla="val 8466"/>
            </a:avLst>
          </a:prstGeom>
          <a:solidFill>
            <a:srgbClr val="0B2545"/>
          </a:solidFill>
          <a:ln/>
          <a:effectLst>
            <a:outerShdw sx="100000" sy="100000" kx="0" ky="0" algn="bl" rotWithShape="0" blurRad="152400" dist="25400" dir="5400000">
              <a:srgbClr val="0A1628">
                <a:alpha val="12000"/>
              </a:srgbClr>
            </a:outerShdw>
          </a:effectLst>
        </p:spPr>
      </p:sp>
      <p:sp>
        <p:nvSpPr>
          <p:cNvPr id="44" name="Text 34"/>
          <p:cNvSpPr txBox="1"/>
          <p:nvPr/>
        </p:nvSpPr>
        <p:spPr>
          <a:xfrm>
            <a:off x="9720072" y="2761488"/>
            <a:ext cx="1847088" cy="644652"/>
          </a:xfrm>
          <a:prstGeom prst="rect">
            <a:avLst/>
          </a:prstGeom>
          <a:noFill/>
          <a:ln/>
        </p:spPr>
        <p:txBody>
          <a:bodyPr wrap="square" lIns="0" tIns="0" rIns="0" bIns="0" rtlCol="0" anchor="ctr"/>
          <a:lstStyle/>
          <a:p>
            <a:pPr indent="0" marL="0">
              <a:buNone/>
            </a:pPr>
            <a:r>
              <a:rPr lang="en-US" sz="1400" dirty="0">
                <a:solidFill>
                  <a:srgbClr val="FFFFFF"/>
                </a:solidFill>
              </a:rPr>
              <a:t>≥4 staff per checkpoint workflow (internal estimate)</a:t>
            </a:r>
            <a:endParaRPr lang="en-US" sz="1400" dirty="0"/>
          </a:p>
        </p:txBody>
      </p:sp>
      <p:sp>
        <p:nvSpPr>
          <p:cNvPr id="45" name="Shape 35"/>
          <p:cNvSpPr/>
          <p:nvPr/>
        </p:nvSpPr>
        <p:spPr>
          <a:xfrm flipV="1">
            <a:off x="6917263" y="3083814"/>
            <a:ext cx="2665649" cy="229582"/>
          </a:xfrm>
          <a:prstGeom prst="line">
            <a:avLst/>
          </a:prstGeom>
          <a:noFill/>
          <a:ln w="15875">
            <a:solidFill>
              <a:srgbClr val="0B2545"/>
            </a:solidFill>
            <a:prstDash val="solid"/>
            <a:tailEnd type="oval"/>
          </a:ln>
        </p:spPr>
      </p:sp>
      <p:sp>
        <p:nvSpPr>
          <p:cNvPr id="46" name="Text 36"/>
          <p:cNvSpPr txBox="1"/>
          <p:nvPr/>
        </p:nvSpPr>
        <p:spPr>
          <a:xfrm>
            <a:off x="457200" y="4553712"/>
            <a:ext cx="7406640" cy="219456"/>
          </a:xfrm>
          <a:prstGeom prst="rect">
            <a:avLst/>
          </a:prstGeom>
          <a:noFill/>
          <a:ln/>
        </p:spPr>
        <p:txBody>
          <a:bodyPr wrap="square" lIns="0" tIns="0" rIns="0" bIns="0" rtlCol="0" anchor="ctr"/>
          <a:lstStyle/>
          <a:p>
            <a:pPr indent="0" marL="0">
              <a:buNone/>
            </a:pPr>
            <a:r>
              <a:rPr lang="en-US" sz="1400" b="1" spc="200" kern="0" dirty="0">
                <a:solidFill>
                  <a:srgbClr val="0B2545"/>
                </a:solidFill>
              </a:rPr>
              <a:t>AIRPORT</a:t>
            </a:r>
            <a:endParaRPr lang="en-US" sz="1400" dirty="0"/>
          </a:p>
        </p:txBody>
      </p:sp>
      <p:sp>
        <p:nvSpPr>
          <p:cNvPr id="47" name="Shape 37"/>
          <p:cNvSpPr/>
          <p:nvPr/>
        </p:nvSpPr>
        <p:spPr>
          <a:xfrm>
            <a:off x="1600200" y="4663440"/>
            <a:ext cx="6263640" cy="914"/>
          </a:xfrm>
          <a:prstGeom prst="line">
            <a:avLst/>
          </a:prstGeom>
          <a:noFill/>
          <a:ln w="9525">
            <a:solidFill>
              <a:srgbClr val="0B2545">
                <a:alpha val="40000"/>
              </a:srgbClr>
            </a:solidFill>
            <a:prstDash val="solid"/>
          </a:ln>
        </p:spPr>
      </p:sp>
      <p:sp>
        <p:nvSpPr>
          <p:cNvPr id="48" name="Text 38"/>
          <p:cNvSpPr txBox="1"/>
          <p:nvPr/>
        </p:nvSpPr>
        <p:spPr>
          <a:xfrm>
            <a:off x="8138160" y="4553712"/>
            <a:ext cx="3566160" cy="219456"/>
          </a:xfrm>
          <a:prstGeom prst="rect">
            <a:avLst/>
          </a:prstGeom>
          <a:noFill/>
          <a:ln/>
        </p:spPr>
        <p:txBody>
          <a:bodyPr wrap="square" lIns="0" tIns="0" rIns="0" bIns="0" rtlCol="0" anchor="ctr"/>
          <a:lstStyle/>
          <a:p>
            <a:pPr indent="0" marL="0">
              <a:buNone/>
            </a:pPr>
            <a:r>
              <a:rPr lang="en-US" sz="1400" b="1" spc="200" kern="0" dirty="0">
                <a:solidFill>
                  <a:srgbClr val="0B2545"/>
                </a:solidFill>
              </a:rPr>
              <a:t>BORDER AGENCY</a:t>
            </a:r>
            <a:endParaRPr lang="en-US" sz="1400" dirty="0"/>
          </a:p>
        </p:txBody>
      </p:sp>
      <p:sp>
        <p:nvSpPr>
          <p:cNvPr id="49" name="Shape 39"/>
          <p:cNvSpPr/>
          <p:nvPr/>
        </p:nvSpPr>
        <p:spPr>
          <a:xfrm>
            <a:off x="10241280" y="4663440"/>
            <a:ext cx="1463040" cy="914"/>
          </a:xfrm>
          <a:prstGeom prst="line">
            <a:avLst/>
          </a:prstGeom>
          <a:noFill/>
          <a:ln w="9525">
            <a:solidFill>
              <a:srgbClr val="0B2545">
                <a:alpha val="40000"/>
              </a:srgbClr>
            </a:solidFill>
            <a:prstDash val="solid"/>
          </a:ln>
        </p:spPr>
      </p:sp>
      <p:sp>
        <p:nvSpPr>
          <p:cNvPr id="50" name="Shape 40"/>
          <p:cNvSpPr/>
          <p:nvPr/>
        </p:nvSpPr>
        <p:spPr>
          <a:xfrm>
            <a:off x="45720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51" name="Shape 41"/>
          <p:cNvSpPr/>
          <p:nvPr/>
        </p:nvSpPr>
        <p:spPr>
          <a:xfrm>
            <a:off x="640080" y="4974336"/>
            <a:ext cx="457200" cy="457200"/>
          </a:xfrm>
          <a:prstGeom prst="ellipse">
            <a:avLst/>
          </a:prstGeom>
          <a:solidFill>
            <a:srgbClr val="F1F4F8"/>
          </a:solidFill>
          <a:ln/>
        </p:spPr>
      </p:sp>
      <p:pic>
        <p:nvPicPr>
          <p:cNvPr id="52" name="Image 5" descr="">    </p:cNvPr>
          <p:cNvPicPr>
            <a:picLocks noChangeAspect="1"/>
          </p:cNvPicPr>
          <p:nvPr/>
        </p:nvPicPr>
        <p:blipFill>
          <a:blip r:embed="rId5"/>
          <a:stretch>
            <a:fillRect/>
          </a:stretch>
        </p:blipFill>
        <p:spPr>
          <a:xfrm>
            <a:off x="740664" y="5074920"/>
            <a:ext cx="256032" cy="256032"/>
          </a:xfrm>
          <a:prstGeom prst="rect">
            <a:avLst/>
          </a:prstGeom>
        </p:spPr>
      </p:pic>
      <p:sp>
        <p:nvSpPr>
          <p:cNvPr id="53" name="Text 42"/>
          <p:cNvSpPr txBox="1"/>
          <p:nvPr/>
        </p:nvSpPr>
        <p:spPr>
          <a:xfrm>
            <a:off x="1234440" y="4828032"/>
            <a:ext cx="2651760" cy="749808"/>
          </a:xfrm>
          <a:prstGeom prst="rect">
            <a:avLst/>
          </a:prstGeom>
          <a:noFill/>
          <a:ln/>
        </p:spPr>
        <p:txBody>
          <a:bodyPr wrap="square" lIns="0" tIns="0" rIns="0" bIns="0" rtlCol="0" anchor="ctr"/>
          <a:lstStyle/>
          <a:p>
            <a:pPr indent="0" marL="0">
              <a:buNone/>
            </a:pPr>
            <a:r>
              <a:rPr lang="en-US" sz="5400" b="1" dirty="0">
                <a:solidFill>
                  <a:srgbClr val="0B2545"/>
                </a:solidFill>
              </a:rPr>
              <a:t>~1.5×</a:t>
            </a:r>
            <a:endParaRPr lang="en-US" sz="5400" dirty="0"/>
          </a:p>
        </p:txBody>
      </p:sp>
      <p:sp>
        <p:nvSpPr>
          <p:cNvPr id="54" name="Text 43"/>
          <p:cNvSpPr txBox="1"/>
          <p:nvPr/>
        </p:nvSpPr>
        <p:spPr>
          <a:xfrm>
            <a:off x="640080" y="5596128"/>
            <a:ext cx="3200400" cy="512064"/>
          </a:xfrm>
          <a:prstGeom prst="rect">
            <a:avLst/>
          </a:prstGeom>
          <a:noFill/>
          <a:ln/>
        </p:spPr>
        <p:txBody>
          <a:bodyPr wrap="square" lIns="0" tIns="0" rIns="0" bIns="0" rtlCol="0" anchor="t"/>
          <a:lstStyle/>
          <a:p>
            <a:pPr indent="0" marL="0">
              <a:buNone/>
            </a:pPr>
            <a:r>
              <a:rPr lang="en-US" sz="1600" dirty="0">
                <a:solidFill>
                  <a:srgbClr val="4A5870"/>
                </a:solidFill>
              </a:rPr>
              <a:t>Manila: 52M passengers through terminals built for ~35M</a:t>
            </a:r>
            <a:endParaRPr lang="en-US" sz="1600" dirty="0"/>
          </a:p>
        </p:txBody>
      </p:sp>
      <p:sp>
        <p:nvSpPr>
          <p:cNvPr id="55" name="Shape 44"/>
          <p:cNvSpPr/>
          <p:nvPr/>
        </p:nvSpPr>
        <p:spPr>
          <a:xfrm>
            <a:off x="429768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56" name="Shape 45"/>
          <p:cNvSpPr/>
          <p:nvPr/>
        </p:nvSpPr>
        <p:spPr>
          <a:xfrm>
            <a:off x="4480560" y="4974336"/>
            <a:ext cx="457200" cy="457200"/>
          </a:xfrm>
          <a:prstGeom prst="ellipse">
            <a:avLst/>
          </a:prstGeom>
          <a:solidFill>
            <a:srgbClr val="F1F4F8"/>
          </a:solidFill>
          <a:ln/>
        </p:spPr>
      </p:sp>
      <p:pic>
        <p:nvPicPr>
          <p:cNvPr id="57" name="Image 6" descr="">    </p:cNvPr>
          <p:cNvPicPr>
            <a:picLocks noChangeAspect="1"/>
          </p:cNvPicPr>
          <p:nvPr/>
        </p:nvPicPr>
        <p:blipFill>
          <a:blip r:embed="rId6"/>
          <a:stretch>
            <a:fillRect/>
          </a:stretch>
        </p:blipFill>
        <p:spPr>
          <a:xfrm>
            <a:off x="4581144" y="5074920"/>
            <a:ext cx="256032" cy="256032"/>
          </a:xfrm>
          <a:prstGeom prst="rect">
            <a:avLst/>
          </a:prstGeom>
        </p:spPr>
      </p:pic>
      <p:sp>
        <p:nvSpPr>
          <p:cNvPr id="58" name="Text 46"/>
          <p:cNvSpPr txBox="1"/>
          <p:nvPr/>
        </p:nvSpPr>
        <p:spPr>
          <a:xfrm>
            <a:off x="5074920" y="4828032"/>
            <a:ext cx="2651760" cy="749808"/>
          </a:xfrm>
          <a:prstGeom prst="rect">
            <a:avLst/>
          </a:prstGeom>
          <a:noFill/>
          <a:ln/>
        </p:spPr>
        <p:txBody>
          <a:bodyPr wrap="square" lIns="0" tIns="0" rIns="0" bIns="0" rtlCol="0" anchor="ctr"/>
          <a:lstStyle/>
          <a:p>
            <a:pPr indent="0" marL="0">
              <a:buNone/>
            </a:pPr>
            <a:r>
              <a:rPr lang="en-US" sz="5400" b="1" dirty="0">
                <a:solidFill>
                  <a:srgbClr val="0B2545"/>
                </a:solidFill>
              </a:rPr>
              <a:t>8–10</a:t>
            </a:r>
            <a:pPr indent="0" marL="0">
              <a:buNone/>
            </a:pPr>
            <a:r>
              <a:rPr lang="en-US" sz="2800" b="1" dirty="0">
                <a:solidFill>
                  <a:srgbClr val="0B2545"/>
                </a:solidFill>
              </a:rPr>
              <a:t> yrs</a:t>
            </a:r>
            <a:endParaRPr lang="en-US" sz="5400" dirty="0"/>
          </a:p>
        </p:txBody>
      </p:sp>
      <p:sp>
        <p:nvSpPr>
          <p:cNvPr id="59" name="Text 47"/>
          <p:cNvSpPr txBox="1"/>
          <p:nvPr/>
        </p:nvSpPr>
        <p:spPr>
          <a:xfrm>
            <a:off x="4480560" y="5596128"/>
            <a:ext cx="3200400" cy="512064"/>
          </a:xfrm>
          <a:prstGeom prst="rect">
            <a:avLst/>
          </a:prstGeom>
          <a:noFill/>
          <a:ln/>
        </p:spPr>
        <p:txBody>
          <a:bodyPr wrap="square" lIns="0" tIns="0" rIns="0" bIns="0" rtlCol="0" anchor="t"/>
          <a:lstStyle/>
          <a:p>
            <a:pPr indent="0" marL="0">
              <a:buNone/>
            </a:pPr>
            <a:r>
              <a:rPr lang="en-US" sz="1600" dirty="0">
                <a:solidFill>
                  <a:srgbClr val="4A5870"/>
                </a:solidFill>
              </a:rPr>
              <a:t>to add a terminal: Changi T5 and Dubai DWC</a:t>
            </a:r>
            <a:endParaRPr lang="en-US" sz="1600" dirty="0"/>
          </a:p>
        </p:txBody>
      </p:sp>
      <p:sp>
        <p:nvSpPr>
          <p:cNvPr id="60" name="Shape 48"/>
          <p:cNvSpPr/>
          <p:nvPr/>
        </p:nvSpPr>
        <p:spPr>
          <a:xfrm>
            <a:off x="813816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61" name="Text 49"/>
          <p:cNvSpPr txBox="1"/>
          <p:nvPr/>
        </p:nvSpPr>
        <p:spPr>
          <a:xfrm>
            <a:off x="8321040" y="4882896"/>
            <a:ext cx="3246120" cy="713232"/>
          </a:xfrm>
          <a:prstGeom prst="rect">
            <a:avLst/>
          </a:prstGeom>
          <a:noFill/>
          <a:ln/>
        </p:spPr>
        <p:txBody>
          <a:bodyPr wrap="square" lIns="0" tIns="0" rIns="0" bIns="0" rtlCol="0" anchor="ctr"/>
          <a:lstStyle/>
          <a:p>
            <a:pPr indent="0" marL="0">
              <a:buNone/>
            </a:pPr>
            <a:r>
              <a:rPr lang="en-US" sz="2000" i="1" dirty="0">
                <a:solidFill>
                  <a:srgbClr val="0B2545"/>
                </a:solidFill>
              </a:rPr>
              <a:t>“ICA's manpower cannot keep growing indefinitely.”</a:t>
            </a:r>
            <a:endParaRPr lang="en-US" sz="2000" dirty="0"/>
          </a:p>
        </p:txBody>
      </p:sp>
      <p:sp>
        <p:nvSpPr>
          <p:cNvPr id="62" name="Shape 50"/>
          <p:cNvSpPr/>
          <p:nvPr/>
        </p:nvSpPr>
        <p:spPr>
          <a:xfrm>
            <a:off x="8321040" y="5660136"/>
            <a:ext cx="384048" cy="384048"/>
          </a:xfrm>
          <a:prstGeom prst="ellipse">
            <a:avLst/>
          </a:prstGeom>
          <a:solidFill>
            <a:srgbClr val="F1F4F8"/>
          </a:solidFill>
          <a:ln/>
        </p:spPr>
      </p:sp>
      <p:pic>
        <p:nvPicPr>
          <p:cNvPr id="63" name="Image 7" descr="">    </p:cNvPr>
          <p:cNvPicPr>
            <a:picLocks noChangeAspect="1"/>
          </p:cNvPicPr>
          <p:nvPr/>
        </p:nvPicPr>
        <p:blipFill>
          <a:blip r:embed="rId7"/>
          <a:stretch>
            <a:fillRect/>
          </a:stretch>
        </p:blipFill>
        <p:spPr>
          <a:xfrm>
            <a:off x="8405531" y="5744627"/>
            <a:ext cx="215067" cy="215067"/>
          </a:xfrm>
          <a:prstGeom prst="rect">
            <a:avLst/>
          </a:prstGeom>
        </p:spPr>
      </p:pic>
      <p:sp>
        <p:nvSpPr>
          <p:cNvPr id="64" name="Text 51"/>
          <p:cNvSpPr txBox="1"/>
          <p:nvPr/>
        </p:nvSpPr>
        <p:spPr>
          <a:xfrm>
            <a:off x="8796528" y="5632704"/>
            <a:ext cx="2788920" cy="457200"/>
          </a:xfrm>
          <a:prstGeom prst="rect">
            <a:avLst/>
          </a:prstGeom>
          <a:noFill/>
          <a:ln/>
        </p:spPr>
        <p:txBody>
          <a:bodyPr wrap="square" lIns="0" tIns="0" rIns="0" bIns="0" rtlCol="0" anchor="ctr"/>
          <a:lstStyle/>
          <a:p>
            <a:pPr indent="0" marL="0">
              <a:buNone/>
            </a:pPr>
            <a:r>
              <a:rPr lang="en-US" sz="1400" dirty="0">
                <a:solidFill>
                  <a:srgbClr val="4A5870"/>
                </a:solidFill>
              </a:rPr>
              <a:t>Singapore Home Affairs Minister, 2025</a:t>
            </a:r>
            <a:endParaRPr lang="en-US" sz="1400" dirty="0"/>
          </a:p>
        </p:txBody>
      </p:sp>
      <p:sp>
        <p:nvSpPr>
          <p:cNvPr id="65"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GMA News (Jan 2026) · Singapore MOT (Jan 2025) · Dubai Media Office (Apr 2024) &amp; WAM (Jun 2026) · MHA, ICA Workplan Seminar 2025 · Staff count: internal estimate</a:t>
            </a:r>
            <a:endParaRPr lang="en-US" sz="900" dirty="0"/>
          </a:p>
        </p:txBody>
      </p:sp>
      <p:sp>
        <p:nvSpPr>
          <p:cNvPr id="66"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2  |</a:t>
            </a:r>
            <a:endParaRPr lang="en-US" sz="1200" dirty="0"/>
          </a:p>
        </p:txBody>
      </p:sp>
      <p:grpSp>
        <p:nvGrpSpPr>
          <p:cNvPr id="67"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68"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69"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Why now</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Borders went biometric; passports are going mobile.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Buyers, travellers and standards moved in 2024–26.</a:t>
            </a:r>
            <a:endParaRPr lang="en-US" sz="1800" dirty="0"/>
          </a:p>
        </p:txBody>
      </p:sp>
      <p:sp>
        <p:nvSpPr>
          <p:cNvPr id="8" name="Shape 3"/>
          <p:cNvSpPr/>
          <p:nvPr/>
        </p:nvSpPr>
        <p:spPr>
          <a:xfrm>
            <a:off x="45720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685800" y="2121408"/>
            <a:ext cx="548640" cy="548640"/>
          </a:xfrm>
          <a:prstGeom prst="ellipse">
            <a:avLst/>
          </a:prstGeom>
          <a:solidFill>
            <a:srgbClr val="0B84AE"/>
          </a:solidFill>
          <a:ln/>
        </p:spPr>
      </p:sp>
      <p:pic>
        <p:nvPicPr>
          <p:cNvPr id="10" name="Image 0" descr="">    </p:cNvPr>
          <p:cNvPicPr>
            <a:picLocks noChangeAspect="1"/>
          </p:cNvPicPr>
          <p:nvPr/>
        </p:nvPicPr>
        <p:blipFill>
          <a:blip r:embed="rId3"/>
          <a:stretch>
            <a:fillRect/>
          </a:stretch>
        </p:blipFill>
        <p:spPr>
          <a:xfrm>
            <a:off x="806501" y="2242109"/>
            <a:ext cx="307238" cy="307238"/>
          </a:xfrm>
          <a:prstGeom prst="rect">
            <a:avLst/>
          </a:prstGeom>
        </p:spPr>
      </p:pic>
      <p:sp>
        <p:nvSpPr>
          <p:cNvPr id="11" name="Text 5"/>
          <p:cNvSpPr txBox="1"/>
          <p:nvPr/>
        </p:nvSpPr>
        <p:spPr>
          <a:xfrm>
            <a:off x="1417320" y="2157984"/>
            <a:ext cx="1097280" cy="457200"/>
          </a:xfrm>
          <a:prstGeom prst="rect">
            <a:avLst/>
          </a:prstGeom>
          <a:noFill/>
          <a:ln/>
        </p:spPr>
        <p:txBody>
          <a:bodyPr wrap="square" lIns="0" tIns="0" rIns="0" bIns="0" rtlCol="0" anchor="ctr"/>
          <a:lstStyle/>
          <a:p>
            <a:pPr indent="0" marL="0">
              <a:buNone/>
            </a:pPr>
            <a:r>
              <a:rPr lang="en-US" sz="2800" b="1" dirty="0">
                <a:solidFill>
                  <a:srgbClr val="D97706"/>
                </a:solidFill>
              </a:rPr>
              <a:t>54%</a:t>
            </a:r>
            <a:endParaRPr lang="en-US" sz="2800" dirty="0"/>
          </a:p>
        </p:txBody>
      </p:sp>
      <p:sp>
        <p:nvSpPr>
          <p:cNvPr id="12" name="Text 6"/>
          <p:cNvSpPr txBox="1"/>
          <p:nvPr/>
        </p:nvSpPr>
        <p:spPr>
          <a:xfrm>
            <a:off x="2331720" y="2194560"/>
            <a:ext cx="1280160" cy="384048"/>
          </a:xfrm>
          <a:prstGeom prst="rect">
            <a:avLst/>
          </a:prstGeom>
          <a:noFill/>
          <a:ln/>
        </p:spPr>
        <p:txBody>
          <a:bodyPr wrap="square" lIns="0" tIns="0" rIns="0" bIns="0" rtlCol="0" anchor="ctr"/>
          <a:lstStyle/>
          <a:p>
            <a:pPr indent="0" marL="0">
              <a:buNone/>
            </a:pPr>
            <a:r>
              <a:rPr lang="en-US" sz="1400" dirty="0">
                <a:solidFill>
                  <a:srgbClr val="D97706"/>
                </a:solidFill>
              </a:rPr>
              <a:t>today</a:t>
            </a:r>
            <a:endParaRPr lang="en-US" sz="1400" dirty="0"/>
          </a:p>
        </p:txBody>
      </p:sp>
      <p:sp>
        <p:nvSpPr>
          <p:cNvPr id="13" name="Text 7"/>
          <p:cNvSpPr txBox="1"/>
          <p:nvPr/>
        </p:nvSpPr>
        <p:spPr>
          <a:xfrm>
            <a:off x="685800" y="2706624"/>
            <a:ext cx="3200400" cy="841248"/>
          </a:xfrm>
          <a:prstGeom prst="rect">
            <a:avLst/>
          </a:prstGeom>
          <a:noFill/>
          <a:ln/>
        </p:spPr>
        <p:txBody>
          <a:bodyPr wrap="square" lIns="0" tIns="0" rIns="0" bIns="0" rtlCol="0" anchor="ctr"/>
          <a:lstStyle/>
          <a:p>
            <a:pPr indent="0" marL="0">
              <a:buNone/>
            </a:pPr>
            <a:r>
              <a:rPr lang="en-US" sz="5600" b="1" dirty="0">
                <a:solidFill>
                  <a:srgbClr val="0B84AE"/>
                </a:solidFill>
              </a:rPr>
              <a:t>→ 83%</a:t>
            </a:r>
            <a:endParaRPr lang="en-US" sz="5600" dirty="0"/>
          </a:p>
        </p:txBody>
      </p:sp>
      <p:sp>
        <p:nvSpPr>
          <p:cNvPr id="14" name="Text 8"/>
          <p:cNvSpPr txBox="1"/>
          <p:nvPr/>
        </p:nvSpPr>
        <p:spPr>
          <a:xfrm>
            <a:off x="68580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surveyed airports with biometric borders (2028, expected)</a:t>
            </a:r>
            <a:endParaRPr lang="en-US" sz="1800" dirty="0"/>
          </a:p>
        </p:txBody>
      </p:sp>
      <p:sp>
        <p:nvSpPr>
          <p:cNvPr id="15" name="Shape 9"/>
          <p:cNvSpPr/>
          <p:nvPr/>
        </p:nvSpPr>
        <p:spPr>
          <a:xfrm>
            <a:off x="429768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16" name="Shape 10"/>
          <p:cNvSpPr/>
          <p:nvPr/>
        </p:nvSpPr>
        <p:spPr>
          <a:xfrm>
            <a:off x="4526280" y="2121408"/>
            <a:ext cx="548640" cy="548640"/>
          </a:xfrm>
          <a:prstGeom prst="ellipse">
            <a:avLst/>
          </a:prstGeom>
          <a:solidFill>
            <a:srgbClr val="0B84AE"/>
          </a:solidFill>
          <a:ln/>
        </p:spPr>
      </p:sp>
      <p:pic>
        <p:nvPicPr>
          <p:cNvPr id="17" name="Image 1" descr="">    </p:cNvPr>
          <p:cNvPicPr>
            <a:picLocks noChangeAspect="1"/>
          </p:cNvPicPr>
          <p:nvPr/>
        </p:nvPicPr>
        <p:blipFill>
          <a:blip r:embed="rId4"/>
          <a:stretch>
            <a:fillRect/>
          </a:stretch>
        </p:blipFill>
        <p:spPr>
          <a:xfrm>
            <a:off x="4646981" y="2242109"/>
            <a:ext cx="307238" cy="307238"/>
          </a:xfrm>
          <a:prstGeom prst="rect">
            <a:avLst/>
          </a:prstGeom>
        </p:spPr>
      </p:pic>
      <p:sp>
        <p:nvSpPr>
          <p:cNvPr id="18" name="Text 11"/>
          <p:cNvSpPr txBox="1"/>
          <p:nvPr/>
        </p:nvSpPr>
        <p:spPr>
          <a:xfrm>
            <a:off x="4526280" y="2706624"/>
            <a:ext cx="3200400" cy="841248"/>
          </a:xfrm>
          <a:prstGeom prst="rect">
            <a:avLst/>
          </a:prstGeom>
          <a:noFill/>
          <a:ln/>
        </p:spPr>
        <p:txBody>
          <a:bodyPr wrap="square" lIns="0" tIns="0" rIns="0" bIns="0" rtlCol="0" anchor="ctr"/>
          <a:lstStyle/>
          <a:p>
            <a:pPr indent="0" marL="0">
              <a:buNone/>
            </a:pPr>
            <a:r>
              <a:rPr lang="en-US" sz="6000" b="1" dirty="0">
                <a:solidFill>
                  <a:srgbClr val="0B2545"/>
                </a:solidFill>
              </a:rPr>
              <a:t>79%</a:t>
            </a:r>
            <a:endParaRPr lang="en-US" sz="6000" dirty="0"/>
          </a:p>
        </p:txBody>
      </p:sp>
      <p:sp>
        <p:nvSpPr>
          <p:cNvPr id="19" name="Text 12"/>
          <p:cNvSpPr txBox="1"/>
          <p:nvPr/>
        </p:nvSpPr>
        <p:spPr>
          <a:xfrm>
            <a:off x="452628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of passengers surveyed ready for a phone passport</a:t>
            </a:r>
            <a:endParaRPr lang="en-US" sz="1800" dirty="0"/>
          </a:p>
        </p:txBody>
      </p:sp>
      <p:sp>
        <p:nvSpPr>
          <p:cNvPr id="20" name="Shape 13"/>
          <p:cNvSpPr/>
          <p:nvPr/>
        </p:nvSpPr>
        <p:spPr>
          <a:xfrm>
            <a:off x="813816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21" name="Shape 14"/>
          <p:cNvSpPr/>
          <p:nvPr/>
        </p:nvSpPr>
        <p:spPr>
          <a:xfrm>
            <a:off x="8366760" y="2121408"/>
            <a:ext cx="548640" cy="548640"/>
          </a:xfrm>
          <a:prstGeom prst="ellipse">
            <a:avLst/>
          </a:prstGeom>
          <a:solidFill>
            <a:srgbClr val="0B84AE"/>
          </a:solidFill>
          <a:ln/>
        </p:spPr>
      </p:sp>
      <p:pic>
        <p:nvPicPr>
          <p:cNvPr id="22" name="Image 2" descr="">    </p:cNvPr>
          <p:cNvPicPr>
            <a:picLocks noChangeAspect="1"/>
          </p:cNvPicPr>
          <p:nvPr/>
        </p:nvPicPr>
        <p:blipFill>
          <a:blip r:embed="rId5"/>
          <a:stretch>
            <a:fillRect/>
          </a:stretch>
        </p:blipFill>
        <p:spPr>
          <a:xfrm>
            <a:off x="8487461" y="2242109"/>
            <a:ext cx="307238" cy="307238"/>
          </a:xfrm>
          <a:prstGeom prst="rect">
            <a:avLst/>
          </a:prstGeom>
        </p:spPr>
      </p:pic>
      <p:sp>
        <p:nvSpPr>
          <p:cNvPr id="23" name="Text 15"/>
          <p:cNvSpPr txBox="1"/>
          <p:nvPr/>
        </p:nvSpPr>
        <p:spPr>
          <a:xfrm>
            <a:off x="8366760" y="2706624"/>
            <a:ext cx="3200400" cy="841248"/>
          </a:xfrm>
          <a:prstGeom prst="rect">
            <a:avLst/>
          </a:prstGeom>
          <a:noFill/>
          <a:ln/>
        </p:spPr>
        <p:txBody>
          <a:bodyPr wrap="square" lIns="0" tIns="0" rIns="0" bIns="0" rtlCol="0" anchor="ctr"/>
          <a:lstStyle/>
          <a:p>
            <a:pPr indent="0" marL="0">
              <a:buNone/>
            </a:pPr>
            <a:r>
              <a:rPr lang="en-US" sz="6000" b="1" dirty="0">
                <a:solidFill>
                  <a:srgbClr val="0B2545"/>
                </a:solidFill>
              </a:rPr>
              <a:t>~127M</a:t>
            </a:r>
            <a:endParaRPr lang="en-US" sz="6000" dirty="0"/>
          </a:p>
        </p:txBody>
      </p:sp>
      <p:sp>
        <p:nvSpPr>
          <p:cNvPr id="24" name="Text 16"/>
          <p:cNvSpPr txBox="1"/>
          <p:nvPr/>
        </p:nvSpPr>
        <p:spPr>
          <a:xfrm>
            <a:off x="836676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passport-less clearances in Singapore, 2025</a:t>
            </a:r>
            <a:endParaRPr lang="en-US" sz="1800" dirty="0"/>
          </a:p>
        </p:txBody>
      </p:sp>
      <p:sp>
        <p:nvSpPr>
          <p:cNvPr id="25" name="Shape 17"/>
          <p:cNvSpPr/>
          <p:nvPr/>
        </p:nvSpPr>
        <p:spPr>
          <a:xfrm>
            <a:off x="457200" y="5394960"/>
            <a:ext cx="11247120" cy="914"/>
          </a:xfrm>
          <a:prstGeom prst="line">
            <a:avLst/>
          </a:prstGeom>
          <a:noFill/>
          <a:ln w="19050">
            <a:solidFill>
              <a:srgbClr val="0B2545"/>
            </a:solidFill>
            <a:prstDash val="solid"/>
          </a:ln>
        </p:spPr>
      </p:sp>
      <p:sp>
        <p:nvSpPr>
          <p:cNvPr id="26" name="Shape 18"/>
          <p:cNvSpPr/>
          <p:nvPr/>
        </p:nvSpPr>
        <p:spPr>
          <a:xfrm>
            <a:off x="1755648" y="5321808"/>
            <a:ext cx="146304" cy="146304"/>
          </a:xfrm>
          <a:prstGeom prst="ellipse">
            <a:avLst/>
          </a:prstGeom>
          <a:solidFill>
            <a:srgbClr val="0B2545"/>
          </a:solidFill>
          <a:ln w="19050">
            <a:solidFill>
              <a:srgbClr val="FFFFFF"/>
            </a:solidFill>
            <a:prstDash val="solid"/>
          </a:ln>
        </p:spPr>
      </p:sp>
      <p:sp>
        <p:nvSpPr>
          <p:cNvPr id="27" name="Text 19"/>
          <p:cNvSpPr txBox="1"/>
          <p:nvPr/>
        </p:nvSpPr>
        <p:spPr>
          <a:xfrm>
            <a:off x="365760" y="4681728"/>
            <a:ext cx="2926080" cy="566928"/>
          </a:xfrm>
          <a:prstGeom prst="rect">
            <a:avLst/>
          </a:prstGeom>
          <a:noFill/>
          <a:ln/>
        </p:spPr>
        <p:txBody>
          <a:bodyPr wrap="square" lIns="0" tIns="0" rIns="0" bIns="0" rtlCol="0" anchor="b"/>
          <a:lstStyle/>
          <a:p>
            <a:pPr algn="ctr" indent="0" marL="0">
              <a:buNone/>
            </a:pPr>
            <a:r>
              <a:rPr lang="en-US" sz="1400" b="1" dirty="0">
                <a:solidFill>
                  <a:srgbClr val="0B1526"/>
                </a:solidFill>
              </a:rPr>
              <a:t>Sep 2024</a:t>
            </a:r>
            <a:pPr algn="ctr" indent="0" marL="0">
              <a:buNone/>
            </a:pPr>
            <a:r>
              <a:rPr lang="en-US" sz="1400" dirty="0">
                <a:solidFill>
                  <a:srgbClr val="0B1526"/>
                </a:solidFill>
              </a:rPr>
              <a:t> · Changi passport-less,</a:t>
            </a:r>
            <a:endParaRPr lang="en-US" sz="1400" dirty="0"/>
          </a:p>
          <a:p>
            <a:pPr algn="ctr" indent="0" marL="0">
              <a:buNone/>
            </a:pPr>
            <a:r>
              <a:rPr lang="en-US" sz="1400" dirty="0">
                <a:solidFill>
                  <a:srgbClr val="0B1526"/>
                </a:solidFill>
              </a:rPr>
              <a:t>all terminals</a:t>
            </a:r>
            <a:endParaRPr lang="en-US" sz="1400" dirty="0"/>
          </a:p>
        </p:txBody>
      </p:sp>
      <p:sp>
        <p:nvSpPr>
          <p:cNvPr id="28" name="Shape 20"/>
          <p:cNvSpPr/>
          <p:nvPr/>
        </p:nvSpPr>
        <p:spPr>
          <a:xfrm>
            <a:off x="4407408" y="5321808"/>
            <a:ext cx="146304" cy="146304"/>
          </a:xfrm>
          <a:prstGeom prst="ellipse">
            <a:avLst/>
          </a:prstGeom>
          <a:solidFill>
            <a:srgbClr val="0B2545"/>
          </a:solidFill>
          <a:ln w="19050">
            <a:solidFill>
              <a:srgbClr val="FFFFFF"/>
            </a:solidFill>
            <a:prstDash val="solid"/>
          </a:ln>
        </p:spPr>
      </p:sp>
      <p:sp>
        <p:nvSpPr>
          <p:cNvPr id="29" name="Text 21"/>
          <p:cNvSpPr txBox="1"/>
          <p:nvPr/>
        </p:nvSpPr>
        <p:spPr>
          <a:xfrm>
            <a:off x="3017520" y="5559552"/>
            <a:ext cx="2926080" cy="566928"/>
          </a:xfrm>
          <a:prstGeom prst="rect">
            <a:avLst/>
          </a:prstGeom>
          <a:noFill/>
          <a:ln/>
        </p:spPr>
        <p:txBody>
          <a:bodyPr wrap="square" lIns="0" tIns="0" rIns="0" bIns="0" rtlCol="0" anchor="t"/>
          <a:lstStyle/>
          <a:p>
            <a:pPr algn="ctr" indent="0" marL="0">
              <a:buNone/>
            </a:pPr>
            <a:r>
              <a:rPr lang="en-US" sz="1400" b="1" dirty="0">
                <a:solidFill>
                  <a:srgbClr val="0B1526"/>
                </a:solidFill>
              </a:rPr>
              <a:t>Nov 2025</a:t>
            </a:r>
            <a:pPr algn="ctr" indent="0" marL="0">
              <a:buNone/>
            </a:pPr>
            <a:r>
              <a:rPr lang="en-US" sz="1400" dirty="0">
                <a:solidFill>
                  <a:srgbClr val="0B1526"/>
                </a:solidFill>
              </a:rPr>
              <a:t> · Indonesia</a:t>
            </a:r>
            <a:endParaRPr lang="en-US" sz="1400" dirty="0"/>
          </a:p>
          <a:p>
            <a:pPr algn="ctr" indent="0" marL="0">
              <a:buNone/>
            </a:pPr>
            <a:r>
              <a:rPr lang="en-US" sz="1400" dirty="0">
                <a:solidFill>
                  <a:srgbClr val="0B1526"/>
                </a:solidFill>
              </a:rPr>
              <a:t>walk-through corridors</a:t>
            </a:r>
            <a:endParaRPr lang="en-US" sz="1400" dirty="0"/>
          </a:p>
        </p:txBody>
      </p:sp>
      <p:sp>
        <p:nvSpPr>
          <p:cNvPr id="30" name="Shape 22"/>
          <p:cNvSpPr/>
          <p:nvPr/>
        </p:nvSpPr>
        <p:spPr>
          <a:xfrm>
            <a:off x="7059168" y="5321808"/>
            <a:ext cx="146304" cy="146304"/>
          </a:xfrm>
          <a:prstGeom prst="ellipse">
            <a:avLst/>
          </a:prstGeom>
          <a:solidFill>
            <a:srgbClr val="0B2545"/>
          </a:solidFill>
          <a:ln w="19050">
            <a:solidFill>
              <a:srgbClr val="FFFFFF"/>
            </a:solidFill>
            <a:prstDash val="solid"/>
          </a:ln>
        </p:spPr>
      </p:sp>
      <p:sp>
        <p:nvSpPr>
          <p:cNvPr id="31" name="Text 23"/>
          <p:cNvSpPr txBox="1"/>
          <p:nvPr/>
        </p:nvSpPr>
        <p:spPr>
          <a:xfrm>
            <a:off x="5669280" y="4681728"/>
            <a:ext cx="2926080" cy="566928"/>
          </a:xfrm>
          <a:prstGeom prst="rect">
            <a:avLst/>
          </a:prstGeom>
          <a:noFill/>
          <a:ln/>
        </p:spPr>
        <p:txBody>
          <a:bodyPr wrap="square" lIns="0" tIns="0" rIns="0" bIns="0" rtlCol="0" anchor="b"/>
          <a:lstStyle/>
          <a:p>
            <a:pPr algn="ctr" indent="0" marL="0">
              <a:buNone/>
            </a:pPr>
            <a:r>
              <a:rPr lang="en-US" sz="1400" b="1" dirty="0">
                <a:solidFill>
                  <a:srgbClr val="0B1526"/>
                </a:solidFill>
              </a:rPr>
              <a:t>Apr 2026</a:t>
            </a:r>
            <a:pPr algn="ctr" indent="0" marL="0">
              <a:buNone/>
            </a:pPr>
            <a:r>
              <a:rPr lang="en-US" sz="1400" dirty="0">
                <a:solidFill>
                  <a:srgbClr val="0B1526"/>
                </a:solidFill>
              </a:rPr>
              <a:t> · ICAO drafts</a:t>
            </a:r>
            <a:endParaRPr lang="en-US" sz="1400" dirty="0"/>
          </a:p>
          <a:p>
            <a:pPr algn="ctr" indent="0" marL="0">
              <a:buNone/>
            </a:pPr>
            <a:r>
              <a:rPr lang="en-US" sz="1400" dirty="0">
                <a:solidFill>
                  <a:srgbClr val="0B1526"/>
                </a:solidFill>
              </a:rPr>
              <a:t>phone-credential standards</a:t>
            </a:r>
            <a:endParaRPr lang="en-US" sz="1400" dirty="0"/>
          </a:p>
        </p:txBody>
      </p:sp>
      <p:sp>
        <p:nvSpPr>
          <p:cNvPr id="32" name="Shape 24"/>
          <p:cNvSpPr/>
          <p:nvPr/>
        </p:nvSpPr>
        <p:spPr>
          <a:xfrm>
            <a:off x="9665208" y="5276088"/>
            <a:ext cx="237744" cy="237744"/>
          </a:xfrm>
          <a:prstGeom prst="ellipse">
            <a:avLst/>
          </a:prstGeom>
          <a:solidFill>
            <a:srgbClr val="0B84AE"/>
          </a:solidFill>
          <a:ln w="19050">
            <a:solidFill>
              <a:srgbClr val="FFFFFF"/>
            </a:solidFill>
            <a:prstDash val="solid"/>
          </a:ln>
        </p:spPr>
      </p:sp>
      <p:sp>
        <p:nvSpPr>
          <p:cNvPr id="33" name="Text 25"/>
          <p:cNvSpPr txBox="1"/>
          <p:nvPr/>
        </p:nvSpPr>
        <p:spPr>
          <a:xfrm>
            <a:off x="8321040" y="5559552"/>
            <a:ext cx="2926080" cy="566928"/>
          </a:xfrm>
          <a:prstGeom prst="rect">
            <a:avLst/>
          </a:prstGeom>
          <a:noFill/>
          <a:ln/>
        </p:spPr>
        <p:txBody>
          <a:bodyPr wrap="square" lIns="0" tIns="0" rIns="0" bIns="0" rtlCol="0" anchor="t"/>
          <a:lstStyle/>
          <a:p>
            <a:pPr algn="ctr" indent="0" marL="0">
              <a:buNone/>
            </a:pPr>
            <a:r>
              <a:rPr lang="en-US" sz="1400" b="1" dirty="0">
                <a:solidFill>
                  <a:srgbClr val="0B84AE"/>
                </a:solidFill>
              </a:rPr>
              <a:t>2027</a:t>
            </a:r>
            <a:pPr algn="ctr" indent="0" marL="0">
              <a:buNone/>
            </a:pPr>
            <a:r>
              <a:rPr lang="en-US" sz="1400" dirty="0">
                <a:solidFill>
                  <a:srgbClr val="0B84AE"/>
                </a:solidFill>
              </a:rPr>
              <a:t> · FastPass pilot (target)</a:t>
            </a:r>
            <a:endParaRPr lang="en-US" sz="1400" dirty="0"/>
          </a:p>
        </p:txBody>
      </p:sp>
      <p:sp>
        <p:nvSpPr>
          <p:cNvPr id="34"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SITA Air Transport IT Insights 2025 (Apr 2026) · SITA Passenger IT Insights 2025 (Oct 2025) · ICA (Oct 2024; 2025 statistics) · Amadeus (Nov 2025) · ICAO FALP/14-WP/21 (proposed, not adopted)</a:t>
            </a:r>
            <a:endParaRPr lang="en-US" sz="900" dirty="0"/>
          </a:p>
        </p:txBody>
      </p:sp>
      <p:sp>
        <p:nvSpPr>
          <p:cNvPr id="35"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3  |</a:t>
            </a:r>
            <a:endParaRPr lang="en-US" sz="1200" dirty="0"/>
          </a:p>
        </p:txBody>
      </p:sp>
      <p:grpSp>
        <p:nvGrpSpPr>
          <p:cNvPr id="3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Our insight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Phone in the pocket + face in stride = cleared.</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Corridors match a stored face. We add the phone you carry.</a:t>
            </a:r>
            <a:endParaRPr lang="en-US" sz="1800" dirty="0"/>
          </a:p>
        </p:txBody>
      </p:sp>
      <p:sp>
        <p:nvSpPr>
          <p:cNvPr id="8" name="Shape 3"/>
          <p:cNvSpPr/>
          <p:nvPr/>
        </p:nvSpPr>
        <p:spPr>
          <a:xfrm>
            <a:off x="3032608" y="1993392"/>
            <a:ext cx="1554480" cy="1554480"/>
          </a:xfrm>
          <a:prstGeom prst="ellipse">
            <a:avLst/>
          </a:prstGeom>
          <a:solidFill>
            <a:srgbClr val="FFFFFF"/>
          </a:solidFill>
          <a:ln w="31750">
            <a:solidFill>
              <a:srgbClr val="0B84AE"/>
            </a:solidFill>
            <a:prstDash val="solid"/>
          </a:ln>
          <a:effectLst>
            <a:outerShdw sx="100000" sy="100000" kx="0" ky="0" algn="bl" rotWithShape="0" blurRad="152400" dist="25400" dir="5400000">
              <a:srgbClr val="0A1628">
                <a:alpha val="12000"/>
              </a:srgbClr>
            </a:outerShdw>
          </a:effectLst>
        </p:spPr>
      </p:sp>
      <p:pic>
        <p:nvPicPr>
          <p:cNvPr id="9" name="Image 0" descr="">    </p:cNvPr>
          <p:cNvPicPr>
            <a:picLocks noChangeAspect="1"/>
          </p:cNvPicPr>
          <p:nvPr/>
        </p:nvPicPr>
        <p:blipFill>
          <a:blip r:embed="rId3"/>
          <a:stretch>
            <a:fillRect/>
          </a:stretch>
        </p:blipFill>
        <p:spPr>
          <a:xfrm>
            <a:off x="3467862" y="2428646"/>
            <a:ext cx="683971" cy="683971"/>
          </a:xfrm>
          <a:prstGeom prst="rect">
            <a:avLst/>
          </a:prstGeom>
        </p:spPr>
      </p:pic>
      <p:sp>
        <p:nvSpPr>
          <p:cNvPr id="10" name="Text 4"/>
          <p:cNvSpPr txBox="1"/>
          <p:nvPr/>
        </p:nvSpPr>
        <p:spPr>
          <a:xfrm>
            <a:off x="2666848" y="3621024"/>
            <a:ext cx="2286000" cy="329184"/>
          </a:xfrm>
          <a:prstGeom prst="rect">
            <a:avLst/>
          </a:prstGeom>
          <a:noFill/>
          <a:ln/>
        </p:spPr>
        <p:txBody>
          <a:bodyPr wrap="square" lIns="0" tIns="0" rIns="0" bIns="0" rtlCol="0" anchor="ctr"/>
          <a:lstStyle/>
          <a:p>
            <a:pPr algn="ctr" indent="0" marL="0">
              <a:buNone/>
            </a:pPr>
            <a:r>
              <a:rPr lang="en-US" sz="2000" b="1" dirty="0">
                <a:solidFill>
                  <a:srgbClr val="0B1526"/>
                </a:solidFill>
              </a:rPr>
              <a:t>Device credential</a:t>
            </a:r>
            <a:endParaRPr lang="en-US" sz="2000" dirty="0"/>
          </a:p>
        </p:txBody>
      </p:sp>
      <p:sp>
        <p:nvSpPr>
          <p:cNvPr id="11" name="Text 5"/>
          <p:cNvSpPr txBox="1"/>
          <p:nvPr/>
        </p:nvSpPr>
        <p:spPr>
          <a:xfrm>
            <a:off x="4587088" y="2404872"/>
            <a:ext cx="731520" cy="731520"/>
          </a:xfrm>
          <a:prstGeom prst="rect">
            <a:avLst/>
          </a:prstGeom>
          <a:noFill/>
          <a:ln/>
        </p:spPr>
        <p:txBody>
          <a:bodyPr wrap="square" lIns="0" tIns="0" rIns="0" bIns="0" rtlCol="0" anchor="ctr"/>
          <a:lstStyle/>
          <a:p>
            <a:pPr algn="ctr" indent="0" marL="0">
              <a:buNone/>
            </a:pPr>
            <a:r>
              <a:rPr lang="en-US" sz="4000" b="1" dirty="0">
                <a:solidFill>
                  <a:srgbClr val="0B2545"/>
                </a:solidFill>
              </a:rPr>
              <a:t>+</a:t>
            </a:r>
            <a:endParaRPr lang="en-US" sz="4000" dirty="0"/>
          </a:p>
        </p:txBody>
      </p:sp>
      <p:sp>
        <p:nvSpPr>
          <p:cNvPr id="12" name="Shape 6"/>
          <p:cNvSpPr/>
          <p:nvPr/>
        </p:nvSpPr>
        <p:spPr>
          <a:xfrm>
            <a:off x="5318608" y="1993392"/>
            <a:ext cx="1554480" cy="1554480"/>
          </a:xfrm>
          <a:prstGeom prst="ellipse">
            <a:avLst/>
          </a:prstGeom>
          <a:solidFill>
            <a:srgbClr val="FFFFFF"/>
          </a:solidFill>
          <a:ln w="31750">
            <a:solidFill>
              <a:srgbClr val="0B84AE"/>
            </a:solidFill>
            <a:prstDash val="solid"/>
          </a:ln>
          <a:effectLst>
            <a:outerShdw sx="100000" sy="100000" kx="0" ky="0" algn="bl" rotWithShape="0" blurRad="152400" dist="25400" dir="5400000">
              <a:srgbClr val="0A1628">
                <a:alpha val="12000"/>
              </a:srgbClr>
            </a:outerShdw>
          </a:effectLst>
        </p:spPr>
      </p:sp>
      <p:pic>
        <p:nvPicPr>
          <p:cNvPr id="13" name="Image 1" descr="">    </p:cNvPr>
          <p:cNvPicPr>
            <a:picLocks noChangeAspect="1"/>
          </p:cNvPicPr>
          <p:nvPr/>
        </p:nvPicPr>
        <p:blipFill>
          <a:blip r:embed="rId4"/>
          <a:stretch>
            <a:fillRect/>
          </a:stretch>
        </p:blipFill>
        <p:spPr>
          <a:xfrm>
            <a:off x="5753862" y="2428646"/>
            <a:ext cx="683971" cy="683971"/>
          </a:xfrm>
          <a:prstGeom prst="rect">
            <a:avLst/>
          </a:prstGeom>
        </p:spPr>
      </p:pic>
      <p:sp>
        <p:nvSpPr>
          <p:cNvPr id="14" name="Text 7"/>
          <p:cNvSpPr txBox="1"/>
          <p:nvPr/>
        </p:nvSpPr>
        <p:spPr>
          <a:xfrm>
            <a:off x="4952848" y="3621024"/>
            <a:ext cx="2286000" cy="329184"/>
          </a:xfrm>
          <a:prstGeom prst="rect">
            <a:avLst/>
          </a:prstGeom>
          <a:noFill/>
          <a:ln/>
        </p:spPr>
        <p:txBody>
          <a:bodyPr wrap="square" lIns="0" tIns="0" rIns="0" bIns="0" rtlCol="0" anchor="ctr"/>
          <a:lstStyle/>
          <a:p>
            <a:pPr algn="ctr" indent="0" marL="0">
              <a:buNone/>
            </a:pPr>
            <a:r>
              <a:rPr lang="en-US" sz="2000" b="1" dirty="0">
                <a:solidFill>
                  <a:srgbClr val="0B1526"/>
                </a:solidFill>
              </a:rPr>
              <a:t>Live face</a:t>
            </a:r>
            <a:endParaRPr lang="en-US" sz="2000" dirty="0"/>
          </a:p>
        </p:txBody>
      </p:sp>
      <p:sp>
        <p:nvSpPr>
          <p:cNvPr id="15" name="Text 8"/>
          <p:cNvSpPr txBox="1"/>
          <p:nvPr/>
        </p:nvSpPr>
        <p:spPr>
          <a:xfrm>
            <a:off x="6873088" y="2404872"/>
            <a:ext cx="731520" cy="731520"/>
          </a:xfrm>
          <a:prstGeom prst="rect">
            <a:avLst/>
          </a:prstGeom>
          <a:noFill/>
          <a:ln/>
        </p:spPr>
        <p:txBody>
          <a:bodyPr wrap="square" lIns="0" tIns="0" rIns="0" bIns="0" rtlCol="0" anchor="ctr"/>
          <a:lstStyle/>
          <a:p>
            <a:pPr algn="ctr" indent="0" marL="0">
              <a:buNone/>
            </a:pPr>
            <a:r>
              <a:rPr lang="en-US" sz="4000" b="1" dirty="0">
                <a:solidFill>
                  <a:srgbClr val="0B2545"/>
                </a:solidFill>
              </a:rPr>
              <a:t>=</a:t>
            </a:r>
            <a:endParaRPr lang="en-US" sz="4000" dirty="0"/>
          </a:p>
        </p:txBody>
      </p:sp>
      <p:sp>
        <p:nvSpPr>
          <p:cNvPr id="16" name="Shape 9"/>
          <p:cNvSpPr/>
          <p:nvPr/>
        </p:nvSpPr>
        <p:spPr>
          <a:xfrm>
            <a:off x="7604608" y="1993392"/>
            <a:ext cx="1554480" cy="1554480"/>
          </a:xfrm>
          <a:prstGeom prst="ellipse">
            <a:avLst/>
          </a:prstGeom>
          <a:solidFill>
            <a:srgbClr val="1E9E50"/>
          </a:solidFill>
          <a:ln/>
          <a:effectLst>
            <a:outerShdw sx="100000" sy="100000" kx="0" ky="0" algn="bl" rotWithShape="0" blurRad="152400" dist="25400" dir="5400000">
              <a:srgbClr val="0A1628">
                <a:alpha val="12000"/>
              </a:srgbClr>
            </a:outerShdw>
          </a:effectLst>
        </p:spPr>
      </p:sp>
      <p:pic>
        <p:nvPicPr>
          <p:cNvPr id="17" name="Image 2" descr="">    </p:cNvPr>
          <p:cNvPicPr>
            <a:picLocks noChangeAspect="1"/>
          </p:cNvPicPr>
          <p:nvPr/>
        </p:nvPicPr>
        <p:blipFill>
          <a:blip r:embed="rId5"/>
          <a:stretch>
            <a:fillRect/>
          </a:stretch>
        </p:blipFill>
        <p:spPr>
          <a:xfrm>
            <a:off x="8039862" y="2428646"/>
            <a:ext cx="683971" cy="683971"/>
          </a:xfrm>
          <a:prstGeom prst="rect">
            <a:avLst/>
          </a:prstGeom>
        </p:spPr>
      </p:pic>
      <p:sp>
        <p:nvSpPr>
          <p:cNvPr id="18" name="Text 10"/>
          <p:cNvSpPr txBox="1"/>
          <p:nvPr/>
        </p:nvSpPr>
        <p:spPr>
          <a:xfrm>
            <a:off x="7238848" y="3621024"/>
            <a:ext cx="2286000" cy="329184"/>
          </a:xfrm>
          <a:prstGeom prst="rect">
            <a:avLst/>
          </a:prstGeom>
          <a:noFill/>
          <a:ln/>
        </p:spPr>
        <p:txBody>
          <a:bodyPr wrap="square" lIns="0" tIns="0" rIns="0" bIns="0" rtlCol="0" anchor="ctr"/>
          <a:lstStyle/>
          <a:p>
            <a:pPr algn="ctr" indent="0" marL="0">
              <a:buNone/>
            </a:pPr>
            <a:r>
              <a:rPr lang="en-US" sz="2000" b="1" dirty="0">
                <a:solidFill>
                  <a:srgbClr val="1E9E50"/>
                </a:solidFill>
              </a:rPr>
              <a:t>Cleared</a:t>
            </a:r>
            <a:endParaRPr lang="en-US" sz="2000" dirty="0"/>
          </a:p>
        </p:txBody>
      </p:sp>
      <p:sp>
        <p:nvSpPr>
          <p:cNvPr id="19" name="Text 11"/>
          <p:cNvSpPr txBox="1"/>
          <p:nvPr/>
        </p:nvSpPr>
        <p:spPr>
          <a:xfrm>
            <a:off x="1962151" y="4005072"/>
            <a:ext cx="4282857" cy="868680"/>
          </a:xfrm>
          <a:prstGeom prst="rect">
            <a:avLst/>
          </a:prstGeom>
          <a:noFill/>
          <a:ln/>
        </p:spPr>
        <p:txBody>
          <a:bodyPr wrap="square" lIns="0" tIns="0" rIns="0" bIns="0" rtlCol="0" anchor="ctr"/>
          <a:lstStyle/>
          <a:p>
            <a:pPr indent="0" marL="0">
              <a:buNone/>
            </a:pPr>
            <a:r>
              <a:rPr lang="en-US" sz="6000" b="1" dirty="0">
                <a:solidFill>
                  <a:srgbClr val="0B2545"/>
                </a:solidFill>
              </a:rPr>
              <a:t>Up to </a:t>
            </a:r>
            <a:pPr indent="0" marL="0">
              <a:buNone/>
            </a:pPr>
            <a:r>
              <a:rPr lang="en-US" sz="6000" b="1" dirty="0">
                <a:solidFill>
                  <a:srgbClr val="D97706"/>
                </a:solidFill>
              </a:rPr>
              <a:t>4</a:t>
            </a:r>
            <a:pPr indent="0" marL="0">
              <a:buNone/>
            </a:pPr>
            <a:r>
              <a:rPr lang="en-US" sz="6000" b="1" dirty="0">
                <a:solidFill>
                  <a:srgbClr val="0B2545"/>
                </a:solidFill>
              </a:rPr>
              <a:t> → </a:t>
            </a:r>
            <a:pPr indent="0" marL="0">
              <a:buNone/>
            </a:pPr>
            <a:r>
              <a:rPr lang="en-US" sz="6000" b="1" dirty="0">
                <a:solidFill>
                  <a:srgbClr val="0B84AE"/>
                </a:solidFill>
              </a:rPr>
              <a:t>0</a:t>
            </a:r>
            <a:endParaRPr lang="en-US" sz="6000" dirty="0"/>
          </a:p>
        </p:txBody>
      </p:sp>
      <p:sp>
        <p:nvSpPr>
          <p:cNvPr id="20" name="Text 12"/>
          <p:cNvSpPr txBox="1"/>
          <p:nvPr/>
        </p:nvSpPr>
        <p:spPr>
          <a:xfrm>
            <a:off x="6427888" y="4041648"/>
            <a:ext cx="3801656" cy="777240"/>
          </a:xfrm>
          <a:prstGeom prst="rect">
            <a:avLst/>
          </a:prstGeom>
          <a:noFill/>
          <a:ln/>
        </p:spPr>
        <p:txBody>
          <a:bodyPr wrap="square" lIns="0" tIns="0" rIns="0" bIns="0" rtlCol="0" anchor="ctr"/>
          <a:lstStyle/>
          <a:p>
            <a:pPr indent="0" marL="0">
              <a:buNone/>
            </a:pPr>
            <a:r>
              <a:rPr lang="en-US" sz="1800" dirty="0">
                <a:solidFill>
                  <a:srgbClr val="4A5870"/>
                </a:solidFill>
              </a:rPr>
              <a:t>document stops at full rollout (target)</a:t>
            </a:r>
            <a:endParaRPr lang="en-US" sz="1800" dirty="0"/>
          </a:p>
          <a:p>
            <a:pPr indent="0" marL="0">
              <a:buNone/>
            </a:pPr>
            <a:r>
              <a:rPr lang="en-US" sz="1800" dirty="0">
                <a:solidFill>
                  <a:srgbClr val="4A5870"/>
                </a:solidFill>
              </a:rPr>
              <a:t>pilot lane: 1 → 0</a:t>
            </a:r>
            <a:endParaRPr lang="en-US" sz="1800" dirty="0"/>
          </a:p>
        </p:txBody>
      </p:sp>
      <p:sp>
        <p:nvSpPr>
          <p:cNvPr id="21" name="Text 13"/>
          <p:cNvSpPr txBox="1"/>
          <p:nvPr/>
        </p:nvSpPr>
        <p:spPr>
          <a:xfrm>
            <a:off x="457200" y="4901184"/>
            <a:ext cx="11274552" cy="274320"/>
          </a:xfrm>
          <a:prstGeom prst="rect">
            <a:avLst/>
          </a:prstGeom>
          <a:noFill/>
          <a:ln/>
        </p:spPr>
        <p:txBody>
          <a:bodyPr wrap="square" lIns="0" tIns="0" rIns="0" bIns="0" rtlCol="0" anchor="ctr"/>
          <a:lstStyle/>
          <a:p>
            <a:pPr algn="ctr" indent="0" marL="0">
              <a:buNone/>
            </a:pPr>
            <a:r>
              <a:rPr lang="en-US" sz="1600" dirty="0">
                <a:solidFill>
                  <a:srgbClr val="4A5870"/>
                </a:solidFill>
              </a:rPr>
              <a:t>Two factors by design; independent tests at M2.</a:t>
            </a:r>
            <a:endParaRPr lang="en-US" sz="1600" dirty="0"/>
          </a:p>
        </p:txBody>
      </p:sp>
      <p:sp>
        <p:nvSpPr>
          <p:cNvPr id="22" name="Shape 14"/>
          <p:cNvSpPr/>
          <p:nvPr/>
        </p:nvSpPr>
        <p:spPr>
          <a:xfrm>
            <a:off x="2314065" y="5394960"/>
            <a:ext cx="7563564" cy="512064"/>
          </a:xfrm>
          <a:prstGeom prst="roundRect">
            <a:avLst>
              <a:gd name="adj" fmla="val 50000"/>
            </a:avLst>
          </a:prstGeom>
          <a:solidFill>
            <a:srgbClr val="0B2545"/>
          </a:solidFill>
          <a:ln/>
          <a:effectLst>
            <a:outerShdw sx="100000" sy="100000" kx="0" ky="0" algn="bl" rotWithShape="0" blurRad="152400" dist="25400" dir="5400000">
              <a:srgbClr val="0A1628">
                <a:alpha val="12000"/>
              </a:srgbClr>
            </a:outerShdw>
          </a:effectLst>
        </p:spPr>
      </p:sp>
      <p:sp>
        <p:nvSpPr>
          <p:cNvPr id="23" name="Text 15"/>
          <p:cNvSpPr txBox="1"/>
          <p:nvPr/>
        </p:nvSpPr>
        <p:spPr>
          <a:xfrm>
            <a:off x="2314065" y="5394960"/>
            <a:ext cx="7563564" cy="512064"/>
          </a:xfrm>
          <a:prstGeom prst="rect">
            <a:avLst/>
          </a:prstGeom>
          <a:noFill/>
          <a:ln/>
        </p:spPr>
        <p:txBody>
          <a:bodyPr wrap="square" lIns="0" tIns="0" rIns="0" bIns="0" rtlCol="0" anchor="ctr"/>
          <a:lstStyle/>
          <a:p>
            <a:pPr algn="ctr" indent="0" marL="0">
              <a:buNone/>
            </a:pPr>
            <a:r>
              <a:rPr lang="en-US" sz="1600" dirty="0">
                <a:solidFill>
                  <a:srgbClr val="FFFFFF"/>
                </a:solidFill>
              </a:rPr>
              <a:t>Our bet, tested at M1: a second factor opens walk-through to more travellers.</a:t>
            </a:r>
            <a:endParaRPr lang="en-US" sz="1600" dirty="0"/>
          </a:p>
        </p:txBody>
      </p:sp>
      <p:sp>
        <p:nvSpPr>
          <p:cNvPr id="24"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Walk-through example: Dubai Red Carpet corridor, pre-registered, face only (GDRFA via International Airport Review, 2026) · Eligibility limits today: ICA (Oct 2024)</a:t>
            </a:r>
            <a:endParaRPr lang="en-US" sz="900" dirty="0"/>
          </a:p>
        </p:txBody>
      </p:sp>
      <p:sp>
        <p:nvSpPr>
          <p:cNvPr id="25"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4  |</a:t>
            </a:r>
            <a:endParaRPr lang="en-US" sz="1200" dirty="0"/>
          </a:p>
        </p:txBody>
      </p:sp>
      <p:grpSp>
        <p:nvGrpSpPr>
          <p:cNvPr id="2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0" y="0"/>
            <a:ext cx="12191695" cy="6858000"/>
          </a:xfrm>
          <a:prstGeom prst="rect">
            <a:avLst/>
          </a:prstGeom>
        </p:spPr>
      </p:pic>
      <p:sp>
        <p:nvSpPr>
          <p:cNvPr id="6" name="!!bh0"/>
          <p:cNvSpPr/>
          <p:nvPr/>
        </p:nvSpPr>
        <p:spPr>
          <a:xfrm>
            <a:off x="1609344" y="4829861"/>
            <a:ext cx="493776" cy="493776"/>
          </a:xfrm>
          <a:prstGeom prst="ellipse">
            <a:avLst/>
          </a:prstGeom>
          <a:solidFill>
            <a:srgbClr val="0B84AE">
              <a:alpha val="16000"/>
            </a:srgbClr>
          </a:solidFill>
          <a:ln/>
        </p:spPr>
      </p:sp>
      <p:sp>
        <p:nvSpPr>
          <p:cNvPr id="7" name="!!bc0"/>
          <p:cNvSpPr/>
          <p:nvPr/>
        </p:nvSpPr>
        <p:spPr>
          <a:xfrm>
            <a:off x="1700784" y="4921301"/>
            <a:ext cx="310896" cy="310896"/>
          </a:xfrm>
          <a:prstGeom prst="ellipse">
            <a:avLst/>
          </a:prstGeom>
          <a:solidFill>
            <a:srgbClr val="0B84AE"/>
          </a:solidFill>
          <a:ln w="15875">
            <a:solidFill>
              <a:srgbClr val="FFFFFF"/>
            </a:solidFill>
            <a:prstDash val="solid"/>
          </a:ln>
        </p:spPr>
      </p:sp>
      <p:sp>
        <p:nvSpPr>
          <p:cNvPr id="8" name="!!bt0"/>
          <p:cNvSpPr txBox="1"/>
          <p:nvPr/>
        </p:nvSpPr>
        <p:spPr>
          <a:xfrm>
            <a:off x="1700784" y="4921301"/>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4678070" y="3295498"/>
            <a:ext cx="493776" cy="493776"/>
          </a:xfrm>
          <a:prstGeom prst="ellipse">
            <a:avLst/>
          </a:prstGeom>
          <a:solidFill>
            <a:srgbClr val="0B84AE">
              <a:alpha val="16000"/>
            </a:srgbClr>
          </a:solidFill>
          <a:ln/>
        </p:spPr>
      </p:sp>
      <p:sp>
        <p:nvSpPr>
          <p:cNvPr id="10" name="!!bc1"/>
          <p:cNvSpPr/>
          <p:nvPr/>
        </p:nvSpPr>
        <p:spPr>
          <a:xfrm>
            <a:off x="4769510" y="3386938"/>
            <a:ext cx="310896" cy="310896"/>
          </a:xfrm>
          <a:prstGeom prst="ellipse">
            <a:avLst/>
          </a:prstGeom>
          <a:solidFill>
            <a:srgbClr val="0B84AE"/>
          </a:solidFill>
          <a:ln w="15875">
            <a:solidFill>
              <a:srgbClr val="FFFFFF"/>
            </a:solidFill>
            <a:prstDash val="solid"/>
          </a:ln>
        </p:spPr>
      </p:sp>
      <p:sp>
        <p:nvSpPr>
          <p:cNvPr id="11" name="!!bt1"/>
          <p:cNvSpPr txBox="1"/>
          <p:nvPr/>
        </p:nvSpPr>
        <p:spPr>
          <a:xfrm>
            <a:off x="4769510" y="338693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8635594" y="5002682"/>
            <a:ext cx="493776" cy="493776"/>
          </a:xfrm>
          <a:prstGeom prst="ellipse">
            <a:avLst/>
          </a:prstGeom>
          <a:solidFill>
            <a:srgbClr val="0B84AE">
              <a:alpha val="16000"/>
            </a:srgbClr>
          </a:solidFill>
          <a:ln/>
        </p:spPr>
      </p:sp>
      <p:sp>
        <p:nvSpPr>
          <p:cNvPr id="13" name="!!bc2"/>
          <p:cNvSpPr/>
          <p:nvPr/>
        </p:nvSpPr>
        <p:spPr>
          <a:xfrm>
            <a:off x="8727034" y="5094122"/>
            <a:ext cx="310896" cy="310896"/>
          </a:xfrm>
          <a:prstGeom prst="ellipse">
            <a:avLst/>
          </a:prstGeom>
          <a:solidFill>
            <a:srgbClr val="0B84AE"/>
          </a:solidFill>
          <a:ln w="15875">
            <a:solidFill>
              <a:srgbClr val="FFFFFF"/>
            </a:solidFill>
            <a:prstDash val="solid"/>
          </a:ln>
        </p:spPr>
      </p:sp>
      <p:sp>
        <p:nvSpPr>
          <p:cNvPr id="14" name="!!bt2"/>
          <p:cNvSpPr txBox="1"/>
          <p:nvPr/>
        </p:nvSpPr>
        <p:spPr>
          <a:xfrm>
            <a:off x="8727034" y="509412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4969764" y="5351983"/>
            <a:ext cx="493776" cy="493776"/>
          </a:xfrm>
          <a:prstGeom prst="ellipse">
            <a:avLst/>
          </a:prstGeom>
          <a:solidFill>
            <a:srgbClr val="0B84AE">
              <a:alpha val="16000"/>
            </a:srgbClr>
          </a:solidFill>
          <a:ln/>
        </p:spPr>
      </p:sp>
      <p:sp>
        <p:nvSpPr>
          <p:cNvPr id="16" name="!!bc3"/>
          <p:cNvSpPr/>
          <p:nvPr/>
        </p:nvSpPr>
        <p:spPr>
          <a:xfrm>
            <a:off x="5061204" y="5443423"/>
            <a:ext cx="310896" cy="310896"/>
          </a:xfrm>
          <a:prstGeom prst="ellipse">
            <a:avLst/>
          </a:prstGeom>
          <a:solidFill>
            <a:srgbClr val="0B84AE"/>
          </a:solidFill>
          <a:ln w="15875">
            <a:solidFill>
              <a:srgbClr val="FFFFFF"/>
            </a:solidFill>
            <a:prstDash val="solid"/>
          </a:ln>
        </p:spPr>
      </p:sp>
      <p:sp>
        <p:nvSpPr>
          <p:cNvPr id="17" name="!!bt3"/>
          <p:cNvSpPr txBox="1"/>
          <p:nvPr/>
        </p:nvSpPr>
        <p:spPr>
          <a:xfrm>
            <a:off x="5061204" y="544342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A"/>
          <p:cNvSpPr/>
          <p:nvPr/>
        </p:nvSpPr>
        <p:spPr>
          <a:xfrm>
            <a:off x="457200" y="5815584"/>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At"/>
          <p:cNvSpPr txBox="1"/>
          <p:nvPr/>
        </p:nvSpPr>
        <p:spPr>
          <a:xfrm>
            <a:off x="457200" y="5815584"/>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One traveller, four checks, no documents shown.</a:t>
            </a:r>
            <a:endParaRPr lang="en-US" sz="3400" dirty="0"/>
          </a:p>
        </p:txBody>
      </p:sp>
      <p:sp>
        <p:nvSpPr>
          <p:cNvPr id="23"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Illustrated walkthrough of the prototype shown at Singapore Airshow, Feb 2026.</a:t>
            </a:r>
            <a:endParaRPr lang="en-US" sz="1800" dirty="0"/>
          </a:p>
        </p:txBody>
      </p:sp>
      <p:sp>
        <p:nvSpPr>
          <p:cNvPr id="24" name="Shape 17"/>
          <p:cNvSpPr/>
          <p:nvPr/>
        </p:nvSpPr>
        <p:spPr>
          <a:xfrm>
            <a:off x="4572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25" name="Shape 18"/>
          <p:cNvSpPr/>
          <p:nvPr/>
        </p:nvSpPr>
        <p:spPr>
          <a:xfrm>
            <a:off x="566928" y="2093976"/>
            <a:ext cx="310896" cy="310896"/>
          </a:xfrm>
          <a:prstGeom prst="ellipse">
            <a:avLst/>
          </a:prstGeom>
          <a:solidFill>
            <a:srgbClr val="1E9E50"/>
          </a:solidFill>
          <a:ln/>
        </p:spPr>
      </p:sp>
      <p:pic>
        <p:nvPicPr>
          <p:cNvPr id="26" name="Image 2" descr="">    </p:cNvPr>
          <p:cNvPicPr>
            <a:picLocks noChangeAspect="1"/>
          </p:cNvPicPr>
          <p:nvPr/>
        </p:nvPicPr>
        <p:blipFill>
          <a:blip r:embed="rId5"/>
          <a:stretch>
            <a:fillRect/>
          </a:stretch>
        </p:blipFill>
        <p:spPr>
          <a:xfrm>
            <a:off x="635325" y="2162373"/>
            <a:ext cx="174102" cy="174102"/>
          </a:xfrm>
          <a:prstGeom prst="rect">
            <a:avLst/>
          </a:prstGeom>
        </p:spPr>
      </p:pic>
      <p:sp>
        <p:nvSpPr>
          <p:cNvPr id="27" name="Text 19"/>
          <p:cNvSpPr txBox="1"/>
          <p:nvPr/>
        </p:nvSpPr>
        <p:spPr>
          <a:xfrm>
            <a:off x="9692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Check-in → </a:t>
            </a:r>
            <a:pPr indent="0" marL="0">
              <a:buNone/>
            </a:pPr>
            <a:r>
              <a:rPr lang="en-US" sz="1400" dirty="0">
                <a:solidFill>
                  <a:srgbClr val="0B1526"/>
                </a:solidFill>
              </a:rPr>
              <a:t>enrol in app [+ airline online check-in]</a:t>
            </a:r>
            <a:endParaRPr lang="en-US" sz="1400" dirty="0"/>
          </a:p>
        </p:txBody>
      </p:sp>
      <p:sp>
        <p:nvSpPr>
          <p:cNvPr id="28" name="Shape 20"/>
          <p:cNvSpPr/>
          <p:nvPr/>
        </p:nvSpPr>
        <p:spPr>
          <a:xfrm>
            <a:off x="33147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29" name="Shape 21"/>
          <p:cNvSpPr/>
          <p:nvPr/>
        </p:nvSpPr>
        <p:spPr>
          <a:xfrm>
            <a:off x="3424428" y="2093976"/>
            <a:ext cx="310896" cy="310896"/>
          </a:xfrm>
          <a:prstGeom prst="ellipse">
            <a:avLst/>
          </a:prstGeom>
          <a:solidFill>
            <a:srgbClr val="1E9E50"/>
          </a:solidFill>
          <a:ln/>
        </p:spPr>
      </p:sp>
      <p:pic>
        <p:nvPicPr>
          <p:cNvPr id="30" name="Image 3" descr="">    </p:cNvPr>
          <p:cNvPicPr>
            <a:picLocks noChangeAspect="1"/>
          </p:cNvPicPr>
          <p:nvPr/>
        </p:nvPicPr>
        <p:blipFill>
          <a:blip r:embed="rId5"/>
          <a:stretch>
            <a:fillRect/>
          </a:stretch>
        </p:blipFill>
        <p:spPr>
          <a:xfrm>
            <a:off x="3492825" y="2162373"/>
            <a:ext cx="174102" cy="174102"/>
          </a:xfrm>
          <a:prstGeom prst="rect">
            <a:avLst/>
          </a:prstGeom>
        </p:spPr>
      </p:pic>
      <p:sp>
        <p:nvSpPr>
          <p:cNvPr id="31" name="Text 22"/>
          <p:cNvSpPr txBox="1"/>
          <p:nvPr/>
        </p:nvSpPr>
        <p:spPr>
          <a:xfrm>
            <a:off x="38267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Immigration → </a:t>
            </a:r>
            <a:pPr indent="0" marL="0">
              <a:buNone/>
            </a:pPr>
            <a:r>
              <a:rPr lang="en-US" sz="1400" dirty="0">
                <a:solidFill>
                  <a:srgbClr val="0B1526"/>
                </a:solidFill>
              </a:rPr>
              <a:t>Bluetooth (BLE) lane + e-gate</a:t>
            </a:r>
            <a:endParaRPr lang="en-US" sz="1400" dirty="0"/>
          </a:p>
        </p:txBody>
      </p:sp>
      <p:sp>
        <p:nvSpPr>
          <p:cNvPr id="32" name="Shape 23"/>
          <p:cNvSpPr/>
          <p:nvPr/>
        </p:nvSpPr>
        <p:spPr>
          <a:xfrm>
            <a:off x="61722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33" name="Shape 24"/>
          <p:cNvSpPr/>
          <p:nvPr/>
        </p:nvSpPr>
        <p:spPr>
          <a:xfrm>
            <a:off x="6281928" y="2093976"/>
            <a:ext cx="310896" cy="310896"/>
          </a:xfrm>
          <a:prstGeom prst="ellipse">
            <a:avLst/>
          </a:prstGeom>
          <a:solidFill>
            <a:srgbClr val="1E9E50"/>
          </a:solidFill>
          <a:ln/>
        </p:spPr>
      </p:sp>
      <p:pic>
        <p:nvPicPr>
          <p:cNvPr id="34" name="Image 4" descr="">    </p:cNvPr>
          <p:cNvPicPr>
            <a:picLocks noChangeAspect="1"/>
          </p:cNvPicPr>
          <p:nvPr/>
        </p:nvPicPr>
        <p:blipFill>
          <a:blip r:embed="rId5"/>
          <a:stretch>
            <a:fillRect/>
          </a:stretch>
        </p:blipFill>
        <p:spPr>
          <a:xfrm>
            <a:off x="6350325" y="2162373"/>
            <a:ext cx="174102" cy="174102"/>
          </a:xfrm>
          <a:prstGeom prst="rect">
            <a:avLst/>
          </a:prstGeom>
        </p:spPr>
      </p:pic>
      <p:sp>
        <p:nvSpPr>
          <p:cNvPr id="35" name="Text 25"/>
          <p:cNvSpPr txBox="1"/>
          <p:nvPr/>
        </p:nvSpPr>
        <p:spPr>
          <a:xfrm>
            <a:off x="66842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Security ID → </a:t>
            </a:r>
            <a:pPr indent="0" marL="0">
              <a:buNone/>
            </a:pPr>
            <a:r>
              <a:rPr lang="en-US" sz="1400" dirty="0">
                <a:solidFill>
                  <a:srgbClr val="0B1526"/>
                </a:solidFill>
              </a:rPr>
              <a:t>Nova Plus reader; bags still X-rayed</a:t>
            </a:r>
            <a:endParaRPr lang="en-US" sz="1400" dirty="0"/>
          </a:p>
        </p:txBody>
      </p:sp>
      <p:sp>
        <p:nvSpPr>
          <p:cNvPr id="36" name="Shape 26"/>
          <p:cNvSpPr/>
          <p:nvPr/>
        </p:nvSpPr>
        <p:spPr>
          <a:xfrm>
            <a:off x="90297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37" name="Shape 27"/>
          <p:cNvSpPr/>
          <p:nvPr/>
        </p:nvSpPr>
        <p:spPr>
          <a:xfrm>
            <a:off x="9139428" y="2093976"/>
            <a:ext cx="310896" cy="310896"/>
          </a:xfrm>
          <a:prstGeom prst="ellipse">
            <a:avLst/>
          </a:prstGeom>
          <a:solidFill>
            <a:srgbClr val="1E9E50"/>
          </a:solidFill>
          <a:ln/>
        </p:spPr>
      </p:sp>
      <p:pic>
        <p:nvPicPr>
          <p:cNvPr id="38" name="Image 5" descr="">    </p:cNvPr>
          <p:cNvPicPr>
            <a:picLocks noChangeAspect="1"/>
          </p:cNvPicPr>
          <p:nvPr/>
        </p:nvPicPr>
        <p:blipFill>
          <a:blip r:embed="rId5"/>
          <a:stretch>
            <a:fillRect/>
          </a:stretch>
        </p:blipFill>
        <p:spPr>
          <a:xfrm>
            <a:off x="9207825" y="2162373"/>
            <a:ext cx="174102" cy="174102"/>
          </a:xfrm>
          <a:prstGeom prst="rect">
            <a:avLst/>
          </a:prstGeom>
        </p:spPr>
      </p:pic>
      <p:sp>
        <p:nvSpPr>
          <p:cNvPr id="39" name="Text 28"/>
          <p:cNvSpPr txBox="1"/>
          <p:nvPr/>
        </p:nvSpPr>
        <p:spPr>
          <a:xfrm>
            <a:off x="95417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Boarding → </a:t>
            </a:r>
            <a:pPr indent="0" marL="0">
              <a:buNone/>
            </a:pPr>
            <a:r>
              <a:rPr lang="en-US" sz="1400" dirty="0">
                <a:solidFill>
                  <a:srgbClr val="0B1526"/>
                </a:solidFill>
              </a:rPr>
              <a:t>kiosk: face + phone</a:t>
            </a:r>
            <a:endParaRPr lang="en-US" sz="1400" dirty="0"/>
          </a:p>
        </p:txBody>
      </p:sp>
      <p:sp>
        <p:nvSpPr>
          <p:cNvPr id="40" name="Shape 29"/>
          <p:cNvSpPr/>
          <p:nvPr/>
        </p:nvSpPr>
        <p:spPr>
          <a:xfrm>
            <a:off x="5490972" y="5434279"/>
            <a:ext cx="4059575" cy="329184"/>
          </a:xfrm>
          <a:prstGeom prst="roundRect">
            <a:avLst>
              <a:gd name="adj" fmla="val 50000"/>
            </a:avLst>
          </a:prstGeom>
          <a:solidFill>
            <a:srgbClr val="0B2545"/>
          </a:solidFill>
          <a:ln/>
          <a:effectLst>
            <a:outerShdw sx="100000" sy="100000" kx="0" ky="0" algn="bl" rotWithShape="0" blurRad="152400" dist="25400" dir="5400000">
              <a:srgbClr val="0A1628">
                <a:alpha val="12000"/>
              </a:srgbClr>
            </a:outerShdw>
          </a:effectLst>
        </p:spPr>
      </p:sp>
      <p:sp>
        <p:nvSpPr>
          <p:cNvPr id="41" name="Text 30"/>
          <p:cNvSpPr txBox="1"/>
          <p:nvPr/>
        </p:nvSpPr>
        <p:spPr>
          <a:xfrm>
            <a:off x="5490972" y="5434279"/>
            <a:ext cx="4059575" cy="329184"/>
          </a:xfrm>
          <a:prstGeom prst="rect">
            <a:avLst/>
          </a:prstGeom>
          <a:noFill/>
          <a:ln/>
        </p:spPr>
        <p:txBody>
          <a:bodyPr wrap="square" lIns="0" tIns="0" rIns="0" bIns="0" rtlCol="0" anchor="ctr"/>
          <a:lstStyle/>
          <a:p>
            <a:pPr algn="ctr" indent="0" marL="0">
              <a:buNone/>
            </a:pPr>
            <a:r>
              <a:rPr lang="en-US" sz="1400" b="1" dirty="0">
                <a:solidFill>
                  <a:srgbClr val="FFFFFF"/>
                </a:solidFill>
              </a:rPr>
              <a:t>Behind every step: AGIL® Secure Platform</a:t>
            </a:r>
            <a:endParaRPr lang="en-US" sz="1400" dirty="0"/>
          </a:p>
        </p:txBody>
      </p:sp>
      <p:sp>
        <p:nvSpPr>
          <p:cNvPr id="42" name="Shape 31"/>
          <p:cNvSpPr/>
          <p:nvPr/>
        </p:nvSpPr>
        <p:spPr>
          <a:xfrm>
            <a:off x="2130552" y="4921301"/>
            <a:ext cx="1459805"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3" name="Text 32"/>
          <p:cNvSpPr txBox="1"/>
          <p:nvPr/>
        </p:nvSpPr>
        <p:spPr>
          <a:xfrm>
            <a:off x="2130552" y="4921301"/>
            <a:ext cx="1459805" cy="310896"/>
          </a:xfrm>
          <a:prstGeom prst="rect">
            <a:avLst/>
          </a:prstGeom>
          <a:noFill/>
          <a:ln/>
        </p:spPr>
        <p:txBody>
          <a:bodyPr wrap="square" lIns="0" tIns="0" rIns="0" bIns="0" rtlCol="0" anchor="ctr"/>
          <a:lstStyle/>
          <a:p>
            <a:pPr algn="ctr" indent="0" marL="0">
              <a:buNone/>
            </a:pPr>
            <a:r>
              <a:rPr lang="en-US" sz="1400" b="1" dirty="0">
                <a:solidFill>
                  <a:srgbClr val="0B2545"/>
                </a:solidFill>
              </a:rPr>
              <a:t>Enrol at home</a:t>
            </a:r>
            <a:endParaRPr lang="en-US" sz="1400" dirty="0"/>
          </a:p>
        </p:txBody>
      </p:sp>
      <p:sp>
        <p:nvSpPr>
          <p:cNvPr id="44" name="Shape 33"/>
          <p:cNvSpPr/>
          <p:nvPr/>
        </p:nvSpPr>
        <p:spPr>
          <a:xfrm>
            <a:off x="5199278" y="3386938"/>
            <a:ext cx="1403539"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5" name="Text 34"/>
          <p:cNvSpPr txBox="1"/>
          <p:nvPr/>
        </p:nvSpPr>
        <p:spPr>
          <a:xfrm>
            <a:off x="5199278" y="3386938"/>
            <a:ext cx="1403539" cy="310896"/>
          </a:xfrm>
          <a:prstGeom prst="rect">
            <a:avLst/>
          </a:prstGeom>
          <a:noFill/>
          <a:ln/>
        </p:spPr>
        <p:txBody>
          <a:bodyPr wrap="square" lIns="0" tIns="0" rIns="0" bIns="0" rtlCol="0" anchor="ctr"/>
          <a:lstStyle/>
          <a:p>
            <a:pPr algn="ctr" indent="0" marL="0">
              <a:buNone/>
            </a:pPr>
            <a:r>
              <a:rPr lang="en-US" sz="1400" b="1" dirty="0">
                <a:solidFill>
                  <a:srgbClr val="0B2545"/>
                </a:solidFill>
              </a:rPr>
              <a:t>Walk through</a:t>
            </a:r>
            <a:endParaRPr lang="en-US" sz="1400" dirty="0"/>
          </a:p>
        </p:txBody>
      </p:sp>
      <p:sp>
        <p:nvSpPr>
          <p:cNvPr id="46" name="Shape 35"/>
          <p:cNvSpPr/>
          <p:nvPr/>
        </p:nvSpPr>
        <p:spPr>
          <a:xfrm>
            <a:off x="9156802" y="5094122"/>
            <a:ext cx="1890058"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7" name="Text 36"/>
          <p:cNvSpPr txBox="1"/>
          <p:nvPr/>
        </p:nvSpPr>
        <p:spPr>
          <a:xfrm>
            <a:off x="9156802" y="5094122"/>
            <a:ext cx="1890058" cy="310896"/>
          </a:xfrm>
          <a:prstGeom prst="rect">
            <a:avLst/>
          </a:prstGeom>
          <a:noFill/>
          <a:ln/>
        </p:spPr>
        <p:txBody>
          <a:bodyPr wrap="square" lIns="0" tIns="0" rIns="0" bIns="0" rtlCol="0" anchor="ctr"/>
          <a:lstStyle/>
          <a:p>
            <a:pPr algn="ctr" indent="0" marL="0">
              <a:buNone/>
            </a:pPr>
            <a:r>
              <a:rPr lang="en-US" sz="1400" b="1" dirty="0">
                <a:solidFill>
                  <a:srgbClr val="0B2545"/>
                </a:solidFill>
              </a:rPr>
              <a:t>Pre-screen + board</a:t>
            </a:r>
            <a:endParaRPr lang="en-US" sz="1400" dirty="0"/>
          </a:p>
        </p:txBody>
      </p:sp>
      <p:sp>
        <p:nvSpPr>
          <p:cNvPr id="48"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49"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5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137160" y="-5715000"/>
            <a:ext cx="24383390" cy="13716000"/>
          </a:xfrm>
          <a:prstGeom prst="rect">
            <a:avLst/>
          </a:prstGeom>
        </p:spPr>
      </p:pic>
      <p:sp>
        <p:nvSpPr>
          <p:cNvPr id="6" name="!!bh0"/>
          <p:cNvSpPr/>
          <p:nvPr/>
        </p:nvSpPr>
        <p:spPr>
          <a:xfrm>
            <a:off x="3182112" y="4045306"/>
            <a:ext cx="786384" cy="786384"/>
          </a:xfrm>
          <a:prstGeom prst="ellipse">
            <a:avLst/>
          </a:prstGeom>
          <a:solidFill>
            <a:srgbClr val="0B84AE">
              <a:alpha val="30000"/>
            </a:srgbClr>
          </a:solidFill>
          <a:ln/>
        </p:spPr>
      </p:sp>
      <p:sp>
        <p:nvSpPr>
          <p:cNvPr id="7" name="!!bc0"/>
          <p:cNvSpPr/>
          <p:nvPr/>
        </p:nvSpPr>
        <p:spPr>
          <a:xfrm>
            <a:off x="3419856" y="4283050"/>
            <a:ext cx="310896" cy="310896"/>
          </a:xfrm>
          <a:prstGeom prst="ellipse">
            <a:avLst/>
          </a:prstGeom>
          <a:solidFill>
            <a:srgbClr val="0B84AE"/>
          </a:solidFill>
          <a:ln w="15875">
            <a:solidFill>
              <a:srgbClr val="FFFFFF"/>
            </a:solidFill>
            <a:prstDash val="solid"/>
          </a:ln>
        </p:spPr>
      </p:sp>
      <p:sp>
        <p:nvSpPr>
          <p:cNvPr id="8" name="!!bt0"/>
          <p:cNvSpPr txBox="1"/>
          <p:nvPr/>
        </p:nvSpPr>
        <p:spPr>
          <a:xfrm>
            <a:off x="3419856" y="428305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9465869" y="1122883"/>
            <a:ext cx="493776" cy="493776"/>
          </a:xfrm>
          <a:prstGeom prst="ellipse">
            <a:avLst/>
          </a:prstGeom>
          <a:solidFill>
            <a:srgbClr val="0B84AE">
              <a:alpha val="16000"/>
            </a:srgbClr>
          </a:solidFill>
          <a:ln/>
        </p:spPr>
      </p:sp>
      <p:sp>
        <p:nvSpPr>
          <p:cNvPr id="10" name="!!bc1"/>
          <p:cNvSpPr/>
          <p:nvPr/>
        </p:nvSpPr>
        <p:spPr>
          <a:xfrm>
            <a:off x="9557309" y="1214323"/>
            <a:ext cx="310896" cy="310896"/>
          </a:xfrm>
          <a:prstGeom prst="ellipse">
            <a:avLst/>
          </a:prstGeom>
          <a:solidFill>
            <a:srgbClr val="0B84AE"/>
          </a:solidFill>
          <a:ln w="15875">
            <a:solidFill>
              <a:srgbClr val="FFFFFF"/>
            </a:solidFill>
            <a:prstDash val="solid"/>
          </a:ln>
        </p:spPr>
      </p:sp>
      <p:sp>
        <p:nvSpPr>
          <p:cNvPr id="11" name="!!bt1"/>
          <p:cNvSpPr txBox="1"/>
          <p:nvPr/>
        </p:nvSpPr>
        <p:spPr>
          <a:xfrm>
            <a:off x="9557309" y="121432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7380915" y="4537253"/>
            <a:ext cx="493776" cy="493776"/>
          </a:xfrm>
          <a:prstGeom prst="ellipse">
            <a:avLst/>
          </a:prstGeom>
          <a:solidFill>
            <a:srgbClr val="0B84AE">
              <a:alpha val="16000"/>
            </a:srgbClr>
          </a:solidFill>
          <a:ln/>
        </p:spPr>
      </p:sp>
      <p:sp>
        <p:nvSpPr>
          <p:cNvPr id="13" name="!!bc2"/>
          <p:cNvSpPr/>
          <p:nvPr/>
        </p:nvSpPr>
        <p:spPr>
          <a:xfrm>
            <a:off x="17472355" y="4628693"/>
            <a:ext cx="310896" cy="310896"/>
          </a:xfrm>
          <a:prstGeom prst="ellipse">
            <a:avLst/>
          </a:prstGeom>
          <a:solidFill>
            <a:srgbClr val="0B84AE"/>
          </a:solidFill>
          <a:ln w="15875">
            <a:solidFill>
              <a:srgbClr val="FFFFFF"/>
            </a:solidFill>
            <a:prstDash val="solid"/>
          </a:ln>
        </p:spPr>
      </p:sp>
      <p:sp>
        <p:nvSpPr>
          <p:cNvPr id="14" name="!!bt2"/>
          <p:cNvSpPr txBox="1"/>
          <p:nvPr/>
        </p:nvSpPr>
        <p:spPr>
          <a:xfrm>
            <a:off x="17472355" y="462869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10049256" y="5235854"/>
            <a:ext cx="493776" cy="493776"/>
          </a:xfrm>
          <a:prstGeom prst="ellipse">
            <a:avLst/>
          </a:prstGeom>
          <a:solidFill>
            <a:srgbClr val="0B84AE">
              <a:alpha val="16000"/>
            </a:srgbClr>
          </a:solidFill>
          <a:ln/>
        </p:spPr>
      </p:sp>
      <p:sp>
        <p:nvSpPr>
          <p:cNvPr id="16" name="!!bc3"/>
          <p:cNvSpPr/>
          <p:nvPr/>
        </p:nvSpPr>
        <p:spPr>
          <a:xfrm>
            <a:off x="10140696" y="5327294"/>
            <a:ext cx="310896" cy="310896"/>
          </a:xfrm>
          <a:prstGeom prst="ellipse">
            <a:avLst/>
          </a:prstGeom>
          <a:solidFill>
            <a:srgbClr val="0B84AE"/>
          </a:solidFill>
          <a:ln w="15875">
            <a:solidFill>
              <a:srgbClr val="FFFFFF"/>
            </a:solidFill>
            <a:prstDash val="solid"/>
          </a:ln>
        </p:spPr>
      </p:sp>
      <p:sp>
        <p:nvSpPr>
          <p:cNvPr id="17" name="!!bt3"/>
          <p:cNvSpPr txBox="1"/>
          <p:nvPr/>
        </p:nvSpPr>
        <p:spPr>
          <a:xfrm>
            <a:off x="10140696" y="532729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1 · Enrol once, at home</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D5DCE5"/>
          </a:solidFill>
          <a:ln/>
        </p:spPr>
      </p:sp>
      <p:sp>
        <p:nvSpPr>
          <p:cNvPr id="25" name="!!pb2"/>
          <p:cNvSpPr/>
          <p:nvPr/>
        </p:nvSpPr>
        <p:spPr>
          <a:xfrm>
            <a:off x="9043416" y="1938528"/>
            <a:ext cx="1293876" cy="73152"/>
          </a:xfrm>
          <a:prstGeom prst="roundRect">
            <a:avLst>
              <a:gd name="adj" fmla="val 50000"/>
            </a:avLst>
          </a:prstGeom>
          <a:solidFill>
            <a:srgbClr val="D5DCE5"/>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b" descr="FastPass app screens (specimen data)">    </p:cNvPr>
          <p:cNvPicPr>
            <a:picLocks noChangeAspect="1"/>
          </p:cNvPicPr>
          <p:nvPr/>
        </p:nvPicPr>
        <p:blipFill>
          <a:blip r:embed="rId5"/>
          <a:srcRect l="0" r="0" t="0" b="0"/>
          <a:stretch/>
        </p:blipFill>
        <p:spPr>
          <a:xfrm>
            <a:off x="6309360" y="2139696"/>
            <a:ext cx="5394960" cy="3017520"/>
          </a:xfrm>
          <a:prstGeom prst="rect">
            <a:avLst/>
          </a:prstGeom>
        </p:spPr>
      </p:pic>
      <p:sp>
        <p:nvSpPr>
          <p:cNvPr id="29" name="!!cap5b"/>
          <p:cNvSpPr txBox="1"/>
          <p:nvPr/>
        </p:nvSpPr>
        <p:spPr>
          <a:xfrm>
            <a:off x="6309360" y="5266944"/>
            <a:ext cx="5394960" cy="877824"/>
          </a:xfrm>
          <a:prstGeom prst="rect">
            <a:avLst/>
          </a:prstGeom>
          <a:noFill/>
          <a:ln/>
        </p:spPr>
        <p:txBody>
          <a:bodyPr wrap="square" lIns="0" tIns="0" rIns="0" bIns="0" rtlCol="0" anchor="t"/>
          <a:lstStyle/>
          <a:p>
            <a:pPr indent="0" marL="0">
              <a:buNone/>
            </a:pPr>
            <a:r>
              <a:rPr lang="en-US" sz="1800" dirty="0">
                <a:solidFill>
                  <a:srgbClr val="0B1526"/>
                </a:solidFill>
              </a:rPr>
              <a:t>Passport scan and selfie, once. Encrypted on the phone; SDK for airline apps.</a:t>
            </a:r>
            <a:endParaRPr lang="en-US" sz="1800" dirty="0"/>
          </a:p>
        </p:txBody>
      </p:sp>
      <p:sp>
        <p:nvSpPr>
          <p:cNvPr id="30"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31"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3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6080760" y="-3246120"/>
            <a:ext cx="24383390" cy="13716000"/>
          </a:xfrm>
          <a:prstGeom prst="rect">
            <a:avLst/>
          </a:prstGeom>
        </p:spPr>
      </p:pic>
      <p:sp>
        <p:nvSpPr>
          <p:cNvPr id="6" name="!!bh0"/>
          <p:cNvSpPr/>
          <p:nvPr/>
        </p:nvSpPr>
        <p:spPr>
          <a:xfrm>
            <a:off x="-2615184" y="6660490"/>
            <a:ext cx="493776" cy="493776"/>
          </a:xfrm>
          <a:prstGeom prst="ellipse">
            <a:avLst/>
          </a:prstGeom>
          <a:solidFill>
            <a:srgbClr val="0B84AE">
              <a:alpha val="16000"/>
            </a:srgbClr>
          </a:solidFill>
          <a:ln/>
        </p:spPr>
      </p:sp>
      <p:sp>
        <p:nvSpPr>
          <p:cNvPr id="7" name="!!bc0"/>
          <p:cNvSpPr/>
          <p:nvPr/>
        </p:nvSpPr>
        <p:spPr>
          <a:xfrm>
            <a:off x="-2523744" y="6751930"/>
            <a:ext cx="310896" cy="310896"/>
          </a:xfrm>
          <a:prstGeom prst="ellipse">
            <a:avLst/>
          </a:prstGeom>
          <a:solidFill>
            <a:srgbClr val="0B84AE"/>
          </a:solidFill>
          <a:ln w="15875">
            <a:solidFill>
              <a:srgbClr val="FFFFFF"/>
            </a:solidFill>
            <a:prstDash val="solid"/>
          </a:ln>
        </p:spPr>
      </p:sp>
      <p:sp>
        <p:nvSpPr>
          <p:cNvPr id="8" name="!!bt0"/>
          <p:cNvSpPr txBox="1"/>
          <p:nvPr/>
        </p:nvSpPr>
        <p:spPr>
          <a:xfrm>
            <a:off x="-2523744" y="675193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3375965" y="3445459"/>
            <a:ext cx="786384" cy="786384"/>
          </a:xfrm>
          <a:prstGeom prst="ellipse">
            <a:avLst/>
          </a:prstGeom>
          <a:solidFill>
            <a:srgbClr val="0B84AE">
              <a:alpha val="30000"/>
            </a:srgbClr>
          </a:solidFill>
          <a:ln/>
        </p:spPr>
      </p:sp>
      <p:sp>
        <p:nvSpPr>
          <p:cNvPr id="10" name="!!bc1"/>
          <p:cNvSpPr/>
          <p:nvPr/>
        </p:nvSpPr>
        <p:spPr>
          <a:xfrm>
            <a:off x="3613709" y="3683203"/>
            <a:ext cx="310896" cy="310896"/>
          </a:xfrm>
          <a:prstGeom prst="ellipse">
            <a:avLst/>
          </a:prstGeom>
          <a:solidFill>
            <a:srgbClr val="0B84AE"/>
          </a:solidFill>
          <a:ln w="15875">
            <a:solidFill>
              <a:srgbClr val="FFFFFF"/>
            </a:solidFill>
            <a:prstDash val="solid"/>
          </a:ln>
        </p:spPr>
      </p:sp>
      <p:sp>
        <p:nvSpPr>
          <p:cNvPr id="11" name="!!bt1"/>
          <p:cNvSpPr txBox="1"/>
          <p:nvPr/>
        </p:nvSpPr>
        <p:spPr>
          <a:xfrm>
            <a:off x="3613709" y="368320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1437315" y="7006133"/>
            <a:ext cx="493776" cy="493776"/>
          </a:xfrm>
          <a:prstGeom prst="ellipse">
            <a:avLst/>
          </a:prstGeom>
          <a:solidFill>
            <a:srgbClr val="0B84AE">
              <a:alpha val="16000"/>
            </a:srgbClr>
          </a:solidFill>
          <a:ln/>
        </p:spPr>
      </p:sp>
      <p:sp>
        <p:nvSpPr>
          <p:cNvPr id="13" name="!!bc2"/>
          <p:cNvSpPr/>
          <p:nvPr/>
        </p:nvSpPr>
        <p:spPr>
          <a:xfrm>
            <a:off x="11528755" y="7097573"/>
            <a:ext cx="310896" cy="310896"/>
          </a:xfrm>
          <a:prstGeom prst="ellipse">
            <a:avLst/>
          </a:prstGeom>
          <a:solidFill>
            <a:srgbClr val="0B84AE"/>
          </a:solidFill>
          <a:ln w="15875">
            <a:solidFill>
              <a:srgbClr val="FFFFFF"/>
            </a:solidFill>
            <a:prstDash val="solid"/>
          </a:ln>
        </p:spPr>
      </p:sp>
      <p:sp>
        <p:nvSpPr>
          <p:cNvPr id="14" name="!!bt2"/>
          <p:cNvSpPr txBox="1"/>
          <p:nvPr/>
        </p:nvSpPr>
        <p:spPr>
          <a:xfrm>
            <a:off x="11528755" y="709757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4105656" y="7704734"/>
            <a:ext cx="493776" cy="493776"/>
          </a:xfrm>
          <a:prstGeom prst="ellipse">
            <a:avLst/>
          </a:prstGeom>
          <a:solidFill>
            <a:srgbClr val="0B84AE">
              <a:alpha val="16000"/>
            </a:srgbClr>
          </a:solidFill>
          <a:ln/>
        </p:spPr>
      </p:sp>
      <p:sp>
        <p:nvSpPr>
          <p:cNvPr id="16" name="!!bc3"/>
          <p:cNvSpPr/>
          <p:nvPr/>
        </p:nvSpPr>
        <p:spPr>
          <a:xfrm>
            <a:off x="4197096" y="7796174"/>
            <a:ext cx="310896" cy="310896"/>
          </a:xfrm>
          <a:prstGeom prst="ellipse">
            <a:avLst/>
          </a:prstGeom>
          <a:solidFill>
            <a:srgbClr val="0B84AE"/>
          </a:solidFill>
          <a:ln w="15875">
            <a:solidFill>
              <a:srgbClr val="FFFFFF"/>
            </a:solidFill>
            <a:prstDash val="solid"/>
          </a:ln>
        </p:spPr>
      </p:sp>
      <p:sp>
        <p:nvSpPr>
          <p:cNvPr id="17" name="!!bt3"/>
          <p:cNvSpPr txBox="1"/>
          <p:nvPr/>
        </p:nvSpPr>
        <p:spPr>
          <a:xfrm>
            <a:off x="4197096" y="779617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2 · Walk through: phone + face = cleared</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D5DCE5"/>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c" descr="FastPass lane and biometric e-gate">    </p:cNvPr>
          <p:cNvPicPr>
            <a:picLocks noChangeAspect="1"/>
          </p:cNvPicPr>
          <p:nvPr/>
        </p:nvPicPr>
        <p:blipFill>
          <a:blip r:embed="rId5"/>
          <a:srcRect l="0" r="0" t="0" b="0"/>
          <a:stretch/>
        </p:blipFill>
        <p:spPr>
          <a:xfrm>
            <a:off x="6309360" y="2139696"/>
            <a:ext cx="5394960" cy="3017520"/>
          </a:xfrm>
          <a:prstGeom prst="rect">
            <a:avLst/>
          </a:prstGeom>
        </p:spPr>
      </p:pic>
      <p:sp>
        <p:nvSpPr>
          <p:cNvPr id="29" name="Shape 21"/>
          <p:cNvSpPr/>
          <p:nvPr/>
        </p:nvSpPr>
        <p:spPr>
          <a:xfrm>
            <a:off x="10025487" y="2267712"/>
            <a:ext cx="1550817" cy="292608"/>
          </a:xfrm>
          <a:prstGeom prst="roundRect">
            <a:avLst>
              <a:gd name="adj" fmla="val 50000"/>
            </a:avLst>
          </a:prstGeom>
          <a:solidFill>
            <a:srgbClr val="FFFFFF">
              <a:alpha val="92000"/>
            </a:srgbClr>
          </a:solidFill>
          <a:ln/>
        </p:spPr>
      </p:sp>
      <p:sp>
        <p:nvSpPr>
          <p:cNvPr id="30" name="Text 22"/>
          <p:cNvSpPr txBox="1"/>
          <p:nvPr/>
        </p:nvSpPr>
        <p:spPr>
          <a:xfrm>
            <a:off x="10025487" y="2267712"/>
            <a:ext cx="1550817" cy="292608"/>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31" name="Shape 23"/>
          <p:cNvSpPr/>
          <p:nvPr/>
        </p:nvSpPr>
        <p:spPr>
          <a:xfrm>
            <a:off x="6812280" y="3407054"/>
            <a:ext cx="6115507" cy="2768803"/>
          </a:xfrm>
          <a:prstGeom prst="arc">
            <a:avLst>
              <a:gd name="adj1" fmla="val 10800000"/>
              <a:gd name="adj2" fmla="val 16200000"/>
            </a:avLst>
          </a:prstGeom>
          <a:noFill/>
          <a:ln w="38100">
            <a:solidFill>
              <a:srgbClr val="35C3EA"/>
            </a:solidFill>
            <a:prstDash val="sysDot"/>
          </a:ln>
        </p:spPr>
      </p:sp>
      <p:sp>
        <p:nvSpPr>
          <p:cNvPr id="32" name="Shape 24"/>
          <p:cNvSpPr/>
          <p:nvPr/>
        </p:nvSpPr>
        <p:spPr>
          <a:xfrm>
            <a:off x="6611112" y="4590288"/>
            <a:ext cx="402336" cy="402336"/>
          </a:xfrm>
          <a:prstGeom prst="ellipse">
            <a:avLst/>
          </a:prstGeom>
          <a:solidFill>
            <a:srgbClr val="0B84AE"/>
          </a:solidFill>
          <a:ln/>
        </p:spPr>
      </p:sp>
      <p:pic>
        <p:nvPicPr>
          <p:cNvPr id="33" name="Image 3" descr="">    </p:cNvPr>
          <p:cNvPicPr>
            <a:picLocks noChangeAspect="1"/>
          </p:cNvPicPr>
          <p:nvPr/>
        </p:nvPicPr>
        <p:blipFill>
          <a:blip r:embed="rId6"/>
          <a:stretch>
            <a:fillRect/>
          </a:stretch>
        </p:blipFill>
        <p:spPr>
          <a:xfrm>
            <a:off x="6699626" y="4678802"/>
            <a:ext cx="225308" cy="225308"/>
          </a:xfrm>
          <a:prstGeom prst="rect">
            <a:avLst/>
          </a:prstGeom>
        </p:spPr>
      </p:pic>
      <p:sp>
        <p:nvSpPr>
          <p:cNvPr id="34" name="Shape 25"/>
          <p:cNvSpPr/>
          <p:nvPr/>
        </p:nvSpPr>
        <p:spPr>
          <a:xfrm>
            <a:off x="7086600" y="4636008"/>
            <a:ext cx="2715705" cy="310896"/>
          </a:xfrm>
          <a:prstGeom prst="roundRect">
            <a:avLst>
              <a:gd name="adj" fmla="val 50000"/>
            </a:avLst>
          </a:prstGeom>
          <a:solidFill>
            <a:srgbClr val="0E1B2D">
              <a:alpha val="90000"/>
            </a:srgbClr>
          </a:solidFill>
          <a:ln/>
        </p:spPr>
      </p:sp>
      <p:sp>
        <p:nvSpPr>
          <p:cNvPr id="35" name="Text 26"/>
          <p:cNvSpPr txBox="1"/>
          <p:nvPr/>
        </p:nvSpPr>
        <p:spPr>
          <a:xfrm>
            <a:off x="7086600" y="4636008"/>
            <a:ext cx="2715705" cy="310896"/>
          </a:xfrm>
          <a:prstGeom prst="rect">
            <a:avLst/>
          </a:prstGeom>
          <a:noFill/>
          <a:ln/>
        </p:spPr>
        <p:txBody>
          <a:bodyPr wrap="square" lIns="0" tIns="0" rIns="0" bIns="0" rtlCol="0" anchor="ctr"/>
          <a:lstStyle/>
          <a:p>
            <a:pPr algn="ctr" indent="0" marL="0">
              <a:buNone/>
            </a:pPr>
            <a:r>
              <a:rPr lang="en-US" sz="1400" b="1" dirty="0">
                <a:solidFill>
                  <a:srgbClr val="7FD3EE"/>
                </a:solidFill>
              </a:rPr>
              <a:t>BLE pairing, phone in pocket</a:t>
            </a:r>
            <a:endParaRPr lang="en-US" sz="1400" dirty="0"/>
          </a:p>
        </p:txBody>
      </p:sp>
      <p:sp>
        <p:nvSpPr>
          <p:cNvPr id="36" name="Shape 27"/>
          <p:cNvSpPr/>
          <p:nvPr/>
        </p:nvSpPr>
        <p:spPr>
          <a:xfrm>
            <a:off x="6583680" y="2322576"/>
            <a:ext cx="1874520" cy="749808"/>
          </a:xfrm>
          <a:prstGeom prst="roundRect">
            <a:avLst>
              <a:gd name="adj" fmla="val 9756"/>
            </a:avLst>
          </a:prstGeom>
          <a:solidFill>
            <a:srgbClr val="0E1B2D"/>
          </a:solidFill>
          <a:ln w="15875">
            <a:solidFill>
              <a:srgbClr val="1E9E50"/>
            </a:solidFill>
            <a:prstDash val="solid"/>
          </a:ln>
          <a:effectLst>
            <a:outerShdw sx="100000" sy="100000" kx="0" ky="0" algn="bl" rotWithShape="0" blurRad="152400" dist="25400" dir="5400000">
              <a:srgbClr val="0A1628">
                <a:alpha val="12000"/>
              </a:srgbClr>
            </a:outerShdw>
          </a:effectLst>
        </p:spPr>
      </p:sp>
      <p:sp>
        <p:nvSpPr>
          <p:cNvPr id="37" name="Text 28"/>
          <p:cNvSpPr txBox="1"/>
          <p:nvPr/>
        </p:nvSpPr>
        <p:spPr>
          <a:xfrm>
            <a:off x="6693408" y="2377440"/>
            <a:ext cx="1655064" cy="256032"/>
          </a:xfrm>
          <a:prstGeom prst="rect">
            <a:avLst/>
          </a:prstGeom>
          <a:noFill/>
          <a:ln/>
        </p:spPr>
        <p:txBody>
          <a:bodyPr wrap="square" lIns="0" tIns="0" rIns="0" bIns="0" rtlCol="0" anchor="ctr"/>
          <a:lstStyle/>
          <a:p>
            <a:pPr indent="0" marL="0">
              <a:buNone/>
            </a:pPr>
            <a:r>
              <a:rPr lang="en-US" sz="1400" b="1" spc="100" kern="0" dirty="0">
                <a:solidFill>
                  <a:srgbClr val="9AA8BC"/>
                </a:solidFill>
              </a:rPr>
              <a:t>STATUS TV</a:t>
            </a:r>
            <a:endParaRPr lang="en-US" sz="1400" dirty="0"/>
          </a:p>
        </p:txBody>
      </p:sp>
      <p:sp>
        <p:nvSpPr>
          <p:cNvPr id="38" name="Shape 29"/>
          <p:cNvSpPr/>
          <p:nvPr/>
        </p:nvSpPr>
        <p:spPr>
          <a:xfrm>
            <a:off x="6693408" y="2670048"/>
            <a:ext cx="1655064" cy="310896"/>
          </a:xfrm>
          <a:prstGeom prst="roundRect">
            <a:avLst>
              <a:gd name="adj" fmla="val 50000"/>
            </a:avLst>
          </a:prstGeom>
          <a:solidFill>
            <a:srgbClr val="1E9E50"/>
          </a:solidFill>
          <a:ln/>
        </p:spPr>
      </p:sp>
      <p:sp>
        <p:nvSpPr>
          <p:cNvPr id="39" name="Text 30"/>
          <p:cNvSpPr txBox="1"/>
          <p:nvPr/>
        </p:nvSpPr>
        <p:spPr>
          <a:xfrm>
            <a:off x="6693408" y="2670048"/>
            <a:ext cx="1655064" cy="310896"/>
          </a:xfrm>
          <a:prstGeom prst="rect">
            <a:avLst/>
          </a:prstGeom>
          <a:noFill/>
          <a:ln/>
        </p:spPr>
        <p:txBody>
          <a:bodyPr wrap="square" lIns="0" tIns="0" rIns="0" bIns="0" rtlCol="0" anchor="ctr"/>
          <a:lstStyle/>
          <a:p>
            <a:pPr algn="ctr" indent="0" marL="0">
              <a:buNone/>
            </a:pPr>
            <a:r>
              <a:rPr lang="en-US" sz="1400" b="1" dirty="0">
                <a:solidFill>
                  <a:srgbClr val="FFFFFF"/>
                </a:solidFill>
              </a:rPr>
              <a:t>#0412 · CLEARED</a:t>
            </a:r>
            <a:endParaRPr lang="en-US" sz="1400" dirty="0"/>
          </a:p>
        </p:txBody>
      </p:sp>
      <p:sp>
        <p:nvSpPr>
          <p:cNvPr id="40" name="!!cap5c"/>
          <p:cNvSpPr txBox="1"/>
          <p:nvPr/>
        </p:nvSpPr>
        <p:spPr>
          <a:xfrm>
            <a:off x="6309360" y="5266944"/>
            <a:ext cx="5394960" cy="457200"/>
          </a:xfrm>
          <a:prstGeom prst="rect">
            <a:avLst/>
          </a:prstGeom>
          <a:noFill/>
          <a:ln/>
        </p:spPr>
        <p:txBody>
          <a:bodyPr wrap="square" lIns="0" tIns="0" rIns="0" bIns="0" rtlCol="0" anchor="t"/>
          <a:lstStyle/>
          <a:p>
            <a:pPr indent="0" marL="0">
              <a:buNone/>
            </a:pPr>
            <a:r>
              <a:rPr lang="en-US" sz="1400" dirty="0">
                <a:solidFill>
                  <a:srgbClr val="4A5870"/>
                </a:solidFill>
              </a:rPr>
              <a:t>[X] s per traveller, prototype, controlled conditions [measure or delete]</a:t>
            </a:r>
            <a:endParaRPr lang="en-US" sz="1400" dirty="0"/>
          </a:p>
        </p:txBody>
      </p:sp>
      <p:sp>
        <p:nvSpPr>
          <p:cNvPr id="41"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42"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4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9921240" y="-3758184"/>
            <a:ext cx="19506712" cy="10972800"/>
          </a:xfrm>
          <a:prstGeom prst="rect">
            <a:avLst/>
          </a:prstGeom>
        </p:spPr>
      </p:pic>
      <p:sp>
        <p:nvSpPr>
          <p:cNvPr id="6" name="!!bh0"/>
          <p:cNvSpPr/>
          <p:nvPr/>
        </p:nvSpPr>
        <p:spPr>
          <a:xfrm>
            <a:off x="-7198157" y="4117726"/>
            <a:ext cx="493776" cy="493776"/>
          </a:xfrm>
          <a:prstGeom prst="ellipse">
            <a:avLst/>
          </a:prstGeom>
          <a:solidFill>
            <a:srgbClr val="0B84AE">
              <a:alpha val="16000"/>
            </a:srgbClr>
          </a:solidFill>
          <a:ln/>
        </p:spPr>
      </p:sp>
      <p:sp>
        <p:nvSpPr>
          <p:cNvPr id="7" name="!!bc0"/>
          <p:cNvSpPr/>
          <p:nvPr/>
        </p:nvSpPr>
        <p:spPr>
          <a:xfrm>
            <a:off x="-7106717" y="4209166"/>
            <a:ext cx="310896" cy="310896"/>
          </a:xfrm>
          <a:prstGeom prst="ellipse">
            <a:avLst/>
          </a:prstGeom>
          <a:solidFill>
            <a:srgbClr val="0B84AE"/>
          </a:solidFill>
          <a:ln w="15875">
            <a:solidFill>
              <a:srgbClr val="FFFFFF"/>
            </a:solidFill>
            <a:prstDash val="solid"/>
          </a:ln>
        </p:spPr>
      </p:sp>
      <p:sp>
        <p:nvSpPr>
          <p:cNvPr id="8" name="!!bt0"/>
          <p:cNvSpPr txBox="1"/>
          <p:nvPr/>
        </p:nvSpPr>
        <p:spPr>
          <a:xfrm>
            <a:off x="-7106717" y="420916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2288195" y="1662745"/>
            <a:ext cx="493776" cy="493776"/>
          </a:xfrm>
          <a:prstGeom prst="ellipse">
            <a:avLst/>
          </a:prstGeom>
          <a:solidFill>
            <a:srgbClr val="0B84AE">
              <a:alpha val="16000"/>
            </a:srgbClr>
          </a:solidFill>
          <a:ln/>
        </p:spPr>
      </p:sp>
      <p:sp>
        <p:nvSpPr>
          <p:cNvPr id="10" name="!!bc1"/>
          <p:cNvSpPr/>
          <p:nvPr/>
        </p:nvSpPr>
        <p:spPr>
          <a:xfrm>
            <a:off x="-2196755" y="1754185"/>
            <a:ext cx="310896" cy="310896"/>
          </a:xfrm>
          <a:prstGeom prst="ellipse">
            <a:avLst/>
          </a:prstGeom>
          <a:solidFill>
            <a:srgbClr val="0B84AE"/>
          </a:solidFill>
          <a:ln w="15875">
            <a:solidFill>
              <a:srgbClr val="FFFFFF"/>
            </a:solidFill>
            <a:prstDash val="solid"/>
          </a:ln>
        </p:spPr>
      </p:sp>
      <p:sp>
        <p:nvSpPr>
          <p:cNvPr id="11" name="!!bt1"/>
          <p:cNvSpPr txBox="1"/>
          <p:nvPr/>
        </p:nvSpPr>
        <p:spPr>
          <a:xfrm>
            <a:off x="-2196755" y="1754185"/>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3897539" y="4247937"/>
            <a:ext cx="786384" cy="786384"/>
          </a:xfrm>
          <a:prstGeom prst="ellipse">
            <a:avLst/>
          </a:prstGeom>
          <a:solidFill>
            <a:srgbClr val="0B84AE">
              <a:alpha val="30000"/>
            </a:srgbClr>
          </a:solidFill>
          <a:ln/>
        </p:spPr>
      </p:sp>
      <p:sp>
        <p:nvSpPr>
          <p:cNvPr id="13" name="!!bc2"/>
          <p:cNvSpPr/>
          <p:nvPr/>
        </p:nvSpPr>
        <p:spPr>
          <a:xfrm>
            <a:off x="4135283" y="4485681"/>
            <a:ext cx="310896" cy="310896"/>
          </a:xfrm>
          <a:prstGeom prst="ellipse">
            <a:avLst/>
          </a:prstGeom>
          <a:solidFill>
            <a:srgbClr val="0B84AE"/>
          </a:solidFill>
          <a:ln w="15875">
            <a:solidFill>
              <a:srgbClr val="FFFFFF"/>
            </a:solidFill>
            <a:prstDash val="solid"/>
          </a:ln>
        </p:spPr>
      </p:sp>
      <p:sp>
        <p:nvSpPr>
          <p:cNvPr id="14" name="!!bt2"/>
          <p:cNvSpPr txBox="1"/>
          <p:nvPr/>
        </p:nvSpPr>
        <p:spPr>
          <a:xfrm>
            <a:off x="4135283" y="4485681"/>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1821485" y="4953122"/>
            <a:ext cx="493776" cy="493776"/>
          </a:xfrm>
          <a:prstGeom prst="ellipse">
            <a:avLst/>
          </a:prstGeom>
          <a:solidFill>
            <a:srgbClr val="0B84AE">
              <a:alpha val="16000"/>
            </a:srgbClr>
          </a:solidFill>
          <a:ln/>
        </p:spPr>
      </p:sp>
      <p:sp>
        <p:nvSpPr>
          <p:cNvPr id="16" name="!!bc3"/>
          <p:cNvSpPr/>
          <p:nvPr/>
        </p:nvSpPr>
        <p:spPr>
          <a:xfrm>
            <a:off x="-1730045" y="5044562"/>
            <a:ext cx="310896" cy="310896"/>
          </a:xfrm>
          <a:prstGeom prst="ellipse">
            <a:avLst/>
          </a:prstGeom>
          <a:solidFill>
            <a:srgbClr val="0B84AE"/>
          </a:solidFill>
          <a:ln w="15875">
            <a:solidFill>
              <a:srgbClr val="FFFFFF"/>
            </a:solidFill>
            <a:prstDash val="solid"/>
          </a:ln>
        </p:spPr>
      </p:sp>
      <p:sp>
        <p:nvSpPr>
          <p:cNvPr id="17" name="!!bt3"/>
          <p:cNvSpPr txBox="1"/>
          <p:nvPr/>
        </p:nvSpPr>
        <p:spPr>
          <a:xfrm>
            <a:off x="-1730045" y="504456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3 · Pre-screen and board by face + phone</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0B84AE"/>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d" descr="Smart Boarding Kiosk">    </p:cNvPr>
          <p:cNvPicPr>
            <a:picLocks noChangeAspect="1"/>
          </p:cNvPicPr>
          <p:nvPr/>
        </p:nvPicPr>
        <p:blipFill>
          <a:blip r:embed="rId5"/>
          <a:srcRect l="0" r="0" t="0" b="0"/>
          <a:stretch/>
        </p:blipFill>
        <p:spPr>
          <a:xfrm>
            <a:off x="6309360" y="2139696"/>
            <a:ext cx="5394960" cy="3017520"/>
          </a:xfrm>
          <a:prstGeom prst="rect">
            <a:avLst/>
          </a:prstGeom>
        </p:spPr>
      </p:pic>
      <p:sp>
        <p:nvSpPr>
          <p:cNvPr id="29" name="Shape 21"/>
          <p:cNvSpPr/>
          <p:nvPr/>
        </p:nvSpPr>
        <p:spPr>
          <a:xfrm>
            <a:off x="9434737" y="2267712"/>
            <a:ext cx="2141567" cy="310896"/>
          </a:xfrm>
          <a:prstGeom prst="roundRect">
            <a:avLst>
              <a:gd name="adj" fmla="val 50000"/>
            </a:avLst>
          </a:prstGeom>
          <a:solidFill>
            <a:srgbClr val="FFFFFF"/>
          </a:solidFill>
          <a:ln/>
          <a:effectLst>
            <a:outerShdw sx="100000" sy="100000" kx="0" ky="0" algn="bl" rotWithShape="0" blurRad="152400" dist="25400" dir="5400000">
              <a:srgbClr val="0A1628">
                <a:alpha val="12000"/>
              </a:srgbClr>
            </a:outerShdw>
          </a:effectLst>
        </p:spPr>
      </p:sp>
      <p:sp>
        <p:nvSpPr>
          <p:cNvPr id="30" name="Text 22"/>
          <p:cNvSpPr txBox="1"/>
          <p:nvPr/>
        </p:nvSpPr>
        <p:spPr>
          <a:xfrm>
            <a:off x="9434737" y="2267712"/>
            <a:ext cx="2141567" cy="310896"/>
          </a:xfrm>
          <a:prstGeom prst="rect">
            <a:avLst/>
          </a:prstGeom>
          <a:noFill/>
          <a:ln/>
        </p:spPr>
        <p:txBody>
          <a:bodyPr wrap="square" lIns="0" tIns="0" rIns="0" bIns="0" rtlCol="0" anchor="ctr"/>
          <a:lstStyle/>
          <a:p>
            <a:pPr algn="ctr" indent="0" marL="0">
              <a:buNone/>
            </a:pPr>
            <a:r>
              <a:rPr lang="en-US" sz="1400" b="1" dirty="0">
                <a:solidFill>
                  <a:srgbClr val="0B1526"/>
                </a:solidFill>
              </a:rPr>
              <a:t>Smart Boarding Kiosk</a:t>
            </a:r>
            <a:endParaRPr lang="en-US" sz="1400" dirty="0"/>
          </a:p>
        </p:txBody>
      </p:sp>
      <p:sp>
        <p:nvSpPr>
          <p:cNvPr id="31" name="Shape 23"/>
          <p:cNvSpPr/>
          <p:nvPr/>
        </p:nvSpPr>
        <p:spPr>
          <a:xfrm>
            <a:off x="6400800" y="3536740"/>
            <a:ext cx="1719072" cy="1529036"/>
          </a:xfrm>
          <a:prstGeom prst="roundRect">
            <a:avLst>
              <a:gd name="adj" fmla="val 3588"/>
            </a:avLst>
          </a:prstGeom>
          <a:solidFill>
            <a:srgbClr val="FFFFFF"/>
          </a:solidFill>
          <a:ln/>
          <a:effectLst>
            <a:outerShdw sx="100000" sy="100000" kx="0" ky="0" algn="bl" rotWithShape="0" blurRad="152400" dist="25400" dir="5400000">
              <a:srgbClr val="0A1628">
                <a:alpha val="12000"/>
              </a:srgbClr>
            </a:outerShdw>
          </a:effectLst>
        </p:spPr>
      </p:sp>
      <p:pic>
        <p:nvPicPr>
          <p:cNvPr id="32" name="Image 3" descr="Nova Plus reader">    </p:cNvPr>
          <p:cNvPicPr>
            <a:picLocks noChangeAspect="1"/>
          </p:cNvPicPr>
          <p:nvPr/>
        </p:nvPicPr>
        <p:blipFill>
          <a:blip r:embed="rId6"/>
          <a:stretch>
            <a:fillRect/>
          </a:stretch>
        </p:blipFill>
        <p:spPr>
          <a:xfrm>
            <a:off x="6437376" y="3573316"/>
            <a:ext cx="1645920" cy="1144988"/>
          </a:xfrm>
          <a:prstGeom prst="rect">
            <a:avLst/>
          </a:prstGeom>
        </p:spPr>
      </p:pic>
      <p:sp>
        <p:nvSpPr>
          <p:cNvPr id="33" name="Text 24"/>
          <p:cNvSpPr txBox="1"/>
          <p:nvPr/>
        </p:nvSpPr>
        <p:spPr>
          <a:xfrm>
            <a:off x="6437376" y="4754880"/>
            <a:ext cx="1645920" cy="274320"/>
          </a:xfrm>
          <a:prstGeom prst="rect">
            <a:avLst/>
          </a:prstGeom>
          <a:noFill/>
          <a:ln/>
        </p:spPr>
        <p:txBody>
          <a:bodyPr wrap="square" lIns="0" tIns="0" rIns="0" bIns="0" rtlCol="0" anchor="ctr"/>
          <a:lstStyle/>
          <a:p>
            <a:pPr algn="ctr" indent="0" marL="0">
              <a:buNone/>
            </a:pPr>
            <a:r>
              <a:rPr lang="en-US" sz="1400" b="1" dirty="0">
                <a:solidFill>
                  <a:srgbClr val="0B1526"/>
                </a:solidFill>
              </a:rPr>
              <a:t>Nova Plus reader</a:t>
            </a:r>
            <a:endParaRPr lang="en-US" sz="1400" dirty="0"/>
          </a:p>
        </p:txBody>
      </p:sp>
      <p:sp>
        <p:nvSpPr>
          <p:cNvPr id="34" name="Shape 25"/>
          <p:cNvSpPr/>
          <p:nvPr/>
        </p:nvSpPr>
        <p:spPr>
          <a:xfrm>
            <a:off x="6400800" y="3536740"/>
            <a:ext cx="1719072" cy="1529036"/>
          </a:xfrm>
          <a:prstGeom prst="roundRect">
            <a:avLst>
              <a:gd name="adj" fmla="val 3588"/>
            </a:avLst>
          </a:prstGeom>
          <a:ln w="9525">
            <a:solidFill>
              <a:srgbClr val="E1E6ED"/>
            </a:solidFill>
            <a:prstDash val="solid"/>
          </a:ln>
        </p:spPr>
      </p:sp>
      <p:sp>
        <p:nvSpPr>
          <p:cNvPr id="35" name="!!cap5d"/>
          <p:cNvSpPr txBox="1"/>
          <p:nvPr/>
        </p:nvSpPr>
        <p:spPr>
          <a:xfrm>
            <a:off x="6309360" y="5266944"/>
            <a:ext cx="5394960" cy="877824"/>
          </a:xfrm>
          <a:prstGeom prst="rect">
            <a:avLst/>
          </a:prstGeom>
          <a:noFill/>
          <a:ln/>
        </p:spPr>
        <p:txBody>
          <a:bodyPr wrap="square" lIns="0" tIns="0" rIns="0" bIns="0" rtlCol="0" anchor="t"/>
          <a:lstStyle/>
          <a:p>
            <a:pPr indent="0" marL="0">
              <a:buNone/>
            </a:pPr>
            <a:r>
              <a:rPr lang="en-US" sz="1800" dirty="0">
                <a:solidFill>
                  <a:srgbClr val="0B1526"/>
                </a:solidFill>
              </a:rPr>
              <a:t>Nova Plus re-confirms identity before X-ray. Boarding needs airline departure-control integration.</a:t>
            </a:r>
            <a:endParaRPr lang="en-US" sz="1800" dirty="0"/>
          </a:p>
        </p:txBody>
      </p:sp>
      <p:sp>
        <p:nvSpPr>
          <p:cNvPr id="3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3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3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6720840" y="-6812280"/>
            <a:ext cx="24383390" cy="13716000"/>
          </a:xfrm>
          <a:prstGeom prst="rect">
            <a:avLst/>
          </a:prstGeom>
        </p:spPr>
      </p:pic>
      <p:sp>
        <p:nvSpPr>
          <p:cNvPr id="6" name="!!bh0"/>
          <p:cNvSpPr/>
          <p:nvPr/>
        </p:nvSpPr>
        <p:spPr>
          <a:xfrm>
            <a:off x="-3255264" y="3094330"/>
            <a:ext cx="493776" cy="493776"/>
          </a:xfrm>
          <a:prstGeom prst="ellipse">
            <a:avLst/>
          </a:prstGeom>
          <a:solidFill>
            <a:srgbClr val="0B84AE">
              <a:alpha val="16000"/>
            </a:srgbClr>
          </a:solidFill>
          <a:ln/>
        </p:spPr>
      </p:sp>
      <p:sp>
        <p:nvSpPr>
          <p:cNvPr id="7" name="!!bc0"/>
          <p:cNvSpPr/>
          <p:nvPr/>
        </p:nvSpPr>
        <p:spPr>
          <a:xfrm>
            <a:off x="-3163824" y="3185770"/>
            <a:ext cx="310896" cy="310896"/>
          </a:xfrm>
          <a:prstGeom prst="ellipse">
            <a:avLst/>
          </a:prstGeom>
          <a:solidFill>
            <a:srgbClr val="0B84AE"/>
          </a:solidFill>
          <a:ln w="15875">
            <a:solidFill>
              <a:srgbClr val="FFFFFF"/>
            </a:solidFill>
            <a:prstDash val="solid"/>
          </a:ln>
        </p:spPr>
      </p:sp>
      <p:sp>
        <p:nvSpPr>
          <p:cNvPr id="8" name="!!bt0"/>
          <p:cNvSpPr txBox="1"/>
          <p:nvPr/>
        </p:nvSpPr>
        <p:spPr>
          <a:xfrm>
            <a:off x="-3163824" y="318577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2882189" y="25603"/>
            <a:ext cx="493776" cy="493776"/>
          </a:xfrm>
          <a:prstGeom prst="ellipse">
            <a:avLst/>
          </a:prstGeom>
          <a:solidFill>
            <a:srgbClr val="0B84AE">
              <a:alpha val="16000"/>
            </a:srgbClr>
          </a:solidFill>
          <a:ln/>
        </p:spPr>
      </p:sp>
      <p:sp>
        <p:nvSpPr>
          <p:cNvPr id="10" name="!!bc1"/>
          <p:cNvSpPr/>
          <p:nvPr/>
        </p:nvSpPr>
        <p:spPr>
          <a:xfrm>
            <a:off x="2973629" y="117043"/>
            <a:ext cx="310896" cy="310896"/>
          </a:xfrm>
          <a:prstGeom prst="ellipse">
            <a:avLst/>
          </a:prstGeom>
          <a:solidFill>
            <a:srgbClr val="0B84AE"/>
          </a:solidFill>
          <a:ln w="15875">
            <a:solidFill>
              <a:srgbClr val="FFFFFF"/>
            </a:solidFill>
            <a:prstDash val="solid"/>
          </a:ln>
        </p:spPr>
      </p:sp>
      <p:sp>
        <p:nvSpPr>
          <p:cNvPr id="11" name="!!bt1"/>
          <p:cNvSpPr txBox="1"/>
          <p:nvPr/>
        </p:nvSpPr>
        <p:spPr>
          <a:xfrm>
            <a:off x="2973629" y="11704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0797235" y="3439973"/>
            <a:ext cx="493776" cy="493776"/>
          </a:xfrm>
          <a:prstGeom prst="ellipse">
            <a:avLst/>
          </a:prstGeom>
          <a:solidFill>
            <a:srgbClr val="0B84AE">
              <a:alpha val="16000"/>
            </a:srgbClr>
          </a:solidFill>
          <a:ln/>
        </p:spPr>
      </p:sp>
      <p:sp>
        <p:nvSpPr>
          <p:cNvPr id="13" name="!!bc2"/>
          <p:cNvSpPr/>
          <p:nvPr/>
        </p:nvSpPr>
        <p:spPr>
          <a:xfrm>
            <a:off x="10888675" y="3531413"/>
            <a:ext cx="310896" cy="310896"/>
          </a:xfrm>
          <a:prstGeom prst="ellipse">
            <a:avLst/>
          </a:prstGeom>
          <a:solidFill>
            <a:srgbClr val="0B84AE"/>
          </a:solidFill>
          <a:ln w="15875">
            <a:solidFill>
              <a:srgbClr val="FFFFFF"/>
            </a:solidFill>
            <a:prstDash val="solid"/>
          </a:ln>
        </p:spPr>
      </p:sp>
      <p:sp>
        <p:nvSpPr>
          <p:cNvPr id="14" name="!!bt2"/>
          <p:cNvSpPr txBox="1"/>
          <p:nvPr/>
        </p:nvSpPr>
        <p:spPr>
          <a:xfrm>
            <a:off x="10888675" y="353141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3319272" y="3992270"/>
            <a:ext cx="786384" cy="786384"/>
          </a:xfrm>
          <a:prstGeom prst="ellipse">
            <a:avLst/>
          </a:prstGeom>
          <a:solidFill>
            <a:srgbClr val="0B84AE">
              <a:alpha val="30000"/>
            </a:srgbClr>
          </a:solidFill>
          <a:ln/>
        </p:spPr>
      </p:sp>
      <p:sp>
        <p:nvSpPr>
          <p:cNvPr id="16" name="!!bc3"/>
          <p:cNvSpPr/>
          <p:nvPr/>
        </p:nvSpPr>
        <p:spPr>
          <a:xfrm>
            <a:off x="3557016" y="4230014"/>
            <a:ext cx="310896" cy="310896"/>
          </a:xfrm>
          <a:prstGeom prst="ellipse">
            <a:avLst/>
          </a:prstGeom>
          <a:solidFill>
            <a:srgbClr val="0B84AE"/>
          </a:solidFill>
          <a:ln w="15875">
            <a:solidFill>
              <a:srgbClr val="FFFFFF"/>
            </a:solidFill>
            <a:prstDash val="solid"/>
          </a:ln>
        </p:spPr>
      </p:sp>
      <p:sp>
        <p:nvSpPr>
          <p:cNvPr id="17" name="!!bt3"/>
          <p:cNvSpPr txBox="1"/>
          <p:nvPr/>
        </p:nvSpPr>
        <p:spPr>
          <a:xfrm>
            <a:off x="3557016" y="423001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4 · Officers act only on exceptions</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0B84AE"/>
          </a:solidFill>
          <a:ln/>
        </p:spPr>
      </p:sp>
      <p:sp>
        <p:nvSpPr>
          <p:cNvPr id="26" name="!!pb3"/>
          <p:cNvSpPr/>
          <p:nvPr/>
        </p:nvSpPr>
        <p:spPr>
          <a:xfrm>
            <a:off x="10410444" y="1938528"/>
            <a:ext cx="1293876" cy="73152"/>
          </a:xfrm>
          <a:prstGeom prst="roundRect">
            <a:avLst>
              <a:gd name="adj" fmla="val 50000"/>
            </a:avLst>
          </a:prstGeom>
          <a:solidFill>
            <a:srgbClr val="0B84AE"/>
          </a:solidFill>
          <a:ln/>
        </p:spPr>
      </p:sp>
      <p:sp>
        <p:nvSpPr>
          <p:cNvPr id="27" name="!!pimg5e"/>
          <p:cNvSpPr/>
          <p:nvPr/>
        </p:nvSpPr>
        <p:spPr>
          <a:xfrm>
            <a:off x="6309360" y="2139696"/>
            <a:ext cx="5394960" cy="3035808"/>
          </a:xfrm>
          <a:prstGeom prst="roundRect">
            <a:avLst>
              <a:gd name="adj" fmla="val 3012"/>
            </a:avLst>
          </a:prstGeom>
          <a:solidFill>
            <a:srgbClr val="0E1B2D"/>
          </a:solidFill>
          <a:ln/>
          <a:effectLst>
            <a:outerShdw sx="100000" sy="100000" kx="0" ky="0" algn="bl" rotWithShape="0" blurRad="152400" dist="25400" dir="5400000">
              <a:srgbClr val="0A1628">
                <a:alpha val="12000"/>
              </a:srgbClr>
            </a:outerShdw>
          </a:effectLst>
        </p:spPr>
      </p:sp>
      <p:sp>
        <p:nvSpPr>
          <p:cNvPr id="28" name="Text 21"/>
          <p:cNvSpPr txBox="1"/>
          <p:nvPr/>
        </p:nvSpPr>
        <p:spPr>
          <a:xfrm>
            <a:off x="6437376"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Time</a:t>
            </a:r>
            <a:endParaRPr lang="en-US" sz="1400" dirty="0"/>
          </a:p>
        </p:txBody>
      </p:sp>
      <p:sp>
        <p:nvSpPr>
          <p:cNvPr id="29" name="Text 22"/>
          <p:cNvSpPr txBox="1"/>
          <p:nvPr/>
        </p:nvSpPr>
        <p:spPr>
          <a:xfrm>
            <a:off x="717804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Traveller</a:t>
            </a:r>
            <a:endParaRPr lang="en-US" sz="1400" dirty="0"/>
          </a:p>
        </p:txBody>
      </p:sp>
      <p:sp>
        <p:nvSpPr>
          <p:cNvPr id="30" name="Text 23"/>
          <p:cNvSpPr txBox="1"/>
          <p:nvPr/>
        </p:nvSpPr>
        <p:spPr>
          <a:xfrm>
            <a:off x="905256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ID</a:t>
            </a:r>
            <a:endParaRPr lang="en-US" sz="1400" dirty="0"/>
          </a:p>
        </p:txBody>
      </p:sp>
      <p:sp>
        <p:nvSpPr>
          <p:cNvPr id="31" name="Text 24"/>
          <p:cNvSpPr txBox="1"/>
          <p:nvPr/>
        </p:nvSpPr>
        <p:spPr>
          <a:xfrm>
            <a:off x="982980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Lane</a:t>
            </a:r>
            <a:endParaRPr lang="en-US" sz="1400" dirty="0"/>
          </a:p>
        </p:txBody>
      </p:sp>
      <p:sp>
        <p:nvSpPr>
          <p:cNvPr id="32" name="Text 25"/>
          <p:cNvSpPr txBox="1"/>
          <p:nvPr/>
        </p:nvSpPr>
        <p:spPr>
          <a:xfrm>
            <a:off x="1033272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Status</a:t>
            </a:r>
            <a:endParaRPr lang="en-US" sz="1400" dirty="0"/>
          </a:p>
        </p:txBody>
      </p:sp>
      <p:sp>
        <p:nvSpPr>
          <p:cNvPr id="33" name="Shape 26"/>
          <p:cNvSpPr/>
          <p:nvPr/>
        </p:nvSpPr>
        <p:spPr>
          <a:xfrm>
            <a:off x="6382512" y="2560320"/>
            <a:ext cx="5248656" cy="658368"/>
          </a:xfrm>
          <a:prstGeom prst="roundRect">
            <a:avLst>
              <a:gd name="adj" fmla="val 8333"/>
            </a:avLst>
          </a:prstGeom>
          <a:solidFill>
            <a:srgbClr val="40181F"/>
          </a:solidFill>
          <a:ln w="12700">
            <a:solidFill>
              <a:srgbClr val="E30613"/>
            </a:solidFill>
            <a:prstDash val="solid"/>
          </a:ln>
        </p:spPr>
      </p:sp>
      <p:sp>
        <p:nvSpPr>
          <p:cNvPr id="34" name="Text 27"/>
          <p:cNvSpPr txBox="1"/>
          <p:nvPr/>
        </p:nvSpPr>
        <p:spPr>
          <a:xfrm>
            <a:off x="6437376" y="2587752"/>
            <a:ext cx="786384" cy="292608"/>
          </a:xfrm>
          <a:prstGeom prst="rect">
            <a:avLst/>
          </a:prstGeom>
          <a:noFill/>
          <a:ln/>
        </p:spPr>
        <p:txBody>
          <a:bodyPr wrap="square" lIns="0" tIns="0" rIns="0" bIns="0" rtlCol="0" anchor="ctr"/>
          <a:lstStyle/>
          <a:p>
            <a:pPr indent="0" marL="0">
              <a:buNone/>
            </a:pPr>
            <a:r>
              <a:rPr lang="en-US" sz="1400" dirty="0">
                <a:solidFill>
                  <a:srgbClr val="D6DEEA"/>
                </a:solidFill>
              </a:rPr>
              <a:t>10:12:41</a:t>
            </a:r>
            <a:endParaRPr lang="en-US" sz="1400" dirty="0"/>
          </a:p>
        </p:txBody>
      </p:sp>
      <p:pic>
        <p:nvPicPr>
          <p:cNvPr id="35" name="Image 2" descr="">    </p:cNvPr>
          <p:cNvPicPr>
            <a:picLocks noChangeAspect="1"/>
          </p:cNvPicPr>
          <p:nvPr/>
        </p:nvPicPr>
        <p:blipFill>
          <a:blip r:embed="rId5"/>
          <a:stretch>
            <a:fillRect/>
          </a:stretch>
        </p:blipFill>
        <p:spPr>
          <a:xfrm>
            <a:off x="7178040" y="2624328"/>
            <a:ext cx="219456" cy="219456"/>
          </a:xfrm>
          <a:prstGeom prst="rect">
            <a:avLst/>
          </a:prstGeom>
        </p:spPr>
      </p:pic>
      <p:sp>
        <p:nvSpPr>
          <p:cNvPr id="36" name="Text 28"/>
          <p:cNvSpPr txBox="1"/>
          <p:nvPr/>
        </p:nvSpPr>
        <p:spPr>
          <a:xfrm>
            <a:off x="7443216" y="2587752"/>
            <a:ext cx="1517904" cy="292608"/>
          </a:xfrm>
          <a:prstGeom prst="rect">
            <a:avLst/>
          </a:prstGeom>
          <a:noFill/>
          <a:ln/>
        </p:spPr>
        <p:txBody>
          <a:bodyPr wrap="square" lIns="0" tIns="0" rIns="0" bIns="0" rtlCol="0" anchor="ctr"/>
          <a:lstStyle/>
          <a:p>
            <a:pPr indent="0" marL="0">
              <a:buNone/>
            </a:pPr>
            <a:r>
              <a:rPr lang="en-US" sz="1400" dirty="0">
                <a:solidFill>
                  <a:srgbClr val="ECF0F6"/>
                </a:solidFill>
              </a:rPr>
              <a:t>TRAVELLER 0413</a:t>
            </a:r>
            <a:endParaRPr lang="en-US" sz="1400" dirty="0"/>
          </a:p>
        </p:txBody>
      </p:sp>
      <p:sp>
        <p:nvSpPr>
          <p:cNvPr id="37" name="Text 29"/>
          <p:cNvSpPr txBox="1"/>
          <p:nvPr/>
        </p:nvSpPr>
        <p:spPr>
          <a:xfrm>
            <a:off x="9052560" y="2587752"/>
            <a:ext cx="914400" cy="292608"/>
          </a:xfrm>
          <a:prstGeom prst="rect">
            <a:avLst/>
          </a:prstGeom>
          <a:noFill/>
          <a:ln/>
        </p:spPr>
        <p:txBody>
          <a:bodyPr wrap="square" lIns="0" tIns="0" rIns="0" bIns="0" rtlCol="0" anchor="ctr"/>
          <a:lstStyle/>
          <a:p>
            <a:pPr indent="0" marL="0">
              <a:buNone/>
            </a:pPr>
            <a:r>
              <a:rPr lang="en-US" sz="1400" dirty="0">
                <a:solidFill>
                  <a:srgbClr val="D6DEEA"/>
                </a:solidFill>
              </a:rPr>
              <a:t>••••0413</a:t>
            </a:r>
            <a:endParaRPr lang="en-US" sz="1400" dirty="0"/>
          </a:p>
        </p:txBody>
      </p:sp>
      <p:sp>
        <p:nvSpPr>
          <p:cNvPr id="38" name="Text 30"/>
          <p:cNvSpPr txBox="1"/>
          <p:nvPr/>
        </p:nvSpPr>
        <p:spPr>
          <a:xfrm>
            <a:off x="9829800" y="2587752"/>
            <a:ext cx="365760" cy="292608"/>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39" name="Shape 31"/>
          <p:cNvSpPr/>
          <p:nvPr/>
        </p:nvSpPr>
        <p:spPr>
          <a:xfrm>
            <a:off x="10332720" y="2624328"/>
            <a:ext cx="1188720" cy="219456"/>
          </a:xfrm>
          <a:prstGeom prst="roundRect">
            <a:avLst>
              <a:gd name="adj" fmla="val 50000"/>
            </a:avLst>
          </a:prstGeom>
          <a:solidFill>
            <a:srgbClr val="E30613"/>
          </a:solidFill>
          <a:ln/>
        </p:spPr>
      </p:sp>
      <p:sp>
        <p:nvSpPr>
          <p:cNvPr id="40" name="Text 32"/>
          <p:cNvSpPr txBox="1"/>
          <p:nvPr/>
        </p:nvSpPr>
        <p:spPr>
          <a:xfrm>
            <a:off x="10332720" y="2624328"/>
            <a:ext cx="1188720" cy="219456"/>
          </a:xfrm>
          <a:prstGeom prst="rect">
            <a:avLst/>
          </a:prstGeom>
          <a:noFill/>
          <a:ln/>
        </p:spPr>
        <p:txBody>
          <a:bodyPr wrap="square" lIns="0" tIns="0" rIns="0" bIns="0" rtlCol="0" anchor="ctr"/>
          <a:lstStyle/>
          <a:p>
            <a:pPr algn="ctr" indent="0" marL="0">
              <a:buNone/>
            </a:pPr>
            <a:r>
              <a:rPr lang="en-US" sz="1400" b="1" dirty="0">
                <a:solidFill>
                  <a:srgbClr val="FFFFFF"/>
                </a:solidFill>
              </a:rPr>
              <a:t>EXCEPTION</a:t>
            </a:r>
            <a:endParaRPr lang="en-US" sz="1400" dirty="0"/>
          </a:p>
        </p:txBody>
      </p:sp>
      <p:sp>
        <p:nvSpPr>
          <p:cNvPr id="41" name="Text 33"/>
          <p:cNvSpPr txBox="1"/>
          <p:nvPr/>
        </p:nvSpPr>
        <p:spPr>
          <a:xfrm>
            <a:off x="7443216" y="2898648"/>
            <a:ext cx="1600200" cy="292608"/>
          </a:xfrm>
          <a:prstGeom prst="rect">
            <a:avLst/>
          </a:prstGeom>
          <a:noFill/>
          <a:ln/>
        </p:spPr>
        <p:txBody>
          <a:bodyPr wrap="square" lIns="0" tIns="0" rIns="0" bIns="0" rtlCol="0" anchor="ctr"/>
          <a:lstStyle/>
          <a:p>
            <a:pPr indent="0" marL="0">
              <a:buNone/>
            </a:pPr>
            <a:r>
              <a:rPr lang="en-US" sz="1400" b="1" dirty="0">
                <a:solidFill>
                  <a:srgbClr val="FF8A93"/>
                </a:solidFill>
              </a:rPr>
              <a:t>No BLE credential</a:t>
            </a:r>
            <a:endParaRPr lang="en-US" sz="1400" dirty="0"/>
          </a:p>
        </p:txBody>
      </p:sp>
      <p:sp>
        <p:nvSpPr>
          <p:cNvPr id="42" name="Shape 34"/>
          <p:cNvSpPr/>
          <p:nvPr/>
        </p:nvSpPr>
        <p:spPr>
          <a:xfrm>
            <a:off x="9052560" y="2916936"/>
            <a:ext cx="1371600" cy="256032"/>
          </a:xfrm>
          <a:prstGeom prst="roundRect">
            <a:avLst>
              <a:gd name="adj" fmla="val 50000"/>
            </a:avLst>
          </a:prstGeom>
          <a:solidFill>
            <a:srgbClr val="FFFFFF"/>
          </a:solidFill>
          <a:ln/>
        </p:spPr>
      </p:sp>
      <p:sp>
        <p:nvSpPr>
          <p:cNvPr id="43" name="Text 35"/>
          <p:cNvSpPr txBox="1"/>
          <p:nvPr/>
        </p:nvSpPr>
        <p:spPr>
          <a:xfrm>
            <a:off x="9052560" y="2916936"/>
            <a:ext cx="1371600" cy="256032"/>
          </a:xfrm>
          <a:prstGeom prst="rect">
            <a:avLst/>
          </a:prstGeom>
          <a:noFill/>
          <a:ln/>
        </p:spPr>
        <p:txBody>
          <a:bodyPr wrap="square" lIns="0" tIns="0" rIns="0" bIns="0" rtlCol="0" anchor="ctr"/>
          <a:lstStyle/>
          <a:p>
            <a:pPr algn="ctr" indent="0" marL="0">
              <a:buNone/>
            </a:pPr>
            <a:r>
              <a:rPr lang="en-US" sz="1400" b="1" dirty="0">
                <a:solidFill>
                  <a:srgbClr val="0B2545"/>
                </a:solidFill>
              </a:rPr>
              <a:t>Officer review</a:t>
            </a:r>
            <a:endParaRPr lang="en-US" sz="1400" dirty="0"/>
          </a:p>
        </p:txBody>
      </p:sp>
      <p:sp>
        <p:nvSpPr>
          <p:cNvPr id="44" name="Text 36"/>
          <p:cNvSpPr txBox="1"/>
          <p:nvPr/>
        </p:nvSpPr>
        <p:spPr>
          <a:xfrm>
            <a:off x="10515600" y="2916936"/>
            <a:ext cx="777240" cy="256032"/>
          </a:xfrm>
          <a:prstGeom prst="rect">
            <a:avLst/>
          </a:prstGeom>
          <a:noFill/>
          <a:ln/>
        </p:spPr>
        <p:txBody>
          <a:bodyPr wrap="square" lIns="0" tIns="0" rIns="0" bIns="0" rtlCol="0" anchor="ctr"/>
          <a:lstStyle/>
          <a:p>
            <a:pPr indent="0" marL="0">
              <a:buNone/>
            </a:pPr>
            <a:r>
              <a:rPr lang="en-US" sz="1400" i="1" dirty="0">
                <a:solidFill>
                  <a:srgbClr val="8C9CB4"/>
                </a:solidFill>
              </a:rPr>
              <a:t>mock-up</a:t>
            </a:r>
            <a:endParaRPr lang="en-US" sz="1400" dirty="0"/>
          </a:p>
        </p:txBody>
      </p:sp>
      <p:sp>
        <p:nvSpPr>
          <p:cNvPr id="45" name="Shape 37"/>
          <p:cNvSpPr/>
          <p:nvPr/>
        </p:nvSpPr>
        <p:spPr>
          <a:xfrm>
            <a:off x="6382512" y="3246120"/>
            <a:ext cx="5248656" cy="329184"/>
          </a:xfrm>
          <a:prstGeom prst="roundRect">
            <a:avLst>
              <a:gd name="adj" fmla="val 16667"/>
            </a:avLst>
          </a:prstGeom>
          <a:solidFill>
            <a:srgbClr val="1C2A3F"/>
          </a:solidFill>
          <a:ln/>
        </p:spPr>
      </p:sp>
      <p:sp>
        <p:nvSpPr>
          <p:cNvPr id="46" name="Text 38"/>
          <p:cNvSpPr txBox="1"/>
          <p:nvPr/>
        </p:nvSpPr>
        <p:spPr>
          <a:xfrm>
            <a:off x="6437376" y="3246120"/>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10:12:34</a:t>
            </a:r>
            <a:endParaRPr lang="en-US" sz="1400" dirty="0"/>
          </a:p>
        </p:txBody>
      </p:sp>
      <p:pic>
        <p:nvPicPr>
          <p:cNvPr id="47" name="Image 3" descr="">    </p:cNvPr>
          <p:cNvPicPr>
            <a:picLocks noChangeAspect="1"/>
          </p:cNvPicPr>
          <p:nvPr/>
        </p:nvPicPr>
        <p:blipFill>
          <a:blip r:embed="rId5"/>
          <a:stretch>
            <a:fillRect/>
          </a:stretch>
        </p:blipFill>
        <p:spPr>
          <a:xfrm>
            <a:off x="7178040" y="3300984"/>
            <a:ext cx="219456" cy="219456"/>
          </a:xfrm>
          <a:prstGeom prst="rect">
            <a:avLst/>
          </a:prstGeom>
        </p:spPr>
      </p:pic>
      <p:sp>
        <p:nvSpPr>
          <p:cNvPr id="48" name="Text 39"/>
          <p:cNvSpPr txBox="1"/>
          <p:nvPr/>
        </p:nvSpPr>
        <p:spPr>
          <a:xfrm>
            <a:off x="7443216" y="3246120"/>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0412</a:t>
            </a:r>
            <a:endParaRPr lang="en-US" sz="1400" dirty="0"/>
          </a:p>
        </p:txBody>
      </p:sp>
      <p:sp>
        <p:nvSpPr>
          <p:cNvPr id="49" name="Text 40"/>
          <p:cNvSpPr txBox="1"/>
          <p:nvPr/>
        </p:nvSpPr>
        <p:spPr>
          <a:xfrm>
            <a:off x="9052560" y="3246120"/>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••••0412</a:t>
            </a:r>
            <a:endParaRPr lang="en-US" sz="1400" dirty="0"/>
          </a:p>
        </p:txBody>
      </p:sp>
      <p:sp>
        <p:nvSpPr>
          <p:cNvPr id="50" name="Text 41"/>
          <p:cNvSpPr txBox="1"/>
          <p:nvPr/>
        </p:nvSpPr>
        <p:spPr>
          <a:xfrm>
            <a:off x="9829800" y="3246120"/>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51" name="Shape 42"/>
          <p:cNvSpPr/>
          <p:nvPr/>
        </p:nvSpPr>
        <p:spPr>
          <a:xfrm>
            <a:off x="10332720" y="3282696"/>
            <a:ext cx="1188720" cy="256032"/>
          </a:xfrm>
          <a:prstGeom prst="roundRect">
            <a:avLst>
              <a:gd name="adj" fmla="val 50000"/>
            </a:avLst>
          </a:prstGeom>
          <a:solidFill>
            <a:srgbClr val="1E9E50"/>
          </a:solidFill>
          <a:ln/>
        </p:spPr>
      </p:sp>
      <p:sp>
        <p:nvSpPr>
          <p:cNvPr id="52" name="Text 43"/>
          <p:cNvSpPr txBox="1"/>
          <p:nvPr/>
        </p:nvSpPr>
        <p:spPr>
          <a:xfrm>
            <a:off x="10332720" y="3282696"/>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53" name="Shape 44"/>
          <p:cNvSpPr/>
          <p:nvPr/>
        </p:nvSpPr>
        <p:spPr>
          <a:xfrm>
            <a:off x="6382512" y="3602736"/>
            <a:ext cx="5248656" cy="329184"/>
          </a:xfrm>
          <a:prstGeom prst="roundRect">
            <a:avLst>
              <a:gd name="adj" fmla="val 16667"/>
            </a:avLst>
          </a:prstGeom>
          <a:solidFill>
            <a:srgbClr val="1C2A3F"/>
          </a:solidFill>
          <a:ln/>
        </p:spPr>
      </p:sp>
      <p:sp>
        <p:nvSpPr>
          <p:cNvPr id="54" name="Text 45"/>
          <p:cNvSpPr txBox="1"/>
          <p:nvPr/>
        </p:nvSpPr>
        <p:spPr>
          <a:xfrm>
            <a:off x="6437376" y="3602736"/>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10:12:31</a:t>
            </a:r>
            <a:endParaRPr lang="en-US" sz="1400" dirty="0"/>
          </a:p>
        </p:txBody>
      </p:sp>
      <p:pic>
        <p:nvPicPr>
          <p:cNvPr id="55" name="Image 4" descr="">    </p:cNvPr>
          <p:cNvPicPr>
            <a:picLocks noChangeAspect="1"/>
          </p:cNvPicPr>
          <p:nvPr/>
        </p:nvPicPr>
        <p:blipFill>
          <a:blip r:embed="rId5"/>
          <a:stretch>
            <a:fillRect/>
          </a:stretch>
        </p:blipFill>
        <p:spPr>
          <a:xfrm>
            <a:off x="7178040" y="3657600"/>
            <a:ext cx="219456" cy="219456"/>
          </a:xfrm>
          <a:prstGeom prst="rect">
            <a:avLst/>
          </a:prstGeom>
        </p:spPr>
      </p:pic>
      <p:sp>
        <p:nvSpPr>
          <p:cNvPr id="56" name="Text 46"/>
          <p:cNvSpPr txBox="1"/>
          <p:nvPr/>
        </p:nvSpPr>
        <p:spPr>
          <a:xfrm>
            <a:off x="7443216" y="3602736"/>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0411</a:t>
            </a:r>
            <a:endParaRPr lang="en-US" sz="1400" dirty="0"/>
          </a:p>
        </p:txBody>
      </p:sp>
      <p:sp>
        <p:nvSpPr>
          <p:cNvPr id="57" name="Text 47"/>
          <p:cNvSpPr txBox="1"/>
          <p:nvPr/>
        </p:nvSpPr>
        <p:spPr>
          <a:xfrm>
            <a:off x="9052560" y="3602736"/>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••••0411</a:t>
            </a:r>
            <a:endParaRPr lang="en-US" sz="1400" dirty="0"/>
          </a:p>
        </p:txBody>
      </p:sp>
      <p:sp>
        <p:nvSpPr>
          <p:cNvPr id="58" name="Text 48"/>
          <p:cNvSpPr txBox="1"/>
          <p:nvPr/>
        </p:nvSpPr>
        <p:spPr>
          <a:xfrm>
            <a:off x="9829800" y="3602736"/>
            <a:ext cx="365760" cy="329184"/>
          </a:xfrm>
          <a:prstGeom prst="rect">
            <a:avLst/>
          </a:prstGeom>
          <a:noFill/>
          <a:ln/>
        </p:spPr>
        <p:txBody>
          <a:bodyPr wrap="square" lIns="0" tIns="0" rIns="0" bIns="0" rtlCol="0" anchor="ctr"/>
          <a:lstStyle/>
          <a:p>
            <a:pPr indent="0" marL="0">
              <a:buNone/>
            </a:pPr>
            <a:r>
              <a:rPr lang="en-US" sz="1400" dirty="0">
                <a:solidFill>
                  <a:srgbClr val="D6DEEA"/>
                </a:solidFill>
              </a:rPr>
              <a:t>2</a:t>
            </a:r>
            <a:endParaRPr lang="en-US" sz="1400" dirty="0"/>
          </a:p>
        </p:txBody>
      </p:sp>
      <p:sp>
        <p:nvSpPr>
          <p:cNvPr id="59" name="Shape 49"/>
          <p:cNvSpPr/>
          <p:nvPr/>
        </p:nvSpPr>
        <p:spPr>
          <a:xfrm>
            <a:off x="10332720" y="3639312"/>
            <a:ext cx="1188720" cy="256032"/>
          </a:xfrm>
          <a:prstGeom prst="roundRect">
            <a:avLst>
              <a:gd name="adj" fmla="val 50000"/>
            </a:avLst>
          </a:prstGeom>
          <a:solidFill>
            <a:srgbClr val="1E9E50"/>
          </a:solidFill>
          <a:ln/>
        </p:spPr>
      </p:sp>
      <p:sp>
        <p:nvSpPr>
          <p:cNvPr id="60" name="Text 50"/>
          <p:cNvSpPr txBox="1"/>
          <p:nvPr/>
        </p:nvSpPr>
        <p:spPr>
          <a:xfrm>
            <a:off x="10332720" y="3639312"/>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61" name="Shape 51"/>
          <p:cNvSpPr/>
          <p:nvPr/>
        </p:nvSpPr>
        <p:spPr>
          <a:xfrm>
            <a:off x="6382512" y="3959352"/>
            <a:ext cx="5248656" cy="329184"/>
          </a:xfrm>
          <a:prstGeom prst="roundRect">
            <a:avLst>
              <a:gd name="adj" fmla="val 16667"/>
            </a:avLst>
          </a:prstGeom>
          <a:solidFill>
            <a:srgbClr val="1C2A3F"/>
          </a:solidFill>
          <a:ln/>
        </p:spPr>
      </p:sp>
      <p:sp>
        <p:nvSpPr>
          <p:cNvPr id="62" name="Text 52"/>
          <p:cNvSpPr txBox="1"/>
          <p:nvPr/>
        </p:nvSpPr>
        <p:spPr>
          <a:xfrm>
            <a:off x="6437376" y="3959352"/>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10:12:27</a:t>
            </a:r>
            <a:endParaRPr lang="en-US" sz="1400" dirty="0"/>
          </a:p>
        </p:txBody>
      </p:sp>
      <p:pic>
        <p:nvPicPr>
          <p:cNvPr id="63" name="Image 5" descr="">    </p:cNvPr>
          <p:cNvPicPr>
            <a:picLocks noChangeAspect="1"/>
          </p:cNvPicPr>
          <p:nvPr/>
        </p:nvPicPr>
        <p:blipFill>
          <a:blip r:embed="rId5"/>
          <a:stretch>
            <a:fillRect/>
          </a:stretch>
        </p:blipFill>
        <p:spPr>
          <a:xfrm>
            <a:off x="7178040" y="4014216"/>
            <a:ext cx="219456" cy="219456"/>
          </a:xfrm>
          <a:prstGeom prst="rect">
            <a:avLst/>
          </a:prstGeom>
        </p:spPr>
      </p:pic>
      <p:sp>
        <p:nvSpPr>
          <p:cNvPr id="64" name="Text 53"/>
          <p:cNvSpPr txBox="1"/>
          <p:nvPr/>
        </p:nvSpPr>
        <p:spPr>
          <a:xfrm>
            <a:off x="7443216" y="3959352"/>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0410</a:t>
            </a:r>
            <a:endParaRPr lang="en-US" sz="1400" dirty="0"/>
          </a:p>
        </p:txBody>
      </p:sp>
      <p:sp>
        <p:nvSpPr>
          <p:cNvPr id="65" name="Text 54"/>
          <p:cNvSpPr txBox="1"/>
          <p:nvPr/>
        </p:nvSpPr>
        <p:spPr>
          <a:xfrm>
            <a:off x="9052560" y="3959352"/>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••••0410</a:t>
            </a:r>
            <a:endParaRPr lang="en-US" sz="1400" dirty="0"/>
          </a:p>
        </p:txBody>
      </p:sp>
      <p:sp>
        <p:nvSpPr>
          <p:cNvPr id="66" name="Text 55"/>
          <p:cNvSpPr txBox="1"/>
          <p:nvPr/>
        </p:nvSpPr>
        <p:spPr>
          <a:xfrm>
            <a:off x="9829800" y="3959352"/>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67" name="Shape 56"/>
          <p:cNvSpPr/>
          <p:nvPr/>
        </p:nvSpPr>
        <p:spPr>
          <a:xfrm>
            <a:off x="10332720" y="3995928"/>
            <a:ext cx="1188720" cy="256032"/>
          </a:xfrm>
          <a:prstGeom prst="roundRect">
            <a:avLst>
              <a:gd name="adj" fmla="val 50000"/>
            </a:avLst>
          </a:prstGeom>
          <a:solidFill>
            <a:srgbClr val="1E9E50"/>
          </a:solidFill>
          <a:ln/>
        </p:spPr>
      </p:sp>
      <p:sp>
        <p:nvSpPr>
          <p:cNvPr id="68" name="Text 57"/>
          <p:cNvSpPr txBox="1"/>
          <p:nvPr/>
        </p:nvSpPr>
        <p:spPr>
          <a:xfrm>
            <a:off x="10332720" y="3995928"/>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69" name="Shape 58"/>
          <p:cNvSpPr/>
          <p:nvPr/>
        </p:nvSpPr>
        <p:spPr>
          <a:xfrm>
            <a:off x="6382512" y="4315968"/>
            <a:ext cx="5248656" cy="329184"/>
          </a:xfrm>
          <a:prstGeom prst="roundRect">
            <a:avLst>
              <a:gd name="adj" fmla="val 16667"/>
            </a:avLst>
          </a:prstGeom>
          <a:solidFill>
            <a:srgbClr val="1C2A3F"/>
          </a:solidFill>
          <a:ln/>
        </p:spPr>
      </p:sp>
      <p:sp>
        <p:nvSpPr>
          <p:cNvPr id="70" name="Text 59"/>
          <p:cNvSpPr txBox="1"/>
          <p:nvPr/>
        </p:nvSpPr>
        <p:spPr>
          <a:xfrm>
            <a:off x="6437376" y="4315968"/>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10:12:22</a:t>
            </a:r>
            <a:endParaRPr lang="en-US" sz="1400" dirty="0"/>
          </a:p>
        </p:txBody>
      </p:sp>
      <p:pic>
        <p:nvPicPr>
          <p:cNvPr id="71" name="Image 6" descr="">    </p:cNvPr>
          <p:cNvPicPr>
            <a:picLocks noChangeAspect="1"/>
          </p:cNvPicPr>
          <p:nvPr/>
        </p:nvPicPr>
        <p:blipFill>
          <a:blip r:embed="rId5"/>
          <a:stretch>
            <a:fillRect/>
          </a:stretch>
        </p:blipFill>
        <p:spPr>
          <a:xfrm>
            <a:off x="7178040" y="4370832"/>
            <a:ext cx="219456" cy="219456"/>
          </a:xfrm>
          <a:prstGeom prst="rect">
            <a:avLst/>
          </a:prstGeom>
        </p:spPr>
      </p:pic>
      <p:sp>
        <p:nvSpPr>
          <p:cNvPr id="72" name="Text 60"/>
          <p:cNvSpPr txBox="1"/>
          <p:nvPr/>
        </p:nvSpPr>
        <p:spPr>
          <a:xfrm>
            <a:off x="7443216" y="4315968"/>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0409</a:t>
            </a:r>
            <a:endParaRPr lang="en-US" sz="1400" dirty="0"/>
          </a:p>
        </p:txBody>
      </p:sp>
      <p:sp>
        <p:nvSpPr>
          <p:cNvPr id="73" name="Text 61"/>
          <p:cNvSpPr txBox="1"/>
          <p:nvPr/>
        </p:nvSpPr>
        <p:spPr>
          <a:xfrm>
            <a:off x="9052560" y="4315968"/>
            <a:ext cx="914400" cy="329184"/>
          </a:xfrm>
          <a:prstGeom prst="rect">
            <a:avLst/>
          </a:prstGeom>
          <a:noFill/>
          <a:ln/>
        </p:spPr>
        <p:txBody>
          <a:bodyPr wrap="square" lIns="0" tIns="0" rIns="0" bIns="0" rtlCol="0" anchor="ctr"/>
          <a:lstStyle/>
          <a:p>
            <a:pPr indent="0" marL="0">
              <a:buNone/>
            </a:pPr>
            <a:r>
              <a:rPr lang="en-US" sz="1400" dirty="0">
                <a:solidFill>
                  <a:srgbClr val="D6DEEA"/>
                </a:solidFill>
              </a:rPr>
              <a:t>••••0409</a:t>
            </a:r>
            <a:endParaRPr lang="en-US" sz="1400" dirty="0"/>
          </a:p>
        </p:txBody>
      </p:sp>
      <p:sp>
        <p:nvSpPr>
          <p:cNvPr id="74" name="Text 62"/>
          <p:cNvSpPr txBox="1"/>
          <p:nvPr/>
        </p:nvSpPr>
        <p:spPr>
          <a:xfrm>
            <a:off x="9829800" y="4315968"/>
            <a:ext cx="365760" cy="329184"/>
          </a:xfrm>
          <a:prstGeom prst="rect">
            <a:avLst/>
          </a:prstGeom>
          <a:noFill/>
          <a:ln/>
        </p:spPr>
        <p:txBody>
          <a:bodyPr wrap="square" lIns="0" tIns="0" rIns="0" bIns="0" rtlCol="0" anchor="ctr"/>
          <a:lstStyle/>
          <a:p>
            <a:pPr indent="0" marL="0">
              <a:buNone/>
            </a:pPr>
            <a:r>
              <a:rPr lang="en-US" sz="1400" dirty="0">
                <a:solidFill>
                  <a:srgbClr val="D6DEEA"/>
                </a:solidFill>
              </a:rPr>
              <a:t>2</a:t>
            </a:r>
            <a:endParaRPr lang="en-US" sz="1400" dirty="0"/>
          </a:p>
        </p:txBody>
      </p:sp>
      <p:sp>
        <p:nvSpPr>
          <p:cNvPr id="75" name="Shape 63"/>
          <p:cNvSpPr/>
          <p:nvPr/>
        </p:nvSpPr>
        <p:spPr>
          <a:xfrm>
            <a:off x="10332720" y="4352544"/>
            <a:ext cx="1188720" cy="256032"/>
          </a:xfrm>
          <a:prstGeom prst="roundRect">
            <a:avLst>
              <a:gd name="adj" fmla="val 50000"/>
            </a:avLst>
          </a:prstGeom>
          <a:solidFill>
            <a:srgbClr val="1E9E50"/>
          </a:solidFill>
          <a:ln/>
        </p:spPr>
      </p:sp>
      <p:sp>
        <p:nvSpPr>
          <p:cNvPr id="76" name="Text 64"/>
          <p:cNvSpPr txBox="1"/>
          <p:nvPr/>
        </p:nvSpPr>
        <p:spPr>
          <a:xfrm>
            <a:off x="10332720" y="4352544"/>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77" name="Shape 65"/>
          <p:cNvSpPr/>
          <p:nvPr/>
        </p:nvSpPr>
        <p:spPr>
          <a:xfrm>
            <a:off x="6382512" y="4672584"/>
            <a:ext cx="5248656" cy="329184"/>
          </a:xfrm>
          <a:prstGeom prst="roundRect">
            <a:avLst>
              <a:gd name="adj" fmla="val 16667"/>
            </a:avLst>
          </a:prstGeom>
          <a:solidFill>
            <a:srgbClr val="1C2A3F"/>
          </a:solidFill>
          <a:ln/>
        </p:spPr>
      </p:sp>
      <p:sp>
        <p:nvSpPr>
          <p:cNvPr id="78" name="Text 66"/>
          <p:cNvSpPr txBox="1"/>
          <p:nvPr/>
        </p:nvSpPr>
        <p:spPr>
          <a:xfrm>
            <a:off x="6437376" y="4672584"/>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10:12:18</a:t>
            </a:r>
            <a:endParaRPr lang="en-US" sz="1400" dirty="0"/>
          </a:p>
        </p:txBody>
      </p:sp>
      <p:pic>
        <p:nvPicPr>
          <p:cNvPr id="79" name="Image 7" descr="">    </p:cNvPr>
          <p:cNvPicPr>
            <a:picLocks noChangeAspect="1"/>
          </p:cNvPicPr>
          <p:nvPr/>
        </p:nvPicPr>
        <p:blipFill>
          <a:blip r:embed="rId5"/>
          <a:stretch>
            <a:fillRect/>
          </a:stretch>
        </p:blipFill>
        <p:spPr>
          <a:xfrm>
            <a:off x="7178040" y="4727448"/>
            <a:ext cx="219456" cy="219456"/>
          </a:xfrm>
          <a:prstGeom prst="rect">
            <a:avLst/>
          </a:prstGeom>
        </p:spPr>
      </p:pic>
      <p:sp>
        <p:nvSpPr>
          <p:cNvPr id="80" name="Text 67"/>
          <p:cNvSpPr txBox="1"/>
          <p:nvPr/>
        </p:nvSpPr>
        <p:spPr>
          <a:xfrm>
            <a:off x="7443216" y="4672584"/>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0408</a:t>
            </a:r>
            <a:endParaRPr lang="en-US" sz="1400" dirty="0"/>
          </a:p>
        </p:txBody>
      </p:sp>
      <p:sp>
        <p:nvSpPr>
          <p:cNvPr id="81" name="Text 68"/>
          <p:cNvSpPr txBox="1"/>
          <p:nvPr/>
        </p:nvSpPr>
        <p:spPr>
          <a:xfrm>
            <a:off x="9052560" y="4672584"/>
            <a:ext cx="914400" cy="329184"/>
          </a:xfrm>
          <a:prstGeom prst="rect">
            <a:avLst/>
          </a:prstGeom>
          <a:noFill/>
          <a:ln/>
        </p:spPr>
        <p:txBody>
          <a:bodyPr wrap="square" lIns="0" tIns="0" rIns="0" bIns="0" rtlCol="0" anchor="ctr"/>
          <a:lstStyle/>
          <a:p>
            <a:pPr indent="0" marL="0">
              <a:buNone/>
            </a:pPr>
            <a:r>
              <a:rPr lang="en-US" sz="1400" dirty="0">
                <a:solidFill>
                  <a:srgbClr val="D6DEEA"/>
                </a:solidFill>
              </a:rPr>
              <a:t>••••0408</a:t>
            </a:r>
            <a:endParaRPr lang="en-US" sz="1400" dirty="0"/>
          </a:p>
        </p:txBody>
      </p:sp>
      <p:sp>
        <p:nvSpPr>
          <p:cNvPr id="82" name="Text 69"/>
          <p:cNvSpPr txBox="1"/>
          <p:nvPr/>
        </p:nvSpPr>
        <p:spPr>
          <a:xfrm>
            <a:off x="9829800" y="4672584"/>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83" name="Shape 70"/>
          <p:cNvSpPr/>
          <p:nvPr/>
        </p:nvSpPr>
        <p:spPr>
          <a:xfrm>
            <a:off x="10332720" y="4709160"/>
            <a:ext cx="1188720" cy="256032"/>
          </a:xfrm>
          <a:prstGeom prst="roundRect">
            <a:avLst>
              <a:gd name="adj" fmla="val 50000"/>
            </a:avLst>
          </a:prstGeom>
          <a:solidFill>
            <a:srgbClr val="1E9E50"/>
          </a:solidFill>
          <a:ln/>
        </p:spPr>
      </p:sp>
      <p:sp>
        <p:nvSpPr>
          <p:cNvPr id="84" name="Text 71"/>
          <p:cNvSpPr txBox="1"/>
          <p:nvPr/>
        </p:nvSpPr>
        <p:spPr>
          <a:xfrm>
            <a:off x="10332720" y="4709160"/>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85" name="!!cap5e"/>
          <p:cNvSpPr txBox="1"/>
          <p:nvPr/>
        </p:nvSpPr>
        <p:spPr>
          <a:xfrm>
            <a:off x="6309360" y="5266944"/>
            <a:ext cx="5394960" cy="566928"/>
          </a:xfrm>
          <a:prstGeom prst="rect">
            <a:avLst/>
          </a:prstGeom>
          <a:noFill/>
          <a:ln/>
        </p:spPr>
        <p:txBody>
          <a:bodyPr wrap="square" lIns="0" tIns="0" rIns="0" bIns="0" rtlCol="0" anchor="t"/>
          <a:lstStyle/>
          <a:p>
            <a:pPr indent="0" marL="0">
              <a:buNone/>
            </a:pPr>
            <a:r>
              <a:rPr lang="en-US" sz="1800" dirty="0">
                <a:solidFill>
                  <a:srgbClr val="0B1526"/>
                </a:solidFill>
              </a:rPr>
              <a:t>Clearance events sit beside CCTV, access control and incidents.</a:t>
            </a:r>
            <a:endParaRPr lang="en-US" sz="1800" dirty="0"/>
          </a:p>
        </p:txBody>
      </p:sp>
      <p:sp>
        <p:nvSpPr>
          <p:cNvPr id="8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8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8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8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9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Traction &amp; learning</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Built and shown live. Next proof: one airport lane.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Pre-revenue; no pilot or letter of intent signed yet.</a:t>
            </a:r>
            <a:endParaRPr lang="en-US" sz="1800" dirty="0"/>
          </a:p>
        </p:txBody>
      </p:sp>
      <p:sp>
        <p:nvSpPr>
          <p:cNvPr id="8" name="Shape 3"/>
          <p:cNvSpPr/>
          <p:nvPr/>
        </p:nvSpPr>
        <p:spPr>
          <a:xfrm>
            <a:off x="457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9" name="Image 0" descr="App">    </p:cNvPr>
          <p:cNvPicPr>
            <a:picLocks noChangeAspect="1"/>
          </p:cNvPicPr>
          <p:nvPr/>
        </p:nvPicPr>
        <p:blipFill>
          <a:blip r:embed="rId3"/>
          <a:srcRect l="0" r="0" t="0" b="0"/>
          <a:stretch/>
        </p:blipFill>
        <p:spPr>
          <a:xfrm>
            <a:off x="457200" y="1920240"/>
            <a:ext cx="2103120" cy="1115568"/>
          </a:xfrm>
          <a:prstGeom prst="rect">
            <a:avLst/>
          </a:prstGeom>
        </p:spPr>
      </p:pic>
      <p:sp>
        <p:nvSpPr>
          <p:cNvPr id="10" name="Shape 4"/>
          <p:cNvSpPr/>
          <p:nvPr/>
        </p:nvSpPr>
        <p:spPr>
          <a:xfrm>
            <a:off x="521208" y="2697480"/>
            <a:ext cx="1010091" cy="274320"/>
          </a:xfrm>
          <a:prstGeom prst="roundRect">
            <a:avLst>
              <a:gd name="adj" fmla="val 50000"/>
            </a:avLst>
          </a:prstGeom>
          <a:solidFill>
            <a:srgbClr val="FFFFFF">
              <a:alpha val="92000"/>
            </a:srgbClr>
          </a:solidFill>
          <a:ln/>
        </p:spPr>
      </p:sp>
      <p:sp>
        <p:nvSpPr>
          <p:cNvPr id="11" name="Text 5"/>
          <p:cNvSpPr txBox="1"/>
          <p:nvPr/>
        </p:nvSpPr>
        <p:spPr>
          <a:xfrm>
            <a:off x="521208" y="2697480"/>
            <a:ext cx="1010091" cy="274320"/>
          </a:xfrm>
          <a:prstGeom prst="rect">
            <a:avLst/>
          </a:prstGeom>
          <a:noFill/>
          <a:ln/>
        </p:spPr>
        <p:txBody>
          <a:bodyPr wrap="square" lIns="0" tIns="0" rIns="0" bIns="0" rtlCol="0" anchor="ctr"/>
          <a:lstStyle/>
          <a:p>
            <a:pPr algn="ctr" indent="0" marL="0">
              <a:buNone/>
            </a:pPr>
            <a:r>
              <a:rPr lang="en-US" sz="1400" dirty="0">
                <a:solidFill>
                  <a:srgbClr val="4A5870"/>
                </a:solidFill>
              </a:rPr>
              <a:t>Specimen</a:t>
            </a:r>
            <a:endParaRPr lang="en-US" sz="1400" dirty="0"/>
          </a:p>
        </p:txBody>
      </p:sp>
      <p:sp>
        <p:nvSpPr>
          <p:cNvPr id="12" name="Text 6"/>
          <p:cNvSpPr txBox="1"/>
          <p:nvPr/>
        </p:nvSpPr>
        <p:spPr>
          <a:xfrm>
            <a:off x="457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App</a:t>
            </a:r>
            <a:endParaRPr lang="en-US" sz="1400" dirty="0"/>
          </a:p>
        </p:txBody>
      </p:sp>
      <p:sp>
        <p:nvSpPr>
          <p:cNvPr id="13" name="Shape 7"/>
          <p:cNvSpPr/>
          <p:nvPr/>
        </p:nvSpPr>
        <p:spPr>
          <a:xfrm>
            <a:off x="2743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14" name="Image 1" descr="E-gate + BLE">    </p:cNvPr>
          <p:cNvPicPr>
            <a:picLocks noChangeAspect="1"/>
          </p:cNvPicPr>
          <p:nvPr/>
        </p:nvPicPr>
        <p:blipFill>
          <a:blip r:embed="rId4"/>
          <a:srcRect l="0" r="0" t="0" b="0"/>
          <a:stretch/>
        </p:blipFill>
        <p:spPr>
          <a:xfrm>
            <a:off x="2743200" y="1920240"/>
            <a:ext cx="2103120" cy="1115568"/>
          </a:xfrm>
          <a:prstGeom prst="rect">
            <a:avLst/>
          </a:prstGeom>
        </p:spPr>
      </p:pic>
      <p:sp>
        <p:nvSpPr>
          <p:cNvPr id="15" name="Shape 8"/>
          <p:cNvSpPr/>
          <p:nvPr/>
        </p:nvSpPr>
        <p:spPr>
          <a:xfrm>
            <a:off x="2807208" y="2697480"/>
            <a:ext cx="1514241" cy="274320"/>
          </a:xfrm>
          <a:prstGeom prst="roundRect">
            <a:avLst>
              <a:gd name="adj" fmla="val 50000"/>
            </a:avLst>
          </a:prstGeom>
          <a:solidFill>
            <a:srgbClr val="FFFFFF">
              <a:alpha val="92000"/>
            </a:srgbClr>
          </a:solidFill>
          <a:ln/>
        </p:spPr>
      </p:sp>
      <p:sp>
        <p:nvSpPr>
          <p:cNvPr id="16" name="Text 9"/>
          <p:cNvSpPr txBox="1"/>
          <p:nvPr/>
        </p:nvSpPr>
        <p:spPr>
          <a:xfrm>
            <a:off x="2807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17" name="Text 10"/>
          <p:cNvSpPr txBox="1"/>
          <p:nvPr/>
        </p:nvSpPr>
        <p:spPr>
          <a:xfrm>
            <a:off x="2743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E-gate + BLE</a:t>
            </a:r>
            <a:endParaRPr lang="en-US" sz="1400" dirty="0"/>
          </a:p>
        </p:txBody>
      </p:sp>
      <p:sp>
        <p:nvSpPr>
          <p:cNvPr id="18" name="Shape 11"/>
          <p:cNvSpPr/>
          <p:nvPr/>
        </p:nvSpPr>
        <p:spPr>
          <a:xfrm>
            <a:off x="5029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19" name="Image 2" descr="Nova Plus">    </p:cNvPr>
          <p:cNvPicPr>
            <a:picLocks noChangeAspect="1"/>
          </p:cNvPicPr>
          <p:nvPr/>
        </p:nvPicPr>
        <p:blipFill>
          <a:blip r:embed="rId5"/>
          <a:srcRect l="0" r="0" t="0" b="0"/>
          <a:stretch/>
        </p:blipFill>
        <p:spPr>
          <a:xfrm>
            <a:off x="5029200" y="1920240"/>
            <a:ext cx="2103120" cy="1115568"/>
          </a:xfrm>
          <a:prstGeom prst="rect">
            <a:avLst/>
          </a:prstGeom>
        </p:spPr>
      </p:pic>
      <p:sp>
        <p:nvSpPr>
          <p:cNvPr id="20" name="Shape 12"/>
          <p:cNvSpPr/>
          <p:nvPr/>
        </p:nvSpPr>
        <p:spPr>
          <a:xfrm>
            <a:off x="5093208" y="2697480"/>
            <a:ext cx="1514241" cy="274320"/>
          </a:xfrm>
          <a:prstGeom prst="roundRect">
            <a:avLst>
              <a:gd name="adj" fmla="val 50000"/>
            </a:avLst>
          </a:prstGeom>
          <a:solidFill>
            <a:srgbClr val="FFFFFF">
              <a:alpha val="92000"/>
            </a:srgbClr>
          </a:solidFill>
          <a:ln/>
        </p:spPr>
      </p:sp>
      <p:sp>
        <p:nvSpPr>
          <p:cNvPr id="21" name="Text 13"/>
          <p:cNvSpPr txBox="1"/>
          <p:nvPr/>
        </p:nvSpPr>
        <p:spPr>
          <a:xfrm>
            <a:off x="5093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22" name="Text 14"/>
          <p:cNvSpPr txBox="1"/>
          <p:nvPr/>
        </p:nvSpPr>
        <p:spPr>
          <a:xfrm>
            <a:off x="5029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Nova Plus</a:t>
            </a:r>
            <a:endParaRPr lang="en-US" sz="1400" dirty="0"/>
          </a:p>
        </p:txBody>
      </p:sp>
      <p:sp>
        <p:nvSpPr>
          <p:cNvPr id="23" name="Shape 15"/>
          <p:cNvSpPr/>
          <p:nvPr/>
        </p:nvSpPr>
        <p:spPr>
          <a:xfrm>
            <a:off x="7315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24" name="Image 3" descr="Kiosk">    </p:cNvPr>
          <p:cNvPicPr>
            <a:picLocks noChangeAspect="1"/>
          </p:cNvPicPr>
          <p:nvPr/>
        </p:nvPicPr>
        <p:blipFill>
          <a:blip r:embed="rId6"/>
          <a:srcRect l="0" r="0" t="0" b="0"/>
          <a:stretch/>
        </p:blipFill>
        <p:spPr>
          <a:xfrm>
            <a:off x="7315200" y="1920240"/>
            <a:ext cx="2103120" cy="1115568"/>
          </a:xfrm>
          <a:prstGeom prst="rect">
            <a:avLst/>
          </a:prstGeom>
        </p:spPr>
      </p:pic>
      <p:sp>
        <p:nvSpPr>
          <p:cNvPr id="25" name="Shape 16"/>
          <p:cNvSpPr/>
          <p:nvPr/>
        </p:nvSpPr>
        <p:spPr>
          <a:xfrm>
            <a:off x="7379208" y="2697480"/>
            <a:ext cx="1514241" cy="274320"/>
          </a:xfrm>
          <a:prstGeom prst="roundRect">
            <a:avLst>
              <a:gd name="adj" fmla="val 50000"/>
            </a:avLst>
          </a:prstGeom>
          <a:solidFill>
            <a:srgbClr val="FFFFFF">
              <a:alpha val="92000"/>
            </a:srgbClr>
          </a:solidFill>
          <a:ln/>
        </p:spPr>
      </p:sp>
      <p:sp>
        <p:nvSpPr>
          <p:cNvPr id="26" name="Text 17"/>
          <p:cNvSpPr txBox="1"/>
          <p:nvPr/>
        </p:nvSpPr>
        <p:spPr>
          <a:xfrm>
            <a:off x="7379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27" name="Text 18"/>
          <p:cNvSpPr txBox="1"/>
          <p:nvPr/>
        </p:nvSpPr>
        <p:spPr>
          <a:xfrm>
            <a:off x="7315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Kiosk</a:t>
            </a:r>
            <a:endParaRPr lang="en-US" sz="1400" dirty="0"/>
          </a:p>
        </p:txBody>
      </p:sp>
      <p:sp>
        <p:nvSpPr>
          <p:cNvPr id="28" name="Shape 19"/>
          <p:cNvSpPr/>
          <p:nvPr/>
        </p:nvSpPr>
        <p:spPr>
          <a:xfrm>
            <a:off x="9601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29" name="Image 4" descr="Platform">    </p:cNvPr>
          <p:cNvPicPr>
            <a:picLocks noChangeAspect="1"/>
          </p:cNvPicPr>
          <p:nvPr/>
        </p:nvPicPr>
        <p:blipFill>
          <a:blip r:embed="rId7"/>
          <a:srcRect l="0" r="0" t="0" b="0"/>
          <a:stretch/>
        </p:blipFill>
        <p:spPr>
          <a:xfrm>
            <a:off x="9601200" y="1920240"/>
            <a:ext cx="2103120" cy="1115568"/>
          </a:xfrm>
          <a:prstGeom prst="rect">
            <a:avLst/>
          </a:prstGeom>
        </p:spPr>
      </p:pic>
      <p:sp>
        <p:nvSpPr>
          <p:cNvPr id="30" name="Shape 20"/>
          <p:cNvSpPr/>
          <p:nvPr/>
        </p:nvSpPr>
        <p:spPr>
          <a:xfrm>
            <a:off x="9665208" y="2697480"/>
            <a:ext cx="901228" cy="274320"/>
          </a:xfrm>
          <a:prstGeom prst="roundRect">
            <a:avLst>
              <a:gd name="adj" fmla="val 50000"/>
            </a:avLst>
          </a:prstGeom>
          <a:solidFill>
            <a:srgbClr val="FFFFFF">
              <a:alpha val="92000"/>
            </a:srgbClr>
          </a:solidFill>
          <a:ln/>
        </p:spPr>
      </p:sp>
      <p:sp>
        <p:nvSpPr>
          <p:cNvPr id="31" name="Text 21"/>
          <p:cNvSpPr txBox="1"/>
          <p:nvPr/>
        </p:nvSpPr>
        <p:spPr>
          <a:xfrm>
            <a:off x="9665208" y="2697480"/>
            <a:ext cx="901228" cy="274320"/>
          </a:xfrm>
          <a:prstGeom prst="rect">
            <a:avLst/>
          </a:prstGeom>
          <a:noFill/>
          <a:ln/>
        </p:spPr>
        <p:txBody>
          <a:bodyPr wrap="square" lIns="0" tIns="0" rIns="0" bIns="0" rtlCol="0" anchor="ctr"/>
          <a:lstStyle/>
          <a:p>
            <a:pPr algn="ctr" indent="0" marL="0">
              <a:buNone/>
            </a:pPr>
            <a:r>
              <a:rPr lang="en-US" sz="1400" dirty="0">
                <a:solidFill>
                  <a:srgbClr val="4A5870"/>
                </a:solidFill>
              </a:rPr>
              <a:t>Mock-up</a:t>
            </a:r>
            <a:endParaRPr lang="en-US" sz="1400" dirty="0"/>
          </a:p>
        </p:txBody>
      </p:sp>
      <p:sp>
        <p:nvSpPr>
          <p:cNvPr id="32" name="Text 22"/>
          <p:cNvSpPr txBox="1"/>
          <p:nvPr/>
        </p:nvSpPr>
        <p:spPr>
          <a:xfrm>
            <a:off x="9601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Platform</a:t>
            </a:r>
            <a:endParaRPr lang="en-US" sz="1400" dirty="0"/>
          </a:p>
        </p:txBody>
      </p:sp>
      <p:sp>
        <p:nvSpPr>
          <p:cNvPr id="33" name="Shape 23"/>
          <p:cNvSpPr/>
          <p:nvPr/>
        </p:nvSpPr>
        <p:spPr>
          <a:xfrm>
            <a:off x="457200" y="3584448"/>
            <a:ext cx="3749040" cy="2487168"/>
          </a:xfrm>
          <a:prstGeom prst="roundRect">
            <a:avLst>
              <a:gd name="adj" fmla="val 4412"/>
            </a:avLst>
          </a:prstGeom>
          <a:solidFill>
            <a:srgbClr val="FFFFFF"/>
          </a:solidFill>
          <a:ln/>
          <a:effectLst>
            <a:outerShdw sx="100000" sy="100000" kx="0" ky="0" algn="bl" rotWithShape="0" blurRad="152400" dist="25400" dir="5400000">
              <a:srgbClr val="0A1628">
                <a:alpha val="12000"/>
              </a:srgbClr>
            </a:outerShdw>
          </a:effectLst>
        </p:spPr>
      </p:sp>
      <p:sp>
        <p:nvSpPr>
          <p:cNvPr id="34" name="Text 24"/>
          <p:cNvSpPr txBox="1"/>
          <p:nvPr/>
        </p:nvSpPr>
        <p:spPr>
          <a:xfrm>
            <a:off x="685800" y="3858768"/>
            <a:ext cx="3291840" cy="1143000"/>
          </a:xfrm>
          <a:prstGeom prst="rect">
            <a:avLst/>
          </a:prstGeom>
          <a:noFill/>
          <a:ln/>
        </p:spPr>
        <p:txBody>
          <a:bodyPr wrap="square" lIns="0" tIns="0" rIns="0" bIns="0" rtlCol="0" anchor="ctr"/>
          <a:lstStyle/>
          <a:p>
            <a:pPr indent="0" marL="0">
              <a:buNone/>
            </a:pPr>
            <a:r>
              <a:rPr lang="en-US" sz="7200" b="1" dirty="0">
                <a:solidFill>
                  <a:srgbClr val="0B2545"/>
                </a:solidFill>
              </a:rPr>
              <a:t>[N]</a:t>
            </a:r>
            <a:endParaRPr lang="en-US" sz="7200" dirty="0"/>
          </a:p>
        </p:txBody>
      </p:sp>
      <p:sp>
        <p:nvSpPr>
          <p:cNvPr id="35" name="Text 25"/>
          <p:cNvSpPr txBox="1"/>
          <p:nvPr/>
        </p:nvSpPr>
        <p:spPr>
          <a:xfrm>
            <a:off x="685800" y="5065776"/>
            <a:ext cx="3291840" cy="566928"/>
          </a:xfrm>
          <a:prstGeom prst="rect">
            <a:avLst/>
          </a:prstGeom>
          <a:noFill/>
          <a:ln/>
        </p:spPr>
        <p:txBody>
          <a:bodyPr wrap="square" lIns="0" tIns="0" rIns="0" bIns="0" rtlCol="0" anchor="t"/>
          <a:lstStyle/>
          <a:p>
            <a:pPr indent="0" marL="0">
              <a:buNone/>
            </a:pPr>
            <a:r>
              <a:rPr lang="en-US" sz="1600" dirty="0">
                <a:solidFill>
                  <a:srgbClr val="4A5870"/>
                </a:solidFill>
              </a:rPr>
              <a:t>airports and border agencies in pilot talks</a:t>
            </a:r>
            <a:endParaRPr lang="en-US" sz="1600" dirty="0"/>
          </a:p>
        </p:txBody>
      </p:sp>
      <p:sp>
        <p:nvSpPr>
          <p:cNvPr id="36" name="Shape 26"/>
          <p:cNvSpPr/>
          <p:nvPr/>
        </p:nvSpPr>
        <p:spPr>
          <a:xfrm>
            <a:off x="4572000" y="3584448"/>
            <a:ext cx="7132320" cy="2487168"/>
          </a:xfrm>
          <a:prstGeom prst="roundRect">
            <a:avLst>
              <a:gd name="adj" fmla="val 4412"/>
            </a:avLst>
          </a:prstGeom>
          <a:solidFill>
            <a:srgbClr val="FFFFFF"/>
          </a:solidFill>
          <a:ln/>
          <a:effectLst>
            <a:outerShdw sx="100000" sy="100000" kx="0" ky="0" algn="bl" rotWithShape="0" blurRad="152400" dist="25400" dir="5400000">
              <a:srgbClr val="0A1628">
                <a:alpha val="12000"/>
              </a:srgbClr>
            </a:outerShdw>
          </a:effectLst>
        </p:spPr>
      </p:sp>
      <p:sp>
        <p:nvSpPr>
          <p:cNvPr id="37" name="Text 27"/>
          <p:cNvSpPr txBox="1"/>
          <p:nvPr/>
        </p:nvSpPr>
        <p:spPr>
          <a:xfrm>
            <a:off x="4846320" y="3767328"/>
            <a:ext cx="6583680" cy="347472"/>
          </a:xfrm>
          <a:prstGeom prst="rect">
            <a:avLst/>
          </a:prstGeom>
          <a:noFill/>
          <a:ln/>
        </p:spPr>
        <p:txBody>
          <a:bodyPr wrap="square" lIns="0" tIns="0" rIns="0" bIns="0" rtlCol="0" anchor="ctr"/>
          <a:lstStyle/>
          <a:p>
            <a:pPr indent="0" marL="0">
              <a:buNone/>
            </a:pPr>
            <a:r>
              <a:rPr lang="en-US" sz="1800" b="1" dirty="0">
                <a:solidFill>
                  <a:srgbClr val="0B1526"/>
                </a:solidFill>
              </a:rPr>
              <a:t>Pilot scorecard, agreed before go-live</a:t>
            </a:r>
            <a:endParaRPr lang="en-US" sz="1800" dirty="0"/>
          </a:p>
        </p:txBody>
      </p:sp>
      <p:sp>
        <p:nvSpPr>
          <p:cNvPr id="38" name="Shape 28"/>
          <p:cNvSpPr/>
          <p:nvPr/>
        </p:nvSpPr>
        <p:spPr>
          <a:xfrm>
            <a:off x="4846320" y="4261104"/>
            <a:ext cx="2260775" cy="402336"/>
          </a:xfrm>
          <a:prstGeom prst="roundRect">
            <a:avLst>
              <a:gd name="adj" fmla="val 50000"/>
            </a:avLst>
          </a:prstGeom>
          <a:solidFill>
            <a:srgbClr val="F1F4F8"/>
          </a:solidFill>
          <a:ln w="9525">
            <a:solidFill>
              <a:srgbClr val="E1E6ED"/>
            </a:solidFill>
            <a:prstDash val="solid"/>
          </a:ln>
        </p:spPr>
      </p:sp>
      <p:sp>
        <p:nvSpPr>
          <p:cNvPr id="39" name="Text 29"/>
          <p:cNvSpPr txBox="1"/>
          <p:nvPr/>
        </p:nvSpPr>
        <p:spPr>
          <a:xfrm>
            <a:off x="4846320" y="4261104"/>
            <a:ext cx="2260775" cy="402336"/>
          </a:xfrm>
          <a:prstGeom prst="rect">
            <a:avLst/>
          </a:prstGeom>
          <a:noFill/>
          <a:ln/>
        </p:spPr>
        <p:txBody>
          <a:bodyPr wrap="square" lIns="0" tIns="0" rIns="0" bIns="0" rtlCol="0" anchor="ctr"/>
          <a:lstStyle/>
          <a:p>
            <a:pPr algn="ctr" indent="0" marL="0">
              <a:buNone/>
            </a:pPr>
            <a:r>
              <a:rPr lang="en-US" sz="1600" dirty="0">
                <a:solidFill>
                  <a:srgbClr val="0B1526"/>
                </a:solidFill>
              </a:rPr>
              <a:t>Throughput vs e-gate</a:t>
            </a:r>
            <a:endParaRPr lang="en-US" sz="1600" dirty="0"/>
          </a:p>
        </p:txBody>
      </p:sp>
      <p:sp>
        <p:nvSpPr>
          <p:cNvPr id="40" name="Shape 30"/>
          <p:cNvSpPr/>
          <p:nvPr/>
        </p:nvSpPr>
        <p:spPr>
          <a:xfrm>
            <a:off x="7235111" y="4261104"/>
            <a:ext cx="1691854" cy="402336"/>
          </a:xfrm>
          <a:prstGeom prst="roundRect">
            <a:avLst>
              <a:gd name="adj" fmla="val 50000"/>
            </a:avLst>
          </a:prstGeom>
          <a:solidFill>
            <a:srgbClr val="F1F4F8"/>
          </a:solidFill>
          <a:ln w="9525">
            <a:solidFill>
              <a:srgbClr val="E1E6ED"/>
            </a:solidFill>
            <a:prstDash val="solid"/>
          </a:ln>
        </p:spPr>
      </p:sp>
      <p:sp>
        <p:nvSpPr>
          <p:cNvPr id="41" name="Text 31"/>
          <p:cNvSpPr txBox="1"/>
          <p:nvPr/>
        </p:nvSpPr>
        <p:spPr>
          <a:xfrm>
            <a:off x="7235111" y="4261104"/>
            <a:ext cx="1691854" cy="402336"/>
          </a:xfrm>
          <a:prstGeom prst="rect">
            <a:avLst/>
          </a:prstGeom>
          <a:noFill/>
          <a:ln/>
        </p:spPr>
        <p:txBody>
          <a:bodyPr wrap="square" lIns="0" tIns="0" rIns="0" bIns="0" rtlCol="0" anchor="ctr"/>
          <a:lstStyle/>
          <a:p>
            <a:pPr algn="ctr" indent="0" marL="0">
              <a:buNone/>
            </a:pPr>
            <a:r>
              <a:rPr lang="en-US" sz="1600" dirty="0">
                <a:solidFill>
                  <a:srgbClr val="0B1526"/>
                </a:solidFill>
              </a:rPr>
              <a:t>Officer minutes</a:t>
            </a:r>
            <a:endParaRPr lang="en-US" sz="1600" dirty="0"/>
          </a:p>
        </p:txBody>
      </p:sp>
      <p:sp>
        <p:nvSpPr>
          <p:cNvPr id="42" name="Shape 32"/>
          <p:cNvSpPr/>
          <p:nvPr/>
        </p:nvSpPr>
        <p:spPr>
          <a:xfrm>
            <a:off x="9054981" y="4261104"/>
            <a:ext cx="2350667" cy="402336"/>
          </a:xfrm>
          <a:prstGeom prst="roundRect">
            <a:avLst>
              <a:gd name="adj" fmla="val 50000"/>
            </a:avLst>
          </a:prstGeom>
          <a:solidFill>
            <a:srgbClr val="F1F4F8"/>
          </a:solidFill>
          <a:ln w="9525">
            <a:solidFill>
              <a:srgbClr val="E1E6ED"/>
            </a:solidFill>
            <a:prstDash val="solid"/>
          </a:ln>
        </p:spPr>
      </p:sp>
      <p:sp>
        <p:nvSpPr>
          <p:cNvPr id="43" name="Text 33"/>
          <p:cNvSpPr txBox="1"/>
          <p:nvPr/>
        </p:nvSpPr>
        <p:spPr>
          <a:xfrm>
            <a:off x="9054981" y="4261104"/>
            <a:ext cx="2350667" cy="402336"/>
          </a:xfrm>
          <a:prstGeom prst="rect">
            <a:avLst/>
          </a:prstGeom>
          <a:noFill/>
          <a:ln/>
        </p:spPr>
        <p:txBody>
          <a:bodyPr wrap="square" lIns="0" tIns="0" rIns="0" bIns="0" rtlCol="0" anchor="ctr"/>
          <a:lstStyle/>
          <a:p>
            <a:pPr algn="ctr" indent="0" marL="0">
              <a:buNone/>
            </a:pPr>
            <a:r>
              <a:rPr lang="en-US" sz="1600" dirty="0">
                <a:solidFill>
                  <a:srgbClr val="0B1526"/>
                </a:solidFill>
              </a:rPr>
              <a:t>False accepts / rejects</a:t>
            </a:r>
            <a:endParaRPr lang="en-US" sz="1600" dirty="0"/>
          </a:p>
        </p:txBody>
      </p:sp>
      <p:sp>
        <p:nvSpPr>
          <p:cNvPr id="44" name="Shape 34"/>
          <p:cNvSpPr/>
          <p:nvPr/>
        </p:nvSpPr>
        <p:spPr>
          <a:xfrm>
            <a:off x="4846320" y="4773168"/>
            <a:ext cx="1255292" cy="402336"/>
          </a:xfrm>
          <a:prstGeom prst="roundRect">
            <a:avLst>
              <a:gd name="adj" fmla="val 50000"/>
            </a:avLst>
          </a:prstGeom>
          <a:solidFill>
            <a:srgbClr val="F1F4F8"/>
          </a:solidFill>
          <a:ln w="9525">
            <a:solidFill>
              <a:srgbClr val="E1E6ED"/>
            </a:solidFill>
            <a:prstDash val="solid"/>
          </a:ln>
        </p:spPr>
      </p:sp>
      <p:sp>
        <p:nvSpPr>
          <p:cNvPr id="45" name="Text 35"/>
          <p:cNvSpPr txBox="1"/>
          <p:nvPr/>
        </p:nvSpPr>
        <p:spPr>
          <a:xfrm>
            <a:off x="4846320" y="4773168"/>
            <a:ext cx="1255292" cy="402336"/>
          </a:xfrm>
          <a:prstGeom prst="rect">
            <a:avLst/>
          </a:prstGeom>
          <a:noFill/>
          <a:ln/>
        </p:spPr>
        <p:txBody>
          <a:bodyPr wrap="square" lIns="0" tIns="0" rIns="0" bIns="0" rtlCol="0" anchor="ctr"/>
          <a:lstStyle/>
          <a:p>
            <a:pPr algn="ctr" indent="0" marL="0">
              <a:buNone/>
            </a:pPr>
            <a:r>
              <a:rPr lang="en-US" sz="1600" dirty="0">
                <a:solidFill>
                  <a:srgbClr val="0B1526"/>
                </a:solidFill>
              </a:rPr>
              <a:t>Enrolment</a:t>
            </a:r>
            <a:endParaRPr lang="en-US" sz="1600" dirty="0"/>
          </a:p>
        </p:txBody>
      </p:sp>
      <p:sp>
        <p:nvSpPr>
          <p:cNvPr id="46" name="Shape 36"/>
          <p:cNvSpPr/>
          <p:nvPr/>
        </p:nvSpPr>
        <p:spPr>
          <a:xfrm>
            <a:off x="6229628" y="4773168"/>
            <a:ext cx="4028257" cy="402336"/>
          </a:xfrm>
          <a:prstGeom prst="roundRect">
            <a:avLst>
              <a:gd name="adj" fmla="val 50000"/>
            </a:avLst>
          </a:prstGeom>
          <a:solidFill>
            <a:srgbClr val="F1F4F8"/>
          </a:solidFill>
          <a:ln w="9525">
            <a:solidFill>
              <a:srgbClr val="E1E6ED"/>
            </a:solidFill>
            <a:prstDash val="solid"/>
          </a:ln>
        </p:spPr>
      </p:sp>
      <p:sp>
        <p:nvSpPr>
          <p:cNvPr id="47" name="Text 37"/>
          <p:cNvSpPr txBox="1"/>
          <p:nvPr/>
        </p:nvSpPr>
        <p:spPr>
          <a:xfrm>
            <a:off x="6229628" y="4773168"/>
            <a:ext cx="4028257" cy="402336"/>
          </a:xfrm>
          <a:prstGeom prst="rect">
            <a:avLst/>
          </a:prstGeom>
          <a:noFill/>
          <a:ln/>
        </p:spPr>
        <p:txBody>
          <a:bodyPr wrap="square" lIns="0" tIns="0" rIns="0" bIns="0" rtlCol="0" anchor="ctr"/>
          <a:lstStyle/>
          <a:p>
            <a:pPr algn="ctr" indent="0" marL="0">
              <a:buNone/>
            </a:pPr>
            <a:r>
              <a:rPr lang="en-US" sz="1600" dirty="0">
                <a:solidFill>
                  <a:srgbClr val="0B1526"/>
                </a:solidFill>
              </a:rPr>
              <a:t>Kerb-to-gate (full-rollout target −20–30%)</a:t>
            </a:r>
            <a:endParaRPr lang="en-US" sz="1600" dirty="0"/>
          </a:p>
        </p:txBody>
      </p:sp>
      <p:sp>
        <p:nvSpPr>
          <p:cNvPr id="48" name="Shape 38"/>
          <p:cNvSpPr/>
          <p:nvPr/>
        </p:nvSpPr>
        <p:spPr>
          <a:xfrm>
            <a:off x="4846320" y="5394960"/>
            <a:ext cx="4649966" cy="438912"/>
          </a:xfrm>
          <a:prstGeom prst="roundRect">
            <a:avLst>
              <a:gd name="adj" fmla="val 50000"/>
            </a:avLst>
          </a:prstGeom>
          <a:solidFill>
            <a:srgbClr val="E6F2F7"/>
          </a:solidFill>
          <a:ln w="15875">
            <a:solidFill>
              <a:srgbClr val="0B84AE"/>
            </a:solidFill>
            <a:prstDash val="solid"/>
          </a:ln>
        </p:spPr>
      </p:sp>
      <p:pic>
        <p:nvPicPr>
          <p:cNvPr id="49" name="Image 5" descr="">    </p:cNvPr>
          <p:cNvPicPr>
            <a:picLocks noChangeAspect="1"/>
          </p:cNvPicPr>
          <p:nvPr/>
        </p:nvPicPr>
        <p:blipFill>
          <a:blip r:embed="rId8"/>
          <a:stretch>
            <a:fillRect/>
          </a:stretch>
        </p:blipFill>
        <p:spPr>
          <a:xfrm>
            <a:off x="4992624" y="5477256"/>
            <a:ext cx="274320" cy="274320"/>
          </a:xfrm>
          <a:prstGeom prst="rect">
            <a:avLst/>
          </a:prstGeom>
        </p:spPr>
      </p:pic>
      <p:sp>
        <p:nvSpPr>
          <p:cNvPr id="50" name="Text 39"/>
          <p:cNvSpPr txBox="1"/>
          <p:nvPr/>
        </p:nvSpPr>
        <p:spPr>
          <a:xfrm>
            <a:off x="5340096" y="5394960"/>
            <a:ext cx="4192766" cy="438912"/>
          </a:xfrm>
          <a:prstGeom prst="rect">
            <a:avLst/>
          </a:prstGeom>
          <a:noFill/>
          <a:ln/>
        </p:spPr>
        <p:txBody>
          <a:bodyPr wrap="square" lIns="0" tIns="0" rIns="0" bIns="0" rtlCol="0" anchor="ctr"/>
          <a:lstStyle/>
          <a:p>
            <a:pPr indent="0" marL="0">
              <a:buNone/>
            </a:pPr>
            <a:r>
              <a:rPr lang="en-US" sz="1600" b="1" dirty="0">
                <a:solidFill>
                  <a:srgbClr val="0B84AE"/>
                </a:solidFill>
              </a:rPr>
              <a:t>Staffed fallback lane and officer override</a:t>
            </a:r>
            <a:endParaRPr lang="en-US" sz="1600" dirty="0"/>
          </a:p>
        </p:txBody>
      </p:sp>
      <p:sp>
        <p:nvSpPr>
          <p:cNvPr id="51"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Tiles: product images [photo / render, confirm], specimen and mock-up screens · Company record: Singapore Airshow, Feb 2026 · Full scorecard, baseline and go/no-go: A7</a:t>
            </a:r>
            <a:endParaRPr lang="en-US" sz="900" dirty="0"/>
          </a:p>
        </p:txBody>
      </p:sp>
      <p:sp>
        <p:nvSpPr>
          <p:cNvPr id="52"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6  |</a:t>
            </a:r>
            <a:endParaRPr lang="en-US" sz="1200" dirty="0"/>
          </a:p>
        </p:txBody>
      </p:sp>
      <p:grpSp>
        <p:nvGrpSpPr>
          <p:cNvPr id="5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Competition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Others match faces in stride. We add the phone.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Our wedge: two factors, nothing taken out, plus the security control room.</a:t>
            </a:r>
            <a:endParaRPr lang="en-US" sz="1800" dirty="0"/>
          </a:p>
        </p:txBody>
      </p:sp>
      <p:sp>
        <p:nvSpPr>
          <p:cNvPr id="8" name="Shape 3"/>
          <p:cNvSpPr/>
          <p:nvPr/>
        </p:nvSpPr>
        <p:spPr>
          <a:xfrm>
            <a:off x="960120" y="1938528"/>
            <a:ext cx="3552444" cy="1792224"/>
          </a:xfrm>
          <a:prstGeom prst="roundRect">
            <a:avLst>
              <a:gd name="adj" fmla="val 4082"/>
            </a:avLst>
          </a:prstGeom>
          <a:solidFill>
            <a:srgbClr val="EEF1F5"/>
          </a:solidFill>
          <a:ln/>
        </p:spPr>
      </p:sp>
      <p:sp>
        <p:nvSpPr>
          <p:cNvPr id="9" name="Shape 4"/>
          <p:cNvSpPr/>
          <p:nvPr/>
        </p:nvSpPr>
        <p:spPr>
          <a:xfrm>
            <a:off x="4585716" y="1938528"/>
            <a:ext cx="3552444" cy="1792224"/>
          </a:xfrm>
          <a:prstGeom prst="roundRect">
            <a:avLst>
              <a:gd name="adj" fmla="val 4082"/>
            </a:avLst>
          </a:prstGeom>
          <a:solidFill>
            <a:srgbClr val="E6F2F7"/>
          </a:solidFill>
          <a:ln w="15875">
            <a:solidFill>
              <a:srgbClr val="0B84AE"/>
            </a:solidFill>
            <a:prstDash val="solid"/>
          </a:ln>
        </p:spPr>
      </p:sp>
      <p:sp>
        <p:nvSpPr>
          <p:cNvPr id="10" name="Shape 5"/>
          <p:cNvSpPr/>
          <p:nvPr/>
        </p:nvSpPr>
        <p:spPr>
          <a:xfrm>
            <a:off x="960120" y="3803904"/>
            <a:ext cx="3552444" cy="1792224"/>
          </a:xfrm>
          <a:prstGeom prst="roundRect">
            <a:avLst>
              <a:gd name="adj" fmla="val 4082"/>
            </a:avLst>
          </a:prstGeom>
          <a:solidFill>
            <a:srgbClr val="EEF1F5"/>
          </a:solidFill>
          <a:ln/>
        </p:spPr>
      </p:sp>
      <p:sp>
        <p:nvSpPr>
          <p:cNvPr id="11" name="Shape 6"/>
          <p:cNvSpPr/>
          <p:nvPr/>
        </p:nvSpPr>
        <p:spPr>
          <a:xfrm>
            <a:off x="4585716" y="3803904"/>
            <a:ext cx="3552444" cy="1792224"/>
          </a:xfrm>
          <a:prstGeom prst="roundRect">
            <a:avLst>
              <a:gd name="adj" fmla="val 4082"/>
            </a:avLst>
          </a:prstGeom>
          <a:solidFill>
            <a:srgbClr val="EEF1F5"/>
          </a:solidFill>
          <a:ln/>
        </p:spPr>
      </p:sp>
      <p:sp>
        <p:nvSpPr>
          <p:cNvPr id="12" name="Shape 7"/>
          <p:cNvSpPr/>
          <p:nvPr/>
        </p:nvSpPr>
        <p:spPr>
          <a:xfrm>
            <a:off x="960120" y="5705856"/>
            <a:ext cx="7178040" cy="914"/>
          </a:xfrm>
          <a:prstGeom prst="line">
            <a:avLst/>
          </a:prstGeom>
          <a:noFill/>
          <a:ln w="15875">
            <a:solidFill>
              <a:srgbClr val="4A5870"/>
            </a:solidFill>
            <a:prstDash val="solid"/>
            <a:tailEnd type="triangle"/>
          </a:ln>
        </p:spPr>
      </p:sp>
      <p:sp>
        <p:nvSpPr>
          <p:cNvPr id="13" name="Text 8"/>
          <p:cNvSpPr txBox="1"/>
          <p:nvPr/>
        </p:nvSpPr>
        <p:spPr>
          <a:xfrm>
            <a:off x="960120" y="5751576"/>
            <a:ext cx="7178040" cy="274320"/>
          </a:xfrm>
          <a:prstGeom prst="rect">
            <a:avLst/>
          </a:prstGeom>
          <a:noFill/>
          <a:ln/>
        </p:spPr>
        <p:txBody>
          <a:bodyPr wrap="square" lIns="0" tIns="0" rIns="0" bIns="0" rtlCol="0" anchor="ctr"/>
          <a:lstStyle/>
          <a:p>
            <a:pPr algn="ctr" indent="0" marL="0">
              <a:buNone/>
            </a:pPr>
            <a:r>
              <a:rPr lang="en-US" sz="1400" dirty="0">
                <a:solidFill>
                  <a:srgbClr val="4A5870"/>
                </a:solidFill>
              </a:rPr>
              <a:t>Stop and present  →  Clear in stride</a:t>
            </a:r>
            <a:endParaRPr lang="en-US" sz="1400" dirty="0"/>
          </a:p>
        </p:txBody>
      </p:sp>
      <p:sp>
        <p:nvSpPr>
          <p:cNvPr id="14" name="Shape 9"/>
          <p:cNvSpPr/>
          <p:nvPr/>
        </p:nvSpPr>
        <p:spPr>
          <a:xfrm>
            <a:off x="850392" y="1938528"/>
            <a:ext cx="914" cy="3657600"/>
          </a:xfrm>
          <a:prstGeom prst="line">
            <a:avLst/>
          </a:prstGeom>
          <a:noFill/>
          <a:ln w="15875">
            <a:solidFill>
              <a:srgbClr val="4A5870"/>
            </a:solidFill>
            <a:prstDash val="solid"/>
            <a:headEnd type="triangle"/>
          </a:ln>
        </p:spPr>
      </p:sp>
      <p:sp>
        <p:nvSpPr>
          <p:cNvPr id="15" name="Text 10"/>
          <p:cNvSpPr txBox="1"/>
          <p:nvPr/>
        </p:nvSpPr>
        <p:spPr>
          <a:xfrm rot="16200000">
            <a:off x="-1563624" y="3813048"/>
            <a:ext cx="4389120" cy="274320"/>
          </a:xfrm>
          <a:prstGeom prst="rect">
            <a:avLst/>
          </a:prstGeom>
          <a:noFill/>
          <a:ln/>
        </p:spPr>
        <p:txBody>
          <a:bodyPr wrap="square" lIns="0" tIns="0" rIns="0" bIns="0" rtlCol="0" anchor="ctr"/>
          <a:lstStyle/>
          <a:p>
            <a:pPr algn="ctr" indent="0" marL="0">
              <a:buNone/>
            </a:pPr>
            <a:r>
              <a:rPr lang="en-US" sz="1400" dirty="0">
                <a:solidFill>
                  <a:srgbClr val="4A5870"/>
                </a:solidFill>
              </a:rPr>
              <a:t>Stored face only  →  Face + a credential you carry</a:t>
            </a:r>
            <a:endParaRPr lang="en-US" sz="1400" dirty="0"/>
          </a:p>
        </p:txBody>
      </p:sp>
      <p:sp>
        <p:nvSpPr>
          <p:cNvPr id="16" name="Shape 11"/>
          <p:cNvSpPr/>
          <p:nvPr/>
        </p:nvSpPr>
        <p:spPr>
          <a:xfrm>
            <a:off x="1188720" y="2231136"/>
            <a:ext cx="1300641" cy="329184"/>
          </a:xfrm>
          <a:prstGeom prst="roundRect">
            <a:avLst>
              <a:gd name="adj" fmla="val 50000"/>
            </a:avLst>
          </a:prstGeom>
          <a:solidFill>
            <a:srgbClr val="FFFFFF"/>
          </a:solidFill>
          <a:ln w="12700">
            <a:solidFill>
              <a:srgbClr val="C9D1DC"/>
            </a:solidFill>
            <a:prstDash val="solid"/>
          </a:ln>
        </p:spPr>
      </p:sp>
      <p:sp>
        <p:nvSpPr>
          <p:cNvPr id="17" name="Text 12"/>
          <p:cNvSpPr txBox="1"/>
          <p:nvPr/>
        </p:nvSpPr>
        <p:spPr>
          <a:xfrm>
            <a:off x="1188720" y="2231136"/>
            <a:ext cx="1300641" cy="329184"/>
          </a:xfrm>
          <a:prstGeom prst="rect">
            <a:avLst/>
          </a:prstGeom>
          <a:noFill/>
          <a:ln/>
        </p:spPr>
        <p:txBody>
          <a:bodyPr wrap="square" lIns="0" tIns="0" rIns="0" bIns="0" rtlCol="0" anchor="ctr"/>
          <a:lstStyle/>
          <a:p>
            <a:pPr algn="ctr" indent="0" marL="0">
              <a:buNone/>
            </a:pPr>
            <a:r>
              <a:rPr lang="en-US" sz="1400" dirty="0">
                <a:solidFill>
                  <a:srgbClr val="4A5870"/>
                </a:solidFill>
              </a:rPr>
              <a:t>ABC e-gates</a:t>
            </a:r>
            <a:endParaRPr lang="en-US" sz="1400" dirty="0"/>
          </a:p>
        </p:txBody>
      </p:sp>
      <p:sp>
        <p:nvSpPr>
          <p:cNvPr id="18" name="Shape 13"/>
          <p:cNvSpPr/>
          <p:nvPr/>
        </p:nvSpPr>
        <p:spPr>
          <a:xfrm>
            <a:off x="1188720" y="2670048"/>
            <a:ext cx="1880237" cy="329184"/>
          </a:xfrm>
          <a:prstGeom prst="roundRect">
            <a:avLst>
              <a:gd name="adj" fmla="val 50000"/>
            </a:avLst>
          </a:prstGeom>
          <a:solidFill>
            <a:srgbClr val="FFFFFF"/>
          </a:solidFill>
          <a:ln w="12700">
            <a:solidFill>
              <a:srgbClr val="C9D1DC"/>
            </a:solidFill>
            <a:prstDash val="solid"/>
          </a:ln>
        </p:spPr>
      </p:sp>
      <p:sp>
        <p:nvSpPr>
          <p:cNvPr id="19" name="Text 14"/>
          <p:cNvSpPr txBox="1"/>
          <p:nvPr/>
        </p:nvSpPr>
        <p:spPr>
          <a:xfrm>
            <a:off x="1188720" y="2670048"/>
            <a:ext cx="1880237" cy="329184"/>
          </a:xfrm>
          <a:prstGeom prst="rect">
            <a:avLst/>
          </a:prstGeom>
          <a:noFill/>
          <a:ln/>
        </p:spPr>
        <p:txBody>
          <a:bodyPr wrap="square" lIns="0" tIns="0" rIns="0" bIns="0" rtlCol="0" anchor="ctr"/>
          <a:lstStyle/>
          <a:p>
            <a:pPr algn="ctr" indent="0" marL="0">
              <a:buNone/>
            </a:pPr>
            <a:r>
              <a:rPr lang="en-US" sz="1400" dirty="0">
                <a:solidFill>
                  <a:srgbClr val="4A5870"/>
                </a:solidFill>
              </a:rPr>
              <a:t>SITA/Indicio (Aruba)</a:t>
            </a:r>
            <a:endParaRPr lang="en-US" sz="1400" dirty="0"/>
          </a:p>
        </p:txBody>
      </p:sp>
      <p:sp>
        <p:nvSpPr>
          <p:cNvPr id="20" name="Shape 15"/>
          <p:cNvSpPr/>
          <p:nvPr/>
        </p:nvSpPr>
        <p:spPr>
          <a:xfrm>
            <a:off x="1188720" y="4096512"/>
            <a:ext cx="1603566" cy="329184"/>
          </a:xfrm>
          <a:prstGeom prst="roundRect">
            <a:avLst>
              <a:gd name="adj" fmla="val 50000"/>
            </a:avLst>
          </a:prstGeom>
          <a:solidFill>
            <a:srgbClr val="FFFFFF"/>
          </a:solidFill>
          <a:ln w="12700">
            <a:solidFill>
              <a:srgbClr val="C9D1DC"/>
            </a:solidFill>
            <a:prstDash val="solid"/>
          </a:ln>
        </p:spPr>
      </p:sp>
      <p:sp>
        <p:nvSpPr>
          <p:cNvPr id="21" name="Text 16"/>
          <p:cNvSpPr txBox="1"/>
          <p:nvPr/>
        </p:nvSpPr>
        <p:spPr>
          <a:xfrm>
            <a:off x="1188720" y="4096512"/>
            <a:ext cx="1603566" cy="329184"/>
          </a:xfrm>
          <a:prstGeom prst="rect">
            <a:avLst/>
          </a:prstGeom>
          <a:noFill/>
          <a:ln/>
        </p:spPr>
        <p:txBody>
          <a:bodyPr wrap="square" lIns="0" tIns="0" rIns="0" bIns="0" rtlCol="0" anchor="ctr"/>
          <a:lstStyle/>
          <a:p>
            <a:pPr algn="ctr" indent="0" marL="0">
              <a:buNone/>
            </a:pPr>
            <a:r>
              <a:rPr lang="en-US" sz="1400" dirty="0">
                <a:solidFill>
                  <a:srgbClr val="4A5870"/>
                </a:solidFill>
              </a:rPr>
              <a:t>SITA Smart Path</a:t>
            </a:r>
            <a:endParaRPr lang="en-US" sz="1400" dirty="0"/>
          </a:p>
        </p:txBody>
      </p:sp>
      <p:sp>
        <p:nvSpPr>
          <p:cNvPr id="22" name="Shape 17"/>
          <p:cNvSpPr/>
          <p:nvPr/>
        </p:nvSpPr>
        <p:spPr>
          <a:xfrm>
            <a:off x="1188720" y="4535424"/>
            <a:ext cx="1745210" cy="329184"/>
          </a:xfrm>
          <a:prstGeom prst="roundRect">
            <a:avLst>
              <a:gd name="adj" fmla="val 50000"/>
            </a:avLst>
          </a:prstGeom>
          <a:solidFill>
            <a:srgbClr val="FFFFFF"/>
          </a:solidFill>
          <a:ln w="12700">
            <a:solidFill>
              <a:srgbClr val="C9D1DC"/>
            </a:solidFill>
            <a:prstDash val="solid"/>
          </a:ln>
        </p:spPr>
      </p:sp>
      <p:sp>
        <p:nvSpPr>
          <p:cNvPr id="23" name="Text 18"/>
          <p:cNvSpPr txBox="1"/>
          <p:nvPr/>
        </p:nvSpPr>
        <p:spPr>
          <a:xfrm>
            <a:off x="1188720" y="4535424"/>
            <a:ext cx="1745210" cy="329184"/>
          </a:xfrm>
          <a:prstGeom prst="rect">
            <a:avLst/>
          </a:prstGeom>
          <a:noFill/>
          <a:ln/>
        </p:spPr>
        <p:txBody>
          <a:bodyPr wrap="square" lIns="0" tIns="0" rIns="0" bIns="0" rtlCol="0" anchor="ctr"/>
          <a:lstStyle/>
          <a:p>
            <a:pPr algn="ctr" indent="0" marL="0">
              <a:buNone/>
            </a:pPr>
            <a:r>
              <a:rPr lang="en-US" sz="1400" dirty="0">
                <a:solidFill>
                  <a:srgbClr val="4A5870"/>
                </a:solidFill>
              </a:rPr>
              <a:t>Thales Fly to Gate</a:t>
            </a:r>
            <a:endParaRPr lang="en-US" sz="1400" dirty="0"/>
          </a:p>
        </p:txBody>
      </p:sp>
      <p:sp>
        <p:nvSpPr>
          <p:cNvPr id="24" name="Shape 19"/>
          <p:cNvSpPr/>
          <p:nvPr/>
        </p:nvSpPr>
        <p:spPr>
          <a:xfrm>
            <a:off x="4814316" y="4096512"/>
            <a:ext cx="1488085" cy="329184"/>
          </a:xfrm>
          <a:prstGeom prst="roundRect">
            <a:avLst>
              <a:gd name="adj" fmla="val 50000"/>
            </a:avLst>
          </a:prstGeom>
          <a:solidFill>
            <a:srgbClr val="FFFFFF"/>
          </a:solidFill>
          <a:ln w="12700">
            <a:solidFill>
              <a:srgbClr val="C9D1DC"/>
            </a:solidFill>
            <a:prstDash val="solid"/>
          </a:ln>
        </p:spPr>
      </p:sp>
      <p:sp>
        <p:nvSpPr>
          <p:cNvPr id="25" name="Text 20"/>
          <p:cNvSpPr txBox="1"/>
          <p:nvPr/>
        </p:nvSpPr>
        <p:spPr>
          <a:xfrm>
            <a:off x="4814316" y="4096512"/>
            <a:ext cx="1488085" cy="329184"/>
          </a:xfrm>
          <a:prstGeom prst="rect">
            <a:avLst/>
          </a:prstGeom>
          <a:noFill/>
          <a:ln/>
        </p:spPr>
        <p:txBody>
          <a:bodyPr wrap="square" lIns="0" tIns="0" rIns="0" bIns="0" rtlCol="0" anchor="ctr"/>
          <a:lstStyle/>
          <a:p>
            <a:pPr algn="ctr" indent="0" marL="0">
              <a:buNone/>
            </a:pPr>
            <a:r>
              <a:rPr lang="en-US" sz="1400" dirty="0">
                <a:solidFill>
                  <a:srgbClr val="4A5870"/>
                </a:solidFill>
              </a:rPr>
              <a:t>IDEMIA MFace</a:t>
            </a:r>
            <a:endParaRPr lang="en-US" sz="1400" dirty="0"/>
          </a:p>
        </p:txBody>
      </p:sp>
      <p:sp>
        <p:nvSpPr>
          <p:cNvPr id="26" name="Shape 21"/>
          <p:cNvSpPr/>
          <p:nvPr/>
        </p:nvSpPr>
        <p:spPr>
          <a:xfrm>
            <a:off x="4814316" y="4535424"/>
            <a:ext cx="1784729" cy="329184"/>
          </a:xfrm>
          <a:prstGeom prst="roundRect">
            <a:avLst>
              <a:gd name="adj" fmla="val 50000"/>
            </a:avLst>
          </a:prstGeom>
          <a:solidFill>
            <a:srgbClr val="FFFFFF"/>
          </a:solidFill>
          <a:ln w="12700">
            <a:solidFill>
              <a:srgbClr val="C9D1DC"/>
            </a:solidFill>
            <a:prstDash val="solid"/>
          </a:ln>
        </p:spPr>
      </p:sp>
      <p:sp>
        <p:nvSpPr>
          <p:cNvPr id="27" name="Text 22"/>
          <p:cNvSpPr txBox="1"/>
          <p:nvPr/>
        </p:nvSpPr>
        <p:spPr>
          <a:xfrm>
            <a:off x="4814316" y="4535424"/>
            <a:ext cx="1784729" cy="329184"/>
          </a:xfrm>
          <a:prstGeom prst="rect">
            <a:avLst/>
          </a:prstGeom>
          <a:noFill/>
          <a:ln/>
        </p:spPr>
        <p:txBody>
          <a:bodyPr wrap="square" lIns="0" tIns="0" rIns="0" bIns="0" rtlCol="0" anchor="ctr"/>
          <a:lstStyle/>
          <a:p>
            <a:pPr algn="ctr" indent="0" marL="0">
              <a:buNone/>
            </a:pPr>
            <a:r>
              <a:rPr lang="en-US" sz="1400" dirty="0">
                <a:solidFill>
                  <a:srgbClr val="4A5870"/>
                </a:solidFill>
              </a:rPr>
              <a:t>Amadeus corridors</a:t>
            </a:r>
            <a:endParaRPr lang="en-US" sz="1400" dirty="0"/>
          </a:p>
        </p:txBody>
      </p:sp>
      <p:sp>
        <p:nvSpPr>
          <p:cNvPr id="28" name="Shape 23"/>
          <p:cNvSpPr/>
          <p:nvPr/>
        </p:nvSpPr>
        <p:spPr>
          <a:xfrm>
            <a:off x="4814316" y="4974336"/>
            <a:ext cx="2031556" cy="329184"/>
          </a:xfrm>
          <a:prstGeom prst="roundRect">
            <a:avLst>
              <a:gd name="adj" fmla="val 50000"/>
            </a:avLst>
          </a:prstGeom>
          <a:solidFill>
            <a:srgbClr val="FFFFFF"/>
          </a:solidFill>
          <a:ln w="12700">
            <a:solidFill>
              <a:srgbClr val="C9D1DC"/>
            </a:solidFill>
            <a:prstDash val="solid"/>
          </a:ln>
        </p:spPr>
      </p:sp>
      <p:sp>
        <p:nvSpPr>
          <p:cNvPr id="29" name="Text 24"/>
          <p:cNvSpPr txBox="1"/>
          <p:nvPr/>
        </p:nvSpPr>
        <p:spPr>
          <a:xfrm>
            <a:off x="4814316" y="4974336"/>
            <a:ext cx="2031556" cy="329184"/>
          </a:xfrm>
          <a:prstGeom prst="rect">
            <a:avLst/>
          </a:prstGeom>
          <a:noFill/>
          <a:ln/>
        </p:spPr>
        <p:txBody>
          <a:bodyPr wrap="square" lIns="0" tIns="0" rIns="0" bIns="0" rtlCol="0" anchor="ctr"/>
          <a:lstStyle/>
          <a:p>
            <a:pPr algn="ctr" indent="0" marL="0">
              <a:buNone/>
            </a:pPr>
            <a:r>
              <a:rPr lang="en-US" sz="1400" dirty="0">
                <a:solidFill>
                  <a:srgbClr val="4A5870"/>
                </a:solidFill>
              </a:rPr>
              <a:t>NEC (after kiosk step)</a:t>
            </a:r>
            <a:endParaRPr lang="en-US" sz="1400" dirty="0"/>
          </a:p>
        </p:txBody>
      </p:sp>
      <p:sp>
        <p:nvSpPr>
          <p:cNvPr id="30" name="Shape 25"/>
          <p:cNvSpPr/>
          <p:nvPr/>
        </p:nvSpPr>
        <p:spPr>
          <a:xfrm>
            <a:off x="4860036" y="2231136"/>
            <a:ext cx="1367861" cy="402336"/>
          </a:xfrm>
          <a:prstGeom prst="roundRect">
            <a:avLst>
              <a:gd name="adj" fmla="val 50000"/>
            </a:avLst>
          </a:prstGeom>
          <a:solidFill>
            <a:srgbClr val="0B84AE"/>
          </a:solidFill>
          <a:ln/>
        </p:spPr>
      </p:sp>
      <p:sp>
        <p:nvSpPr>
          <p:cNvPr id="31" name="Text 26"/>
          <p:cNvSpPr txBox="1"/>
          <p:nvPr/>
        </p:nvSpPr>
        <p:spPr>
          <a:xfrm>
            <a:off x="4860036" y="2231136"/>
            <a:ext cx="1367861" cy="402336"/>
          </a:xfrm>
          <a:prstGeom prst="rect">
            <a:avLst/>
          </a:prstGeom>
          <a:noFill/>
          <a:ln/>
        </p:spPr>
        <p:txBody>
          <a:bodyPr wrap="square" lIns="0" tIns="0" rIns="0" bIns="0" rtlCol="0" anchor="ctr"/>
          <a:lstStyle/>
          <a:p>
            <a:pPr algn="ctr" indent="0" marL="0">
              <a:buNone/>
            </a:pPr>
            <a:r>
              <a:rPr lang="en-US" sz="1600" b="1" dirty="0">
                <a:solidFill>
                  <a:srgbClr val="FFFFFF"/>
                </a:solidFill>
              </a:rPr>
              <a:t>FastPass</a:t>
            </a:r>
            <a:endParaRPr lang="en-US" sz="1600" dirty="0"/>
          </a:p>
        </p:txBody>
      </p:sp>
      <p:sp>
        <p:nvSpPr>
          <p:cNvPr id="32" name="Text 27"/>
          <p:cNvSpPr txBox="1"/>
          <p:nvPr/>
        </p:nvSpPr>
        <p:spPr>
          <a:xfrm>
            <a:off x="4860036" y="2670048"/>
            <a:ext cx="3108960" cy="274320"/>
          </a:xfrm>
          <a:prstGeom prst="rect">
            <a:avLst/>
          </a:prstGeom>
          <a:noFill/>
          <a:ln/>
        </p:spPr>
        <p:txBody>
          <a:bodyPr wrap="square" lIns="0" tIns="0" rIns="0" bIns="0" rtlCol="0" anchor="ctr"/>
          <a:lstStyle/>
          <a:p>
            <a:pPr indent="0" marL="0">
              <a:buNone/>
            </a:pPr>
            <a:r>
              <a:rPr lang="en-US" sz="1400" dirty="0">
                <a:solidFill>
                  <a:srgbClr val="0B84AE"/>
                </a:solidFill>
              </a:rPr>
              <a:t>immigration lane, prototype</a:t>
            </a:r>
            <a:endParaRPr lang="en-US" sz="1400" dirty="0"/>
          </a:p>
        </p:txBody>
      </p:sp>
      <p:sp>
        <p:nvSpPr>
          <p:cNvPr id="33" name="Shape 28"/>
          <p:cNvSpPr/>
          <p:nvPr/>
        </p:nvSpPr>
        <p:spPr>
          <a:xfrm>
            <a:off x="4896612" y="3182112"/>
            <a:ext cx="146304" cy="146304"/>
          </a:xfrm>
          <a:prstGeom prst="ellipse">
            <a:avLst/>
          </a:prstGeom>
          <a:ln w="15875">
            <a:solidFill>
              <a:srgbClr val="8A94A6"/>
            </a:solidFill>
            <a:prstDash val="solid"/>
          </a:ln>
        </p:spPr>
      </p:sp>
      <p:sp>
        <p:nvSpPr>
          <p:cNvPr id="34" name="Text 29"/>
          <p:cNvSpPr txBox="1"/>
          <p:nvPr/>
        </p:nvSpPr>
        <p:spPr>
          <a:xfrm>
            <a:off x="5134356" y="3118104"/>
            <a:ext cx="2926080" cy="274320"/>
          </a:xfrm>
          <a:prstGeom prst="rect">
            <a:avLst/>
          </a:prstGeom>
          <a:noFill/>
          <a:ln/>
        </p:spPr>
        <p:txBody>
          <a:bodyPr wrap="square" lIns="0" tIns="0" rIns="0" bIns="0" rtlCol="0" anchor="ctr"/>
          <a:lstStyle/>
          <a:p>
            <a:pPr indent="0" marL="0">
              <a:buNone/>
            </a:pPr>
            <a:r>
              <a:rPr lang="en-US" sz="1400" dirty="0">
                <a:solidFill>
                  <a:srgbClr val="4A5870"/>
                </a:solidFill>
              </a:rPr>
              <a:t>Smart-Trust (EU pilot, 2018–20)</a:t>
            </a:r>
            <a:endParaRPr lang="en-US" sz="1400" dirty="0"/>
          </a:p>
        </p:txBody>
      </p:sp>
      <p:sp>
        <p:nvSpPr>
          <p:cNvPr id="35" name="Shape 30"/>
          <p:cNvSpPr/>
          <p:nvPr/>
        </p:nvSpPr>
        <p:spPr>
          <a:xfrm>
            <a:off x="8412480" y="1920240"/>
            <a:ext cx="3291840" cy="2615184"/>
          </a:xfrm>
          <a:prstGeom prst="roundRect">
            <a:avLst>
              <a:gd name="adj" fmla="val 4196"/>
            </a:avLst>
          </a:prstGeom>
          <a:solidFill>
            <a:srgbClr val="FFFFFF"/>
          </a:solidFill>
          <a:ln/>
          <a:effectLst>
            <a:outerShdw sx="100000" sy="100000" kx="0" ky="0" algn="bl" rotWithShape="0" blurRad="152400" dist="25400" dir="5400000">
              <a:srgbClr val="0A1628">
                <a:alpha val="12000"/>
              </a:srgbClr>
            </a:outerShdw>
          </a:effectLst>
        </p:spPr>
      </p:sp>
      <p:sp>
        <p:nvSpPr>
          <p:cNvPr id="36" name="Text 31"/>
          <p:cNvSpPr txBox="1"/>
          <p:nvPr/>
        </p:nvSpPr>
        <p:spPr>
          <a:xfrm>
            <a:off x="8595360" y="2048256"/>
            <a:ext cx="3017520" cy="603504"/>
          </a:xfrm>
          <a:prstGeom prst="rect">
            <a:avLst/>
          </a:prstGeom>
          <a:noFill/>
          <a:ln/>
        </p:spPr>
        <p:txBody>
          <a:bodyPr wrap="square" lIns="0" tIns="0" rIns="0" bIns="0" rtlCol="0" anchor="ctr"/>
          <a:lstStyle/>
          <a:p>
            <a:pPr indent="0" marL="0">
              <a:buNone/>
            </a:pPr>
            <a:r>
              <a:rPr lang="en-US" sz="1800" b="1" dirty="0">
                <a:solidFill>
                  <a:srgbClr val="0B1526"/>
                </a:solidFill>
              </a:rPr>
              <a:t>Our wedge</a:t>
            </a:r>
            <a:endParaRPr lang="en-US" sz="1400" dirty="0"/>
          </a:p>
          <a:p>
            <a:pPr indent="0" marL="0">
              <a:buNone/>
            </a:pPr>
            <a:r>
              <a:rPr lang="en-US" sz="1600" dirty="0">
                <a:solidFill>
                  <a:srgbClr val="4A5870"/>
                </a:solidFill>
              </a:rPr>
              <a:t>(to prove in the pilot)</a:t>
            </a:r>
            <a:endParaRPr lang="en-US" sz="1400" dirty="0"/>
          </a:p>
        </p:txBody>
      </p:sp>
      <p:pic>
        <p:nvPicPr>
          <p:cNvPr id="37" name="Image 0" descr="">    </p:cNvPr>
          <p:cNvPicPr>
            <a:picLocks noChangeAspect="1"/>
          </p:cNvPicPr>
          <p:nvPr/>
        </p:nvPicPr>
        <p:blipFill>
          <a:blip r:embed="rId3"/>
          <a:stretch>
            <a:fillRect/>
          </a:stretch>
        </p:blipFill>
        <p:spPr>
          <a:xfrm>
            <a:off x="8595360" y="2788920"/>
            <a:ext cx="237744" cy="237744"/>
          </a:xfrm>
          <a:prstGeom prst="rect">
            <a:avLst/>
          </a:prstGeom>
        </p:spPr>
      </p:pic>
      <p:sp>
        <p:nvSpPr>
          <p:cNvPr id="38" name="Text 32"/>
          <p:cNvSpPr txBox="1"/>
          <p:nvPr/>
        </p:nvSpPr>
        <p:spPr>
          <a:xfrm>
            <a:off x="8924544" y="2743200"/>
            <a:ext cx="2633472" cy="512064"/>
          </a:xfrm>
          <a:prstGeom prst="rect">
            <a:avLst/>
          </a:prstGeom>
          <a:noFill/>
          <a:ln/>
        </p:spPr>
        <p:txBody>
          <a:bodyPr wrap="square" lIns="0" tIns="0" rIns="0" bIns="0" rtlCol="0" anchor="t"/>
          <a:lstStyle/>
          <a:p>
            <a:pPr indent="0" marL="0">
              <a:buNone/>
            </a:pPr>
            <a:r>
              <a:rPr lang="en-US" sz="1600" dirty="0">
                <a:solidFill>
                  <a:srgbClr val="0B1526"/>
                </a:solidFill>
              </a:rPr>
              <a:t>Two factors, nothing taken out, in stride</a:t>
            </a:r>
            <a:endParaRPr lang="en-US" sz="1600" dirty="0"/>
          </a:p>
        </p:txBody>
      </p:sp>
      <p:pic>
        <p:nvPicPr>
          <p:cNvPr id="39" name="Image 1" descr="">    </p:cNvPr>
          <p:cNvPicPr>
            <a:picLocks noChangeAspect="1"/>
          </p:cNvPicPr>
          <p:nvPr/>
        </p:nvPicPr>
        <p:blipFill>
          <a:blip r:embed="rId3"/>
          <a:stretch>
            <a:fillRect/>
          </a:stretch>
        </p:blipFill>
        <p:spPr>
          <a:xfrm>
            <a:off x="8595360" y="3337560"/>
            <a:ext cx="237744" cy="237744"/>
          </a:xfrm>
          <a:prstGeom prst="rect">
            <a:avLst/>
          </a:prstGeom>
        </p:spPr>
      </p:pic>
      <p:sp>
        <p:nvSpPr>
          <p:cNvPr id="40" name="Text 33"/>
          <p:cNvSpPr txBox="1"/>
          <p:nvPr/>
        </p:nvSpPr>
        <p:spPr>
          <a:xfrm>
            <a:off x="8924544" y="3291840"/>
            <a:ext cx="2633472" cy="512064"/>
          </a:xfrm>
          <a:prstGeom prst="rect">
            <a:avLst/>
          </a:prstGeom>
          <a:noFill/>
          <a:ln/>
        </p:spPr>
        <p:txBody>
          <a:bodyPr wrap="square" lIns="0" tIns="0" rIns="0" bIns="0" rtlCol="0" anchor="t"/>
          <a:lstStyle/>
          <a:p>
            <a:pPr indent="0" marL="0">
              <a:buNone/>
            </a:pPr>
            <a:r>
              <a:rPr lang="en-US" sz="1600" dirty="0">
                <a:solidFill>
                  <a:srgbClr val="0B1526"/>
                </a:solidFill>
              </a:rPr>
              <a:t>Clearance events in the security control room</a:t>
            </a:r>
            <a:endParaRPr lang="en-US" sz="1600" dirty="0"/>
          </a:p>
        </p:txBody>
      </p:sp>
      <p:pic>
        <p:nvPicPr>
          <p:cNvPr id="41" name="Image 2" descr="">    </p:cNvPr>
          <p:cNvPicPr>
            <a:picLocks noChangeAspect="1"/>
          </p:cNvPicPr>
          <p:nvPr/>
        </p:nvPicPr>
        <p:blipFill>
          <a:blip r:embed="rId3"/>
          <a:stretch>
            <a:fillRect/>
          </a:stretch>
        </p:blipFill>
        <p:spPr>
          <a:xfrm>
            <a:off x="8595360" y="3886200"/>
            <a:ext cx="237744" cy="237744"/>
          </a:xfrm>
          <a:prstGeom prst="rect">
            <a:avLst/>
          </a:prstGeom>
        </p:spPr>
      </p:pic>
      <p:sp>
        <p:nvSpPr>
          <p:cNvPr id="42" name="Text 34"/>
          <p:cNvSpPr txBox="1"/>
          <p:nvPr/>
        </p:nvSpPr>
        <p:spPr>
          <a:xfrm>
            <a:off x="8924544" y="3840480"/>
            <a:ext cx="2633472" cy="512064"/>
          </a:xfrm>
          <a:prstGeom prst="rect">
            <a:avLst/>
          </a:prstGeom>
          <a:noFill/>
          <a:ln/>
        </p:spPr>
        <p:txBody>
          <a:bodyPr wrap="square" lIns="0" tIns="0" rIns="0" bIns="0" rtlCol="0" anchor="t"/>
          <a:lstStyle/>
          <a:p>
            <a:pPr indent="0" marL="0">
              <a:buNone/>
            </a:pPr>
            <a:r>
              <a:rPr lang="en-US" sz="1600" dirty="0">
                <a:solidFill>
                  <a:srgbClr val="0B1526"/>
                </a:solidFill>
              </a:rPr>
              <a:t>Starts with one lane in an existing terminal</a:t>
            </a:r>
            <a:endParaRPr lang="en-US" sz="1600" dirty="0"/>
          </a:p>
        </p:txBody>
      </p:sp>
      <p:sp>
        <p:nvSpPr>
          <p:cNvPr id="43" name="Shape 35"/>
          <p:cNvSpPr/>
          <p:nvPr/>
        </p:nvSpPr>
        <p:spPr>
          <a:xfrm>
            <a:off x="8412480" y="4663440"/>
            <a:ext cx="3291840" cy="1371600"/>
          </a:xfrm>
          <a:prstGeom prst="roundRect">
            <a:avLst>
              <a:gd name="adj" fmla="val 8000"/>
            </a:avLst>
          </a:prstGeom>
          <a:solidFill>
            <a:srgbClr val="0B2545"/>
          </a:solidFill>
          <a:ln/>
          <a:effectLst>
            <a:outerShdw sx="100000" sy="100000" kx="0" ky="0" algn="bl" rotWithShape="0" blurRad="152400" dist="25400" dir="5400000">
              <a:srgbClr val="0A1628">
                <a:alpha val="12000"/>
              </a:srgbClr>
            </a:outerShdw>
          </a:effectLst>
        </p:spPr>
      </p:sp>
      <p:sp>
        <p:nvSpPr>
          <p:cNvPr id="44" name="Text 36"/>
          <p:cNvSpPr txBox="1"/>
          <p:nvPr/>
        </p:nvSpPr>
        <p:spPr>
          <a:xfrm>
            <a:off x="8613648" y="4727448"/>
            <a:ext cx="2926080" cy="594360"/>
          </a:xfrm>
          <a:prstGeom prst="rect">
            <a:avLst/>
          </a:prstGeom>
          <a:noFill/>
          <a:ln/>
        </p:spPr>
        <p:txBody>
          <a:bodyPr wrap="square" lIns="0" tIns="0" rIns="0" bIns="0" rtlCol="0" anchor="ctr"/>
          <a:lstStyle/>
          <a:p>
            <a:pPr indent="0" marL="0">
              <a:buNone/>
            </a:pPr>
            <a:r>
              <a:rPr lang="en-US" sz="3600" b="1" dirty="0">
                <a:solidFill>
                  <a:srgbClr val="FFFFFF"/>
                </a:solidFill>
              </a:rPr>
              <a:t>€320M</a:t>
            </a:r>
            <a:endParaRPr lang="en-US" sz="3600" dirty="0"/>
          </a:p>
        </p:txBody>
      </p:sp>
      <p:sp>
        <p:nvSpPr>
          <p:cNvPr id="45" name="Text 37"/>
          <p:cNvSpPr txBox="1"/>
          <p:nvPr/>
        </p:nvSpPr>
        <p:spPr>
          <a:xfrm>
            <a:off x="8613648" y="5321808"/>
            <a:ext cx="2926080" cy="621792"/>
          </a:xfrm>
          <a:prstGeom prst="rect">
            <a:avLst/>
          </a:prstGeom>
          <a:noFill/>
          <a:ln/>
        </p:spPr>
        <p:txBody>
          <a:bodyPr wrap="square" lIns="0" tIns="0" rIns="0" bIns="0" rtlCol="0" anchor="t"/>
          <a:lstStyle/>
          <a:p>
            <a:pPr indent="0" marL="0">
              <a:buNone/>
            </a:pPr>
            <a:r>
              <a:rPr lang="en-US" sz="1400" dirty="0">
                <a:solidFill>
                  <a:srgbClr val="FFFFFF"/>
                </a:solidFill>
              </a:rPr>
              <a:t>Amadeus–Vision-Box EV, Apr 2024: a comp, not a valuation</a:t>
            </a:r>
            <a:endParaRPr lang="en-US" sz="1400" dirty="0"/>
          </a:p>
        </p:txBody>
      </p:sp>
      <p:sp>
        <p:nvSpPr>
          <p:cNvPr id="4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Placement from public sources; 'not found' ≠ 'cannot'. IDEMIA · SITA · PhocusWire · Singapore EDB · Amadeus · NEC · CORDIS 778571 · Detail: A4</a:t>
            </a:r>
            <a:endParaRPr lang="en-US" sz="900" dirty="0"/>
          </a:p>
        </p:txBody>
      </p:sp>
      <p:sp>
        <p:nvSpPr>
          <p:cNvPr id="4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7  |</a:t>
            </a:r>
            <a:endParaRPr lang="en-US" sz="1200" dirty="0"/>
          </a:p>
        </p:txBody>
      </p:sp>
      <p:grpSp>
        <p:nvGrpSpPr>
          <p:cNvPr id="4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Market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200" b="1" dirty="0">
                <a:solidFill>
                  <a:srgbClr val="0B1526"/>
                </a:solidFill>
                <a:latin typeface="+mj-lt"/>
              </a:rPr>
              <a:t>US$42–94M a year by 2030, and lanes are only the wedge.</a:t>
            </a:r>
            <a:endParaRPr lang="en-US" sz="32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Deliberately narrow: e-gate and kiosk spend only, two regions.</a:t>
            </a:r>
            <a:endParaRPr lang="en-US" sz="1800" dirty="0"/>
          </a:p>
        </p:txBody>
      </p:sp>
      <p:sp>
        <p:nvSpPr>
          <p:cNvPr id="8" name="Shape 3"/>
          <p:cNvSpPr/>
          <p:nvPr/>
        </p:nvSpPr>
        <p:spPr>
          <a:xfrm>
            <a:off x="457200" y="1938528"/>
            <a:ext cx="6400800" cy="640080"/>
          </a:xfrm>
          <a:prstGeom prst="rect">
            <a:avLst/>
          </a:prstGeom>
          <a:solidFill>
            <a:srgbClr val="0B2545"/>
          </a:solidFill>
          <a:ln/>
        </p:spPr>
      </p:sp>
      <p:sp>
        <p:nvSpPr>
          <p:cNvPr id="9" name="Text 4"/>
          <p:cNvSpPr txBox="1"/>
          <p:nvPr/>
        </p:nvSpPr>
        <p:spPr>
          <a:xfrm>
            <a:off x="640080" y="1938528"/>
            <a:ext cx="1380520" cy="640080"/>
          </a:xfrm>
          <a:prstGeom prst="rect">
            <a:avLst/>
          </a:prstGeom>
          <a:noFill/>
          <a:ln/>
        </p:spPr>
        <p:txBody>
          <a:bodyPr wrap="square" lIns="0" tIns="0" rIns="0" bIns="0" rtlCol="0" anchor="ctr"/>
          <a:lstStyle/>
          <a:p>
            <a:pPr indent="0" marL="0">
              <a:buNone/>
            </a:pPr>
            <a:r>
              <a:rPr lang="en-US" sz="2200" b="1" dirty="0">
                <a:solidFill>
                  <a:srgbClr val="FFFFFF"/>
                </a:solidFill>
              </a:rPr>
              <a:t>US$4.18B</a:t>
            </a:r>
            <a:endParaRPr lang="en-US" sz="2200" dirty="0"/>
          </a:p>
        </p:txBody>
      </p:sp>
      <p:sp>
        <p:nvSpPr>
          <p:cNvPr id="10" name="Text 5"/>
          <p:cNvSpPr txBox="1"/>
          <p:nvPr/>
        </p:nvSpPr>
        <p:spPr>
          <a:xfrm>
            <a:off x="2157760" y="1938528"/>
            <a:ext cx="3291840" cy="640080"/>
          </a:xfrm>
          <a:prstGeom prst="rect">
            <a:avLst/>
          </a:prstGeom>
          <a:noFill/>
          <a:ln/>
        </p:spPr>
        <p:txBody>
          <a:bodyPr wrap="square" lIns="0" tIns="0" rIns="0" bIns="0" rtlCol="0" anchor="ctr"/>
          <a:lstStyle/>
          <a:p>
            <a:pPr indent="0" marL="0">
              <a:buNone/>
            </a:pPr>
            <a:r>
              <a:rPr lang="en-US" sz="1400" dirty="0">
                <a:solidFill>
                  <a:srgbClr val="FFFFFF"/>
                </a:solidFill>
              </a:rPr>
              <a:t>airport ABC market, 2030</a:t>
            </a:r>
            <a:endParaRPr lang="en-US" sz="1400" dirty="0"/>
          </a:p>
        </p:txBody>
      </p:sp>
      <p:sp>
        <p:nvSpPr>
          <p:cNvPr id="11" name="Shape 6"/>
          <p:cNvSpPr/>
          <p:nvPr/>
        </p:nvSpPr>
        <p:spPr>
          <a:xfrm flipH="1">
            <a:off x="6291072" y="1883664"/>
            <a:ext cx="146304" cy="749808"/>
          </a:xfrm>
          <a:prstGeom prst="line">
            <a:avLst/>
          </a:prstGeom>
          <a:noFill/>
          <a:ln w="38100">
            <a:solidFill>
              <a:srgbClr val="FFFFFF"/>
            </a:solidFill>
            <a:prstDash val="solid"/>
          </a:ln>
        </p:spPr>
      </p:sp>
      <p:sp>
        <p:nvSpPr>
          <p:cNvPr id="12" name="Shape 7"/>
          <p:cNvSpPr/>
          <p:nvPr/>
        </p:nvSpPr>
        <p:spPr>
          <a:xfrm flipH="1">
            <a:off x="6409944" y="1883664"/>
            <a:ext cx="146304" cy="749808"/>
          </a:xfrm>
          <a:prstGeom prst="line">
            <a:avLst/>
          </a:prstGeom>
          <a:noFill/>
          <a:ln w="38100">
            <a:solidFill>
              <a:srgbClr val="FFFFFF"/>
            </a:solidFill>
            <a:prstDash val="solid"/>
          </a:ln>
        </p:spPr>
      </p:sp>
      <p:sp>
        <p:nvSpPr>
          <p:cNvPr id="13" name="Text 8"/>
          <p:cNvSpPr txBox="1"/>
          <p:nvPr/>
        </p:nvSpPr>
        <p:spPr>
          <a:xfrm>
            <a:off x="640080" y="2606040"/>
            <a:ext cx="3657600" cy="274320"/>
          </a:xfrm>
          <a:prstGeom prst="rect">
            <a:avLst/>
          </a:prstGeom>
          <a:noFill/>
          <a:ln/>
        </p:spPr>
        <p:txBody>
          <a:bodyPr wrap="square" lIns="0" tIns="0" rIns="0" bIns="0" rtlCol="0" anchor="ctr"/>
          <a:lstStyle/>
          <a:p>
            <a:pPr indent="0" marL="0">
              <a:buNone/>
            </a:pPr>
            <a:r>
              <a:rPr lang="en-US" sz="1400" b="1" dirty="0">
                <a:solidFill>
                  <a:srgbClr val="0B2545"/>
                </a:solidFill>
              </a:rPr>
              <a:t>× 10–15%  </a:t>
            </a:r>
            <a:pPr indent="0" marL="0">
              <a:buNone/>
            </a:pPr>
            <a:r>
              <a:rPr lang="en-US" sz="1400" dirty="0">
                <a:solidFill>
                  <a:srgbClr val="0B2545"/>
                </a:solidFill>
              </a:rPr>
              <a:t>Middle East + SE Asia</a:t>
            </a:r>
            <a:endParaRPr lang="en-US" sz="1400" dirty="0"/>
          </a:p>
        </p:txBody>
      </p:sp>
      <p:sp>
        <p:nvSpPr>
          <p:cNvPr id="14" name="Shape 9"/>
          <p:cNvSpPr/>
          <p:nvPr/>
        </p:nvSpPr>
        <p:spPr>
          <a:xfrm>
            <a:off x="3573165" y="2615184"/>
            <a:ext cx="525834" cy="256032"/>
          </a:xfrm>
          <a:prstGeom prst="roundRect">
            <a:avLst>
              <a:gd name="adj" fmla="val 50000"/>
            </a:avLst>
          </a:prstGeom>
          <a:solidFill>
            <a:srgbClr val="FFF4E5"/>
          </a:solidFill>
          <a:ln w="12700">
            <a:solidFill>
              <a:srgbClr val="D97706"/>
            </a:solidFill>
            <a:prstDash val="solid"/>
          </a:ln>
        </p:spPr>
      </p:sp>
      <p:sp>
        <p:nvSpPr>
          <p:cNvPr id="15" name="Text 10"/>
          <p:cNvSpPr txBox="1"/>
          <p:nvPr/>
        </p:nvSpPr>
        <p:spPr>
          <a:xfrm>
            <a:off x="3573165" y="2615184"/>
            <a:ext cx="525834" cy="256032"/>
          </a:xfrm>
          <a:prstGeom prst="rect">
            <a:avLst/>
          </a:prstGeom>
          <a:noFill/>
          <a:ln/>
        </p:spPr>
        <p:txBody>
          <a:bodyPr wrap="square" lIns="0" tIns="0" rIns="0" bIns="0" rtlCol="0" anchor="ctr"/>
          <a:lstStyle/>
          <a:p>
            <a:pPr algn="ctr" indent="0" marL="0">
              <a:buNone/>
            </a:pPr>
            <a:r>
              <a:rPr lang="en-US" sz="1400" b="1" dirty="0">
                <a:solidFill>
                  <a:srgbClr val="D97706"/>
                </a:solidFill>
              </a:rPr>
              <a:t>est.</a:t>
            </a:r>
            <a:endParaRPr lang="en-US" sz="1400" dirty="0"/>
          </a:p>
        </p:txBody>
      </p:sp>
      <p:sp>
        <p:nvSpPr>
          <p:cNvPr id="16" name="Shape 11"/>
          <p:cNvSpPr/>
          <p:nvPr/>
        </p:nvSpPr>
        <p:spPr>
          <a:xfrm>
            <a:off x="457200" y="2907792"/>
            <a:ext cx="3840480" cy="640080"/>
          </a:xfrm>
          <a:prstGeom prst="rect">
            <a:avLst/>
          </a:prstGeom>
          <a:solidFill>
            <a:srgbClr val="3E5C82"/>
          </a:solidFill>
          <a:ln/>
        </p:spPr>
      </p:sp>
      <p:sp>
        <p:nvSpPr>
          <p:cNvPr id="17" name="Text 12"/>
          <p:cNvSpPr txBox="1"/>
          <p:nvPr/>
        </p:nvSpPr>
        <p:spPr>
          <a:xfrm>
            <a:off x="640080" y="2907792"/>
            <a:ext cx="2079694" cy="640080"/>
          </a:xfrm>
          <a:prstGeom prst="rect">
            <a:avLst/>
          </a:prstGeom>
          <a:noFill/>
          <a:ln/>
        </p:spPr>
        <p:txBody>
          <a:bodyPr wrap="square" lIns="0" tIns="0" rIns="0" bIns="0" rtlCol="0" anchor="ctr"/>
          <a:lstStyle/>
          <a:p>
            <a:pPr indent="0" marL="0">
              <a:buNone/>
            </a:pPr>
            <a:r>
              <a:rPr lang="en-US" sz="2200" b="1" dirty="0">
                <a:solidFill>
                  <a:srgbClr val="FFFFFF"/>
                </a:solidFill>
              </a:rPr>
              <a:t>US$0.42–0.63B</a:t>
            </a:r>
            <a:endParaRPr lang="en-US" sz="2200" dirty="0"/>
          </a:p>
        </p:txBody>
      </p:sp>
      <p:sp>
        <p:nvSpPr>
          <p:cNvPr id="18" name="Text 13"/>
          <p:cNvSpPr txBox="1"/>
          <p:nvPr/>
        </p:nvSpPr>
        <p:spPr>
          <a:xfrm>
            <a:off x="640080" y="3575304"/>
            <a:ext cx="3657600" cy="274320"/>
          </a:xfrm>
          <a:prstGeom prst="rect">
            <a:avLst/>
          </a:prstGeom>
          <a:noFill/>
          <a:ln/>
        </p:spPr>
        <p:txBody>
          <a:bodyPr wrap="square" lIns="0" tIns="0" rIns="0" bIns="0" rtlCol="0" anchor="ctr"/>
          <a:lstStyle/>
          <a:p>
            <a:pPr indent="0" marL="0">
              <a:buNone/>
            </a:pPr>
            <a:r>
              <a:rPr lang="en-US" sz="1400" b="1" dirty="0">
                <a:solidFill>
                  <a:srgbClr val="0B2545"/>
                </a:solidFill>
              </a:rPr>
              <a:t>× 10–15%  </a:t>
            </a:r>
            <a:pPr indent="0" marL="0">
              <a:buNone/>
            </a:pPr>
            <a:r>
              <a:rPr lang="en-US" sz="1400" dirty="0">
                <a:solidFill>
                  <a:srgbClr val="0B2545"/>
                </a:solidFill>
              </a:rPr>
              <a:t>FastPass-serviceable</a:t>
            </a:r>
            <a:endParaRPr lang="en-US" sz="1400" dirty="0"/>
          </a:p>
        </p:txBody>
      </p:sp>
      <p:sp>
        <p:nvSpPr>
          <p:cNvPr id="19" name="Shape 14"/>
          <p:cNvSpPr/>
          <p:nvPr/>
        </p:nvSpPr>
        <p:spPr>
          <a:xfrm>
            <a:off x="3573165" y="3584448"/>
            <a:ext cx="525834" cy="256032"/>
          </a:xfrm>
          <a:prstGeom prst="roundRect">
            <a:avLst>
              <a:gd name="adj" fmla="val 50000"/>
            </a:avLst>
          </a:prstGeom>
          <a:solidFill>
            <a:srgbClr val="FFF4E5"/>
          </a:solidFill>
          <a:ln w="12700">
            <a:solidFill>
              <a:srgbClr val="D97706"/>
            </a:solidFill>
            <a:prstDash val="solid"/>
          </a:ln>
        </p:spPr>
      </p:sp>
      <p:sp>
        <p:nvSpPr>
          <p:cNvPr id="20" name="Text 15"/>
          <p:cNvSpPr txBox="1"/>
          <p:nvPr/>
        </p:nvSpPr>
        <p:spPr>
          <a:xfrm>
            <a:off x="3573165" y="3584448"/>
            <a:ext cx="525834" cy="256032"/>
          </a:xfrm>
          <a:prstGeom prst="rect">
            <a:avLst/>
          </a:prstGeom>
          <a:noFill/>
          <a:ln/>
        </p:spPr>
        <p:txBody>
          <a:bodyPr wrap="square" lIns="0" tIns="0" rIns="0" bIns="0" rtlCol="0" anchor="ctr"/>
          <a:lstStyle/>
          <a:p>
            <a:pPr algn="ctr" indent="0" marL="0">
              <a:buNone/>
            </a:pPr>
            <a:r>
              <a:rPr lang="en-US" sz="1400" b="1" dirty="0">
                <a:solidFill>
                  <a:srgbClr val="D97706"/>
                </a:solidFill>
              </a:rPr>
              <a:t>est.</a:t>
            </a:r>
            <a:endParaRPr lang="en-US" sz="1400" dirty="0"/>
          </a:p>
        </p:txBody>
      </p:sp>
      <p:sp>
        <p:nvSpPr>
          <p:cNvPr id="21" name="Shape 16"/>
          <p:cNvSpPr/>
          <p:nvPr/>
        </p:nvSpPr>
        <p:spPr>
          <a:xfrm>
            <a:off x="457200" y="3877056"/>
            <a:ext cx="2194560" cy="640080"/>
          </a:xfrm>
          <a:prstGeom prst="rect">
            <a:avLst/>
          </a:prstGeom>
          <a:solidFill>
            <a:srgbClr val="0B84AE"/>
          </a:solidFill>
          <a:ln/>
        </p:spPr>
      </p:sp>
      <p:sp>
        <p:nvSpPr>
          <p:cNvPr id="22" name="Text 17"/>
          <p:cNvSpPr txBox="1"/>
          <p:nvPr/>
        </p:nvSpPr>
        <p:spPr>
          <a:xfrm>
            <a:off x="640080" y="3877056"/>
            <a:ext cx="1644640" cy="640080"/>
          </a:xfrm>
          <a:prstGeom prst="rect">
            <a:avLst/>
          </a:prstGeom>
          <a:noFill/>
          <a:ln/>
        </p:spPr>
        <p:txBody>
          <a:bodyPr wrap="square" lIns="0" tIns="0" rIns="0" bIns="0" rtlCol="0" anchor="ctr"/>
          <a:lstStyle/>
          <a:p>
            <a:pPr indent="0" marL="0">
              <a:buNone/>
            </a:pPr>
            <a:r>
              <a:rPr lang="en-US" sz="2200" b="1" dirty="0">
                <a:solidFill>
                  <a:srgbClr val="FFFFFF"/>
                </a:solidFill>
              </a:rPr>
              <a:t>US$42–94M</a:t>
            </a:r>
            <a:endParaRPr lang="en-US" sz="2200" dirty="0"/>
          </a:p>
        </p:txBody>
      </p:sp>
      <p:sp>
        <p:nvSpPr>
          <p:cNvPr id="23" name="Text 18"/>
          <p:cNvSpPr txBox="1"/>
          <p:nvPr/>
        </p:nvSpPr>
        <p:spPr>
          <a:xfrm>
            <a:off x="2834640" y="3877056"/>
            <a:ext cx="3657600" cy="640080"/>
          </a:xfrm>
          <a:prstGeom prst="rect">
            <a:avLst/>
          </a:prstGeom>
          <a:noFill/>
          <a:ln/>
        </p:spPr>
        <p:txBody>
          <a:bodyPr wrap="square" lIns="0" tIns="0" rIns="0" bIns="0" rtlCol="0" anchor="ctr"/>
          <a:lstStyle/>
          <a:p>
            <a:pPr indent="0" marL="0">
              <a:buNone/>
            </a:pPr>
            <a:r>
              <a:rPr lang="en-US" sz="1400" dirty="0">
                <a:solidFill>
                  <a:srgbClr val="4A5870"/>
                </a:solidFill>
              </a:rPr>
              <a:t>≈ 1–2.25% of the airport market</a:t>
            </a:r>
            <a:endParaRPr lang="en-US" sz="1400" dirty="0"/>
          </a:p>
        </p:txBody>
      </p:sp>
      <p:sp>
        <p:nvSpPr>
          <p:cNvPr id="24" name="Shape 19"/>
          <p:cNvSpPr/>
          <p:nvPr/>
        </p:nvSpPr>
        <p:spPr>
          <a:xfrm>
            <a:off x="6967728" y="2121408"/>
            <a:ext cx="1158284" cy="274320"/>
          </a:xfrm>
          <a:prstGeom prst="roundRect">
            <a:avLst>
              <a:gd name="adj" fmla="val 50000"/>
            </a:avLst>
          </a:prstGeom>
          <a:solidFill>
            <a:srgbClr val="FFFFFF">
              <a:alpha val="90000"/>
            </a:srgbClr>
          </a:solidFill>
          <a:ln w="9525">
            <a:solidFill>
              <a:srgbClr val="E1E6ED"/>
            </a:solidFill>
            <a:prstDash val="solid"/>
          </a:ln>
        </p:spPr>
      </p:sp>
      <p:sp>
        <p:nvSpPr>
          <p:cNvPr id="25" name="Text 20"/>
          <p:cNvSpPr txBox="1"/>
          <p:nvPr/>
        </p:nvSpPr>
        <p:spPr>
          <a:xfrm>
            <a:off x="6967728" y="2121408"/>
            <a:ext cx="1158284" cy="274320"/>
          </a:xfrm>
          <a:prstGeom prst="rect">
            <a:avLst/>
          </a:prstGeom>
          <a:noFill/>
          <a:ln/>
        </p:spPr>
        <p:txBody>
          <a:bodyPr wrap="square" lIns="0" tIns="0" rIns="0" bIns="0" rtlCol="0" anchor="ctr"/>
          <a:lstStyle/>
          <a:p>
            <a:pPr algn="ctr" indent="0" marL="0">
              <a:buNone/>
            </a:pPr>
            <a:r>
              <a:rPr lang="en-US" sz="1400" dirty="0">
                <a:solidFill>
                  <a:srgbClr val="4A5870"/>
                </a:solidFill>
              </a:rPr>
              <a:t>Not to scale</a:t>
            </a:r>
            <a:endParaRPr lang="en-US" sz="1400" dirty="0"/>
          </a:p>
        </p:txBody>
      </p:sp>
      <p:sp>
        <p:nvSpPr>
          <p:cNvPr id="26" name="Shape 21"/>
          <p:cNvSpPr/>
          <p:nvPr/>
        </p:nvSpPr>
        <p:spPr>
          <a:xfrm>
            <a:off x="8366760" y="1920240"/>
            <a:ext cx="3337560" cy="987552"/>
          </a:xfrm>
          <a:prstGeom prst="roundRect">
            <a:avLst>
              <a:gd name="adj" fmla="val 9259"/>
            </a:avLst>
          </a:prstGeom>
          <a:solidFill>
            <a:srgbClr val="FFF4E5"/>
          </a:solidFill>
          <a:ln w="15875">
            <a:solidFill>
              <a:srgbClr val="D97706"/>
            </a:solidFill>
            <a:prstDash val="solid"/>
          </a:ln>
        </p:spPr>
      </p:sp>
      <p:sp>
        <p:nvSpPr>
          <p:cNvPr id="27" name="Text 22"/>
          <p:cNvSpPr txBox="1"/>
          <p:nvPr/>
        </p:nvSpPr>
        <p:spPr>
          <a:xfrm>
            <a:off x="8503920" y="1975104"/>
            <a:ext cx="3108960" cy="877824"/>
          </a:xfrm>
          <a:prstGeom prst="rect">
            <a:avLst/>
          </a:prstGeom>
          <a:noFill/>
          <a:ln/>
        </p:spPr>
        <p:txBody>
          <a:bodyPr wrap="square" lIns="0" tIns="0" rIns="0" bIns="0" rtlCol="0" anchor="ctr"/>
          <a:lstStyle/>
          <a:p>
            <a:pPr indent="0" marL="0">
              <a:buNone/>
            </a:pPr>
            <a:r>
              <a:rPr lang="en-US" sz="1400" dirty="0">
                <a:solidFill>
                  <a:srgbClr val="0B1526"/>
                </a:solidFill>
              </a:rPr>
              <a:t>Restated: deck 12 read 'US$50–75M over 5 years'; the same inputs give US$42–94M a year.</a:t>
            </a:r>
            <a:endParaRPr lang="en-US" sz="1400" dirty="0"/>
          </a:p>
        </p:txBody>
      </p:sp>
      <p:sp>
        <p:nvSpPr>
          <p:cNvPr id="28" name="Shape 23"/>
          <p:cNvSpPr/>
          <p:nvPr/>
        </p:nvSpPr>
        <p:spPr>
          <a:xfrm>
            <a:off x="8366760" y="3108960"/>
            <a:ext cx="750022" cy="274320"/>
          </a:xfrm>
          <a:prstGeom prst="roundRect">
            <a:avLst>
              <a:gd name="adj" fmla="val 50000"/>
            </a:avLst>
          </a:prstGeom>
          <a:solidFill>
            <a:srgbClr val="FFF4E5"/>
          </a:solidFill>
          <a:ln w="12700">
            <a:solidFill>
              <a:srgbClr val="D97706"/>
            </a:solidFill>
            <a:prstDash val="solid"/>
          </a:ln>
        </p:spPr>
      </p:sp>
      <p:sp>
        <p:nvSpPr>
          <p:cNvPr id="29" name="Text 24"/>
          <p:cNvSpPr txBox="1"/>
          <p:nvPr/>
        </p:nvSpPr>
        <p:spPr>
          <a:xfrm>
            <a:off x="8366760" y="3108960"/>
            <a:ext cx="750022" cy="274320"/>
          </a:xfrm>
          <a:prstGeom prst="rect">
            <a:avLst/>
          </a:prstGeom>
          <a:noFill/>
          <a:ln/>
        </p:spPr>
        <p:txBody>
          <a:bodyPr wrap="square" lIns="0" tIns="0" rIns="0" bIns="0" rtlCol="0" anchor="ctr"/>
          <a:lstStyle/>
          <a:p>
            <a:pPr algn="ctr" indent="0" marL="0">
              <a:buNone/>
            </a:pPr>
            <a:r>
              <a:rPr lang="en-US" sz="1400" b="1" dirty="0">
                <a:solidFill>
                  <a:srgbClr val="D97706"/>
                </a:solidFill>
              </a:rPr>
              <a:t>target</a:t>
            </a:r>
            <a:endParaRPr lang="en-US" sz="1400" dirty="0"/>
          </a:p>
        </p:txBody>
      </p:sp>
      <p:sp>
        <p:nvSpPr>
          <p:cNvPr id="30" name="Text 25"/>
          <p:cNvSpPr txBox="1"/>
          <p:nvPr/>
        </p:nvSpPr>
        <p:spPr>
          <a:xfrm>
            <a:off x="8366760" y="3438144"/>
            <a:ext cx="3337560" cy="1371600"/>
          </a:xfrm>
          <a:prstGeom prst="rect">
            <a:avLst/>
          </a:prstGeom>
          <a:noFill/>
          <a:ln/>
        </p:spPr>
        <p:txBody>
          <a:bodyPr wrap="square" lIns="0" tIns="0" rIns="0" bIns="0" rtlCol="0" anchor="t"/>
          <a:lstStyle/>
          <a:p>
            <a:pPr indent="0" marL="0">
              <a:buNone/>
            </a:pPr>
            <a:r>
              <a:rPr lang="en-US" sz="1600" dirty="0">
                <a:solidFill>
                  <a:srgbClr val="0B1526"/>
                </a:solidFill>
              </a:rPr>
              <a:t>Revenue target: US$10–15M a year by [year], ≈15–23% of the ~US$65M midpoint (target, to confirm); ≈40–100 gate-equivalents a year at tender prices</a:t>
            </a:r>
            <a:endParaRPr lang="en-US" sz="1600" dirty="0"/>
          </a:p>
        </p:txBody>
      </p:sp>
      <p:sp>
        <p:nvSpPr>
          <p:cNvPr id="31" name="Text 26"/>
          <p:cNvSpPr txBox="1"/>
          <p:nvPr/>
        </p:nvSpPr>
        <p:spPr>
          <a:xfrm>
            <a:off x="457200" y="4956048"/>
            <a:ext cx="5486400" cy="310896"/>
          </a:xfrm>
          <a:prstGeom prst="rect">
            <a:avLst/>
          </a:prstGeom>
          <a:noFill/>
          <a:ln/>
        </p:spPr>
        <p:txBody>
          <a:bodyPr wrap="square" lIns="0" tIns="0" rIns="0" bIns="0" rtlCol="0" anchor="ctr"/>
          <a:lstStyle/>
          <a:p>
            <a:pPr indent="0" marL="0">
              <a:buNone/>
            </a:pPr>
            <a:r>
              <a:rPr lang="en-US" sz="1600" b="1" dirty="0">
                <a:solidFill>
                  <a:srgbClr val="0B1526"/>
                </a:solidFill>
              </a:rPr>
              <a:t>Where it grows (hypothesis)</a:t>
            </a:r>
            <a:endParaRPr lang="en-US" sz="1600" dirty="0"/>
          </a:p>
        </p:txBody>
      </p:sp>
      <p:sp>
        <p:nvSpPr>
          <p:cNvPr id="32" name="Shape 27"/>
          <p:cNvSpPr/>
          <p:nvPr/>
        </p:nvSpPr>
        <p:spPr>
          <a:xfrm>
            <a:off x="457200" y="5340096"/>
            <a:ext cx="2894076" cy="548640"/>
          </a:xfrm>
          <a:prstGeom prst="homePlate">
            <a:avLst/>
          </a:prstGeom>
          <a:solidFill>
            <a:srgbClr val="0B84AE"/>
          </a:solidFill>
          <a:ln w="19050">
            <a:solidFill>
              <a:srgbClr val="FFFFFF"/>
            </a:solidFill>
            <a:prstDash val="solid"/>
          </a:ln>
        </p:spPr>
      </p:sp>
      <p:sp>
        <p:nvSpPr>
          <p:cNvPr id="33" name="Text 28"/>
          <p:cNvSpPr txBox="1"/>
          <p:nvPr/>
        </p:nvSpPr>
        <p:spPr>
          <a:xfrm>
            <a:off x="594360" y="5340096"/>
            <a:ext cx="2299716" cy="548640"/>
          </a:xfrm>
          <a:prstGeom prst="rect">
            <a:avLst/>
          </a:prstGeom>
          <a:noFill/>
          <a:ln/>
        </p:spPr>
        <p:txBody>
          <a:bodyPr wrap="square" lIns="0" tIns="0" rIns="0" bIns="0" rtlCol="0" anchor="ctr"/>
          <a:lstStyle/>
          <a:p>
            <a:pPr algn="ctr" indent="0" marL="0">
              <a:buNone/>
            </a:pPr>
            <a:r>
              <a:rPr lang="en-US" sz="1600" b="1" dirty="0">
                <a:solidFill>
                  <a:srgbClr val="FFFFFF"/>
                </a:solidFill>
              </a:rPr>
              <a:t>ME + SEA lanes</a:t>
            </a:r>
            <a:endParaRPr lang="en-US" sz="1600" dirty="0"/>
          </a:p>
        </p:txBody>
      </p:sp>
      <p:sp>
        <p:nvSpPr>
          <p:cNvPr id="34" name="Shape 29"/>
          <p:cNvSpPr/>
          <p:nvPr/>
        </p:nvSpPr>
        <p:spPr>
          <a:xfrm>
            <a:off x="3241548" y="5340096"/>
            <a:ext cx="2894076" cy="548640"/>
          </a:xfrm>
          <a:prstGeom prst="chevron">
            <a:avLst/>
          </a:prstGeom>
          <a:solidFill>
            <a:srgbClr val="5FA9C6"/>
          </a:solidFill>
          <a:ln w="19050">
            <a:solidFill>
              <a:srgbClr val="FFFFFF"/>
            </a:solidFill>
            <a:prstDash val="solid"/>
          </a:ln>
        </p:spPr>
      </p:sp>
      <p:sp>
        <p:nvSpPr>
          <p:cNvPr id="35" name="Text 30"/>
          <p:cNvSpPr txBox="1"/>
          <p:nvPr/>
        </p:nvSpPr>
        <p:spPr>
          <a:xfrm>
            <a:off x="3625596" y="5340096"/>
            <a:ext cx="2299716" cy="548640"/>
          </a:xfrm>
          <a:prstGeom prst="rect">
            <a:avLst/>
          </a:prstGeom>
          <a:noFill/>
          <a:ln/>
        </p:spPr>
        <p:txBody>
          <a:bodyPr wrap="square" lIns="0" tIns="0" rIns="0" bIns="0" rtlCol="0" anchor="ctr"/>
          <a:lstStyle/>
          <a:p>
            <a:pPr algn="ctr" indent="0" marL="0">
              <a:buNone/>
            </a:pPr>
            <a:r>
              <a:rPr lang="en-US" sz="1600" b="1" dirty="0">
                <a:solidFill>
                  <a:srgbClr val="FFFFFF"/>
                </a:solidFill>
              </a:rPr>
              <a:t>Every touchpoint</a:t>
            </a:r>
            <a:endParaRPr lang="en-US" sz="1600" dirty="0"/>
          </a:p>
        </p:txBody>
      </p:sp>
      <p:sp>
        <p:nvSpPr>
          <p:cNvPr id="36" name="Shape 31"/>
          <p:cNvSpPr/>
          <p:nvPr/>
        </p:nvSpPr>
        <p:spPr>
          <a:xfrm>
            <a:off x="6025896" y="5340096"/>
            <a:ext cx="2894076" cy="548640"/>
          </a:xfrm>
          <a:prstGeom prst="chevron">
            <a:avLst/>
          </a:prstGeom>
          <a:solidFill>
            <a:srgbClr val="9CC6D8"/>
          </a:solidFill>
          <a:ln w="19050">
            <a:solidFill>
              <a:srgbClr val="FFFFFF"/>
            </a:solidFill>
            <a:prstDash val="solid"/>
          </a:ln>
        </p:spPr>
      </p:sp>
      <p:sp>
        <p:nvSpPr>
          <p:cNvPr id="37" name="Text 32"/>
          <p:cNvSpPr txBox="1"/>
          <p:nvPr/>
        </p:nvSpPr>
        <p:spPr>
          <a:xfrm>
            <a:off x="6409944" y="5340096"/>
            <a:ext cx="2299716" cy="548640"/>
          </a:xfrm>
          <a:prstGeom prst="rect">
            <a:avLst/>
          </a:prstGeom>
          <a:noFill/>
          <a:ln/>
        </p:spPr>
        <p:txBody>
          <a:bodyPr wrap="square" lIns="0" tIns="0" rIns="0" bIns="0" rtlCol="0" anchor="ctr"/>
          <a:lstStyle/>
          <a:p>
            <a:pPr algn="ctr" indent="0" marL="0">
              <a:buNone/>
            </a:pPr>
            <a:r>
              <a:rPr lang="en-US" sz="1600" b="1" dirty="0">
                <a:solidFill>
                  <a:srgbClr val="0B2545"/>
                </a:solidFill>
              </a:rPr>
              <a:t>Airports worldwide</a:t>
            </a:r>
            <a:endParaRPr lang="en-US" sz="1600" dirty="0"/>
          </a:p>
        </p:txBody>
      </p:sp>
      <p:sp>
        <p:nvSpPr>
          <p:cNvPr id="38" name="Shape 33"/>
          <p:cNvSpPr/>
          <p:nvPr/>
        </p:nvSpPr>
        <p:spPr>
          <a:xfrm>
            <a:off x="8810244" y="5340096"/>
            <a:ext cx="2894076" cy="548640"/>
          </a:xfrm>
          <a:prstGeom prst="chevron">
            <a:avLst/>
          </a:prstGeom>
          <a:solidFill>
            <a:srgbClr val="C5D6E0"/>
          </a:solidFill>
          <a:ln w="19050">
            <a:solidFill>
              <a:srgbClr val="FFFFFF"/>
            </a:solidFill>
            <a:prstDash val="solid"/>
          </a:ln>
        </p:spPr>
      </p:sp>
      <p:sp>
        <p:nvSpPr>
          <p:cNvPr id="39" name="Text 34"/>
          <p:cNvSpPr txBox="1"/>
          <p:nvPr/>
        </p:nvSpPr>
        <p:spPr>
          <a:xfrm>
            <a:off x="9194292" y="5340096"/>
            <a:ext cx="2299716" cy="548640"/>
          </a:xfrm>
          <a:prstGeom prst="rect">
            <a:avLst/>
          </a:prstGeom>
          <a:noFill/>
          <a:ln/>
        </p:spPr>
        <p:txBody>
          <a:bodyPr wrap="square" lIns="0" tIns="0" rIns="0" bIns="0" rtlCol="0" anchor="ctr"/>
          <a:lstStyle/>
          <a:p>
            <a:pPr algn="ctr" indent="0" marL="0">
              <a:buNone/>
            </a:pPr>
            <a:r>
              <a:rPr lang="en-US" sz="1600" b="1" dirty="0">
                <a:solidFill>
                  <a:srgbClr val="0B2545"/>
                </a:solidFill>
              </a:rPr>
              <a:t>Other borders [confirm]</a:t>
            </a:r>
            <a:endParaRPr lang="en-US" sz="1600" dirty="0"/>
          </a:p>
        </p:txBody>
      </p:sp>
      <p:sp>
        <p:nvSpPr>
          <p:cNvPr id="40" name="!!foot"/>
          <p:cNvSpPr txBox="1"/>
          <p:nvPr/>
        </p:nvSpPr>
        <p:spPr>
          <a:xfrm>
            <a:off x="960120" y="6272784"/>
            <a:ext cx="10744200" cy="402336"/>
          </a:xfrm>
          <a:prstGeom prst="rect">
            <a:avLst/>
          </a:prstGeom>
          <a:noFill/>
          <a:ln/>
        </p:spPr>
        <p:txBody>
          <a:bodyPr wrap="square" lIns="0" tIns="0" rIns="0" bIns="0" rtlCol="0" anchor="ctr"/>
          <a:lstStyle/>
          <a:p>
            <a:pPr indent="0" marL="0">
              <a:buNone/>
            </a:pPr>
            <a:r>
              <a:rPr lang="en-US" sz="900" dirty="0">
                <a:solidFill>
                  <a:srgbClr val="7D8899"/>
                </a:solidFill>
                <a:latin typeface="+mj-lt"/>
              </a:rPr>
              <a:t>Per year, 2030: US$5.03B × 83.1% = US$4.18B; × 10–15% × 10–15% = US$42–94M (midpoint ~US$65M at 12.5% × 12.5%). Shares: internal estimates (URS).</a:t>
            </a:r>
            <a:endParaRPr lang="en-US" sz="900" dirty="0"/>
          </a:p>
          <a:p>
            <a:pPr indent="0" marL="0">
              <a:buNone/>
            </a:pPr>
            <a:r>
              <a:rPr lang="en-US" sz="900" dirty="0">
                <a:solidFill>
                  <a:srgbClr val="7D8899"/>
                </a:solidFill>
                <a:latin typeface="+mj-lt"/>
              </a:rPr>
              <a:t>ABC = e-gates and kiosks, mostly one-off hardware; 83.1% is the 2025 airport share applied to 2030. MarketsandMarkets, Automated Border Control Market to 2030.</a:t>
            </a:r>
            <a:endParaRPr lang="en-US" sz="900" dirty="0"/>
          </a:p>
        </p:txBody>
      </p:sp>
      <p:sp>
        <p:nvSpPr>
          <p:cNvPr id="41"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8  |</a:t>
            </a:r>
            <a:endParaRPr lang="en-US" sz="1200" dirty="0"/>
          </a:p>
        </p:txBody>
      </p:sp>
      <p:grpSp>
        <p:nvGrpSpPr>
          <p:cNvPr id="4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Business model</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Land one lane. Hardware once, software every year.</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One standard product core, reused across airports, is how margins grow.</a:t>
            </a:r>
            <a:endParaRPr lang="en-US" sz="1800" dirty="0"/>
          </a:p>
        </p:txBody>
      </p:sp>
      <p:sp>
        <p:nvSpPr>
          <p:cNvPr id="8" name="Shape 3"/>
          <p:cNvSpPr/>
          <p:nvPr/>
        </p:nvSpPr>
        <p:spPr>
          <a:xfrm>
            <a:off x="731520" y="2212848"/>
            <a:ext cx="8435340" cy="914"/>
          </a:xfrm>
          <a:prstGeom prst="line">
            <a:avLst/>
          </a:prstGeom>
          <a:noFill/>
          <a:ln w="25400">
            <a:solidFill>
              <a:srgbClr val="0B84AE"/>
            </a:solidFill>
            <a:prstDash val="solid"/>
          </a:ln>
        </p:spPr>
      </p:sp>
      <p:sp>
        <p:nvSpPr>
          <p:cNvPr id="9" name="Shape 4"/>
          <p:cNvSpPr/>
          <p:nvPr/>
        </p:nvSpPr>
        <p:spPr>
          <a:xfrm>
            <a:off x="502920" y="1984248"/>
            <a:ext cx="457200" cy="457200"/>
          </a:xfrm>
          <a:prstGeom prst="ellipse">
            <a:avLst/>
          </a:prstGeom>
          <a:solidFill>
            <a:srgbClr val="0B84AE"/>
          </a:solidFill>
          <a:ln w="25400">
            <a:solidFill>
              <a:srgbClr val="FFFFFF"/>
            </a:solidFill>
            <a:prstDash val="solid"/>
          </a:ln>
        </p:spPr>
      </p:sp>
      <p:sp>
        <p:nvSpPr>
          <p:cNvPr id="10" name="Text 5"/>
          <p:cNvSpPr txBox="1"/>
          <p:nvPr/>
        </p:nvSpPr>
        <p:spPr>
          <a:xfrm>
            <a:off x="50292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Text 6"/>
          <p:cNvSpPr txBox="1"/>
          <p:nvPr/>
        </p:nvSpPr>
        <p:spPr>
          <a:xfrm>
            <a:off x="45720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Pilot lane</a:t>
            </a:r>
            <a:endParaRPr lang="en-US" sz="1600" dirty="0"/>
          </a:p>
        </p:txBody>
      </p:sp>
      <p:sp>
        <p:nvSpPr>
          <p:cNvPr id="12" name="Text 7"/>
          <p:cNvSpPr txBox="1"/>
          <p:nvPr/>
        </p:nvSpPr>
        <p:spPr>
          <a:xfrm>
            <a:off x="45720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1 lane, 1 group</a:t>
            </a:r>
            <a:endParaRPr lang="en-US" sz="1400" dirty="0"/>
          </a:p>
          <a:p>
            <a:pPr indent="0" marL="0">
              <a:buNone/>
            </a:pPr>
            <a:r>
              <a:rPr lang="en-US" sz="1400" dirty="0">
                <a:solidFill>
                  <a:srgbClr val="4A5870"/>
                </a:solidFill>
              </a:rPr>
              <a:t>[paid / co-funded]</a:t>
            </a:r>
            <a:endParaRPr lang="en-US" sz="1400" dirty="0"/>
          </a:p>
        </p:txBody>
      </p:sp>
      <p:sp>
        <p:nvSpPr>
          <p:cNvPr id="13" name="Shape 8"/>
          <p:cNvSpPr/>
          <p:nvPr/>
        </p:nvSpPr>
        <p:spPr>
          <a:xfrm>
            <a:off x="3314700" y="1984248"/>
            <a:ext cx="457200" cy="457200"/>
          </a:xfrm>
          <a:prstGeom prst="ellipse">
            <a:avLst/>
          </a:prstGeom>
          <a:solidFill>
            <a:srgbClr val="0B84AE"/>
          </a:solidFill>
          <a:ln w="25400">
            <a:solidFill>
              <a:srgbClr val="FFFFFF"/>
            </a:solidFill>
            <a:prstDash val="solid"/>
          </a:ln>
        </p:spPr>
      </p:sp>
      <p:sp>
        <p:nvSpPr>
          <p:cNvPr id="14" name="Text 9"/>
          <p:cNvSpPr txBox="1"/>
          <p:nvPr/>
        </p:nvSpPr>
        <p:spPr>
          <a:xfrm>
            <a:off x="331470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Text 10"/>
          <p:cNvSpPr txBox="1"/>
          <p:nvPr/>
        </p:nvSpPr>
        <p:spPr>
          <a:xfrm>
            <a:off x="326898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Terminal</a:t>
            </a:r>
            <a:endParaRPr lang="en-US" sz="1600" dirty="0"/>
          </a:p>
        </p:txBody>
      </p:sp>
      <p:sp>
        <p:nvSpPr>
          <p:cNvPr id="16" name="Text 11"/>
          <p:cNvSpPr txBox="1"/>
          <p:nvPr/>
        </p:nvSpPr>
        <p:spPr>
          <a:xfrm>
            <a:off x="326898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more lanes + platform licence</a:t>
            </a:r>
            <a:endParaRPr lang="en-US" sz="1400" dirty="0"/>
          </a:p>
        </p:txBody>
      </p:sp>
      <p:sp>
        <p:nvSpPr>
          <p:cNvPr id="17" name="Shape 12"/>
          <p:cNvSpPr/>
          <p:nvPr/>
        </p:nvSpPr>
        <p:spPr>
          <a:xfrm>
            <a:off x="6126480" y="1984248"/>
            <a:ext cx="457200" cy="457200"/>
          </a:xfrm>
          <a:prstGeom prst="ellipse">
            <a:avLst/>
          </a:prstGeom>
          <a:solidFill>
            <a:srgbClr val="0B84AE"/>
          </a:solidFill>
          <a:ln w="25400">
            <a:solidFill>
              <a:srgbClr val="FFFFFF"/>
            </a:solidFill>
            <a:prstDash val="solid"/>
          </a:ln>
        </p:spPr>
      </p:sp>
      <p:sp>
        <p:nvSpPr>
          <p:cNvPr id="18" name="Text 13"/>
          <p:cNvSpPr txBox="1"/>
          <p:nvPr/>
        </p:nvSpPr>
        <p:spPr>
          <a:xfrm>
            <a:off x="612648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4"/>
          <p:cNvSpPr txBox="1"/>
          <p:nvPr/>
        </p:nvSpPr>
        <p:spPr>
          <a:xfrm>
            <a:off x="608076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Airport</a:t>
            </a:r>
            <a:endParaRPr lang="en-US" sz="1600" dirty="0"/>
          </a:p>
        </p:txBody>
      </p:sp>
      <p:sp>
        <p:nvSpPr>
          <p:cNvPr id="20" name="Text 15"/>
          <p:cNvSpPr txBox="1"/>
          <p:nvPr/>
        </p:nvSpPr>
        <p:spPr>
          <a:xfrm>
            <a:off x="608076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every touchpoint, one platform</a:t>
            </a:r>
            <a:endParaRPr lang="en-US" sz="1400" dirty="0"/>
          </a:p>
        </p:txBody>
      </p:sp>
      <p:sp>
        <p:nvSpPr>
          <p:cNvPr id="21" name="Shape 16"/>
          <p:cNvSpPr/>
          <p:nvPr/>
        </p:nvSpPr>
        <p:spPr>
          <a:xfrm>
            <a:off x="8938260" y="1984248"/>
            <a:ext cx="457200" cy="457200"/>
          </a:xfrm>
          <a:prstGeom prst="ellipse">
            <a:avLst/>
          </a:prstGeom>
          <a:solidFill>
            <a:srgbClr val="0B84AE"/>
          </a:solidFill>
          <a:ln w="25400">
            <a:solidFill>
              <a:srgbClr val="FFFFFF"/>
            </a:solidFill>
            <a:prstDash val="solid"/>
          </a:ln>
        </p:spPr>
      </p:sp>
      <p:sp>
        <p:nvSpPr>
          <p:cNvPr id="22" name="Text 17"/>
          <p:cNvSpPr txBox="1"/>
          <p:nvPr/>
        </p:nvSpPr>
        <p:spPr>
          <a:xfrm>
            <a:off x="893826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18"/>
          <p:cNvSpPr txBox="1"/>
          <p:nvPr/>
        </p:nvSpPr>
        <p:spPr>
          <a:xfrm>
            <a:off x="889254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Portfolio</a:t>
            </a:r>
            <a:endParaRPr lang="en-US" sz="1600" dirty="0"/>
          </a:p>
        </p:txBody>
      </p:sp>
      <p:sp>
        <p:nvSpPr>
          <p:cNvPr id="24" name="Text 19"/>
          <p:cNvSpPr txBox="1"/>
          <p:nvPr/>
        </p:nvSpPr>
        <p:spPr>
          <a:xfrm>
            <a:off x="889254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more airports, one core</a:t>
            </a:r>
            <a:endParaRPr lang="en-US" sz="1400" dirty="0"/>
          </a:p>
        </p:txBody>
      </p:sp>
      <p:sp>
        <p:nvSpPr>
          <p:cNvPr id="25" name="Text 20"/>
          <p:cNvSpPr txBox="1"/>
          <p:nvPr/>
        </p:nvSpPr>
        <p:spPr>
          <a:xfrm>
            <a:off x="457200" y="3657600"/>
            <a:ext cx="6858000" cy="310896"/>
          </a:xfrm>
          <a:prstGeom prst="rect">
            <a:avLst/>
          </a:prstGeom>
          <a:noFill/>
          <a:ln/>
        </p:spPr>
        <p:txBody>
          <a:bodyPr wrap="square" lIns="0" tIns="0" rIns="0" bIns="0" rtlCol="0" anchor="ctr"/>
          <a:lstStyle/>
          <a:p>
            <a:pPr indent="0" marL="0">
              <a:buNone/>
            </a:pPr>
            <a:r>
              <a:rPr lang="en-US" sz="1600" b="1" dirty="0">
                <a:solidFill>
                  <a:srgbClr val="0B1526"/>
                </a:solidFill>
              </a:rPr>
              <a:t>Revenue per lane (illustrative, not a forecast)</a:t>
            </a:r>
            <a:endParaRPr lang="en-US" sz="1600" dirty="0"/>
          </a:p>
        </p:txBody>
      </p:sp>
      <p:sp>
        <p:nvSpPr>
          <p:cNvPr id="26" name="Shape 21"/>
          <p:cNvSpPr/>
          <p:nvPr/>
        </p:nvSpPr>
        <p:spPr>
          <a:xfrm>
            <a:off x="822960" y="5285232"/>
            <a:ext cx="960120" cy="384048"/>
          </a:xfrm>
          <a:prstGeom prst="rect">
            <a:avLst/>
          </a:prstGeom>
          <a:solidFill>
            <a:srgbClr val="0B84AE"/>
          </a:solidFill>
          <a:ln/>
        </p:spPr>
      </p:sp>
      <p:sp>
        <p:nvSpPr>
          <p:cNvPr id="27" name="Shape 22"/>
          <p:cNvSpPr/>
          <p:nvPr/>
        </p:nvSpPr>
        <p:spPr>
          <a:xfrm>
            <a:off x="822960" y="4142232"/>
            <a:ext cx="960120" cy="1143000"/>
          </a:xfrm>
          <a:prstGeom prst="rect">
            <a:avLst/>
          </a:prstGeom>
          <a:solidFill>
            <a:srgbClr val="0B2545"/>
          </a:solidFill>
          <a:ln/>
        </p:spPr>
      </p:sp>
      <p:sp>
        <p:nvSpPr>
          <p:cNvPr id="28" name="Text 23"/>
          <p:cNvSpPr txBox="1"/>
          <p:nvPr/>
        </p:nvSpPr>
        <p:spPr>
          <a:xfrm>
            <a:off x="82296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Y1</a:t>
            </a:r>
            <a:endParaRPr lang="en-US" sz="1400" dirty="0"/>
          </a:p>
        </p:txBody>
      </p:sp>
      <p:sp>
        <p:nvSpPr>
          <p:cNvPr id="29" name="Shape 24"/>
          <p:cNvSpPr/>
          <p:nvPr/>
        </p:nvSpPr>
        <p:spPr>
          <a:xfrm>
            <a:off x="2240280" y="5285232"/>
            <a:ext cx="960120" cy="384048"/>
          </a:xfrm>
          <a:prstGeom prst="rect">
            <a:avLst/>
          </a:prstGeom>
          <a:solidFill>
            <a:srgbClr val="0B84AE"/>
          </a:solidFill>
          <a:ln/>
        </p:spPr>
      </p:sp>
      <p:sp>
        <p:nvSpPr>
          <p:cNvPr id="30" name="Text 25"/>
          <p:cNvSpPr txBox="1"/>
          <p:nvPr/>
        </p:nvSpPr>
        <p:spPr>
          <a:xfrm>
            <a:off x="224028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Y2</a:t>
            </a:r>
            <a:endParaRPr lang="en-US" sz="1400" dirty="0"/>
          </a:p>
        </p:txBody>
      </p:sp>
      <p:sp>
        <p:nvSpPr>
          <p:cNvPr id="31" name="Shape 26"/>
          <p:cNvSpPr/>
          <p:nvPr/>
        </p:nvSpPr>
        <p:spPr>
          <a:xfrm>
            <a:off x="3657600" y="5285232"/>
            <a:ext cx="960120" cy="384048"/>
          </a:xfrm>
          <a:prstGeom prst="rect">
            <a:avLst/>
          </a:prstGeom>
          <a:solidFill>
            <a:srgbClr val="0B84AE"/>
          </a:solidFill>
          <a:ln/>
        </p:spPr>
      </p:sp>
      <p:sp>
        <p:nvSpPr>
          <p:cNvPr id="32" name="Text 27"/>
          <p:cNvSpPr txBox="1"/>
          <p:nvPr/>
        </p:nvSpPr>
        <p:spPr>
          <a:xfrm>
            <a:off x="365760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Y3</a:t>
            </a:r>
            <a:endParaRPr lang="en-US" sz="1400" dirty="0"/>
          </a:p>
        </p:txBody>
      </p:sp>
      <p:sp>
        <p:nvSpPr>
          <p:cNvPr id="33" name="Shape 28"/>
          <p:cNvSpPr/>
          <p:nvPr/>
        </p:nvSpPr>
        <p:spPr>
          <a:xfrm>
            <a:off x="5074920" y="5285232"/>
            <a:ext cx="960120" cy="384048"/>
          </a:xfrm>
          <a:prstGeom prst="rect">
            <a:avLst/>
          </a:prstGeom>
          <a:solidFill>
            <a:srgbClr val="0B84AE"/>
          </a:solidFill>
          <a:ln/>
        </p:spPr>
      </p:sp>
      <p:sp>
        <p:nvSpPr>
          <p:cNvPr id="34" name="Text 29"/>
          <p:cNvSpPr txBox="1"/>
          <p:nvPr/>
        </p:nvSpPr>
        <p:spPr>
          <a:xfrm>
            <a:off x="507492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Y4</a:t>
            </a:r>
            <a:endParaRPr lang="en-US" sz="1400" dirty="0"/>
          </a:p>
        </p:txBody>
      </p:sp>
      <p:sp>
        <p:nvSpPr>
          <p:cNvPr id="35" name="Shape 30"/>
          <p:cNvSpPr/>
          <p:nvPr/>
        </p:nvSpPr>
        <p:spPr>
          <a:xfrm>
            <a:off x="6492240" y="5285232"/>
            <a:ext cx="960120" cy="384048"/>
          </a:xfrm>
          <a:prstGeom prst="rect">
            <a:avLst/>
          </a:prstGeom>
          <a:solidFill>
            <a:srgbClr val="0B84AE"/>
          </a:solidFill>
          <a:ln/>
        </p:spPr>
      </p:sp>
      <p:sp>
        <p:nvSpPr>
          <p:cNvPr id="36" name="Text 31"/>
          <p:cNvSpPr txBox="1"/>
          <p:nvPr/>
        </p:nvSpPr>
        <p:spPr>
          <a:xfrm>
            <a:off x="649224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Y5</a:t>
            </a:r>
            <a:endParaRPr lang="en-US" sz="1400" dirty="0"/>
          </a:p>
        </p:txBody>
      </p:sp>
      <p:sp>
        <p:nvSpPr>
          <p:cNvPr id="37" name="Shape 32"/>
          <p:cNvSpPr/>
          <p:nvPr/>
        </p:nvSpPr>
        <p:spPr>
          <a:xfrm>
            <a:off x="640080" y="5669280"/>
            <a:ext cx="6995160" cy="914"/>
          </a:xfrm>
          <a:prstGeom prst="line">
            <a:avLst/>
          </a:prstGeom>
          <a:noFill/>
          <a:ln w="12700">
            <a:solidFill>
              <a:srgbClr val="4A5870"/>
            </a:solidFill>
            <a:prstDash val="solid"/>
          </a:ln>
        </p:spPr>
      </p:sp>
      <p:sp>
        <p:nvSpPr>
          <p:cNvPr id="38" name="Shape 33"/>
          <p:cNvSpPr/>
          <p:nvPr/>
        </p:nvSpPr>
        <p:spPr>
          <a:xfrm>
            <a:off x="3063240" y="4151376"/>
            <a:ext cx="164592" cy="164592"/>
          </a:xfrm>
          <a:prstGeom prst="rect">
            <a:avLst/>
          </a:prstGeom>
          <a:solidFill>
            <a:srgbClr val="0B2545"/>
          </a:solidFill>
          <a:ln/>
        </p:spPr>
      </p:sp>
      <p:sp>
        <p:nvSpPr>
          <p:cNvPr id="39" name="Text 34"/>
          <p:cNvSpPr txBox="1"/>
          <p:nvPr/>
        </p:nvSpPr>
        <p:spPr>
          <a:xfrm>
            <a:off x="3300984" y="4078224"/>
            <a:ext cx="3108960" cy="310896"/>
          </a:xfrm>
          <a:prstGeom prst="rect">
            <a:avLst/>
          </a:prstGeom>
          <a:noFill/>
          <a:ln/>
        </p:spPr>
        <p:txBody>
          <a:bodyPr wrap="square" lIns="0" tIns="0" rIns="0" bIns="0" rtlCol="0" anchor="ctr"/>
          <a:lstStyle/>
          <a:p>
            <a:pPr indent="0" marL="0">
              <a:buNone/>
            </a:pPr>
            <a:r>
              <a:rPr lang="en-US" sz="1400" dirty="0">
                <a:solidFill>
                  <a:srgbClr val="0B1526"/>
                </a:solidFill>
              </a:rPr>
              <a:t>One-off: hardware + implementation</a:t>
            </a:r>
            <a:endParaRPr lang="en-US" sz="1400" dirty="0"/>
          </a:p>
        </p:txBody>
      </p:sp>
      <p:sp>
        <p:nvSpPr>
          <p:cNvPr id="40" name="Shape 35"/>
          <p:cNvSpPr/>
          <p:nvPr/>
        </p:nvSpPr>
        <p:spPr>
          <a:xfrm>
            <a:off x="6459137" y="4151376"/>
            <a:ext cx="164592" cy="164592"/>
          </a:xfrm>
          <a:prstGeom prst="rect">
            <a:avLst/>
          </a:prstGeom>
          <a:solidFill>
            <a:srgbClr val="0B84AE"/>
          </a:solidFill>
          <a:ln/>
        </p:spPr>
      </p:sp>
      <p:sp>
        <p:nvSpPr>
          <p:cNvPr id="41" name="Text 36"/>
          <p:cNvSpPr txBox="1"/>
          <p:nvPr/>
        </p:nvSpPr>
        <p:spPr>
          <a:xfrm>
            <a:off x="6696881" y="4078224"/>
            <a:ext cx="2926080" cy="310896"/>
          </a:xfrm>
          <a:prstGeom prst="rect">
            <a:avLst/>
          </a:prstGeom>
          <a:noFill/>
          <a:ln/>
        </p:spPr>
        <p:txBody>
          <a:bodyPr wrap="square" lIns="0" tIns="0" rIns="0" bIns="0" rtlCol="0" anchor="ctr"/>
          <a:lstStyle/>
          <a:p>
            <a:pPr indent="0" marL="0">
              <a:buNone/>
            </a:pPr>
            <a:r>
              <a:rPr lang="en-US" sz="1400" dirty="0">
                <a:solidFill>
                  <a:srgbClr val="0B1526"/>
                </a:solidFill>
              </a:rPr>
              <a:t>Yearly: software + SLA support</a:t>
            </a:r>
            <a:endParaRPr lang="en-US" sz="1400" dirty="0"/>
          </a:p>
        </p:txBody>
      </p:sp>
      <p:sp>
        <p:nvSpPr>
          <p:cNvPr id="42"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Revenue lines from the team's commercial model · Tender price anchors (Riga, Aena) and margin comparables: A11</a:t>
            </a:r>
            <a:endParaRPr lang="en-US" sz="900" dirty="0"/>
          </a:p>
        </p:txBody>
      </p:sp>
      <p:sp>
        <p:nvSpPr>
          <p:cNvPr id="43"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9  |</a:t>
            </a:r>
            <a:endParaRPr lang="en-US" sz="1200" dirty="0"/>
          </a:p>
        </p:txBody>
      </p:sp>
      <p:grpSp>
        <p:nvGrpSpPr>
          <p:cNvPr id="4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Buyer case &amp; go-to-market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Airport buys capacity. Agency gains officer time.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Payback is agreed per payer, before go-live.</a:t>
            </a:r>
            <a:endParaRPr lang="en-US" sz="1800" dirty="0"/>
          </a:p>
        </p:txBody>
      </p:sp>
      <p:sp>
        <p:nvSpPr>
          <p:cNvPr id="8" name="Text 3"/>
          <p:cNvSpPr txBox="1"/>
          <p:nvPr/>
        </p:nvSpPr>
        <p:spPr>
          <a:xfrm>
            <a:off x="457200" y="1920240"/>
            <a:ext cx="2560320" cy="237744"/>
          </a:xfrm>
          <a:prstGeom prst="rect">
            <a:avLst/>
          </a:prstGeom>
          <a:noFill/>
          <a:ln/>
        </p:spPr>
        <p:txBody>
          <a:bodyPr wrap="square" lIns="0" tIns="0" rIns="0" bIns="0" rtlCol="0" anchor="ctr"/>
          <a:lstStyle/>
          <a:p>
            <a:pPr indent="0" marL="0">
              <a:buNone/>
            </a:pPr>
            <a:r>
              <a:rPr lang="en-US" sz="1400" b="1" spc="200" kern="0" dirty="0">
                <a:solidFill>
                  <a:srgbClr val="0B2545"/>
                </a:solidFill>
              </a:rPr>
              <a:t>BUYS</a:t>
            </a:r>
            <a:endParaRPr lang="en-US" sz="1400" dirty="0"/>
          </a:p>
        </p:txBody>
      </p:sp>
      <p:sp>
        <p:nvSpPr>
          <p:cNvPr id="9" name="Shape 4"/>
          <p:cNvSpPr/>
          <p:nvPr/>
        </p:nvSpPr>
        <p:spPr>
          <a:xfrm>
            <a:off x="4572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10" name="Shape 5"/>
          <p:cNvSpPr/>
          <p:nvPr/>
        </p:nvSpPr>
        <p:spPr>
          <a:xfrm>
            <a:off x="640080" y="2395728"/>
            <a:ext cx="457200" cy="457200"/>
          </a:xfrm>
          <a:prstGeom prst="ellipse">
            <a:avLst/>
          </a:prstGeom>
          <a:solidFill>
            <a:srgbClr val="F1F4F8"/>
          </a:solidFill>
          <a:ln/>
        </p:spPr>
      </p:sp>
      <p:pic>
        <p:nvPicPr>
          <p:cNvPr id="11" name="Image 0" descr="">    </p:cNvPr>
          <p:cNvPicPr>
            <a:picLocks noChangeAspect="1"/>
          </p:cNvPicPr>
          <p:nvPr/>
        </p:nvPicPr>
        <p:blipFill>
          <a:blip r:embed="rId3"/>
          <a:stretch>
            <a:fillRect/>
          </a:stretch>
        </p:blipFill>
        <p:spPr>
          <a:xfrm>
            <a:off x="740664" y="2496312"/>
            <a:ext cx="256032" cy="256032"/>
          </a:xfrm>
          <a:prstGeom prst="rect">
            <a:avLst/>
          </a:prstGeom>
        </p:spPr>
      </p:pic>
      <p:sp>
        <p:nvSpPr>
          <p:cNvPr id="12" name="Text 6"/>
          <p:cNvSpPr txBox="1"/>
          <p:nvPr/>
        </p:nvSpPr>
        <p:spPr>
          <a:xfrm>
            <a:off x="12070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Airport operator</a:t>
            </a:r>
            <a:endParaRPr lang="en-US" sz="1600" dirty="0"/>
          </a:p>
        </p:txBody>
      </p:sp>
      <p:sp>
        <p:nvSpPr>
          <p:cNvPr id="13" name="Text 7"/>
          <p:cNvSpPr txBox="1"/>
          <p:nvPr/>
        </p:nvSpPr>
        <p:spPr>
          <a:xfrm>
            <a:off x="6400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more departures per lane</a:t>
            </a:r>
            <a:endParaRPr lang="en-US" sz="1400" dirty="0"/>
          </a:p>
        </p:txBody>
      </p:sp>
      <p:sp>
        <p:nvSpPr>
          <p:cNvPr id="14" name="Shape 8"/>
          <p:cNvSpPr/>
          <p:nvPr/>
        </p:nvSpPr>
        <p:spPr>
          <a:xfrm>
            <a:off x="3057144" y="2688336"/>
            <a:ext cx="256032" cy="256032"/>
          </a:xfrm>
          <a:prstGeom prst="ellipse">
            <a:avLst/>
          </a:prstGeom>
          <a:solidFill>
            <a:srgbClr val="0B2545"/>
          </a:solidFill>
          <a:ln/>
        </p:spPr>
      </p:sp>
      <p:pic>
        <p:nvPicPr>
          <p:cNvPr id="15" name="Image 1" descr="">    </p:cNvPr>
          <p:cNvPicPr>
            <a:picLocks noChangeAspect="1"/>
          </p:cNvPicPr>
          <p:nvPr/>
        </p:nvPicPr>
        <p:blipFill>
          <a:blip r:embed="rId4"/>
          <a:stretch>
            <a:fillRect/>
          </a:stretch>
        </p:blipFill>
        <p:spPr>
          <a:xfrm>
            <a:off x="3113471" y="2744663"/>
            <a:ext cx="143378" cy="143378"/>
          </a:xfrm>
          <a:prstGeom prst="rect">
            <a:avLst/>
          </a:prstGeom>
        </p:spPr>
      </p:pic>
      <p:sp>
        <p:nvSpPr>
          <p:cNvPr id="16" name="Text 9"/>
          <p:cNvSpPr txBox="1"/>
          <p:nvPr/>
        </p:nvSpPr>
        <p:spPr>
          <a:xfrm>
            <a:off x="3352800" y="1920240"/>
            <a:ext cx="2560320" cy="237744"/>
          </a:xfrm>
          <a:prstGeom prst="rect">
            <a:avLst/>
          </a:prstGeom>
          <a:noFill/>
          <a:ln/>
        </p:spPr>
        <p:txBody>
          <a:bodyPr wrap="square" lIns="0" tIns="0" rIns="0" bIns="0" rtlCol="0" anchor="ctr"/>
          <a:lstStyle/>
          <a:p>
            <a:pPr indent="0" marL="0">
              <a:buNone/>
            </a:pPr>
            <a:r>
              <a:rPr lang="en-US" sz="1400" b="1" spc="200" kern="0" dirty="0">
                <a:solidFill>
                  <a:srgbClr val="0B2545"/>
                </a:solidFill>
              </a:rPr>
              <a:t>APPROVES</a:t>
            </a:r>
            <a:endParaRPr lang="en-US" sz="1400" dirty="0"/>
          </a:p>
        </p:txBody>
      </p:sp>
      <p:sp>
        <p:nvSpPr>
          <p:cNvPr id="17" name="Shape 10"/>
          <p:cNvSpPr/>
          <p:nvPr/>
        </p:nvSpPr>
        <p:spPr>
          <a:xfrm>
            <a:off x="33528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18" name="Shape 11"/>
          <p:cNvSpPr/>
          <p:nvPr/>
        </p:nvSpPr>
        <p:spPr>
          <a:xfrm>
            <a:off x="3535680" y="2395728"/>
            <a:ext cx="457200" cy="457200"/>
          </a:xfrm>
          <a:prstGeom prst="ellipse">
            <a:avLst/>
          </a:prstGeom>
          <a:solidFill>
            <a:srgbClr val="F1F4F8"/>
          </a:solidFill>
          <a:ln/>
        </p:spPr>
      </p:sp>
      <p:pic>
        <p:nvPicPr>
          <p:cNvPr id="19" name="Image 2" descr="">    </p:cNvPr>
          <p:cNvPicPr>
            <a:picLocks noChangeAspect="1"/>
          </p:cNvPicPr>
          <p:nvPr/>
        </p:nvPicPr>
        <p:blipFill>
          <a:blip r:embed="rId5"/>
          <a:stretch>
            <a:fillRect/>
          </a:stretch>
        </p:blipFill>
        <p:spPr>
          <a:xfrm>
            <a:off x="3636264" y="2496312"/>
            <a:ext cx="256032" cy="256032"/>
          </a:xfrm>
          <a:prstGeom prst="rect">
            <a:avLst/>
          </a:prstGeom>
        </p:spPr>
      </p:pic>
      <p:sp>
        <p:nvSpPr>
          <p:cNvPr id="20" name="Text 12"/>
          <p:cNvSpPr txBox="1"/>
          <p:nvPr/>
        </p:nvSpPr>
        <p:spPr>
          <a:xfrm>
            <a:off x="41026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Border agency</a:t>
            </a:r>
            <a:endParaRPr lang="en-US" sz="1600" dirty="0"/>
          </a:p>
        </p:txBody>
      </p:sp>
      <p:sp>
        <p:nvSpPr>
          <p:cNvPr id="21" name="Text 13"/>
          <p:cNvSpPr txBox="1"/>
          <p:nvPr/>
        </p:nvSpPr>
        <p:spPr>
          <a:xfrm>
            <a:off x="35356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officers on exceptions only</a:t>
            </a:r>
            <a:endParaRPr lang="en-US" sz="1400" dirty="0"/>
          </a:p>
        </p:txBody>
      </p:sp>
      <p:sp>
        <p:nvSpPr>
          <p:cNvPr id="22" name="Shape 14"/>
          <p:cNvSpPr/>
          <p:nvPr/>
        </p:nvSpPr>
        <p:spPr>
          <a:xfrm>
            <a:off x="5952744" y="2688336"/>
            <a:ext cx="256032" cy="256032"/>
          </a:xfrm>
          <a:prstGeom prst="ellipse">
            <a:avLst/>
          </a:prstGeom>
          <a:solidFill>
            <a:srgbClr val="0B2545"/>
          </a:solidFill>
          <a:ln/>
        </p:spPr>
      </p:sp>
      <p:pic>
        <p:nvPicPr>
          <p:cNvPr id="23" name="Image 3" descr="">    </p:cNvPr>
          <p:cNvPicPr>
            <a:picLocks noChangeAspect="1"/>
          </p:cNvPicPr>
          <p:nvPr/>
        </p:nvPicPr>
        <p:blipFill>
          <a:blip r:embed="rId4"/>
          <a:stretch>
            <a:fillRect/>
          </a:stretch>
        </p:blipFill>
        <p:spPr>
          <a:xfrm>
            <a:off x="6009071" y="2744663"/>
            <a:ext cx="143378" cy="143378"/>
          </a:xfrm>
          <a:prstGeom prst="rect">
            <a:avLst/>
          </a:prstGeom>
        </p:spPr>
      </p:pic>
      <p:sp>
        <p:nvSpPr>
          <p:cNvPr id="24" name="Shape 15"/>
          <p:cNvSpPr/>
          <p:nvPr/>
        </p:nvSpPr>
        <p:spPr>
          <a:xfrm>
            <a:off x="62484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25" name="Shape 16"/>
          <p:cNvSpPr/>
          <p:nvPr/>
        </p:nvSpPr>
        <p:spPr>
          <a:xfrm>
            <a:off x="6431280" y="2395728"/>
            <a:ext cx="457200" cy="457200"/>
          </a:xfrm>
          <a:prstGeom prst="ellipse">
            <a:avLst/>
          </a:prstGeom>
          <a:solidFill>
            <a:srgbClr val="F1F4F8"/>
          </a:solidFill>
          <a:ln/>
        </p:spPr>
      </p:sp>
      <p:pic>
        <p:nvPicPr>
          <p:cNvPr id="26" name="Image 4" descr="">    </p:cNvPr>
          <p:cNvPicPr>
            <a:picLocks noChangeAspect="1"/>
          </p:cNvPicPr>
          <p:nvPr/>
        </p:nvPicPr>
        <p:blipFill>
          <a:blip r:embed="rId6"/>
          <a:stretch>
            <a:fillRect/>
          </a:stretch>
        </p:blipFill>
        <p:spPr>
          <a:xfrm>
            <a:off x="6531864" y="2496312"/>
            <a:ext cx="256032" cy="256032"/>
          </a:xfrm>
          <a:prstGeom prst="rect">
            <a:avLst/>
          </a:prstGeom>
        </p:spPr>
      </p:pic>
      <p:sp>
        <p:nvSpPr>
          <p:cNvPr id="27" name="Text 17"/>
          <p:cNvSpPr txBox="1"/>
          <p:nvPr/>
        </p:nvSpPr>
        <p:spPr>
          <a:xfrm>
            <a:off x="69982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Airline</a:t>
            </a:r>
            <a:endParaRPr lang="en-US" sz="1600" dirty="0"/>
          </a:p>
        </p:txBody>
      </p:sp>
      <p:sp>
        <p:nvSpPr>
          <p:cNvPr id="28" name="Text 18"/>
          <p:cNvSpPr txBox="1"/>
          <p:nvPr/>
        </p:nvSpPr>
        <p:spPr>
          <a:xfrm>
            <a:off x="64312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enrolment in its app</a:t>
            </a:r>
            <a:endParaRPr lang="en-US" sz="1400" dirty="0"/>
          </a:p>
        </p:txBody>
      </p:sp>
      <p:sp>
        <p:nvSpPr>
          <p:cNvPr id="29" name="Shape 19"/>
          <p:cNvSpPr/>
          <p:nvPr/>
        </p:nvSpPr>
        <p:spPr>
          <a:xfrm>
            <a:off x="8848344" y="2688336"/>
            <a:ext cx="256032" cy="256032"/>
          </a:xfrm>
          <a:prstGeom prst="ellipse">
            <a:avLst/>
          </a:prstGeom>
          <a:solidFill>
            <a:srgbClr val="0B2545"/>
          </a:solidFill>
          <a:ln/>
        </p:spPr>
      </p:sp>
      <p:pic>
        <p:nvPicPr>
          <p:cNvPr id="30" name="Image 5" descr="">    </p:cNvPr>
          <p:cNvPicPr>
            <a:picLocks noChangeAspect="1"/>
          </p:cNvPicPr>
          <p:nvPr/>
        </p:nvPicPr>
        <p:blipFill>
          <a:blip r:embed="rId4"/>
          <a:stretch>
            <a:fillRect/>
          </a:stretch>
        </p:blipFill>
        <p:spPr>
          <a:xfrm>
            <a:off x="8904671" y="2744663"/>
            <a:ext cx="143378" cy="143378"/>
          </a:xfrm>
          <a:prstGeom prst="rect">
            <a:avLst/>
          </a:prstGeom>
        </p:spPr>
      </p:pic>
      <p:sp>
        <p:nvSpPr>
          <p:cNvPr id="31" name="Shape 20"/>
          <p:cNvSpPr/>
          <p:nvPr/>
        </p:nvSpPr>
        <p:spPr>
          <a:xfrm>
            <a:off x="91440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32" name="Shape 21"/>
          <p:cNvSpPr/>
          <p:nvPr/>
        </p:nvSpPr>
        <p:spPr>
          <a:xfrm>
            <a:off x="9326880" y="2395728"/>
            <a:ext cx="457200" cy="457200"/>
          </a:xfrm>
          <a:prstGeom prst="ellipse">
            <a:avLst/>
          </a:prstGeom>
          <a:solidFill>
            <a:srgbClr val="F1F4F8"/>
          </a:solidFill>
          <a:ln/>
        </p:spPr>
      </p:sp>
      <p:pic>
        <p:nvPicPr>
          <p:cNvPr id="33" name="Image 6" descr="">    </p:cNvPr>
          <p:cNvPicPr>
            <a:picLocks noChangeAspect="1"/>
          </p:cNvPicPr>
          <p:nvPr/>
        </p:nvPicPr>
        <p:blipFill>
          <a:blip r:embed="rId7"/>
          <a:stretch>
            <a:fillRect/>
          </a:stretch>
        </p:blipFill>
        <p:spPr>
          <a:xfrm>
            <a:off x="9427464" y="2496312"/>
            <a:ext cx="256032" cy="256032"/>
          </a:xfrm>
          <a:prstGeom prst="rect">
            <a:avLst/>
          </a:prstGeom>
        </p:spPr>
      </p:pic>
      <p:sp>
        <p:nvSpPr>
          <p:cNvPr id="34" name="Text 22"/>
          <p:cNvSpPr txBox="1"/>
          <p:nvPr/>
        </p:nvSpPr>
        <p:spPr>
          <a:xfrm>
            <a:off x="98938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Traveller</a:t>
            </a:r>
            <a:endParaRPr lang="en-US" sz="1600" dirty="0"/>
          </a:p>
        </p:txBody>
      </p:sp>
      <p:sp>
        <p:nvSpPr>
          <p:cNvPr id="35" name="Text 23"/>
          <p:cNvSpPr txBox="1"/>
          <p:nvPr/>
        </p:nvSpPr>
        <p:spPr>
          <a:xfrm>
            <a:off x="93268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enrols once, no documents</a:t>
            </a:r>
            <a:endParaRPr lang="en-US" sz="1400" dirty="0"/>
          </a:p>
        </p:txBody>
      </p:sp>
      <p:sp>
        <p:nvSpPr>
          <p:cNvPr id="36" name="Shape 24"/>
          <p:cNvSpPr/>
          <p:nvPr/>
        </p:nvSpPr>
        <p:spPr>
          <a:xfrm>
            <a:off x="457200" y="3749040"/>
            <a:ext cx="11247120" cy="2286000"/>
          </a:xfrm>
          <a:prstGeom prst="roundRect">
            <a:avLst>
              <a:gd name="adj" fmla="val 4800"/>
            </a:avLst>
          </a:prstGeom>
          <a:solidFill>
            <a:srgbClr val="EEF1F5"/>
          </a:solidFill>
          <a:ln/>
        </p:spPr>
      </p:sp>
      <p:sp>
        <p:nvSpPr>
          <p:cNvPr id="37" name="Text 25"/>
          <p:cNvSpPr txBox="1"/>
          <p:nvPr/>
        </p:nvSpPr>
        <p:spPr>
          <a:xfrm>
            <a:off x="685800" y="3877056"/>
            <a:ext cx="5486400" cy="274320"/>
          </a:xfrm>
          <a:prstGeom prst="rect">
            <a:avLst/>
          </a:prstGeom>
          <a:noFill/>
          <a:ln/>
        </p:spPr>
        <p:txBody>
          <a:bodyPr wrap="square" lIns="0" tIns="0" rIns="0" bIns="0" rtlCol="0" anchor="ctr"/>
          <a:lstStyle/>
          <a:p>
            <a:pPr indent="0" marL="0">
              <a:buNone/>
            </a:pPr>
            <a:r>
              <a:rPr lang="en-US" sz="1400" b="1" dirty="0">
                <a:solidFill>
                  <a:srgbClr val="4A5870"/>
                </a:solidFill>
              </a:rPr>
              <a:t>E-gate benchmark, not FastPass</a:t>
            </a:r>
            <a:endParaRPr lang="en-US" sz="1400" dirty="0"/>
          </a:p>
        </p:txBody>
      </p:sp>
      <p:sp>
        <p:nvSpPr>
          <p:cNvPr id="38" name="Shape 26"/>
          <p:cNvSpPr/>
          <p:nvPr/>
        </p:nvSpPr>
        <p:spPr>
          <a:xfrm>
            <a:off x="685800" y="4261104"/>
            <a:ext cx="5486400" cy="402336"/>
          </a:xfrm>
          <a:prstGeom prst="rect">
            <a:avLst/>
          </a:prstGeom>
          <a:solidFill>
            <a:srgbClr val="A3ACBA"/>
          </a:solidFill>
          <a:ln/>
        </p:spPr>
      </p:sp>
      <p:sp>
        <p:nvSpPr>
          <p:cNvPr id="39" name="Text 27"/>
          <p:cNvSpPr txBox="1"/>
          <p:nvPr/>
        </p:nvSpPr>
        <p:spPr>
          <a:xfrm>
            <a:off x="822960" y="4261104"/>
            <a:ext cx="3657600" cy="402336"/>
          </a:xfrm>
          <a:prstGeom prst="rect">
            <a:avLst/>
          </a:prstGeom>
          <a:noFill/>
          <a:ln/>
        </p:spPr>
        <p:txBody>
          <a:bodyPr wrap="square" lIns="0" tIns="0" rIns="0" bIns="0" rtlCol="0" anchor="ctr"/>
          <a:lstStyle/>
          <a:p>
            <a:pPr indent="0" marL="0">
              <a:buNone/>
            </a:pPr>
            <a:r>
              <a:rPr lang="en-US" sz="1400" b="1" dirty="0">
                <a:solidFill>
                  <a:srgbClr val="0B1526"/>
                </a:solidFill>
              </a:rPr>
              <a:t>E-gate · up to 180/hr</a:t>
            </a:r>
            <a:endParaRPr lang="en-US" sz="1400" dirty="0"/>
          </a:p>
        </p:txBody>
      </p:sp>
      <p:sp>
        <p:nvSpPr>
          <p:cNvPr id="40" name="Shape 28"/>
          <p:cNvSpPr/>
          <p:nvPr/>
        </p:nvSpPr>
        <p:spPr>
          <a:xfrm>
            <a:off x="685800" y="4754880"/>
            <a:ext cx="2011680" cy="402336"/>
          </a:xfrm>
          <a:prstGeom prst="rect">
            <a:avLst/>
          </a:prstGeom>
          <a:solidFill>
            <a:srgbClr val="A3ACBA"/>
          </a:solidFill>
          <a:ln/>
        </p:spPr>
      </p:sp>
      <p:sp>
        <p:nvSpPr>
          <p:cNvPr id="41" name="Text 29"/>
          <p:cNvSpPr txBox="1"/>
          <p:nvPr/>
        </p:nvSpPr>
        <p:spPr>
          <a:xfrm>
            <a:off x="2834640" y="4754880"/>
            <a:ext cx="2926080" cy="402336"/>
          </a:xfrm>
          <a:prstGeom prst="rect">
            <a:avLst/>
          </a:prstGeom>
          <a:noFill/>
          <a:ln/>
        </p:spPr>
        <p:txBody>
          <a:bodyPr wrap="square" lIns="0" tIns="0" rIns="0" bIns="0" rtlCol="0" anchor="ctr"/>
          <a:lstStyle/>
          <a:p>
            <a:pPr indent="0" marL="0">
              <a:buNone/>
            </a:pPr>
            <a:r>
              <a:rPr lang="en-US" sz="1400" b="1" dirty="0">
                <a:solidFill>
                  <a:srgbClr val="4A5870"/>
                </a:solidFill>
              </a:rPr>
              <a:t>Staffed booth · 60–70/hr</a:t>
            </a:r>
            <a:endParaRPr lang="en-US" sz="1400" dirty="0"/>
          </a:p>
        </p:txBody>
      </p:sp>
      <p:sp>
        <p:nvSpPr>
          <p:cNvPr id="42" name="Shape 30"/>
          <p:cNvSpPr/>
          <p:nvPr/>
        </p:nvSpPr>
        <p:spPr>
          <a:xfrm>
            <a:off x="6720840" y="4023360"/>
            <a:ext cx="914" cy="1737360"/>
          </a:xfrm>
          <a:prstGeom prst="line">
            <a:avLst/>
          </a:prstGeom>
          <a:noFill/>
          <a:ln w="12700">
            <a:solidFill>
              <a:srgbClr val="C9D1DC"/>
            </a:solidFill>
            <a:prstDash val="solid"/>
          </a:ln>
        </p:spPr>
      </p:sp>
      <p:sp>
        <p:nvSpPr>
          <p:cNvPr id="43" name="Text 31"/>
          <p:cNvSpPr txBox="1"/>
          <p:nvPr/>
        </p:nvSpPr>
        <p:spPr>
          <a:xfrm>
            <a:off x="7132320" y="3950208"/>
            <a:ext cx="4206240" cy="1005840"/>
          </a:xfrm>
          <a:prstGeom prst="rect">
            <a:avLst/>
          </a:prstGeom>
          <a:noFill/>
          <a:ln/>
        </p:spPr>
        <p:txBody>
          <a:bodyPr wrap="square" lIns="0" tIns="0" rIns="0" bIns="0" rtlCol="0" anchor="ctr"/>
          <a:lstStyle/>
          <a:p>
            <a:pPr indent="0" marL="0">
              <a:buNone/>
            </a:pPr>
            <a:r>
              <a:rPr lang="en-US" sz="2800" b="1" dirty="0">
                <a:solidFill>
                  <a:srgbClr val="0B2545"/>
                </a:solidFill>
              </a:rPr>
              <a:t>1 officer :</a:t>
            </a:r>
            <a:endParaRPr lang="en-US" sz="2800" dirty="0"/>
          </a:p>
          <a:p>
            <a:pPr indent="0" marL="0">
              <a:buNone/>
            </a:pPr>
            <a:r>
              <a:rPr lang="en-US" sz="2800" b="1" dirty="0">
                <a:solidFill>
                  <a:srgbClr val="0B2545"/>
                </a:solidFill>
              </a:rPr>
              <a:t>4–10 e-gates</a:t>
            </a:r>
            <a:endParaRPr lang="en-US" sz="2800" dirty="0"/>
          </a:p>
        </p:txBody>
      </p:sp>
      <p:sp>
        <p:nvSpPr>
          <p:cNvPr id="44" name="Shape 32"/>
          <p:cNvSpPr/>
          <p:nvPr/>
        </p:nvSpPr>
        <p:spPr>
          <a:xfrm>
            <a:off x="7132320" y="5166360"/>
            <a:ext cx="4206240" cy="566928"/>
          </a:xfrm>
          <a:prstGeom prst="roundRect">
            <a:avLst>
              <a:gd name="adj" fmla="val 12903"/>
            </a:avLst>
          </a:prstGeom>
          <a:solidFill>
            <a:srgbClr val="FFFFFF"/>
          </a:solidFill>
          <a:ln w="19050">
            <a:solidFill>
              <a:srgbClr val="0B84AE"/>
            </a:solidFill>
            <a:prstDash val="dash"/>
          </a:ln>
        </p:spPr>
      </p:sp>
      <p:sp>
        <p:nvSpPr>
          <p:cNvPr id="45" name="Text 33"/>
          <p:cNvSpPr txBox="1"/>
          <p:nvPr/>
        </p:nvSpPr>
        <p:spPr>
          <a:xfrm>
            <a:off x="7296912" y="5166360"/>
            <a:ext cx="3931920" cy="566928"/>
          </a:xfrm>
          <a:prstGeom prst="rect">
            <a:avLst/>
          </a:prstGeom>
          <a:noFill/>
          <a:ln/>
        </p:spPr>
        <p:txBody>
          <a:bodyPr wrap="square" lIns="0" tIns="0" rIns="0" bIns="0" rtlCol="0" anchor="ctr"/>
          <a:lstStyle/>
          <a:p>
            <a:pPr indent="0" marL="0">
              <a:buNone/>
            </a:pPr>
            <a:r>
              <a:rPr lang="en-US" sz="1400" b="1" dirty="0">
                <a:solidFill>
                  <a:srgbClr val="0B84AE"/>
                </a:solidFill>
              </a:rPr>
              <a:t>FastPass: [X]/hr target, vs this baseline</a:t>
            </a:r>
            <a:endParaRPr lang="en-US" sz="1400" dirty="0"/>
          </a:p>
        </p:txBody>
      </p:sp>
      <p:sp>
        <p:nvSpPr>
          <p:cNvPr id="4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Riga Airport / State Border Guard of Latvia (AviationPros) · UK Border Force Aviation Forum minutes (Feb 2018) · Payback per payer: A11 · Target filter: A3</a:t>
            </a:r>
            <a:endParaRPr lang="en-US" sz="900" dirty="0"/>
          </a:p>
        </p:txBody>
      </p:sp>
      <p:sp>
        <p:nvSpPr>
          <p:cNvPr id="4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10  |</a:t>
            </a:r>
            <a:endParaRPr lang="en-US" sz="1200" dirty="0"/>
          </a:p>
        </p:txBody>
      </p:sp>
      <p:grpSp>
        <p:nvGrpSpPr>
          <p:cNvPr id="4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Team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The team that built and demoed the prototype.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Three ST Engineering business areas; venture-built via STEV / In.Vent [structure TBC].</a:t>
            </a:r>
            <a:endParaRPr lang="en-US" sz="1800" dirty="0"/>
          </a:p>
        </p:txBody>
      </p:sp>
      <p:sp>
        <p:nvSpPr>
          <p:cNvPr id="8" name="Shape 3"/>
          <p:cNvSpPr/>
          <p:nvPr/>
        </p:nvSpPr>
        <p:spPr>
          <a:xfrm>
            <a:off x="457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594360" y="2057400"/>
            <a:ext cx="731520" cy="731520"/>
          </a:xfrm>
          <a:prstGeom prst="ellipse">
            <a:avLst/>
          </a:prstGeom>
          <a:solidFill>
            <a:srgbClr val="DDE3EA"/>
          </a:solidFill>
          <a:ln/>
        </p:spPr>
      </p:sp>
      <p:pic>
        <p:nvPicPr>
          <p:cNvPr id="10" name="Image 0" descr="">    </p:cNvPr>
          <p:cNvPicPr>
            <a:picLocks noChangeAspect="1"/>
          </p:cNvPicPr>
          <p:nvPr/>
        </p:nvPicPr>
        <p:blipFill>
          <a:blip r:embed="rId3"/>
          <a:stretch>
            <a:fillRect/>
          </a:stretch>
        </p:blipFill>
        <p:spPr>
          <a:xfrm>
            <a:off x="758952" y="2221992"/>
            <a:ext cx="402336" cy="402336"/>
          </a:xfrm>
          <a:prstGeom prst="rect">
            <a:avLst/>
          </a:prstGeom>
        </p:spPr>
      </p:pic>
      <p:sp>
        <p:nvSpPr>
          <p:cNvPr id="11" name="Text 5"/>
          <p:cNvSpPr txBox="1"/>
          <p:nvPr/>
        </p:nvSpPr>
        <p:spPr>
          <a:xfrm>
            <a:off x="1435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12" name="Shape 6"/>
          <p:cNvSpPr/>
          <p:nvPr/>
        </p:nvSpPr>
        <p:spPr>
          <a:xfrm>
            <a:off x="1453896" y="2505456"/>
            <a:ext cx="146304" cy="146304"/>
          </a:xfrm>
          <a:prstGeom prst="ellipse">
            <a:avLst/>
          </a:prstGeom>
          <a:ln w="15875">
            <a:solidFill>
              <a:srgbClr val="8A94A6"/>
            </a:solidFill>
            <a:prstDash val="dash"/>
          </a:ln>
        </p:spPr>
      </p:sp>
      <p:sp>
        <p:nvSpPr>
          <p:cNvPr id="13" name="Text 7"/>
          <p:cNvSpPr txBox="1"/>
          <p:nvPr/>
        </p:nvSpPr>
        <p:spPr>
          <a:xfrm>
            <a:off x="1664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14" name="Text 8"/>
          <p:cNvSpPr txBox="1"/>
          <p:nvPr/>
        </p:nvSpPr>
        <p:spPr>
          <a:xfrm>
            <a:off x="594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[Venture lead / GM]</a:t>
            </a:r>
            <a:endParaRPr lang="en-US" sz="1400" dirty="0"/>
          </a:p>
        </p:txBody>
      </p:sp>
      <p:sp>
        <p:nvSpPr>
          <p:cNvPr id="15" name="Text 9"/>
          <p:cNvSpPr txBox="1"/>
          <p:nvPr/>
        </p:nvSpPr>
        <p:spPr>
          <a:xfrm>
            <a:off x="594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 ≤5 words]</a:t>
            </a:r>
            <a:endParaRPr lang="en-US" sz="1400" dirty="0"/>
          </a:p>
        </p:txBody>
      </p:sp>
      <p:sp>
        <p:nvSpPr>
          <p:cNvPr id="16" name="Shape 10"/>
          <p:cNvSpPr/>
          <p:nvPr/>
        </p:nvSpPr>
        <p:spPr>
          <a:xfrm>
            <a:off x="2743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17" name="Shape 11"/>
          <p:cNvSpPr/>
          <p:nvPr/>
        </p:nvSpPr>
        <p:spPr>
          <a:xfrm>
            <a:off x="2880360" y="2057400"/>
            <a:ext cx="731520" cy="731520"/>
          </a:xfrm>
          <a:prstGeom prst="ellipse">
            <a:avLst/>
          </a:prstGeom>
          <a:solidFill>
            <a:srgbClr val="DDE3EA"/>
          </a:solidFill>
          <a:ln/>
        </p:spPr>
      </p:sp>
      <p:pic>
        <p:nvPicPr>
          <p:cNvPr id="18" name="Image 1" descr="">    </p:cNvPr>
          <p:cNvPicPr>
            <a:picLocks noChangeAspect="1"/>
          </p:cNvPicPr>
          <p:nvPr/>
        </p:nvPicPr>
        <p:blipFill>
          <a:blip r:embed="rId3"/>
          <a:stretch>
            <a:fillRect/>
          </a:stretch>
        </p:blipFill>
        <p:spPr>
          <a:xfrm>
            <a:off x="3044952" y="2221992"/>
            <a:ext cx="402336" cy="402336"/>
          </a:xfrm>
          <a:prstGeom prst="rect">
            <a:avLst/>
          </a:prstGeom>
        </p:spPr>
      </p:pic>
      <p:sp>
        <p:nvSpPr>
          <p:cNvPr id="19" name="Text 12"/>
          <p:cNvSpPr txBox="1"/>
          <p:nvPr/>
        </p:nvSpPr>
        <p:spPr>
          <a:xfrm>
            <a:off x="3721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20" name="Shape 13"/>
          <p:cNvSpPr/>
          <p:nvPr/>
        </p:nvSpPr>
        <p:spPr>
          <a:xfrm>
            <a:off x="3739896" y="2505456"/>
            <a:ext cx="146304" cy="146304"/>
          </a:xfrm>
          <a:prstGeom prst="ellipse">
            <a:avLst/>
          </a:prstGeom>
          <a:ln w="15875">
            <a:solidFill>
              <a:srgbClr val="8A94A6"/>
            </a:solidFill>
            <a:prstDash val="dash"/>
          </a:ln>
        </p:spPr>
      </p:sp>
      <p:sp>
        <p:nvSpPr>
          <p:cNvPr id="21" name="Text 14"/>
          <p:cNvSpPr txBox="1"/>
          <p:nvPr/>
        </p:nvSpPr>
        <p:spPr>
          <a:xfrm>
            <a:off x="3950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22" name="Text 15"/>
          <p:cNvSpPr txBox="1"/>
          <p:nvPr/>
        </p:nvSpPr>
        <p:spPr>
          <a:xfrm>
            <a:off x="2880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Product (CPO)</a:t>
            </a:r>
            <a:endParaRPr lang="en-US" sz="1400" dirty="0"/>
          </a:p>
        </p:txBody>
      </p:sp>
      <p:sp>
        <p:nvSpPr>
          <p:cNvPr id="23" name="Text 16"/>
          <p:cNvSpPr txBox="1"/>
          <p:nvPr/>
        </p:nvSpPr>
        <p:spPr>
          <a:xfrm>
            <a:off x="2880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24" name="Shape 17"/>
          <p:cNvSpPr/>
          <p:nvPr/>
        </p:nvSpPr>
        <p:spPr>
          <a:xfrm>
            <a:off x="5029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25" name="Shape 18"/>
          <p:cNvSpPr/>
          <p:nvPr/>
        </p:nvSpPr>
        <p:spPr>
          <a:xfrm>
            <a:off x="5166360" y="2057400"/>
            <a:ext cx="731520" cy="731520"/>
          </a:xfrm>
          <a:prstGeom prst="ellipse">
            <a:avLst/>
          </a:prstGeom>
          <a:solidFill>
            <a:srgbClr val="DDE3EA"/>
          </a:solidFill>
          <a:ln/>
        </p:spPr>
      </p:sp>
      <p:pic>
        <p:nvPicPr>
          <p:cNvPr id="26" name="Image 2" descr="">    </p:cNvPr>
          <p:cNvPicPr>
            <a:picLocks noChangeAspect="1"/>
          </p:cNvPicPr>
          <p:nvPr/>
        </p:nvPicPr>
        <p:blipFill>
          <a:blip r:embed="rId3"/>
          <a:stretch>
            <a:fillRect/>
          </a:stretch>
        </p:blipFill>
        <p:spPr>
          <a:xfrm>
            <a:off x="5330952" y="2221992"/>
            <a:ext cx="402336" cy="402336"/>
          </a:xfrm>
          <a:prstGeom prst="rect">
            <a:avLst/>
          </a:prstGeom>
        </p:spPr>
      </p:pic>
      <p:sp>
        <p:nvSpPr>
          <p:cNvPr id="27" name="Text 19"/>
          <p:cNvSpPr txBox="1"/>
          <p:nvPr/>
        </p:nvSpPr>
        <p:spPr>
          <a:xfrm>
            <a:off x="6007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28" name="Shape 20"/>
          <p:cNvSpPr/>
          <p:nvPr/>
        </p:nvSpPr>
        <p:spPr>
          <a:xfrm>
            <a:off x="6025896" y="2505456"/>
            <a:ext cx="146304" cy="146304"/>
          </a:xfrm>
          <a:prstGeom prst="ellipse">
            <a:avLst/>
          </a:prstGeom>
          <a:ln w="15875">
            <a:solidFill>
              <a:srgbClr val="8A94A6"/>
            </a:solidFill>
            <a:prstDash val="dash"/>
          </a:ln>
        </p:spPr>
      </p:sp>
      <p:sp>
        <p:nvSpPr>
          <p:cNvPr id="29" name="Text 21"/>
          <p:cNvSpPr txBox="1"/>
          <p:nvPr/>
        </p:nvSpPr>
        <p:spPr>
          <a:xfrm>
            <a:off x="6236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30" name="Text 22"/>
          <p:cNvSpPr txBox="1"/>
          <p:nvPr/>
        </p:nvSpPr>
        <p:spPr>
          <a:xfrm>
            <a:off x="5166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Marketing (CMO)</a:t>
            </a:r>
            <a:endParaRPr lang="en-US" sz="1400" dirty="0"/>
          </a:p>
        </p:txBody>
      </p:sp>
      <p:sp>
        <p:nvSpPr>
          <p:cNvPr id="31" name="Text 23"/>
          <p:cNvSpPr txBox="1"/>
          <p:nvPr/>
        </p:nvSpPr>
        <p:spPr>
          <a:xfrm>
            <a:off x="5166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32" name="Shape 24"/>
          <p:cNvSpPr/>
          <p:nvPr/>
        </p:nvSpPr>
        <p:spPr>
          <a:xfrm>
            <a:off x="457200" y="3913632"/>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33" name="Shape 25"/>
          <p:cNvSpPr/>
          <p:nvPr/>
        </p:nvSpPr>
        <p:spPr>
          <a:xfrm>
            <a:off x="594360" y="4050792"/>
            <a:ext cx="731520" cy="731520"/>
          </a:xfrm>
          <a:prstGeom prst="ellipse">
            <a:avLst/>
          </a:prstGeom>
          <a:solidFill>
            <a:srgbClr val="DDE3EA"/>
          </a:solidFill>
          <a:ln/>
        </p:spPr>
      </p:sp>
      <p:pic>
        <p:nvPicPr>
          <p:cNvPr id="34" name="Image 3" descr="">    </p:cNvPr>
          <p:cNvPicPr>
            <a:picLocks noChangeAspect="1"/>
          </p:cNvPicPr>
          <p:nvPr/>
        </p:nvPicPr>
        <p:blipFill>
          <a:blip r:embed="rId3"/>
          <a:stretch>
            <a:fillRect/>
          </a:stretch>
        </p:blipFill>
        <p:spPr>
          <a:xfrm>
            <a:off x="758952" y="4215384"/>
            <a:ext cx="402336" cy="402336"/>
          </a:xfrm>
          <a:prstGeom prst="rect">
            <a:avLst/>
          </a:prstGeom>
        </p:spPr>
      </p:pic>
      <p:sp>
        <p:nvSpPr>
          <p:cNvPr id="35" name="Text 26"/>
          <p:cNvSpPr txBox="1"/>
          <p:nvPr/>
        </p:nvSpPr>
        <p:spPr>
          <a:xfrm>
            <a:off x="1435608" y="4096512"/>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36" name="Shape 27"/>
          <p:cNvSpPr/>
          <p:nvPr/>
        </p:nvSpPr>
        <p:spPr>
          <a:xfrm>
            <a:off x="1453896" y="4498848"/>
            <a:ext cx="146304" cy="146304"/>
          </a:xfrm>
          <a:prstGeom prst="ellipse">
            <a:avLst/>
          </a:prstGeom>
          <a:ln w="15875">
            <a:solidFill>
              <a:srgbClr val="8A94A6"/>
            </a:solidFill>
            <a:prstDash val="dash"/>
          </a:ln>
        </p:spPr>
      </p:sp>
      <p:sp>
        <p:nvSpPr>
          <p:cNvPr id="37" name="Text 28"/>
          <p:cNvSpPr txBox="1"/>
          <p:nvPr/>
        </p:nvSpPr>
        <p:spPr>
          <a:xfrm>
            <a:off x="1664208" y="4425696"/>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38" name="Text 29"/>
          <p:cNvSpPr txBox="1"/>
          <p:nvPr/>
        </p:nvSpPr>
        <p:spPr>
          <a:xfrm>
            <a:off x="594360" y="4864608"/>
            <a:ext cx="1965960" cy="475488"/>
          </a:xfrm>
          <a:prstGeom prst="rect">
            <a:avLst/>
          </a:prstGeom>
          <a:noFill/>
          <a:ln/>
        </p:spPr>
        <p:txBody>
          <a:bodyPr wrap="square" lIns="0" tIns="0" rIns="0" bIns="0" rtlCol="0" anchor="t"/>
          <a:lstStyle/>
          <a:p>
            <a:pPr indent="0" marL="0">
              <a:buNone/>
            </a:pPr>
            <a:r>
              <a:rPr lang="en-US" sz="1400" dirty="0">
                <a:solidFill>
                  <a:srgbClr val="0B84AE"/>
                </a:solidFill>
              </a:rPr>
              <a:t>[Technology: biometrics, BLE, platform]</a:t>
            </a:r>
            <a:endParaRPr lang="en-US" sz="1400" dirty="0"/>
          </a:p>
        </p:txBody>
      </p:sp>
      <p:sp>
        <p:nvSpPr>
          <p:cNvPr id="39" name="Text 30"/>
          <p:cNvSpPr txBox="1"/>
          <p:nvPr/>
        </p:nvSpPr>
        <p:spPr>
          <a:xfrm>
            <a:off x="594360" y="5358384"/>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40" name="Shape 31"/>
          <p:cNvSpPr/>
          <p:nvPr/>
        </p:nvSpPr>
        <p:spPr>
          <a:xfrm>
            <a:off x="2743200" y="3913632"/>
            <a:ext cx="2194560" cy="1901952"/>
          </a:xfrm>
          <a:prstGeom prst="roundRect">
            <a:avLst>
              <a:gd name="adj" fmla="val 5769"/>
            </a:avLst>
          </a:prstGeom>
          <a:solidFill>
            <a:srgbClr val="FFFFFF"/>
          </a:solidFill>
          <a:ln w="19050">
            <a:solidFill>
              <a:srgbClr val="D97706"/>
            </a:solidFill>
            <a:prstDash val="solid"/>
          </a:ln>
          <a:effectLst>
            <a:outerShdw sx="100000" sy="100000" kx="0" ky="0" algn="bl" rotWithShape="0" blurRad="152400" dist="25400" dir="5400000">
              <a:srgbClr val="0A1628">
                <a:alpha val="12000"/>
              </a:srgbClr>
            </a:outerShdw>
          </a:effectLst>
        </p:spPr>
      </p:sp>
      <p:sp>
        <p:nvSpPr>
          <p:cNvPr id="41" name="Shape 32"/>
          <p:cNvSpPr/>
          <p:nvPr/>
        </p:nvSpPr>
        <p:spPr>
          <a:xfrm>
            <a:off x="2880360" y="4050792"/>
            <a:ext cx="731520" cy="731520"/>
          </a:xfrm>
          <a:prstGeom prst="ellipse">
            <a:avLst/>
          </a:prstGeom>
          <a:solidFill>
            <a:srgbClr val="FFF4E5"/>
          </a:solidFill>
          <a:ln/>
        </p:spPr>
      </p:sp>
      <p:pic>
        <p:nvPicPr>
          <p:cNvPr id="42" name="Image 4" descr="">    </p:cNvPr>
          <p:cNvPicPr>
            <a:picLocks noChangeAspect="1"/>
          </p:cNvPicPr>
          <p:nvPr/>
        </p:nvPicPr>
        <p:blipFill>
          <a:blip r:embed="rId4"/>
          <a:stretch>
            <a:fillRect/>
          </a:stretch>
        </p:blipFill>
        <p:spPr>
          <a:xfrm>
            <a:off x="3041294" y="4211726"/>
            <a:ext cx="409651" cy="409651"/>
          </a:xfrm>
          <a:prstGeom prst="rect">
            <a:avLst/>
          </a:prstGeom>
        </p:spPr>
      </p:pic>
      <p:sp>
        <p:nvSpPr>
          <p:cNvPr id="43" name="Text 33"/>
          <p:cNvSpPr txBox="1"/>
          <p:nvPr/>
        </p:nvSpPr>
        <p:spPr>
          <a:xfrm>
            <a:off x="3721608" y="4242816"/>
            <a:ext cx="1143000" cy="310896"/>
          </a:xfrm>
          <a:prstGeom prst="rect">
            <a:avLst/>
          </a:prstGeom>
          <a:noFill/>
          <a:ln/>
        </p:spPr>
        <p:txBody>
          <a:bodyPr wrap="square" lIns="0" tIns="0" rIns="0" bIns="0" rtlCol="0" anchor="ctr"/>
          <a:lstStyle/>
          <a:p>
            <a:pPr indent="0" marL="0">
              <a:buNone/>
            </a:pPr>
            <a:r>
              <a:rPr lang="en-US" sz="1600" b="1" dirty="0">
                <a:solidFill>
                  <a:srgbClr val="D97706"/>
                </a:solidFill>
              </a:rPr>
              <a:t>Open role</a:t>
            </a:r>
            <a:endParaRPr lang="en-US" sz="1600" dirty="0"/>
          </a:p>
        </p:txBody>
      </p:sp>
      <p:sp>
        <p:nvSpPr>
          <p:cNvPr id="44" name="Text 34"/>
          <p:cNvSpPr txBox="1"/>
          <p:nvPr/>
        </p:nvSpPr>
        <p:spPr>
          <a:xfrm>
            <a:off x="2880360" y="4828032"/>
            <a:ext cx="1965960" cy="914400"/>
          </a:xfrm>
          <a:prstGeom prst="rect">
            <a:avLst/>
          </a:prstGeom>
          <a:noFill/>
          <a:ln/>
        </p:spPr>
        <p:txBody>
          <a:bodyPr wrap="square" lIns="0" tIns="0" rIns="0" bIns="0" rtlCol="0" anchor="t"/>
          <a:lstStyle/>
          <a:p>
            <a:pPr indent="0" marL="0">
              <a:buNone/>
            </a:pPr>
            <a:r>
              <a:rPr lang="en-US" sz="1400" dirty="0">
                <a:solidFill>
                  <a:srgbClr val="0B1526"/>
                </a:solidFill>
              </a:rPr>
              <a:t>Hiring now:</a:t>
            </a:r>
            <a:endParaRPr lang="en-US" sz="1400" dirty="0"/>
          </a:p>
          <a:p>
            <a:pPr indent="0" marL="0">
              <a:buNone/>
            </a:pPr>
            <a:r>
              <a:rPr lang="en-US" sz="1400" dirty="0">
                <a:solidFill>
                  <a:srgbClr val="0B1526"/>
                </a:solidFill>
              </a:rPr>
              <a:t>commercial lead</a:t>
            </a:r>
            <a:endParaRPr lang="en-US" sz="1400" dirty="0"/>
          </a:p>
          <a:p>
            <a:pPr indent="0" marL="0">
              <a:buNone/>
            </a:pPr>
            <a:r>
              <a:rPr lang="en-US" sz="1400" dirty="0">
                <a:solidFill>
                  <a:srgbClr val="0B1526"/>
                </a:solidFill>
              </a:rPr>
              <a:t>+ certification &amp; privacy lead (programme)</a:t>
            </a:r>
            <a:endParaRPr lang="en-US" sz="1400" dirty="0"/>
          </a:p>
        </p:txBody>
      </p:sp>
      <p:sp>
        <p:nvSpPr>
          <p:cNvPr id="45" name="Shape 35"/>
          <p:cNvSpPr/>
          <p:nvPr/>
        </p:nvSpPr>
        <p:spPr>
          <a:xfrm>
            <a:off x="5029200" y="3913632"/>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46" name="Shape 36"/>
          <p:cNvSpPr/>
          <p:nvPr/>
        </p:nvSpPr>
        <p:spPr>
          <a:xfrm>
            <a:off x="5166360" y="4050792"/>
            <a:ext cx="731520" cy="731520"/>
          </a:xfrm>
          <a:prstGeom prst="ellipse">
            <a:avLst/>
          </a:prstGeom>
          <a:solidFill>
            <a:srgbClr val="F1F4F8"/>
          </a:solidFill>
          <a:ln/>
        </p:spPr>
      </p:sp>
      <p:pic>
        <p:nvPicPr>
          <p:cNvPr id="47" name="Image 5" descr="">    </p:cNvPr>
          <p:cNvPicPr>
            <a:picLocks noChangeAspect="1"/>
          </p:cNvPicPr>
          <p:nvPr/>
        </p:nvPicPr>
        <p:blipFill>
          <a:blip r:embed="rId5"/>
          <a:stretch>
            <a:fillRect/>
          </a:stretch>
        </p:blipFill>
        <p:spPr>
          <a:xfrm>
            <a:off x="5327294" y="4211726"/>
            <a:ext cx="409651" cy="409651"/>
          </a:xfrm>
          <a:prstGeom prst="rect">
            <a:avLst/>
          </a:prstGeom>
        </p:spPr>
      </p:pic>
      <p:sp>
        <p:nvSpPr>
          <p:cNvPr id="48" name="Text 37"/>
          <p:cNvSpPr txBox="1"/>
          <p:nvPr/>
        </p:nvSpPr>
        <p:spPr>
          <a:xfrm>
            <a:off x="6007608" y="4242816"/>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Advisors</a:t>
            </a:r>
            <a:endParaRPr lang="en-US" sz="1600" dirty="0"/>
          </a:p>
        </p:txBody>
      </p:sp>
      <p:sp>
        <p:nvSpPr>
          <p:cNvPr id="49" name="Text 38"/>
          <p:cNvSpPr txBox="1"/>
          <p:nvPr/>
        </p:nvSpPr>
        <p:spPr>
          <a:xfrm>
            <a:off x="5166360" y="4864608"/>
            <a:ext cx="2011680" cy="822960"/>
          </a:xfrm>
          <a:prstGeom prst="rect">
            <a:avLst/>
          </a:prstGeom>
          <a:noFill/>
          <a:ln/>
        </p:spPr>
        <p:txBody>
          <a:bodyPr wrap="square" lIns="0" tIns="0" rIns="0" bIns="0" rtlCol="0" anchor="t"/>
          <a:lstStyle/>
          <a:p>
            <a:pPr indent="0" marL="0">
              <a:buNone/>
            </a:pPr>
            <a:r>
              <a:rPr lang="en-US" sz="1400" dirty="0">
                <a:solidFill>
                  <a:srgbClr val="4A5870"/>
                </a:solidFill>
              </a:rPr>
              <a:t>[border-agency official]</a:t>
            </a:r>
            <a:endParaRPr lang="en-US" sz="1400" dirty="0"/>
          </a:p>
          <a:p>
            <a:pPr indent="0" marL="0">
              <a:buNone/>
            </a:pPr>
            <a:r>
              <a:rPr lang="en-US" sz="1400" dirty="0">
                <a:solidFill>
                  <a:srgbClr val="4A5870"/>
                </a:solidFill>
              </a:rPr>
              <a:t>[airport operations executive]</a:t>
            </a:r>
            <a:endParaRPr lang="en-US" sz="1400" dirty="0"/>
          </a:p>
        </p:txBody>
      </p:sp>
      <p:sp>
        <p:nvSpPr>
          <p:cNvPr id="50" name="Shape 39"/>
          <p:cNvSpPr/>
          <p:nvPr/>
        </p:nvSpPr>
        <p:spPr>
          <a:xfrm>
            <a:off x="475488" y="5916168"/>
            <a:ext cx="137160" cy="137160"/>
          </a:xfrm>
          <a:prstGeom prst="ellipse">
            <a:avLst/>
          </a:prstGeom>
          <a:solidFill>
            <a:srgbClr val="0B2545"/>
          </a:solidFill>
          <a:ln/>
        </p:spPr>
      </p:sp>
      <p:sp>
        <p:nvSpPr>
          <p:cNvPr id="51" name="Text 40"/>
          <p:cNvSpPr txBox="1"/>
          <p:nvPr/>
        </p:nvSpPr>
        <p:spPr>
          <a:xfrm>
            <a:off x="667512" y="5852160"/>
            <a:ext cx="914400" cy="274320"/>
          </a:xfrm>
          <a:prstGeom prst="rect">
            <a:avLst/>
          </a:prstGeom>
          <a:noFill/>
          <a:ln/>
        </p:spPr>
        <p:txBody>
          <a:bodyPr wrap="square" lIns="0" tIns="0" rIns="0" bIns="0" rtlCol="0" anchor="ctr"/>
          <a:lstStyle/>
          <a:p>
            <a:pPr indent="0" marL="0">
              <a:buNone/>
            </a:pPr>
            <a:r>
              <a:rPr lang="en-US" sz="1400" dirty="0">
                <a:solidFill>
                  <a:srgbClr val="4A5870"/>
                </a:solidFill>
              </a:rPr>
              <a:t>full-time</a:t>
            </a:r>
            <a:endParaRPr lang="en-US" sz="1400" dirty="0"/>
          </a:p>
        </p:txBody>
      </p:sp>
      <p:sp>
        <p:nvSpPr>
          <p:cNvPr id="52" name="Shape 41"/>
          <p:cNvSpPr/>
          <p:nvPr/>
        </p:nvSpPr>
        <p:spPr>
          <a:xfrm>
            <a:off x="1572768" y="5916168"/>
            <a:ext cx="137160" cy="137160"/>
          </a:xfrm>
          <a:prstGeom prst="ellipse">
            <a:avLst/>
          </a:prstGeom>
          <a:ln w="15875">
            <a:solidFill>
              <a:srgbClr val="0B2545"/>
            </a:solidFill>
            <a:prstDash val="solid"/>
          </a:ln>
        </p:spPr>
      </p:sp>
      <p:sp>
        <p:nvSpPr>
          <p:cNvPr id="53" name="Text 42"/>
          <p:cNvSpPr txBox="1"/>
          <p:nvPr/>
        </p:nvSpPr>
        <p:spPr>
          <a:xfrm>
            <a:off x="1764792" y="5852160"/>
            <a:ext cx="1005840" cy="274320"/>
          </a:xfrm>
          <a:prstGeom prst="rect">
            <a:avLst/>
          </a:prstGeom>
          <a:noFill/>
          <a:ln/>
        </p:spPr>
        <p:txBody>
          <a:bodyPr wrap="square" lIns="0" tIns="0" rIns="0" bIns="0" rtlCol="0" anchor="ctr"/>
          <a:lstStyle/>
          <a:p>
            <a:pPr indent="0" marL="0">
              <a:buNone/>
            </a:pPr>
            <a:r>
              <a:rPr lang="en-US" sz="1400" dirty="0">
                <a:solidFill>
                  <a:srgbClr val="4A5870"/>
                </a:solidFill>
              </a:rPr>
              <a:t>part-time</a:t>
            </a:r>
            <a:endParaRPr lang="en-US" sz="1400" dirty="0"/>
          </a:p>
        </p:txBody>
      </p:sp>
      <p:sp>
        <p:nvSpPr>
          <p:cNvPr id="54" name="Shape 43"/>
          <p:cNvSpPr/>
          <p:nvPr/>
        </p:nvSpPr>
        <p:spPr>
          <a:xfrm>
            <a:off x="7498080" y="1920240"/>
            <a:ext cx="4206240" cy="3895344"/>
          </a:xfrm>
          <a:prstGeom prst="roundRect">
            <a:avLst>
              <a:gd name="adj" fmla="val 3286"/>
            </a:avLst>
          </a:prstGeom>
          <a:solidFill>
            <a:srgbClr val="0B2545"/>
          </a:solidFill>
          <a:ln/>
          <a:effectLst>
            <a:outerShdw sx="100000" sy="100000" kx="0" ky="0" algn="bl" rotWithShape="0" blurRad="152400" dist="25400" dir="5400000">
              <a:srgbClr val="0A1628">
                <a:alpha val="12000"/>
              </a:srgbClr>
            </a:outerShdw>
          </a:effectLst>
        </p:spPr>
      </p:sp>
      <p:sp>
        <p:nvSpPr>
          <p:cNvPr id="55" name="Text 44"/>
          <p:cNvSpPr txBox="1"/>
          <p:nvPr/>
        </p:nvSpPr>
        <p:spPr>
          <a:xfrm>
            <a:off x="7772400" y="2121408"/>
            <a:ext cx="3749040" cy="365760"/>
          </a:xfrm>
          <a:prstGeom prst="rect">
            <a:avLst/>
          </a:prstGeom>
          <a:noFill/>
          <a:ln/>
        </p:spPr>
        <p:txBody>
          <a:bodyPr wrap="square" lIns="0" tIns="0" rIns="0" bIns="0" rtlCol="0" anchor="ctr"/>
          <a:lstStyle/>
          <a:p>
            <a:pPr indent="0" marL="0">
              <a:buNone/>
            </a:pPr>
            <a:r>
              <a:rPr lang="en-US" sz="1700" b="1" dirty="0">
                <a:solidFill>
                  <a:srgbClr val="FFFFFF"/>
                </a:solidFill>
              </a:rPr>
              <a:t>Why ST Engineering, why a venture</a:t>
            </a:r>
            <a:endParaRPr lang="en-US" sz="1700" dirty="0"/>
          </a:p>
        </p:txBody>
      </p:sp>
      <p:sp>
        <p:nvSpPr>
          <p:cNvPr id="56" name="Shape 45"/>
          <p:cNvSpPr/>
          <p:nvPr/>
        </p:nvSpPr>
        <p:spPr>
          <a:xfrm>
            <a:off x="7772400" y="2743200"/>
            <a:ext cx="420624" cy="420624"/>
          </a:xfrm>
          <a:prstGeom prst="ellipse">
            <a:avLst/>
          </a:prstGeom>
          <a:solidFill>
            <a:srgbClr val="1D3C66"/>
          </a:solidFill>
          <a:ln/>
        </p:spPr>
      </p:sp>
      <p:pic>
        <p:nvPicPr>
          <p:cNvPr id="57" name="Image 6" descr="">    </p:cNvPr>
          <p:cNvPicPr>
            <a:picLocks noChangeAspect="1"/>
          </p:cNvPicPr>
          <p:nvPr/>
        </p:nvPicPr>
        <p:blipFill>
          <a:blip r:embed="rId6"/>
          <a:stretch>
            <a:fillRect/>
          </a:stretch>
        </p:blipFill>
        <p:spPr>
          <a:xfrm>
            <a:off x="7864937" y="2835737"/>
            <a:ext cx="235549" cy="235549"/>
          </a:xfrm>
          <a:prstGeom prst="rect">
            <a:avLst/>
          </a:prstGeom>
        </p:spPr>
      </p:pic>
      <p:sp>
        <p:nvSpPr>
          <p:cNvPr id="58" name="Text 46"/>
          <p:cNvSpPr txBox="1"/>
          <p:nvPr/>
        </p:nvSpPr>
        <p:spPr>
          <a:xfrm>
            <a:off x="8321040" y="2688336"/>
            <a:ext cx="3246120" cy="548640"/>
          </a:xfrm>
          <a:prstGeom prst="rect">
            <a:avLst/>
          </a:prstGeom>
          <a:noFill/>
          <a:ln/>
        </p:spPr>
        <p:txBody>
          <a:bodyPr wrap="square" lIns="0" tIns="0" rIns="0" bIns="0" rtlCol="0" anchor="ctr"/>
          <a:lstStyle/>
          <a:p>
            <a:pPr indent="0" marL="0">
              <a:buNone/>
            </a:pPr>
            <a:r>
              <a:rPr lang="en-US" sz="1400" dirty="0">
                <a:solidFill>
                  <a:srgbClr val="FFFFFF"/>
                </a:solidFill>
              </a:rPr>
              <a:t>35+ years of secure delivery (company claim)</a:t>
            </a:r>
            <a:endParaRPr lang="en-US" sz="1400" dirty="0"/>
          </a:p>
        </p:txBody>
      </p:sp>
      <p:sp>
        <p:nvSpPr>
          <p:cNvPr id="59" name="Shape 47"/>
          <p:cNvSpPr/>
          <p:nvPr/>
        </p:nvSpPr>
        <p:spPr>
          <a:xfrm>
            <a:off x="7772400" y="3474720"/>
            <a:ext cx="420624" cy="420624"/>
          </a:xfrm>
          <a:prstGeom prst="ellipse">
            <a:avLst/>
          </a:prstGeom>
          <a:solidFill>
            <a:srgbClr val="1D3C66"/>
          </a:solidFill>
          <a:ln/>
        </p:spPr>
      </p:sp>
      <p:pic>
        <p:nvPicPr>
          <p:cNvPr id="60" name="Image 7" descr="">    </p:cNvPr>
          <p:cNvPicPr>
            <a:picLocks noChangeAspect="1"/>
          </p:cNvPicPr>
          <p:nvPr/>
        </p:nvPicPr>
        <p:blipFill>
          <a:blip r:embed="rId7"/>
          <a:stretch>
            <a:fillRect/>
          </a:stretch>
        </p:blipFill>
        <p:spPr>
          <a:xfrm>
            <a:off x="7864937" y="3567257"/>
            <a:ext cx="235549" cy="235549"/>
          </a:xfrm>
          <a:prstGeom prst="rect">
            <a:avLst/>
          </a:prstGeom>
        </p:spPr>
      </p:pic>
      <p:sp>
        <p:nvSpPr>
          <p:cNvPr id="61" name="Text 48"/>
          <p:cNvSpPr txBox="1"/>
          <p:nvPr/>
        </p:nvSpPr>
        <p:spPr>
          <a:xfrm>
            <a:off x="8321040" y="3419856"/>
            <a:ext cx="3246120" cy="548640"/>
          </a:xfrm>
          <a:prstGeom prst="rect">
            <a:avLst/>
          </a:prstGeom>
          <a:noFill/>
          <a:ln/>
        </p:spPr>
        <p:txBody>
          <a:bodyPr wrap="square" lIns="0" tIns="0" rIns="0" bIns="0" rtlCol="0" anchor="ctr"/>
          <a:lstStyle/>
          <a:p>
            <a:pPr indent="0" marL="0">
              <a:buNone/>
            </a:pPr>
            <a:r>
              <a:rPr lang="en-US" sz="1400" dirty="0">
                <a:solidFill>
                  <a:srgbClr val="FFFFFF"/>
                </a:solidFill>
              </a:rPr>
              <a:t>Group pull-through [US$ target, TBC]</a:t>
            </a:r>
            <a:endParaRPr lang="en-US" sz="1400" dirty="0"/>
          </a:p>
        </p:txBody>
      </p:sp>
      <p:sp>
        <p:nvSpPr>
          <p:cNvPr id="62" name="Shape 49"/>
          <p:cNvSpPr/>
          <p:nvPr/>
        </p:nvSpPr>
        <p:spPr>
          <a:xfrm>
            <a:off x="7772400" y="4206240"/>
            <a:ext cx="420624" cy="420624"/>
          </a:xfrm>
          <a:prstGeom prst="ellipse">
            <a:avLst/>
          </a:prstGeom>
          <a:solidFill>
            <a:srgbClr val="1D3C66"/>
          </a:solidFill>
          <a:ln/>
        </p:spPr>
      </p:sp>
      <p:pic>
        <p:nvPicPr>
          <p:cNvPr id="63" name="Image 8" descr="">    </p:cNvPr>
          <p:cNvPicPr>
            <a:picLocks noChangeAspect="1"/>
          </p:cNvPicPr>
          <p:nvPr/>
        </p:nvPicPr>
        <p:blipFill>
          <a:blip r:embed="rId8"/>
          <a:stretch>
            <a:fillRect/>
          </a:stretch>
        </p:blipFill>
        <p:spPr>
          <a:xfrm>
            <a:off x="7864937" y="4298777"/>
            <a:ext cx="235549" cy="235549"/>
          </a:xfrm>
          <a:prstGeom prst="rect">
            <a:avLst/>
          </a:prstGeom>
        </p:spPr>
      </p:pic>
      <p:sp>
        <p:nvSpPr>
          <p:cNvPr id="64" name="Text 50"/>
          <p:cNvSpPr txBox="1"/>
          <p:nvPr/>
        </p:nvSpPr>
        <p:spPr>
          <a:xfrm>
            <a:off x="8321040" y="4151376"/>
            <a:ext cx="3246120" cy="548640"/>
          </a:xfrm>
          <a:prstGeom prst="rect">
            <a:avLst/>
          </a:prstGeom>
          <a:noFill/>
          <a:ln/>
        </p:spPr>
        <p:txBody>
          <a:bodyPr wrap="square" lIns="0" tIns="0" rIns="0" bIns="0" rtlCol="0" anchor="ctr"/>
          <a:lstStyle/>
          <a:p>
            <a:pPr indent="0" marL="0">
              <a:buNone/>
            </a:pPr>
            <a:r>
              <a:rPr lang="en-US" sz="1400" dirty="0">
                <a:solidFill>
                  <a:srgbClr val="FFFFFF"/>
                </a:solidFill>
              </a:rPr>
              <a:t>Structure and IP owner [TBC]</a:t>
            </a:r>
            <a:endParaRPr lang="en-US" sz="1400" dirty="0"/>
          </a:p>
        </p:txBody>
      </p:sp>
      <p:sp>
        <p:nvSpPr>
          <p:cNvPr id="65" name="Shape 51"/>
          <p:cNvSpPr/>
          <p:nvPr/>
        </p:nvSpPr>
        <p:spPr>
          <a:xfrm>
            <a:off x="7772400" y="4937760"/>
            <a:ext cx="420624" cy="420624"/>
          </a:xfrm>
          <a:prstGeom prst="ellipse">
            <a:avLst/>
          </a:prstGeom>
          <a:solidFill>
            <a:srgbClr val="1D3C66"/>
          </a:solidFill>
          <a:ln/>
        </p:spPr>
      </p:sp>
      <p:pic>
        <p:nvPicPr>
          <p:cNvPr id="66" name="Image 9" descr="">    </p:cNvPr>
          <p:cNvPicPr>
            <a:picLocks noChangeAspect="1"/>
          </p:cNvPicPr>
          <p:nvPr/>
        </p:nvPicPr>
        <p:blipFill>
          <a:blip r:embed="rId9"/>
          <a:stretch>
            <a:fillRect/>
          </a:stretch>
        </p:blipFill>
        <p:spPr>
          <a:xfrm>
            <a:off x="7864937" y="5030297"/>
            <a:ext cx="235549" cy="235549"/>
          </a:xfrm>
          <a:prstGeom prst="rect">
            <a:avLst/>
          </a:prstGeom>
        </p:spPr>
      </p:pic>
      <p:sp>
        <p:nvSpPr>
          <p:cNvPr id="67" name="Text 52"/>
          <p:cNvSpPr txBox="1"/>
          <p:nvPr/>
        </p:nvSpPr>
        <p:spPr>
          <a:xfrm>
            <a:off x="8321040" y="4882896"/>
            <a:ext cx="3246120" cy="548640"/>
          </a:xfrm>
          <a:prstGeom prst="rect">
            <a:avLst/>
          </a:prstGeom>
          <a:noFill/>
          <a:ln/>
        </p:spPr>
        <p:txBody>
          <a:bodyPr wrap="square" lIns="0" tIns="0" rIns="0" bIns="0" rtlCol="0" anchor="ctr"/>
          <a:lstStyle/>
          <a:p>
            <a:pPr indent="0" marL="0">
              <a:buNone/>
            </a:pPr>
            <a:r>
              <a:rPr lang="en-US" sz="1400" dirty="0">
                <a:solidFill>
                  <a:srgbClr val="FFFFFF"/>
                </a:solidFill>
              </a:rPr>
              <a:t>Why a venture, not a feature: [rationale, TBC]</a:t>
            </a:r>
            <a:endParaRPr lang="en-US" sz="1400" dirty="0"/>
          </a:p>
        </p:txBody>
      </p:sp>
      <p:sp>
        <p:nvSpPr>
          <p:cNvPr id="68"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Business areas: Smart Security &amp; Automation · Smart Utilities &amp; Infrastructure · Urban Solutions</a:t>
            </a:r>
            <a:endParaRPr lang="en-US" sz="900" dirty="0"/>
          </a:p>
        </p:txBody>
      </p:sp>
      <p:sp>
        <p:nvSpPr>
          <p:cNvPr id="69"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11  |</a:t>
            </a:r>
            <a:endParaRPr lang="en-US" sz="1200" dirty="0"/>
          </a:p>
        </p:txBody>
      </p:sp>
      <p:grpSp>
        <p:nvGrpSpPr>
          <p:cNvPr id="7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7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yebrow"/>
          <p:cNvSpPr txBox="1"/>
          <p:nvPr/>
        </p:nvSpPr>
        <p:spPr>
          <a:xfrm>
            <a:off x="548640" y="713232"/>
            <a:ext cx="5486400" cy="274320"/>
          </a:xfrm>
          <a:prstGeom prst="rect">
            <a:avLst/>
          </a:prstGeom>
          <a:noFill/>
          <a:ln/>
        </p:spPr>
        <p:txBody>
          <a:bodyPr wrap="square" lIns="0" tIns="0" rIns="0" bIns="0" rtlCol="0" anchor="ctr"/>
          <a:lstStyle/>
          <a:p>
            <a:pPr indent="0" marL="0">
              <a:buNone/>
            </a:pPr>
            <a:r>
              <a:rPr lang="en-US" sz="1400" b="1" spc="200" kern="0" dirty="0">
                <a:solidFill>
                  <a:srgbClr val="FFFFFF"/>
                </a:solidFill>
                <a:latin typeface="+mj-lt"/>
              </a:rPr>
              <a:t>THE ASK</a:t>
            </a:r>
            <a:endParaRPr lang="en-US" sz="1400" dirty="0"/>
          </a:p>
        </p:txBody>
      </p:sp>
      <p:sp>
        <p:nvSpPr>
          <p:cNvPr id="4" name="!!title"/>
          <p:cNvSpPr txBox="1"/>
          <p:nvPr/>
        </p:nvSpPr>
        <p:spPr>
          <a:xfrm>
            <a:off x="548640" y="1024128"/>
            <a:ext cx="11247120" cy="548640"/>
          </a:xfrm>
          <a:prstGeom prst="rect">
            <a:avLst/>
          </a:prstGeom>
          <a:noFill/>
          <a:ln/>
        </p:spPr>
        <p:txBody>
          <a:bodyPr wrap="square" lIns="0" tIns="0" rIns="0" bIns="0" rtlCol="0" anchor="ctr"/>
          <a:lstStyle/>
          <a:p>
            <a:pPr indent="0" marL="0">
              <a:buNone/>
            </a:pPr>
            <a:r>
              <a:rPr lang="en-US" sz="3400" b="1" dirty="0">
                <a:solidFill>
                  <a:srgbClr val="FFFFFF"/>
                </a:solidFill>
                <a:latin typeface="+mj-lt"/>
              </a:rPr>
              <a:t>[US$X M] in four tranches; first lane live by [Qx 2027].</a:t>
            </a:r>
            <a:endParaRPr lang="en-US" sz="3400" dirty="0"/>
          </a:p>
        </p:txBody>
      </p:sp>
      <p:sp>
        <p:nvSpPr>
          <p:cNvPr id="5" name="Text 2"/>
          <p:cNvSpPr txBox="1"/>
          <p:nvPr/>
        </p:nvSpPr>
        <p:spPr>
          <a:xfrm>
            <a:off x="548640" y="1609344"/>
            <a:ext cx="11155680" cy="329184"/>
          </a:xfrm>
          <a:prstGeom prst="rect">
            <a:avLst/>
          </a:prstGeom>
          <a:noFill/>
          <a:ln/>
        </p:spPr>
        <p:txBody>
          <a:bodyPr wrap="square" lIns="0" tIns="0" rIns="0" bIns="0" rtlCol="0" anchor="ctr"/>
          <a:lstStyle/>
          <a:p>
            <a:pPr indent="0" marL="0">
              <a:buNone/>
            </a:pPr>
            <a:r>
              <a:rPr lang="en-US" sz="1800" dirty="0">
                <a:solidFill>
                  <a:srgbClr val="FFFFFF"/>
                </a:solidFill>
              </a:rPr>
              <a:t>Four milestones, four tranches: no milestone met, no next tranche.</a:t>
            </a:r>
            <a:endParaRPr lang="en-US" sz="1800" dirty="0"/>
          </a:p>
        </p:txBody>
      </p:sp>
      <p:sp>
        <p:nvSpPr>
          <p:cNvPr id="6" name="Shape 3"/>
          <p:cNvSpPr/>
          <p:nvPr/>
        </p:nvSpPr>
        <p:spPr>
          <a:xfrm>
            <a:off x="548640"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7" name="Text 4"/>
          <p:cNvSpPr txBox="1"/>
          <p:nvPr/>
        </p:nvSpPr>
        <p:spPr>
          <a:xfrm>
            <a:off x="685800"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M1 · [Qx 2027]</a:t>
            </a:r>
            <a:endParaRPr lang="en-US" sz="1400" dirty="0"/>
          </a:p>
        </p:txBody>
      </p:sp>
      <p:sp>
        <p:nvSpPr>
          <p:cNvPr id="8" name="Shape 5"/>
          <p:cNvSpPr/>
          <p:nvPr/>
        </p:nvSpPr>
        <p:spPr>
          <a:xfrm>
            <a:off x="685800" y="2578608"/>
            <a:ext cx="1298448" cy="274320"/>
          </a:xfrm>
          <a:prstGeom prst="roundRect">
            <a:avLst>
              <a:gd name="adj" fmla="val 50000"/>
            </a:avLst>
          </a:prstGeom>
          <a:solidFill>
            <a:srgbClr val="FFFFFF"/>
          </a:solidFill>
          <a:ln/>
        </p:spPr>
      </p:sp>
      <p:sp>
        <p:nvSpPr>
          <p:cNvPr id="9" name="Text 6"/>
          <p:cNvSpPr txBox="1"/>
          <p:nvPr/>
        </p:nvSpPr>
        <p:spPr>
          <a:xfrm>
            <a:off x="685800" y="2578608"/>
            <a:ext cx="1298448" cy="274320"/>
          </a:xfrm>
          <a:prstGeom prst="rect">
            <a:avLst/>
          </a:prstGeom>
          <a:noFill/>
          <a:ln/>
        </p:spPr>
        <p:txBody>
          <a:bodyPr wrap="square" lIns="0" tIns="0" rIns="0" bIns="0" rtlCol="0" anchor="ctr"/>
          <a:lstStyle/>
          <a:p>
            <a:pPr algn="ctr" indent="0" marL="0">
              <a:buNone/>
            </a:pPr>
            <a:r>
              <a:rPr lang="en-US" sz="1400" b="1" dirty="0">
                <a:solidFill>
                  <a:srgbClr val="0B2545"/>
                </a:solidFill>
              </a:rPr>
              <a:t>T1 · [US$A M]</a:t>
            </a:r>
            <a:endParaRPr lang="en-US" sz="1400" dirty="0"/>
          </a:p>
        </p:txBody>
      </p:sp>
      <p:sp>
        <p:nvSpPr>
          <p:cNvPr id="10" name="Text 7"/>
          <p:cNvSpPr txBox="1"/>
          <p:nvPr/>
        </p:nvSpPr>
        <p:spPr>
          <a:xfrm>
            <a:off x="713232" y="2944368"/>
            <a:ext cx="2331720" cy="548640"/>
          </a:xfrm>
          <a:prstGeom prst="rect">
            <a:avLst/>
          </a:prstGeom>
          <a:noFill/>
          <a:ln/>
        </p:spPr>
        <p:txBody>
          <a:bodyPr wrap="square" lIns="0" tIns="0" rIns="0" bIns="0" rtlCol="0" anchor="t"/>
          <a:lstStyle/>
          <a:p>
            <a:pPr indent="0" marL="0">
              <a:buNone/>
            </a:pPr>
            <a:r>
              <a:rPr lang="en-US" sz="1600" b="1" dirty="0">
                <a:solidFill>
                  <a:srgbClr val="FFFFFF"/>
                </a:solidFill>
              </a:rPr>
              <a:t>Pilot signed: airport + agency</a:t>
            </a:r>
            <a:endParaRPr lang="en-US" sz="1600" dirty="0"/>
          </a:p>
        </p:txBody>
      </p:sp>
      <p:sp>
        <p:nvSpPr>
          <p:cNvPr id="11" name="Shape 8"/>
          <p:cNvSpPr/>
          <p:nvPr/>
        </p:nvSpPr>
        <p:spPr>
          <a:xfrm>
            <a:off x="713232" y="3511296"/>
            <a:ext cx="2212848" cy="914"/>
          </a:xfrm>
          <a:prstGeom prst="line">
            <a:avLst/>
          </a:prstGeom>
          <a:noFill/>
          <a:ln w="9525">
            <a:solidFill>
              <a:srgbClr val="FFFFFF">
                <a:alpha val="50000"/>
              </a:srgbClr>
            </a:solidFill>
            <a:prstDash val="solid"/>
          </a:ln>
        </p:spPr>
      </p:sp>
      <p:sp>
        <p:nvSpPr>
          <p:cNvPr id="12" name="Text 9"/>
          <p:cNvSpPr txBox="1"/>
          <p:nvPr/>
        </p:nvSpPr>
        <p:spPr>
          <a:xfrm>
            <a:off x="713232"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agency</a:t>
            </a:r>
            <a:endParaRPr lang="en-US" sz="1400" dirty="0"/>
          </a:p>
        </p:txBody>
      </p:sp>
      <p:sp>
        <p:nvSpPr>
          <p:cNvPr id="13" name="Shape 10"/>
          <p:cNvSpPr/>
          <p:nvPr/>
        </p:nvSpPr>
        <p:spPr>
          <a:xfrm>
            <a:off x="3127248" y="2990088"/>
            <a:ext cx="256032" cy="256032"/>
          </a:xfrm>
          <a:prstGeom prst="ellipse">
            <a:avLst/>
          </a:prstGeom>
          <a:solidFill>
            <a:srgbClr val="FFFFFF"/>
          </a:solidFill>
          <a:ln/>
        </p:spPr>
      </p:sp>
      <p:pic>
        <p:nvPicPr>
          <p:cNvPr id="14" name="Image 0" descr="">    </p:cNvPr>
          <p:cNvPicPr>
            <a:picLocks noChangeAspect="1"/>
          </p:cNvPicPr>
          <p:nvPr/>
        </p:nvPicPr>
        <p:blipFill>
          <a:blip r:embed="rId2"/>
          <a:stretch>
            <a:fillRect/>
          </a:stretch>
        </p:blipFill>
        <p:spPr>
          <a:xfrm>
            <a:off x="3183575" y="3046415"/>
            <a:ext cx="143378" cy="143378"/>
          </a:xfrm>
          <a:prstGeom prst="rect">
            <a:avLst/>
          </a:prstGeom>
        </p:spPr>
      </p:pic>
      <p:sp>
        <p:nvSpPr>
          <p:cNvPr id="15" name="Shape 11"/>
          <p:cNvSpPr/>
          <p:nvPr/>
        </p:nvSpPr>
        <p:spPr>
          <a:xfrm>
            <a:off x="3419856"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16" name="Text 12"/>
          <p:cNvSpPr txBox="1"/>
          <p:nvPr/>
        </p:nvSpPr>
        <p:spPr>
          <a:xfrm>
            <a:off x="3557016"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M2 · [Qx 2027]</a:t>
            </a:r>
            <a:endParaRPr lang="en-US" sz="1400" dirty="0"/>
          </a:p>
        </p:txBody>
      </p:sp>
      <p:sp>
        <p:nvSpPr>
          <p:cNvPr id="17" name="Shape 13"/>
          <p:cNvSpPr/>
          <p:nvPr/>
        </p:nvSpPr>
        <p:spPr>
          <a:xfrm>
            <a:off x="3557016" y="2578608"/>
            <a:ext cx="1298448" cy="274320"/>
          </a:xfrm>
          <a:prstGeom prst="roundRect">
            <a:avLst>
              <a:gd name="adj" fmla="val 50000"/>
            </a:avLst>
          </a:prstGeom>
          <a:solidFill>
            <a:srgbClr val="FFFFFF"/>
          </a:solidFill>
          <a:ln/>
        </p:spPr>
      </p:sp>
      <p:sp>
        <p:nvSpPr>
          <p:cNvPr id="18" name="Text 14"/>
          <p:cNvSpPr txBox="1"/>
          <p:nvPr/>
        </p:nvSpPr>
        <p:spPr>
          <a:xfrm>
            <a:off x="3557016" y="2578608"/>
            <a:ext cx="1298448" cy="274320"/>
          </a:xfrm>
          <a:prstGeom prst="rect">
            <a:avLst/>
          </a:prstGeom>
          <a:noFill/>
          <a:ln/>
        </p:spPr>
        <p:txBody>
          <a:bodyPr wrap="square" lIns="0" tIns="0" rIns="0" bIns="0" rtlCol="0" anchor="ctr"/>
          <a:lstStyle/>
          <a:p>
            <a:pPr algn="ctr" indent="0" marL="0">
              <a:buNone/>
            </a:pPr>
            <a:r>
              <a:rPr lang="en-US" sz="1400" b="1" dirty="0">
                <a:solidFill>
                  <a:srgbClr val="0B2545"/>
                </a:solidFill>
              </a:rPr>
              <a:t>T2 · [US$B M]</a:t>
            </a:r>
            <a:endParaRPr lang="en-US" sz="1400" dirty="0"/>
          </a:p>
        </p:txBody>
      </p:sp>
      <p:sp>
        <p:nvSpPr>
          <p:cNvPr id="19" name="Text 15"/>
          <p:cNvSpPr txBox="1"/>
          <p:nvPr/>
        </p:nvSpPr>
        <p:spPr>
          <a:xfrm>
            <a:off x="3584448" y="2944368"/>
            <a:ext cx="2331720" cy="548640"/>
          </a:xfrm>
          <a:prstGeom prst="rect">
            <a:avLst/>
          </a:prstGeom>
          <a:noFill/>
          <a:ln/>
        </p:spPr>
        <p:txBody>
          <a:bodyPr wrap="square" lIns="0" tIns="0" rIns="0" bIns="0" rtlCol="0" anchor="t"/>
          <a:lstStyle/>
          <a:p>
            <a:pPr indent="0" marL="0">
              <a:buNone/>
            </a:pPr>
            <a:r>
              <a:rPr lang="en-US" sz="1600" b="1" dirty="0">
                <a:solidFill>
                  <a:srgbClr val="FFFFFF"/>
                </a:solidFill>
              </a:rPr>
              <a:t>Lane live, independent tests passed</a:t>
            </a:r>
            <a:endParaRPr lang="en-US" sz="1600" dirty="0"/>
          </a:p>
        </p:txBody>
      </p:sp>
      <p:sp>
        <p:nvSpPr>
          <p:cNvPr id="20" name="Shape 16"/>
          <p:cNvSpPr/>
          <p:nvPr/>
        </p:nvSpPr>
        <p:spPr>
          <a:xfrm>
            <a:off x="3584448" y="3511296"/>
            <a:ext cx="2212848" cy="914"/>
          </a:xfrm>
          <a:prstGeom prst="line">
            <a:avLst/>
          </a:prstGeom>
          <a:noFill/>
          <a:ln w="9525">
            <a:solidFill>
              <a:srgbClr val="FFFFFF">
                <a:alpha val="50000"/>
              </a:srgbClr>
            </a:solidFill>
            <a:prstDash val="solid"/>
          </a:ln>
        </p:spPr>
      </p:sp>
      <p:sp>
        <p:nvSpPr>
          <p:cNvPr id="21" name="Text 17"/>
          <p:cNvSpPr txBox="1"/>
          <p:nvPr/>
        </p:nvSpPr>
        <p:spPr>
          <a:xfrm>
            <a:off x="3584448"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technical</a:t>
            </a:r>
            <a:endParaRPr lang="en-US" sz="1400" dirty="0"/>
          </a:p>
        </p:txBody>
      </p:sp>
      <p:sp>
        <p:nvSpPr>
          <p:cNvPr id="22" name="Shape 18"/>
          <p:cNvSpPr/>
          <p:nvPr/>
        </p:nvSpPr>
        <p:spPr>
          <a:xfrm>
            <a:off x="5998464" y="2990088"/>
            <a:ext cx="256032" cy="256032"/>
          </a:xfrm>
          <a:prstGeom prst="ellipse">
            <a:avLst/>
          </a:prstGeom>
          <a:solidFill>
            <a:srgbClr val="FFFFFF"/>
          </a:solidFill>
          <a:ln/>
        </p:spPr>
      </p:sp>
      <p:pic>
        <p:nvPicPr>
          <p:cNvPr id="23" name="Image 1" descr="">    </p:cNvPr>
          <p:cNvPicPr>
            <a:picLocks noChangeAspect="1"/>
          </p:cNvPicPr>
          <p:nvPr/>
        </p:nvPicPr>
        <p:blipFill>
          <a:blip r:embed="rId2"/>
          <a:stretch>
            <a:fillRect/>
          </a:stretch>
        </p:blipFill>
        <p:spPr>
          <a:xfrm>
            <a:off x="6054791" y="3046415"/>
            <a:ext cx="143378" cy="143378"/>
          </a:xfrm>
          <a:prstGeom prst="rect">
            <a:avLst/>
          </a:prstGeom>
        </p:spPr>
      </p:pic>
      <p:sp>
        <p:nvSpPr>
          <p:cNvPr id="24" name="Shape 19"/>
          <p:cNvSpPr/>
          <p:nvPr/>
        </p:nvSpPr>
        <p:spPr>
          <a:xfrm>
            <a:off x="6291072"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25" name="Text 20"/>
          <p:cNvSpPr txBox="1"/>
          <p:nvPr/>
        </p:nvSpPr>
        <p:spPr>
          <a:xfrm>
            <a:off x="6428232"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M3 · [Qx 2028]</a:t>
            </a:r>
            <a:endParaRPr lang="en-US" sz="1400" dirty="0"/>
          </a:p>
        </p:txBody>
      </p:sp>
      <p:sp>
        <p:nvSpPr>
          <p:cNvPr id="26" name="Shape 21"/>
          <p:cNvSpPr/>
          <p:nvPr/>
        </p:nvSpPr>
        <p:spPr>
          <a:xfrm>
            <a:off x="6428232" y="2578608"/>
            <a:ext cx="1298448" cy="274320"/>
          </a:xfrm>
          <a:prstGeom prst="roundRect">
            <a:avLst>
              <a:gd name="adj" fmla="val 50000"/>
            </a:avLst>
          </a:prstGeom>
          <a:solidFill>
            <a:srgbClr val="FFFFFF"/>
          </a:solidFill>
          <a:ln/>
        </p:spPr>
      </p:sp>
      <p:sp>
        <p:nvSpPr>
          <p:cNvPr id="27" name="Text 22"/>
          <p:cNvSpPr txBox="1"/>
          <p:nvPr/>
        </p:nvSpPr>
        <p:spPr>
          <a:xfrm>
            <a:off x="6428232" y="2578608"/>
            <a:ext cx="1298448" cy="274320"/>
          </a:xfrm>
          <a:prstGeom prst="rect">
            <a:avLst/>
          </a:prstGeom>
          <a:noFill/>
          <a:ln/>
        </p:spPr>
        <p:txBody>
          <a:bodyPr wrap="square" lIns="0" tIns="0" rIns="0" bIns="0" rtlCol="0" anchor="ctr"/>
          <a:lstStyle/>
          <a:p>
            <a:pPr algn="ctr" indent="0" marL="0">
              <a:buNone/>
            </a:pPr>
            <a:r>
              <a:rPr lang="en-US" sz="1400" b="1" dirty="0">
                <a:solidFill>
                  <a:srgbClr val="0B2545"/>
                </a:solidFill>
              </a:rPr>
              <a:t>T3 · [US$C M]</a:t>
            </a:r>
            <a:endParaRPr lang="en-US" sz="1400" dirty="0"/>
          </a:p>
        </p:txBody>
      </p:sp>
      <p:sp>
        <p:nvSpPr>
          <p:cNvPr id="28" name="Text 23"/>
          <p:cNvSpPr txBox="1"/>
          <p:nvPr/>
        </p:nvSpPr>
        <p:spPr>
          <a:xfrm>
            <a:off x="6455664" y="2944368"/>
            <a:ext cx="2331720" cy="548640"/>
          </a:xfrm>
          <a:prstGeom prst="rect">
            <a:avLst/>
          </a:prstGeom>
          <a:noFill/>
          <a:ln/>
        </p:spPr>
        <p:txBody>
          <a:bodyPr wrap="square" lIns="0" tIns="0" rIns="0" bIns="0" rtlCol="0" anchor="t"/>
          <a:lstStyle/>
          <a:p>
            <a:pPr indent="0" marL="0">
              <a:buNone/>
            </a:pPr>
            <a:r>
              <a:rPr lang="en-US" sz="1600" b="1" dirty="0">
                <a:solidFill>
                  <a:srgbClr val="FFFFFF"/>
                </a:solidFill>
              </a:rPr>
              <a:t>KPIs read out; miss → stop or redesign</a:t>
            </a:r>
            <a:endParaRPr lang="en-US" sz="1600" dirty="0"/>
          </a:p>
        </p:txBody>
      </p:sp>
      <p:sp>
        <p:nvSpPr>
          <p:cNvPr id="29" name="Shape 24"/>
          <p:cNvSpPr/>
          <p:nvPr/>
        </p:nvSpPr>
        <p:spPr>
          <a:xfrm>
            <a:off x="6455664" y="3511296"/>
            <a:ext cx="2212848" cy="914"/>
          </a:xfrm>
          <a:prstGeom prst="line">
            <a:avLst/>
          </a:prstGeom>
          <a:noFill/>
          <a:ln w="9525">
            <a:solidFill>
              <a:srgbClr val="FFFFFF">
                <a:alpha val="50000"/>
              </a:srgbClr>
            </a:solidFill>
            <a:prstDash val="solid"/>
          </a:ln>
        </p:spPr>
      </p:sp>
      <p:sp>
        <p:nvSpPr>
          <p:cNvPr id="30" name="Text 25"/>
          <p:cNvSpPr txBox="1"/>
          <p:nvPr/>
        </p:nvSpPr>
        <p:spPr>
          <a:xfrm>
            <a:off x="6455664"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operational</a:t>
            </a:r>
            <a:endParaRPr lang="en-US" sz="1400" dirty="0"/>
          </a:p>
        </p:txBody>
      </p:sp>
      <p:sp>
        <p:nvSpPr>
          <p:cNvPr id="31" name="Shape 26"/>
          <p:cNvSpPr/>
          <p:nvPr/>
        </p:nvSpPr>
        <p:spPr>
          <a:xfrm>
            <a:off x="8869680" y="2990088"/>
            <a:ext cx="256032" cy="256032"/>
          </a:xfrm>
          <a:prstGeom prst="ellipse">
            <a:avLst/>
          </a:prstGeom>
          <a:solidFill>
            <a:srgbClr val="FFFFFF"/>
          </a:solidFill>
          <a:ln/>
        </p:spPr>
      </p:sp>
      <p:pic>
        <p:nvPicPr>
          <p:cNvPr id="32" name="Image 2" descr="">    </p:cNvPr>
          <p:cNvPicPr>
            <a:picLocks noChangeAspect="1"/>
          </p:cNvPicPr>
          <p:nvPr/>
        </p:nvPicPr>
        <p:blipFill>
          <a:blip r:embed="rId2"/>
          <a:stretch>
            <a:fillRect/>
          </a:stretch>
        </p:blipFill>
        <p:spPr>
          <a:xfrm>
            <a:off x="8926007" y="3046415"/>
            <a:ext cx="143378" cy="143378"/>
          </a:xfrm>
          <a:prstGeom prst="rect">
            <a:avLst/>
          </a:prstGeom>
        </p:spPr>
      </p:pic>
      <p:sp>
        <p:nvSpPr>
          <p:cNvPr id="33" name="Shape 27"/>
          <p:cNvSpPr/>
          <p:nvPr/>
        </p:nvSpPr>
        <p:spPr>
          <a:xfrm>
            <a:off x="9162288"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34" name="Text 28"/>
          <p:cNvSpPr txBox="1"/>
          <p:nvPr/>
        </p:nvSpPr>
        <p:spPr>
          <a:xfrm>
            <a:off x="9299448"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M4 · [Qx 2028]</a:t>
            </a:r>
            <a:endParaRPr lang="en-US" sz="1400" dirty="0"/>
          </a:p>
        </p:txBody>
      </p:sp>
      <p:sp>
        <p:nvSpPr>
          <p:cNvPr id="35" name="Shape 29"/>
          <p:cNvSpPr/>
          <p:nvPr/>
        </p:nvSpPr>
        <p:spPr>
          <a:xfrm>
            <a:off x="9299448" y="2578608"/>
            <a:ext cx="1298448" cy="274320"/>
          </a:xfrm>
          <a:prstGeom prst="roundRect">
            <a:avLst>
              <a:gd name="adj" fmla="val 50000"/>
            </a:avLst>
          </a:prstGeom>
          <a:solidFill>
            <a:srgbClr val="FFFFFF"/>
          </a:solidFill>
          <a:ln/>
        </p:spPr>
      </p:sp>
      <p:sp>
        <p:nvSpPr>
          <p:cNvPr id="36" name="Text 30"/>
          <p:cNvSpPr txBox="1"/>
          <p:nvPr/>
        </p:nvSpPr>
        <p:spPr>
          <a:xfrm>
            <a:off x="9299448" y="2578608"/>
            <a:ext cx="1298448" cy="274320"/>
          </a:xfrm>
          <a:prstGeom prst="rect">
            <a:avLst/>
          </a:prstGeom>
          <a:noFill/>
          <a:ln/>
        </p:spPr>
        <p:txBody>
          <a:bodyPr wrap="square" lIns="0" tIns="0" rIns="0" bIns="0" rtlCol="0" anchor="ctr"/>
          <a:lstStyle/>
          <a:p>
            <a:pPr algn="ctr" indent="0" marL="0">
              <a:buNone/>
            </a:pPr>
            <a:r>
              <a:rPr lang="en-US" sz="1400" b="1" dirty="0">
                <a:solidFill>
                  <a:srgbClr val="0B2545"/>
                </a:solidFill>
              </a:rPr>
              <a:t>T4 · [US$D M]</a:t>
            </a:r>
            <a:endParaRPr lang="en-US" sz="1400" dirty="0"/>
          </a:p>
        </p:txBody>
      </p:sp>
      <p:sp>
        <p:nvSpPr>
          <p:cNvPr id="37" name="Text 31"/>
          <p:cNvSpPr txBox="1"/>
          <p:nvPr/>
        </p:nvSpPr>
        <p:spPr>
          <a:xfrm>
            <a:off x="9326880" y="2944368"/>
            <a:ext cx="2331720" cy="548640"/>
          </a:xfrm>
          <a:prstGeom prst="rect">
            <a:avLst/>
          </a:prstGeom>
          <a:noFill/>
          <a:ln/>
        </p:spPr>
        <p:txBody>
          <a:bodyPr wrap="square" lIns="0" tIns="0" rIns="0" bIns="0" rtlCol="0" anchor="t"/>
          <a:lstStyle/>
          <a:p>
            <a:pPr indent="0" marL="0">
              <a:buNone/>
            </a:pPr>
            <a:r>
              <a:rPr lang="en-US" sz="1600" b="1" dirty="0">
                <a:solidFill>
                  <a:srgbClr val="FFFFFF"/>
                </a:solidFill>
              </a:rPr>
              <a:t>First paid multi-lane order</a:t>
            </a:r>
            <a:endParaRPr lang="en-US" sz="1600" dirty="0"/>
          </a:p>
        </p:txBody>
      </p:sp>
      <p:sp>
        <p:nvSpPr>
          <p:cNvPr id="38" name="Shape 32"/>
          <p:cNvSpPr/>
          <p:nvPr/>
        </p:nvSpPr>
        <p:spPr>
          <a:xfrm>
            <a:off x="9326880" y="3511296"/>
            <a:ext cx="2212848" cy="914"/>
          </a:xfrm>
          <a:prstGeom prst="line">
            <a:avLst/>
          </a:prstGeom>
          <a:noFill/>
          <a:ln w="9525">
            <a:solidFill>
              <a:srgbClr val="FFFFFF">
                <a:alpha val="50000"/>
              </a:srgbClr>
            </a:solidFill>
            <a:prstDash val="solid"/>
          </a:ln>
        </p:spPr>
      </p:sp>
      <p:sp>
        <p:nvSpPr>
          <p:cNvPr id="39" name="Text 33"/>
          <p:cNvSpPr txBox="1"/>
          <p:nvPr/>
        </p:nvSpPr>
        <p:spPr>
          <a:xfrm>
            <a:off x="9326880"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commercial</a:t>
            </a:r>
            <a:endParaRPr lang="en-US" sz="1400" dirty="0"/>
          </a:p>
        </p:txBody>
      </p:sp>
      <p:sp>
        <p:nvSpPr>
          <p:cNvPr id="40" name="Shape 34"/>
          <p:cNvSpPr/>
          <p:nvPr/>
        </p:nvSpPr>
        <p:spPr>
          <a:xfrm>
            <a:off x="548640" y="4389120"/>
            <a:ext cx="6217920" cy="1554480"/>
          </a:xfrm>
          <a:prstGeom prst="roundRect">
            <a:avLst>
              <a:gd name="adj" fmla="val 7059"/>
            </a:avLst>
          </a:prstGeom>
          <a:solidFill>
            <a:srgbClr val="FFFFFF"/>
          </a:solidFill>
          <a:ln/>
          <a:effectLst>
            <a:outerShdw sx="100000" sy="100000" kx="0" ky="0" algn="bl" rotWithShape="0" blurRad="152400" dist="25400" dir="5400000">
              <a:srgbClr val="0A1628">
                <a:alpha val="12000"/>
              </a:srgbClr>
            </a:outerShdw>
          </a:effectLst>
        </p:spPr>
      </p:sp>
      <p:sp>
        <p:nvSpPr>
          <p:cNvPr id="41" name="Text 35"/>
          <p:cNvSpPr txBox="1"/>
          <p:nvPr/>
        </p:nvSpPr>
        <p:spPr>
          <a:xfrm>
            <a:off x="777240" y="4498848"/>
            <a:ext cx="5486400" cy="347472"/>
          </a:xfrm>
          <a:prstGeom prst="rect">
            <a:avLst/>
          </a:prstGeom>
          <a:noFill/>
          <a:ln/>
        </p:spPr>
        <p:txBody>
          <a:bodyPr wrap="square" lIns="0" tIns="0" rIns="0" bIns="0" rtlCol="0" anchor="ctr"/>
          <a:lstStyle/>
          <a:p>
            <a:pPr indent="0" marL="0">
              <a:buNone/>
            </a:pPr>
            <a:r>
              <a:rPr lang="en-US" sz="1700" b="1" dirty="0">
                <a:solidFill>
                  <a:srgbClr val="0B2545"/>
                </a:solidFill>
              </a:rPr>
              <a:t>Today we ask for</a:t>
            </a:r>
            <a:endParaRPr lang="en-US" sz="1700" dirty="0"/>
          </a:p>
        </p:txBody>
      </p:sp>
      <p:sp>
        <p:nvSpPr>
          <p:cNvPr id="42" name="Text 36"/>
          <p:cNvSpPr txBox="1"/>
          <p:nvPr/>
        </p:nvSpPr>
        <p:spPr>
          <a:xfrm>
            <a:off x="777240" y="4901184"/>
            <a:ext cx="5852160" cy="969264"/>
          </a:xfrm>
          <a:prstGeom prst="rect">
            <a:avLst/>
          </a:prstGeom>
          <a:noFill/>
          <a:ln/>
        </p:spPr>
        <p:txBody>
          <a:bodyPr wrap="square" lIns="0" tIns="0" rIns="0" bIns="0" rtlCol="0" anchor="t"/>
          <a:lstStyle/>
          <a:p>
            <a:pPr indent="0" marL="0">
              <a:spcAft>
                <a:spcPts val="400"/>
              </a:spcAft>
              <a:buNone/>
            </a:pPr>
            <a:r>
              <a:rPr lang="en-US" sz="1600" dirty="0">
                <a:solidFill>
                  <a:srgbClr val="3A4556"/>
                </a:solidFill>
              </a:rPr>
              <a:t>1   [Approval of the programme and Tranche 1]</a:t>
            </a:r>
            <a:endParaRPr lang="en-US" sz="1600" dirty="0"/>
          </a:p>
          <a:p>
            <a:pPr indent="0" marL="0">
              <a:spcAft>
                <a:spcPts val="400"/>
              </a:spcAft>
              <a:buNone/>
            </a:pPr>
            <a:r>
              <a:rPr lang="en-US" sz="1600" dirty="0">
                <a:solidFill>
                  <a:srgbClr val="3A4556"/>
                </a:solidFill>
              </a:rPr>
              <a:t>2   [One introduction to a pilot airport and its border agency]</a:t>
            </a:r>
            <a:endParaRPr lang="en-US" sz="1600" dirty="0"/>
          </a:p>
          <a:p>
            <a:pPr indent="0" marL="0">
              <a:spcAft>
                <a:spcPts val="400"/>
              </a:spcAft>
              <a:buNone/>
            </a:pPr>
            <a:r>
              <a:rPr lang="en-US" sz="1600" dirty="0">
                <a:solidFill>
                  <a:srgbClr val="3A4556"/>
                </a:solidFill>
              </a:rPr>
              <a:t>3   [Name an executive sponsor]</a:t>
            </a:r>
            <a:endParaRPr lang="en-US" sz="1600" dirty="0"/>
          </a:p>
        </p:txBody>
      </p:sp>
      <p:sp>
        <p:nvSpPr>
          <p:cNvPr id="43" name="Text 37"/>
          <p:cNvSpPr txBox="1"/>
          <p:nvPr/>
        </p:nvSpPr>
        <p:spPr>
          <a:xfrm>
            <a:off x="7178040" y="4389120"/>
            <a:ext cx="4434840" cy="1554480"/>
          </a:xfrm>
          <a:prstGeom prst="rect">
            <a:avLst/>
          </a:prstGeom>
          <a:noFill/>
          <a:ln/>
        </p:spPr>
        <p:txBody>
          <a:bodyPr wrap="square" lIns="0" tIns="0" rIns="0" bIns="0" rtlCol="0" anchor="ctr"/>
          <a:lstStyle/>
          <a:p>
            <a:pPr indent="0" marL="0">
              <a:buNone/>
            </a:pPr>
            <a:r>
              <a:rPr lang="en-US" sz="2600" b="1" dirty="0">
                <a:solidFill>
                  <a:srgbClr val="FFFFFF"/>
                </a:solidFill>
              </a:rPr>
              <a:t>The trusted identity layer for every checkpoint.</a:t>
            </a:r>
            <a:endParaRPr lang="en-US" sz="2600" dirty="0"/>
          </a:p>
        </p:txBody>
      </p:sp>
      <p:sp>
        <p:nvSpPr>
          <p:cNvPr id="44" name="!!foot"/>
          <p:cNvSpPr txBox="1"/>
          <p:nvPr/>
        </p:nvSpPr>
        <p:spPr>
          <a:xfrm>
            <a:off x="960120" y="6327648"/>
            <a:ext cx="10195560" cy="292608"/>
          </a:xfrm>
          <a:prstGeom prst="rect">
            <a:avLst/>
          </a:prstGeom>
          <a:noFill/>
          <a:ln/>
        </p:spPr>
        <p:txBody>
          <a:bodyPr wrap="square" lIns="0" tIns="0" rIns="0" bIns="0" rtlCol="0" anchor="ctr"/>
          <a:lstStyle/>
          <a:p>
            <a:pPr indent="0" marL="0">
              <a:buNone/>
            </a:pPr>
            <a:r>
              <a:rPr lang="en-US" sz="1200" dirty="0">
                <a:solidFill>
                  <a:srgbClr val="FFFFFF"/>
                </a:solidFill>
                <a:latin typeface="+mj-lt"/>
              </a:rPr>
              <a:t>[Name, role, email]</a:t>
            </a:r>
            <a:endParaRPr lang="en-US" sz="1200" dirty="0"/>
          </a:p>
        </p:txBody>
      </p:sp>
      <p:sp>
        <p:nvSpPr>
          <p:cNvPr id="45"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FFFFFF"/>
                </a:solidFill>
                <a:latin typeface="+mj-lt"/>
              </a:rPr>
              <a:t>12  |</a:t>
            </a:r>
            <a:endParaRPr lang="en-US" sz="1200" dirty="0"/>
          </a:p>
        </p:txBody>
      </p:sp>
      <p:sp>
        <p:nvSpPr>
          <p:cNvPr id="46" name="!!appxlink">
            <a:hlinkClick action="ppaction://hlinksldjump" r:id="rId4"/>
          </p:cNvPr>
          <p:cNvSpPr/>
          <p:nvPr/>
        </p:nvSpPr>
        <p:spPr>
          <a:xfrm>
            <a:off x="11658600" y="6355080"/>
            <a:ext cx="457200" cy="411480"/>
          </a:xfrm>
          <a:prstGeom prst="rect">
            <a:avLst/>
          </a:prstGeom>
          <a:solidFill>
            <a:srgbClr val="FFFFFF">
              <a:alpha val="0"/>
            </a:srgbClr>
          </a:solidFill>
          <a:ln/>
        </p:spPr>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Appendix: backup for diligence and Q&amp;A</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Click a row to open it. Every external figure is mapped to a source in A1.</a:t>
            </a:r>
            <a:endParaRPr lang="en-US" sz="1800" dirty="0"/>
          </a:p>
        </p:txBody>
      </p:sp>
      <p:sp>
        <p:nvSpPr>
          <p:cNvPr id="8" name="!!lnk-A1">
            <a:hlinkClick action="ppaction://hlinksldjump" r:id="rId5"/>
          </p:cNvPr>
          <p:cNvSpPr/>
          <p:nvPr/>
        </p:nvSpPr>
        <p:spPr>
          <a:xfrm>
            <a:off x="457200" y="19202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9" name="Text 4"/>
          <p:cNvSpPr txBox="1"/>
          <p:nvPr/>
        </p:nvSpPr>
        <p:spPr>
          <a:xfrm>
            <a:off x="621792" y="19202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a:t>
            </a:r>
            <a:endParaRPr lang="en-US" sz="1600" dirty="0"/>
          </a:p>
        </p:txBody>
      </p:sp>
      <p:sp>
        <p:nvSpPr>
          <p:cNvPr id="10" name="Text 5"/>
          <p:cNvSpPr txBox="1"/>
          <p:nvPr/>
        </p:nvSpPr>
        <p:spPr>
          <a:xfrm>
            <a:off x="1234440" y="19202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Source map</a:t>
            </a:r>
            <a:endParaRPr lang="en-US" sz="1600" dirty="0"/>
          </a:p>
        </p:txBody>
      </p:sp>
      <p:sp>
        <p:nvSpPr>
          <p:cNvPr id="11" name="!!lnk-A2a">
            <a:hlinkClick action="ppaction://hlinksldjump" r:id="rId6"/>
          </p:cNvPr>
          <p:cNvSpPr/>
          <p:nvPr/>
        </p:nvSpPr>
        <p:spPr>
          <a:xfrm>
            <a:off x="457200" y="24460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2" name="Text 7"/>
          <p:cNvSpPr txBox="1"/>
          <p:nvPr/>
        </p:nvSpPr>
        <p:spPr>
          <a:xfrm>
            <a:off x="621792" y="24460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A2</a:t>
            </a:r>
            <a:endParaRPr lang="en-US" sz="1600" dirty="0"/>
          </a:p>
        </p:txBody>
      </p:sp>
      <p:sp>
        <p:nvSpPr>
          <p:cNvPr id="13" name="Text 8"/>
          <p:cNvSpPr txBox="1"/>
          <p:nvPr/>
        </p:nvSpPr>
        <p:spPr>
          <a:xfrm>
            <a:off x="1234440" y="24460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Full journey, hardware and the BLE lane</a:t>
            </a:r>
            <a:endParaRPr lang="en-US" sz="1600" dirty="0"/>
          </a:p>
        </p:txBody>
      </p:sp>
      <p:sp>
        <p:nvSpPr>
          <p:cNvPr id="14" name="!!lnk-A3a">
            <a:hlinkClick action="ppaction://hlinksldjump" r:id="rId7"/>
          </p:cNvPr>
          <p:cNvSpPr/>
          <p:nvPr/>
        </p:nvSpPr>
        <p:spPr>
          <a:xfrm>
            <a:off x="457200" y="29718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5" name="Text 10"/>
          <p:cNvSpPr txBox="1"/>
          <p:nvPr/>
        </p:nvSpPr>
        <p:spPr>
          <a:xfrm>
            <a:off x="621792" y="29718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A3</a:t>
            </a:r>
            <a:endParaRPr lang="en-US" sz="1600" dirty="0"/>
          </a:p>
        </p:txBody>
      </p:sp>
      <p:sp>
        <p:nvSpPr>
          <p:cNvPr id="16" name="Text 11"/>
          <p:cNvSpPr txBox="1"/>
          <p:nvPr/>
        </p:nvSpPr>
        <p:spPr>
          <a:xfrm>
            <a:off x="1234440" y="29718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Market maths, segment and regional context</a:t>
            </a:r>
            <a:endParaRPr lang="en-US" sz="1600" dirty="0"/>
          </a:p>
        </p:txBody>
      </p:sp>
      <p:sp>
        <p:nvSpPr>
          <p:cNvPr id="17" name="!!lnk-A4a">
            <a:hlinkClick action="ppaction://hlinksldjump" r:id="rId8"/>
          </p:cNvPr>
          <p:cNvSpPr/>
          <p:nvPr/>
        </p:nvSpPr>
        <p:spPr>
          <a:xfrm>
            <a:off x="457200" y="349758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8" name="Text 13"/>
          <p:cNvSpPr txBox="1"/>
          <p:nvPr/>
        </p:nvSpPr>
        <p:spPr>
          <a:xfrm>
            <a:off x="621792" y="349758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A4</a:t>
            </a:r>
            <a:endParaRPr lang="en-US" sz="1600" dirty="0"/>
          </a:p>
        </p:txBody>
      </p:sp>
      <p:sp>
        <p:nvSpPr>
          <p:cNvPr id="19" name="Text 14"/>
          <p:cNvSpPr txBox="1"/>
          <p:nvPr/>
        </p:nvSpPr>
        <p:spPr>
          <a:xfrm>
            <a:off x="1234440" y="3497580"/>
            <a:ext cx="4572000" cy="457200"/>
          </a:xfrm>
          <a:prstGeom prst="rect">
            <a:avLst/>
          </a:prstGeom>
          <a:noFill/>
          <a:ln/>
        </p:spPr>
        <p:txBody>
          <a:bodyPr wrap="square" lIns="0" tIns="0" rIns="0" bIns="0" rtlCol="0" anchor="ctr"/>
          <a:lstStyle/>
          <a:p>
            <a:pPr indent="0" marL="0">
              <a:buNone/>
            </a:pPr>
            <a:r>
              <a:rPr lang="en-US" sz="1600" dirty="0">
                <a:solidFill>
                  <a:srgbClr val="0B1526"/>
                </a:solidFill>
              </a:rPr>
              <a:t>Competitor matrix, evidence and moat</a:t>
            </a:r>
            <a:endParaRPr lang="en-US" sz="1600" dirty="0"/>
          </a:p>
        </p:txBody>
      </p:sp>
      <p:sp>
        <p:nvSpPr>
          <p:cNvPr id="20" name="!!lnk-A5">
            <a:hlinkClick action="ppaction://hlinksldjump" r:id="rId9"/>
          </p:cNvPr>
          <p:cNvSpPr/>
          <p:nvPr/>
        </p:nvSpPr>
        <p:spPr>
          <a:xfrm>
            <a:off x="457200" y="402336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1" name="Text 16"/>
          <p:cNvSpPr txBox="1"/>
          <p:nvPr/>
        </p:nvSpPr>
        <p:spPr>
          <a:xfrm>
            <a:off x="621792" y="402336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A5</a:t>
            </a:r>
            <a:endParaRPr lang="en-US" sz="1600" dirty="0"/>
          </a:p>
        </p:txBody>
      </p:sp>
      <p:sp>
        <p:nvSpPr>
          <p:cNvPr id="22" name="Text 17"/>
          <p:cNvSpPr txBox="1"/>
          <p:nvPr/>
        </p:nvSpPr>
        <p:spPr>
          <a:xfrm>
            <a:off x="1234440" y="4023360"/>
            <a:ext cx="4572000" cy="457200"/>
          </a:xfrm>
          <a:prstGeom prst="rect">
            <a:avLst/>
          </a:prstGeom>
          <a:noFill/>
          <a:ln/>
        </p:spPr>
        <p:txBody>
          <a:bodyPr wrap="square" lIns="0" tIns="0" rIns="0" bIns="0" rtlCol="0" anchor="ctr"/>
          <a:lstStyle/>
          <a:p>
            <a:pPr indent="0" marL="0">
              <a:buNone/>
            </a:pPr>
            <a:r>
              <a:rPr lang="en-US" sz="1600" dirty="0">
                <a:solidFill>
                  <a:srgbClr val="0B1526"/>
                </a:solidFill>
              </a:rPr>
              <a:t>Category exits and consolidation</a:t>
            </a:r>
            <a:endParaRPr lang="en-US" sz="1600" dirty="0"/>
          </a:p>
        </p:txBody>
      </p:sp>
      <p:sp>
        <p:nvSpPr>
          <p:cNvPr id="23" name="!!lnk-A6">
            <a:hlinkClick action="ppaction://hlinksldjump" r:id="rId10"/>
          </p:cNvPr>
          <p:cNvSpPr/>
          <p:nvPr/>
        </p:nvSpPr>
        <p:spPr>
          <a:xfrm>
            <a:off x="457200" y="45491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4" name="Text 19"/>
          <p:cNvSpPr txBox="1"/>
          <p:nvPr/>
        </p:nvSpPr>
        <p:spPr>
          <a:xfrm>
            <a:off x="621792" y="45491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A6</a:t>
            </a:r>
            <a:endParaRPr lang="en-US" sz="1600" dirty="0"/>
          </a:p>
        </p:txBody>
      </p:sp>
      <p:sp>
        <p:nvSpPr>
          <p:cNvPr id="25" name="Text 20"/>
          <p:cNvSpPr txBox="1"/>
          <p:nvPr/>
        </p:nvSpPr>
        <p:spPr>
          <a:xfrm>
            <a:off x="1234440" y="45491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AGIL® Secure Platform detail</a:t>
            </a:r>
            <a:endParaRPr lang="en-US" sz="1600" dirty="0"/>
          </a:p>
        </p:txBody>
      </p:sp>
      <p:sp>
        <p:nvSpPr>
          <p:cNvPr id="26" name="!!lnk-A7a">
            <a:hlinkClick action="ppaction://hlinksldjump" r:id="rId11"/>
          </p:cNvPr>
          <p:cNvSpPr/>
          <p:nvPr/>
        </p:nvSpPr>
        <p:spPr>
          <a:xfrm>
            <a:off x="457200" y="50749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7" name="Text 22"/>
          <p:cNvSpPr txBox="1"/>
          <p:nvPr/>
        </p:nvSpPr>
        <p:spPr>
          <a:xfrm>
            <a:off x="621792" y="50749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A7</a:t>
            </a:r>
            <a:endParaRPr lang="en-US" sz="1600" dirty="0"/>
          </a:p>
        </p:txBody>
      </p:sp>
      <p:sp>
        <p:nvSpPr>
          <p:cNvPr id="28" name="Text 23"/>
          <p:cNvSpPr txBox="1"/>
          <p:nvPr/>
        </p:nvSpPr>
        <p:spPr>
          <a:xfrm>
            <a:off x="1234440" y="50749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Pilot design and full scorecard</a:t>
            </a:r>
            <a:endParaRPr lang="en-US" sz="1600" dirty="0"/>
          </a:p>
        </p:txBody>
      </p:sp>
      <p:sp>
        <p:nvSpPr>
          <p:cNvPr id="29" name="!!lnk-A8">
            <a:hlinkClick action="ppaction://hlinksldjump" r:id="rId12"/>
          </p:cNvPr>
          <p:cNvSpPr/>
          <p:nvPr/>
        </p:nvSpPr>
        <p:spPr>
          <a:xfrm>
            <a:off x="457200" y="56007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0" name="Text 25"/>
          <p:cNvSpPr txBox="1"/>
          <p:nvPr/>
        </p:nvSpPr>
        <p:spPr>
          <a:xfrm>
            <a:off x="621792" y="56007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A8</a:t>
            </a:r>
            <a:endParaRPr lang="en-US" sz="1600" dirty="0"/>
          </a:p>
        </p:txBody>
      </p:sp>
      <p:sp>
        <p:nvSpPr>
          <p:cNvPr id="31" name="Text 26"/>
          <p:cNvSpPr txBox="1"/>
          <p:nvPr/>
        </p:nvSpPr>
        <p:spPr>
          <a:xfrm>
            <a:off x="1234440" y="56007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Trust, privacy and security</a:t>
            </a:r>
            <a:endParaRPr lang="en-US" sz="1600" dirty="0"/>
          </a:p>
        </p:txBody>
      </p:sp>
      <p:sp>
        <p:nvSpPr>
          <p:cNvPr id="32" name="!!lnk-A9">
            <a:hlinkClick action="ppaction://hlinksldjump" r:id="rId13"/>
          </p:cNvPr>
          <p:cNvSpPr/>
          <p:nvPr/>
        </p:nvSpPr>
        <p:spPr>
          <a:xfrm>
            <a:off x="6217920" y="19202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3" name="Text 28"/>
          <p:cNvSpPr txBox="1"/>
          <p:nvPr/>
        </p:nvSpPr>
        <p:spPr>
          <a:xfrm>
            <a:off x="6382512" y="19202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A9</a:t>
            </a:r>
            <a:endParaRPr lang="en-US" sz="1600" dirty="0"/>
          </a:p>
        </p:txBody>
      </p:sp>
      <p:sp>
        <p:nvSpPr>
          <p:cNvPr id="34" name="Text 29"/>
          <p:cNvSpPr txBox="1"/>
          <p:nvPr/>
        </p:nvSpPr>
        <p:spPr>
          <a:xfrm>
            <a:off x="6995160" y="19202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Regulatory and standards path</a:t>
            </a:r>
            <a:endParaRPr lang="en-US" sz="1600" dirty="0"/>
          </a:p>
        </p:txBody>
      </p:sp>
      <p:sp>
        <p:nvSpPr>
          <p:cNvPr id="35" name="!!lnk-A10a">
            <a:hlinkClick action="ppaction://hlinksldjump" r:id="rId14"/>
          </p:cNvPr>
          <p:cNvSpPr/>
          <p:nvPr/>
        </p:nvSpPr>
        <p:spPr>
          <a:xfrm>
            <a:off x="6217920" y="24460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6" name="Text 31"/>
          <p:cNvSpPr txBox="1"/>
          <p:nvPr/>
        </p:nvSpPr>
        <p:spPr>
          <a:xfrm>
            <a:off x="6382512" y="24460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A10</a:t>
            </a:r>
            <a:endParaRPr lang="en-US" sz="1600" dirty="0"/>
          </a:p>
        </p:txBody>
      </p:sp>
      <p:sp>
        <p:nvSpPr>
          <p:cNvPr id="37" name="Text 32"/>
          <p:cNvSpPr txBox="1"/>
          <p:nvPr/>
        </p:nvSpPr>
        <p:spPr>
          <a:xfrm>
            <a:off x="6995160" y="24460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Risks and the milestone that retires each</a:t>
            </a:r>
            <a:endParaRPr lang="en-US" sz="1600" dirty="0"/>
          </a:p>
        </p:txBody>
      </p:sp>
      <p:sp>
        <p:nvSpPr>
          <p:cNvPr id="38" name="!!lnk-A11a">
            <a:hlinkClick action="ppaction://hlinksldjump" r:id="rId15"/>
          </p:cNvPr>
          <p:cNvSpPr/>
          <p:nvPr/>
        </p:nvSpPr>
        <p:spPr>
          <a:xfrm>
            <a:off x="6217920" y="29718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9" name="Text 34"/>
          <p:cNvSpPr txBox="1"/>
          <p:nvPr/>
        </p:nvSpPr>
        <p:spPr>
          <a:xfrm>
            <a:off x="6382512" y="29718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A11</a:t>
            </a:r>
            <a:endParaRPr lang="en-US" sz="1600" dirty="0"/>
          </a:p>
        </p:txBody>
      </p:sp>
      <p:sp>
        <p:nvSpPr>
          <p:cNvPr id="40" name="Text 35"/>
          <p:cNvSpPr txBox="1"/>
          <p:nvPr/>
        </p:nvSpPr>
        <p:spPr>
          <a:xfrm>
            <a:off x="6995160" y="29718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Unit economics, payback per payer and plan</a:t>
            </a:r>
            <a:endParaRPr lang="en-US" sz="1600" dirty="0"/>
          </a:p>
        </p:txBody>
      </p:sp>
      <p:sp>
        <p:nvSpPr>
          <p:cNvPr id="41" name="!!lnk-A12">
            <a:hlinkClick action="ppaction://hlinksldjump" r:id="rId16"/>
          </p:cNvPr>
          <p:cNvSpPr/>
          <p:nvPr/>
        </p:nvSpPr>
        <p:spPr>
          <a:xfrm>
            <a:off x="6217920" y="349758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2" name="Text 37"/>
          <p:cNvSpPr txBox="1"/>
          <p:nvPr/>
        </p:nvSpPr>
        <p:spPr>
          <a:xfrm>
            <a:off x="6382512" y="349758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A12</a:t>
            </a:r>
            <a:endParaRPr lang="en-US" sz="1600" dirty="0"/>
          </a:p>
        </p:txBody>
      </p:sp>
      <p:sp>
        <p:nvSpPr>
          <p:cNvPr id="43" name="Text 38"/>
          <p:cNvSpPr txBox="1"/>
          <p:nvPr/>
        </p:nvSpPr>
        <p:spPr>
          <a:xfrm>
            <a:off x="6995160" y="3497580"/>
            <a:ext cx="4572000" cy="457200"/>
          </a:xfrm>
          <a:prstGeom prst="rect">
            <a:avLst/>
          </a:prstGeom>
          <a:noFill/>
          <a:ln/>
        </p:spPr>
        <p:txBody>
          <a:bodyPr wrap="square" lIns="0" tIns="0" rIns="0" bIns="0" rtlCol="0" anchor="ctr"/>
          <a:lstStyle/>
          <a:p>
            <a:pPr indent="0" marL="0">
              <a:buNone/>
            </a:pPr>
            <a:r>
              <a:rPr lang="en-US" sz="1600" dirty="0">
                <a:solidFill>
                  <a:srgbClr val="0B1526"/>
                </a:solidFill>
              </a:rPr>
              <a:t>Team detail and what an investor would own</a:t>
            </a:r>
            <a:endParaRPr lang="en-US" sz="1600" dirty="0"/>
          </a:p>
        </p:txBody>
      </p:sp>
      <p:sp>
        <p:nvSpPr>
          <p:cNvPr id="44" name="!!lnk-A13">
            <a:hlinkClick action="ppaction://hlinksldjump" r:id="rId17"/>
          </p:cNvPr>
          <p:cNvSpPr/>
          <p:nvPr/>
        </p:nvSpPr>
        <p:spPr>
          <a:xfrm>
            <a:off x="6217920" y="402336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5" name="Text 40"/>
          <p:cNvSpPr txBox="1"/>
          <p:nvPr/>
        </p:nvSpPr>
        <p:spPr>
          <a:xfrm>
            <a:off x="6382512" y="402336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A13</a:t>
            </a:r>
            <a:endParaRPr lang="en-US" sz="1600" dirty="0"/>
          </a:p>
        </p:txBody>
      </p:sp>
      <p:sp>
        <p:nvSpPr>
          <p:cNvPr id="46" name="Text 41"/>
          <p:cNvSpPr txBox="1"/>
          <p:nvPr/>
        </p:nvSpPr>
        <p:spPr>
          <a:xfrm>
            <a:off x="6995160" y="4023360"/>
            <a:ext cx="4572000" cy="457200"/>
          </a:xfrm>
          <a:prstGeom prst="rect">
            <a:avLst/>
          </a:prstGeom>
          <a:noFill/>
          <a:ln/>
        </p:spPr>
        <p:txBody>
          <a:bodyPr wrap="square" lIns="0" tIns="0" rIns="0" bIns="0" rtlCol="0" anchor="ctr"/>
          <a:lstStyle/>
          <a:p>
            <a:pPr indent="0" marL="0">
              <a:buNone/>
            </a:pPr>
            <a:r>
              <a:rPr lang="en-US" sz="1600" dirty="0">
                <a:solidFill>
                  <a:srgbClr val="0B1526"/>
                </a:solidFill>
              </a:rPr>
              <a:t>Assumptions register</a:t>
            </a:r>
            <a:endParaRPr lang="en-US" sz="1600" dirty="0"/>
          </a:p>
        </p:txBody>
      </p:sp>
      <p:sp>
        <p:nvSpPr>
          <p:cNvPr id="47" name="!!lnk-A14a">
            <a:hlinkClick action="ppaction://hlinksldjump" r:id="rId18"/>
          </p:cNvPr>
          <p:cNvSpPr/>
          <p:nvPr/>
        </p:nvSpPr>
        <p:spPr>
          <a:xfrm>
            <a:off x="6217920" y="45491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8" name="Text 43"/>
          <p:cNvSpPr txBox="1"/>
          <p:nvPr/>
        </p:nvSpPr>
        <p:spPr>
          <a:xfrm>
            <a:off x="6382512" y="45491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A14</a:t>
            </a:r>
            <a:endParaRPr lang="en-US" sz="1600" dirty="0"/>
          </a:p>
        </p:txBody>
      </p:sp>
      <p:sp>
        <p:nvSpPr>
          <p:cNvPr id="49" name="Text 44"/>
          <p:cNvSpPr txBox="1"/>
          <p:nvPr/>
        </p:nvSpPr>
        <p:spPr>
          <a:xfrm>
            <a:off x="6995160" y="45491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Q&amp;A prep: ten killer questions</a:t>
            </a:r>
            <a:endParaRPr lang="en-US" sz="1600" dirty="0"/>
          </a:p>
        </p:txBody>
      </p:sp>
      <p:sp>
        <p:nvSpPr>
          <p:cNvPr id="50" name="!!lnk-A15">
            <a:hlinkClick action="ppaction://hlinksldjump" r:id="rId19"/>
          </p:cNvPr>
          <p:cNvSpPr/>
          <p:nvPr/>
        </p:nvSpPr>
        <p:spPr>
          <a:xfrm>
            <a:off x="6217920" y="50749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51" name="Text 46"/>
          <p:cNvSpPr txBox="1"/>
          <p:nvPr/>
        </p:nvSpPr>
        <p:spPr>
          <a:xfrm>
            <a:off x="6382512" y="50749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A15</a:t>
            </a:r>
            <a:endParaRPr lang="en-US" sz="1600" dirty="0"/>
          </a:p>
        </p:txBody>
      </p:sp>
      <p:sp>
        <p:nvSpPr>
          <p:cNvPr id="52" name="Text 47"/>
          <p:cNvSpPr txBox="1"/>
          <p:nvPr/>
        </p:nvSpPr>
        <p:spPr>
          <a:xfrm>
            <a:off x="6995160" y="50749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Roadmap and vision options</a:t>
            </a:r>
            <a:endParaRPr lang="en-US" sz="1600" dirty="0"/>
          </a:p>
        </p:txBody>
      </p:sp>
      <p:sp>
        <p:nvSpPr>
          <p:cNvPr id="53" name="!!lnk-A16">
            <a:hlinkClick action="ppaction://hlinksldjump" r:id="rId20"/>
          </p:cNvPr>
          <p:cNvSpPr/>
          <p:nvPr/>
        </p:nvSpPr>
        <p:spPr>
          <a:xfrm>
            <a:off x="6217920" y="56007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54" name="Text 49"/>
          <p:cNvSpPr txBox="1"/>
          <p:nvPr/>
        </p:nvSpPr>
        <p:spPr>
          <a:xfrm>
            <a:off x="6382512" y="56007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A16</a:t>
            </a:r>
            <a:endParaRPr lang="en-US" sz="1600" dirty="0"/>
          </a:p>
        </p:txBody>
      </p:sp>
      <p:sp>
        <p:nvSpPr>
          <p:cNvPr id="55" name="Text 50"/>
          <p:cNvSpPr txBox="1"/>
          <p:nvPr/>
        </p:nvSpPr>
        <p:spPr>
          <a:xfrm>
            <a:off x="6995160" y="56007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Ship gates and fill list (INTERNAL)</a:t>
            </a:r>
            <a:endParaRPr lang="en-US" sz="1600" dirty="0"/>
          </a:p>
        </p:txBody>
      </p:sp>
      <p:sp>
        <p:nvSpPr>
          <p:cNvPr id="56" name="!!asklink">
            <a:hlinkClick action="ppaction://hlinksldjump" r:id="rId21"/>
          </p:cNvPr>
          <p:cNvSpPr txBox="1"/>
          <p:nvPr/>
        </p:nvSpPr>
        <p:spPr>
          <a:xfrm>
            <a:off x="10058400" y="6355080"/>
            <a:ext cx="1645920" cy="256032"/>
          </a:xfrm>
          <a:prstGeom prst="rect">
            <a:avLst/>
          </a:prstGeom>
          <a:noFill/>
          <a:ln/>
        </p:spPr>
        <p:txBody>
          <a:bodyPr wrap="square" lIns="0" tIns="0" rIns="0" bIns="0" rtlCol="0" anchor="ctr"/>
          <a:lstStyle/>
          <a:p>
            <a:pPr algn="r" indent="0" marL="0">
              <a:buNone/>
            </a:pPr>
            <a:r>
              <a:rPr lang="en-US" sz="1000" u="sng" dirty="0">
                <a:solidFill>
                  <a:srgbClr val="0B84AE"/>
                </a:solidFill>
              </a:rPr>
              <a:t>Back to the ask</a:t>
            </a:r>
            <a:endParaRPr lang="en-US" sz="1000" dirty="0"/>
          </a:p>
        </p:txBody>
      </p:sp>
      <p:grpSp>
        <p:nvGrpSpPr>
          <p:cNvPr id="57"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8"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9"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  Source map</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Every external number maps to one source.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Short tags on slides; this slide's notes list all 78 sources (id · title · URL).</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620" cy="3456432"/>
          </a:xfrm>
          <a:prstGeom prst="roundRect">
            <a:avLst>
              <a:gd name="adj" fmla="val 317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860" cy="254000"/>
          </a:xfrm>
          <a:prstGeom prst="rect">
            <a:avLst/>
          </a:prstGeom>
          <a:noFill/>
          <a:ln/>
        </p:spPr>
        <p:txBody>
          <a:bodyPr wrap="square" lIns="0" tIns="0" rIns="0" bIns="0" rtlCol="0" anchor="t"/>
          <a:lstStyle/>
          <a:p>
            <a:pPr indent="0" marL="0">
              <a:buNone/>
            </a:pPr>
            <a:r>
              <a:rPr lang="en-US" sz="1600" b="1" dirty="0">
                <a:solidFill>
                  <a:srgbClr val="0B2545"/>
                </a:solidFill>
              </a:rPr>
              <a:t>Main deck</a:t>
            </a:r>
            <a:endParaRPr lang="en-US" sz="1600" dirty="0"/>
          </a:p>
        </p:txBody>
      </p:sp>
      <p:sp>
        <p:nvSpPr>
          <p:cNvPr id="12" name="Text 7"/>
          <p:cNvSpPr txBox="1"/>
          <p:nvPr/>
        </p:nvSpPr>
        <p:spPr>
          <a:xfrm>
            <a:off x="640080" y="2393696"/>
            <a:ext cx="3261860" cy="274472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S2 · DEM11, DEM10, FAC14, DEM9, DEM9B, DEM13</a:t>
            </a:r>
            <a:endParaRPr lang="en-US" sz="1400" dirty="0"/>
          </a:p>
          <a:p>
            <a:pPr marL="152400" indent="-152400">
              <a:spcAft>
                <a:spcPts val="400"/>
              </a:spcAft>
              <a:buSzPct val="100000"/>
              <a:buChar char="•"/>
            </a:pPr>
            <a:r>
              <a:rPr lang="en-US" sz="1400" dirty="0">
                <a:solidFill>
                  <a:srgbClr val="0B1526"/>
                </a:solidFill>
              </a:rPr>
              <a:t>S3 · FAC4, WHY10, WHY12, WHY11, COM2, WHY6</a:t>
            </a:r>
            <a:endParaRPr lang="en-US" sz="1400" dirty="0"/>
          </a:p>
          <a:p>
            <a:pPr marL="152400" indent="-152400">
              <a:spcAft>
                <a:spcPts val="400"/>
              </a:spcAft>
              <a:buSzPct val="100000"/>
              <a:buChar char="•"/>
            </a:pPr>
            <a:r>
              <a:rPr lang="en-US" sz="1400" dirty="0">
                <a:solidFill>
                  <a:srgbClr val="0B1526"/>
                </a:solidFill>
              </a:rPr>
              <a:t>S4 · WHY13, WHY11</a:t>
            </a:r>
            <a:endParaRPr lang="en-US" sz="1400" dirty="0"/>
          </a:p>
          <a:p>
            <a:pPr marL="152400" indent="-152400">
              <a:spcAft>
                <a:spcPts val="400"/>
              </a:spcAft>
              <a:buSzPct val="100000"/>
              <a:buChar char="•"/>
            </a:pPr>
            <a:r>
              <a:rPr lang="en-US" sz="1400" dirty="0">
                <a:solidFill>
                  <a:srgbClr val="0B1526"/>
                </a:solidFill>
              </a:rPr>
              <a:t>S7 · COM5, COM2, COM9, COM8, COM7, COM10, COM3, COM1, COM14, WHY14</a:t>
            </a:r>
            <a:endParaRPr lang="en-US" sz="1400" dirty="0"/>
          </a:p>
          <a:p>
            <a:pPr marL="152400" indent="-152400">
              <a:spcAft>
                <a:spcPts val="400"/>
              </a:spcAft>
              <a:buSzPct val="100000"/>
              <a:buChar char="•"/>
            </a:pPr>
            <a:r>
              <a:rPr lang="en-US" sz="1400" dirty="0">
                <a:solidFill>
                  <a:srgbClr val="0B1526"/>
                </a:solidFill>
              </a:rPr>
              <a:t>S8 · FAC6, FAC7, FAC8, DEM2</a:t>
            </a:r>
            <a:endParaRPr lang="en-US" sz="1400" dirty="0"/>
          </a:p>
          <a:p>
            <a:pPr marL="152400" indent="-152400">
              <a:spcAft>
                <a:spcPts val="400"/>
              </a:spcAft>
              <a:buSzPct val="100000"/>
              <a:buChar char="•"/>
            </a:pPr>
            <a:r>
              <a:rPr lang="en-US" sz="1400" dirty="0">
                <a:solidFill>
                  <a:srgbClr val="0B1526"/>
                </a:solidFill>
              </a:rPr>
              <a:t>S9 · ROI8, ROI9</a:t>
            </a:r>
            <a:endParaRPr lang="en-US" sz="1400" dirty="0"/>
          </a:p>
          <a:p>
            <a:pPr marL="152400" indent="-152400">
              <a:spcAft>
                <a:spcPts val="400"/>
              </a:spcAft>
              <a:buSzPct val="100000"/>
              <a:buChar char="•"/>
            </a:pPr>
            <a:r>
              <a:rPr lang="en-US" sz="1400" dirty="0">
                <a:solidFill>
                  <a:srgbClr val="0B1526"/>
                </a:solidFill>
              </a:rPr>
              <a:t>S10 · ROI5, ROI6, FAC13</a:t>
            </a:r>
            <a:endParaRPr lang="en-US" sz="1400" dirty="0"/>
          </a:p>
        </p:txBody>
      </p:sp>
      <p:sp>
        <p:nvSpPr>
          <p:cNvPr id="13" name="Shape 8"/>
          <p:cNvSpPr/>
          <p:nvPr/>
        </p:nvSpPr>
        <p:spPr>
          <a:xfrm>
            <a:off x="4267700" y="1920240"/>
            <a:ext cx="7436620" cy="3456432"/>
          </a:xfrm>
          <a:prstGeom prst="roundRect">
            <a:avLst>
              <a:gd name="adj" fmla="val 3175"/>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580" y="2066544"/>
            <a:ext cx="7070860" cy="254000"/>
          </a:xfrm>
          <a:prstGeom prst="rect">
            <a:avLst/>
          </a:prstGeom>
          <a:noFill/>
          <a:ln/>
        </p:spPr>
        <p:txBody>
          <a:bodyPr wrap="square" lIns="0" tIns="0" rIns="0" bIns="0" rtlCol="0" anchor="t"/>
          <a:lstStyle/>
          <a:p>
            <a:pPr indent="0" marL="0">
              <a:buNone/>
            </a:pPr>
            <a:r>
              <a:rPr lang="en-US" sz="1600" b="1" dirty="0">
                <a:solidFill>
                  <a:srgbClr val="0B2545"/>
                </a:solidFill>
              </a:rPr>
              <a:t>Appendix and Q&amp;A</a:t>
            </a:r>
            <a:endParaRPr lang="en-US" sz="1600" dirty="0"/>
          </a:p>
        </p:txBody>
      </p:sp>
      <p:sp>
        <p:nvSpPr>
          <p:cNvPr id="15" name="Text 10"/>
          <p:cNvSpPr txBox="1"/>
          <p:nvPr/>
        </p:nvSpPr>
        <p:spPr>
          <a:xfrm>
            <a:off x="4450580" y="2393696"/>
            <a:ext cx="7070860" cy="25816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A3 · FAC5, FAC6–FAC9, FAC10/DEM6, DEM2–DEM5, DEM8, DEM9, DEM9B, DEM11, DEM12, DEM12B</a:t>
            </a:r>
            <a:endParaRPr lang="en-US" sz="1400" dirty="0"/>
          </a:p>
          <a:p>
            <a:pPr marL="152400" indent="-152400">
              <a:spcAft>
                <a:spcPts val="400"/>
              </a:spcAft>
              <a:buSzPct val="100000"/>
              <a:buChar char="•"/>
            </a:pPr>
            <a:r>
              <a:rPr lang="en-US" sz="1400" dirty="0">
                <a:solidFill>
                  <a:srgbClr val="0B1526"/>
                </a:solidFill>
              </a:rPr>
              <a:t>A4 · COM1–COM12, COM5B, COM14, FAC12, FAC15, WHY11, WHY13, WHY13B, WHY14</a:t>
            </a:r>
            <a:endParaRPr lang="en-US" sz="1400" dirty="0"/>
          </a:p>
          <a:p>
            <a:pPr marL="152400" indent="-152400">
              <a:spcAft>
                <a:spcPts val="400"/>
              </a:spcAft>
              <a:buSzPct val="100000"/>
              <a:buChar char="•"/>
            </a:pPr>
            <a:r>
              <a:rPr lang="en-US" sz="1400" dirty="0">
                <a:solidFill>
                  <a:srgbClr val="0B1526"/>
                </a:solidFill>
              </a:rPr>
              <a:t>A5 · COM1, COM13, COM14, COM14B, COM14C, COM15, COM15B</a:t>
            </a:r>
            <a:endParaRPr lang="en-US" sz="1400" dirty="0"/>
          </a:p>
          <a:p>
            <a:pPr marL="152400" indent="-152400">
              <a:spcAft>
                <a:spcPts val="400"/>
              </a:spcAft>
              <a:buSzPct val="100000"/>
              <a:buChar char="•"/>
            </a:pPr>
            <a:r>
              <a:rPr lang="en-US" sz="1400" dirty="0">
                <a:solidFill>
                  <a:srgbClr val="0B1526"/>
                </a:solidFill>
              </a:rPr>
              <a:t>A7 · ROI2, ROI4, ROI5   |   A8 · WHY9</a:t>
            </a:r>
            <a:endParaRPr lang="en-US" sz="1400" dirty="0"/>
          </a:p>
          <a:p>
            <a:pPr marL="152400" indent="-152400">
              <a:spcAft>
                <a:spcPts val="400"/>
              </a:spcAft>
              <a:buSzPct val="100000"/>
              <a:buChar char="•"/>
            </a:pPr>
            <a:r>
              <a:rPr lang="en-US" sz="1400" dirty="0">
                <a:solidFill>
                  <a:srgbClr val="0B1526"/>
                </a:solidFill>
              </a:rPr>
              <a:t>A9 · WHY1, WHY1B, WHY2–WHY8, WHY15, WHY16</a:t>
            </a:r>
            <a:endParaRPr lang="en-US" sz="1400" dirty="0"/>
          </a:p>
          <a:p>
            <a:pPr marL="152400" indent="-152400">
              <a:spcAft>
                <a:spcPts val="400"/>
              </a:spcAft>
              <a:buSzPct val="100000"/>
              <a:buChar char="•"/>
            </a:pPr>
            <a:r>
              <a:rPr lang="en-US" sz="1400" dirty="0">
                <a:solidFill>
                  <a:srgbClr val="0B1526"/>
                </a:solidFill>
              </a:rPr>
              <a:t>A10 · DEM2–DEM4, DEM9, DEM9B, FAC4, WHY2, WHY7, WHY14, FAC13</a:t>
            </a:r>
            <a:endParaRPr lang="en-US" sz="1400" dirty="0"/>
          </a:p>
          <a:p>
            <a:pPr marL="152400" indent="-152400">
              <a:spcAft>
                <a:spcPts val="400"/>
              </a:spcAft>
              <a:buSzPct val="100000"/>
              <a:buChar char="•"/>
            </a:pPr>
            <a:r>
              <a:rPr lang="en-US" sz="1400" dirty="0">
                <a:solidFill>
                  <a:srgbClr val="0B1526"/>
                </a:solidFill>
              </a:rPr>
              <a:t>A11 · FAC1, FAC2, ROI1, ROI2, ROI4, ROI5, ROI8, ROI9, ROI11–ROI16, ROI14B</a:t>
            </a:r>
            <a:endParaRPr lang="en-US" sz="1400" dirty="0"/>
          </a:p>
          <a:p>
            <a:pPr marL="152400" indent="-152400">
              <a:spcAft>
                <a:spcPts val="400"/>
              </a:spcAft>
              <a:buSzPct val="100000"/>
              <a:buChar char="•"/>
            </a:pPr>
            <a:r>
              <a:rPr lang="en-US" sz="1400" dirty="0">
                <a:solidFill>
                  <a:srgbClr val="0B1526"/>
                </a:solidFill>
              </a:rPr>
              <a:t>A13 · DEM6   |   A14 · DEM2, DEM9, DEM9B, WHY14, ROI8, ROI9, ROI11</a:t>
            </a:r>
            <a:endParaRPr lang="en-US" sz="1400" dirty="0"/>
          </a:p>
        </p:txBody>
      </p:sp>
      <p:sp>
        <p:nvSpPr>
          <p:cNvPr id="16" name="Shape 11"/>
          <p:cNvSpPr/>
          <p:nvPr/>
        </p:nvSpPr>
        <p:spPr>
          <a:xfrm>
            <a:off x="457200" y="5486400"/>
            <a:ext cx="11247120" cy="685800"/>
          </a:xfrm>
          <a:prstGeom prst="roundRect">
            <a:avLst>
              <a:gd name="adj" fmla="val 13333"/>
            </a:avLst>
          </a:prstGeom>
          <a:solidFill>
            <a:srgbClr val="FFF4E5"/>
          </a:solidFill>
          <a:ln w="15875">
            <a:solidFill>
              <a:srgbClr val="D97706"/>
            </a:solidFill>
            <a:prstDash val="solid"/>
          </a:ln>
          <a:effectLst>
            <a:outerShdw sx="100000" sy="100000" kx="0" ky="0" algn="bl" rotWithShape="0" blurRad="152400" dist="25400" dir="5400000">
              <a:srgbClr val="0A1628">
                <a:alpha val="12000"/>
              </a:srgbClr>
            </a:outerShdw>
          </a:effectLst>
        </p:spPr>
      </p:sp>
      <p:sp>
        <p:nvSpPr>
          <p:cNvPr id="17" name="Text 12"/>
          <p:cNvSpPr txBox="1"/>
          <p:nvPr/>
        </p:nvSpPr>
        <p:spPr>
          <a:xfrm>
            <a:off x="640080" y="5504688"/>
            <a:ext cx="10881360" cy="649224"/>
          </a:xfrm>
          <a:prstGeom prst="rect">
            <a:avLst/>
          </a:prstGeom>
          <a:noFill/>
          <a:ln/>
        </p:spPr>
        <p:txBody>
          <a:bodyPr wrap="square" lIns="0" tIns="0" rIns="0" bIns="0" rtlCol="0" anchor="ctr"/>
          <a:lstStyle/>
          <a:p>
            <a:pPr indent="0" marL="0">
              <a:buNone/>
            </a:pPr>
            <a:r>
              <a:rPr lang="en-US" sz="1400" b="1" dirty="0">
                <a:solidFill>
                  <a:srgbClr val="D97706"/>
                </a:solidFill>
              </a:rPr>
              <a:t>G-SRC gate · [CMO] · due [date]: </a:t>
            </a:r>
            <a:pPr indent="0" marL="0">
              <a:buNone/>
            </a:pPr>
            <a:r>
              <a:rPr lang="en-US" sz="1400" dirty="0">
                <a:solidFill>
                  <a:srgbClr val="0B1526"/>
                </a:solidFill>
              </a:rPr>
              <a:t>click-check every URL and wording before either file leaves the team; unconfirmed → delete or mark '(reported by [outlet])'; conflicts → conservative value; also check WHY1B and ROI14B (added from memory). Research opened no primary page.</a:t>
            </a:r>
            <a:endParaRPr lang="en-US" sz="1400" dirty="0"/>
          </a:p>
        </p:txBody>
      </p:sp>
      <p:grpSp>
        <p:nvGrpSpPr>
          <p:cNvPr id="1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A2  Full journey and hardware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Six steps, five modules, one platform.</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Backup for CTO and COO product questions. Live status per module to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A2  |</a:t>
            </a:r>
            <a:endParaRPr lang="en-US" sz="1200" dirty="0"/>
          </a:p>
        </p:txBody>
      </p:sp>
      <p:sp>
        <p:nvSpPr>
          <p:cNvPr id="9" name="!!idxlink">
            <a:hlinkClick action="ppaction://hlinksldjump" r:id="rId10"/>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11" name="Image 0" descr="FastPass Mobile App">    </p:cNvPr>
          <p:cNvPicPr>
            <a:picLocks noChangeAspect="1"/>
          </p:cNvPicPr>
          <p:nvPr/>
        </p:nvPicPr>
        <p:blipFill>
          <a:blip r:embed="rId3"/>
          <a:srcRect l="0" r="0" t="0" b="0"/>
          <a:stretch/>
        </p:blipFill>
        <p:spPr>
          <a:xfrm>
            <a:off x="457200" y="1920240"/>
            <a:ext cx="2103120" cy="1143000"/>
          </a:xfrm>
          <a:prstGeom prst="rect">
            <a:avLst/>
          </a:prstGeom>
        </p:spPr>
      </p:pic>
      <p:sp>
        <p:nvSpPr>
          <p:cNvPr id="12" name="Text 6"/>
          <p:cNvSpPr txBox="1"/>
          <p:nvPr/>
        </p:nvSpPr>
        <p:spPr>
          <a:xfrm>
            <a:off x="566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1 · Enrol</a:t>
            </a:r>
            <a:endParaRPr lang="en-US" sz="1400" dirty="0"/>
          </a:p>
        </p:txBody>
      </p:sp>
      <p:sp>
        <p:nvSpPr>
          <p:cNvPr id="13" name="Text 7"/>
          <p:cNvSpPr txBox="1"/>
          <p:nvPr/>
        </p:nvSpPr>
        <p:spPr>
          <a:xfrm>
            <a:off x="566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FastPass Mobile App</a:t>
            </a:r>
            <a:endParaRPr lang="en-US" sz="1400" dirty="0"/>
          </a:p>
        </p:txBody>
      </p:sp>
      <p:sp>
        <p:nvSpPr>
          <p:cNvPr id="14" name="Shape 8"/>
          <p:cNvSpPr/>
          <p:nvPr/>
        </p:nvSpPr>
        <p:spPr>
          <a:xfrm>
            <a:off x="548640" y="3886200"/>
            <a:ext cx="1920240" cy="274320"/>
          </a:xfrm>
          <a:prstGeom prst="roundRect">
            <a:avLst>
              <a:gd name="adj" fmla="val 50000"/>
            </a:avLst>
          </a:prstGeom>
          <a:solidFill>
            <a:srgbClr val="FFF4E5"/>
          </a:solidFill>
          <a:ln w="12700">
            <a:solidFill>
              <a:srgbClr val="D97706"/>
            </a:solidFill>
            <a:prstDash val="solid"/>
          </a:ln>
        </p:spPr>
      </p:sp>
      <p:sp>
        <p:nvSpPr>
          <p:cNvPr id="15" name="Text 9"/>
          <p:cNvSpPr txBox="1"/>
          <p:nvPr/>
        </p:nvSpPr>
        <p:spPr>
          <a:xfrm>
            <a:off x="548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16" name="Shape 10"/>
          <p:cNvSpPr/>
          <p:nvPr/>
        </p:nvSpPr>
        <p:spPr>
          <a:xfrm>
            <a:off x="2743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17" name="Image 1" descr="BLE lane + biometric e‑gate">    </p:cNvPr>
          <p:cNvPicPr>
            <a:picLocks noChangeAspect="1"/>
          </p:cNvPicPr>
          <p:nvPr/>
        </p:nvPicPr>
        <p:blipFill>
          <a:blip r:embed="rId4"/>
          <a:srcRect l="0" r="0" t="0" b="0"/>
          <a:stretch/>
        </p:blipFill>
        <p:spPr>
          <a:xfrm>
            <a:off x="2743200" y="1920240"/>
            <a:ext cx="2103120" cy="1143000"/>
          </a:xfrm>
          <a:prstGeom prst="rect">
            <a:avLst/>
          </a:prstGeom>
        </p:spPr>
      </p:pic>
      <p:sp>
        <p:nvSpPr>
          <p:cNvPr id="18" name="Text 11"/>
          <p:cNvSpPr txBox="1"/>
          <p:nvPr/>
        </p:nvSpPr>
        <p:spPr>
          <a:xfrm>
            <a:off x="2852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2–3 · Approach, walk</a:t>
            </a:r>
            <a:endParaRPr lang="en-US" sz="1400" dirty="0"/>
          </a:p>
        </p:txBody>
      </p:sp>
      <p:sp>
        <p:nvSpPr>
          <p:cNvPr id="19" name="Text 12"/>
          <p:cNvSpPr txBox="1"/>
          <p:nvPr/>
        </p:nvSpPr>
        <p:spPr>
          <a:xfrm>
            <a:off x="2852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BLE lane + biometric e‑gate</a:t>
            </a:r>
            <a:endParaRPr lang="en-US" sz="1400" dirty="0"/>
          </a:p>
        </p:txBody>
      </p:sp>
      <p:sp>
        <p:nvSpPr>
          <p:cNvPr id="20" name="Shape 13"/>
          <p:cNvSpPr/>
          <p:nvPr/>
        </p:nvSpPr>
        <p:spPr>
          <a:xfrm>
            <a:off x="2834640" y="3886200"/>
            <a:ext cx="1920240" cy="274320"/>
          </a:xfrm>
          <a:prstGeom prst="roundRect">
            <a:avLst>
              <a:gd name="adj" fmla="val 50000"/>
            </a:avLst>
          </a:prstGeom>
          <a:solidFill>
            <a:srgbClr val="FFF4E5"/>
          </a:solidFill>
          <a:ln w="12700">
            <a:solidFill>
              <a:srgbClr val="D97706"/>
            </a:solidFill>
            <a:prstDash val="solid"/>
          </a:ln>
        </p:spPr>
      </p:sp>
      <p:sp>
        <p:nvSpPr>
          <p:cNvPr id="21" name="Text 14"/>
          <p:cNvSpPr txBox="1"/>
          <p:nvPr/>
        </p:nvSpPr>
        <p:spPr>
          <a:xfrm>
            <a:off x="2834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22" name="Shape 15"/>
          <p:cNvSpPr/>
          <p:nvPr/>
        </p:nvSpPr>
        <p:spPr>
          <a:xfrm>
            <a:off x="5029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23" name="Image 2" descr="Nova Plus check; X-ray still applies">    </p:cNvPr>
          <p:cNvPicPr>
            <a:picLocks noChangeAspect="1"/>
          </p:cNvPicPr>
          <p:nvPr/>
        </p:nvPicPr>
        <p:blipFill>
          <a:blip r:embed="rId5"/>
          <a:srcRect l="0" r="0" t="0" b="0"/>
          <a:stretch/>
        </p:blipFill>
        <p:spPr>
          <a:xfrm>
            <a:off x="5029200" y="1920240"/>
            <a:ext cx="2103120" cy="1143000"/>
          </a:xfrm>
          <a:prstGeom prst="rect">
            <a:avLst/>
          </a:prstGeom>
        </p:spPr>
      </p:pic>
      <p:sp>
        <p:nvSpPr>
          <p:cNvPr id="24" name="Text 16"/>
          <p:cNvSpPr txBox="1"/>
          <p:nvPr/>
        </p:nvSpPr>
        <p:spPr>
          <a:xfrm>
            <a:off x="5138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4 · Pre-screen</a:t>
            </a:r>
            <a:endParaRPr lang="en-US" sz="1400" dirty="0"/>
          </a:p>
        </p:txBody>
      </p:sp>
      <p:sp>
        <p:nvSpPr>
          <p:cNvPr id="25" name="Text 17"/>
          <p:cNvSpPr txBox="1"/>
          <p:nvPr/>
        </p:nvSpPr>
        <p:spPr>
          <a:xfrm>
            <a:off x="5138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Nova Plus check; X-ray still applies</a:t>
            </a:r>
            <a:endParaRPr lang="en-US" sz="1400" dirty="0"/>
          </a:p>
        </p:txBody>
      </p:sp>
      <p:sp>
        <p:nvSpPr>
          <p:cNvPr id="26" name="Shape 18"/>
          <p:cNvSpPr/>
          <p:nvPr/>
        </p:nvSpPr>
        <p:spPr>
          <a:xfrm>
            <a:off x="5120640" y="3886200"/>
            <a:ext cx="1920240" cy="274320"/>
          </a:xfrm>
          <a:prstGeom prst="roundRect">
            <a:avLst>
              <a:gd name="adj" fmla="val 50000"/>
            </a:avLst>
          </a:prstGeom>
          <a:solidFill>
            <a:srgbClr val="FFF4E5"/>
          </a:solidFill>
          <a:ln w="12700">
            <a:solidFill>
              <a:srgbClr val="D97706"/>
            </a:solidFill>
            <a:prstDash val="solid"/>
          </a:ln>
        </p:spPr>
      </p:sp>
      <p:sp>
        <p:nvSpPr>
          <p:cNvPr id="27" name="Text 19"/>
          <p:cNvSpPr txBox="1"/>
          <p:nvPr/>
        </p:nvSpPr>
        <p:spPr>
          <a:xfrm>
            <a:off x="5120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28" name="Shape 20"/>
          <p:cNvSpPr/>
          <p:nvPr/>
        </p:nvSpPr>
        <p:spPr>
          <a:xfrm>
            <a:off x="7315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29" name="Image 3" descr="Smart Boarding Kiosk">    </p:cNvPr>
          <p:cNvPicPr>
            <a:picLocks noChangeAspect="1"/>
          </p:cNvPicPr>
          <p:nvPr/>
        </p:nvPicPr>
        <p:blipFill>
          <a:blip r:embed="rId6"/>
          <a:srcRect l="0" r="0" t="0" b="0"/>
          <a:stretch/>
        </p:blipFill>
        <p:spPr>
          <a:xfrm>
            <a:off x="7315200" y="1920240"/>
            <a:ext cx="2103120" cy="1143000"/>
          </a:xfrm>
          <a:prstGeom prst="rect">
            <a:avLst/>
          </a:prstGeom>
        </p:spPr>
      </p:pic>
      <p:sp>
        <p:nvSpPr>
          <p:cNvPr id="30" name="Text 21"/>
          <p:cNvSpPr txBox="1"/>
          <p:nvPr/>
        </p:nvSpPr>
        <p:spPr>
          <a:xfrm>
            <a:off x="7424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5 · Board</a:t>
            </a:r>
            <a:endParaRPr lang="en-US" sz="1400" dirty="0"/>
          </a:p>
        </p:txBody>
      </p:sp>
      <p:sp>
        <p:nvSpPr>
          <p:cNvPr id="31" name="Text 22"/>
          <p:cNvSpPr txBox="1"/>
          <p:nvPr/>
        </p:nvSpPr>
        <p:spPr>
          <a:xfrm>
            <a:off x="7424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Smart Boarding Kiosk</a:t>
            </a:r>
            <a:endParaRPr lang="en-US" sz="1400" dirty="0"/>
          </a:p>
        </p:txBody>
      </p:sp>
      <p:sp>
        <p:nvSpPr>
          <p:cNvPr id="32" name="Shape 23"/>
          <p:cNvSpPr/>
          <p:nvPr/>
        </p:nvSpPr>
        <p:spPr>
          <a:xfrm>
            <a:off x="7406640" y="3886200"/>
            <a:ext cx="1920240" cy="274320"/>
          </a:xfrm>
          <a:prstGeom prst="roundRect">
            <a:avLst>
              <a:gd name="adj" fmla="val 50000"/>
            </a:avLst>
          </a:prstGeom>
          <a:solidFill>
            <a:srgbClr val="FFF4E5"/>
          </a:solidFill>
          <a:ln w="12700">
            <a:solidFill>
              <a:srgbClr val="D97706"/>
            </a:solidFill>
            <a:prstDash val="solid"/>
          </a:ln>
        </p:spPr>
      </p:sp>
      <p:sp>
        <p:nvSpPr>
          <p:cNvPr id="33" name="Text 24"/>
          <p:cNvSpPr txBox="1"/>
          <p:nvPr/>
        </p:nvSpPr>
        <p:spPr>
          <a:xfrm>
            <a:off x="7406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34" name="Shape 25"/>
          <p:cNvSpPr/>
          <p:nvPr/>
        </p:nvSpPr>
        <p:spPr>
          <a:xfrm>
            <a:off x="9601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35" name="Image 4" descr="AGIL® Secure Platform">    </p:cNvPr>
          <p:cNvPicPr>
            <a:picLocks noChangeAspect="1"/>
          </p:cNvPicPr>
          <p:nvPr/>
        </p:nvPicPr>
        <p:blipFill>
          <a:blip r:embed="rId7"/>
          <a:srcRect l="0" r="0" t="0" b="0"/>
          <a:stretch/>
        </p:blipFill>
        <p:spPr>
          <a:xfrm>
            <a:off x="9601200" y="1920240"/>
            <a:ext cx="2103120" cy="1143000"/>
          </a:xfrm>
          <a:prstGeom prst="rect">
            <a:avLst/>
          </a:prstGeom>
        </p:spPr>
      </p:pic>
      <p:sp>
        <p:nvSpPr>
          <p:cNvPr id="36" name="Text 26"/>
          <p:cNvSpPr txBox="1"/>
          <p:nvPr/>
        </p:nvSpPr>
        <p:spPr>
          <a:xfrm>
            <a:off x="9710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6 · Oversee</a:t>
            </a:r>
            <a:endParaRPr lang="en-US" sz="1400" dirty="0"/>
          </a:p>
        </p:txBody>
      </p:sp>
      <p:sp>
        <p:nvSpPr>
          <p:cNvPr id="37" name="Text 27"/>
          <p:cNvSpPr txBox="1"/>
          <p:nvPr/>
        </p:nvSpPr>
        <p:spPr>
          <a:xfrm>
            <a:off x="9710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AGIL® Secure Platform</a:t>
            </a:r>
            <a:endParaRPr lang="en-US" sz="1400" dirty="0"/>
          </a:p>
        </p:txBody>
      </p:sp>
      <p:sp>
        <p:nvSpPr>
          <p:cNvPr id="38" name="Shape 28"/>
          <p:cNvSpPr/>
          <p:nvPr/>
        </p:nvSpPr>
        <p:spPr>
          <a:xfrm>
            <a:off x="9692640" y="3886200"/>
            <a:ext cx="1920240" cy="274320"/>
          </a:xfrm>
          <a:prstGeom prst="roundRect">
            <a:avLst>
              <a:gd name="adj" fmla="val 50000"/>
            </a:avLst>
          </a:prstGeom>
          <a:solidFill>
            <a:srgbClr val="FFF4E5"/>
          </a:solidFill>
          <a:ln w="12700">
            <a:solidFill>
              <a:srgbClr val="D97706"/>
            </a:solidFill>
            <a:prstDash val="solid"/>
          </a:ln>
        </p:spPr>
      </p:sp>
      <p:sp>
        <p:nvSpPr>
          <p:cNvPr id="39" name="Text 29"/>
          <p:cNvSpPr txBox="1"/>
          <p:nvPr/>
        </p:nvSpPr>
        <p:spPr>
          <a:xfrm>
            <a:off x="9692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40" name="Shape 30"/>
          <p:cNvSpPr/>
          <p:nvPr/>
        </p:nvSpPr>
        <p:spPr>
          <a:xfrm>
            <a:off x="457200" y="4389120"/>
            <a:ext cx="3159105"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1" name="Text 31"/>
          <p:cNvSpPr txBox="1"/>
          <p:nvPr/>
        </p:nvSpPr>
        <p:spPr>
          <a:xfrm>
            <a:off x="640080" y="4535424"/>
            <a:ext cx="2793345" cy="254000"/>
          </a:xfrm>
          <a:prstGeom prst="rect">
            <a:avLst/>
          </a:prstGeom>
          <a:noFill/>
          <a:ln/>
        </p:spPr>
        <p:txBody>
          <a:bodyPr wrap="square" lIns="0" tIns="0" rIns="0" bIns="0" rtlCol="0" anchor="t"/>
          <a:lstStyle/>
          <a:p>
            <a:pPr indent="0" marL="0">
              <a:buNone/>
            </a:pPr>
            <a:r>
              <a:rPr lang="en-US" sz="1600" b="1" dirty="0">
                <a:solidFill>
                  <a:srgbClr val="0B2545"/>
                </a:solidFill>
              </a:rPr>
              <a:t>Claim fix</a:t>
            </a:r>
            <a:endParaRPr lang="en-US" sz="1600" dirty="0"/>
          </a:p>
        </p:txBody>
      </p:sp>
      <p:sp>
        <p:nvSpPr>
          <p:cNvPr id="42" name="Text 32"/>
          <p:cNvSpPr txBox="1"/>
          <p:nvPr/>
        </p:nvSpPr>
        <p:spPr>
          <a:xfrm>
            <a:off x="640080" y="4862576"/>
            <a:ext cx="2793345"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No documents shown at checkpoints for enrolled, eligible travellers</a:t>
            </a:r>
            <a:endParaRPr lang="en-US" sz="1400" dirty="0"/>
          </a:p>
          <a:p>
            <a:pPr marL="152400" indent="-152400">
              <a:spcAft>
                <a:spcPts val="400"/>
              </a:spcAft>
              <a:buSzPct val="100000"/>
              <a:buChar char="•"/>
            </a:pPr>
            <a:r>
              <a:rPr lang="en-US" sz="1400" dirty="0">
                <a:solidFill>
                  <a:srgbClr val="0B1526"/>
                </a:solidFill>
              </a:rPr>
              <a:t>The passport is still carried as required (ICAO DTC Type 1)</a:t>
            </a:r>
            <a:endParaRPr lang="en-US" sz="1400" dirty="0"/>
          </a:p>
        </p:txBody>
      </p:sp>
      <p:sp>
        <p:nvSpPr>
          <p:cNvPr id="43" name="Shape 33"/>
          <p:cNvSpPr/>
          <p:nvPr/>
        </p:nvSpPr>
        <p:spPr>
          <a:xfrm>
            <a:off x="3799185" y="4389120"/>
            <a:ext cx="3334610"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4" name="Text 34"/>
          <p:cNvSpPr txBox="1"/>
          <p:nvPr/>
        </p:nvSpPr>
        <p:spPr>
          <a:xfrm>
            <a:off x="3982065" y="4535424"/>
            <a:ext cx="2968850" cy="254000"/>
          </a:xfrm>
          <a:prstGeom prst="rect">
            <a:avLst/>
          </a:prstGeom>
          <a:noFill/>
          <a:ln/>
        </p:spPr>
        <p:txBody>
          <a:bodyPr wrap="square" lIns="0" tIns="0" rIns="0" bIns="0" rtlCol="0" anchor="t"/>
          <a:lstStyle/>
          <a:p>
            <a:pPr indent="0" marL="0">
              <a:buNone/>
            </a:pPr>
            <a:r>
              <a:rPr lang="en-US" sz="1600" b="1" dirty="0">
                <a:solidFill>
                  <a:srgbClr val="0B2545"/>
                </a:solidFill>
              </a:rPr>
              <a:t>Check-in coverage</a:t>
            </a:r>
            <a:endParaRPr lang="en-US" sz="1600" dirty="0"/>
          </a:p>
        </p:txBody>
      </p:sp>
      <p:sp>
        <p:nvSpPr>
          <p:cNvPr id="45" name="Text 35"/>
          <p:cNvSpPr txBox="1"/>
          <p:nvPr/>
        </p:nvSpPr>
        <p:spPr>
          <a:xfrm>
            <a:off x="3982065" y="4862576"/>
            <a:ext cx="2968850"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No module is a check-in or bag-drop device</a:t>
            </a:r>
            <a:endParaRPr lang="en-US" sz="1400" dirty="0"/>
          </a:p>
          <a:p>
            <a:pPr marL="152400" indent="-152400">
              <a:spcAft>
                <a:spcPts val="400"/>
              </a:spcAft>
              <a:buSzPct val="100000"/>
              <a:buChar char="•"/>
            </a:pPr>
            <a:r>
              <a:rPr lang="en-US" sz="1400" dirty="0">
                <a:solidFill>
                  <a:srgbClr val="0B1526"/>
                </a:solidFill>
              </a:rPr>
              <a:t>Check-in = app enrolment + airline online check-in [confirm]; bag drop out of scope</a:t>
            </a:r>
            <a:endParaRPr lang="en-US" sz="1400" dirty="0"/>
          </a:p>
        </p:txBody>
      </p:sp>
      <p:sp>
        <p:nvSpPr>
          <p:cNvPr id="46" name="Shape 36"/>
          <p:cNvSpPr/>
          <p:nvPr/>
        </p:nvSpPr>
        <p:spPr>
          <a:xfrm>
            <a:off x="7316675" y="4389120"/>
            <a:ext cx="4387645"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7" name="Text 37"/>
          <p:cNvSpPr txBox="1"/>
          <p:nvPr/>
        </p:nvSpPr>
        <p:spPr>
          <a:xfrm>
            <a:off x="7499555" y="4535424"/>
            <a:ext cx="4021885" cy="254000"/>
          </a:xfrm>
          <a:prstGeom prst="rect">
            <a:avLst/>
          </a:prstGeom>
          <a:noFill/>
          <a:ln/>
        </p:spPr>
        <p:txBody>
          <a:bodyPr wrap="square" lIns="0" tIns="0" rIns="0" bIns="0" rtlCol="0" anchor="t"/>
          <a:lstStyle/>
          <a:p>
            <a:pPr indent="0" marL="0">
              <a:buNone/>
            </a:pPr>
            <a:r>
              <a:rPr lang="en-US" sz="1600" b="1" dirty="0">
                <a:solidFill>
                  <a:srgbClr val="0B2545"/>
                </a:solidFill>
              </a:rPr>
              <a:t>Counts reconciled</a:t>
            </a:r>
            <a:endParaRPr lang="en-US" sz="1600" dirty="0"/>
          </a:p>
        </p:txBody>
      </p:sp>
      <p:sp>
        <p:nvSpPr>
          <p:cNvPr id="48" name="Text 38"/>
          <p:cNvSpPr txBox="1"/>
          <p:nvPr/>
        </p:nvSpPr>
        <p:spPr>
          <a:xfrm>
            <a:off x="7499555" y="4862576"/>
            <a:ext cx="4021885" cy="83667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4 checks · 5 modules · 6 steps · 1 platform</a:t>
            </a:r>
            <a:endParaRPr lang="en-US" sz="1400" dirty="0"/>
          </a:p>
          <a:p>
            <a:pPr marL="152400" indent="-152400">
              <a:spcAft>
                <a:spcPts val="400"/>
              </a:spcAft>
              <a:buSzPct val="100000"/>
              <a:buChar char="•"/>
            </a:pPr>
            <a:r>
              <a:rPr lang="en-US" sz="1400" dirty="0">
                <a:solidFill>
                  <a:srgbClr val="0B1526"/>
                </a:solidFill>
              </a:rPr>
              <a:t>Walkthrough 1–4 = steps 1 · 2–3 · 4–5 · 6</a:t>
            </a:r>
            <a:endParaRPr lang="en-US" sz="1400" dirty="0"/>
          </a:p>
          <a:p>
            <a:pPr marL="152400" indent="-152400">
              <a:spcAft>
                <a:spcPts val="400"/>
              </a:spcAft>
              <a:buSzPct val="100000"/>
              <a:buChar char="•"/>
            </a:pPr>
            <a:r>
              <a:rPr lang="en-US" sz="1400" dirty="0">
                <a:solidFill>
                  <a:srgbClr val="0B1526"/>
                </a:solidFill>
              </a:rPr>
              <a:t>AI luggage scanning: roadmap (A15)</a:t>
            </a:r>
            <a:endParaRPr lang="en-US" sz="1400" dirty="0"/>
          </a:p>
        </p:txBody>
      </p:sp>
      <p:sp>
        <p:nvSpPr>
          <p:cNvPr id="4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All demo screens show specimen or synthetic data · Image types [photo / render] to confirm</a:t>
            </a:r>
            <a:endParaRPr lang="en-US" sz="900" dirty="0"/>
          </a:p>
        </p:txBody>
      </p:sp>
      <p:grpSp>
        <p:nvGrpSpPr>
          <p:cNvPr id="5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A2  BLE lane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FastPass lane: BLE beacon plus a face camera.</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Prototype lane hardware. Image type [photo / render] to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A2  |</a:t>
            </a:r>
            <a:endParaRPr lang="en-US" sz="1200" dirty="0"/>
          </a:p>
        </p:txBody>
      </p:sp>
      <p:sp>
        <p:nvSpPr>
          <p:cNvPr id="9" name="!!idxlink">
            <a:hlinkClick action="ppaction://hlinksldjump" r:id="rId6"/>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4970033" cy="4224528"/>
          </a:xfrm>
          <a:prstGeom prst="roundRect">
            <a:avLst>
              <a:gd name="adj" fmla="val 2597"/>
            </a:avLst>
          </a:prstGeom>
          <a:solidFill>
            <a:srgbClr val="2A2A2A"/>
          </a:solidFill>
          <a:ln/>
          <a:effectLst>
            <a:outerShdw sx="100000" sy="100000" kx="0" ky="0" algn="bl" rotWithShape="0" blurRad="152400" dist="25400" dir="5400000">
              <a:srgbClr val="0A1628">
                <a:alpha val="12000"/>
              </a:srgbClr>
            </a:outerShdw>
          </a:effectLst>
        </p:spPr>
      </p:sp>
      <p:pic>
        <p:nvPicPr>
          <p:cNvPr id="11" name="Image 0" descr="FastPass lane hardware">    </p:cNvPr>
          <p:cNvPicPr>
            <a:picLocks noChangeAspect="1"/>
          </p:cNvPicPr>
          <p:nvPr/>
        </p:nvPicPr>
        <p:blipFill>
          <a:blip r:embed="rId3"/>
          <a:stretch>
            <a:fillRect/>
          </a:stretch>
        </p:blipFill>
        <p:spPr>
          <a:xfrm>
            <a:off x="457200" y="1920240"/>
            <a:ext cx="4970033" cy="4224528"/>
          </a:xfrm>
          <a:prstGeom prst="rect">
            <a:avLst/>
          </a:prstGeom>
        </p:spPr>
      </p:pic>
      <p:sp>
        <p:nvSpPr>
          <p:cNvPr id="12" name="Text 6"/>
          <p:cNvSpPr txBox="1"/>
          <p:nvPr/>
        </p:nvSpPr>
        <p:spPr>
          <a:xfrm>
            <a:off x="1252405" y="2516644"/>
            <a:ext cx="2103120" cy="658368"/>
          </a:xfrm>
          <a:prstGeom prst="rect">
            <a:avLst/>
          </a:prstGeom>
          <a:noFill/>
          <a:ln/>
        </p:spPr>
        <p:txBody>
          <a:bodyPr wrap="square" lIns="0" tIns="0" rIns="0" bIns="0" rtlCol="0" anchor="t"/>
          <a:lstStyle/>
          <a:p>
            <a:pPr indent="0" marL="0">
              <a:buNone/>
            </a:pPr>
            <a:r>
              <a:rPr lang="en-US" sz="1400" b="1" dirty="0">
                <a:solidFill>
                  <a:srgbClr val="FFFFFF"/>
                </a:solidFill>
              </a:rPr>
              <a:t>LED accent light</a:t>
            </a:r>
            <a:endParaRPr lang="en-US" sz="1400" dirty="0"/>
          </a:p>
          <a:p>
            <a:pPr indent="0" marL="0">
              <a:buNone/>
            </a:pPr>
            <a:r>
              <a:rPr lang="en-US" sz="1400" dirty="0">
                <a:solidFill>
                  <a:srgbClr val="FFFFFF"/>
                </a:solidFill>
              </a:rPr>
              <a:t>soft glow along the handrail</a:t>
            </a:r>
            <a:endParaRPr lang="en-US" sz="1400" dirty="0"/>
          </a:p>
        </p:txBody>
      </p:sp>
      <p:sp>
        <p:nvSpPr>
          <p:cNvPr id="13" name="Shape 7"/>
          <p:cNvSpPr/>
          <p:nvPr/>
        </p:nvSpPr>
        <p:spPr>
          <a:xfrm flipV="1">
            <a:off x="5427233" y="2331720"/>
            <a:ext cx="411480" cy="10973"/>
          </a:xfrm>
          <a:prstGeom prst="line">
            <a:avLst/>
          </a:prstGeom>
          <a:noFill/>
          <a:ln w="15875">
            <a:solidFill>
              <a:srgbClr val="0B84AE"/>
            </a:solidFill>
            <a:prstDash val="solid"/>
          </a:ln>
        </p:spPr>
      </p:sp>
      <p:sp>
        <p:nvSpPr>
          <p:cNvPr id="14" name="Shape 8"/>
          <p:cNvSpPr/>
          <p:nvPr/>
        </p:nvSpPr>
        <p:spPr>
          <a:xfrm>
            <a:off x="5381513" y="2296973"/>
            <a:ext cx="91440" cy="91440"/>
          </a:xfrm>
          <a:prstGeom prst="ellipse">
            <a:avLst/>
          </a:prstGeom>
          <a:solidFill>
            <a:srgbClr val="0B84AE"/>
          </a:solidFill>
          <a:ln/>
        </p:spPr>
      </p:sp>
      <p:sp>
        <p:nvSpPr>
          <p:cNvPr id="15" name="Shape 9"/>
          <p:cNvSpPr/>
          <p:nvPr/>
        </p:nvSpPr>
        <p:spPr>
          <a:xfrm>
            <a:off x="5838713" y="1965960"/>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16" name="Text 10"/>
          <p:cNvSpPr txBox="1"/>
          <p:nvPr/>
        </p:nvSpPr>
        <p:spPr>
          <a:xfrm>
            <a:off x="5975873" y="2020824"/>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FR pylon gantry</a:t>
            </a:r>
            <a:endParaRPr lang="en-US" sz="1400" dirty="0"/>
          </a:p>
          <a:p>
            <a:pPr indent="0" marL="0">
              <a:buNone/>
            </a:pPr>
            <a:r>
              <a:rPr lang="en-US" sz="1400" dirty="0">
                <a:solidFill>
                  <a:srgbClr val="4A5870"/>
                </a:solidFill>
              </a:rPr>
              <a:t>Pylon, G/R/B lights and face camera</a:t>
            </a:r>
            <a:endParaRPr lang="en-US" sz="1400" dirty="0"/>
          </a:p>
        </p:txBody>
      </p:sp>
      <p:sp>
        <p:nvSpPr>
          <p:cNvPr id="17" name="Shape 11"/>
          <p:cNvSpPr/>
          <p:nvPr/>
        </p:nvSpPr>
        <p:spPr>
          <a:xfrm>
            <a:off x="5427233" y="2954007"/>
            <a:ext cx="411480" cy="222619"/>
          </a:xfrm>
          <a:prstGeom prst="line">
            <a:avLst/>
          </a:prstGeom>
          <a:noFill/>
          <a:ln w="15875">
            <a:solidFill>
              <a:srgbClr val="0B84AE"/>
            </a:solidFill>
            <a:prstDash val="solid"/>
          </a:ln>
        </p:spPr>
      </p:sp>
      <p:sp>
        <p:nvSpPr>
          <p:cNvPr id="18" name="Shape 12"/>
          <p:cNvSpPr/>
          <p:nvPr/>
        </p:nvSpPr>
        <p:spPr>
          <a:xfrm>
            <a:off x="5381513" y="2908287"/>
            <a:ext cx="91440" cy="91440"/>
          </a:xfrm>
          <a:prstGeom prst="ellipse">
            <a:avLst/>
          </a:prstGeom>
          <a:solidFill>
            <a:srgbClr val="0B84AE"/>
          </a:solidFill>
          <a:ln/>
        </p:spPr>
      </p:sp>
      <p:sp>
        <p:nvSpPr>
          <p:cNvPr id="19" name="Shape 13"/>
          <p:cNvSpPr/>
          <p:nvPr/>
        </p:nvSpPr>
        <p:spPr>
          <a:xfrm>
            <a:off x="5838713" y="2810866"/>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0" name="Text 14"/>
          <p:cNvSpPr txBox="1"/>
          <p:nvPr/>
        </p:nvSpPr>
        <p:spPr>
          <a:xfrm>
            <a:off x="5975873" y="2865730"/>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Flexible mounting angle</a:t>
            </a:r>
            <a:endParaRPr lang="en-US" sz="1400" dirty="0"/>
          </a:p>
          <a:p>
            <a:pPr indent="0" marL="0">
              <a:buNone/>
            </a:pPr>
            <a:r>
              <a:rPr lang="en-US" sz="1400" dirty="0">
                <a:solidFill>
                  <a:srgbClr val="4A5870"/>
                </a:solidFill>
              </a:rPr>
              <a:t>Adjusts to gate layouts and user heights</a:t>
            </a:r>
            <a:endParaRPr lang="en-US" sz="1400" dirty="0"/>
          </a:p>
        </p:txBody>
      </p:sp>
      <p:sp>
        <p:nvSpPr>
          <p:cNvPr id="21" name="Shape 15"/>
          <p:cNvSpPr/>
          <p:nvPr/>
        </p:nvSpPr>
        <p:spPr>
          <a:xfrm flipV="1">
            <a:off x="5427233" y="4021531"/>
            <a:ext cx="411480" cy="483126"/>
          </a:xfrm>
          <a:prstGeom prst="line">
            <a:avLst/>
          </a:prstGeom>
          <a:noFill/>
          <a:ln w="15875">
            <a:solidFill>
              <a:srgbClr val="0B84AE"/>
            </a:solidFill>
            <a:prstDash val="solid"/>
          </a:ln>
        </p:spPr>
      </p:sp>
      <p:sp>
        <p:nvSpPr>
          <p:cNvPr id="22" name="Shape 16"/>
          <p:cNvSpPr/>
          <p:nvPr/>
        </p:nvSpPr>
        <p:spPr>
          <a:xfrm>
            <a:off x="5381513" y="4458937"/>
            <a:ext cx="91440" cy="91440"/>
          </a:xfrm>
          <a:prstGeom prst="ellipse">
            <a:avLst/>
          </a:prstGeom>
          <a:solidFill>
            <a:srgbClr val="0B84AE"/>
          </a:solidFill>
          <a:ln/>
        </p:spPr>
      </p:sp>
      <p:sp>
        <p:nvSpPr>
          <p:cNvPr id="23" name="Shape 17"/>
          <p:cNvSpPr/>
          <p:nvPr/>
        </p:nvSpPr>
        <p:spPr>
          <a:xfrm>
            <a:off x="5838713" y="3655771"/>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4" name="Text 18"/>
          <p:cNvSpPr txBox="1"/>
          <p:nvPr/>
        </p:nvSpPr>
        <p:spPr>
          <a:xfrm>
            <a:off x="5975873" y="3710635"/>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Pylon mounted on the floor</a:t>
            </a:r>
            <a:endParaRPr lang="en-US" sz="1400" dirty="0"/>
          </a:p>
          <a:p>
            <a:pPr indent="0" marL="0">
              <a:buNone/>
            </a:pPr>
            <a:r>
              <a:rPr lang="en-US" sz="1400" dirty="0">
                <a:solidFill>
                  <a:srgbClr val="4A5870"/>
                </a:solidFill>
              </a:rPr>
              <a:t>Permanent setup for stability</a:t>
            </a:r>
            <a:endParaRPr lang="en-US" sz="1400" dirty="0"/>
          </a:p>
        </p:txBody>
      </p:sp>
      <p:sp>
        <p:nvSpPr>
          <p:cNvPr id="25" name="Shape 19"/>
          <p:cNvSpPr/>
          <p:nvPr/>
        </p:nvSpPr>
        <p:spPr>
          <a:xfrm flipV="1">
            <a:off x="5427233" y="4866437"/>
            <a:ext cx="411480" cy="50733"/>
          </a:xfrm>
          <a:prstGeom prst="line">
            <a:avLst/>
          </a:prstGeom>
          <a:noFill/>
          <a:ln w="15875">
            <a:solidFill>
              <a:srgbClr val="0B84AE"/>
            </a:solidFill>
            <a:prstDash val="solid"/>
          </a:ln>
        </p:spPr>
      </p:sp>
      <p:sp>
        <p:nvSpPr>
          <p:cNvPr id="26" name="Shape 20"/>
          <p:cNvSpPr/>
          <p:nvPr/>
        </p:nvSpPr>
        <p:spPr>
          <a:xfrm>
            <a:off x="5381513" y="4871450"/>
            <a:ext cx="91440" cy="91440"/>
          </a:xfrm>
          <a:prstGeom prst="ellipse">
            <a:avLst/>
          </a:prstGeom>
          <a:solidFill>
            <a:srgbClr val="0B84AE"/>
          </a:solidFill>
          <a:ln/>
        </p:spPr>
      </p:sp>
      <p:sp>
        <p:nvSpPr>
          <p:cNvPr id="27" name="Shape 21"/>
          <p:cNvSpPr/>
          <p:nvPr/>
        </p:nvSpPr>
        <p:spPr>
          <a:xfrm>
            <a:off x="5838713" y="4500677"/>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8" name="Text 22"/>
          <p:cNvSpPr txBox="1"/>
          <p:nvPr/>
        </p:nvSpPr>
        <p:spPr>
          <a:xfrm>
            <a:off x="5975873" y="4555541"/>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BLE beacon</a:t>
            </a:r>
            <a:endParaRPr lang="en-US" sz="1400" dirty="0"/>
          </a:p>
          <a:p>
            <a:pPr indent="0" marL="0">
              <a:buNone/>
            </a:pPr>
            <a:r>
              <a:rPr lang="en-US" sz="1400" dirty="0">
                <a:solidFill>
                  <a:srgbClr val="4A5870"/>
                </a:solidFill>
              </a:rPr>
              <a:t>Pairs with the phone; proximity detection</a:t>
            </a:r>
            <a:endParaRPr lang="en-US" sz="1400" dirty="0"/>
          </a:p>
        </p:txBody>
      </p:sp>
      <p:sp>
        <p:nvSpPr>
          <p:cNvPr id="29" name="Shape 23"/>
          <p:cNvSpPr/>
          <p:nvPr/>
        </p:nvSpPr>
        <p:spPr>
          <a:xfrm>
            <a:off x="5427233" y="5473814"/>
            <a:ext cx="411480" cy="237529"/>
          </a:xfrm>
          <a:prstGeom prst="line">
            <a:avLst/>
          </a:prstGeom>
          <a:noFill/>
          <a:ln w="15875">
            <a:solidFill>
              <a:srgbClr val="0B84AE"/>
            </a:solidFill>
            <a:prstDash val="solid"/>
          </a:ln>
        </p:spPr>
      </p:sp>
      <p:sp>
        <p:nvSpPr>
          <p:cNvPr id="30" name="Shape 24"/>
          <p:cNvSpPr/>
          <p:nvPr/>
        </p:nvSpPr>
        <p:spPr>
          <a:xfrm>
            <a:off x="5381513" y="5428094"/>
            <a:ext cx="91440" cy="91440"/>
          </a:xfrm>
          <a:prstGeom prst="ellipse">
            <a:avLst/>
          </a:prstGeom>
          <a:solidFill>
            <a:srgbClr val="0B84AE"/>
          </a:solidFill>
          <a:ln/>
        </p:spPr>
      </p:sp>
      <p:sp>
        <p:nvSpPr>
          <p:cNvPr id="31" name="Shape 25"/>
          <p:cNvSpPr/>
          <p:nvPr/>
        </p:nvSpPr>
        <p:spPr>
          <a:xfrm>
            <a:off x="5838713" y="5345582"/>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32" name="Text 26"/>
          <p:cNvSpPr txBox="1"/>
          <p:nvPr/>
        </p:nvSpPr>
        <p:spPr>
          <a:xfrm>
            <a:off x="5975873" y="5400446"/>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Indicator light</a:t>
            </a:r>
            <a:endParaRPr lang="en-US" sz="1400" dirty="0"/>
          </a:p>
          <a:p>
            <a:pPr indent="0" marL="0">
              <a:buNone/>
            </a:pPr>
            <a:r>
              <a:rPr lang="en-US" sz="1400" dirty="0">
                <a:solidFill>
                  <a:srgbClr val="4A5870"/>
                </a:solidFill>
              </a:rPr>
              <a:t>Colour-coded system status</a:t>
            </a:r>
            <a:endParaRPr lang="en-US" sz="1400" dirty="0"/>
          </a:p>
        </p:txBody>
      </p:sp>
      <p:sp>
        <p:nvSpPr>
          <p:cNvPr id="33" name="Shape 27"/>
          <p:cNvSpPr/>
          <p:nvPr/>
        </p:nvSpPr>
        <p:spPr>
          <a:xfrm>
            <a:off x="8901953" y="1920240"/>
            <a:ext cx="2802367" cy="4224528"/>
          </a:xfrm>
          <a:prstGeom prst="roundRect">
            <a:avLst>
              <a:gd name="adj" fmla="val 3916"/>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34" name="Text 28"/>
          <p:cNvSpPr txBox="1"/>
          <p:nvPr/>
        </p:nvSpPr>
        <p:spPr>
          <a:xfrm>
            <a:off x="9066545" y="2048256"/>
            <a:ext cx="2528047" cy="603504"/>
          </a:xfrm>
          <a:prstGeom prst="rect">
            <a:avLst/>
          </a:prstGeom>
          <a:noFill/>
          <a:ln/>
        </p:spPr>
        <p:txBody>
          <a:bodyPr wrap="square" lIns="0" tIns="0" rIns="0" bIns="0" rtlCol="0" anchor="t"/>
          <a:lstStyle/>
          <a:p>
            <a:pPr indent="0" marL="0">
              <a:buNone/>
            </a:pPr>
            <a:r>
              <a:rPr lang="en-US" sz="1800" b="1" dirty="0">
                <a:solidFill>
                  <a:srgbClr val="0B2545"/>
                </a:solidFill>
              </a:rPr>
              <a:t>Design intent [CTO to confirm]</a:t>
            </a:r>
            <a:endParaRPr lang="en-US" sz="1800" dirty="0"/>
          </a:p>
        </p:txBody>
      </p:sp>
      <p:sp>
        <p:nvSpPr>
          <p:cNvPr id="35" name="Text 29"/>
          <p:cNvSpPr txBox="1"/>
          <p:nvPr/>
        </p:nvSpPr>
        <p:spPr>
          <a:xfrm>
            <a:off x="9066545" y="2743200"/>
            <a:ext cx="2528047" cy="329184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0B1526"/>
                </a:solidFill>
              </a:rPr>
              <a:t>The lane challenges the credential on the paired phone, not just a beacon.</a:t>
            </a:r>
            <a:endParaRPr lang="en-US" sz="1600" dirty="0"/>
          </a:p>
          <a:p>
            <a:pPr marL="177800" indent="-177800">
              <a:spcAft>
                <a:spcPts val="800"/>
              </a:spcAft>
              <a:buSzPct val="100000"/>
              <a:buChar char="•"/>
            </a:pPr>
            <a:r>
              <a:rPr lang="en-US" sz="1600" dirty="0">
                <a:solidFill>
                  <a:srgbClr val="0B1526"/>
                </a:solidFill>
              </a:rPr>
              <a:t>The live face must match that credential.</a:t>
            </a:r>
            <a:endParaRPr lang="en-US" sz="1600" dirty="0"/>
          </a:p>
          <a:p>
            <a:pPr marL="177800" indent="-177800">
              <a:spcAft>
                <a:spcPts val="800"/>
              </a:spcAft>
              <a:buSzPct val="100000"/>
              <a:buChar char="•"/>
            </a:pPr>
            <a:r>
              <a:rPr lang="en-US" sz="1600" dirty="0">
                <a:solidFill>
                  <a:srgbClr val="0B1526"/>
                </a:solidFill>
              </a:rPr>
              <a:t>Wrong pairing → exception to an officer, never a false accept.</a:t>
            </a:r>
            <a:endParaRPr lang="en-US" sz="1600" dirty="0"/>
          </a:p>
          <a:p>
            <a:pPr marL="177800" indent="-177800">
              <a:spcAft>
                <a:spcPts val="800"/>
              </a:spcAft>
              <a:buSzPct val="100000"/>
              <a:buChar char="•"/>
            </a:pPr>
            <a:r>
              <a:rPr lang="en-US" sz="1600" dirty="0">
                <a:solidFill>
                  <a:srgbClr val="0B1526"/>
                </a:solidFill>
              </a:rPr>
              <a:t>Officers see the exception in AGIL® Secure Platform.</a:t>
            </a:r>
            <a:endParaRPr lang="en-US" sz="1600" dirty="0"/>
          </a:p>
        </p:txBody>
      </p:sp>
      <p:grpSp>
        <p:nvGrpSpPr>
          <p:cNvPr id="3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A3  Market maths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Recompute the beachhead: US$42–94M a year in 2030.</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Every input and step, plus what the figure does not cover.</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Funnel, per year in 2030</a:t>
            </a:r>
            <a:endParaRPr lang="en-US" sz="1600" dirty="0"/>
          </a:p>
        </p:txBody>
      </p:sp>
      <p:sp>
        <p:nvSpPr>
          <p:cNvPr id="12" name="Text 7"/>
          <p:cNvSpPr txBox="1"/>
          <p:nvPr/>
        </p:nvSpPr>
        <p:spPr>
          <a:xfrm>
            <a:off x="640080" y="2393696"/>
            <a:ext cx="3261360" cy="22174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US$5,030M × 83.1% = US$4,180M</a:t>
            </a:r>
            <a:endParaRPr lang="en-US" sz="1400" dirty="0"/>
          </a:p>
          <a:p>
            <a:pPr marL="152400" indent="-152400">
              <a:spcAft>
                <a:spcPts val="400"/>
              </a:spcAft>
              <a:buSzPct val="100000"/>
              <a:buChar char="•"/>
            </a:pPr>
            <a:r>
              <a:rPr lang="en-US" sz="1400" dirty="0">
                <a:solidFill>
                  <a:srgbClr val="0B1526"/>
                </a:solidFill>
              </a:rPr>
              <a:t>× 10–15% = US$418–627M</a:t>
            </a:r>
            <a:endParaRPr lang="en-US" sz="1400" dirty="0"/>
          </a:p>
          <a:p>
            <a:pPr marL="152400" indent="-152400">
              <a:spcAft>
                <a:spcPts val="400"/>
              </a:spcAft>
              <a:buSzPct val="100000"/>
              <a:buChar char="•"/>
            </a:pPr>
            <a:r>
              <a:rPr lang="en-US" sz="1400" dirty="0">
                <a:solidFill>
                  <a:srgbClr val="0B1526"/>
                </a:solidFill>
              </a:rPr>
              <a:t>× 10–15% = US$41.8–94.0M</a:t>
            </a:r>
            <a:endParaRPr lang="en-US" sz="1400" dirty="0"/>
          </a:p>
          <a:p>
            <a:pPr marL="152400" indent="-152400">
              <a:spcAft>
                <a:spcPts val="400"/>
              </a:spcAft>
              <a:buSzPct val="100000"/>
              <a:buChar char="•"/>
            </a:pPr>
            <a:r>
              <a:rPr lang="en-US" sz="1400" dirty="0">
                <a:solidFill>
                  <a:srgbClr val="0B1526"/>
                </a:solidFill>
              </a:rPr>
              <a:t>Midpoint at 12.5% × 12.5% = US$65.3M (mean of the range: US$68M)</a:t>
            </a:r>
            <a:endParaRPr lang="en-US" sz="1400" dirty="0"/>
          </a:p>
          <a:p>
            <a:pPr marL="152400" indent="-152400">
              <a:spcAft>
                <a:spcPts val="400"/>
              </a:spcAft>
              <a:buSzPct val="100000"/>
              <a:buChar char="•"/>
            </a:pPr>
            <a:r>
              <a:rPr lang="en-US" sz="1400" dirty="0">
                <a:solidFill>
                  <a:srgbClr val="0B1526"/>
                </a:solidFill>
              </a:rPr>
              <a:t>To scale: 0.8–1.9% of global ABC, 1.0–2.25% of airport ABC (hence 'Not to scale')</a:t>
            </a:r>
            <a:endParaRPr lang="en-US" sz="1400" dirty="0"/>
          </a:p>
        </p:txBody>
      </p:sp>
      <p:sp>
        <p:nvSpPr>
          <p:cNvPr id="13" name="Shape 8"/>
          <p:cNvSpPr/>
          <p:nvPr/>
        </p:nvSpPr>
        <p:spPr>
          <a:xfrm>
            <a:off x="426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Other readings</a:t>
            </a:r>
            <a:endParaRPr lang="en-US" sz="1600" dirty="0"/>
          </a:p>
        </p:txBody>
      </p:sp>
      <p:sp>
        <p:nvSpPr>
          <p:cNvPr id="15" name="Text 10"/>
          <p:cNvSpPr txBox="1"/>
          <p:nvPr/>
        </p:nvSpPr>
        <p:spPr>
          <a:xfrm>
            <a:off x="4450080" y="2393696"/>
            <a:ext cx="3261360" cy="195376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Cumulative 2026–30 (US$19.5B path): US$162–365M</a:t>
            </a:r>
            <a:endParaRPr lang="en-US" sz="1400" dirty="0"/>
          </a:p>
          <a:p>
            <a:pPr marL="152400" indent="-152400">
              <a:spcAft>
                <a:spcPts val="400"/>
              </a:spcAft>
              <a:buSzPct val="100000"/>
              <a:buChar char="•"/>
            </a:pPr>
            <a:r>
              <a:rPr lang="en-US" sz="1400" dirty="0">
                <a:solidFill>
                  <a:srgbClr val="0B1526"/>
                </a:solidFill>
              </a:rPr>
              <a:t>2025 base (US$2.56B): US$21–48M a year</a:t>
            </a:r>
            <a:endParaRPr lang="en-US" sz="1400" dirty="0"/>
          </a:p>
          <a:p>
            <a:pPr marL="152400" indent="-152400">
              <a:spcAft>
                <a:spcPts val="400"/>
              </a:spcAft>
              <a:buSzPct val="100000"/>
              <a:buChar char="•"/>
            </a:pPr>
            <a:r>
              <a:rPr lang="en-US" sz="1400" dirty="0">
                <a:solidFill>
                  <a:srgbClr val="0B1526"/>
                </a:solidFill>
              </a:rPr>
              <a:t>Each 1-point change in either share: ≈ US$4.2–6.3M a year</a:t>
            </a:r>
            <a:endParaRPr lang="en-US" sz="1400" dirty="0"/>
          </a:p>
          <a:p>
            <a:pPr marL="152400" indent="-152400">
              <a:spcAft>
                <a:spcPts val="400"/>
              </a:spcAft>
              <a:buSzPct val="100000"/>
              <a:buChar char="•"/>
            </a:pPr>
            <a:r>
              <a:rPr lang="en-US" sz="1400" dirty="0">
                <a:solidFill>
                  <a:srgbClr val="0B1526"/>
                </a:solidFill>
              </a:rPr>
              <a:t>Independent estimates: ABC US$5.0–5.4B by 2030 (low confidence)</a:t>
            </a:r>
            <a:endParaRPr lang="en-US" sz="1400" dirty="0"/>
          </a:p>
        </p:txBody>
      </p:sp>
      <p:sp>
        <p:nvSpPr>
          <p:cNvPr id="16" name="Text 11"/>
          <p:cNvSpPr txBox="1"/>
          <p:nvPr/>
        </p:nvSpPr>
        <p:spPr>
          <a:xfrm>
            <a:off x="4450080" y="4448048"/>
            <a:ext cx="3261360" cy="254000"/>
          </a:xfrm>
          <a:prstGeom prst="rect">
            <a:avLst/>
          </a:prstGeom>
          <a:noFill/>
          <a:ln/>
        </p:spPr>
        <p:txBody>
          <a:bodyPr wrap="square" lIns="0" tIns="0" rIns="0" bIns="0" rtlCol="0" anchor="t"/>
          <a:lstStyle/>
          <a:p>
            <a:pPr indent="0" marL="0">
              <a:buNone/>
            </a:pPr>
            <a:r>
              <a:rPr lang="en-US" sz="1600" b="1" dirty="0">
                <a:solidFill>
                  <a:srgbClr val="0B2545"/>
                </a:solidFill>
              </a:rPr>
              <a:t>Input labels</a:t>
            </a:r>
            <a:endParaRPr lang="en-US" sz="1600" dirty="0"/>
          </a:p>
        </p:txBody>
      </p:sp>
      <p:sp>
        <p:nvSpPr>
          <p:cNvPr id="17" name="Text 12"/>
          <p:cNvSpPr txBox="1"/>
          <p:nvPr/>
        </p:nvSpPr>
        <p:spPr>
          <a:xfrm>
            <a:off x="4450080" y="4775200"/>
            <a:ext cx="3261360"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83.1% = 2025 airport share, applied to 2030</a:t>
            </a:r>
            <a:endParaRPr lang="en-US" sz="1400" dirty="0"/>
          </a:p>
          <a:p>
            <a:pPr marL="152400" indent="-152400">
              <a:spcAft>
                <a:spcPts val="400"/>
              </a:spcAft>
              <a:buSzPct val="100000"/>
              <a:buChar char="•"/>
            </a:pPr>
            <a:r>
              <a:rPr lang="en-US" sz="1400" dirty="0">
                <a:solidFill>
                  <a:srgbClr val="0B1526"/>
                </a:solidFill>
              </a:rPr>
              <a:t>Asia-Pacific 32.6% (2024) includes China, Japan, India: not a proxy for SEA</a:t>
            </a:r>
            <a:endParaRPr lang="en-US" sz="1400" dirty="0"/>
          </a:p>
        </p:txBody>
      </p:sp>
      <p:sp>
        <p:nvSpPr>
          <p:cNvPr id="18" name="Shape 13"/>
          <p:cNvSpPr/>
          <p:nvPr/>
        </p:nvSpPr>
        <p:spPr>
          <a:xfrm>
            <a:off x="807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Scope caveat</a:t>
            </a:r>
            <a:endParaRPr lang="en-US" sz="1600" dirty="0"/>
          </a:p>
        </p:txBody>
      </p:sp>
      <p:sp>
        <p:nvSpPr>
          <p:cNvPr id="20" name="Text 15"/>
          <p:cNvSpPr txBox="1"/>
          <p:nvPr/>
        </p:nvSpPr>
        <p:spPr>
          <a:xfrm>
            <a:off x="8260080" y="2393696"/>
            <a:ext cx="3261360"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ABC = border e-gates and kiosks, mostly one-off hardware</a:t>
            </a:r>
            <a:endParaRPr lang="en-US" sz="1400" dirty="0"/>
          </a:p>
          <a:p>
            <a:pPr marL="152400" indent="-152400">
              <a:spcAft>
                <a:spcPts val="400"/>
              </a:spcAft>
              <a:buSzPct val="100000"/>
              <a:buChar char="•"/>
            </a:pPr>
            <a:r>
              <a:rPr lang="en-US" sz="1400" dirty="0">
                <a:solidFill>
                  <a:srgbClr val="0B1526"/>
                </a:solidFill>
              </a:rPr>
              <a:t>FastPass software, check-in, pre-screen, boarding and the platform sit outside it</a:t>
            </a:r>
            <a:endParaRPr lang="en-US" sz="1400" dirty="0"/>
          </a:p>
          <a:p>
            <a:pPr marL="152400" indent="-152400">
              <a:spcAft>
                <a:spcPts val="400"/>
              </a:spcAft>
              <a:buSzPct val="100000"/>
              <a:buChar char="•"/>
            </a:pPr>
            <a:r>
              <a:rPr lang="en-US" sz="1400" dirty="0">
                <a:solidFill>
                  <a:srgbClr val="0B1526"/>
                </a:solidFill>
              </a:rPr>
              <a:t>So the beachhead understates scope, but it is not a software market</a:t>
            </a:r>
            <a:endParaRPr lang="en-US" sz="1400" dirty="0"/>
          </a:p>
        </p:txBody>
      </p:sp>
      <p:sp>
        <p:nvSpPr>
          <p:cNvPr id="21" name="Text 16"/>
          <p:cNvSpPr txBox="1"/>
          <p:nvPr/>
        </p:nvSpPr>
        <p:spPr>
          <a:xfrm>
            <a:off x="8260080" y="4184396"/>
            <a:ext cx="3261360" cy="508000"/>
          </a:xfrm>
          <a:prstGeom prst="rect">
            <a:avLst/>
          </a:prstGeom>
          <a:noFill/>
          <a:ln/>
        </p:spPr>
        <p:txBody>
          <a:bodyPr wrap="square" lIns="0" tIns="0" rIns="0" bIns="0" rtlCol="0" anchor="t"/>
          <a:lstStyle/>
          <a:p>
            <a:pPr indent="0" marL="0">
              <a:buNone/>
            </a:pPr>
            <a:r>
              <a:rPr lang="en-US" sz="1600" b="1" dirty="0">
                <a:solidFill>
                  <a:srgbClr val="D97706"/>
                </a:solidFill>
              </a:rPr>
              <a:t>Bottom-up, to build before external use</a:t>
            </a:r>
            <a:endParaRPr lang="en-US" sz="1600" dirty="0"/>
          </a:p>
        </p:txBody>
      </p:sp>
      <p:sp>
        <p:nvSpPr>
          <p:cNvPr id="22" name="Text 17"/>
          <p:cNvSpPr txBox="1"/>
          <p:nvPr/>
        </p:nvSpPr>
        <p:spPr>
          <a:xfrm>
            <a:off x="8260080" y="4765548"/>
            <a:ext cx="3261360" cy="73609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 airports × [N] lanes × US$[X] one-off + US$[Y]/yr = US$[Z]M a year; must reconcile with the top-down</a:t>
            </a:r>
            <a:endParaRPr lang="en-US" sz="1400" dirty="0"/>
          </a:p>
        </p:txBody>
      </p:sp>
      <p:sp>
        <p:nvSpPr>
          <p:cNvPr id="2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MarketsandMarkets, Automated Border Control Market to 2030 · Research and Markets / Mordor; Lucintel · Shares: internal estimates (URS)</a:t>
            </a:r>
            <a:endParaRPr lang="en-US" sz="900" dirty="0"/>
          </a:p>
        </p:txBody>
      </p:sp>
      <p:grpSp>
        <p:nvGrpSpPr>
          <p:cNvPr id="2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A3  Segment and region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Who we target first, and the 2026 headwind.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Proposed segment for the team to confirm; regional data for the pilot-market call.</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54400" cy="4251960"/>
          </a:xfrm>
          <a:prstGeom prst="roundRect">
            <a:avLst>
              <a:gd name="adj" fmla="val 3176"/>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Segment (proposed)</a:t>
            </a:r>
            <a:endParaRPr lang="en-US" sz="1600" dirty="0"/>
          </a:p>
        </p:txBody>
      </p:sp>
      <p:sp>
        <p:nvSpPr>
          <p:cNvPr id="12" name="Text 7"/>
          <p:cNvSpPr txBox="1"/>
          <p:nvPr/>
        </p:nvSpPr>
        <p:spPr>
          <a:xfrm>
            <a:off x="640080" y="2393696"/>
            <a:ext cx="3088640" cy="233019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'Congested international gateways that cannot add a terminal soon'</a:t>
            </a:r>
            <a:endParaRPr lang="en-US" sz="1400" dirty="0"/>
          </a:p>
          <a:p>
            <a:pPr marL="152400" indent="-152400">
              <a:spcAft>
                <a:spcPts val="400"/>
              </a:spcAft>
              <a:buSzPct val="100000"/>
              <a:buChar char="•"/>
            </a:pPr>
            <a:r>
              <a:rPr lang="en-US" sz="1400" dirty="0">
                <a:solidFill>
                  <a:srgbClr val="0B1526"/>
                </a:solidFill>
              </a:rPr>
              <a:t>Filter: brownfield · at or above design capacity at peak · no incumbent end-to-end biometric programme (not Changi, DXB, Doha) · Group relationship · regulator open to pilots</a:t>
            </a:r>
            <a:endParaRPr lang="en-US" sz="1400" dirty="0"/>
          </a:p>
          <a:p>
            <a:pPr marL="152400" indent="-152400">
              <a:spcAft>
                <a:spcPts val="400"/>
              </a:spcAft>
              <a:buSzPct val="100000"/>
              <a:buChar char="•"/>
            </a:pPr>
            <a:r>
              <a:rPr lang="en-US" sz="1400" dirty="0">
                <a:solidFill>
                  <a:srgbClr val="0B1526"/>
                </a:solidFill>
              </a:rPr>
              <a:t>Test NAIA-type gateways (~50M passengers). First three: [A] · [B] · [C]</a:t>
            </a:r>
            <a:endParaRPr lang="en-US" sz="1400" dirty="0"/>
          </a:p>
        </p:txBody>
      </p:sp>
      <p:sp>
        <p:nvSpPr>
          <p:cNvPr id="13" name="Shape 8"/>
          <p:cNvSpPr/>
          <p:nvPr/>
        </p:nvSpPr>
        <p:spPr>
          <a:xfrm>
            <a:off x="4094480" y="1920240"/>
            <a:ext cx="3454400" cy="4251960"/>
          </a:xfrm>
          <a:prstGeom prst="roundRect">
            <a:avLst>
              <a:gd name="adj" fmla="val 3176"/>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27736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Brownfield</a:t>
            </a:r>
            <a:endParaRPr lang="en-US" sz="1600" dirty="0"/>
          </a:p>
        </p:txBody>
      </p:sp>
      <p:sp>
        <p:nvSpPr>
          <p:cNvPr id="15" name="Text 10"/>
          <p:cNvSpPr txBox="1"/>
          <p:nvPr/>
        </p:nvSpPr>
        <p:spPr>
          <a:xfrm>
            <a:off x="4277360" y="2393696"/>
            <a:ext cx="3088640"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~78% of ME/SEA airport projects are brownfield: internal URS figure [state whether it counts projects]</a:t>
            </a:r>
            <a:endParaRPr lang="en-US" sz="1400" dirty="0"/>
          </a:p>
          <a:p>
            <a:pPr marL="152400" indent="-152400">
              <a:spcAft>
                <a:spcPts val="400"/>
              </a:spcAft>
              <a:buSzPct val="100000"/>
              <a:buChar char="•"/>
            </a:pPr>
            <a:r>
              <a:rPr lang="en-US" sz="1400" dirty="0">
                <a:solidFill>
                  <a:srgbClr val="0B1526"/>
                </a:solidFill>
              </a:rPr>
              <a:t>ACI APAC &amp; MID: 57% of US$240B capex 2025–2035 goes to brownfield, by value</a:t>
            </a:r>
            <a:endParaRPr lang="en-US" sz="1400" dirty="0"/>
          </a:p>
          <a:p>
            <a:pPr marL="152400" indent="-152400">
              <a:spcAft>
                <a:spcPts val="400"/>
              </a:spcAft>
              <a:buSzPct val="100000"/>
              <a:buChar char="•"/>
            </a:pPr>
            <a:r>
              <a:rPr lang="en-US" sz="1400" dirty="0">
                <a:solidFill>
                  <a:srgbClr val="0B1526"/>
                </a:solidFill>
              </a:rPr>
              <a:t>Different metrics: never merge them</a:t>
            </a:r>
            <a:endParaRPr lang="en-US" sz="1400" dirty="0"/>
          </a:p>
        </p:txBody>
      </p:sp>
      <p:sp>
        <p:nvSpPr>
          <p:cNvPr id="16" name="Text 11"/>
          <p:cNvSpPr txBox="1"/>
          <p:nvPr/>
        </p:nvSpPr>
        <p:spPr>
          <a:xfrm>
            <a:off x="4277360" y="4184396"/>
            <a:ext cx="3088640" cy="254000"/>
          </a:xfrm>
          <a:prstGeom prst="rect">
            <a:avLst/>
          </a:prstGeom>
          <a:noFill/>
          <a:ln/>
        </p:spPr>
        <p:txBody>
          <a:bodyPr wrap="square" lIns="0" tIns="0" rIns="0" bIns="0" rtlCol="0" anchor="t"/>
          <a:lstStyle/>
          <a:p>
            <a:pPr indent="0" marL="0">
              <a:buNone/>
            </a:pPr>
            <a:r>
              <a:rPr lang="en-US" sz="1600" b="1" dirty="0">
                <a:solidFill>
                  <a:srgbClr val="0B2545"/>
                </a:solidFill>
              </a:rPr>
              <a:t>Wider pool, not TAM</a:t>
            </a:r>
            <a:endParaRPr lang="en-US" sz="1600" dirty="0"/>
          </a:p>
        </p:txBody>
      </p:sp>
      <p:sp>
        <p:nvSpPr>
          <p:cNvPr id="17" name="Text 12"/>
          <p:cNvSpPr txBox="1"/>
          <p:nvPr/>
        </p:nvSpPr>
        <p:spPr>
          <a:xfrm>
            <a:off x="4277360" y="4511548"/>
            <a:ext cx="3088640" cy="52273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Airports spent US$14.8B on IT in 2025, 7.3% of revenue (SITA)</a:t>
            </a:r>
            <a:endParaRPr lang="en-US" sz="1400" dirty="0"/>
          </a:p>
        </p:txBody>
      </p:sp>
      <p:sp>
        <p:nvSpPr>
          <p:cNvPr id="18" name="Shape 13"/>
          <p:cNvSpPr/>
          <p:nvPr/>
        </p:nvSpPr>
        <p:spPr>
          <a:xfrm>
            <a:off x="7731760" y="1920240"/>
            <a:ext cx="3972560" cy="4251960"/>
          </a:xfrm>
          <a:prstGeom prst="roundRect">
            <a:avLst>
              <a:gd name="adj" fmla="val 2762"/>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7914640" y="2066544"/>
            <a:ext cx="3606800" cy="254000"/>
          </a:xfrm>
          <a:prstGeom prst="rect">
            <a:avLst/>
          </a:prstGeom>
          <a:noFill/>
          <a:ln/>
        </p:spPr>
        <p:txBody>
          <a:bodyPr wrap="square" lIns="0" tIns="0" rIns="0" bIns="0" rtlCol="0" anchor="t"/>
          <a:lstStyle/>
          <a:p>
            <a:pPr indent="0" marL="0">
              <a:buNone/>
            </a:pPr>
            <a:r>
              <a:rPr lang="en-US" sz="1600" b="1" dirty="0">
                <a:solidFill>
                  <a:srgbClr val="0B2545"/>
                </a:solidFill>
              </a:rPr>
              <a:t>2026 regional context</a:t>
            </a:r>
            <a:endParaRPr lang="en-US" sz="1600" dirty="0"/>
          </a:p>
        </p:txBody>
      </p:sp>
      <p:sp>
        <p:nvSpPr>
          <p:cNvPr id="20" name="Text 15"/>
          <p:cNvSpPr txBox="1"/>
          <p:nvPr/>
        </p:nvSpPr>
        <p:spPr>
          <a:xfrm>
            <a:off x="7914640" y="2393696"/>
            <a:ext cx="3606800" cy="22174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ME airport traffic −21% in H1 2026 (ACI); ME carriers −14.2% YoY in Aug (IATA)</a:t>
            </a:r>
            <a:endParaRPr lang="en-US" sz="1400" dirty="0"/>
          </a:p>
          <a:p>
            <a:pPr marL="152400" indent="-152400">
              <a:spcAft>
                <a:spcPts val="400"/>
              </a:spcAft>
              <a:buSzPct val="100000"/>
              <a:buChar char="•"/>
            </a:pPr>
            <a:r>
              <a:rPr lang="en-US" sz="1400" dirty="0">
                <a:solidFill>
                  <a:srgbClr val="0B1526"/>
                </a:solidFill>
              </a:rPr>
              <a:t>IATA: ME demand −11.4% for 2026; ACI +5.4%/yr (2025–28) is pre-war</a:t>
            </a:r>
            <a:endParaRPr lang="en-US" sz="1400" dirty="0"/>
          </a:p>
          <a:p>
            <a:pPr marL="152400" indent="-152400">
              <a:spcAft>
                <a:spcPts val="400"/>
              </a:spcAft>
              <a:buSzPct val="100000"/>
              <a:buChar char="•"/>
            </a:pPr>
            <a:r>
              <a:rPr lang="en-US" sz="1400" dirty="0">
                <a:solidFill>
                  <a:srgbClr val="0B1526"/>
                </a:solidFill>
              </a:rPr>
              <a:t>Saudi: 140.9M passengers in 2025; Jeddah ~107% of design capacity [verify]</a:t>
            </a:r>
            <a:endParaRPr lang="en-US" sz="1400" dirty="0"/>
          </a:p>
          <a:p>
            <a:pPr marL="152400" indent="-152400">
              <a:spcAft>
                <a:spcPts val="400"/>
              </a:spcAft>
              <a:buSzPct val="100000"/>
              <a:buChar char="•"/>
            </a:pPr>
            <a:r>
              <a:rPr lang="en-US" sz="1400" dirty="0">
                <a:solidFill>
                  <a:srgbClr val="0B1526"/>
                </a:solidFill>
              </a:rPr>
              <a:t>Bangkok: 47% still need an officer; East Expansion slipped to 2030</a:t>
            </a:r>
            <a:endParaRPr lang="en-US" sz="1400" dirty="0"/>
          </a:p>
          <a:p>
            <a:pPr marL="152400" indent="-152400">
              <a:spcAft>
                <a:spcPts val="400"/>
              </a:spcAft>
              <a:buSzPct val="100000"/>
              <a:buChar char="•"/>
            </a:pPr>
            <a:r>
              <a:rPr lang="en-US" sz="1400" dirty="0">
                <a:solidFill>
                  <a:srgbClr val="0B1526"/>
                </a:solidFill>
              </a:rPr>
              <a:t>Dubai DWC phase 1 opens 2032</a:t>
            </a:r>
            <a:endParaRPr lang="en-US" sz="1400" dirty="0"/>
          </a:p>
        </p:txBody>
      </p:sp>
      <p:sp>
        <p:nvSpPr>
          <p:cNvPr id="21" name="Text 16"/>
          <p:cNvSpPr txBox="1"/>
          <p:nvPr/>
        </p:nvSpPr>
        <p:spPr>
          <a:xfrm>
            <a:off x="7914640" y="4711700"/>
            <a:ext cx="3606800" cy="254000"/>
          </a:xfrm>
          <a:prstGeom prst="rect">
            <a:avLst/>
          </a:prstGeom>
          <a:noFill/>
          <a:ln/>
        </p:spPr>
        <p:txBody>
          <a:bodyPr wrap="square" lIns="0" tIns="0" rIns="0" bIns="0" rtlCol="0" anchor="t"/>
          <a:lstStyle/>
          <a:p>
            <a:pPr indent="0" marL="0">
              <a:buNone/>
            </a:pPr>
            <a:r>
              <a:rPr lang="en-US" sz="1600" b="1" dirty="0">
                <a:solidFill>
                  <a:srgbClr val="0B2545"/>
                </a:solidFill>
              </a:rPr>
              <a:t>So</a:t>
            </a:r>
            <a:endParaRPr lang="en-US" sz="1600" dirty="0"/>
          </a:p>
        </p:txBody>
      </p:sp>
      <p:sp>
        <p:nvSpPr>
          <p:cNvPr id="22" name="Text 17"/>
          <p:cNvSpPr txBox="1"/>
          <p:nvPr/>
        </p:nvSpPr>
        <p:spPr>
          <a:xfrm>
            <a:off x="7914640" y="5038852"/>
            <a:ext cx="3606800" cy="52273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Sell efficiency, not growth; SEA or dual-region pilot as the hedge</a:t>
            </a:r>
            <a:endParaRPr lang="en-US" sz="1400" dirty="0"/>
          </a:p>
        </p:txBody>
      </p:sp>
      <p:sp>
        <p:nvSpPr>
          <p:cNvPr id="2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World · ACI APAC &amp; MID · IATA (Jun, Sep 2026) · Argaam / GACA · Khaosod English · Nation Thailand · Dubai Media Office · WAM · SITA · ~78%: internal (URS)</a:t>
            </a:r>
            <a:endParaRPr lang="en-US" sz="900" dirty="0"/>
          </a:p>
        </p:txBody>
      </p:sp>
      <p:grpSp>
        <p:nvGrpSpPr>
          <p:cNvPr id="2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A4  Competitor matrix</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Competitor matrix behind the slide-7 map.</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Public sources only; 'not found in public sources' ≠ 'cannot'.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1783080"/>
                <a:gridCol w="1463040"/>
                <a:gridCol w="1783080"/>
                <a:gridCol w="1463040"/>
                <a:gridCol w="1600200"/>
                <a:gridCol w="3154680"/>
              </a:tblGrid>
              <a:tr h="347472">
                <a:tc>
                  <a:txBody>
                    <a:bodyPr/>
                    <a:lstStyle/>
                    <a:p>
                      <a:pPr indent="0" marL="0">
                        <a:buNone/>
                      </a:pPr>
                      <a:r>
                        <a:rPr lang="en-US" sz="1400" b="1" dirty="0">
                          <a:solidFill>
                            <a:srgbClr val="FFFFFF"/>
                          </a:solidFill>
                        </a:rPr>
                        <a:t>Vendor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Face in stride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Credential in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Stays in pocket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Ops platform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Notable deployments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IDEMIA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(MFace)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e-gate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found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Singapore ABCS (May 2023); Zayed &gt;1M (vendor); ID2Travel app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SITA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(stop-and-look)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Aruba (tap,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(tap)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Smart Path on NEC at Frankfurt; Hamad 'Fast Pass' (Jul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Amadeus / Vision-Box</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(corridors)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Pilot only (Smart-Trust, 2018–20)</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(Orchestra)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Indonesia: &gt;30/min per corridor (vendor); DXB T3 (2020); Smart-Trust EU pilot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NEC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(after kiosk step)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None found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Japan ISA: Kansai, Narita, Haneda (Apr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Thales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 (pod,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in lane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Fly to Gate: 600+ touchpoints, 7 Adani airports (vendor)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Collins · Indra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(stop-and-look)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document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SelfPass, Haneda (2021); Indra ABC at Aena (2018)</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84AE"/>
                          </a:solidFill>
                        </a:rPr>
                        <a:t>FastPass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(prototype)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phone credential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By design (BLE) [CTO]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AGIL® Secure Platform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Prototype shown Feb 2026; no deployments yet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IDEMIA · SITA · PhocusWire · Amadeus · NEC · Singapore EDB (Thales) · Collins · Indra · CORDIS 778571 · Hamad International · ABI Research (Jul 2023)</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A4  Evidence and moat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Market evidence and the moat to build.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Agencies and airports are possible buyers, so they are not plotted as rivals.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4318000" cy="3114548"/>
          </a:xfrm>
          <a:prstGeom prst="roundRect">
            <a:avLst>
              <a:gd name="adj" fmla="val 3523"/>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952240" cy="254000"/>
          </a:xfrm>
          <a:prstGeom prst="rect">
            <a:avLst/>
          </a:prstGeom>
          <a:noFill/>
          <a:ln/>
        </p:spPr>
        <p:txBody>
          <a:bodyPr wrap="square" lIns="0" tIns="0" rIns="0" bIns="0" rtlCol="0" anchor="t"/>
          <a:lstStyle/>
          <a:p>
            <a:pPr indent="0" marL="0">
              <a:buNone/>
            </a:pPr>
            <a:r>
              <a:rPr lang="en-US" sz="1600" b="1" dirty="0">
                <a:solidFill>
                  <a:srgbClr val="0B2545"/>
                </a:solidFill>
              </a:rPr>
              <a:t>Market evidence (not plotted)</a:t>
            </a:r>
            <a:endParaRPr lang="en-US" sz="1600" dirty="0"/>
          </a:p>
        </p:txBody>
      </p:sp>
      <p:sp>
        <p:nvSpPr>
          <p:cNvPr id="12" name="Text 7"/>
          <p:cNvSpPr txBox="1"/>
          <p:nvPr/>
        </p:nvSpPr>
        <p:spPr>
          <a:xfrm>
            <a:off x="640080" y="2393696"/>
            <a:ext cx="3952240" cy="24307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Dubai GDRFA Red Carpet: 745,188 travellers Jan–Aug 2026; 3.4 s vs 12.5 s (GDRFA; Paravision ~14 s); face only</a:t>
            </a:r>
            <a:endParaRPr lang="en-US" sz="1400" dirty="0"/>
          </a:p>
          <a:p>
            <a:pPr marL="152400" indent="-152400">
              <a:spcAft>
                <a:spcPts val="400"/>
              </a:spcAft>
              <a:buSzPct val="100000"/>
              <a:buChar char="•"/>
            </a:pPr>
            <a:r>
              <a:rPr lang="en-US" sz="1400" dirty="0">
                <a:solidFill>
                  <a:srgbClr val="0B1526"/>
                </a:solidFill>
              </a:rPr>
              <a:t>Hamad 'Fast Pass' (Qatar Airways + SITA): 700+ touchpoints, app enrolment</a:t>
            </a:r>
            <a:endParaRPr lang="en-US" sz="1400" dirty="0"/>
          </a:p>
          <a:p>
            <a:pPr marL="152400" indent="-152400">
              <a:spcAft>
                <a:spcPts val="400"/>
              </a:spcAft>
              <a:buSzPct val="100000"/>
              <a:buChar char="•"/>
            </a:pPr>
            <a:r>
              <a:rPr lang="en-US" sz="1400" dirty="0">
                <a:solidFill>
                  <a:srgbClr val="0B1526"/>
                </a:solidFill>
              </a:rPr>
              <a:t>Changi ICA passport-less: 25 s → 10 s; foreign visitors on departure only</a:t>
            </a:r>
            <a:endParaRPr lang="en-US" sz="1400" dirty="0"/>
          </a:p>
          <a:p>
            <a:pPr marL="152400" indent="-152400">
              <a:spcAft>
                <a:spcPts val="400"/>
              </a:spcAft>
              <a:buSzPct val="100000"/>
              <a:buChar char="•"/>
            </a:pPr>
            <a:r>
              <a:rPr lang="en-US" sz="1400" dirty="0">
                <a:solidFill>
                  <a:srgbClr val="0B1526"/>
                </a:solidFill>
              </a:rPr>
              <a:t>Never imply any ICA/HTX partnership</a:t>
            </a:r>
            <a:endParaRPr lang="en-US" sz="1400" dirty="0"/>
          </a:p>
          <a:p>
            <a:pPr marL="152400" indent="-152400">
              <a:spcAft>
                <a:spcPts val="400"/>
              </a:spcAft>
              <a:buSzPct val="100000"/>
              <a:buChar char="•"/>
            </a:pPr>
            <a:r>
              <a:rPr lang="en-US" sz="1400" dirty="0">
                <a:solidFill>
                  <a:srgbClr val="0B1526"/>
                </a:solidFill>
              </a:rPr>
              <a:t>Leaders by ranking: IDEMIA, Thales, Vision-Box (ABI Research, Jul 2023)</a:t>
            </a:r>
            <a:endParaRPr lang="en-US" sz="1400" dirty="0"/>
          </a:p>
        </p:txBody>
      </p:sp>
      <p:sp>
        <p:nvSpPr>
          <p:cNvPr id="13" name="Shape 8"/>
          <p:cNvSpPr/>
          <p:nvPr/>
        </p:nvSpPr>
        <p:spPr>
          <a:xfrm>
            <a:off x="4958080" y="1920240"/>
            <a:ext cx="3454400" cy="3114548"/>
          </a:xfrm>
          <a:prstGeom prst="roundRect">
            <a:avLst>
              <a:gd name="adj" fmla="val 3523"/>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514096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Moat to build (honest)</a:t>
            </a:r>
            <a:endParaRPr lang="en-US" sz="1600" dirty="0"/>
          </a:p>
        </p:txBody>
      </p:sp>
      <p:sp>
        <p:nvSpPr>
          <p:cNvPr id="15" name="Text 10"/>
          <p:cNvSpPr txBox="1"/>
          <p:nvPr/>
        </p:nvSpPr>
        <p:spPr>
          <a:xfrm>
            <a:off x="5140960" y="2393696"/>
            <a:ext cx="3088640" cy="22174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Accreditation earned in the pilot</a:t>
            </a:r>
            <a:endParaRPr lang="en-US" sz="1400" dirty="0"/>
          </a:p>
          <a:p>
            <a:pPr marL="152400" indent="-152400">
              <a:spcAft>
                <a:spcPts val="400"/>
              </a:spcAft>
              <a:buSzPct val="100000"/>
              <a:buChar char="•"/>
            </a:pPr>
            <a:r>
              <a:rPr lang="en-US" sz="1400" dirty="0">
                <a:solidFill>
                  <a:srgbClr val="0B1526"/>
                </a:solidFill>
              </a:rPr>
              <a:t>Control-room integration: a switching cost only where security ops run on AGIL® Secure Platform</a:t>
            </a:r>
            <a:endParaRPr lang="en-US" sz="1400" dirty="0"/>
          </a:p>
          <a:p>
            <a:pPr marL="152400" indent="-152400">
              <a:spcAft>
                <a:spcPts val="400"/>
              </a:spcAft>
              <a:buSzPct val="100000"/>
              <a:buChar char="•"/>
            </a:pPr>
            <a:r>
              <a:rPr lang="en-US" sz="1400" dirty="0">
                <a:solidFill>
                  <a:srgbClr val="0B1526"/>
                </a:solidFill>
              </a:rPr>
              <a:t>Government-grade delivery in ME/SEA</a:t>
            </a:r>
            <a:endParaRPr lang="en-US" sz="1400" dirty="0"/>
          </a:p>
          <a:p>
            <a:pPr marL="152400" indent="-152400">
              <a:spcAft>
                <a:spcPts val="400"/>
              </a:spcAft>
              <a:buSzPct val="100000"/>
              <a:buChar char="•"/>
            </a:pPr>
            <a:r>
              <a:rPr lang="en-US" sz="1400" dirty="0">
                <a:solidFill>
                  <a:srgbClr val="0B1526"/>
                </a:solidFill>
              </a:rPr>
              <a:t>IP: [state the actual status]</a:t>
            </a:r>
            <a:endParaRPr lang="en-US" sz="1400" dirty="0"/>
          </a:p>
          <a:p>
            <a:pPr marL="152400" indent="-152400">
              <a:spcAft>
                <a:spcPts val="400"/>
              </a:spcAft>
              <a:buSzPct val="100000"/>
              <a:buChar char="•"/>
            </a:pPr>
            <a:r>
              <a:rPr lang="en-US" sz="1400" dirty="0">
                <a:solidFill>
                  <a:srgbClr val="0B1526"/>
                </a:solidFill>
              </a:rPr>
              <a:t>Copy in 12 months? [team answer]: copy risk is real</a:t>
            </a:r>
            <a:endParaRPr lang="en-US" sz="1400" dirty="0"/>
          </a:p>
        </p:txBody>
      </p:sp>
      <p:sp>
        <p:nvSpPr>
          <p:cNvPr id="16" name="Shape 11"/>
          <p:cNvSpPr/>
          <p:nvPr/>
        </p:nvSpPr>
        <p:spPr>
          <a:xfrm>
            <a:off x="8595360" y="1920240"/>
            <a:ext cx="3108960" cy="3114548"/>
          </a:xfrm>
          <a:prstGeom prst="roundRect">
            <a:avLst>
              <a:gd name="adj" fmla="val 3529"/>
            </a:avLst>
          </a:prstGeom>
          <a:solidFill>
            <a:srgbClr val="FFFFFF"/>
          </a:solidFill>
          <a:ln w="15875">
            <a:solidFill>
              <a:srgbClr val="D97706"/>
            </a:solidFill>
            <a:prstDash val="solid"/>
          </a:ln>
          <a:effectLst>
            <a:outerShdw sx="100000" sy="100000" kx="0" ky="0" algn="bl" rotWithShape="0" blurRad="152400" dist="25400" dir="5400000">
              <a:srgbClr val="0A1628">
                <a:alpha val="12000"/>
              </a:srgbClr>
            </a:outerShdw>
          </a:effectLst>
        </p:spPr>
      </p:sp>
      <p:sp>
        <p:nvSpPr>
          <p:cNvPr id="17" name="Text 12"/>
          <p:cNvSpPr txBox="1"/>
          <p:nvPr/>
        </p:nvSpPr>
        <p:spPr>
          <a:xfrm>
            <a:off x="8778240" y="2066544"/>
            <a:ext cx="2743200" cy="254000"/>
          </a:xfrm>
          <a:prstGeom prst="rect">
            <a:avLst/>
          </a:prstGeom>
          <a:noFill/>
          <a:ln/>
        </p:spPr>
        <p:txBody>
          <a:bodyPr wrap="square" lIns="0" tIns="0" rIns="0" bIns="0" rtlCol="0" anchor="t"/>
          <a:lstStyle/>
          <a:p>
            <a:pPr indent="0" marL="0">
              <a:buNone/>
            </a:pPr>
            <a:r>
              <a:rPr lang="en-US" sz="1600" b="1" dirty="0">
                <a:solidFill>
                  <a:srgbClr val="0B2545"/>
                </a:solidFill>
              </a:rPr>
              <a:t>Wording rules (INTERNAL)</a:t>
            </a:r>
            <a:endParaRPr lang="en-US" sz="1600" dirty="0"/>
          </a:p>
        </p:txBody>
      </p:sp>
      <p:sp>
        <p:nvSpPr>
          <p:cNvPr id="18" name="Text 13"/>
          <p:cNvSpPr txBox="1"/>
          <p:nvPr/>
        </p:nvSpPr>
        <p:spPr>
          <a:xfrm>
            <a:off x="8778240" y="2393696"/>
            <a:ext cx="2743200" cy="152704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Never 'first', 'only' or 'unique'</a:t>
            </a:r>
            <a:endParaRPr lang="en-US" sz="1400" dirty="0"/>
          </a:p>
          <a:p>
            <a:pPr marL="152400" indent="-152400">
              <a:spcAft>
                <a:spcPts val="400"/>
              </a:spcAft>
              <a:buSzPct val="100000"/>
              <a:buChar char="•"/>
            </a:pPr>
            <a:r>
              <a:rPr lang="en-US" sz="1400" dirty="0">
                <a:solidFill>
                  <a:srgbClr val="0B1526"/>
                </a:solidFill>
              </a:rPr>
              <a:t>'Not found' ≠ 'cannot'</a:t>
            </a:r>
            <a:endParaRPr lang="en-US" sz="1400" dirty="0"/>
          </a:p>
          <a:p>
            <a:pPr marL="152400" indent="-152400">
              <a:spcAft>
                <a:spcPts val="400"/>
              </a:spcAft>
              <a:buSzPct val="100000"/>
              <a:buChar char="•"/>
            </a:pPr>
            <a:r>
              <a:rPr lang="en-US" sz="1400" dirty="0">
                <a:solidFill>
                  <a:srgbClr val="0B1526"/>
                </a:solidFill>
              </a:rPr>
              <a:t>ABC e-gates are two factors (chip + face), stop and present</a:t>
            </a:r>
            <a:endParaRPr lang="en-US" sz="1400" dirty="0"/>
          </a:p>
          <a:p>
            <a:pPr marL="152400" indent="-152400">
              <a:spcAft>
                <a:spcPts val="400"/>
              </a:spcAft>
              <a:buSzPct val="100000"/>
              <a:buChar char="•"/>
            </a:pPr>
            <a:r>
              <a:rPr lang="en-US" sz="1400" dirty="0">
                <a:solidFill>
                  <a:srgbClr val="0B1526"/>
                </a:solidFill>
              </a:rPr>
              <a:t>Wedge: 'two factors, nothing taken out, in stride'</a:t>
            </a:r>
            <a:endParaRPr lang="en-US" sz="1400" dirty="0"/>
          </a:p>
        </p:txBody>
      </p:sp>
      <p:sp>
        <p:nvSpPr>
          <p:cNvPr id="1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Gulf News (2026) · International Airport Review (2026) · Paravision · Hamad International / SITA (Jul 2026) · ICA (Oct 2024) · ABI Research (Jul 2023)</a:t>
            </a:r>
            <a:endParaRPr lang="en-US" sz="900" dirty="0"/>
          </a:p>
        </p:txBody>
      </p:sp>
      <p:grpSp>
        <p:nvGrpSpPr>
          <p:cNvPr id="2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A5  Category exits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identity layer produces real outcomes.</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Comps for context, not a valuation of FastPass.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A5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108960"/>
                <a:gridCol w="2331720"/>
                <a:gridCol w="4434840"/>
                <a:gridCol w="1371600"/>
              </a:tblGrid>
              <a:tr h="347472">
                <a:tc>
                  <a:txBody>
                    <a:bodyPr/>
                    <a:lstStyle/>
                    <a:p>
                      <a:pPr indent="0" marL="0">
                        <a:buNone/>
                      </a:pPr>
                      <a:r>
                        <a:rPr lang="en-US" sz="1400" b="1" dirty="0">
                          <a:solidFill>
                            <a:srgbClr val="FFFFFF"/>
                          </a:solidFill>
                        </a:rPr>
                        <a:t>Deal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Value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Detail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66928">
                <a:tc>
                  <a:txBody>
                    <a:bodyPr/>
                    <a:lstStyle/>
                    <a:p>
                      <a:pPr indent="0" marL="0">
                        <a:buNone/>
                      </a:pPr>
                      <a:r>
                        <a:rPr lang="en-US" sz="1400" b="1" dirty="0">
                          <a:solidFill>
                            <a:srgbClr val="0B1526"/>
                          </a:solidFill>
                        </a:rPr>
                        <a:t>Amadeus–Vision-Box</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~€320M EV</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~16× 2023 normalised EBITDA (per The Corner); ~€70M expected 2023 revenue (~4.6×, derived); ~470 staff</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Apr 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BigBear.ai–Pangiam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~US$70M, all-stock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Announced Nov 2023</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Early 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SITA–Materna IPS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disclosed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Airport solutions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IN Groupe–IDEMIA Smart Identity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Not disclosed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Jul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Thales–Gemalto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€4.8B</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Apr 2019</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Persona Series 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US$200M at US$2B</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Co-led by Founders Fund and Ribbit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Apr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CLEAR Secure IPO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US$409M raised at US$31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38 airports at IPO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Jun 2021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Shape 5"/>
          <p:cNvSpPr/>
          <p:nvPr/>
        </p:nvSpPr>
        <p:spPr>
          <a:xfrm>
            <a:off x="457200" y="5532120"/>
            <a:ext cx="11247120" cy="548640"/>
          </a:xfrm>
          <a:prstGeom prst="roundRect">
            <a:avLst>
              <a:gd name="adj" fmla="val 16667"/>
            </a:avLst>
          </a:prstGeom>
          <a:solidFill>
            <a:srgbClr val="0B2545"/>
          </a:solidFill>
          <a:ln/>
        </p:spPr>
      </p:sp>
      <p:sp>
        <p:nvSpPr>
          <p:cNvPr id="12" name="Text 6"/>
          <p:cNvSpPr txBox="1"/>
          <p:nvPr/>
        </p:nvSpPr>
        <p:spPr>
          <a:xfrm>
            <a:off x="685800" y="5532120"/>
            <a:ext cx="10789920" cy="548640"/>
          </a:xfrm>
          <a:prstGeom prst="rect">
            <a:avLst/>
          </a:prstGeom>
          <a:noFill/>
          <a:ln/>
        </p:spPr>
        <p:txBody>
          <a:bodyPr wrap="square" lIns="0" tIns="0" rIns="0" bIns="0" rtlCol="0" anchor="ctr"/>
          <a:lstStyle/>
          <a:p>
            <a:pPr indent="0" marL="0">
              <a:buNone/>
            </a:pPr>
            <a:r>
              <a:rPr lang="en-US" sz="1600" b="1" dirty="0">
                <a:solidFill>
                  <a:srgbClr val="FFFFFF"/>
                </a:solidFill>
              </a:rPr>
              <a:t>These are comps, not a valuation. No named investor has engaged with FastPass.</a:t>
            </a:r>
            <a:endParaRPr lang="en-US" sz="1600" dirty="0"/>
          </a:p>
        </p:txBody>
      </p:sp>
      <p:sp>
        <p:nvSpPr>
          <p:cNvPr id="1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Amadeus (Apr 2024) · The Corner (EBITDA multiple) · BigBear.ai (2024) · SITA (Jul 2024) · IN Groupe (Jul 2025) · Thales (Apr 2019) · FinTech Futures (Apr 2025) · Renaissance Capital (Jun 2021)</a:t>
            </a:r>
            <a:endParaRPr lang="en-US" sz="900" dirty="0"/>
          </a:p>
        </p:txBody>
      </p:sp>
      <p:grpSp>
        <p:nvGrpSpPr>
          <p:cNvPr id="1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A6  Platform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AGIL® Secure Platform: the command layer behind every step.</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Six capabilities. The AI recommends, the officer decides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A6  |</a:t>
            </a:r>
            <a:endParaRPr lang="en-US" sz="1200" dirty="0"/>
          </a:p>
        </p:txBody>
      </p:sp>
      <p:sp>
        <p:nvSpPr>
          <p:cNvPr id="9" name="!!idxlink">
            <a:hlinkClick action="ppaction://hlinksldjump" r:id="rId12"/>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2514600" y="3200400"/>
            <a:ext cx="1737360" cy="1737360"/>
          </a:xfrm>
          <a:prstGeom prst="ellipse">
            <a:avLst/>
          </a:prstGeom>
          <a:solidFill>
            <a:srgbClr val="0B2545"/>
          </a:solidFill>
          <a:ln/>
          <a:effectLst>
            <a:outerShdw sx="100000" sy="100000" kx="0" ky="0" algn="bl" rotWithShape="0" blurRad="152400" dist="25400" dir="5400000">
              <a:srgbClr val="0A1628">
                <a:alpha val="12000"/>
              </a:srgbClr>
            </a:outerShdw>
          </a:effectLst>
        </p:spPr>
      </p:sp>
      <p:sp>
        <p:nvSpPr>
          <p:cNvPr id="11" name="Text 6"/>
          <p:cNvSpPr txBox="1"/>
          <p:nvPr/>
        </p:nvSpPr>
        <p:spPr>
          <a:xfrm>
            <a:off x="2560320" y="3611880"/>
            <a:ext cx="1645920" cy="914400"/>
          </a:xfrm>
          <a:prstGeom prst="rect">
            <a:avLst/>
          </a:prstGeom>
          <a:noFill/>
          <a:ln/>
        </p:spPr>
        <p:txBody>
          <a:bodyPr wrap="square" lIns="0" tIns="0" rIns="0" bIns="0" rtlCol="0" anchor="ctr"/>
          <a:lstStyle/>
          <a:p>
            <a:pPr algn="ctr" indent="0" marL="0">
              <a:buNone/>
            </a:pPr>
            <a:r>
              <a:rPr lang="en-US" sz="1600" b="1" dirty="0">
                <a:solidFill>
                  <a:srgbClr val="FFFFFF"/>
                </a:solidFill>
              </a:rPr>
              <a:t>AGIL Secure</a:t>
            </a:r>
            <a:endParaRPr lang="en-US" sz="1600" dirty="0"/>
          </a:p>
          <a:p>
            <a:pPr algn="ctr" indent="0" marL="0">
              <a:buNone/>
            </a:pPr>
            <a:r>
              <a:rPr lang="en-US" sz="1600" b="1" dirty="0">
                <a:solidFill>
                  <a:srgbClr val="FFFFFF"/>
                </a:solidFill>
              </a:rPr>
              <a:t>Platform</a:t>
            </a:r>
            <a:endParaRPr lang="en-US" sz="1600" dirty="0"/>
          </a:p>
        </p:txBody>
      </p:sp>
      <p:sp>
        <p:nvSpPr>
          <p:cNvPr id="12" name="Shape 7"/>
          <p:cNvSpPr/>
          <p:nvPr/>
        </p:nvSpPr>
        <p:spPr>
          <a:xfrm>
            <a:off x="3383280" y="2926080"/>
            <a:ext cx="914" cy="274320"/>
          </a:xfrm>
          <a:prstGeom prst="line">
            <a:avLst/>
          </a:prstGeom>
          <a:noFill/>
          <a:ln w="12700">
            <a:solidFill>
              <a:srgbClr val="0B84AE"/>
            </a:solidFill>
            <a:prstDash val="dash"/>
          </a:ln>
        </p:spPr>
      </p:sp>
      <p:sp>
        <p:nvSpPr>
          <p:cNvPr id="13" name="Shape 8"/>
          <p:cNvSpPr/>
          <p:nvPr/>
        </p:nvSpPr>
        <p:spPr>
          <a:xfrm>
            <a:off x="3108960" y="2377440"/>
            <a:ext cx="548640" cy="548640"/>
          </a:xfrm>
          <a:prstGeom prst="ellipse">
            <a:avLst/>
          </a:prstGeom>
          <a:solidFill>
            <a:srgbClr val="FFFFFF"/>
          </a:solidFill>
          <a:ln/>
        </p:spPr>
      </p:sp>
      <p:pic>
        <p:nvPicPr>
          <p:cNvPr id="14" name="Image 0" descr="">    </p:cNvPr>
          <p:cNvPicPr>
            <a:picLocks noChangeAspect="1"/>
          </p:cNvPicPr>
          <p:nvPr/>
        </p:nvPicPr>
        <p:blipFill>
          <a:blip r:embed="rId3"/>
          <a:stretch>
            <a:fillRect/>
          </a:stretch>
        </p:blipFill>
        <p:spPr>
          <a:xfrm>
            <a:off x="3229661" y="2498141"/>
            <a:ext cx="307238" cy="307238"/>
          </a:xfrm>
          <a:prstGeom prst="rect">
            <a:avLst/>
          </a:prstGeom>
        </p:spPr>
      </p:pic>
      <p:sp>
        <p:nvSpPr>
          <p:cNvPr id="15" name="Shape 9"/>
          <p:cNvSpPr/>
          <p:nvPr/>
        </p:nvSpPr>
        <p:spPr>
          <a:xfrm>
            <a:off x="3108960" y="2377440"/>
            <a:ext cx="548640" cy="548640"/>
          </a:xfrm>
          <a:prstGeom prst="ellipse">
            <a:avLst/>
          </a:prstGeom>
          <a:ln w="15875">
            <a:solidFill>
              <a:srgbClr val="0B84AE"/>
            </a:solidFill>
            <a:prstDash val="solid"/>
          </a:ln>
        </p:spPr>
      </p:sp>
      <p:sp>
        <p:nvSpPr>
          <p:cNvPr id="16" name="Text 10"/>
          <p:cNvSpPr txBox="1"/>
          <p:nvPr/>
        </p:nvSpPr>
        <p:spPr>
          <a:xfrm>
            <a:off x="2377440" y="1993392"/>
            <a:ext cx="2011680" cy="329184"/>
          </a:xfrm>
          <a:prstGeom prst="rect">
            <a:avLst/>
          </a:prstGeom>
          <a:noFill/>
          <a:ln/>
        </p:spPr>
        <p:txBody>
          <a:bodyPr wrap="square" lIns="0" tIns="0" rIns="0" bIns="0" rtlCol="0" anchor="ctr"/>
          <a:lstStyle/>
          <a:p>
            <a:pPr algn="ctr" indent="0" marL="0">
              <a:buNone/>
            </a:pPr>
            <a:r>
              <a:rPr lang="en-US" sz="1400" b="1" dirty="0">
                <a:solidFill>
                  <a:srgbClr val="0B1526"/>
                </a:solidFill>
              </a:rPr>
              <a:t>Traveller transactions</a:t>
            </a:r>
            <a:endParaRPr lang="en-US" sz="1400" dirty="0"/>
          </a:p>
        </p:txBody>
      </p:sp>
      <p:sp>
        <p:nvSpPr>
          <p:cNvPr id="17" name="Shape 11"/>
          <p:cNvSpPr/>
          <p:nvPr/>
        </p:nvSpPr>
        <p:spPr>
          <a:xfrm flipV="1">
            <a:off x="4135579" y="3497580"/>
            <a:ext cx="237568" cy="137160"/>
          </a:xfrm>
          <a:prstGeom prst="line">
            <a:avLst/>
          </a:prstGeom>
          <a:noFill/>
          <a:ln w="12700">
            <a:solidFill>
              <a:srgbClr val="0B84AE"/>
            </a:solidFill>
            <a:prstDash val="dash"/>
          </a:ln>
        </p:spPr>
      </p:sp>
      <p:sp>
        <p:nvSpPr>
          <p:cNvPr id="18" name="Shape 12"/>
          <p:cNvSpPr/>
          <p:nvPr/>
        </p:nvSpPr>
        <p:spPr>
          <a:xfrm>
            <a:off x="4336395" y="3086100"/>
            <a:ext cx="548640" cy="548640"/>
          </a:xfrm>
          <a:prstGeom prst="ellipse">
            <a:avLst/>
          </a:prstGeom>
          <a:solidFill>
            <a:srgbClr val="FFFFFF"/>
          </a:solidFill>
          <a:ln/>
        </p:spPr>
      </p:sp>
      <p:pic>
        <p:nvPicPr>
          <p:cNvPr id="19" name="Image 1" descr="">    </p:cNvPr>
          <p:cNvPicPr>
            <a:picLocks noChangeAspect="1"/>
          </p:cNvPicPr>
          <p:nvPr/>
        </p:nvPicPr>
        <p:blipFill>
          <a:blip r:embed="rId4"/>
          <a:stretch>
            <a:fillRect/>
          </a:stretch>
        </p:blipFill>
        <p:spPr>
          <a:xfrm>
            <a:off x="4457096" y="3206801"/>
            <a:ext cx="307238" cy="307238"/>
          </a:xfrm>
          <a:prstGeom prst="rect">
            <a:avLst/>
          </a:prstGeom>
        </p:spPr>
      </p:pic>
      <p:sp>
        <p:nvSpPr>
          <p:cNvPr id="20" name="Shape 13"/>
          <p:cNvSpPr/>
          <p:nvPr/>
        </p:nvSpPr>
        <p:spPr>
          <a:xfrm>
            <a:off x="4336395" y="3086100"/>
            <a:ext cx="548640" cy="548640"/>
          </a:xfrm>
          <a:prstGeom prst="ellipse">
            <a:avLst/>
          </a:prstGeom>
          <a:ln w="15875">
            <a:solidFill>
              <a:srgbClr val="0B84AE"/>
            </a:solidFill>
            <a:prstDash val="solid"/>
          </a:ln>
        </p:spPr>
      </p:sp>
      <p:sp>
        <p:nvSpPr>
          <p:cNvPr id="21" name="Text 14"/>
          <p:cNvSpPr txBox="1"/>
          <p:nvPr/>
        </p:nvSpPr>
        <p:spPr>
          <a:xfrm>
            <a:off x="4958187" y="3086100"/>
            <a:ext cx="1325880" cy="548640"/>
          </a:xfrm>
          <a:prstGeom prst="rect">
            <a:avLst/>
          </a:prstGeom>
          <a:noFill/>
          <a:ln/>
        </p:spPr>
        <p:txBody>
          <a:bodyPr wrap="square" lIns="0" tIns="0" rIns="0" bIns="0" rtlCol="0" anchor="ctr"/>
          <a:lstStyle/>
          <a:p>
            <a:pPr algn="l" indent="0" marL="0">
              <a:buNone/>
            </a:pPr>
            <a:r>
              <a:rPr lang="en-US" sz="1400" b="1" dirty="0">
                <a:solidFill>
                  <a:srgbClr val="0B1526"/>
                </a:solidFill>
              </a:rPr>
              <a:t>Lane &amp; gate control</a:t>
            </a:r>
            <a:endParaRPr lang="en-US" sz="1400" dirty="0"/>
          </a:p>
        </p:txBody>
      </p:sp>
      <p:sp>
        <p:nvSpPr>
          <p:cNvPr id="22" name="Shape 15"/>
          <p:cNvSpPr/>
          <p:nvPr/>
        </p:nvSpPr>
        <p:spPr>
          <a:xfrm>
            <a:off x="4135579" y="4503420"/>
            <a:ext cx="237568" cy="137160"/>
          </a:xfrm>
          <a:prstGeom prst="line">
            <a:avLst/>
          </a:prstGeom>
          <a:noFill/>
          <a:ln w="12700">
            <a:solidFill>
              <a:srgbClr val="0B84AE"/>
            </a:solidFill>
            <a:prstDash val="dash"/>
          </a:ln>
        </p:spPr>
      </p:sp>
      <p:sp>
        <p:nvSpPr>
          <p:cNvPr id="23" name="Shape 16"/>
          <p:cNvSpPr/>
          <p:nvPr/>
        </p:nvSpPr>
        <p:spPr>
          <a:xfrm>
            <a:off x="4336395" y="4503420"/>
            <a:ext cx="548640" cy="548640"/>
          </a:xfrm>
          <a:prstGeom prst="ellipse">
            <a:avLst/>
          </a:prstGeom>
          <a:solidFill>
            <a:srgbClr val="FFFFFF"/>
          </a:solidFill>
          <a:ln/>
        </p:spPr>
      </p:sp>
      <p:pic>
        <p:nvPicPr>
          <p:cNvPr id="24" name="Image 2" descr="">    </p:cNvPr>
          <p:cNvPicPr>
            <a:picLocks noChangeAspect="1"/>
          </p:cNvPicPr>
          <p:nvPr/>
        </p:nvPicPr>
        <p:blipFill>
          <a:blip r:embed="rId5"/>
          <a:stretch>
            <a:fillRect/>
          </a:stretch>
        </p:blipFill>
        <p:spPr>
          <a:xfrm>
            <a:off x="4457096" y="4624121"/>
            <a:ext cx="307238" cy="307238"/>
          </a:xfrm>
          <a:prstGeom prst="rect">
            <a:avLst/>
          </a:prstGeom>
        </p:spPr>
      </p:pic>
      <p:sp>
        <p:nvSpPr>
          <p:cNvPr id="25" name="Shape 17"/>
          <p:cNvSpPr/>
          <p:nvPr/>
        </p:nvSpPr>
        <p:spPr>
          <a:xfrm>
            <a:off x="4336395" y="4503420"/>
            <a:ext cx="548640" cy="548640"/>
          </a:xfrm>
          <a:prstGeom prst="ellipse">
            <a:avLst/>
          </a:prstGeom>
          <a:ln w="15875">
            <a:solidFill>
              <a:srgbClr val="0B84AE"/>
            </a:solidFill>
            <a:prstDash val="solid"/>
          </a:ln>
        </p:spPr>
      </p:sp>
      <p:sp>
        <p:nvSpPr>
          <p:cNvPr id="26" name="Text 18"/>
          <p:cNvSpPr txBox="1"/>
          <p:nvPr/>
        </p:nvSpPr>
        <p:spPr>
          <a:xfrm>
            <a:off x="4958187" y="4503420"/>
            <a:ext cx="1325880" cy="548640"/>
          </a:xfrm>
          <a:prstGeom prst="rect">
            <a:avLst/>
          </a:prstGeom>
          <a:noFill/>
          <a:ln/>
        </p:spPr>
        <p:txBody>
          <a:bodyPr wrap="square" lIns="0" tIns="0" rIns="0" bIns="0" rtlCol="0" anchor="ctr"/>
          <a:lstStyle/>
          <a:p>
            <a:pPr algn="l" indent="0" marL="0">
              <a:buNone/>
            </a:pPr>
            <a:r>
              <a:rPr lang="en-US" sz="1400" b="1" dirty="0">
                <a:solidFill>
                  <a:srgbClr val="0B1526"/>
                </a:solidFill>
              </a:rPr>
              <a:t>Exception management</a:t>
            </a:r>
            <a:endParaRPr lang="en-US" sz="1400" dirty="0"/>
          </a:p>
        </p:txBody>
      </p:sp>
      <p:sp>
        <p:nvSpPr>
          <p:cNvPr id="27" name="Shape 19"/>
          <p:cNvSpPr/>
          <p:nvPr/>
        </p:nvSpPr>
        <p:spPr>
          <a:xfrm>
            <a:off x="3383280" y="4937760"/>
            <a:ext cx="914" cy="274320"/>
          </a:xfrm>
          <a:prstGeom prst="line">
            <a:avLst/>
          </a:prstGeom>
          <a:noFill/>
          <a:ln w="12700">
            <a:solidFill>
              <a:srgbClr val="0B84AE"/>
            </a:solidFill>
            <a:prstDash val="dash"/>
          </a:ln>
        </p:spPr>
      </p:sp>
      <p:sp>
        <p:nvSpPr>
          <p:cNvPr id="28" name="Shape 20"/>
          <p:cNvSpPr/>
          <p:nvPr/>
        </p:nvSpPr>
        <p:spPr>
          <a:xfrm>
            <a:off x="3108960" y="5212080"/>
            <a:ext cx="548640" cy="548640"/>
          </a:xfrm>
          <a:prstGeom prst="ellipse">
            <a:avLst/>
          </a:prstGeom>
          <a:solidFill>
            <a:srgbClr val="FFFFFF"/>
          </a:solidFill>
          <a:ln/>
        </p:spPr>
      </p:sp>
      <p:pic>
        <p:nvPicPr>
          <p:cNvPr id="29" name="Image 3" descr="">    </p:cNvPr>
          <p:cNvPicPr>
            <a:picLocks noChangeAspect="1"/>
          </p:cNvPicPr>
          <p:nvPr/>
        </p:nvPicPr>
        <p:blipFill>
          <a:blip r:embed="rId6"/>
          <a:stretch>
            <a:fillRect/>
          </a:stretch>
        </p:blipFill>
        <p:spPr>
          <a:xfrm>
            <a:off x="3229661" y="5332781"/>
            <a:ext cx="307238" cy="307238"/>
          </a:xfrm>
          <a:prstGeom prst="rect">
            <a:avLst/>
          </a:prstGeom>
        </p:spPr>
      </p:pic>
      <p:sp>
        <p:nvSpPr>
          <p:cNvPr id="30" name="Shape 21"/>
          <p:cNvSpPr/>
          <p:nvPr/>
        </p:nvSpPr>
        <p:spPr>
          <a:xfrm>
            <a:off x="3108960" y="5212080"/>
            <a:ext cx="548640" cy="548640"/>
          </a:xfrm>
          <a:prstGeom prst="ellipse">
            <a:avLst/>
          </a:prstGeom>
          <a:ln w="15875">
            <a:solidFill>
              <a:srgbClr val="0B84AE"/>
            </a:solidFill>
            <a:prstDash val="solid"/>
          </a:ln>
        </p:spPr>
      </p:sp>
      <p:sp>
        <p:nvSpPr>
          <p:cNvPr id="31" name="Text 22"/>
          <p:cNvSpPr txBox="1"/>
          <p:nvPr/>
        </p:nvSpPr>
        <p:spPr>
          <a:xfrm>
            <a:off x="2377440" y="5797296"/>
            <a:ext cx="2011680" cy="329184"/>
          </a:xfrm>
          <a:prstGeom prst="rect">
            <a:avLst/>
          </a:prstGeom>
          <a:noFill/>
          <a:ln/>
        </p:spPr>
        <p:txBody>
          <a:bodyPr wrap="square" lIns="0" tIns="0" rIns="0" bIns="0" rtlCol="0" anchor="ctr"/>
          <a:lstStyle/>
          <a:p>
            <a:pPr algn="ctr" indent="0" marL="0">
              <a:buNone/>
            </a:pPr>
            <a:r>
              <a:rPr lang="en-US" sz="1400" b="1" dirty="0">
                <a:solidFill>
                  <a:srgbClr val="0B1526"/>
                </a:solidFill>
              </a:rPr>
              <a:t>Assistive AI</a:t>
            </a:r>
            <a:endParaRPr lang="en-US" sz="1400" dirty="0"/>
          </a:p>
        </p:txBody>
      </p:sp>
      <p:sp>
        <p:nvSpPr>
          <p:cNvPr id="32" name="Shape 23"/>
          <p:cNvSpPr/>
          <p:nvPr/>
        </p:nvSpPr>
        <p:spPr>
          <a:xfrm flipV="1">
            <a:off x="2393413" y="4503420"/>
            <a:ext cx="237568" cy="137160"/>
          </a:xfrm>
          <a:prstGeom prst="line">
            <a:avLst/>
          </a:prstGeom>
          <a:noFill/>
          <a:ln w="12700">
            <a:solidFill>
              <a:srgbClr val="0B84AE"/>
            </a:solidFill>
            <a:prstDash val="dash"/>
          </a:ln>
        </p:spPr>
      </p:sp>
      <p:sp>
        <p:nvSpPr>
          <p:cNvPr id="33" name="Shape 24"/>
          <p:cNvSpPr/>
          <p:nvPr/>
        </p:nvSpPr>
        <p:spPr>
          <a:xfrm>
            <a:off x="1881525" y="4503420"/>
            <a:ext cx="548640" cy="548640"/>
          </a:xfrm>
          <a:prstGeom prst="ellipse">
            <a:avLst/>
          </a:prstGeom>
          <a:solidFill>
            <a:srgbClr val="FFFFFF"/>
          </a:solidFill>
          <a:ln/>
        </p:spPr>
      </p:sp>
      <p:pic>
        <p:nvPicPr>
          <p:cNvPr id="34" name="Image 4" descr="">    </p:cNvPr>
          <p:cNvPicPr>
            <a:picLocks noChangeAspect="1"/>
          </p:cNvPicPr>
          <p:nvPr/>
        </p:nvPicPr>
        <p:blipFill>
          <a:blip r:embed="rId7"/>
          <a:stretch>
            <a:fillRect/>
          </a:stretch>
        </p:blipFill>
        <p:spPr>
          <a:xfrm>
            <a:off x="2002226" y="4624121"/>
            <a:ext cx="307238" cy="307238"/>
          </a:xfrm>
          <a:prstGeom prst="rect">
            <a:avLst/>
          </a:prstGeom>
        </p:spPr>
      </p:pic>
      <p:sp>
        <p:nvSpPr>
          <p:cNvPr id="35" name="Shape 25"/>
          <p:cNvSpPr/>
          <p:nvPr/>
        </p:nvSpPr>
        <p:spPr>
          <a:xfrm>
            <a:off x="1881525" y="4503420"/>
            <a:ext cx="548640" cy="548640"/>
          </a:xfrm>
          <a:prstGeom prst="ellipse">
            <a:avLst/>
          </a:prstGeom>
          <a:ln w="15875">
            <a:solidFill>
              <a:srgbClr val="0B84AE"/>
            </a:solidFill>
            <a:prstDash val="solid"/>
          </a:ln>
        </p:spPr>
      </p:sp>
      <p:sp>
        <p:nvSpPr>
          <p:cNvPr id="36" name="Text 26"/>
          <p:cNvSpPr txBox="1"/>
          <p:nvPr/>
        </p:nvSpPr>
        <p:spPr>
          <a:xfrm>
            <a:off x="482493" y="4503420"/>
            <a:ext cx="1325880" cy="548640"/>
          </a:xfrm>
          <a:prstGeom prst="rect">
            <a:avLst/>
          </a:prstGeom>
          <a:noFill/>
          <a:ln/>
        </p:spPr>
        <p:txBody>
          <a:bodyPr wrap="square" lIns="0" tIns="0" rIns="0" bIns="0" rtlCol="0" anchor="ctr"/>
          <a:lstStyle/>
          <a:p>
            <a:pPr algn="r" indent="0" marL="0">
              <a:buNone/>
            </a:pPr>
            <a:r>
              <a:rPr lang="en-US" sz="1400" b="1" dirty="0">
                <a:solidFill>
                  <a:srgbClr val="0B1526"/>
                </a:solidFill>
              </a:rPr>
              <a:t>3D operational view</a:t>
            </a:r>
            <a:endParaRPr lang="en-US" sz="1400" dirty="0"/>
          </a:p>
        </p:txBody>
      </p:sp>
      <p:sp>
        <p:nvSpPr>
          <p:cNvPr id="37" name="Shape 27"/>
          <p:cNvSpPr/>
          <p:nvPr/>
        </p:nvSpPr>
        <p:spPr>
          <a:xfrm>
            <a:off x="2393413" y="3497580"/>
            <a:ext cx="237568" cy="137160"/>
          </a:xfrm>
          <a:prstGeom prst="line">
            <a:avLst/>
          </a:prstGeom>
          <a:noFill/>
          <a:ln w="12700">
            <a:solidFill>
              <a:srgbClr val="0B84AE"/>
            </a:solidFill>
            <a:prstDash val="dash"/>
          </a:ln>
        </p:spPr>
      </p:sp>
      <p:sp>
        <p:nvSpPr>
          <p:cNvPr id="38" name="Shape 28"/>
          <p:cNvSpPr/>
          <p:nvPr/>
        </p:nvSpPr>
        <p:spPr>
          <a:xfrm>
            <a:off x="1881525" y="3086100"/>
            <a:ext cx="548640" cy="548640"/>
          </a:xfrm>
          <a:prstGeom prst="ellipse">
            <a:avLst/>
          </a:prstGeom>
          <a:solidFill>
            <a:srgbClr val="FFFFFF"/>
          </a:solidFill>
          <a:ln/>
        </p:spPr>
      </p:sp>
      <p:pic>
        <p:nvPicPr>
          <p:cNvPr id="39" name="Image 5" descr="">    </p:cNvPr>
          <p:cNvPicPr>
            <a:picLocks noChangeAspect="1"/>
          </p:cNvPicPr>
          <p:nvPr/>
        </p:nvPicPr>
        <p:blipFill>
          <a:blip r:embed="rId8"/>
          <a:stretch>
            <a:fillRect/>
          </a:stretch>
        </p:blipFill>
        <p:spPr>
          <a:xfrm>
            <a:off x="2002226" y="3206801"/>
            <a:ext cx="307238" cy="307238"/>
          </a:xfrm>
          <a:prstGeom prst="rect">
            <a:avLst/>
          </a:prstGeom>
        </p:spPr>
      </p:pic>
      <p:sp>
        <p:nvSpPr>
          <p:cNvPr id="40" name="Shape 29"/>
          <p:cNvSpPr/>
          <p:nvPr/>
        </p:nvSpPr>
        <p:spPr>
          <a:xfrm>
            <a:off x="1881525" y="3086100"/>
            <a:ext cx="548640" cy="548640"/>
          </a:xfrm>
          <a:prstGeom prst="ellipse">
            <a:avLst/>
          </a:prstGeom>
          <a:ln w="15875">
            <a:solidFill>
              <a:srgbClr val="0B84AE"/>
            </a:solidFill>
            <a:prstDash val="solid"/>
          </a:ln>
        </p:spPr>
      </p:sp>
      <p:sp>
        <p:nvSpPr>
          <p:cNvPr id="41" name="Text 30"/>
          <p:cNvSpPr txBox="1"/>
          <p:nvPr/>
        </p:nvSpPr>
        <p:spPr>
          <a:xfrm>
            <a:off x="482493" y="3086100"/>
            <a:ext cx="1325880" cy="548640"/>
          </a:xfrm>
          <a:prstGeom prst="rect">
            <a:avLst/>
          </a:prstGeom>
          <a:noFill/>
          <a:ln/>
        </p:spPr>
        <p:txBody>
          <a:bodyPr wrap="square" lIns="0" tIns="0" rIns="0" bIns="0" rtlCol="0" anchor="ctr"/>
          <a:lstStyle/>
          <a:p>
            <a:pPr algn="r" indent="0" marL="0">
              <a:buNone/>
            </a:pPr>
            <a:r>
              <a:rPr lang="en-US" sz="1400" b="1" dirty="0">
                <a:solidFill>
                  <a:srgbClr val="0B1526"/>
                </a:solidFill>
              </a:rPr>
              <a:t>Video analytics</a:t>
            </a:r>
            <a:endParaRPr lang="en-US" sz="1400" dirty="0"/>
          </a:p>
        </p:txBody>
      </p:sp>
      <p:sp>
        <p:nvSpPr>
          <p:cNvPr id="42" name="Shape 31"/>
          <p:cNvSpPr/>
          <p:nvPr/>
        </p:nvSpPr>
        <p:spPr>
          <a:xfrm>
            <a:off x="7540943" y="1920240"/>
            <a:ext cx="3023235" cy="2103120"/>
          </a:xfrm>
          <a:prstGeom prst="roundRect">
            <a:avLst>
              <a:gd name="adj" fmla="val 5217"/>
            </a:avLst>
          </a:prstGeom>
          <a:solidFill>
            <a:srgbClr val="0E1B2D"/>
          </a:solidFill>
          <a:ln/>
          <a:effectLst>
            <a:outerShdw sx="100000" sy="100000" kx="0" ky="0" algn="bl" rotWithShape="0" blurRad="152400" dist="25400" dir="5400000">
              <a:srgbClr val="0A1628">
                <a:alpha val="12000"/>
              </a:srgbClr>
            </a:outerShdw>
          </a:effectLst>
        </p:spPr>
      </p:sp>
      <p:pic>
        <p:nvPicPr>
          <p:cNvPr id="43" name="Image 6" descr="Synthetic clearance log">    </p:cNvPr>
          <p:cNvPicPr>
            <a:picLocks noChangeAspect="1"/>
          </p:cNvPicPr>
          <p:nvPr/>
        </p:nvPicPr>
        <p:blipFill>
          <a:blip r:embed="rId9"/>
          <a:stretch>
            <a:fillRect/>
          </a:stretch>
        </p:blipFill>
        <p:spPr>
          <a:xfrm>
            <a:off x="7540943" y="1920240"/>
            <a:ext cx="3023235" cy="2103120"/>
          </a:xfrm>
          <a:prstGeom prst="rect">
            <a:avLst/>
          </a:prstGeom>
        </p:spPr>
      </p:pic>
      <p:sp>
        <p:nvSpPr>
          <p:cNvPr id="44" name="Text 32"/>
          <p:cNvSpPr txBox="1"/>
          <p:nvPr/>
        </p:nvSpPr>
        <p:spPr>
          <a:xfrm>
            <a:off x="6400800" y="4160520"/>
            <a:ext cx="5303520" cy="20116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Human in the loop: the AI recommends, the officer decides, every decision logged [confirm]</a:t>
            </a:r>
            <a:endParaRPr lang="en-US" sz="1400" dirty="0"/>
          </a:p>
          <a:p>
            <a:pPr marL="152400" indent="-152400">
              <a:spcAft>
                <a:spcPts val="400"/>
              </a:spcAft>
              <a:buSzPct val="100000"/>
              <a:buChar char="•"/>
            </a:pPr>
            <a:r>
              <a:rPr lang="en-US" sz="1400" dirty="0">
                <a:solidFill>
                  <a:srgbClr val="0B1526"/>
                </a:solidFill>
              </a:rPr>
              <a:t>Integrations: CCTV, access control, incident management [list systems, confirm]</a:t>
            </a:r>
            <a:endParaRPr lang="en-US" sz="1400" dirty="0"/>
          </a:p>
          <a:p>
            <a:pPr marL="152400" indent="-152400">
              <a:spcAft>
                <a:spcPts val="400"/>
              </a:spcAft>
              <a:buSzPct val="100000"/>
              <a:buChar char="•"/>
            </a:pPr>
            <a:r>
              <a:rPr lang="en-US" sz="1400" dirty="0">
                <a:solidFill>
                  <a:srgbClr val="0B1526"/>
                </a:solidFill>
              </a:rPr>
              <a:t>Third-party gates via open interfaces [confirm]: decides whether biometric-border airports are an installed base to upgrade</a:t>
            </a:r>
            <a:endParaRPr lang="en-US" sz="1400" dirty="0"/>
          </a:p>
          <a:p>
            <a:pPr marL="152400" indent="-152400">
              <a:buSzPct val="100000"/>
              <a:buChar char="•"/>
            </a:pPr>
            <a:r>
              <a:rPr lang="en-US" sz="1400" dirty="0">
                <a:solidFill>
                  <a:srgbClr val="0B1526"/>
                </a:solidFill>
              </a:rPr>
              <a:t>Status words CLEARED / EXCEPTION; demo screens synthetic only</a:t>
            </a:r>
            <a:endParaRPr lang="en-US" sz="1400" dirty="0"/>
          </a:p>
        </p:txBody>
      </p:sp>
      <p:grpSp>
        <p:nvGrpSpPr>
          <p:cNvPr id="45"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6"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7"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A7  Pilot design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Pilot design: one airport, one group, one lane.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The COO's confidence slide. The full scorecard is on A7b.</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A7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3754628"/>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Scope</a:t>
            </a:r>
            <a:endParaRPr lang="en-US" sz="1600" dirty="0"/>
          </a:p>
        </p:txBody>
      </p:sp>
      <p:sp>
        <p:nvSpPr>
          <p:cNvPr id="12" name="Text 7"/>
          <p:cNvSpPr txBox="1"/>
          <p:nvPr/>
        </p:nvSpPr>
        <p:spPr>
          <a:xfrm>
            <a:off x="640080" y="2393696"/>
            <a:ext cx="3261360" cy="285750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One airport [name], one traveller group [set by the border agency], one lane, [N] months</a:t>
            </a:r>
            <a:endParaRPr lang="en-US" sz="1400" dirty="0"/>
          </a:p>
          <a:p>
            <a:pPr marL="152400" indent="-152400">
              <a:spcAft>
                <a:spcPts val="400"/>
              </a:spcAft>
              <a:buSzPct val="100000"/>
              <a:buChar char="•"/>
            </a:pPr>
            <a:r>
              <a:rPr lang="en-US" sz="1400" dirty="0">
                <a:solidFill>
                  <a:srgbClr val="0B1526"/>
                </a:solidFill>
              </a:rPr>
              <a:t>[Paid / co-funded]: decide before external use</a:t>
            </a:r>
            <a:endParaRPr lang="en-US" sz="1400" dirty="0"/>
          </a:p>
          <a:p>
            <a:pPr marL="152400" indent="-152400">
              <a:spcAft>
                <a:spcPts val="400"/>
              </a:spcAft>
              <a:buSzPct val="100000"/>
              <a:buChar char="•"/>
            </a:pPr>
            <a:r>
              <a:rPr lang="en-US" sz="1400" dirty="0">
                <a:solidFill>
                  <a:srgbClr val="0B1526"/>
                </a:solidFill>
              </a:rPr>
              <a:t>Payer and procurement route [to validate]</a:t>
            </a:r>
            <a:endParaRPr lang="en-US" sz="1400" dirty="0"/>
          </a:p>
          <a:p>
            <a:pPr marL="152400" indent="-152400">
              <a:spcAft>
                <a:spcPts val="400"/>
              </a:spcAft>
              <a:buSzPct val="100000"/>
              <a:buChar char="•"/>
            </a:pPr>
            <a:r>
              <a:rPr lang="en-US" sz="1400" dirty="0">
                <a:solidFill>
                  <a:srgbClr val="0B1526"/>
                </a:solidFill>
              </a:rPr>
              <a:t>Converts a lane or adds one; floor space [agree]</a:t>
            </a:r>
            <a:endParaRPr lang="en-US" sz="1400" dirty="0"/>
          </a:p>
          <a:p>
            <a:pPr marL="152400" indent="-152400">
              <a:spcAft>
                <a:spcPts val="400"/>
              </a:spcAft>
              <a:buSzPct val="100000"/>
              <a:buChar char="•"/>
            </a:pPr>
            <a:r>
              <a:rPr lang="en-US" sz="1400" dirty="0">
                <a:solidFill>
                  <a:srgbClr val="0B1526"/>
                </a:solidFill>
              </a:rPr>
              <a:t>Baseline on the existing lane for [N] weeks; scorecard signed by airport and agency</a:t>
            </a:r>
            <a:endParaRPr lang="en-US" sz="1400" dirty="0"/>
          </a:p>
        </p:txBody>
      </p:sp>
      <p:sp>
        <p:nvSpPr>
          <p:cNvPr id="13" name="Shape 8"/>
          <p:cNvSpPr/>
          <p:nvPr/>
        </p:nvSpPr>
        <p:spPr>
          <a:xfrm>
            <a:off x="4267200" y="1920240"/>
            <a:ext cx="3627120" cy="3754628"/>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Fallback and officer control</a:t>
            </a:r>
            <a:endParaRPr lang="en-US" sz="1600" dirty="0"/>
          </a:p>
        </p:txBody>
      </p:sp>
      <p:sp>
        <p:nvSpPr>
          <p:cNvPr id="15" name="Text 10"/>
          <p:cNvSpPr txBox="1"/>
          <p:nvPr/>
        </p:nvSpPr>
        <p:spPr>
          <a:xfrm>
            <a:off x="4450080" y="2393696"/>
            <a:ext cx="3261360" cy="238048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Staffed lane beside every FastPass lane; documents accepted anywhere; nobody forced into biometrics</a:t>
            </a:r>
            <a:endParaRPr lang="en-US" sz="1400" dirty="0"/>
          </a:p>
          <a:p>
            <a:pPr marL="152400" indent="-152400">
              <a:spcAft>
                <a:spcPts val="400"/>
              </a:spcAft>
              <a:buSzPct val="100000"/>
              <a:buChar char="•"/>
            </a:pPr>
            <a:r>
              <a:rPr lang="en-US" sz="1400" dirty="0">
                <a:solidFill>
                  <a:srgbClr val="0B1526"/>
                </a:solidFill>
              </a:rPr>
              <a:t>Covers dead phone, BLE congestion, wrong phone paired, face no-match, tailgating, outage</a:t>
            </a:r>
            <a:endParaRPr lang="en-US" sz="1400" dirty="0"/>
          </a:p>
          <a:p>
            <a:pPr marL="152400" indent="-152400">
              <a:spcAft>
                <a:spcPts val="400"/>
              </a:spcAft>
              <a:buSzPct val="100000"/>
              <a:buChar char="•"/>
            </a:pPr>
            <a:r>
              <a:rPr lang="en-US" sz="1400" dirty="0">
                <a:solidFill>
                  <a:srgbClr val="0B1526"/>
                </a:solidFill>
              </a:rPr>
              <a:t>Children without phones, wheelchair users, assisted travellers: [design]</a:t>
            </a:r>
            <a:endParaRPr lang="en-US" sz="1400" dirty="0"/>
          </a:p>
          <a:p>
            <a:pPr marL="152400" indent="-152400">
              <a:spcAft>
                <a:spcPts val="400"/>
              </a:spcAft>
              <a:buSzPct val="100000"/>
              <a:buChar char="•"/>
            </a:pPr>
            <a:r>
              <a:rPr lang="en-US" sz="1400" dirty="0">
                <a:solidFill>
                  <a:srgbClr val="0B1526"/>
                </a:solidFill>
              </a:rPr>
              <a:t>Exception → officer review → manual clearance or referral; logged</a:t>
            </a:r>
            <a:endParaRPr lang="en-US" sz="1400" dirty="0"/>
          </a:p>
        </p:txBody>
      </p:sp>
      <p:sp>
        <p:nvSpPr>
          <p:cNvPr id="16" name="Shape 11"/>
          <p:cNvSpPr/>
          <p:nvPr/>
        </p:nvSpPr>
        <p:spPr>
          <a:xfrm>
            <a:off x="8077200" y="1920240"/>
            <a:ext cx="3627120" cy="3754628"/>
          </a:xfrm>
          <a:prstGeom prst="roundRect">
            <a:avLst>
              <a:gd name="adj" fmla="val 3025"/>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7" name="Text 12"/>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Milestone exits and trigger</a:t>
            </a:r>
            <a:endParaRPr lang="en-US" sz="1600" dirty="0"/>
          </a:p>
        </p:txBody>
      </p:sp>
      <p:sp>
        <p:nvSpPr>
          <p:cNvPr id="18" name="Text 13"/>
          <p:cNvSpPr txBox="1"/>
          <p:nvPr/>
        </p:nvSpPr>
        <p:spPr>
          <a:xfrm>
            <a:off x="8260080" y="2393696"/>
            <a:ext cx="3261360" cy="30708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M2 exit: lane live + independent ISO/IEC 19795 and 30107-3 tests + BLE relay and mis-pairing tests → releases T3</a:t>
            </a:r>
            <a:endParaRPr lang="en-US" sz="1400" dirty="0"/>
          </a:p>
          <a:p>
            <a:pPr marL="152400" indent="-152400">
              <a:spcAft>
                <a:spcPts val="400"/>
              </a:spcAft>
              <a:buSzPct val="100000"/>
              <a:buChar char="•"/>
            </a:pPr>
            <a:r>
              <a:rPr lang="en-US" sz="1400" dirty="0">
                <a:solidFill>
                  <a:srgbClr val="0B1526"/>
                </a:solidFill>
              </a:rPr>
              <a:t>M3 exit: KPIs met → releases T4</a:t>
            </a:r>
            <a:endParaRPr lang="en-US" sz="1400" dirty="0"/>
          </a:p>
          <a:p>
            <a:pPr marL="152400" indent="-152400">
              <a:spcAft>
                <a:spcPts val="400"/>
              </a:spcAft>
              <a:buSzPct val="100000"/>
              <a:buChar char="•"/>
            </a:pPr>
            <a:r>
              <a:rPr lang="en-US" sz="1400" dirty="0">
                <a:solidFill>
                  <a:srgbClr val="0B1526"/>
                </a:solidFill>
              </a:rPr>
              <a:t>KPIs met → airport decides on [N] lanes for US$[X] within [N] months [if in the agreement]</a:t>
            </a:r>
            <a:endParaRPr lang="en-US" sz="1400" dirty="0"/>
          </a:p>
          <a:p>
            <a:pPr marL="152400" indent="-152400">
              <a:spcAft>
                <a:spcPts val="400"/>
              </a:spcAft>
              <a:buSzPct val="100000"/>
              <a:buChar char="•"/>
            </a:pPr>
            <a:r>
              <a:rPr lang="en-US" sz="1400" dirty="0">
                <a:solidFill>
                  <a:srgbClr val="0B1526"/>
                </a:solidFill>
              </a:rPr>
              <a:t>KPIs missed → stop or redesign; no further tranche</a:t>
            </a:r>
            <a:endParaRPr lang="en-US" sz="1400" dirty="0"/>
          </a:p>
          <a:p>
            <a:pPr marL="152400" indent="-152400">
              <a:spcAft>
                <a:spcPts val="400"/>
              </a:spcAft>
              <a:buSzPct val="100000"/>
              <a:buChar char="•"/>
            </a:pPr>
            <a:r>
              <a:rPr lang="en-US" sz="1400" dirty="0">
                <a:solidFill>
                  <a:srgbClr val="0B1526"/>
                </a:solidFill>
              </a:rPr>
              <a:t>Prototype to date: match [X s] · false-reject [X%] · [X/lane/hr] · BLE pairing [X%], or scripted demo</a:t>
            </a:r>
            <a:endParaRPr lang="en-US" sz="1400" dirty="0"/>
          </a:p>
        </p:txBody>
      </p:sp>
      <p:grpSp>
        <p:nvGrpSpPr>
          <p:cNvPr id="19"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0"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1"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A7  Pilot scorecard</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Pilot scorecard: targets set now, measured live.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Baseline, target and go / no-go agreed with the airport and agency before go-live.</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A7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5760720"/>
                <a:gridCol w="1828800"/>
                <a:gridCol w="1828800"/>
                <a:gridCol w="1828800"/>
              </a:tblGrid>
              <a:tr h="310896">
                <a:tc>
                  <a:txBody>
                    <a:bodyPr/>
                    <a:lstStyle/>
                    <a:p>
                      <a:pPr indent="0" marL="0">
                        <a:buNone/>
                      </a:pPr>
                      <a:r>
                        <a:rPr lang="en-US" sz="1400" b="1" dirty="0">
                          <a:solidFill>
                            <a:srgbClr val="FFFFFF"/>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Baseline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Target</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Go / no-go</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256032">
                <a:tc>
                  <a:txBody>
                    <a:bodyPr/>
                    <a:lstStyle/>
                    <a:p>
                      <a:pPr indent="0" marL="0">
                        <a:buNone/>
                      </a:pPr>
                      <a:r>
                        <a:rPr lang="en-US" sz="1400" b="1" dirty="0">
                          <a:solidFill>
                            <a:srgbClr val="0B1526"/>
                          </a:solidFill>
                        </a:rPr>
                        <a:t>Throughput (travellers / lane / hr) vs measured e-gate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Immigration seconds per traveller</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Kerb-to-gate minutes (full-rollout team target −20–30%)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False-accept (impostor) rate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False-reject rate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BLE pairing, phone locked or backgrounded (iOS, Android)</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Mis-pairing rate in a crowded lane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Exceptions per 100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Officer minutes per 100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Enrolment vs break-even uptake per lane [X%]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Lane availability</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Traveller satisfaction</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Custom-engineering days (margin proxy)</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Text 5"/>
          <p:cNvSpPr txBox="1"/>
          <p:nvPr/>
        </p:nvSpPr>
        <p:spPr>
          <a:xfrm>
            <a:off x="457200" y="5943600"/>
            <a:ext cx="11247120" cy="274320"/>
          </a:xfrm>
          <a:prstGeom prst="rect">
            <a:avLst/>
          </a:prstGeom>
          <a:noFill/>
          <a:ln/>
        </p:spPr>
        <p:txBody>
          <a:bodyPr wrap="square" lIns="0" tIns="0" rIns="0" bIns="0" rtlCol="0" anchor="ctr"/>
          <a:lstStyle/>
          <a:p>
            <a:pPr indent="0" marL="0">
              <a:buNone/>
            </a:pPr>
            <a:r>
              <a:rPr lang="en-US" sz="1400" dirty="0">
                <a:solidFill>
                  <a:srgbClr val="4A5870"/>
                </a:solidFill>
              </a:rPr>
              <a:t>Benchmarks, not FastPass claims: e-gate 180/hr vs booth 60–70 (Riga) · Changi 25 s → 10 s · boarding −30% (SITA / Turkish trial)</a:t>
            </a:r>
            <a:endParaRPr lang="en-US" sz="1400" dirty="0"/>
          </a:p>
        </p:txBody>
      </p:sp>
      <p:sp>
        <p:nvSpPr>
          <p:cNvPr id="12"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AviationPros (Riga Airport / State Border Guard of Latvia) · Malay Mail (Oct 2024) · Future Travel Experience (Apr 2021)</a:t>
            </a:r>
            <a:endParaRPr lang="en-US" sz="900" dirty="0"/>
          </a:p>
        </p:txBody>
      </p:sp>
      <p:grpSp>
        <p:nvGrpSpPr>
          <p:cNvPr id="1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A8  Trust, privacy and security</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Trust, privacy and security: what the CTO confirms.</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Design intent, test plan and data protection. Bracketed items need CTO sign-off.</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A8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3584448"/>
          </a:xfrm>
          <a:prstGeom prst="roundRect">
            <a:avLst>
              <a:gd name="adj" fmla="val 3061"/>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Second-factor binding [CTO]</a:t>
            </a:r>
            <a:endParaRPr lang="en-US" sz="1600" dirty="0"/>
          </a:p>
        </p:txBody>
      </p:sp>
      <p:sp>
        <p:nvSpPr>
          <p:cNvPr id="12" name="Text 7"/>
          <p:cNvSpPr txBox="1"/>
          <p:nvPr/>
        </p:nvSpPr>
        <p:spPr>
          <a:xfrm>
            <a:off x="640080" y="2393696"/>
            <a:ext cx="3261360" cy="195376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The lane challenges the credential on the paired phone, not just a beacon</a:t>
            </a:r>
            <a:endParaRPr lang="en-US" sz="1400" dirty="0"/>
          </a:p>
          <a:p>
            <a:pPr marL="152400" indent="-152400">
              <a:spcAft>
                <a:spcPts val="400"/>
              </a:spcAft>
              <a:buSzPct val="100000"/>
              <a:buChar char="•"/>
            </a:pPr>
            <a:r>
              <a:rPr lang="en-US" sz="1400" dirty="0">
                <a:solidFill>
                  <a:srgbClr val="0B1526"/>
                </a:solidFill>
              </a:rPr>
              <a:t>The live face must match that credential</a:t>
            </a:r>
            <a:endParaRPr lang="en-US" sz="1400" dirty="0"/>
          </a:p>
          <a:p>
            <a:pPr marL="152400" indent="-152400">
              <a:spcAft>
                <a:spcPts val="400"/>
              </a:spcAft>
              <a:buSzPct val="100000"/>
              <a:buChar char="•"/>
            </a:pPr>
            <a:r>
              <a:rPr lang="en-US" sz="1400" dirty="0">
                <a:solidFill>
                  <a:srgbClr val="0B1526"/>
                </a:solidFill>
              </a:rPr>
              <a:t>Wrong pairing → exception to an officer, never a false accept</a:t>
            </a:r>
            <a:endParaRPr lang="en-US" sz="1400" dirty="0"/>
          </a:p>
          <a:p>
            <a:pPr marL="152400" indent="-152400">
              <a:spcAft>
                <a:spcPts val="400"/>
              </a:spcAft>
              <a:buSzPct val="100000"/>
              <a:buChar char="•"/>
            </a:pPr>
            <a:r>
              <a:rPr lang="en-US" sz="1400" dirty="0">
                <a:solidFill>
                  <a:srgbClr val="0B1526"/>
                </a:solidFill>
              </a:rPr>
              <a:t>Where the face match runs and what crosses the BLE link [confirm]</a:t>
            </a:r>
            <a:endParaRPr lang="en-US" sz="1400" dirty="0"/>
          </a:p>
        </p:txBody>
      </p:sp>
      <p:sp>
        <p:nvSpPr>
          <p:cNvPr id="13" name="Shape 8"/>
          <p:cNvSpPr/>
          <p:nvPr/>
        </p:nvSpPr>
        <p:spPr>
          <a:xfrm>
            <a:off x="4267200" y="1920240"/>
            <a:ext cx="3627120" cy="3584448"/>
          </a:xfrm>
          <a:prstGeom prst="roundRect">
            <a:avLst>
              <a:gd name="adj" fmla="val 3061"/>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Enrolment and testing</a:t>
            </a:r>
            <a:endParaRPr lang="en-US" sz="1600" dirty="0"/>
          </a:p>
        </p:txBody>
      </p:sp>
      <p:sp>
        <p:nvSpPr>
          <p:cNvPr id="15" name="Text 10"/>
          <p:cNvSpPr txBox="1"/>
          <p:nvPr/>
        </p:nvSpPr>
        <p:spPr>
          <a:xfrm>
            <a:off x="4450080" y="2393696"/>
            <a:ext cx="3261360" cy="285750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Passport chip read with ICAO 9303 passive authentication, or OCR [confirm]; OCR-only is fixed before any agency pitch</a:t>
            </a:r>
            <a:endParaRPr lang="en-US" sz="1400" dirty="0"/>
          </a:p>
          <a:p>
            <a:pPr marL="152400" indent="-152400">
              <a:spcAft>
                <a:spcPts val="400"/>
              </a:spcAft>
              <a:buSzPct val="100000"/>
              <a:buChar char="•"/>
            </a:pPr>
            <a:r>
              <a:rPr lang="en-US" sz="1400" dirty="0">
                <a:solidFill>
                  <a:srgbClr val="0B1526"/>
                </a:solidFill>
              </a:rPr>
              <a:t>Liveness selfie; credential encrypted on the device [enclave / keystore]</a:t>
            </a:r>
            <a:endParaRPr lang="en-US" sz="1400" dirty="0"/>
          </a:p>
          <a:p>
            <a:pPr marL="152400" indent="-152400">
              <a:spcAft>
                <a:spcPts val="400"/>
              </a:spcAft>
              <a:buSzPct val="100000"/>
              <a:buChar char="•"/>
            </a:pPr>
            <a:r>
              <a:rPr lang="en-US" sz="1400" dirty="0">
                <a:solidFill>
                  <a:srgbClr val="0B1526"/>
                </a:solidFill>
              </a:rPr>
              <a:t>Tests [plan]: ISO/IEC 30107-3, ISO/IEC 19795, demographic accuracy</a:t>
            </a:r>
            <a:endParaRPr lang="en-US" sz="1400" dirty="0"/>
          </a:p>
          <a:p>
            <a:pPr marL="152400" indent="-152400">
              <a:spcAft>
                <a:spcPts val="400"/>
              </a:spcAft>
              <a:buSzPct val="100000"/>
              <a:buChar char="•"/>
            </a:pPr>
            <a:r>
              <a:rPr lang="en-US" sz="1400" dirty="0">
                <a:solidFill>
                  <a:srgbClr val="0B1526"/>
                </a:solidFill>
              </a:rPr>
              <a:t>Face algorithm [own / licensed] and NIST FRTE standing [confirm]</a:t>
            </a:r>
            <a:endParaRPr lang="en-US" sz="1400" dirty="0"/>
          </a:p>
          <a:p>
            <a:pPr marL="152400" indent="-152400">
              <a:spcAft>
                <a:spcPts val="400"/>
              </a:spcAft>
              <a:buSzPct val="100000"/>
              <a:buChar char="•"/>
            </a:pPr>
            <a:r>
              <a:rPr lang="en-US" sz="1400" dirty="0">
                <a:solidFill>
                  <a:srgbClr val="0B1526"/>
                </a:solidFill>
              </a:rPr>
              <a:t>BLE threats: wrong phone, relay, spoofed beacons, tailgating</a:t>
            </a:r>
            <a:endParaRPr lang="en-US" sz="1400" dirty="0"/>
          </a:p>
        </p:txBody>
      </p:sp>
      <p:sp>
        <p:nvSpPr>
          <p:cNvPr id="16" name="Shape 11"/>
          <p:cNvSpPr/>
          <p:nvPr/>
        </p:nvSpPr>
        <p:spPr>
          <a:xfrm>
            <a:off x="8077200" y="1920240"/>
            <a:ext cx="3627120" cy="3584448"/>
          </a:xfrm>
          <a:prstGeom prst="roundRect">
            <a:avLst>
              <a:gd name="adj" fmla="val 3061"/>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Privacy and trust</a:t>
            </a:r>
            <a:endParaRPr lang="en-US" sz="1600" dirty="0"/>
          </a:p>
        </p:txBody>
      </p:sp>
      <p:sp>
        <p:nvSpPr>
          <p:cNvPr id="18" name="Text 13"/>
          <p:cNvSpPr txBox="1"/>
          <p:nvPr/>
        </p:nvSpPr>
        <p:spPr>
          <a:xfrm>
            <a:off x="8260080" y="2393696"/>
            <a:ext cx="3261360" cy="216712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Opt-in at enrolment; retention; data controller per deployment</a:t>
            </a:r>
            <a:endParaRPr lang="en-US" sz="1400" dirty="0"/>
          </a:p>
          <a:p>
            <a:pPr marL="152400" indent="-152400">
              <a:spcAft>
                <a:spcPts val="400"/>
              </a:spcAft>
              <a:buSzPct val="100000"/>
              <a:buChar char="•"/>
            </a:pPr>
            <a:r>
              <a:rPr lang="en-US" sz="1400" dirty="0">
                <a:solidFill>
                  <a:srgbClr val="0B1526"/>
                </a:solidFill>
              </a:rPr>
              <a:t>PDPA (SG), PDPL (UAE, Saudi), PDPA (MY, TH), PDP Law (ID), GDPR [verify]</a:t>
            </a:r>
            <a:endParaRPr lang="en-US" sz="1400" dirty="0"/>
          </a:p>
          <a:p>
            <a:pPr marL="152400" indent="-152400">
              <a:spcAft>
                <a:spcPts val="400"/>
              </a:spcAft>
              <a:buSzPct val="100000"/>
              <a:buChar char="•"/>
            </a:pPr>
            <a:r>
              <a:rPr lang="en-US" sz="1400" dirty="0">
                <a:solidFill>
                  <a:srgbClr val="0B1526"/>
                </a:solidFill>
              </a:rPr>
              <a:t>Public displays: sequence number + CLEARED only</a:t>
            </a:r>
            <a:endParaRPr lang="en-US" sz="1400" dirty="0"/>
          </a:p>
          <a:p>
            <a:pPr marL="152400" indent="-152400">
              <a:spcAft>
                <a:spcPts val="400"/>
              </a:spcAft>
              <a:buSzPct val="100000"/>
              <a:buChar char="•"/>
            </a:pPr>
            <a:r>
              <a:rPr lang="en-US" sz="1400" dirty="0">
                <a:solidFill>
                  <a:srgbClr val="0B1526"/>
                </a:solidFill>
              </a:rPr>
              <a:t>42% of hesitant travellers would reconsider if data protection were guaranteed (IATA GPS 2025)</a:t>
            </a:r>
            <a:endParaRPr lang="en-US" sz="1400" dirty="0"/>
          </a:p>
        </p:txBody>
      </p:sp>
      <p:sp>
        <p:nvSpPr>
          <p:cNvPr id="19" name="Shape 14"/>
          <p:cNvSpPr/>
          <p:nvPr/>
        </p:nvSpPr>
        <p:spPr>
          <a:xfrm>
            <a:off x="457200" y="5632704"/>
            <a:ext cx="9542631" cy="420624"/>
          </a:xfrm>
          <a:prstGeom prst="roundRect">
            <a:avLst>
              <a:gd name="adj" fmla="val 50000"/>
            </a:avLst>
          </a:prstGeom>
          <a:solidFill>
            <a:srgbClr val="0B2545"/>
          </a:solidFill>
          <a:ln/>
        </p:spPr>
      </p:sp>
      <p:sp>
        <p:nvSpPr>
          <p:cNvPr id="20" name="Text 15"/>
          <p:cNvSpPr txBox="1"/>
          <p:nvPr/>
        </p:nvSpPr>
        <p:spPr>
          <a:xfrm>
            <a:off x="457200" y="5632704"/>
            <a:ext cx="9542631" cy="420624"/>
          </a:xfrm>
          <a:prstGeom prst="rect">
            <a:avLst/>
          </a:prstGeom>
          <a:noFill/>
          <a:ln/>
        </p:spPr>
        <p:txBody>
          <a:bodyPr wrap="square" lIns="0" tIns="0" rIns="0" bIns="0" rtlCol="0" anchor="ctr"/>
          <a:lstStyle/>
          <a:p>
            <a:pPr algn="ctr" indent="0" marL="0">
              <a:buNone/>
            </a:pPr>
            <a:r>
              <a:rPr lang="en-US" sz="1400" b="1" dirty="0">
                <a:solidFill>
                  <a:srgbClr val="FFFFFF"/>
                </a:solidFill>
              </a:rPr>
              <a:t>Design principles: Trusted by design · Easy to adopt (SDK) · Connected ecosystem · AI-assisted decisions</a:t>
            </a:r>
            <a:endParaRPr lang="en-US" sz="1400" dirty="0"/>
          </a:p>
        </p:txBody>
      </p:sp>
      <p:sp>
        <p:nvSpPr>
          <p:cNvPr id="2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IATA Global Passenger Survey 2025 · ICAO Doc 9303 · ISO/IEC 30107-3 · ISO/IEC 19795 · NIST FRTE</a:t>
            </a:r>
            <a:endParaRPr lang="en-US" sz="900" dirty="0"/>
          </a:p>
        </p:txBody>
      </p:sp>
      <p:grpSp>
        <p:nvGrpSpPr>
          <p:cNvPr id="2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A9  Regulatory path</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How an agency could accept a phone-held credential.</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Standards status, precedents and the certification plan per country.</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A9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510116"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144356" cy="254000"/>
          </a:xfrm>
          <a:prstGeom prst="rect">
            <a:avLst/>
          </a:prstGeom>
          <a:noFill/>
          <a:ln/>
        </p:spPr>
        <p:txBody>
          <a:bodyPr wrap="square" lIns="0" tIns="0" rIns="0" bIns="0" rtlCol="0" anchor="t"/>
          <a:lstStyle/>
          <a:p>
            <a:pPr indent="0" marL="0">
              <a:buNone/>
            </a:pPr>
            <a:r>
              <a:rPr lang="en-US" sz="1600" b="1" dirty="0">
                <a:solidFill>
                  <a:srgbClr val="0B2545"/>
                </a:solidFill>
              </a:rPr>
              <a:t>ICAO Digital Travel Credential</a:t>
            </a:r>
            <a:endParaRPr lang="en-US" sz="1600" dirty="0"/>
          </a:p>
        </p:txBody>
      </p:sp>
      <p:sp>
        <p:nvSpPr>
          <p:cNvPr id="12" name="Text 7"/>
          <p:cNvSpPr txBox="1"/>
          <p:nvPr/>
        </p:nvSpPr>
        <p:spPr>
          <a:xfrm>
            <a:off x="640080" y="2393696"/>
            <a:ext cx="3144356"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Type 1 (passport still carried): specs endorsed 2020; State implementation guide v1.0, Sep 2025</a:t>
            </a:r>
            <a:endParaRPr lang="en-US" sz="1400" dirty="0"/>
          </a:p>
          <a:p>
            <a:pPr marL="152400" indent="-152400">
              <a:spcAft>
                <a:spcPts val="400"/>
              </a:spcAft>
              <a:buSzPct val="100000"/>
              <a:buChar char="•"/>
            </a:pPr>
            <a:r>
              <a:rPr lang="en-US" sz="1400" dirty="0">
                <a:solidFill>
                  <a:srgbClr val="0B1526"/>
                </a:solidFill>
              </a:rPr>
              <a:t>Annex 9 SARPs proposed at FALP/14, Apr 2026: not adopted; to the Air Transport Committee, fall 2026</a:t>
            </a:r>
            <a:endParaRPr lang="en-US" sz="1400" dirty="0"/>
          </a:p>
          <a:p>
            <a:pPr marL="152400" indent="-152400">
              <a:spcAft>
                <a:spcPts val="400"/>
              </a:spcAft>
              <a:buSzPct val="100000"/>
              <a:buChar char="•"/>
            </a:pPr>
            <a:r>
              <a:rPr lang="en-US" sz="1400" dirty="0">
                <a:solidFill>
                  <a:srgbClr val="0B1526"/>
                </a:solidFill>
              </a:rPr>
              <a:t>Types 2 and 3: not ready</a:t>
            </a:r>
            <a:endParaRPr lang="en-US" sz="1400" dirty="0"/>
          </a:p>
        </p:txBody>
      </p:sp>
      <p:sp>
        <p:nvSpPr>
          <p:cNvPr id="13" name="Shape 8"/>
          <p:cNvSpPr/>
          <p:nvPr/>
        </p:nvSpPr>
        <p:spPr>
          <a:xfrm>
            <a:off x="4150196" y="1920240"/>
            <a:ext cx="3861128"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333076" y="2066544"/>
            <a:ext cx="3495368" cy="254000"/>
          </a:xfrm>
          <a:prstGeom prst="rect">
            <a:avLst/>
          </a:prstGeom>
          <a:noFill/>
          <a:ln/>
        </p:spPr>
        <p:txBody>
          <a:bodyPr wrap="square" lIns="0" tIns="0" rIns="0" bIns="0" rtlCol="0" anchor="t"/>
          <a:lstStyle/>
          <a:p>
            <a:pPr indent="0" marL="0">
              <a:buNone/>
            </a:pPr>
            <a:r>
              <a:rPr lang="en-US" sz="1600" b="1" dirty="0">
                <a:solidFill>
                  <a:srgbClr val="0B2545"/>
                </a:solidFill>
              </a:rPr>
              <a:t>EU and US</a:t>
            </a:r>
            <a:endParaRPr lang="en-US" sz="1600" dirty="0"/>
          </a:p>
        </p:txBody>
      </p:sp>
      <p:sp>
        <p:nvSpPr>
          <p:cNvPr id="15" name="Text 10"/>
          <p:cNvSpPr txBox="1"/>
          <p:nvPr/>
        </p:nvSpPr>
        <p:spPr>
          <a:xfrm>
            <a:off x="4333076" y="2393696"/>
            <a:ext cx="3495368"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EES: progressive from 12 Oct 2025; fully operational 10 Apr 2026</a:t>
            </a:r>
            <a:endParaRPr lang="en-US" sz="1400" dirty="0"/>
          </a:p>
          <a:p>
            <a:pPr marL="152400" indent="-152400">
              <a:spcAft>
                <a:spcPts val="400"/>
              </a:spcAft>
              <a:buSzPct val="100000"/>
              <a:buChar char="•"/>
            </a:pPr>
            <a:r>
              <a:rPr lang="en-US" sz="1400" dirty="0">
                <a:solidFill>
                  <a:srgbClr val="0B1526"/>
                </a:solidFill>
              </a:rPr>
              <a:t>ACI Europe: ~70% longer processing (Commission disputes)</a:t>
            </a:r>
            <a:endParaRPr lang="en-US" sz="1400" dirty="0"/>
          </a:p>
          <a:p>
            <a:pPr marL="152400" indent="-152400">
              <a:spcAft>
                <a:spcPts val="400"/>
              </a:spcAft>
              <a:buSzPct val="100000"/>
              <a:buChar char="•"/>
            </a:pPr>
            <a:r>
              <a:rPr lang="en-US" sz="1400" dirty="0">
                <a:solidFill>
                  <a:srgbClr val="0B1526"/>
                </a:solidFill>
              </a:rPr>
              <a:t>EU Digital Travel app ~2030; EUDI wallets end-2026 (identity, not passports)</a:t>
            </a:r>
            <a:endParaRPr lang="en-US" sz="1400" dirty="0"/>
          </a:p>
          <a:p>
            <a:pPr marL="152400" indent="-152400">
              <a:spcAft>
                <a:spcPts val="400"/>
              </a:spcAft>
              <a:buSzPct val="100000"/>
              <a:buChar char="•"/>
            </a:pPr>
            <a:r>
              <a:rPr lang="en-US" sz="1400" dirty="0">
                <a:solidFill>
                  <a:srgbClr val="0B1526"/>
                </a:solidFill>
              </a:rPr>
              <a:t>US: CBP may require face biometrics from non-citizens on entry and exit (from 26 Dec 2025)</a:t>
            </a:r>
            <a:endParaRPr lang="en-US" sz="1400" dirty="0"/>
          </a:p>
          <a:p>
            <a:pPr marL="152400" indent="-152400">
              <a:spcAft>
                <a:spcPts val="400"/>
              </a:spcAft>
              <a:buSzPct val="100000"/>
              <a:buChar char="•"/>
            </a:pPr>
            <a:r>
              <a:rPr lang="en-US" sz="1400" dirty="0">
                <a:solidFill>
                  <a:srgbClr val="0B1526"/>
                </a:solidFill>
              </a:rPr>
              <a:t>Apple Digital ID: TSA beta, 250+ airports, domestic only</a:t>
            </a:r>
            <a:endParaRPr lang="en-US" sz="1400" dirty="0"/>
          </a:p>
        </p:txBody>
      </p:sp>
      <p:sp>
        <p:nvSpPr>
          <p:cNvPr id="16" name="Shape 11"/>
          <p:cNvSpPr/>
          <p:nvPr/>
        </p:nvSpPr>
        <p:spPr>
          <a:xfrm>
            <a:off x="8194204" y="1920240"/>
            <a:ext cx="3510116"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377084" y="2066544"/>
            <a:ext cx="3144356" cy="254000"/>
          </a:xfrm>
          <a:prstGeom prst="rect">
            <a:avLst/>
          </a:prstGeom>
          <a:noFill/>
          <a:ln/>
        </p:spPr>
        <p:txBody>
          <a:bodyPr wrap="square" lIns="0" tIns="0" rIns="0" bIns="0" rtlCol="0" anchor="t"/>
          <a:lstStyle/>
          <a:p>
            <a:pPr indent="0" marL="0">
              <a:buNone/>
            </a:pPr>
            <a:r>
              <a:rPr lang="en-US" sz="1600" b="1" dirty="0">
                <a:solidFill>
                  <a:srgbClr val="0B2545"/>
                </a:solidFill>
              </a:rPr>
              <a:t>Precedents and our plan</a:t>
            </a:r>
            <a:endParaRPr lang="en-US" sz="1600" dirty="0"/>
          </a:p>
        </p:txBody>
      </p:sp>
      <p:sp>
        <p:nvSpPr>
          <p:cNvPr id="18" name="Text 13"/>
          <p:cNvSpPr txBox="1"/>
          <p:nvPr/>
        </p:nvSpPr>
        <p:spPr>
          <a:xfrm>
            <a:off x="8377084" y="2393696"/>
            <a:ext cx="3144356" cy="238048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Finland border-guard DTC pilot: 355 checks, ~8 s; 90% would reuse</a:t>
            </a:r>
            <a:endParaRPr lang="en-US" sz="1400" dirty="0"/>
          </a:p>
          <a:p>
            <a:pPr marL="152400" indent="-152400">
              <a:spcAft>
                <a:spcPts val="400"/>
              </a:spcAft>
              <a:buSzPct val="100000"/>
              <a:buChar char="•"/>
            </a:pPr>
            <a:r>
              <a:rPr lang="en-US" sz="1400" dirty="0">
                <a:solidFill>
                  <a:srgbClr val="0B1526"/>
                </a:solidFill>
              </a:rPr>
              <a:t>IATA One ID wallet + biometrics proof of concept, Hong Kong–Narita (Oct 2024)</a:t>
            </a:r>
            <a:endParaRPr lang="en-US" sz="1400" dirty="0"/>
          </a:p>
          <a:p>
            <a:pPr marL="152400" indent="-152400">
              <a:spcAft>
                <a:spcPts val="400"/>
              </a:spcAft>
              <a:buSzPct val="100000"/>
              <a:buChar char="•"/>
            </a:pPr>
            <a:r>
              <a:rPr lang="en-US" sz="1400" dirty="0">
                <a:solidFill>
                  <a:srgbClr val="0B1526"/>
                </a:solidFill>
              </a:rPr>
              <a:t>Who approves on-the-move clearance per country: [agency, process, owner]</a:t>
            </a:r>
            <a:endParaRPr lang="en-US" sz="1400" dirty="0"/>
          </a:p>
          <a:p>
            <a:pPr marL="152400" indent="-152400">
              <a:spcAft>
                <a:spcPts val="400"/>
              </a:spcAft>
              <a:buSzPct val="100000"/>
              <a:buChar char="•"/>
            </a:pPr>
            <a:r>
              <a:rPr lang="en-US" sz="1400" dirty="0">
                <a:solidFill>
                  <a:srgbClr val="0B1526"/>
                </a:solidFill>
              </a:rPr>
              <a:t>Certification roadmap and launch eligibility: [per country]</a:t>
            </a:r>
            <a:endParaRPr lang="en-US" sz="1400" dirty="0"/>
          </a:p>
        </p:txBody>
      </p:sp>
      <p:sp>
        <p:nvSpPr>
          <p:cNvPr id="1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ICAO (FALP/14; DTC guide) · European Commission · The Local / ACI Europe · Federal Register · Skift · Keesing · IATA (Oct 2024)</a:t>
            </a:r>
            <a:endParaRPr lang="en-US" sz="900" dirty="0"/>
          </a:p>
        </p:txBody>
      </p:sp>
      <p:grpSp>
        <p:nvGrpSpPr>
          <p:cNvPr id="2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A10  Risks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Risks you will raise, and the milestone that retires each.</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Agency, technical, privacy, adoption, payer, market and flow risks.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A10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6172200"/>
                <a:gridCol w="1508760"/>
              </a:tblGrid>
              <a:tr h="347472">
                <a:tc>
                  <a:txBody>
                    <a:bodyPr/>
                    <a:lstStyle/>
                    <a:p>
                      <a:pPr indent="0" marL="0">
                        <a:buNone/>
                      </a:pPr>
                      <a:r>
                        <a:rPr lang="en-US" sz="1400" b="1" dirty="0">
                          <a:solidFill>
                            <a:srgbClr val="FFFFFF"/>
                          </a:solidFill>
                        </a:rPr>
                        <a:t>Risk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Mitigation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Retired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Agency declines the phone credential, or sees no value in a second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Co-design the pilot with the agency; align to ICAO DTC Type 1; Finland DTC precedent. No value → stop or redesign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Accuracy, spoofing, wrong-phone pairing, relay attack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Independent ISO/IEC 19795 and 30107-3 tests; BLE mis-pairing and relay tests; face must match the paired credential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M2 exit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Privacy and data protection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Credential encrypted on the phone; opt-in; controller and retention per country [legal review]; no personal data on displays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Enrolment cold start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Airline-app SDK; eligible segments; enrolment is an M3 KPI vs break-even uptake [X%]; ~3 in 4 travellers willing (IATA)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M3</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Payer mismatch: airport buys, agency saves officer time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Payback split per payer and budget holder; procurement route per country; co-funding at 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Middle East 2026 traffic shock (airports −21% H1; carriers −14.2% Aug; IATA −11.4% for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SEA or dual-region pilot; sell efficiency, not growth; long-cycle builds continue (DWC 2032)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M1 market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Flow failure like EES (~70% longer, per ACI Europe; disputed)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Redesign the flow, not just the gate; staffed fallback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World (Sep 2026) · IATA (Jun, Sep 2026) · The Local / ACI Europe (Dec 2025) · Keesing (Finland DTC) · IATA GPS 2025 · Dubai Media Office · WAM (Jun 2026)</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A10  Risks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Risks you will raise, and the milestone that retires each.</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Competitive, procurement, brand, IP and delivery risks.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A10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6172200"/>
                <a:gridCol w="1508760"/>
              </a:tblGrid>
              <a:tr h="347472">
                <a:tc>
                  <a:txBody>
                    <a:bodyPr/>
                    <a:lstStyle/>
                    <a:p>
                      <a:pPr indent="0" marL="0">
                        <a:buNone/>
                      </a:pPr>
                      <a:r>
                        <a:rPr lang="en-US" sz="1400" b="1" dirty="0">
                          <a:solidFill>
                            <a:srgbClr val="FFFFFF"/>
                          </a:solidFill>
                        </a:rPr>
                        <a:t>Risk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Mitigation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Retired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Incumbents win the replacement cycle first (SITA: 83% of surveyed airports biometric by 2028)</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Retrofit onto installed third-party gates [CTO to confirm]; else target the replacement cycle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M1–M2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Incumbents copy the device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Accreditation earned in the pilot; control-room integration; [IP]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M3–M4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Procurement cycle longer than runway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Innovation-pilot route; Group channel; runway [X–Y] months; M1 date checked ([Q1 2027] is ~5 months away)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Brand: Hamad / Qatar Airways / SITA 'Fast Pass' (Jul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Trademark and naming check in ME/SEA classes; fallback names ready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Before launch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Freedom to operate on the BLE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Patent / FTO review before any 'proprietary' claim. INTERNAL &amp; PRIVILEGED: Axess AG US12367722B2 referred to counsel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Before launch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Matching bias · cyber attack · airline DCS integration delay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[mitigation for each]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[TBC]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SITA (Apr 2026) · Hamad International (Jul 2026)</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A11  Unit economics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Unit economics and payback per payer (placeholders).</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FastPass values stay bracketed until a pilot prices them and Finance validates them.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00425" cy="3400806"/>
          </a:xfrm>
          <a:prstGeom prst="roundRect">
            <a:avLst>
              <a:gd name="adj" fmla="val 322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34665" cy="285750"/>
          </a:xfrm>
          <a:prstGeom prst="rect">
            <a:avLst/>
          </a:prstGeom>
          <a:noFill/>
          <a:ln/>
        </p:spPr>
        <p:txBody>
          <a:bodyPr wrap="square" lIns="0" tIns="0" rIns="0" bIns="0" rtlCol="0" anchor="t"/>
          <a:lstStyle/>
          <a:p>
            <a:pPr indent="0" marL="0">
              <a:buNone/>
            </a:pPr>
            <a:r>
              <a:rPr lang="en-US" sz="1800" b="1" dirty="0">
                <a:solidFill>
                  <a:srgbClr val="0B2545"/>
                </a:solidFill>
              </a:rPr>
              <a:t>Per lane</a:t>
            </a:r>
            <a:endParaRPr lang="en-US" sz="1800" dirty="0"/>
          </a:p>
        </p:txBody>
      </p:sp>
      <p:sp>
        <p:nvSpPr>
          <p:cNvPr id="12" name="Text 7"/>
          <p:cNvSpPr txBox="1"/>
          <p:nvPr/>
        </p:nvSpPr>
        <p:spPr>
          <a:xfrm>
            <a:off x="640080" y="2425446"/>
            <a:ext cx="3034665" cy="2104644"/>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Hardware US$[X] one-off</a:t>
            </a:r>
            <a:endParaRPr lang="en-US" sz="1600" dirty="0"/>
          </a:p>
          <a:p>
            <a:pPr marL="152400" indent="-152400">
              <a:spcAft>
                <a:spcPts val="400"/>
              </a:spcAft>
              <a:buSzPct val="100000"/>
              <a:buChar char="•"/>
            </a:pPr>
            <a:r>
              <a:rPr lang="en-US" sz="1600" dirty="0">
                <a:solidFill>
                  <a:srgbClr val="0B1526"/>
                </a:solidFill>
              </a:rPr>
              <a:t>Implementation [X%]</a:t>
            </a:r>
            <a:endParaRPr lang="en-US" sz="1600" dirty="0"/>
          </a:p>
          <a:p>
            <a:pPr marL="152400" indent="-152400">
              <a:spcAft>
                <a:spcPts val="400"/>
              </a:spcAft>
              <a:buSzPct val="100000"/>
              <a:buChar char="•"/>
            </a:pPr>
            <a:r>
              <a:rPr lang="en-US" sz="1600" dirty="0">
                <a:solidFill>
                  <a:srgbClr val="0B1526"/>
                </a:solidFill>
              </a:rPr>
              <a:t>Software US$[Y] / lane / yr</a:t>
            </a:r>
            <a:endParaRPr lang="en-US" sz="1600" dirty="0"/>
          </a:p>
          <a:p>
            <a:pPr marL="152400" indent="-152400">
              <a:spcAft>
                <a:spcPts val="400"/>
              </a:spcAft>
              <a:buSzPct val="100000"/>
              <a:buChar char="•"/>
            </a:pPr>
            <a:r>
              <a:rPr lang="en-US" sz="1600" dirty="0">
                <a:solidFill>
                  <a:srgbClr val="0B1526"/>
                </a:solidFill>
              </a:rPr>
              <a:t>SLA support US$[Z] / yr</a:t>
            </a:r>
            <a:endParaRPr lang="en-US" sz="1600" dirty="0"/>
          </a:p>
          <a:p>
            <a:pPr marL="152400" indent="-152400">
              <a:spcAft>
                <a:spcPts val="400"/>
              </a:spcAft>
              <a:buSzPct val="100000"/>
              <a:buChar char="•"/>
            </a:pPr>
            <a:r>
              <a:rPr lang="en-US" sz="1600" dirty="0">
                <a:solidFill>
                  <a:srgbClr val="0B1526"/>
                </a:solidFill>
              </a:rPr>
              <a:t>Gross margin per line [X%]</a:t>
            </a:r>
            <a:endParaRPr lang="en-US" sz="1600" dirty="0"/>
          </a:p>
          <a:p>
            <a:pPr marL="152400" indent="-152400">
              <a:spcAft>
                <a:spcPts val="400"/>
              </a:spcAft>
              <a:buSzPct val="100000"/>
              <a:buChar char="•"/>
            </a:pPr>
            <a:r>
              <a:rPr lang="en-US" sz="1600" dirty="0">
                <a:solidFill>
                  <a:srgbClr val="0B1526"/>
                </a:solidFill>
              </a:rPr>
              <a:t>Recurring share by year 3 [X%]</a:t>
            </a:r>
            <a:endParaRPr lang="en-US" sz="1600" dirty="0"/>
          </a:p>
          <a:p>
            <a:pPr marL="152400" indent="-152400">
              <a:spcAft>
                <a:spcPts val="400"/>
              </a:spcAft>
              <a:buSzPct val="100000"/>
              <a:buChar char="•"/>
            </a:pPr>
            <a:r>
              <a:rPr lang="en-US" sz="1600" dirty="0">
                <a:solidFill>
                  <a:srgbClr val="0B1526"/>
                </a:solidFill>
              </a:rPr>
              <a:t>Blended gross margin [X%]</a:t>
            </a:r>
            <a:endParaRPr lang="en-US" sz="1600" dirty="0"/>
          </a:p>
        </p:txBody>
      </p:sp>
      <p:sp>
        <p:nvSpPr>
          <p:cNvPr id="13" name="Shape 8"/>
          <p:cNvSpPr/>
          <p:nvPr/>
        </p:nvSpPr>
        <p:spPr>
          <a:xfrm>
            <a:off x="4040505" y="1920240"/>
            <a:ext cx="4080510" cy="3400806"/>
          </a:xfrm>
          <a:prstGeom prst="roundRect">
            <a:avLst>
              <a:gd name="adj" fmla="val 3227"/>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4" name="Text 9"/>
          <p:cNvSpPr txBox="1"/>
          <p:nvPr/>
        </p:nvSpPr>
        <p:spPr>
          <a:xfrm>
            <a:off x="4223385" y="2066544"/>
            <a:ext cx="3714750" cy="285750"/>
          </a:xfrm>
          <a:prstGeom prst="rect">
            <a:avLst/>
          </a:prstGeom>
          <a:noFill/>
          <a:ln/>
        </p:spPr>
        <p:txBody>
          <a:bodyPr wrap="square" lIns="0" tIns="0" rIns="0" bIns="0" rtlCol="0" anchor="t"/>
          <a:lstStyle/>
          <a:p>
            <a:pPr indent="0" marL="0">
              <a:buNone/>
            </a:pPr>
            <a:r>
              <a:rPr lang="en-US" sz="1800" b="1" dirty="0">
                <a:solidFill>
                  <a:srgbClr val="0B2545"/>
                </a:solidFill>
              </a:rPr>
              <a:t>Payback per payer</a:t>
            </a:r>
            <a:endParaRPr lang="en-US" sz="1800" dirty="0"/>
          </a:p>
        </p:txBody>
      </p:sp>
      <p:sp>
        <p:nvSpPr>
          <p:cNvPr id="15" name="Text 10"/>
          <p:cNvSpPr txBox="1"/>
          <p:nvPr/>
        </p:nvSpPr>
        <p:spPr>
          <a:xfrm>
            <a:off x="4223385" y="2425446"/>
            <a:ext cx="3714750" cy="26852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Airport: added departures / lane / hr × [value per departure] + airport-staff hours redeployed, vs lane cost US$[X] = [N] months</a:t>
            </a:r>
            <a:endParaRPr lang="en-US" sz="1600" dirty="0"/>
          </a:p>
          <a:p>
            <a:pPr marL="152400" indent="-152400">
              <a:spcAft>
                <a:spcPts val="400"/>
              </a:spcAft>
              <a:buSzPct val="100000"/>
              <a:buChar char="•"/>
            </a:pPr>
            <a:r>
              <a:rPr lang="en-US" sz="1600" dirty="0">
                <a:solidFill>
                  <a:srgbClr val="0B1526"/>
                </a:solidFill>
              </a:rPr>
              <a:t>Agency: officer-hours redeployed [N] × loaded cost [US$/hr] = [N] months</a:t>
            </a:r>
            <a:endParaRPr lang="en-US" sz="1600" dirty="0"/>
          </a:p>
          <a:p>
            <a:pPr marL="152400" indent="-152400">
              <a:spcAft>
                <a:spcPts val="400"/>
              </a:spcAft>
              <a:buSzPct val="100000"/>
              <a:buChar char="•"/>
            </a:pPr>
            <a:r>
              <a:rPr lang="en-US" sz="1600" dirty="0">
                <a:solidFill>
                  <a:srgbClr val="0B1526"/>
                </a:solidFill>
              </a:rPr>
              <a:t>Stated as incremental over the existing e-gate baseline</a:t>
            </a:r>
            <a:endParaRPr lang="en-US" sz="1600" dirty="0"/>
          </a:p>
          <a:p>
            <a:pPr marL="152400" indent="-152400">
              <a:spcAft>
                <a:spcPts val="400"/>
              </a:spcAft>
              <a:buSzPct val="100000"/>
              <a:buChar char="•"/>
            </a:pPr>
            <a:r>
              <a:rPr lang="en-US" sz="1600" dirty="0">
                <a:solidFill>
                  <a:srgbClr val="0B1526"/>
                </a:solidFill>
              </a:rPr>
              <a:t>Where the agency gains, co-funding is part of M1</a:t>
            </a:r>
            <a:endParaRPr lang="en-US" sz="1600" dirty="0"/>
          </a:p>
        </p:txBody>
      </p:sp>
      <p:sp>
        <p:nvSpPr>
          <p:cNvPr id="16" name="Shape 11"/>
          <p:cNvSpPr/>
          <p:nvPr/>
        </p:nvSpPr>
        <p:spPr>
          <a:xfrm>
            <a:off x="8303895" y="1920240"/>
            <a:ext cx="3400425" cy="3400806"/>
          </a:xfrm>
          <a:prstGeom prst="roundRect">
            <a:avLst>
              <a:gd name="adj" fmla="val 3227"/>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486775" y="2066544"/>
            <a:ext cx="3034665" cy="285750"/>
          </a:xfrm>
          <a:prstGeom prst="rect">
            <a:avLst/>
          </a:prstGeom>
          <a:noFill/>
          <a:ln/>
        </p:spPr>
        <p:txBody>
          <a:bodyPr wrap="square" lIns="0" tIns="0" rIns="0" bIns="0" rtlCol="0" anchor="t"/>
          <a:lstStyle/>
          <a:p>
            <a:pPr indent="0" marL="0">
              <a:buNone/>
            </a:pPr>
            <a:r>
              <a:rPr lang="en-US" sz="1800" b="1" dirty="0">
                <a:solidFill>
                  <a:srgbClr val="0B2545"/>
                </a:solidFill>
              </a:rPr>
              <a:t>Who pays: precedents</a:t>
            </a:r>
            <a:endParaRPr lang="en-US" sz="1800" dirty="0"/>
          </a:p>
        </p:txBody>
      </p:sp>
      <p:sp>
        <p:nvSpPr>
          <p:cNvPr id="18" name="Text 13"/>
          <p:cNvSpPr txBox="1"/>
          <p:nvPr/>
        </p:nvSpPr>
        <p:spPr>
          <a:xfrm>
            <a:off x="8486775" y="2425446"/>
            <a:ext cx="3034665" cy="26852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Aena (airport operator) ran an ABC framework</a:t>
            </a:r>
            <a:endParaRPr lang="en-US" sz="1600" dirty="0"/>
          </a:p>
          <a:p>
            <a:pPr marL="152400" indent="-152400">
              <a:spcAft>
                <a:spcPts val="400"/>
              </a:spcAft>
              <a:buSzPct val="100000"/>
              <a:buChar char="•"/>
            </a:pPr>
            <a:r>
              <a:rPr lang="en-US" sz="1600" dirty="0">
                <a:solidFill>
                  <a:srgbClr val="0B1526"/>
                </a:solidFill>
              </a:rPr>
              <a:t>Riga: Interior Ministry and an EU fund</a:t>
            </a:r>
            <a:endParaRPr lang="en-US" sz="1600" dirty="0"/>
          </a:p>
          <a:p>
            <a:pPr marL="152400" indent="-152400">
              <a:spcAft>
                <a:spcPts val="400"/>
              </a:spcAft>
              <a:buSzPct val="100000"/>
              <a:buChar char="•"/>
            </a:pPr>
            <a:r>
              <a:rPr lang="en-US" sz="1600" dirty="0">
                <a:solidFill>
                  <a:srgbClr val="0B1526"/>
                </a:solidFill>
              </a:rPr>
              <a:t>Cardiff: up to £1M from the Welsh Government (Border Force funds e-gates only above 2M inbound)</a:t>
            </a:r>
            <a:endParaRPr lang="en-US" sz="1600" dirty="0"/>
          </a:p>
          <a:p>
            <a:pPr marL="152400" indent="-152400">
              <a:spcAft>
                <a:spcPts val="400"/>
              </a:spcAft>
              <a:buSzPct val="100000"/>
              <a:buChar char="•"/>
            </a:pPr>
            <a:r>
              <a:rPr lang="en-US" sz="1600" dirty="0">
                <a:solidFill>
                  <a:srgbClr val="0B1526"/>
                </a:solidFill>
              </a:rPr>
              <a:t>Route per target country: [to validate]</a:t>
            </a:r>
            <a:endParaRPr lang="en-US" sz="1600" dirty="0"/>
          </a:p>
        </p:txBody>
      </p:sp>
      <p:sp>
        <p:nvSpPr>
          <p:cNvPr id="1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Aena (Dec 2017) · Latvian Ministry of the Interior (Riga) · Welsh Government (Mar 2019) · Payback inputs: [Finance]</a:t>
            </a:r>
            <a:endParaRPr lang="en-US" sz="900" dirty="0"/>
          </a:p>
        </p:txBody>
      </p:sp>
      <p:grpSp>
        <p:nvGrpSpPr>
          <p:cNvPr id="2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A11  Benchmarks and plan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Cost anchors, margin comparables and the 5-year plan.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Public anchors and large-company comparables: context only, not FastPass prices.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Public cost anchors</a:t>
            </a:r>
            <a:endParaRPr lang="en-US" sz="1600" dirty="0"/>
          </a:p>
        </p:txBody>
      </p:sp>
      <p:sp>
        <p:nvSpPr>
          <p:cNvPr id="12" name="Text 7"/>
          <p:cNvSpPr txBox="1"/>
          <p:nvPr/>
        </p:nvSpPr>
        <p:spPr>
          <a:xfrm>
            <a:off x="640080" y="2393696"/>
            <a:ext cx="3261360" cy="126339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~€140–235k per unit (2017–18 tenders)</a:t>
            </a:r>
            <a:endParaRPr lang="en-US" sz="1400" dirty="0"/>
          </a:p>
          <a:p>
            <a:pPr marL="152400" indent="-152400">
              <a:spcAft>
                <a:spcPts val="400"/>
              </a:spcAft>
              <a:buSzPct val="100000"/>
              <a:buChar char="•"/>
            </a:pPr>
            <a:r>
              <a:rPr lang="en-US" sz="1400" dirty="0">
                <a:solidFill>
                  <a:srgbClr val="0B1526"/>
                </a:solidFill>
              </a:rPr>
              <a:t>Aena: EUR 90M ÷ 652 max units ≈ €138k (incl. kiosks)</a:t>
            </a:r>
            <a:endParaRPr lang="en-US" sz="1400" dirty="0"/>
          </a:p>
          <a:p>
            <a:pPr marL="152400" indent="-152400">
              <a:spcAft>
                <a:spcPts val="400"/>
              </a:spcAft>
              <a:buSzPct val="100000"/>
              <a:buChar char="•"/>
            </a:pPr>
            <a:r>
              <a:rPr lang="en-US" sz="1400" dirty="0">
                <a:solidFill>
                  <a:srgbClr val="0B1526"/>
                </a:solidFill>
              </a:rPr>
              <a:t>Riga: EUR 1.87M ÷ 8 gates ≈ €234k</a:t>
            </a:r>
            <a:endParaRPr lang="en-US" sz="1400" dirty="0"/>
          </a:p>
        </p:txBody>
      </p:sp>
      <p:sp>
        <p:nvSpPr>
          <p:cNvPr id="13" name="Text 8"/>
          <p:cNvSpPr txBox="1"/>
          <p:nvPr/>
        </p:nvSpPr>
        <p:spPr>
          <a:xfrm>
            <a:off x="640080" y="3757676"/>
            <a:ext cx="3261360" cy="254000"/>
          </a:xfrm>
          <a:prstGeom prst="rect">
            <a:avLst/>
          </a:prstGeom>
          <a:noFill/>
          <a:ln/>
        </p:spPr>
        <p:txBody>
          <a:bodyPr wrap="square" lIns="0" tIns="0" rIns="0" bIns="0" rtlCol="0" anchor="t"/>
          <a:lstStyle/>
          <a:p>
            <a:pPr indent="0" marL="0">
              <a:buNone/>
            </a:pPr>
            <a:r>
              <a:rPr lang="en-US" sz="1600" b="1" dirty="0">
                <a:solidFill>
                  <a:srgbClr val="0B2545"/>
                </a:solidFill>
              </a:rPr>
              <a:t>Margin and mix (context)</a:t>
            </a:r>
            <a:endParaRPr lang="en-US" sz="1600" dirty="0"/>
          </a:p>
        </p:txBody>
      </p:sp>
      <p:sp>
        <p:nvSpPr>
          <p:cNvPr id="14" name="Text 9"/>
          <p:cNvSpPr txBox="1"/>
          <p:nvPr/>
        </p:nvSpPr>
        <p:spPr>
          <a:xfrm>
            <a:off x="640080" y="4084828"/>
            <a:ext cx="3261360" cy="14767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Axon: software &amp; services ~74% GM (Q3 2025) vs 59.7% blended (FY2025)</a:t>
            </a:r>
            <a:endParaRPr lang="en-US" sz="1400" dirty="0"/>
          </a:p>
          <a:p>
            <a:pPr marL="152400" indent="-152400">
              <a:spcAft>
                <a:spcPts val="400"/>
              </a:spcAft>
              <a:buSzPct val="100000"/>
              <a:buChar char="•"/>
            </a:pPr>
            <a:r>
              <a:rPr lang="en-US" sz="1400" dirty="0">
                <a:solidFill>
                  <a:srgbClr val="0B1526"/>
                </a:solidFill>
              </a:rPr>
              <a:t>Evolv: subscription 56% GM, hardware bundled: a caution</a:t>
            </a:r>
            <a:endParaRPr lang="en-US" sz="1400" dirty="0"/>
          </a:p>
          <a:p>
            <a:pPr marL="152400" indent="-152400">
              <a:spcAft>
                <a:spcPts val="400"/>
              </a:spcAft>
              <a:buSzPct val="100000"/>
              <a:buChar char="•"/>
            </a:pPr>
            <a:r>
              <a:rPr lang="en-US" sz="1400" dirty="0">
                <a:solidFill>
                  <a:srgbClr val="0B1526"/>
                </a:solidFill>
              </a:rPr>
              <a:t>Motorola Solutions: software &amp; services 38% of revenue</a:t>
            </a:r>
            <a:endParaRPr lang="en-US" sz="1400" dirty="0"/>
          </a:p>
        </p:txBody>
      </p:sp>
      <p:sp>
        <p:nvSpPr>
          <p:cNvPr id="15" name="Shape 10"/>
          <p:cNvSpPr/>
          <p:nvPr/>
        </p:nvSpPr>
        <p:spPr>
          <a:xfrm>
            <a:off x="426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6" name="Text 11"/>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Buyer ROI context</a:t>
            </a:r>
            <a:endParaRPr lang="en-US" sz="1600" dirty="0"/>
          </a:p>
        </p:txBody>
      </p:sp>
      <p:sp>
        <p:nvSpPr>
          <p:cNvPr id="17" name="Text 12"/>
          <p:cNvSpPr txBox="1"/>
          <p:nvPr/>
        </p:nvSpPr>
        <p:spPr>
          <a:xfrm>
            <a:off x="4450080" y="2393696"/>
            <a:ext cx="3261360" cy="259384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~60% of airport opex is staff and contracted services (ACI FY2019; not all labour)</a:t>
            </a:r>
            <a:endParaRPr lang="en-US" sz="1400" dirty="0"/>
          </a:p>
          <a:p>
            <a:pPr marL="152400" indent="-152400">
              <a:spcAft>
                <a:spcPts val="400"/>
              </a:spcAft>
              <a:buSzPct val="100000"/>
              <a:buChar char="•"/>
            </a:pPr>
            <a:r>
              <a:rPr lang="en-US" sz="1400" dirty="0">
                <a:solidFill>
                  <a:srgbClr val="0B1526"/>
                </a:solidFill>
              </a:rPr>
              <a:t>~20% of opex is security-related (ACI Europe)</a:t>
            </a:r>
            <a:endParaRPr lang="en-US" sz="1400" dirty="0"/>
          </a:p>
          <a:p>
            <a:pPr marL="152400" indent="-152400">
              <a:spcAft>
                <a:spcPts val="400"/>
              </a:spcAft>
              <a:buSzPct val="100000"/>
              <a:buChar char="•"/>
            </a:pPr>
            <a:r>
              <a:rPr lang="en-US" sz="1400" dirty="0">
                <a:solidFill>
                  <a:srgbClr val="0B1526"/>
                </a:solidFill>
              </a:rPr>
              <a:t>Changi 25 s → 10 s; −30% boarding (SITA / IST); ~9 min per wide-body boarding (Delta)</a:t>
            </a:r>
            <a:endParaRPr lang="en-US" sz="1400" dirty="0"/>
          </a:p>
          <a:p>
            <a:pPr marL="152400" indent="-152400">
              <a:spcAft>
                <a:spcPts val="400"/>
              </a:spcAft>
              <a:buSzPct val="100000"/>
              <a:buChar char="•"/>
            </a:pPr>
            <a:r>
              <a:rPr lang="en-US" sz="1400" dirty="0">
                <a:solidFill>
                  <a:srgbClr val="0B1526"/>
                </a:solidFill>
              </a:rPr>
              <a:t>Illustrative: 1 officer × 4 gates × 180/hr ≈ 720 pax/hr, vs 60–70 at a booth (not a FastPass claim)</a:t>
            </a:r>
            <a:endParaRPr lang="en-US" sz="1400" dirty="0"/>
          </a:p>
        </p:txBody>
      </p:sp>
      <p:sp>
        <p:nvSpPr>
          <p:cNvPr id="18" name="Shape 13"/>
          <p:cNvSpPr/>
          <p:nvPr/>
        </p:nvSpPr>
        <p:spPr>
          <a:xfrm>
            <a:off x="8077200" y="1920240"/>
            <a:ext cx="3627120" cy="4251960"/>
          </a:xfrm>
          <a:prstGeom prst="roundRect">
            <a:avLst>
              <a:gd name="adj" fmla="val 3025"/>
            </a:avLst>
          </a:prstGeom>
          <a:solidFill>
            <a:srgbClr val="FFFFFF"/>
          </a:solidFill>
          <a:ln w="15875">
            <a:solidFill>
              <a:srgbClr val="D97706"/>
            </a:solidFill>
            <a:prstDash val="solid"/>
          </a:ln>
          <a:effectLst>
            <a:outerShdw sx="100000" sy="100000" kx="0" ky="0" algn="bl" rotWithShape="0" blurRad="152400" dist="25400" dir="5400000">
              <a:srgbClr val="0A1628">
                <a:alpha val="12000"/>
              </a:srgbClr>
            </a:outerShdw>
          </a:effectLst>
        </p:spPr>
      </p:sp>
      <p:sp>
        <p:nvSpPr>
          <p:cNvPr id="19" name="Text 14"/>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5-year plan and demand</a:t>
            </a:r>
            <a:endParaRPr lang="en-US" sz="1600" dirty="0"/>
          </a:p>
        </p:txBody>
      </p:sp>
      <p:sp>
        <p:nvSpPr>
          <p:cNvPr id="20" name="Text 15"/>
          <p:cNvSpPr txBox="1"/>
          <p:nvPr/>
        </p:nvSpPr>
        <p:spPr>
          <a:xfrm>
            <a:off x="8260080" y="2393696"/>
            <a:ext cx="3261360" cy="211683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Native chart once validated, labelled 'plan, internal estimate': lanes, revenue, recurring %, gross margin, burn, break-even year</a:t>
            </a:r>
            <a:endParaRPr lang="en-US" sz="1400" dirty="0"/>
          </a:p>
          <a:p>
            <a:pPr marL="152400" indent="-152400">
              <a:spcAft>
                <a:spcPts val="400"/>
              </a:spcAft>
              <a:buSzPct val="100000"/>
              <a:buChar char="•"/>
            </a:pPr>
            <a:r>
              <a:rPr lang="en-US" sz="1400" dirty="0">
                <a:solidFill>
                  <a:srgbClr val="0B1526"/>
                </a:solidFill>
              </a:rPr>
              <a:t>The ask derives from a bottom-up cost of M1–M4</a:t>
            </a:r>
            <a:endParaRPr lang="en-US" sz="1400" dirty="0"/>
          </a:p>
          <a:p>
            <a:pPr marL="152400" indent="-152400">
              <a:spcAft>
                <a:spcPts val="400"/>
              </a:spcAft>
              <a:buSzPct val="100000"/>
              <a:buChar char="•"/>
            </a:pPr>
            <a:r>
              <a:rPr lang="en-US" sz="1400" dirty="0">
                <a:solidFill>
                  <a:srgbClr val="0B1526"/>
                </a:solidFill>
              </a:rPr>
              <a:t>IATA (Mar 2026): demand more than doubles by 2050 (3.1% CAGR); supersedes '2× by 2040'</a:t>
            </a:r>
            <a:endParaRPr lang="en-US" sz="1400" dirty="0"/>
          </a:p>
        </p:txBody>
      </p:sp>
      <p:sp>
        <p:nvSpPr>
          <p:cNvPr id="2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Aena · Riga · Axon (Q3 2025; FY2025) · Evolv · Motorola · ACI (via World Bank) · ACI Europe · Malay Mail · FTE · Delta · IATA (Mar 2026)</a:t>
            </a:r>
            <a:endParaRPr lang="en-US" sz="900" dirty="0"/>
          </a:p>
        </p:txBody>
      </p:sp>
      <p:grpSp>
        <p:nvGrpSpPr>
          <p:cNvPr id="2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A12  Team and structure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Team, Group fit and what an investor would own.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Answers the CEO ('why a venture?') and the VC ('what would I own?').</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A12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5440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Team</a:t>
            </a:r>
            <a:endParaRPr lang="en-US" sz="1600" dirty="0"/>
          </a:p>
        </p:txBody>
      </p:sp>
      <p:sp>
        <p:nvSpPr>
          <p:cNvPr id="12" name="Text 7"/>
          <p:cNvSpPr txBox="1"/>
          <p:nvPr/>
        </p:nvSpPr>
        <p:spPr>
          <a:xfrm>
            <a:off x="640080" y="2393696"/>
            <a:ext cx="3088640"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Bios: [name, role, track record, full-time status, equity] × 4 leads</a:t>
            </a:r>
            <a:endParaRPr lang="en-US" sz="1400" dirty="0"/>
          </a:p>
          <a:p>
            <a:pPr marL="152400" indent="-152400">
              <a:spcAft>
                <a:spcPts val="400"/>
              </a:spcAft>
              <a:buSzPct val="100000"/>
              <a:buChar char="•"/>
            </a:pPr>
            <a:r>
              <a:rPr lang="en-US" sz="1400" dirty="0">
                <a:solidFill>
                  <a:srgbClr val="0B1526"/>
                </a:solidFill>
              </a:rPr>
              <a:t>Advisors: [names]</a:t>
            </a:r>
            <a:endParaRPr lang="en-US" sz="1400" dirty="0"/>
          </a:p>
          <a:p>
            <a:pPr marL="152400" indent="-152400">
              <a:spcAft>
                <a:spcPts val="400"/>
              </a:spcAft>
              <a:buSzPct val="100000"/>
              <a:buChar char="•"/>
            </a:pPr>
            <a:r>
              <a:rPr lang="en-US" sz="1400" dirty="0">
                <a:solidFill>
                  <a:srgbClr val="0B1526"/>
                </a:solidFill>
              </a:rPr>
              <a:t>Hires in the programme: commercial lead (airport / border-agency sales); certification &amp; privacy lead</a:t>
            </a:r>
            <a:endParaRPr lang="en-US" sz="1400" dirty="0"/>
          </a:p>
          <a:p>
            <a:pPr marL="152400" indent="-152400">
              <a:spcAft>
                <a:spcPts val="400"/>
              </a:spcAft>
              <a:buSzPct val="100000"/>
              <a:buChar char="•"/>
            </a:pPr>
            <a:r>
              <a:rPr lang="en-US" sz="1400" dirty="0">
                <a:solidFill>
                  <a:srgbClr val="0B1526"/>
                </a:solidFill>
              </a:rPr>
              <a:t>Concept to Airshow prototype: [N] months</a:t>
            </a:r>
            <a:endParaRPr lang="en-US" sz="1400" dirty="0"/>
          </a:p>
          <a:p>
            <a:pPr marL="152400" indent="-152400">
              <a:spcAft>
                <a:spcPts val="400"/>
              </a:spcAft>
              <a:buSzPct val="100000"/>
              <a:buChar char="•"/>
            </a:pPr>
            <a:r>
              <a:rPr lang="en-US" sz="1400" dirty="0">
                <a:solidFill>
                  <a:srgbClr val="0B1526"/>
                </a:solidFill>
              </a:rPr>
              <a:t>Drawn from Smart Security &amp; Automation, Smart Utilities &amp; Infrastructure and Urban Solutions</a:t>
            </a:r>
            <a:endParaRPr lang="en-US" sz="1400" dirty="0"/>
          </a:p>
        </p:txBody>
      </p:sp>
      <p:sp>
        <p:nvSpPr>
          <p:cNvPr id="13" name="Shape 8"/>
          <p:cNvSpPr/>
          <p:nvPr/>
        </p:nvSpPr>
        <p:spPr>
          <a:xfrm>
            <a:off x="4094480" y="1920240"/>
            <a:ext cx="345440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27736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Why a venture (INTERNAL)</a:t>
            </a:r>
            <a:endParaRPr lang="en-US" sz="1600" dirty="0"/>
          </a:p>
        </p:txBody>
      </p:sp>
      <p:sp>
        <p:nvSpPr>
          <p:cNvPr id="15" name="Text 10"/>
          <p:cNvSpPr txBox="1"/>
          <p:nvPr/>
        </p:nvSpPr>
        <p:spPr>
          <a:xfrm>
            <a:off x="4277360" y="2393696"/>
            <a:ext cx="3088640" cy="99974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[Rationale]</a:t>
            </a:r>
            <a:endParaRPr lang="en-US" sz="1400" dirty="0"/>
          </a:p>
          <a:p>
            <a:pPr marL="152400" indent="-152400">
              <a:spcAft>
                <a:spcPts val="400"/>
              </a:spcAft>
              <a:buSzPct val="100000"/>
              <a:buChar char="•"/>
            </a:pPr>
            <a:r>
              <a:rPr lang="en-US" sz="1400" dirty="0">
                <a:solidFill>
                  <a:srgbClr val="0B1526"/>
                </a:solidFill>
              </a:rPr>
              <a:t>Group pull-through across the three business areas; target US$[X M] by 2030</a:t>
            </a:r>
            <a:endParaRPr lang="en-US" sz="1400" dirty="0"/>
          </a:p>
        </p:txBody>
      </p:sp>
      <p:sp>
        <p:nvSpPr>
          <p:cNvPr id="16" name="Text 11"/>
          <p:cNvSpPr txBox="1"/>
          <p:nvPr/>
        </p:nvSpPr>
        <p:spPr>
          <a:xfrm>
            <a:off x="4277360" y="349402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Channel conflict [TBC]</a:t>
            </a:r>
            <a:endParaRPr lang="en-US" sz="1600" dirty="0"/>
          </a:p>
        </p:txBody>
      </p:sp>
      <p:sp>
        <p:nvSpPr>
          <p:cNvPr id="17" name="Text 12"/>
          <p:cNvSpPr txBox="1"/>
          <p:nvPr/>
        </p:nvSpPr>
        <p:spPr>
          <a:xfrm>
            <a:off x="4277360" y="3821176"/>
            <a:ext cx="3088640" cy="78638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Non-ST integrators? Airports where other ST units compete?</a:t>
            </a:r>
            <a:endParaRPr lang="en-US" sz="1400" dirty="0"/>
          </a:p>
          <a:p>
            <a:pPr marL="152400" indent="-152400">
              <a:spcAft>
                <a:spcPts val="400"/>
              </a:spcAft>
              <a:buSzPct val="100000"/>
              <a:buChar char="•"/>
            </a:pPr>
            <a:r>
              <a:rPr lang="en-US" sz="1400" dirty="0">
                <a:solidFill>
                  <a:srgbClr val="0B1526"/>
                </a:solidFill>
              </a:rPr>
              <a:t>Related-party sales</a:t>
            </a:r>
            <a:endParaRPr lang="en-US" sz="1400" dirty="0"/>
          </a:p>
        </p:txBody>
      </p:sp>
      <p:sp>
        <p:nvSpPr>
          <p:cNvPr id="18" name="Shape 13"/>
          <p:cNvSpPr/>
          <p:nvPr/>
        </p:nvSpPr>
        <p:spPr>
          <a:xfrm>
            <a:off x="7731760" y="1920240"/>
            <a:ext cx="3972560" cy="3327908"/>
          </a:xfrm>
          <a:prstGeom prst="roundRect">
            <a:avLst>
              <a:gd name="adj" fmla="val 3297"/>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9" name="Text 14"/>
          <p:cNvSpPr txBox="1"/>
          <p:nvPr/>
        </p:nvSpPr>
        <p:spPr>
          <a:xfrm>
            <a:off x="7914640" y="2066544"/>
            <a:ext cx="3606800" cy="254000"/>
          </a:xfrm>
          <a:prstGeom prst="rect">
            <a:avLst/>
          </a:prstGeom>
          <a:noFill/>
          <a:ln/>
        </p:spPr>
        <p:txBody>
          <a:bodyPr wrap="square" lIns="0" tIns="0" rIns="0" bIns="0" rtlCol="0" anchor="t"/>
          <a:lstStyle/>
          <a:p>
            <a:pPr indent="0" marL="0">
              <a:buNone/>
            </a:pPr>
            <a:r>
              <a:rPr lang="en-US" sz="1600" b="1" dirty="0">
                <a:solidFill>
                  <a:srgbClr val="0B2545"/>
                </a:solidFill>
              </a:rPr>
              <a:t>What an investor would own</a:t>
            </a:r>
            <a:endParaRPr lang="en-US" sz="1600" dirty="0"/>
          </a:p>
        </p:txBody>
      </p:sp>
      <p:sp>
        <p:nvSpPr>
          <p:cNvPr id="20" name="Text 15"/>
          <p:cNvSpPr txBox="1"/>
          <p:nvPr/>
        </p:nvSpPr>
        <p:spPr>
          <a:xfrm>
            <a:off x="7914640" y="2393696"/>
            <a:ext cx="3606800" cy="24307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Structure: [NewCo spin-out or internal venture via STEV / In.Vent]</a:t>
            </a:r>
            <a:endParaRPr lang="en-US" sz="1400" dirty="0"/>
          </a:p>
          <a:p>
            <a:pPr marL="152400" indent="-152400">
              <a:spcAft>
                <a:spcPts val="400"/>
              </a:spcAft>
              <a:buSzPct val="100000"/>
              <a:buChar char="•"/>
            </a:pPr>
            <a:r>
              <a:rPr lang="en-US" sz="1400" dirty="0">
                <a:solidFill>
                  <a:srgbClr val="0B1526"/>
                </a:solidFill>
              </a:rPr>
              <a:t>IP and platform rights: [assigned or exclusively licensed]</a:t>
            </a:r>
            <a:endParaRPr lang="en-US" sz="1400" dirty="0"/>
          </a:p>
          <a:p>
            <a:pPr marL="152400" indent="-152400">
              <a:spcAft>
                <a:spcPts val="400"/>
              </a:spcAft>
              <a:buSzPct val="100000"/>
              <a:buChar char="•"/>
            </a:pPr>
            <a:r>
              <a:rPr lang="en-US" sz="1400" dirty="0">
                <a:solidFill>
                  <a:srgbClr val="0B1526"/>
                </a:solidFill>
              </a:rPr>
              <a:t>Cap table: [placeholder]; ST Engineering as [shareholder / supplier / channel]</a:t>
            </a:r>
            <a:endParaRPr lang="en-US" sz="1400" dirty="0"/>
          </a:p>
          <a:p>
            <a:pPr marL="152400" indent="-152400">
              <a:spcAft>
                <a:spcPts val="400"/>
              </a:spcAft>
              <a:buSzPct val="100000"/>
              <a:buChar char="•"/>
            </a:pPr>
            <a:r>
              <a:rPr lang="en-US" sz="1400" dirty="0">
                <a:solidFill>
                  <a:srgbClr val="0B1526"/>
                </a:solidFill>
              </a:rPr>
              <a:t>Group supply on arm's-length terms; no parent veto on an exit [TBC]</a:t>
            </a:r>
            <a:endParaRPr lang="en-US" sz="1400" dirty="0"/>
          </a:p>
          <a:p>
            <a:pPr marL="152400" indent="-152400">
              <a:spcAft>
                <a:spcPts val="400"/>
              </a:spcAft>
              <a:buSzPct val="100000"/>
              <a:buChar char="•"/>
            </a:pPr>
            <a:r>
              <a:rPr lang="en-US" sz="1400" dirty="0">
                <a:solidFill>
                  <a:srgbClr val="0B1526"/>
                </a:solidFill>
              </a:rPr>
              <a:t>If the face algorithm is licensed, say so: the value is the lane factor + control room</a:t>
            </a:r>
            <a:endParaRPr lang="en-US" sz="1400" dirty="0"/>
          </a:p>
        </p:txBody>
      </p:sp>
      <p:grpSp>
        <p:nvGrpSpPr>
          <p:cNvPr id="2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A13  Assumptions register</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Every internal number, labelled and owned.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So no estimate reaches investors as an external fact.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4206240"/>
                <a:gridCol w="4114800"/>
                <a:gridCol w="2926080"/>
              </a:tblGrid>
              <a:tr h="329184">
                <a:tc>
                  <a:txBody>
                    <a:bodyPr/>
                    <a:lstStyle/>
                    <a:p>
                      <a:pPr indent="0" marL="0">
                        <a:buNone/>
                      </a:pPr>
                      <a:r>
                        <a:rPr lang="en-US" sz="1400" b="1" dirty="0">
                          <a:solidFill>
                            <a:srgbClr val="FFFFFF"/>
                          </a:solidFill>
                        </a:rPr>
                        <a:t>Assumption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Label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Validation · owner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310896">
                <a:tc>
                  <a:txBody>
                    <a:bodyPr/>
                    <a:lstStyle/>
                    <a:p>
                      <a:pPr indent="0" marL="0">
                        <a:buNone/>
                      </a:pPr>
                      <a:r>
                        <a:rPr lang="en-US" sz="1400" b="1" dirty="0">
                          <a:solidFill>
                            <a:srgbClr val="0B1526"/>
                          </a:solidFill>
                        </a:rPr>
                        <a:t>Up to 4 document checks per departure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Process framing (domestic: no immigration)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Up to 4 → 0 at full rollout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Design target; pilot is 1 → 0 at immigration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≥4 staff per checkpoint workflow</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Internal estimate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Pilot baseline · [COO]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10–15% ME + SEA share of airport ABC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Internal estimate (URS)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Method [to document] · [CMO]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10–15% FastPass-serviceable share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Internal estimate (URS)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Method [to document] · [CMO]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US$10–15M a year (INTERNAL)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Candidate revenue target, ~15–23% of midpoint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Confirm in writing · [CMO / Finance]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20–30% less kerb-to-gate time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Team target, unvalidated (full rollout)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Pilot baseline · [CPO]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~78% brownfield (URS)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Unsourced; shown beside ACI's 57% (by value)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35+ years of secure delivery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Company claim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Prototype shown end to end, Feb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Company record; live status per module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Every [X] price, margin, KPI, date, count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Placeholder until confirmed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Tiers: A16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Asia-Pacific &amp; Middle East (57% brownfield, by value) · All other rows: internal</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A14  Q&amp;A prep</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Ten questions most likely to decide the room.</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Ownership, scale, demand, payer and measured gain. Full bank of 42 in the presenter pack.</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7680960"/>
              </a:tblGrid>
              <a:tr h="347472">
                <a:tc>
                  <a:txBody>
                    <a:bodyPr/>
                    <a:lstStyle/>
                    <a:p>
                      <a:pPr indent="0" marL="0">
                        <a:buNone/>
                      </a:pPr>
                      <a:r>
                        <a:rPr lang="en-US" sz="1400" b="1" dirty="0">
                          <a:solidFill>
                            <a:srgbClr val="FFFFFF"/>
                          </a:solidFill>
                        </a:rPr>
                        <a:t>Question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Short answer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832104">
                <a:tc>
                  <a:txBody>
                    <a:bodyPr/>
                    <a:lstStyle/>
                    <a:p>
                      <a:pPr indent="0" marL="0">
                        <a:buNone/>
                      </a:pPr>
                      <a:r>
                        <a:rPr lang="en-US" sz="1400" b="1" dirty="0">
                          <a:solidFill>
                            <a:srgbClr val="0B1526"/>
                          </a:solidFill>
                        </a:rPr>
                        <a:t>What would I own?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decided yet. For outside money we expect a NewCo, IP assigned or exclusively licensed, full-time leads with equity and arm's-length Group supply (A12). Until then, the first money is the Group's.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832104">
                <a:tc>
                  <a:txBody>
                    <a:bodyPr/>
                    <a:lstStyle/>
                    <a:p>
                      <a:pPr indent="0" marL="0">
                        <a:buNone/>
                      </a:pPr>
                      <a:r>
                        <a:rPr lang="en-US" sz="1400" b="1" dirty="0">
                          <a:solidFill>
                            <a:srgbClr val="0B1526"/>
                          </a:solidFill>
                        </a:rPr>
                        <a:t>Is this venture-scale?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The US$42–94M is a deliberately narrow beachhead: ABC e-gates and kiosks in two regions. The path to US$100M+ (every touchpoint, software, other airports and borders) is a hypothesis the pilot must open.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48640">
                <a:tc>
                  <a:txBody>
                    <a:bodyPr/>
                    <a:lstStyle/>
                    <a:p>
                      <a:pPr indent="0" marL="0">
                        <a:buNone/>
                      </a:pPr>
                      <a:r>
                        <a:rPr lang="en-US" sz="1400" b="1" dirty="0">
                          <a:solidFill>
                            <a:srgbClr val="0B1526"/>
                          </a:solidFill>
                        </a:rPr>
                        <a:t>Which agency has asked for a second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None yet. That is the bet M1 tests, and if agencies don't value it we stop or redesign.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Who pays: airport or agency?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It differs by country (Aena, Riga, Cardiff precedents). We compute payback per payer and structure the pilot with the budget holder (A11).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What's your measured gain over an e-gate?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measured yet. The pilot measures throughput against the existing e-gate baseline, with a go / no-go agreed in advance.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grpSp>
        <p:nvGrpSpPr>
          <p:cNvPr id="1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A14  Q&amp;A prep</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Ten questions most likely to decide the room.</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Demo, security, brand, market and the ask. Full bank of 42 in the presenter pack.</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7680960"/>
              </a:tblGrid>
              <a:tr h="347472">
                <a:tc>
                  <a:txBody>
                    <a:bodyPr/>
                    <a:lstStyle/>
                    <a:p>
                      <a:pPr indent="0" marL="0">
                        <a:buNone/>
                      </a:pPr>
                      <a:r>
                        <a:rPr lang="en-US" sz="1400" b="1" dirty="0">
                          <a:solidFill>
                            <a:srgbClr val="FFFFFF"/>
                          </a:solidFill>
                        </a:rPr>
                        <a:t>Question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Short answer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603504">
                <a:tc>
                  <a:txBody>
                    <a:bodyPr/>
                    <a:lstStyle/>
                    <a:p>
                      <a:pPr indent="0" marL="0">
                        <a:buNone/>
                      </a:pPr>
                      <a:r>
                        <a:rPr lang="en-US" sz="1400" b="1" dirty="0">
                          <a:solidFill>
                            <a:srgbClr val="0B1526"/>
                          </a:solidFill>
                        </a:rPr>
                        <a:t>Was the demo real?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It is an illustrated walkthrough of the prototype demonstrated end to end at the Airshow. Real footage: [show / none]. Measured: [figures / none yet].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How is Bluetooth a second factor? Relay or mis-pairing?</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Design intent: a cryptographic challenge to the paired phone's credential, plus a face match to that credential [CTO]. Independent tests are M2's exit criteria.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Can you use the name 'Fast Pass'?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Hamad, Qatar Airways and SITA launched it in Jul 2026. Our trademark review is [status], and fallback names are ready.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Why lead with the Middle East after −21% in H1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We sell efficiency, not growth; an SEA or dual-region pilot is the hedge; build-outs like DWC 2032 continue.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How much, and what's true at the end?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[US$X M] over [N] months buys M1–M4. In 12 months: a signed pilot and a live lane (M1–M2); the KPI readout (M3) follows by [Qx 2028]. Not revenue.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grpSp>
        <p:nvGrpSpPr>
          <p:cNvPr id="1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A15  Roadmap and vision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trusted identity layer for every checkpoint.</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Future options, kept out of the main pitch. Airports first.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A15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11247120" cy="685800"/>
          </a:xfrm>
          <a:prstGeom prst="roundRect">
            <a:avLst>
              <a:gd name="adj" fmla="val 16000"/>
            </a:avLst>
          </a:prstGeom>
          <a:solidFill>
            <a:srgbClr val="0B2545"/>
          </a:solidFill>
          <a:ln/>
          <a:effectLst>
            <a:outerShdw sx="100000" sy="100000" kx="0" ky="0" algn="bl" rotWithShape="0" blurRad="152400" dist="25400" dir="5400000">
              <a:srgbClr val="0A1628">
                <a:alpha val="12000"/>
              </a:srgbClr>
            </a:outerShdw>
          </a:effectLst>
        </p:spPr>
      </p:sp>
      <p:sp>
        <p:nvSpPr>
          <p:cNvPr id="11" name="Text 6"/>
          <p:cNvSpPr txBox="1"/>
          <p:nvPr/>
        </p:nvSpPr>
        <p:spPr>
          <a:xfrm>
            <a:off x="731520" y="1920240"/>
            <a:ext cx="10698480" cy="685800"/>
          </a:xfrm>
          <a:prstGeom prst="rect">
            <a:avLst/>
          </a:prstGeom>
          <a:noFill/>
          <a:ln/>
        </p:spPr>
        <p:txBody>
          <a:bodyPr wrap="square" lIns="0" tIns="0" rIns="0" bIns="0" rtlCol="0" anchor="ctr"/>
          <a:lstStyle/>
          <a:p>
            <a:pPr indent="0" marL="0">
              <a:buNone/>
            </a:pPr>
            <a:r>
              <a:rPr lang="en-US" sz="1800" b="1" dirty="0">
                <a:solidFill>
                  <a:srgbClr val="FFFFFF"/>
                </a:solidFill>
              </a:rPr>
              <a:t>Vision: no documents shown at any checkpoint a person crosses. Airports first.</a:t>
            </a:r>
            <a:endParaRPr lang="en-US" sz="1800" dirty="0"/>
          </a:p>
        </p:txBody>
      </p:sp>
      <p:sp>
        <p:nvSpPr>
          <p:cNvPr id="12" name="Shape 7"/>
          <p:cNvSpPr/>
          <p:nvPr/>
        </p:nvSpPr>
        <p:spPr>
          <a:xfrm>
            <a:off x="45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3" name="Text 8"/>
          <p:cNvSpPr txBox="1"/>
          <p:nvPr/>
        </p:nvSpPr>
        <p:spPr>
          <a:xfrm>
            <a:off x="64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Next capabilities</a:t>
            </a:r>
            <a:endParaRPr lang="en-US" sz="1800" dirty="0"/>
          </a:p>
        </p:txBody>
      </p:sp>
      <p:sp>
        <p:nvSpPr>
          <p:cNvPr id="14" name="Text 9"/>
          <p:cNvSpPr txBox="1"/>
          <p:nvPr/>
        </p:nvSpPr>
        <p:spPr>
          <a:xfrm>
            <a:off x="640080" y="3294126"/>
            <a:ext cx="3261360" cy="1659636"/>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Accept airline-issued, ICAO DTC and EUDI wallet credentials as the device factor via the SDK [CTO to confirm]</a:t>
            </a:r>
            <a:endParaRPr lang="en-US" sz="1600" dirty="0"/>
          </a:p>
          <a:p>
            <a:pPr marL="152400" indent="-152400">
              <a:spcAft>
                <a:spcPts val="400"/>
              </a:spcAft>
              <a:buSzPct val="100000"/>
              <a:buChar char="•"/>
            </a:pPr>
            <a:r>
              <a:rPr lang="en-US" sz="1600" dirty="0">
                <a:solidFill>
                  <a:srgbClr val="0B1526"/>
                </a:solidFill>
              </a:rPr>
              <a:t>Arrivals and transit</a:t>
            </a:r>
            <a:endParaRPr lang="en-US" sz="1600" dirty="0"/>
          </a:p>
          <a:p>
            <a:pPr marL="152400" indent="-152400">
              <a:spcAft>
                <a:spcPts val="400"/>
              </a:spcAft>
              <a:buSzPct val="100000"/>
              <a:buChar char="•"/>
            </a:pPr>
            <a:r>
              <a:rPr lang="en-US" sz="1600" dirty="0">
                <a:solidFill>
                  <a:srgbClr val="0B1526"/>
                </a:solidFill>
              </a:rPr>
              <a:t>Lounge</a:t>
            </a:r>
            <a:endParaRPr lang="en-US" sz="1600" dirty="0"/>
          </a:p>
        </p:txBody>
      </p:sp>
      <p:sp>
        <p:nvSpPr>
          <p:cNvPr id="15" name="Shape 10"/>
          <p:cNvSpPr/>
          <p:nvPr/>
        </p:nvSpPr>
        <p:spPr>
          <a:xfrm>
            <a:off x="426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6" name="Text 11"/>
          <p:cNvSpPr txBox="1"/>
          <p:nvPr/>
        </p:nvSpPr>
        <p:spPr>
          <a:xfrm>
            <a:off x="445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Technology options</a:t>
            </a:r>
            <a:endParaRPr lang="en-US" sz="1800" dirty="0"/>
          </a:p>
        </p:txBody>
      </p:sp>
      <p:sp>
        <p:nvSpPr>
          <p:cNvPr id="17" name="Text 12"/>
          <p:cNvSpPr txBox="1"/>
          <p:nvPr/>
        </p:nvSpPr>
        <p:spPr>
          <a:xfrm>
            <a:off x="4450080" y="3294126"/>
            <a:ext cx="3261360" cy="14660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LiDAR</a:t>
            </a:r>
            <a:endParaRPr lang="en-US" sz="1600" dirty="0"/>
          </a:p>
          <a:p>
            <a:pPr marL="152400" indent="-152400">
              <a:spcAft>
                <a:spcPts val="400"/>
              </a:spcAft>
              <a:buSzPct val="100000"/>
              <a:buChar char="•"/>
            </a:pPr>
            <a:r>
              <a:rPr lang="en-US" sz="1600" dirty="0">
                <a:solidFill>
                  <a:srgbClr val="0B1526"/>
                </a:solidFill>
              </a:rPr>
              <a:t>Iris</a:t>
            </a:r>
            <a:endParaRPr lang="en-US" sz="1600" dirty="0"/>
          </a:p>
          <a:p>
            <a:pPr marL="152400" indent="-152400">
              <a:spcAft>
                <a:spcPts val="400"/>
              </a:spcAft>
              <a:buSzPct val="100000"/>
              <a:buChar char="•"/>
            </a:pPr>
            <a:r>
              <a:rPr lang="en-US" sz="1600" dirty="0">
                <a:solidFill>
                  <a:srgbClr val="0B1526"/>
                </a:solidFill>
              </a:rPr>
              <a:t>E-concierge</a:t>
            </a:r>
            <a:endParaRPr lang="en-US" sz="1600" dirty="0"/>
          </a:p>
          <a:p>
            <a:pPr marL="152400" indent="-152400">
              <a:spcAft>
                <a:spcPts val="400"/>
              </a:spcAft>
              <a:buSzPct val="100000"/>
              <a:buChar char="•"/>
            </a:pPr>
            <a:r>
              <a:rPr lang="en-US" sz="1600" dirty="0">
                <a:solidFill>
                  <a:srgbClr val="0B1526"/>
                </a:solidFill>
              </a:rPr>
              <a:t>AI luggage scanning ('FastPass AI Scanning')</a:t>
            </a:r>
            <a:endParaRPr lang="en-US" sz="1600" dirty="0"/>
          </a:p>
        </p:txBody>
      </p:sp>
      <p:sp>
        <p:nvSpPr>
          <p:cNvPr id="18" name="Shape 13"/>
          <p:cNvSpPr/>
          <p:nvPr/>
        </p:nvSpPr>
        <p:spPr>
          <a:xfrm>
            <a:off x="807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826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New markets, in order</a:t>
            </a:r>
            <a:endParaRPr lang="en-US" sz="1800" dirty="0"/>
          </a:p>
        </p:txBody>
      </p:sp>
      <p:sp>
        <p:nvSpPr>
          <p:cNvPr id="20" name="Text 15"/>
          <p:cNvSpPr txBox="1"/>
          <p:nvPr/>
        </p:nvSpPr>
        <p:spPr>
          <a:xfrm>
            <a:off x="8260080" y="3294126"/>
            <a:ext cx="3261360" cy="1659636"/>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1 → Congested airports worldwide</a:t>
            </a:r>
            <a:endParaRPr lang="en-US" sz="1600" dirty="0"/>
          </a:p>
          <a:p>
            <a:pPr marL="152400" indent="-152400">
              <a:spcAft>
                <a:spcPts val="400"/>
              </a:spcAft>
              <a:buSzPct val="100000"/>
              <a:buChar char="•"/>
            </a:pPr>
            <a:r>
              <a:rPr lang="en-US" sz="1600" dirty="0">
                <a:solidFill>
                  <a:srgbClr val="0B1526"/>
                </a:solidFill>
              </a:rPr>
              <a:t>2 → Seaports, cruise and land borders</a:t>
            </a:r>
            <a:endParaRPr lang="en-US" sz="1600" dirty="0"/>
          </a:p>
          <a:p>
            <a:pPr marL="152400" indent="-152400">
              <a:spcAft>
                <a:spcPts val="400"/>
              </a:spcAft>
              <a:buSzPct val="100000"/>
              <a:buChar char="•"/>
            </a:pPr>
            <a:r>
              <a:rPr lang="en-US" sz="1600" dirty="0">
                <a:solidFill>
                  <a:srgbClr val="0B1526"/>
                </a:solidFill>
              </a:rPr>
              <a:t>3 → Secure campuses [to confirm]</a:t>
            </a:r>
            <a:endParaRPr lang="en-US" sz="1600" dirty="0"/>
          </a:p>
        </p:txBody>
      </p:sp>
      <p:grpSp>
        <p:nvGrpSpPr>
          <p:cNvPr id="2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A16  Ship gates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Ship gates: what must be filled, and when.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No slide reaches a room with a bracket as its focal element.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A16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85622" cy="4251960"/>
          </a:xfrm>
          <a:prstGeom prst="roundRect">
            <a:avLst>
              <a:gd name="adj" fmla="val 2977"/>
            </a:avLst>
          </a:prstGeom>
          <a:solidFill>
            <a:srgbClr val="FFFFFF"/>
          </a:solidFill>
          <a:ln w="15875">
            <a:solidFill>
              <a:srgbClr val="E30613"/>
            </a:solidFill>
            <a:prstDash val="solid"/>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319862" cy="254000"/>
          </a:xfrm>
          <a:prstGeom prst="rect">
            <a:avLst/>
          </a:prstGeom>
          <a:noFill/>
          <a:ln/>
        </p:spPr>
        <p:txBody>
          <a:bodyPr wrap="square" lIns="0" tIns="0" rIns="0" bIns="0" rtlCol="0" anchor="t"/>
          <a:lstStyle/>
          <a:p>
            <a:pPr indent="0" marL="0">
              <a:buNone/>
            </a:pPr>
            <a:r>
              <a:rPr lang="en-US" sz="1600" b="1" dirty="0">
                <a:solidFill>
                  <a:srgbClr val="0B2545"/>
                </a:solidFill>
              </a:rPr>
              <a:t>Tier 1 · before ANY showing</a:t>
            </a:r>
            <a:endParaRPr lang="en-US" sz="1600" dirty="0"/>
          </a:p>
        </p:txBody>
      </p:sp>
      <p:sp>
        <p:nvSpPr>
          <p:cNvPr id="12" name="Text 7"/>
          <p:cNvSpPr txBox="1"/>
          <p:nvPr/>
        </p:nvSpPr>
        <p:spPr>
          <a:xfrm>
            <a:off x="640080" y="2393696"/>
            <a:ext cx="3319862" cy="36484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Ask amount and runway; M1–M4 dates (M1 checked for realism)</a:t>
            </a:r>
            <a:endParaRPr lang="en-US" sz="1400" dirty="0"/>
          </a:p>
          <a:p>
            <a:pPr marL="152400" indent="-152400">
              <a:spcAft>
                <a:spcPts val="400"/>
              </a:spcAft>
              <a:buSzPct val="100000"/>
              <a:buChar char="•"/>
            </a:pPr>
            <a:r>
              <a:rPr lang="en-US" sz="1400" dirty="0">
                <a:solidFill>
                  <a:srgbClr val="0B1526"/>
                </a:solidFill>
              </a:rPr>
              <a:t>Presenter names</a:t>
            </a:r>
            <a:endParaRPr lang="en-US" sz="1400" dirty="0"/>
          </a:p>
          <a:p>
            <a:pPr marL="152400" indent="-152400">
              <a:spcAft>
                <a:spcPts val="400"/>
              </a:spcAft>
              <a:buSzPct val="100000"/>
              <a:buChar char="•"/>
            </a:pPr>
            <a:r>
              <a:rPr lang="en-US" sz="1400" dirty="0">
                <a:solidFill>
                  <a:srgbClr val="0B1526"/>
                </a:solidFill>
              </a:rPr>
              <a:t>Slide-6 counts and two permissioned learnings (or delete)</a:t>
            </a:r>
            <a:endParaRPr lang="en-US" sz="1400" dirty="0"/>
          </a:p>
          <a:p>
            <a:pPr marL="152400" indent="-152400">
              <a:spcAft>
                <a:spcPts val="400"/>
              </a:spcAft>
              <a:buSzPct val="100000"/>
              <a:buChar char="•"/>
            </a:pPr>
            <a:r>
              <a:rPr lang="en-US" sz="1400" dirty="0">
                <a:solidFill>
                  <a:srgbClr val="0B1526"/>
                </a:solidFill>
              </a:rPr>
              <a:t>Scorecard targets and go / no-go (A7)</a:t>
            </a:r>
            <a:endParaRPr lang="en-US" sz="1400" dirty="0"/>
          </a:p>
          <a:p>
            <a:pPr marL="152400" indent="-152400">
              <a:spcAft>
                <a:spcPts val="400"/>
              </a:spcAft>
              <a:buSzPct val="100000"/>
              <a:buChar char="•"/>
            </a:pPr>
            <a:r>
              <a:rPr lang="en-US" sz="1400" dirty="0">
                <a:solidFill>
                  <a:srgbClr val="0B1526"/>
                </a:solidFill>
              </a:rPr>
              <a:t>Per-module live confirmation, incl. BLE pairing and boarding</a:t>
            </a:r>
            <a:endParaRPr lang="en-US" sz="1400" dirty="0"/>
          </a:p>
          <a:p>
            <a:pPr marL="152400" indent="-152400">
              <a:spcAft>
                <a:spcPts val="400"/>
              </a:spcAft>
              <a:buSzPct val="100000"/>
              <a:buChar char="•"/>
            </a:pPr>
            <a:r>
              <a:rPr lang="en-US" sz="1400" dirty="0">
                <a:solidFill>
                  <a:srgbClr val="0B1526"/>
                </a:solidFill>
              </a:rPr>
              <a:t>Real Airshow clip or one dated photo of a person at the live gate (5c)</a:t>
            </a:r>
            <a:endParaRPr lang="en-US" sz="1400" dirty="0"/>
          </a:p>
          <a:p>
            <a:pPr marL="152400" indent="-152400">
              <a:spcAft>
                <a:spcPts val="400"/>
              </a:spcAft>
              <a:buSzPct val="100000"/>
              <a:buChar char="•"/>
            </a:pPr>
            <a:r>
              <a:rPr lang="en-US" sz="1400" dirty="0">
                <a:solidFill>
                  <a:srgbClr val="0B1526"/>
                </a:solidFill>
              </a:rPr>
              <a:t>Written confirmation that the app-screen faces are AI-generated (5b, slide 6, A2), else replace them</a:t>
            </a:r>
            <a:endParaRPr lang="en-US" sz="1400" dirty="0"/>
          </a:p>
          <a:p>
            <a:pPr marL="152400" indent="-152400">
              <a:spcAft>
                <a:spcPts val="400"/>
              </a:spcAft>
              <a:buSzPct val="100000"/>
              <a:buChar char="•"/>
            </a:pPr>
            <a:r>
              <a:rPr lang="en-US" sz="1400" dirty="0">
                <a:solidFill>
                  <a:srgbClr val="0B1526"/>
                </a:solidFill>
              </a:rPr>
              <a:t>Corporate-comms clearance of the Minister's quote</a:t>
            </a:r>
            <a:endParaRPr lang="en-US" sz="1400" dirty="0"/>
          </a:p>
        </p:txBody>
      </p:sp>
      <p:sp>
        <p:nvSpPr>
          <p:cNvPr id="13" name="Shape 8"/>
          <p:cNvSpPr/>
          <p:nvPr/>
        </p:nvSpPr>
        <p:spPr>
          <a:xfrm>
            <a:off x="4325702" y="1920240"/>
            <a:ext cx="4387645" cy="4251960"/>
          </a:xfrm>
          <a:prstGeom prst="roundRect">
            <a:avLst>
              <a:gd name="adj" fmla="val 2581"/>
            </a:avLst>
          </a:prstGeom>
          <a:solidFill>
            <a:srgbClr val="FFFFFF"/>
          </a:solidFill>
          <a:ln w="15875">
            <a:solidFill>
              <a:srgbClr val="D97706"/>
            </a:solidFill>
            <a:prstDash val="solid"/>
          </a:ln>
          <a:effectLst>
            <a:outerShdw sx="100000" sy="100000" kx="0" ky="0" algn="bl" rotWithShape="0" blurRad="152400" dist="25400" dir="5400000">
              <a:srgbClr val="0A1628">
                <a:alpha val="12000"/>
              </a:srgbClr>
            </a:outerShdw>
          </a:effectLst>
        </p:spPr>
      </p:sp>
      <p:sp>
        <p:nvSpPr>
          <p:cNvPr id="14" name="Text 9"/>
          <p:cNvSpPr txBox="1"/>
          <p:nvPr/>
        </p:nvSpPr>
        <p:spPr>
          <a:xfrm>
            <a:off x="4508582" y="2066544"/>
            <a:ext cx="4021885" cy="254000"/>
          </a:xfrm>
          <a:prstGeom prst="rect">
            <a:avLst/>
          </a:prstGeom>
          <a:noFill/>
          <a:ln/>
        </p:spPr>
        <p:txBody>
          <a:bodyPr wrap="square" lIns="0" tIns="0" rIns="0" bIns="0" rtlCol="0" anchor="t"/>
          <a:lstStyle/>
          <a:p>
            <a:pPr indent="0" marL="0">
              <a:buNone/>
            </a:pPr>
            <a:r>
              <a:rPr lang="en-US" sz="1600" b="1" dirty="0">
                <a:solidFill>
                  <a:srgbClr val="0B2545"/>
                </a:solidFill>
              </a:rPr>
              <a:t>Tier 2 · before the EXTERNAL file is sent</a:t>
            </a:r>
            <a:endParaRPr lang="en-US" sz="1600" dirty="0"/>
          </a:p>
        </p:txBody>
      </p:sp>
      <p:sp>
        <p:nvSpPr>
          <p:cNvPr id="15" name="Text 10"/>
          <p:cNvSpPr txBox="1"/>
          <p:nvPr/>
        </p:nvSpPr>
        <p:spPr>
          <a:xfrm>
            <a:off x="4508582" y="2393696"/>
            <a:ext cx="4021885" cy="295808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Structure, IP and platform owner, ST Engineering role</a:t>
            </a:r>
            <a:endParaRPr lang="en-US" sz="1400" dirty="0"/>
          </a:p>
          <a:p>
            <a:pPr marL="152400" indent="-152400">
              <a:spcAft>
                <a:spcPts val="400"/>
              </a:spcAft>
              <a:buSzPct val="100000"/>
              <a:buChar char="•"/>
            </a:pPr>
            <a:r>
              <a:rPr lang="en-US" sz="1400" dirty="0">
                <a:solidFill>
                  <a:srgbClr val="0B1526"/>
                </a:solidFill>
              </a:rPr>
              <a:t>Named, photographed, full-time leads</a:t>
            </a:r>
            <a:endParaRPr lang="en-US" sz="1400" dirty="0"/>
          </a:p>
          <a:p>
            <a:pPr marL="152400" indent="-152400">
              <a:spcAft>
                <a:spcPts val="400"/>
              </a:spcAft>
              <a:buSzPct val="100000"/>
              <a:buChar char="•"/>
            </a:pPr>
            <a:r>
              <a:rPr lang="en-US" sz="1400" dirty="0">
                <a:solidFill>
                  <a:srgbClr val="0B1526"/>
                </a:solidFill>
              </a:rPr>
              <a:t>Pilot market (SEA or dual-region); paid or co-funded</a:t>
            </a:r>
            <a:endParaRPr lang="en-US" sz="1400" dirty="0"/>
          </a:p>
          <a:p>
            <a:pPr marL="152400" indent="-152400">
              <a:spcAft>
                <a:spcPts val="400"/>
              </a:spcAft>
              <a:buSzPct val="100000"/>
              <a:buChar char="•"/>
            </a:pPr>
            <a:r>
              <a:rPr lang="en-US" sz="1400" dirty="0">
                <a:solidFill>
                  <a:srgbClr val="0B1526"/>
                </a:solidFill>
              </a:rPr>
              <a:t>Revenue target and year in writing, plus the bottom-up</a:t>
            </a:r>
            <a:endParaRPr lang="en-US" sz="1400" dirty="0"/>
          </a:p>
          <a:p>
            <a:pPr marL="152400" indent="-152400">
              <a:spcAft>
                <a:spcPts val="400"/>
              </a:spcAft>
              <a:buSzPct val="100000"/>
              <a:buChar char="•"/>
            </a:pPr>
            <a:r>
              <a:rPr lang="en-US" sz="1400" dirty="0">
                <a:solidFill>
                  <a:srgbClr val="0B1526"/>
                </a:solidFill>
              </a:rPr>
              <a:t>Trademark check on 'FastPass'; G-SRC click-check (A1)</a:t>
            </a:r>
            <a:endParaRPr lang="en-US" sz="1400" dirty="0"/>
          </a:p>
          <a:p>
            <a:pPr marL="152400" indent="-152400">
              <a:spcAft>
                <a:spcPts val="400"/>
              </a:spcAft>
              <a:buSzPct val="100000"/>
              <a:buChar char="•"/>
            </a:pPr>
            <a:r>
              <a:rPr lang="en-US" sz="1400" dirty="0">
                <a:solidFill>
                  <a:srgbClr val="0B1526"/>
                </a:solidFill>
              </a:rPr>
              <a:t>CTO sign-off on binding and enrolment (A8); two-factor wording tested with agencies</a:t>
            </a:r>
            <a:endParaRPr lang="en-US" sz="1400" dirty="0"/>
          </a:p>
          <a:p>
            <a:pPr marL="152400" indent="-152400">
              <a:spcAft>
                <a:spcPts val="400"/>
              </a:spcAft>
              <a:buSzPct val="100000"/>
              <a:buChar char="•"/>
            </a:pPr>
            <a:r>
              <a:rPr lang="en-US" sz="1400" dirty="0">
                <a:solidFill>
                  <a:srgbClr val="0B1526"/>
                </a:solidFill>
              </a:rPr>
              <a:t>Text diff, EXTERNAL vs INTERNAL</a:t>
            </a:r>
            <a:endParaRPr lang="en-US" sz="1400" dirty="0"/>
          </a:p>
        </p:txBody>
      </p:sp>
      <p:sp>
        <p:nvSpPr>
          <p:cNvPr id="16" name="Shape 11"/>
          <p:cNvSpPr/>
          <p:nvPr/>
        </p:nvSpPr>
        <p:spPr>
          <a:xfrm>
            <a:off x="8896227" y="1920240"/>
            <a:ext cx="2808093" cy="4251960"/>
          </a:xfrm>
          <a:prstGeom prst="roundRect">
            <a:avLst>
              <a:gd name="adj" fmla="val 3908"/>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9079107" y="2066544"/>
            <a:ext cx="2442333" cy="254000"/>
          </a:xfrm>
          <a:prstGeom prst="rect">
            <a:avLst/>
          </a:prstGeom>
          <a:noFill/>
          <a:ln/>
        </p:spPr>
        <p:txBody>
          <a:bodyPr wrap="square" lIns="0" tIns="0" rIns="0" bIns="0" rtlCol="0" anchor="t"/>
          <a:lstStyle/>
          <a:p>
            <a:pPr indent="0" marL="0">
              <a:buNone/>
            </a:pPr>
            <a:r>
              <a:rPr lang="en-US" sz="1600" b="1" dirty="0">
                <a:solidFill>
                  <a:srgbClr val="0B2545"/>
                </a:solidFill>
              </a:rPr>
              <a:t>Tier 3 · can stay open</a:t>
            </a:r>
            <a:endParaRPr lang="en-US" sz="1600" dirty="0"/>
          </a:p>
        </p:txBody>
      </p:sp>
      <p:sp>
        <p:nvSpPr>
          <p:cNvPr id="18" name="Text 13"/>
          <p:cNvSpPr txBox="1"/>
          <p:nvPr/>
        </p:nvSpPr>
        <p:spPr>
          <a:xfrm>
            <a:off x="9079107" y="2393696"/>
            <a:ext cx="2442333" cy="15773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Per-lane prices and unit economics</a:t>
            </a:r>
            <a:endParaRPr lang="en-US" sz="1400" dirty="0"/>
          </a:p>
          <a:p>
            <a:pPr marL="152400" indent="-152400">
              <a:spcAft>
                <a:spcPts val="400"/>
              </a:spcAft>
              <a:buSzPct val="100000"/>
              <a:buChar char="•"/>
            </a:pPr>
            <a:r>
              <a:rPr lang="en-US" sz="1400" dirty="0">
                <a:solidFill>
                  <a:srgbClr val="0B1526"/>
                </a:solidFill>
              </a:rPr>
              <a:t>5-year plan; use of funds %</a:t>
            </a:r>
            <a:endParaRPr lang="en-US" sz="1400" dirty="0"/>
          </a:p>
          <a:p>
            <a:pPr marL="152400" indent="-152400">
              <a:spcAft>
                <a:spcPts val="400"/>
              </a:spcAft>
              <a:buSzPct val="100000"/>
              <a:buChar char="•"/>
            </a:pPr>
            <a:r>
              <a:rPr lang="en-US" sz="1400" dirty="0">
                <a:solidFill>
                  <a:srgbClr val="0B1526"/>
                </a:solidFill>
              </a:rPr>
              <a:t>Certification roadmap</a:t>
            </a:r>
            <a:endParaRPr lang="en-US" sz="1400" dirty="0"/>
          </a:p>
          <a:p>
            <a:pPr marL="152400" indent="-152400">
              <a:spcAft>
                <a:spcPts val="400"/>
              </a:spcAft>
              <a:buSzPct val="100000"/>
              <a:buChar char="•"/>
            </a:pPr>
            <a:r>
              <a:rPr lang="en-US" sz="1400" dirty="0">
                <a:solidFill>
                  <a:srgbClr val="0B1526"/>
                </a:solidFill>
              </a:rPr>
              <a:t>Channel-conflict rules</a:t>
            </a:r>
            <a:endParaRPr lang="en-US" sz="1400" dirty="0"/>
          </a:p>
          <a:p>
            <a:pPr marL="152400" indent="-152400">
              <a:spcAft>
                <a:spcPts val="400"/>
              </a:spcAft>
              <a:buSzPct val="100000"/>
              <a:buChar char="•"/>
            </a:pPr>
            <a:r>
              <a:rPr lang="en-US" sz="1400" dirty="0">
                <a:solidFill>
                  <a:srgbClr val="0B1526"/>
                </a:solidFill>
              </a:rPr>
              <a:t>Expansion beyond airports</a:t>
            </a:r>
            <a:endParaRPr lang="en-US" sz="1400" dirty="0"/>
          </a:p>
        </p:txBody>
      </p:sp>
      <p:grpSp>
        <p:nvGrpSpPr>
          <p:cNvPr id="19"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0"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1"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DAE19BDA24DF479223A523DC1EAC22" ma:contentTypeVersion="15" ma:contentTypeDescription="Create a new document." ma:contentTypeScope="" ma:versionID="f2d37794f9fe5706fdf315496084d6c9">
  <xsd:schema xmlns:xsd="http://www.w3.org/2001/XMLSchema" xmlns:xs="http://www.w3.org/2001/XMLSchema" xmlns:p="http://schemas.microsoft.com/office/2006/metadata/properties" xmlns:ns1="http://schemas.microsoft.com/sharepoint/v3" xmlns:ns2="59b4f843-a728-4593-8a1f-3b60800c0505" xmlns:ns3="195576e3-6fc6-4cc7-a52f-8a1a90fc6d57" targetNamespace="http://schemas.microsoft.com/office/2006/metadata/properties" ma:root="true" ma:fieldsID="bc42a6b90df392b895de16f18821551c" ns1:_="" ns2:_="" ns3:_="">
    <xsd:import namespace="http://schemas.microsoft.com/sharepoint/v3"/>
    <xsd:import namespace="59b4f843-a728-4593-8a1f-3b60800c0505"/>
    <xsd:import namespace="195576e3-6fc6-4cc7-a52f-8a1a90fc6d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b4f843-a728-4593-8a1f-3b60800c05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0df6263-beb7-4e3d-b782-8d1ca9c8aa8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5576e3-6fc6-4cc7-a52f-8a1a90fc6d5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a38f4b-5bcc-4500-af1f-c24ca71b5c0a}" ma:internalName="TaxCatchAll" ma:showField="CatchAllData" ma:web="195576e3-6fc6-4cc7-a52f-8a1a90fc6d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9b4f843-a728-4593-8a1f-3b60800c0505">
      <Terms xmlns="http://schemas.microsoft.com/office/infopath/2007/PartnerControls"/>
    </lcf76f155ced4ddcb4097134ff3c332f>
    <_ip_UnifiedCompliancePolicyProperties xmlns="http://schemas.microsoft.com/sharepoint/v3" xsi:nil="true"/>
    <TaxCatchAll xmlns="195576e3-6fc6-4cc7-a52f-8a1a90fc6d57" xsi:nil="true"/>
  </documentManagement>
</p:properties>
</file>

<file path=customXml/itemProps1.xml><?xml version="1.0" encoding="utf-8"?>
<ds:datastoreItem xmlns:ds="http://schemas.openxmlformats.org/officeDocument/2006/customXml" ds:itemID="{19AC9C15-0E1C-405D-9198-763B7011C765}">
  <ds:schemaRefs>
    <ds:schemaRef ds:uri="http://schemas.microsoft.com/sharepoint/v3/contenttype/forms"/>
  </ds:schemaRefs>
</ds:datastoreItem>
</file>

<file path=customXml/itemProps2.xml><?xml version="1.0" encoding="utf-8"?>
<ds:datastoreItem xmlns:ds="http://schemas.openxmlformats.org/officeDocument/2006/customXml" ds:itemID="{1435FA44-63C2-4ACA-A444-489731DA04FA}">
  <ds:schemaRefs>
    <ds:schemaRef ds:uri="195576e3-6fc6-4cc7-a52f-8a1a90fc6d57"/>
    <ds:schemaRef ds:uri="59b4f843-a728-4593-8a1f-3b60800c05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C1C97A-0FBF-46FC-87F3-807B2E089C9B}">
  <ds:schemaRefs>
    <ds:schemaRef ds:uri="195576e3-6fc6-4cc7-a52f-8a1a90fc6d57"/>
    <ds:schemaRef ds:uri="59b4f843-a728-4593-8a1f-3b60800c05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40</Slides>
  <Notes>40</Notes>
  <HiddenSlides>0</HiddenSlides>
  <ScaleCrop>false</ScaleCrop>
  <HeadingPairs>
    <vt:vector size="2" baseType="variant">
      <vt:variant>
        <vt:lpstr>Slide Titles</vt:lpstr>
      </vt:variant>
      <vt:variant>
        <vt:i4>40</vt:i4>
      </vt:variant>
    </vt:vector>
  </HeadingPairs>
  <TitlesOfParts>
    <vt:vector size="40" baseType="lpstr">
      <vt:lpstr>AGIL® Secure FastPass</vt:lpstr>
      <vt:lpstr>Up to four ID checks per departure, most staffed.</vt:lpstr>
      <vt:lpstr>Borders went biometric; passports are going mobile.</vt:lpstr>
      <vt:lpstr>Phone in the pocket + face in stride = cleared.</vt:lpstr>
      <vt:lpstr>One traveller, four checks, no documents shown.</vt:lpstr>
      <vt:lpstr>1 · Enrol once, at home</vt:lpstr>
      <vt:lpstr>2 · Walk through: phone + face = cleared</vt:lpstr>
      <vt:lpstr>3 · Pre-screen and board by face + phone</vt:lpstr>
      <vt:lpstr>4 · Officers act only on exceptions</vt:lpstr>
      <vt:lpstr>Built and shown live. Next proof: one airport lane.</vt:lpstr>
      <vt:lpstr>Others match faces in stride. We add the phone.</vt:lpstr>
      <vt:lpstr>US$42–94M a year by 2030, and lanes are only the wedge.</vt:lpstr>
      <vt:lpstr>Land one lane. Hardware once, software every year.</vt:lpstr>
      <vt:lpstr>Airport buys capacity. Agency gains officer time.</vt:lpstr>
      <vt:lpstr>The team that built and demoed the prototype.</vt:lpstr>
      <vt:lpstr>[US$X M] in four tranches; first lane live by [Qx 2027].</vt:lpstr>
      <vt:lpstr>Appendix: backup for diligence and Q&amp;A</vt:lpstr>
      <vt:lpstr>Every external number maps to one source.</vt:lpstr>
      <vt:lpstr>Six steps, five modules, one platform.</vt:lpstr>
      <vt:lpstr>The FastPass lane: BLE beacon plus a face camera.</vt:lpstr>
      <vt:lpstr>Recompute the beachhead: US$42–94M a year in 2030.</vt:lpstr>
      <vt:lpstr>Who we target first, and the 2026 headwind.</vt:lpstr>
      <vt:lpstr>Competitor matrix behind the slide-7 map.</vt:lpstr>
      <vt:lpstr>Market evidence and the moat to build.</vt:lpstr>
      <vt:lpstr>The identity layer produces real outcomes.</vt:lpstr>
      <vt:lpstr>AGIL® Secure Platform: the command layer behind every step.</vt:lpstr>
      <vt:lpstr>Pilot design: one airport, one group, one lane.</vt:lpstr>
      <vt:lpstr>Pilot scorecard: targets set now, measured live.</vt:lpstr>
      <vt:lpstr>Trust, privacy and security: what the CTO confirms.</vt:lpstr>
      <vt:lpstr>How an agency could accept a phone-held credential.</vt:lpstr>
      <vt:lpstr>Risks you will raise, and the milestone that retires each.</vt:lpstr>
      <vt:lpstr>Risks you will raise, and the milestone that retires each.</vt:lpstr>
      <vt:lpstr>Unit economics and payback per payer (placeholders).</vt:lpstr>
      <vt:lpstr>Cost anchors, margin comparables and the 5-year plan.</vt:lpstr>
      <vt:lpstr>Team, Group fit and what an investor would own.</vt:lpstr>
      <vt:lpstr>Every internal number, labelled and owned.</vt:lpstr>
      <vt:lpstr>Ten questions most likely to decide the room.</vt:lpstr>
      <vt:lpstr>Ten questions most likely to decide the room.</vt:lpstr>
      <vt:lpstr>The trusted identity layer for every checkpoint.</vt:lpstr>
      <vt:lpstr>Ship gates: what must be filled, and when.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Investor Pitch 13</dc:title>
  <dc:creator>Zhang Qinyuan</dc:creator>
  <cp:revision>1</cp:revision>
  <dcterms:created xsi:type="dcterms:W3CDTF">2026-07-07T02:13:40Z</dcterms:created>
  <dcterms:modified xsi:type="dcterms:W3CDTF">2026-10-27T16:00:23Z</dcterms:modified>
  <dc:subject>Investor pitch, 10 minutes + appendix A1–A16</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0x01010031DAE19BDA24DF479223A523DC1EAC22</vt:lpwstr>
  </property>
  <property fmtid="{D5CDD505-2E9C-101B-9397-08002B2CF9AE}" pid="3" name="MSIP_Label_a043ec3a-92eb-434b-bfcd-dd5fcd578c71_Enabled">
    <vt:lpwstr>true</vt:lpwstr>
  </property>
  <property fmtid="{D5CDD505-2E9C-101B-9397-08002B2CF9AE}" pid="4" name="MSIP_Label_a043ec3a-92eb-434b-bfcd-dd5fcd578c71_SetDate">
    <vt:lpwstr>2026-07-07T02:14:00Z</vt:lpwstr>
  </property>
  <property fmtid="{D5CDD505-2E9C-101B-9397-08002B2CF9AE}" pid="5" name="MSIP_Label_a043ec3a-92eb-434b-bfcd-dd5fcd578c71_Method">
    <vt:lpwstr>Privileged</vt:lpwstr>
  </property>
  <property fmtid="{D5CDD505-2E9C-101B-9397-08002B2CF9AE}" pid="6" name="MSIP_Label_a043ec3a-92eb-434b-bfcd-dd5fcd578c71_Name">
    <vt:lpwstr>Group_Unrestricted</vt:lpwstr>
  </property>
  <property fmtid="{D5CDD505-2E9C-101B-9397-08002B2CF9AE}" pid="7" name="MSIP_Label_a043ec3a-92eb-434b-bfcd-dd5fcd578c71_SiteId">
    <vt:lpwstr>82fac8d8-49c2-492d-9f67-7d9e5b66144e</vt:lpwstr>
  </property>
  <property fmtid="{D5CDD505-2E9C-101B-9397-08002B2CF9AE}" pid="8" name="MSIP_Label_a043ec3a-92eb-434b-bfcd-dd5fcd578c71_ActionId">
    <vt:lpwstr>18312b41-4cf1-42d6-90d8-012795db9c2e</vt:lpwstr>
  </property>
  <property fmtid="{D5CDD505-2E9C-101B-9397-08002B2CF9AE}" pid="9" name="MSIP_Label_a043ec3a-92eb-434b-bfcd-dd5fcd578c71_ContentBits">
    <vt:lpwstr>0</vt:lpwstr>
  </property>
  <property fmtid="{D5CDD505-2E9C-101B-9397-08002B2CF9AE}" pid="10" name="MSIP_Label_a043ec3a-92eb-434b-bfcd-dd5fcd578c71_Tag">
    <vt:lpwstr>10, 0, 1, 2</vt:lpwstr>
  </property>
  <property fmtid="{D5CDD505-2E9C-101B-9397-08002B2CF9AE}" pid="11" name="MediaServiceImageTags">
    <vt:lpwstr/>
  </property>
</Properties>
</file>