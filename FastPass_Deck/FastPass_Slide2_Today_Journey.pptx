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handoutMasterIdLst>
    <p:handoutMasterId r:id="rId31"/>
  </p:handoutMasterIdLst>
  <p:sldIdLst>
    <p:sldId id="60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057655-18B3-2CF7-3345-F40D95C5FCED}" name="Tan Yingyi" initials="YT" userId="S::yingyi@stengg.com::f7bc8c44-56ed-4e68-91d9-1c995133b8e0" providerId="AD"/>
  <p188:author id="{59770F96-C082-2080-39E3-85FEC9A9E93E}" name="Zhang Qinyuan" initials="QZ" userId="S::qinyuan.zhang@stengg.com::377aa130-2eff-480e-939a-bc644c7da80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C4D0"/>
    <a:srgbClr val="0000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6333F-C34E-EBD9-E3DB-E1E784382542}" v="32" dt="2026-10-18T02:53:27.293"/>
    <p1510:client id="{AE008423-E7AD-4F63-9C06-E70B1B2A5C09}" v="181" dt="2026-10-16T08:38:10.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86199" autoAdjust="0"/>
  </p:normalViewPr>
  <p:slideViewPr>
    <p:cSldViewPr snapToGrid="0">
      <p:cViewPr varScale="1">
        <p:scale>
          <a:sx n="95" d="100"/>
          <a:sy n="95" d="100"/>
        </p:scale>
        <p:origin x="1200"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0"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handoutMaster" Target="handoutMasters/handout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microsoft.com/office/2015/10/relationships/revisionInfo" Target="revisionInfo.xml"/><Relationship Id="rId3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59EDD3-291C-45FC-C893-EF7FCF019A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F6EA241D-EAE3-60C0-E6C5-42EB154A94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13935D-AD2E-4E45-9F10-EE2611B3B8D1}" type="datetimeFigureOut">
              <a:rPr lang="en-SG" smtClean="0"/>
              <a:t>18/10/2026</a:t>
            </a:fld>
            <a:endParaRPr lang="en-SG"/>
          </a:p>
        </p:txBody>
      </p:sp>
      <p:sp>
        <p:nvSpPr>
          <p:cNvPr id="4" name="Footer Placeholder 3">
            <a:extLst>
              <a:ext uri="{FF2B5EF4-FFF2-40B4-BE49-F238E27FC236}">
                <a16:creationId xmlns:a16="http://schemas.microsoft.com/office/drawing/2014/main" id="{41C560BA-040E-B009-AF38-ED3324EDB3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267B00-12F8-8763-FB64-518FB91AEE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FBD81B-A0DF-40C2-A45D-AEB8D2153280}" type="slidenum">
              <a:rPr lang="en-SG" smtClean="0"/>
              <a:t>‹#›</a:t>
            </a:fld>
            <a:endParaRPr lang="en-SG"/>
          </a:p>
        </p:txBody>
      </p:sp>
    </p:spTree>
    <p:extLst>
      <p:ext uri="{BB962C8B-B14F-4D97-AF65-F5344CB8AC3E}">
        <p14:creationId xmlns:p14="http://schemas.microsoft.com/office/powerpoint/2010/main" val="3631801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B7C30B-32FA-4F85-87F2-0EDBBAA5BFD5}" type="datetimeFigureOut">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AD9013-D3CF-4749-A6CE-301E3BD661CF}" type="slidenum">
              <a:t>‹#›</a:t>
            </a:fld>
            <a:endParaRPr lang="en-US"/>
          </a:p>
        </p:txBody>
      </p:sp>
    </p:spTree>
    <p:extLst>
      <p:ext uri="{BB962C8B-B14F-4D97-AF65-F5344CB8AC3E}">
        <p14:creationId xmlns:p14="http://schemas.microsoft.com/office/powerpoint/2010/main" val="303504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[0:15–0:55] Think about your last flight. Passport at check-in. Again at immigration. Again at security. Again at the gate. Four checks, four stops, four queues, and staff at every one of them.</a:t>
            </a:r>
          </a:p>
          <a:p>
            <a:r>
              <a:t>Follow the amber line: every stop is a queue, a document check and a desk to staff. The pressure keeps growing: air travel demand doubles by 2040, and half of airports plan to break their data silos by 2027. Airports must move more people with the terminals and staff they already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69637" y="373412"/>
            <a:ext cx="3077240" cy="924165"/>
          </a:xfrm>
          <a:prstGeom prst="rect">
            <a:avLst/>
          </a:prstGeom>
        </p:spPr>
      </p:pic>
      <p:sp>
        <p:nvSpPr>
          <p:cNvPr id="4" name="Title 1"/>
          <p:cNvSpPr>
            <a:spLocks noGrp="1"/>
          </p:cNvSpPr>
          <p:nvPr>
            <p:ph type="ctrTitle" hasCustomPrompt="1"/>
          </p:nvPr>
        </p:nvSpPr>
        <p:spPr>
          <a:xfrm>
            <a:off x="619759" y="2666273"/>
            <a:ext cx="9482183" cy="1354217"/>
          </a:xfrm>
        </p:spPr>
        <p:txBody>
          <a:bodyPr wrap="square" anchor="t" anchorCtr="0">
            <a:spAutoFit/>
          </a:bodyPr>
          <a:lstStyle>
            <a:lvl1pPr algn="l">
              <a:lnSpc>
                <a:spcPct val="100000"/>
              </a:lnSpc>
              <a:defRPr sz="4000" baseline="0">
                <a:solidFill>
                  <a:schemeClr val="bg1"/>
                </a:solidFill>
              </a:defRPr>
            </a:lvl1pPr>
          </a:lstStyle>
          <a:p>
            <a:r>
              <a:rPr lang="en-US"/>
              <a:t>This is over slide option 1, </a:t>
            </a:r>
            <a:br>
              <a:rPr lang="en-US"/>
            </a:br>
            <a:r>
              <a:rPr lang="en-US"/>
              <a:t>title font is Arial Black in 30pt </a:t>
            </a:r>
          </a:p>
        </p:txBody>
      </p:sp>
      <p:sp>
        <p:nvSpPr>
          <p:cNvPr id="5" name="Subtitle 2"/>
          <p:cNvSpPr>
            <a:spLocks noGrp="1"/>
          </p:cNvSpPr>
          <p:nvPr>
            <p:ph type="subTitle" idx="1" hasCustomPrompt="1"/>
          </p:nvPr>
        </p:nvSpPr>
        <p:spPr>
          <a:xfrm>
            <a:off x="619760" y="4067747"/>
            <a:ext cx="9699897" cy="461665"/>
          </a:xfrm>
        </p:spPr>
        <p:txBody>
          <a:bodyPr wrap="square">
            <a:spAutoFit/>
          </a:bodyPr>
          <a:lstStyle>
            <a:lvl1pPr marL="0" indent="0" algn="l">
              <a:lnSpc>
                <a:spcPct val="100000"/>
              </a:lnSpc>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subtitle, date or presenter’s name, use font Arial in 18pt</a:t>
            </a:r>
          </a:p>
        </p:txBody>
      </p:sp>
      <p:sp>
        <p:nvSpPr>
          <p:cNvPr id="14" name="Text Placeholder 13"/>
          <p:cNvSpPr>
            <a:spLocks noGrp="1"/>
          </p:cNvSpPr>
          <p:nvPr>
            <p:ph type="body" sz="quarter" idx="10" hasCustomPrompt="1"/>
          </p:nvPr>
        </p:nvSpPr>
        <p:spPr>
          <a:xfrm>
            <a:off x="619760" y="6248400"/>
            <a:ext cx="7339875" cy="276935"/>
          </a:xfrm>
        </p:spPr>
        <p:txBody>
          <a:bodyPr wrap="square">
            <a:spAutoFit/>
          </a:bodyPr>
          <a:lstStyle>
            <a:lvl1pPr marL="0" indent="0">
              <a:buNone/>
              <a:defRPr sz="1333">
                <a:solidFill>
                  <a:schemeClr val="bg1"/>
                </a:solidFill>
              </a:defRPr>
            </a:lvl1pPr>
          </a:lstStyle>
          <a:p>
            <a:pPr lvl="0"/>
            <a:r>
              <a:rPr lang="en-US"/>
              <a:t>Remember to classify your document – use font Arial in 10pt </a:t>
            </a:r>
          </a:p>
        </p:txBody>
      </p:sp>
    </p:spTree>
    <p:extLst>
      <p:ext uri="{BB962C8B-B14F-4D97-AF65-F5344CB8AC3E}">
        <p14:creationId xmlns:p14="http://schemas.microsoft.com/office/powerpoint/2010/main" val="3227731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6.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notesSlide" Target="../notesSlides/notesSlide4.xml"/></Relationships>
</file>

<file path=ppt/slides/slide28.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36">
            <a:extLst>
              <a:ext uri="{FF2B5EF4-FFF2-40B4-BE49-F238E27FC236}">
                <a16:creationId xmlns:a16="http://schemas.microsoft.com/office/drawing/2014/main" id="{FE65ED44-8DB6-2EDB-4B82-1C229A168578}"/>
              </a:ext>
            </a:extLst>
          </p:cNvPr>
          <p:cNvSpPr/>
          <p:nvPr/>
        </p:nvSpPr>
        <p:spPr>
          <a:xfrm>
            <a:off x="-1498" y="0"/>
            <a:ext cx="12192001" cy="6858000"/>
          </a:xfrm>
          <a:prstGeom prst="rect">
            <a:avLst/>
          </a:prstGeom>
          <a:gradFill flip="none" rotWithShape="1">
            <a:gsLst>
              <a:gs pos="10000">
                <a:srgbClr val="6930C3">
                  <a:alpha val="30000"/>
                </a:srgbClr>
              </a:gs>
              <a:gs pos="25000">
                <a:srgbClr val="48BFE3">
                  <a:alpha val="30000"/>
                </a:srgbClr>
              </a:gs>
              <a:gs pos="40000">
                <a:srgbClr val="80FFDB">
                  <a:alpha val="30000"/>
                </a:srgbClr>
              </a:gs>
              <a:gs pos="80000">
                <a:schemeClr val="bg1">
                  <a:alpha val="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2400">
              <a:latin typeface="+mj-lt"/>
            </a:endParaRPr>
          </a:p>
        </p:txBody>
      </p:sp>
      <p:pic>
        <p:nvPicPr>
          <p:cNvPr id="4" name="Picture 2" descr="A white background with curves&#10;&#10;AI-generated content may be incorrect.">
            <a:extLst>
              <a:ext uri="{FF2B5EF4-FFF2-40B4-BE49-F238E27FC236}">
                <a16:creationId xmlns:a16="http://schemas.microsoft.com/office/drawing/2014/main" id="{470E9D31-D6F7-78B8-9431-3883A953BBF5}"/>
              </a:ext>
            </a:extLst>
          </p:cNvPr>
          <p:cNvPicPr>
            <a:picLocks noChangeAspect="1"/>
          </p:cNvPicPr>
          <p:nvPr/>
        </p:nvPicPr>
        <p:blipFill>
          <a:blip r:embed="rId2" cstate="print">
            <a:alphaModFix amt="55000"/>
            <a:extLst>
              <a:ext uri="{28A0092B-C50C-407E-A947-70E740481C1C}">
                <a14:useLocalDpi xmlns:a14="http://schemas.microsoft.com/office/drawing/2010/main" val="0"/>
              </a:ext>
            </a:extLst>
          </a:blip>
          <a:stretch>
            <a:fillRect/>
          </a:stretch>
        </p:blipFill>
        <p:spPr>
          <a:xfrm>
            <a:off x="-20191" y="-5645"/>
            <a:ext cx="12192001" cy="6863645"/>
          </a:xfrm>
          <a:prstGeom prst="rect">
            <a:avLst/>
          </a:prstGeom>
        </p:spPr>
      </p:pic>
      <p:grpSp>
        <p:nvGrpSpPr>
          <p:cNvPr id="5" name="Group 4">
            <a:extLst>
              <a:ext uri="{FF2B5EF4-FFF2-40B4-BE49-F238E27FC236}">
                <a16:creationId xmlns:a16="http://schemas.microsoft.com/office/drawing/2014/main" id="{C8DDC2E7-0D46-BEDA-B896-5B1FCC79010B}"/>
              </a:ext>
            </a:extLst>
          </p:cNvPr>
          <p:cNvGrpSpPr/>
          <p:nvPr/>
        </p:nvGrpSpPr>
        <p:grpSpPr>
          <a:xfrm>
            <a:off x="-2" y="0"/>
            <a:ext cx="11896603" cy="1600200"/>
            <a:chOff x="-1" y="0"/>
            <a:chExt cx="8922452" cy="1200150"/>
          </a:xfrm>
        </p:grpSpPr>
        <p:pic>
          <p:nvPicPr>
            <p:cNvPr id="6" name="Picture 5">
              <a:extLst>
                <a:ext uri="{FF2B5EF4-FFF2-40B4-BE49-F238E27FC236}">
                  <a16:creationId xmlns:a16="http://schemas.microsoft.com/office/drawing/2014/main" id="{54EC15D4-BE5A-757F-6B02-21351CCBF4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0240" y="155813"/>
              <a:ext cx="1822211" cy="547251"/>
            </a:xfrm>
            <a:prstGeom prst="rect">
              <a:avLst/>
            </a:prstGeom>
          </p:spPr>
        </p:pic>
        <p:sp>
          <p:nvSpPr>
            <p:cNvPr id="7" name="Rectangle 6">
              <a:extLst>
                <a:ext uri="{FF2B5EF4-FFF2-40B4-BE49-F238E27FC236}">
                  <a16:creationId xmlns:a16="http://schemas.microsoft.com/office/drawing/2014/main" id="{79BB7842-812C-2F3E-B647-1A88F1D39998}"/>
                </a:ext>
              </a:extLst>
            </p:cNvPr>
            <p:cNvSpPr/>
            <p:nvPr userDrawn="1"/>
          </p:nvSpPr>
          <p:spPr>
            <a:xfrm flipV="1">
              <a:off x="-1" y="0"/>
              <a:ext cx="102870" cy="1200150"/>
            </a:xfrm>
            <a:prstGeom prst="rect">
              <a:avLst/>
            </a:prstGeom>
            <a:gradFill>
              <a:gsLst>
                <a:gs pos="100000">
                  <a:srgbClr val="E30613"/>
                </a:gs>
                <a:gs pos="0">
                  <a:srgbClr val="EC4750">
                    <a:alpha val="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1351">
                <a:latin typeface="+mj-lt"/>
              </a:endParaRPr>
            </a:p>
          </p:txBody>
        </p:sp>
      </p:grpSp>
      <p:sp>
        <p:nvSpPr>
          <p:cNvPr id="8" name="Slide Number Placeholder 4">
            <a:extLst>
              <a:ext uri="{FF2B5EF4-FFF2-40B4-BE49-F238E27FC236}">
                <a16:creationId xmlns:a16="http://schemas.microsoft.com/office/drawing/2014/main" id="{D71C6F89-DFED-26E4-3ABC-C9625EF18DBF}"/>
              </a:ext>
            </a:extLst>
          </p:cNvPr>
          <p:cNvSpPr txBox="1">
            <a:spLocks/>
          </p:cNvSpPr>
          <p:nvPr/>
        </p:nvSpPr>
        <p:spPr>
          <a:xfrm>
            <a:off x="502161" y="6333075"/>
            <a:ext cx="970039" cy="273844"/>
          </a:xfrm>
          <a:prstGeom prst="rect">
            <a:avLst/>
          </a:prstGeom>
        </p:spPr>
        <p:txBody>
          <a:bodyPr/>
          <a:lstStyle>
            <a:defPPr>
              <a:defRPr lang="en-US"/>
            </a:defPPr>
            <a:lvl1pPr marL="0" algn="l" defTabSz="685800" rtl="0" eaLnBrk="1" latinLnBrk="0" hangingPunct="1">
              <a:defRPr sz="1350" kern="1200">
                <a:solidFill>
                  <a:srgbClr val="EC4750"/>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FC766537-94F2-A24E-B020-2BCDC9CD5735}" type="slidenum">
              <a:rPr lang="en-US" sz="1200">
                <a:latin typeface="+mj-lt"/>
              </a:rPr>
              <a:pPr/>
              <a:t>3</a:t>
            </a:fld>
            <a:r>
              <a:rPr lang="en-US" sz="1200">
                <a:latin typeface="+mj-lt"/>
              </a:rPr>
              <a:t>   | </a:t>
            </a:r>
          </a:p>
        </p:txBody>
      </p:sp>
      <p:sp>
        <p:nvSpPr>
          <p:cNvPr id="9" name="Title 4">
            <a:extLst>
              <a:ext uri="{FF2B5EF4-FFF2-40B4-BE49-F238E27FC236}">
                <a16:creationId xmlns:a16="http://schemas.microsoft.com/office/drawing/2014/main" id="{08F212A0-0828-8963-EA3E-E0EDF089EC8C}"/>
              </a:ext>
            </a:extLst>
          </p:cNvPr>
          <p:cNvSpPr txBox="1">
            <a:spLocks/>
          </p:cNvSpPr>
          <p:nvPr/>
        </p:nvSpPr>
        <p:spPr>
          <a:xfrm>
            <a:off x="295399" y="877944"/>
            <a:ext cx="9386789" cy="1019839"/>
          </a:xfrm>
          <a:prstGeom prst="rect">
            <a:avLst/>
          </a:prstGeom>
        </p:spPr>
        <p:txBody>
          <a:bodyPr vert="horz" lIns="121920" tIns="60960" rIns="121920" bIns="60960" rtlCol="0" anchor="t" anchorCtr="0">
            <a:noAutofit/>
          </a:bodyPr>
          <a:lstStyle>
            <a:defPPr>
              <a:defRPr lang="en-US"/>
            </a:defPPr>
            <a:lvl1pPr marL="0" algn="l" defTabSz="685800" rtl="0" eaLnBrk="1" latinLnBrk="0" hangingPunct="1">
              <a:lnSpc>
                <a:spcPct val="100000"/>
              </a:lnSpc>
              <a:spcBef>
                <a:spcPct val="0"/>
              </a:spcBef>
              <a:buNone/>
              <a:defRPr sz="2000" kern="1200" baseline="0">
                <a:solidFill>
                  <a:srgbClr val="404040"/>
                </a:solidFill>
                <a:latin typeface="Arial Black" panose="020B0A04020102020204" pitchFamily="34" charset="0"/>
                <a:ea typeface="+mj-ea"/>
                <a:cs typeface="+mj-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2650" b="1" dirty="0">
                <a:solidFill>
                  <a:schemeClr val="tx1"/>
                </a:solidFill>
                <a:latin typeface="+mj-lt"/>
              </a:rPr>
              <a:t>More passengers. More checks. Limited capacity.</a:t>
            </a:r>
          </a:p>
        </p:txBody>
      </p:sp>
      <p:sp>
        <p:nvSpPr>
          <p:cNvPr id="10" name="TextBox 25">
            <a:extLst>
              <a:ext uri="{FF2B5EF4-FFF2-40B4-BE49-F238E27FC236}">
                <a16:creationId xmlns:a16="http://schemas.microsoft.com/office/drawing/2014/main" id="{7C05267D-674B-7BAD-3DAC-A5B6FDCA3332}"/>
              </a:ext>
            </a:extLst>
          </p:cNvPr>
          <p:cNvSpPr txBox="1"/>
          <p:nvPr/>
        </p:nvSpPr>
        <p:spPr>
          <a:xfrm>
            <a:off x="343779" y="563652"/>
            <a:ext cx="5943600" cy="338554"/>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377" algn="l">
              <a:defRPr/>
            </a:pPr>
            <a:r>
              <a:rPr lang="en-US" sz="1600" dirty="0">
                <a:solidFill>
                  <a:srgbClr val="E30613"/>
                </a:solidFill>
                <a:latin typeface="+mj-lt"/>
              </a:rPr>
              <a:t>Market Needs</a:t>
            </a:r>
          </a:p>
        </p:txBody>
      </p:sp>
      <p:sp>
        <p:nvSpPr>
          <p:cNvPr id="11" name="Text 2">
            <a:extLst>
              <a:ext uri="{FF2B5EF4-FFF2-40B4-BE49-F238E27FC236}">
                <a16:creationId xmlns:a16="http://schemas.microsoft.com/office/drawing/2014/main" id="{BE58A662-E22B-C1CC-9FBC-E7CEEE803934}"/>
              </a:ext>
            </a:extLst>
          </p:cNvPr>
          <p:cNvSpPr/>
          <p:nvPr/>
        </p:nvSpPr>
        <p:spPr>
          <a:xfrm>
            <a:off x="398363" y="1399096"/>
            <a:ext cx="11368060" cy="33855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srgbClr val="4F5B6D"/>
                </a:solidFill>
                <a:effectLst/>
                <a:uLnTx/>
                <a:uFillTx/>
                <a:latin typeface="+mj-lt"/>
                <a:ea typeface="+mn-ea"/>
                <a:cs typeface="+mn-cs"/>
              </a:rPr>
              <a:t>Today, every departure stops four times, each with its own queue, its own document check and its own staff.</a:t>
            </a:r>
          </a:p>
        </p:txBody>
      </p:sp>
      <p:pic>
        <p:nvPicPr>
          <p:cNvPr id="12" name="Today: departure journey without FastPass" descr="Isometric airport: queues and staff at check-in, immigration, security screening and boarding gate">    </p:cNvPr>
          <p:cNvPicPr>
            <a:picLocks noChangeAspect="1"/>
          </p:cNvPicPr>
          <p:nvPr/>
        </p:nvPicPr>
        <p:blipFill>
          <a:blip r:embed="rId4"/>
          <a:stretch>
            <a:fillRect/>
          </a:stretch>
        </p:blipFill>
        <p:spPr>
          <a:xfrm>
            <a:off x="448193" y="1777594"/>
            <a:ext cx="11104336" cy="3431286"/>
          </a:xfrm>
          <a:prstGeom prst="rect">
            <a:avLst/>
          </a:prstGeom>
        </p:spPr>
      </p:pic>
      <p:sp>
        <p:nvSpPr>
          <p:cNvPr id="13" name="Shape 0"/>
          <p:cNvSpPr/>
          <p:nvPr/>
        </p:nvSpPr>
        <p:spPr>
          <a:xfrm>
            <a:off x="2242886" y="3755532"/>
            <a:ext cx="0" cy="192024"/>
          </a:xfrm>
          <a:prstGeom prst="line">
            <a:avLst/>
          </a:prstGeom>
          <a:noFill/>
          <a:ln w="15875">
            <a:solidFill>
              <a:srgbClr val="D97706"/>
            </a:solidFill>
            <a:prstDash val="solid"/>
          </a:ln>
        </p:spPr>
      </p:sp>
      <p:sp>
        <p:nvSpPr>
          <p:cNvPr id="14" name="Shape 1"/>
          <p:cNvSpPr/>
          <p:nvPr/>
        </p:nvSpPr>
        <p:spPr>
          <a:xfrm>
            <a:off x="2096582" y="3472068"/>
            <a:ext cx="292608" cy="292608"/>
          </a:xfrm>
          <a:prstGeom prst="ellipse">
            <a:avLst/>
          </a:prstGeom>
          <a:solidFill>
            <a:srgbClr val="D97706"/>
          </a:solidFill>
          <a:ln w="19050">
            <a:solidFill>
              <a:srgbClr val="FFFFFF"/>
            </a:solidFill>
            <a:prstDash val="solid"/>
          </a:ln>
          <a:effectLst>
            <a:outerShdw sx="100000" sy="100000" kx="0" ky="0" algn="bl" rotWithShape="0" blurRad="177800" dist="38100" dir="5400000">
              <a:srgbClr val="0A1628">
                <a:alpha val="12000"/>
              </a:srgbClr>
            </a:outerShdw>
          </a:effectLst>
        </p:spPr>
      </p:sp>
      <p:sp>
        <p:nvSpPr>
          <p:cNvPr id="15" name="Text 2"/>
          <p:cNvSpPr txBox="1"/>
          <p:nvPr/>
        </p:nvSpPr>
        <p:spPr>
          <a:xfrm>
            <a:off x="2096582" y="34720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6" name="Shape 3"/>
          <p:cNvSpPr/>
          <p:nvPr/>
        </p:nvSpPr>
        <p:spPr>
          <a:xfrm>
            <a:off x="3932469" y="3117052"/>
            <a:ext cx="0" cy="192024"/>
          </a:xfrm>
          <a:prstGeom prst="line">
            <a:avLst/>
          </a:prstGeom>
          <a:noFill/>
          <a:ln w="15875">
            <a:solidFill>
              <a:srgbClr val="D97706"/>
            </a:solidFill>
            <a:prstDash val="solid"/>
          </a:ln>
        </p:spPr>
      </p:sp>
      <p:sp>
        <p:nvSpPr>
          <p:cNvPr id="17" name="Shape 4"/>
          <p:cNvSpPr/>
          <p:nvPr/>
        </p:nvSpPr>
        <p:spPr>
          <a:xfrm>
            <a:off x="3786165" y="2833588"/>
            <a:ext cx="292608" cy="292608"/>
          </a:xfrm>
          <a:prstGeom prst="ellipse">
            <a:avLst/>
          </a:prstGeom>
          <a:solidFill>
            <a:srgbClr val="D97706"/>
          </a:solidFill>
          <a:ln w="19050">
            <a:solidFill>
              <a:srgbClr val="FFFFFF"/>
            </a:solidFill>
            <a:prstDash val="solid"/>
          </a:ln>
          <a:effectLst>
            <a:outerShdw sx="100000" sy="100000" kx="0" ky="0" algn="bl" rotWithShape="0" blurRad="177800" dist="38100" dir="5400000">
              <a:srgbClr val="0A1628">
                <a:alpha val="12000"/>
              </a:srgbClr>
            </a:outerShdw>
          </a:effectLst>
        </p:spPr>
      </p:sp>
      <p:sp>
        <p:nvSpPr>
          <p:cNvPr id="18" name="Text 5"/>
          <p:cNvSpPr txBox="1"/>
          <p:nvPr/>
        </p:nvSpPr>
        <p:spPr>
          <a:xfrm>
            <a:off x="3786165" y="283358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9" name="Shape 6"/>
          <p:cNvSpPr/>
          <p:nvPr/>
        </p:nvSpPr>
        <p:spPr>
          <a:xfrm>
            <a:off x="6555014" y="3039740"/>
            <a:ext cx="0" cy="192024"/>
          </a:xfrm>
          <a:prstGeom prst="line">
            <a:avLst/>
          </a:prstGeom>
          <a:noFill/>
          <a:ln w="15875">
            <a:solidFill>
              <a:srgbClr val="D97706"/>
            </a:solidFill>
            <a:prstDash val="solid"/>
          </a:ln>
        </p:spPr>
      </p:sp>
      <p:sp>
        <p:nvSpPr>
          <p:cNvPr id="20" name="Shape 7"/>
          <p:cNvSpPr/>
          <p:nvPr/>
        </p:nvSpPr>
        <p:spPr>
          <a:xfrm>
            <a:off x="6408710" y="2756276"/>
            <a:ext cx="292608" cy="292608"/>
          </a:xfrm>
          <a:prstGeom prst="ellipse">
            <a:avLst/>
          </a:prstGeom>
          <a:solidFill>
            <a:srgbClr val="D97706"/>
          </a:solidFill>
          <a:ln w="19050">
            <a:solidFill>
              <a:srgbClr val="FFFFFF"/>
            </a:solidFill>
            <a:prstDash val="solid"/>
          </a:ln>
          <a:effectLst>
            <a:outerShdw sx="100000" sy="100000" kx="0" ky="0" algn="bl" rotWithShape="0" blurRad="177800" dist="38100" dir="5400000">
              <a:srgbClr val="0A1628">
                <a:alpha val="12000"/>
              </a:srgbClr>
            </a:outerShdw>
          </a:effectLst>
        </p:spPr>
      </p:sp>
      <p:sp>
        <p:nvSpPr>
          <p:cNvPr id="21" name="Text 8"/>
          <p:cNvSpPr txBox="1"/>
          <p:nvPr/>
        </p:nvSpPr>
        <p:spPr>
          <a:xfrm>
            <a:off x="6408710" y="27562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2" name="Shape 9"/>
          <p:cNvSpPr/>
          <p:nvPr/>
        </p:nvSpPr>
        <p:spPr>
          <a:xfrm>
            <a:off x="8891763" y="4164681"/>
            <a:ext cx="0" cy="192024"/>
          </a:xfrm>
          <a:prstGeom prst="line">
            <a:avLst/>
          </a:prstGeom>
          <a:noFill/>
          <a:ln w="15875">
            <a:solidFill>
              <a:srgbClr val="D97706"/>
            </a:solidFill>
            <a:prstDash val="solid"/>
          </a:ln>
        </p:spPr>
      </p:sp>
      <p:sp>
        <p:nvSpPr>
          <p:cNvPr id="23" name="Shape 10"/>
          <p:cNvSpPr/>
          <p:nvPr/>
        </p:nvSpPr>
        <p:spPr>
          <a:xfrm>
            <a:off x="8745459" y="3881217"/>
            <a:ext cx="292608" cy="292608"/>
          </a:xfrm>
          <a:prstGeom prst="ellipse">
            <a:avLst/>
          </a:prstGeom>
          <a:solidFill>
            <a:srgbClr val="D97706"/>
          </a:solidFill>
          <a:ln w="19050">
            <a:solidFill>
              <a:srgbClr val="FFFFFF"/>
            </a:solidFill>
            <a:prstDash val="solid"/>
          </a:ln>
          <a:effectLst>
            <a:outerShdw sx="100000" sy="100000" kx="0" ky="0" algn="bl" rotWithShape="0" blurRad="177800" dist="38100" dir="5400000">
              <a:srgbClr val="0A1628">
                <a:alpha val="12000"/>
              </a:srgbClr>
            </a:outerShdw>
          </a:effectLst>
        </p:spPr>
      </p:sp>
      <p:sp>
        <p:nvSpPr>
          <p:cNvPr id="24" name="Text 11"/>
          <p:cNvSpPr txBox="1"/>
          <p:nvPr/>
        </p:nvSpPr>
        <p:spPr>
          <a:xfrm>
            <a:off x="8745459" y="3881217"/>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5" name="Shape 12"/>
          <p:cNvSpPr/>
          <p:nvPr/>
        </p:nvSpPr>
        <p:spPr>
          <a:xfrm>
            <a:off x="548640" y="1828800"/>
            <a:ext cx="1850362" cy="786384"/>
          </a:xfrm>
          <a:prstGeom prst="roundRect">
            <a:avLst>
              <a:gd name="adj" fmla="val 11628"/>
            </a:avLst>
          </a:prstGeom>
          <a:solidFill>
            <a:srgbClr val="FFFFFF"/>
          </a:solidFill>
          <a:ln w="9525">
            <a:solidFill>
              <a:srgbClr val="F2D3A8"/>
            </a:solidFill>
            <a:prstDash val="solid"/>
          </a:ln>
          <a:effectLst>
            <a:outerShdw sx="100000" sy="100000" kx="0" ky="0" algn="bl" rotWithShape="0" blurRad="177800" dist="38100" dir="5400000">
              <a:srgbClr val="0A1628">
                <a:alpha val="12000"/>
              </a:srgbClr>
            </a:outerShdw>
          </a:effectLst>
        </p:spPr>
      </p:sp>
      <p:sp>
        <p:nvSpPr>
          <p:cNvPr id="26" name="Shape 13"/>
          <p:cNvSpPr/>
          <p:nvPr/>
        </p:nvSpPr>
        <p:spPr>
          <a:xfrm>
            <a:off x="658368" y="1911096"/>
            <a:ext cx="237744" cy="237744"/>
          </a:xfrm>
          <a:prstGeom prst="ellipse">
            <a:avLst/>
          </a:prstGeom>
          <a:solidFill>
            <a:srgbClr val="D97706"/>
          </a:solidFill>
          <a:ln/>
        </p:spPr>
      </p:sp>
      <p:sp>
        <p:nvSpPr>
          <p:cNvPr id="27" name="Text 14"/>
          <p:cNvSpPr txBox="1"/>
          <p:nvPr/>
        </p:nvSpPr>
        <p:spPr>
          <a:xfrm>
            <a:off x="658368" y="191109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28" name="Text 15"/>
          <p:cNvSpPr txBox="1"/>
          <p:nvPr/>
        </p:nvSpPr>
        <p:spPr>
          <a:xfrm>
            <a:off x="987552" y="1874520"/>
            <a:ext cx="1411450" cy="310896"/>
          </a:xfrm>
          <a:prstGeom prst="rect">
            <a:avLst/>
          </a:prstGeom>
          <a:noFill/>
          <a:ln/>
        </p:spPr>
        <p:txBody>
          <a:bodyPr wrap="square" lIns="0" tIns="0" rIns="0" bIns="0" rtlCol="0" anchor="ctr"/>
          <a:lstStyle/>
          <a:p>
            <a:pPr indent="0" marL="0">
              <a:buNone/>
            </a:pPr>
            <a:r>
              <a:rPr lang="en-US" sz="1300" b="1" dirty="0">
                <a:solidFill>
                  <a:srgbClr val="0B1526"/>
                </a:solidFill>
              </a:rPr>
              <a:t>Check-in</a:t>
            </a:r>
            <a:endParaRPr lang="en-US" sz="1300" dirty="0"/>
          </a:p>
        </p:txBody>
      </p:sp>
      <p:sp>
        <p:nvSpPr>
          <p:cNvPr id="29" name="Text 16"/>
          <p:cNvSpPr txBox="1"/>
          <p:nvPr/>
        </p:nvSpPr>
        <p:spPr>
          <a:xfrm>
            <a:off x="658368" y="2176272"/>
            <a:ext cx="1740634" cy="201168"/>
          </a:xfrm>
          <a:prstGeom prst="rect">
            <a:avLst/>
          </a:prstGeom>
          <a:noFill/>
          <a:ln/>
        </p:spPr>
        <p:txBody>
          <a:bodyPr wrap="square" lIns="0" tIns="0" rIns="0" bIns="0" rtlCol="0" anchor="ctr"/>
          <a:lstStyle/>
          <a:p>
            <a:pPr indent="0" marL="0">
              <a:buNone/>
            </a:pPr>
            <a:r>
              <a:rPr lang="en-US" sz="1000" dirty="0">
                <a:solidFill>
                  <a:srgbClr val="4A5870"/>
                </a:solidFill>
              </a:rPr>
              <a:t>Kiosks and staffed counters</a:t>
            </a:r>
            <a:endParaRPr lang="en-US" sz="1000" dirty="0"/>
          </a:p>
        </p:txBody>
      </p:sp>
      <p:pic>
        <p:nvPicPr>
          <p:cNvPr id="30" name="Image 1" descr="preencoded.png">    </p:cNvPr>
          <p:cNvPicPr>
            <a:picLocks noChangeAspect="1"/>
          </p:cNvPicPr>
          <p:nvPr/>
        </p:nvPicPr>
        <p:blipFill>
          <a:blip r:embed="rId5"/>
          <a:stretch>
            <a:fillRect/>
          </a:stretch>
        </p:blipFill>
        <p:spPr>
          <a:xfrm>
            <a:off x="658368" y="2395728"/>
            <a:ext cx="155448" cy="155448"/>
          </a:xfrm>
          <a:prstGeom prst="rect">
            <a:avLst/>
          </a:prstGeom>
        </p:spPr>
      </p:pic>
      <p:sp>
        <p:nvSpPr>
          <p:cNvPr id="31" name="Text 17"/>
          <p:cNvSpPr txBox="1"/>
          <p:nvPr/>
        </p:nvSpPr>
        <p:spPr>
          <a:xfrm>
            <a:off x="859536" y="2377440"/>
            <a:ext cx="419735" cy="192024"/>
          </a:xfrm>
          <a:prstGeom prst="rect">
            <a:avLst/>
          </a:prstGeom>
          <a:noFill/>
          <a:ln/>
        </p:spPr>
        <p:txBody>
          <a:bodyPr wrap="square" lIns="0" tIns="0" rIns="0" bIns="0" rtlCol="0" anchor="ctr"/>
          <a:lstStyle/>
          <a:p>
            <a:pPr indent="0" marL="0">
              <a:buNone/>
            </a:pPr>
            <a:r>
              <a:rPr lang="en-US" sz="1000" b="1" dirty="0">
                <a:solidFill>
                  <a:srgbClr val="0B2545"/>
                </a:solidFill>
              </a:rPr>
              <a:t>5 staff</a:t>
            </a:r>
            <a:endParaRPr lang="en-US" sz="1000" dirty="0"/>
          </a:p>
        </p:txBody>
      </p:sp>
      <p:pic>
        <p:nvPicPr>
          <p:cNvPr id="32" name="Image 2" descr="preencoded.png">    </p:cNvPr>
          <p:cNvPicPr>
            <a:picLocks noChangeAspect="1"/>
          </p:cNvPicPr>
          <p:nvPr/>
        </p:nvPicPr>
        <p:blipFill>
          <a:blip r:embed="rId6"/>
          <a:stretch>
            <a:fillRect/>
          </a:stretch>
        </p:blipFill>
        <p:spPr>
          <a:xfrm>
            <a:off x="1398143" y="2395728"/>
            <a:ext cx="155448" cy="155448"/>
          </a:xfrm>
          <a:prstGeom prst="rect">
            <a:avLst/>
          </a:prstGeom>
        </p:spPr>
      </p:pic>
      <p:sp>
        <p:nvSpPr>
          <p:cNvPr id="33" name="Text 18"/>
          <p:cNvSpPr txBox="1"/>
          <p:nvPr/>
        </p:nvSpPr>
        <p:spPr>
          <a:xfrm>
            <a:off x="1599311" y="2377440"/>
            <a:ext cx="548640" cy="192024"/>
          </a:xfrm>
          <a:prstGeom prst="rect">
            <a:avLst/>
          </a:prstGeom>
          <a:noFill/>
          <a:ln/>
        </p:spPr>
        <p:txBody>
          <a:bodyPr wrap="square" lIns="0" tIns="0" rIns="0" bIns="0" rtlCol="0" anchor="ctr"/>
          <a:lstStyle/>
          <a:p>
            <a:pPr indent="0" marL="0">
              <a:buNone/>
            </a:pPr>
            <a:r>
              <a:rPr lang="en-US" sz="1000" b="1" dirty="0">
                <a:solidFill>
                  <a:srgbClr val="D97706"/>
                </a:solidFill>
              </a:rPr>
              <a:t>Queue</a:t>
            </a:r>
            <a:endParaRPr lang="en-US" sz="1000" dirty="0"/>
          </a:p>
        </p:txBody>
      </p:sp>
      <p:sp>
        <p:nvSpPr>
          <p:cNvPr id="34" name="Shape 19"/>
          <p:cNvSpPr/>
          <p:nvPr/>
        </p:nvSpPr>
        <p:spPr>
          <a:xfrm>
            <a:off x="2581882" y="1828800"/>
            <a:ext cx="1691640" cy="786384"/>
          </a:xfrm>
          <a:prstGeom prst="roundRect">
            <a:avLst>
              <a:gd name="adj" fmla="val 11628"/>
            </a:avLst>
          </a:prstGeom>
          <a:solidFill>
            <a:srgbClr val="FFFFFF"/>
          </a:solidFill>
          <a:ln w="9525">
            <a:solidFill>
              <a:srgbClr val="F2D3A8"/>
            </a:solidFill>
            <a:prstDash val="solid"/>
          </a:ln>
          <a:effectLst>
            <a:outerShdw sx="100000" sy="100000" kx="0" ky="0" algn="bl" rotWithShape="0" blurRad="177800" dist="38100" dir="5400000">
              <a:srgbClr val="0A1628">
                <a:alpha val="12000"/>
              </a:srgbClr>
            </a:outerShdw>
          </a:effectLst>
        </p:spPr>
      </p:sp>
      <p:sp>
        <p:nvSpPr>
          <p:cNvPr id="35" name="Shape 20"/>
          <p:cNvSpPr/>
          <p:nvPr/>
        </p:nvSpPr>
        <p:spPr>
          <a:xfrm>
            <a:off x="2691610" y="1911096"/>
            <a:ext cx="237744" cy="237744"/>
          </a:xfrm>
          <a:prstGeom prst="ellipse">
            <a:avLst/>
          </a:prstGeom>
          <a:solidFill>
            <a:srgbClr val="D97706"/>
          </a:solidFill>
          <a:ln/>
        </p:spPr>
      </p:sp>
      <p:sp>
        <p:nvSpPr>
          <p:cNvPr id="36" name="Text 21"/>
          <p:cNvSpPr txBox="1"/>
          <p:nvPr/>
        </p:nvSpPr>
        <p:spPr>
          <a:xfrm>
            <a:off x="2691610" y="191109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37" name="Text 22"/>
          <p:cNvSpPr txBox="1"/>
          <p:nvPr/>
        </p:nvSpPr>
        <p:spPr>
          <a:xfrm>
            <a:off x="3020794" y="1874520"/>
            <a:ext cx="1252728" cy="310896"/>
          </a:xfrm>
          <a:prstGeom prst="rect">
            <a:avLst/>
          </a:prstGeom>
          <a:noFill/>
          <a:ln/>
        </p:spPr>
        <p:txBody>
          <a:bodyPr wrap="square" lIns="0" tIns="0" rIns="0" bIns="0" rtlCol="0" anchor="ctr"/>
          <a:lstStyle/>
          <a:p>
            <a:pPr indent="0" marL="0">
              <a:buNone/>
            </a:pPr>
            <a:r>
              <a:rPr lang="en-US" sz="1300" b="1" dirty="0">
                <a:solidFill>
                  <a:srgbClr val="0B1526"/>
                </a:solidFill>
              </a:rPr>
              <a:t>Immigration</a:t>
            </a:r>
            <a:endParaRPr lang="en-US" sz="1300" dirty="0"/>
          </a:p>
        </p:txBody>
      </p:sp>
      <p:sp>
        <p:nvSpPr>
          <p:cNvPr id="38" name="Text 23"/>
          <p:cNvSpPr txBox="1"/>
          <p:nvPr/>
        </p:nvSpPr>
        <p:spPr>
          <a:xfrm>
            <a:off x="2691610" y="2176272"/>
            <a:ext cx="1581912" cy="201168"/>
          </a:xfrm>
          <a:prstGeom prst="rect">
            <a:avLst/>
          </a:prstGeom>
          <a:noFill/>
          <a:ln/>
        </p:spPr>
        <p:txBody>
          <a:bodyPr wrap="square" lIns="0" tIns="0" rIns="0" bIns="0" rtlCol="0" anchor="ctr"/>
          <a:lstStyle/>
          <a:p>
            <a:pPr indent="0" marL="0">
              <a:buNone/>
            </a:pPr>
            <a:r>
              <a:rPr lang="en-US" sz="1000" dirty="0">
                <a:solidFill>
                  <a:srgbClr val="4A5870"/>
                </a:solidFill>
              </a:rPr>
              <a:t>Manual passport check</a:t>
            </a:r>
            <a:endParaRPr lang="en-US" sz="1000" dirty="0"/>
          </a:p>
        </p:txBody>
      </p:sp>
      <p:pic>
        <p:nvPicPr>
          <p:cNvPr id="39" name="Image 3" descr="preencoded.png">    </p:cNvPr>
          <p:cNvPicPr>
            <a:picLocks noChangeAspect="1"/>
          </p:cNvPicPr>
          <p:nvPr/>
        </p:nvPicPr>
        <p:blipFill>
          <a:blip r:embed="rId5"/>
          <a:stretch>
            <a:fillRect/>
          </a:stretch>
        </p:blipFill>
        <p:spPr>
          <a:xfrm>
            <a:off x="2691610" y="2395728"/>
            <a:ext cx="155448" cy="155448"/>
          </a:xfrm>
          <a:prstGeom prst="rect">
            <a:avLst/>
          </a:prstGeom>
        </p:spPr>
      </p:pic>
      <p:sp>
        <p:nvSpPr>
          <p:cNvPr id="40" name="Text 24"/>
          <p:cNvSpPr txBox="1"/>
          <p:nvPr/>
        </p:nvSpPr>
        <p:spPr>
          <a:xfrm>
            <a:off x="2892778" y="2377440"/>
            <a:ext cx="419735" cy="192024"/>
          </a:xfrm>
          <a:prstGeom prst="rect">
            <a:avLst/>
          </a:prstGeom>
          <a:noFill/>
          <a:ln/>
        </p:spPr>
        <p:txBody>
          <a:bodyPr wrap="square" lIns="0" tIns="0" rIns="0" bIns="0" rtlCol="0" anchor="ctr"/>
          <a:lstStyle/>
          <a:p>
            <a:pPr indent="0" marL="0">
              <a:buNone/>
            </a:pPr>
            <a:r>
              <a:rPr lang="en-US" sz="1000" b="1" dirty="0">
                <a:solidFill>
                  <a:srgbClr val="0B2545"/>
                </a:solidFill>
              </a:rPr>
              <a:t>4 staff</a:t>
            </a:r>
            <a:endParaRPr lang="en-US" sz="1000" dirty="0"/>
          </a:p>
        </p:txBody>
      </p:sp>
      <p:pic>
        <p:nvPicPr>
          <p:cNvPr id="41" name="Image 4" descr="preencoded.png">    </p:cNvPr>
          <p:cNvPicPr>
            <a:picLocks noChangeAspect="1"/>
          </p:cNvPicPr>
          <p:nvPr/>
        </p:nvPicPr>
        <p:blipFill>
          <a:blip r:embed="rId6"/>
          <a:stretch>
            <a:fillRect/>
          </a:stretch>
        </p:blipFill>
        <p:spPr>
          <a:xfrm>
            <a:off x="3431385" y="2395728"/>
            <a:ext cx="155448" cy="155448"/>
          </a:xfrm>
          <a:prstGeom prst="rect">
            <a:avLst/>
          </a:prstGeom>
        </p:spPr>
      </p:pic>
      <p:sp>
        <p:nvSpPr>
          <p:cNvPr id="42" name="Text 25"/>
          <p:cNvSpPr txBox="1"/>
          <p:nvPr/>
        </p:nvSpPr>
        <p:spPr>
          <a:xfrm>
            <a:off x="3632553" y="2377440"/>
            <a:ext cx="548640" cy="192024"/>
          </a:xfrm>
          <a:prstGeom prst="rect">
            <a:avLst/>
          </a:prstGeom>
          <a:noFill/>
          <a:ln/>
        </p:spPr>
        <p:txBody>
          <a:bodyPr wrap="square" lIns="0" tIns="0" rIns="0" bIns="0" rtlCol="0" anchor="ctr"/>
          <a:lstStyle/>
          <a:p>
            <a:pPr indent="0" marL="0">
              <a:buNone/>
            </a:pPr>
            <a:r>
              <a:rPr lang="en-US" sz="1000" b="1" dirty="0">
                <a:solidFill>
                  <a:srgbClr val="D97706"/>
                </a:solidFill>
              </a:rPr>
              <a:t>Queue</a:t>
            </a:r>
            <a:endParaRPr lang="en-US" sz="1000" dirty="0"/>
          </a:p>
        </p:txBody>
      </p:sp>
      <p:sp>
        <p:nvSpPr>
          <p:cNvPr id="43" name="Shape 26"/>
          <p:cNvSpPr/>
          <p:nvPr/>
        </p:nvSpPr>
        <p:spPr>
          <a:xfrm>
            <a:off x="7571872" y="1828800"/>
            <a:ext cx="2099139" cy="786384"/>
          </a:xfrm>
          <a:prstGeom prst="roundRect">
            <a:avLst>
              <a:gd name="adj" fmla="val 11628"/>
            </a:avLst>
          </a:prstGeom>
          <a:solidFill>
            <a:srgbClr val="FFFFFF"/>
          </a:solidFill>
          <a:ln w="9525">
            <a:solidFill>
              <a:srgbClr val="F2D3A8"/>
            </a:solidFill>
            <a:prstDash val="solid"/>
          </a:ln>
          <a:effectLst>
            <a:outerShdw sx="100000" sy="100000" kx="0" ky="0" algn="bl" rotWithShape="0" blurRad="177800" dist="38100" dir="5400000">
              <a:srgbClr val="0A1628">
                <a:alpha val="12000"/>
              </a:srgbClr>
            </a:outerShdw>
          </a:effectLst>
        </p:spPr>
      </p:sp>
      <p:sp>
        <p:nvSpPr>
          <p:cNvPr id="44" name="Shape 27"/>
          <p:cNvSpPr/>
          <p:nvPr/>
        </p:nvSpPr>
        <p:spPr>
          <a:xfrm>
            <a:off x="7681600" y="1911096"/>
            <a:ext cx="237744" cy="237744"/>
          </a:xfrm>
          <a:prstGeom prst="ellipse">
            <a:avLst/>
          </a:prstGeom>
          <a:solidFill>
            <a:srgbClr val="D97706"/>
          </a:solidFill>
          <a:ln/>
        </p:spPr>
      </p:sp>
      <p:sp>
        <p:nvSpPr>
          <p:cNvPr id="45" name="Text 28"/>
          <p:cNvSpPr txBox="1"/>
          <p:nvPr/>
        </p:nvSpPr>
        <p:spPr>
          <a:xfrm>
            <a:off x="7681600" y="191109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46" name="Text 29"/>
          <p:cNvSpPr txBox="1"/>
          <p:nvPr/>
        </p:nvSpPr>
        <p:spPr>
          <a:xfrm>
            <a:off x="8010784" y="1874520"/>
            <a:ext cx="1660227" cy="310896"/>
          </a:xfrm>
          <a:prstGeom prst="rect">
            <a:avLst/>
          </a:prstGeom>
          <a:noFill/>
          <a:ln/>
        </p:spPr>
        <p:txBody>
          <a:bodyPr wrap="square" lIns="0" tIns="0" rIns="0" bIns="0" rtlCol="0" anchor="ctr"/>
          <a:lstStyle/>
          <a:p>
            <a:pPr indent="0" marL="0">
              <a:buNone/>
            </a:pPr>
            <a:r>
              <a:rPr lang="en-US" sz="1300" b="1" dirty="0">
                <a:solidFill>
                  <a:srgbClr val="0B1526"/>
                </a:solidFill>
              </a:rPr>
              <a:t>Security screening</a:t>
            </a:r>
            <a:endParaRPr lang="en-US" sz="1300" dirty="0"/>
          </a:p>
        </p:txBody>
      </p:sp>
      <p:sp>
        <p:nvSpPr>
          <p:cNvPr id="47" name="Text 30"/>
          <p:cNvSpPr txBox="1"/>
          <p:nvPr/>
        </p:nvSpPr>
        <p:spPr>
          <a:xfrm>
            <a:off x="7681600" y="2176272"/>
            <a:ext cx="1989411" cy="201168"/>
          </a:xfrm>
          <a:prstGeom prst="rect">
            <a:avLst/>
          </a:prstGeom>
          <a:noFill/>
          <a:ln/>
        </p:spPr>
        <p:txBody>
          <a:bodyPr wrap="square" lIns="0" tIns="0" rIns="0" bIns="0" rtlCol="0" anchor="ctr"/>
          <a:lstStyle/>
          <a:p>
            <a:pPr indent="0" marL="0">
              <a:buNone/>
            </a:pPr>
            <a:r>
              <a:rPr lang="en-US" sz="1000" dirty="0">
                <a:solidFill>
                  <a:srgbClr val="4A5870"/>
                </a:solidFill>
              </a:rPr>
              <a:t>Two lanes: bags and body scan</a:t>
            </a:r>
            <a:endParaRPr lang="en-US" sz="1000" dirty="0"/>
          </a:p>
        </p:txBody>
      </p:sp>
      <p:pic>
        <p:nvPicPr>
          <p:cNvPr id="48" name="Image 5" descr="preencoded.png">    </p:cNvPr>
          <p:cNvPicPr>
            <a:picLocks noChangeAspect="1"/>
          </p:cNvPicPr>
          <p:nvPr/>
        </p:nvPicPr>
        <p:blipFill>
          <a:blip r:embed="rId5"/>
          <a:stretch>
            <a:fillRect/>
          </a:stretch>
        </p:blipFill>
        <p:spPr>
          <a:xfrm>
            <a:off x="7681600" y="2395728"/>
            <a:ext cx="155448" cy="155448"/>
          </a:xfrm>
          <a:prstGeom prst="rect">
            <a:avLst/>
          </a:prstGeom>
        </p:spPr>
      </p:pic>
      <p:sp>
        <p:nvSpPr>
          <p:cNvPr id="49" name="Text 31"/>
          <p:cNvSpPr txBox="1"/>
          <p:nvPr/>
        </p:nvSpPr>
        <p:spPr>
          <a:xfrm>
            <a:off x="7882768" y="2377440"/>
            <a:ext cx="419735" cy="192024"/>
          </a:xfrm>
          <a:prstGeom prst="rect">
            <a:avLst/>
          </a:prstGeom>
          <a:noFill/>
          <a:ln/>
        </p:spPr>
        <p:txBody>
          <a:bodyPr wrap="square" lIns="0" tIns="0" rIns="0" bIns="0" rtlCol="0" anchor="ctr"/>
          <a:lstStyle/>
          <a:p>
            <a:pPr indent="0" marL="0">
              <a:buNone/>
            </a:pPr>
            <a:r>
              <a:rPr lang="en-US" sz="1000" b="1" dirty="0">
                <a:solidFill>
                  <a:srgbClr val="0B2545"/>
                </a:solidFill>
              </a:rPr>
              <a:t>8 staff</a:t>
            </a:r>
            <a:endParaRPr lang="en-US" sz="1000" dirty="0"/>
          </a:p>
        </p:txBody>
      </p:sp>
      <p:pic>
        <p:nvPicPr>
          <p:cNvPr id="50" name="Image 6" descr="preencoded.png">    </p:cNvPr>
          <p:cNvPicPr>
            <a:picLocks noChangeAspect="1"/>
          </p:cNvPicPr>
          <p:nvPr/>
        </p:nvPicPr>
        <p:blipFill>
          <a:blip r:embed="rId6"/>
          <a:stretch>
            <a:fillRect/>
          </a:stretch>
        </p:blipFill>
        <p:spPr>
          <a:xfrm>
            <a:off x="8421375" y="2395728"/>
            <a:ext cx="155448" cy="155448"/>
          </a:xfrm>
          <a:prstGeom prst="rect">
            <a:avLst/>
          </a:prstGeom>
        </p:spPr>
      </p:pic>
      <p:sp>
        <p:nvSpPr>
          <p:cNvPr id="51" name="Text 32"/>
          <p:cNvSpPr txBox="1"/>
          <p:nvPr/>
        </p:nvSpPr>
        <p:spPr>
          <a:xfrm>
            <a:off x="8622543" y="2377440"/>
            <a:ext cx="548640" cy="192024"/>
          </a:xfrm>
          <a:prstGeom prst="rect">
            <a:avLst/>
          </a:prstGeom>
          <a:noFill/>
          <a:ln/>
        </p:spPr>
        <p:txBody>
          <a:bodyPr wrap="square" lIns="0" tIns="0" rIns="0" bIns="0" rtlCol="0" anchor="ctr"/>
          <a:lstStyle/>
          <a:p>
            <a:pPr indent="0" marL="0">
              <a:buNone/>
            </a:pPr>
            <a:r>
              <a:rPr lang="en-US" sz="1000" b="1" dirty="0">
                <a:solidFill>
                  <a:srgbClr val="D97706"/>
                </a:solidFill>
              </a:rPr>
              <a:t>Queue</a:t>
            </a:r>
            <a:endParaRPr lang="en-US" sz="1000" dirty="0"/>
          </a:p>
        </p:txBody>
      </p:sp>
      <p:sp>
        <p:nvSpPr>
          <p:cNvPr id="52" name="Shape 33"/>
          <p:cNvSpPr/>
          <p:nvPr/>
        </p:nvSpPr>
        <p:spPr>
          <a:xfrm>
            <a:off x="9853891" y="1828800"/>
            <a:ext cx="1789164" cy="786384"/>
          </a:xfrm>
          <a:prstGeom prst="roundRect">
            <a:avLst>
              <a:gd name="adj" fmla="val 11628"/>
            </a:avLst>
          </a:prstGeom>
          <a:solidFill>
            <a:srgbClr val="FFFFFF"/>
          </a:solidFill>
          <a:ln w="9525">
            <a:solidFill>
              <a:srgbClr val="F2D3A8"/>
            </a:solidFill>
            <a:prstDash val="solid"/>
          </a:ln>
          <a:effectLst>
            <a:outerShdw sx="100000" sy="100000" kx="0" ky="0" algn="bl" rotWithShape="0" blurRad="177800" dist="38100" dir="5400000">
              <a:srgbClr val="0A1628">
                <a:alpha val="12000"/>
              </a:srgbClr>
            </a:outerShdw>
          </a:effectLst>
        </p:spPr>
      </p:sp>
      <p:sp>
        <p:nvSpPr>
          <p:cNvPr id="53" name="Shape 34"/>
          <p:cNvSpPr/>
          <p:nvPr/>
        </p:nvSpPr>
        <p:spPr>
          <a:xfrm>
            <a:off x="9963619" y="1911096"/>
            <a:ext cx="237744" cy="237744"/>
          </a:xfrm>
          <a:prstGeom prst="ellipse">
            <a:avLst/>
          </a:prstGeom>
          <a:solidFill>
            <a:srgbClr val="D97706"/>
          </a:solidFill>
          <a:ln/>
        </p:spPr>
      </p:sp>
      <p:sp>
        <p:nvSpPr>
          <p:cNvPr id="54" name="Text 35"/>
          <p:cNvSpPr txBox="1"/>
          <p:nvPr/>
        </p:nvSpPr>
        <p:spPr>
          <a:xfrm>
            <a:off x="9963619" y="191109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55" name="Text 36"/>
          <p:cNvSpPr txBox="1"/>
          <p:nvPr/>
        </p:nvSpPr>
        <p:spPr>
          <a:xfrm>
            <a:off x="10292803" y="1874520"/>
            <a:ext cx="1350252" cy="310896"/>
          </a:xfrm>
          <a:prstGeom prst="rect">
            <a:avLst/>
          </a:prstGeom>
          <a:noFill/>
          <a:ln/>
        </p:spPr>
        <p:txBody>
          <a:bodyPr wrap="square" lIns="0" tIns="0" rIns="0" bIns="0" rtlCol="0" anchor="ctr"/>
          <a:lstStyle/>
          <a:p>
            <a:pPr indent="0" marL="0">
              <a:buNone/>
            </a:pPr>
            <a:r>
              <a:rPr lang="en-US" sz="1300" b="1" dirty="0">
                <a:solidFill>
                  <a:srgbClr val="0B1526"/>
                </a:solidFill>
              </a:rPr>
              <a:t>Boarding gate</a:t>
            </a:r>
            <a:endParaRPr lang="en-US" sz="1300" dirty="0"/>
          </a:p>
        </p:txBody>
      </p:sp>
      <p:sp>
        <p:nvSpPr>
          <p:cNvPr id="56" name="Text 37"/>
          <p:cNvSpPr txBox="1"/>
          <p:nvPr/>
        </p:nvSpPr>
        <p:spPr>
          <a:xfrm>
            <a:off x="9963619" y="2176272"/>
            <a:ext cx="1679436" cy="201168"/>
          </a:xfrm>
          <a:prstGeom prst="rect">
            <a:avLst/>
          </a:prstGeom>
          <a:noFill/>
          <a:ln/>
        </p:spPr>
        <p:txBody>
          <a:bodyPr wrap="square" lIns="0" tIns="0" rIns="0" bIns="0" rtlCol="0" anchor="ctr"/>
          <a:lstStyle/>
          <a:p>
            <a:pPr indent="0" marL="0">
              <a:buNone/>
            </a:pPr>
            <a:r>
              <a:rPr lang="en-US" sz="1000" dirty="0">
                <a:solidFill>
                  <a:srgbClr val="4A5870"/>
                </a:solidFill>
              </a:rPr>
              <a:t>Documents checked again</a:t>
            </a:r>
            <a:endParaRPr lang="en-US" sz="1000" dirty="0"/>
          </a:p>
        </p:txBody>
      </p:sp>
      <p:pic>
        <p:nvPicPr>
          <p:cNvPr id="57" name="Image 7" descr="preencoded.png">    </p:cNvPr>
          <p:cNvPicPr>
            <a:picLocks noChangeAspect="1"/>
          </p:cNvPicPr>
          <p:nvPr/>
        </p:nvPicPr>
        <p:blipFill>
          <a:blip r:embed="rId5"/>
          <a:stretch>
            <a:fillRect/>
          </a:stretch>
        </p:blipFill>
        <p:spPr>
          <a:xfrm>
            <a:off x="9963619" y="2395728"/>
            <a:ext cx="155448" cy="155448"/>
          </a:xfrm>
          <a:prstGeom prst="rect">
            <a:avLst/>
          </a:prstGeom>
        </p:spPr>
      </p:pic>
      <p:sp>
        <p:nvSpPr>
          <p:cNvPr id="58" name="Text 38"/>
          <p:cNvSpPr txBox="1"/>
          <p:nvPr/>
        </p:nvSpPr>
        <p:spPr>
          <a:xfrm>
            <a:off x="10164787" y="2377440"/>
            <a:ext cx="419735" cy="192024"/>
          </a:xfrm>
          <a:prstGeom prst="rect">
            <a:avLst/>
          </a:prstGeom>
          <a:noFill/>
          <a:ln/>
        </p:spPr>
        <p:txBody>
          <a:bodyPr wrap="square" lIns="0" tIns="0" rIns="0" bIns="0" rtlCol="0" anchor="ctr"/>
          <a:lstStyle/>
          <a:p>
            <a:pPr indent="0" marL="0">
              <a:buNone/>
            </a:pPr>
            <a:r>
              <a:rPr lang="en-US" sz="1000" b="1" dirty="0">
                <a:solidFill>
                  <a:srgbClr val="0B2545"/>
                </a:solidFill>
              </a:rPr>
              <a:t>3 staff</a:t>
            </a:r>
            <a:endParaRPr lang="en-US" sz="1000" dirty="0"/>
          </a:p>
        </p:txBody>
      </p:sp>
      <p:pic>
        <p:nvPicPr>
          <p:cNvPr id="59" name="Image 8" descr="preencoded.png">    </p:cNvPr>
          <p:cNvPicPr>
            <a:picLocks noChangeAspect="1"/>
          </p:cNvPicPr>
          <p:nvPr/>
        </p:nvPicPr>
        <p:blipFill>
          <a:blip r:embed="rId6"/>
          <a:stretch>
            <a:fillRect/>
          </a:stretch>
        </p:blipFill>
        <p:spPr>
          <a:xfrm>
            <a:off x="10703394" y="2395728"/>
            <a:ext cx="155448" cy="155448"/>
          </a:xfrm>
          <a:prstGeom prst="rect">
            <a:avLst/>
          </a:prstGeom>
        </p:spPr>
      </p:pic>
      <p:sp>
        <p:nvSpPr>
          <p:cNvPr id="60" name="Text 39"/>
          <p:cNvSpPr txBox="1"/>
          <p:nvPr/>
        </p:nvSpPr>
        <p:spPr>
          <a:xfrm>
            <a:off x="10904562" y="2377440"/>
            <a:ext cx="548640" cy="192024"/>
          </a:xfrm>
          <a:prstGeom prst="rect">
            <a:avLst/>
          </a:prstGeom>
          <a:noFill/>
          <a:ln/>
        </p:spPr>
        <p:txBody>
          <a:bodyPr wrap="square" lIns="0" tIns="0" rIns="0" bIns="0" rtlCol="0" anchor="ctr"/>
          <a:lstStyle/>
          <a:p>
            <a:pPr indent="0" marL="0">
              <a:buNone/>
            </a:pPr>
            <a:r>
              <a:rPr lang="en-US" sz="1000" b="1" dirty="0">
                <a:solidFill>
                  <a:srgbClr val="D97706"/>
                </a:solidFill>
              </a:rPr>
              <a:t>Queue</a:t>
            </a:r>
            <a:endParaRPr lang="en-US" sz="1000" dirty="0"/>
          </a:p>
        </p:txBody>
      </p:sp>
      <p:sp>
        <p:nvSpPr>
          <p:cNvPr id="61" name="Shape 40"/>
          <p:cNvSpPr/>
          <p:nvPr/>
        </p:nvSpPr>
        <p:spPr>
          <a:xfrm>
            <a:off x="4069080" y="4828032"/>
            <a:ext cx="292608" cy="0"/>
          </a:xfrm>
          <a:prstGeom prst="line">
            <a:avLst/>
          </a:prstGeom>
          <a:noFill/>
          <a:ln w="28575">
            <a:solidFill>
              <a:srgbClr val="D97706"/>
            </a:solidFill>
            <a:prstDash val="solid"/>
          </a:ln>
        </p:spPr>
      </p:sp>
      <p:sp>
        <p:nvSpPr>
          <p:cNvPr id="62" name="Text 41"/>
          <p:cNvSpPr txBox="1"/>
          <p:nvPr/>
        </p:nvSpPr>
        <p:spPr>
          <a:xfrm>
            <a:off x="4434840" y="4736592"/>
            <a:ext cx="1600200" cy="182880"/>
          </a:xfrm>
          <a:prstGeom prst="rect">
            <a:avLst/>
          </a:prstGeom>
          <a:noFill/>
          <a:ln/>
        </p:spPr>
        <p:txBody>
          <a:bodyPr wrap="square" lIns="0" tIns="0" rIns="0" bIns="0" rtlCol="0" anchor="ctr"/>
          <a:lstStyle/>
          <a:p>
            <a:pPr indent="0" marL="0">
              <a:buNone/>
            </a:pPr>
            <a:r>
              <a:rPr lang="en-US" sz="950" dirty="0">
                <a:solidFill>
                  <a:srgbClr val="4A5870"/>
                </a:solidFill>
              </a:rPr>
              <a:t>Traveller path and stops</a:t>
            </a:r>
            <a:endParaRPr lang="en-US" sz="950" dirty="0"/>
          </a:p>
        </p:txBody>
      </p:sp>
      <p:sp>
        <p:nvSpPr>
          <p:cNvPr id="63" name="Shape 42"/>
          <p:cNvSpPr/>
          <p:nvPr/>
        </p:nvSpPr>
        <p:spPr>
          <a:xfrm>
            <a:off x="6035040" y="4754880"/>
            <a:ext cx="146304" cy="146304"/>
          </a:xfrm>
          <a:prstGeom prst="ellipse">
            <a:avLst/>
          </a:prstGeom>
          <a:solidFill>
            <a:srgbClr val="0B2545"/>
          </a:solidFill>
          <a:ln/>
        </p:spPr>
      </p:sp>
      <p:sp>
        <p:nvSpPr>
          <p:cNvPr id="64" name="Text 43"/>
          <p:cNvSpPr txBox="1"/>
          <p:nvPr/>
        </p:nvSpPr>
        <p:spPr>
          <a:xfrm>
            <a:off x="6245352" y="4736592"/>
            <a:ext cx="914400" cy="182880"/>
          </a:xfrm>
          <a:prstGeom prst="rect">
            <a:avLst/>
          </a:prstGeom>
          <a:noFill/>
          <a:ln/>
        </p:spPr>
        <p:txBody>
          <a:bodyPr wrap="square" lIns="0" tIns="0" rIns="0" bIns="0" rtlCol="0" anchor="ctr"/>
          <a:lstStyle/>
          <a:p>
            <a:pPr indent="0" marL="0">
              <a:buNone/>
            </a:pPr>
            <a:r>
              <a:rPr lang="en-US" sz="950" dirty="0">
                <a:solidFill>
                  <a:srgbClr val="4A5870"/>
                </a:solidFill>
              </a:rPr>
              <a:t>Staff / officer</a:t>
            </a:r>
            <a:endParaRPr lang="en-US" sz="950" dirty="0"/>
          </a:p>
        </p:txBody>
      </p:sp>
      <p:sp>
        <p:nvSpPr>
          <p:cNvPr id="65" name="Shape 44"/>
          <p:cNvSpPr/>
          <p:nvPr/>
        </p:nvSpPr>
        <p:spPr>
          <a:xfrm>
            <a:off x="7196328" y="4754880"/>
            <a:ext cx="256032" cy="146304"/>
          </a:xfrm>
          <a:prstGeom prst="roundRect">
            <a:avLst>
              <a:gd name="adj" fmla="val 31250"/>
            </a:avLst>
          </a:prstGeom>
          <a:solidFill>
            <a:srgbClr val="FFB340">
              <a:alpha val="45000"/>
            </a:srgbClr>
          </a:solidFill>
          <a:ln/>
        </p:spPr>
      </p:sp>
      <p:sp>
        <p:nvSpPr>
          <p:cNvPr id="66" name="Text 45"/>
          <p:cNvSpPr txBox="1"/>
          <p:nvPr/>
        </p:nvSpPr>
        <p:spPr>
          <a:xfrm>
            <a:off x="7525512" y="4736592"/>
            <a:ext cx="548640" cy="182880"/>
          </a:xfrm>
          <a:prstGeom prst="rect">
            <a:avLst/>
          </a:prstGeom>
          <a:noFill/>
          <a:ln/>
        </p:spPr>
        <p:txBody>
          <a:bodyPr wrap="square" lIns="0" tIns="0" rIns="0" bIns="0" rtlCol="0" anchor="ctr"/>
          <a:lstStyle/>
          <a:p>
            <a:pPr indent="0" marL="0">
              <a:buNone/>
            </a:pPr>
            <a:r>
              <a:rPr lang="en-US" sz="950" dirty="0">
                <a:solidFill>
                  <a:srgbClr val="4A5870"/>
                </a:solidFill>
              </a:rPr>
              <a:t>Queue</a:t>
            </a:r>
            <a:endParaRPr lang="en-US" sz="950" dirty="0"/>
          </a:p>
        </p:txBody>
      </p:sp>
      <p:sp>
        <p:nvSpPr>
          <p:cNvPr id="67" name="Shape 46"/>
          <p:cNvSpPr/>
          <p:nvPr/>
        </p:nvSpPr>
        <p:spPr>
          <a:xfrm>
            <a:off x="548640" y="5358384"/>
            <a:ext cx="2636444" cy="658368"/>
          </a:xfrm>
          <a:prstGeom prst="roundRect">
            <a:avLst>
              <a:gd name="adj" fmla="val 16667"/>
            </a:avLst>
          </a:prstGeom>
          <a:solidFill>
            <a:srgbClr val="FFFFFF"/>
          </a:solidFill>
          <a:ln/>
          <a:effectLst>
            <a:outerShdw sx="100000" sy="100000" kx="0" ky="0" algn="bl" rotWithShape="0" blurRad="177800" dist="38100" dir="5400000">
              <a:srgbClr val="0A1628">
                <a:alpha val="12000"/>
              </a:srgbClr>
            </a:outerShdw>
          </a:effectLst>
        </p:spPr>
      </p:sp>
      <p:sp>
        <p:nvSpPr>
          <p:cNvPr id="68" name="Shape 47"/>
          <p:cNvSpPr/>
          <p:nvPr/>
        </p:nvSpPr>
        <p:spPr>
          <a:xfrm>
            <a:off x="694944" y="5495544"/>
            <a:ext cx="384048" cy="384048"/>
          </a:xfrm>
          <a:prstGeom prst="ellipse">
            <a:avLst/>
          </a:prstGeom>
          <a:solidFill>
            <a:srgbClr val="D97706">
              <a:alpha val="14000"/>
            </a:srgbClr>
          </a:solidFill>
          <a:ln/>
        </p:spPr>
      </p:sp>
      <p:pic>
        <p:nvPicPr>
          <p:cNvPr id="69" name="Image 9" descr="preencoded.png">    </p:cNvPr>
          <p:cNvPicPr>
            <a:picLocks noChangeAspect="1"/>
          </p:cNvPicPr>
          <p:nvPr/>
        </p:nvPicPr>
        <p:blipFill>
          <a:blip r:embed="rId7"/>
          <a:stretch>
            <a:fillRect/>
          </a:stretch>
        </p:blipFill>
        <p:spPr>
          <a:xfrm>
            <a:off x="786384" y="5586984"/>
            <a:ext cx="201168" cy="201168"/>
          </a:xfrm>
          <a:prstGeom prst="rect">
            <a:avLst/>
          </a:prstGeom>
        </p:spPr>
      </p:pic>
      <p:sp>
        <p:nvSpPr>
          <p:cNvPr id="70" name="Text 48"/>
          <p:cNvSpPr txBox="1"/>
          <p:nvPr/>
        </p:nvSpPr>
        <p:spPr>
          <a:xfrm>
            <a:off x="1170432" y="5413248"/>
            <a:ext cx="749808" cy="548640"/>
          </a:xfrm>
          <a:prstGeom prst="rect">
            <a:avLst/>
          </a:prstGeom>
          <a:noFill/>
          <a:ln/>
        </p:spPr>
        <p:txBody>
          <a:bodyPr wrap="square" lIns="0" tIns="0" rIns="0" bIns="0" rtlCol="0" anchor="ctr"/>
          <a:lstStyle/>
          <a:p>
            <a:pPr indent="0" marL="0">
              <a:buNone/>
            </a:pPr>
            <a:r>
              <a:rPr lang="en-US" sz="2200" b="1" dirty="0">
                <a:solidFill>
                  <a:srgbClr val="0B1526"/>
                </a:solidFill>
              </a:rPr>
              <a:t>~4</a:t>
            </a:r>
            <a:endParaRPr lang="en-US" sz="2200" dirty="0"/>
          </a:p>
        </p:txBody>
      </p:sp>
      <p:sp>
        <p:nvSpPr>
          <p:cNvPr id="71" name="Text 49"/>
          <p:cNvSpPr txBox="1"/>
          <p:nvPr/>
        </p:nvSpPr>
        <p:spPr>
          <a:xfrm>
            <a:off x="1920240" y="5431536"/>
            <a:ext cx="1173404" cy="512064"/>
          </a:xfrm>
          <a:prstGeom prst="rect">
            <a:avLst/>
          </a:prstGeom>
          <a:noFill/>
          <a:ln/>
        </p:spPr>
        <p:txBody>
          <a:bodyPr wrap="square" lIns="0" tIns="0" rIns="0" bIns="0" rtlCol="0" anchor="ctr"/>
          <a:lstStyle/>
          <a:p>
            <a:pPr indent="0" marL="0">
              <a:buNone/>
            </a:pPr>
            <a:r>
              <a:rPr lang="en-US" sz="1050" dirty="0">
                <a:solidFill>
                  <a:srgbClr val="4A5870"/>
                </a:solidFill>
              </a:rPr>
              <a:t>identity checks per departure</a:t>
            </a:r>
            <a:endParaRPr lang="en-US" sz="1050" dirty="0"/>
          </a:p>
        </p:txBody>
      </p:sp>
      <p:sp>
        <p:nvSpPr>
          <p:cNvPr id="72" name="Shape 50"/>
          <p:cNvSpPr/>
          <p:nvPr/>
        </p:nvSpPr>
        <p:spPr>
          <a:xfrm>
            <a:off x="3367964" y="5358384"/>
            <a:ext cx="2636444" cy="658368"/>
          </a:xfrm>
          <a:prstGeom prst="roundRect">
            <a:avLst>
              <a:gd name="adj" fmla="val 16667"/>
            </a:avLst>
          </a:prstGeom>
          <a:solidFill>
            <a:srgbClr val="FFFFFF"/>
          </a:solidFill>
          <a:ln/>
          <a:effectLst>
            <a:outerShdw sx="100000" sy="100000" kx="0" ky="0" algn="bl" rotWithShape="0" blurRad="177800" dist="38100" dir="5400000">
              <a:srgbClr val="0A1628">
                <a:alpha val="12000"/>
              </a:srgbClr>
            </a:outerShdw>
          </a:effectLst>
        </p:spPr>
      </p:sp>
      <p:sp>
        <p:nvSpPr>
          <p:cNvPr id="73" name="Shape 51"/>
          <p:cNvSpPr/>
          <p:nvPr/>
        </p:nvSpPr>
        <p:spPr>
          <a:xfrm>
            <a:off x="3514268" y="5495544"/>
            <a:ext cx="384048" cy="384048"/>
          </a:xfrm>
          <a:prstGeom prst="ellipse">
            <a:avLst/>
          </a:prstGeom>
          <a:solidFill>
            <a:srgbClr val="D97706">
              <a:alpha val="14000"/>
            </a:srgbClr>
          </a:solidFill>
          <a:ln/>
        </p:spPr>
      </p:sp>
      <p:pic>
        <p:nvPicPr>
          <p:cNvPr id="74" name="Image 10" descr="preencoded.png">    </p:cNvPr>
          <p:cNvPicPr>
            <a:picLocks noChangeAspect="1"/>
          </p:cNvPicPr>
          <p:nvPr/>
        </p:nvPicPr>
        <p:blipFill>
          <a:blip r:embed="rId8"/>
          <a:stretch>
            <a:fillRect/>
          </a:stretch>
        </p:blipFill>
        <p:spPr>
          <a:xfrm>
            <a:off x="3605708" y="5586984"/>
            <a:ext cx="201168" cy="201168"/>
          </a:xfrm>
          <a:prstGeom prst="rect">
            <a:avLst/>
          </a:prstGeom>
        </p:spPr>
      </p:pic>
      <p:sp>
        <p:nvSpPr>
          <p:cNvPr id="75" name="Text 52"/>
          <p:cNvSpPr txBox="1"/>
          <p:nvPr/>
        </p:nvSpPr>
        <p:spPr>
          <a:xfrm>
            <a:off x="3989756" y="5413248"/>
            <a:ext cx="749808" cy="548640"/>
          </a:xfrm>
          <a:prstGeom prst="rect">
            <a:avLst/>
          </a:prstGeom>
          <a:noFill/>
          <a:ln/>
        </p:spPr>
        <p:txBody>
          <a:bodyPr wrap="square" lIns="0" tIns="0" rIns="0" bIns="0" rtlCol="0" anchor="ctr"/>
          <a:lstStyle/>
          <a:p>
            <a:pPr indent="0" marL="0">
              <a:buNone/>
            </a:pPr>
            <a:r>
              <a:rPr lang="en-US" sz="2200" b="1" dirty="0">
                <a:solidFill>
                  <a:srgbClr val="0B1526"/>
                </a:solidFill>
              </a:rPr>
              <a:t>≥2</a:t>
            </a:r>
            <a:endParaRPr lang="en-US" sz="2200" dirty="0"/>
          </a:p>
        </p:txBody>
      </p:sp>
      <p:sp>
        <p:nvSpPr>
          <p:cNvPr id="76" name="Text 53"/>
          <p:cNvSpPr txBox="1"/>
          <p:nvPr/>
        </p:nvSpPr>
        <p:spPr>
          <a:xfrm>
            <a:off x="4739564" y="5431536"/>
            <a:ext cx="1173404" cy="512064"/>
          </a:xfrm>
          <a:prstGeom prst="rect">
            <a:avLst/>
          </a:prstGeom>
          <a:noFill/>
          <a:ln/>
        </p:spPr>
        <p:txBody>
          <a:bodyPr wrap="square" lIns="0" tIns="0" rIns="0" bIns="0" rtlCol="0" anchor="ctr"/>
          <a:lstStyle/>
          <a:p>
            <a:pPr indent="0" marL="0">
              <a:buNone/>
            </a:pPr>
            <a:r>
              <a:rPr lang="en-US" sz="1050" dirty="0">
                <a:solidFill>
                  <a:srgbClr val="4A5870"/>
                </a:solidFill>
              </a:rPr>
              <a:t>staff at every touchpoint</a:t>
            </a:r>
            <a:endParaRPr lang="en-US" sz="1050" dirty="0"/>
          </a:p>
        </p:txBody>
      </p:sp>
      <p:sp>
        <p:nvSpPr>
          <p:cNvPr id="77" name="Shape 54"/>
          <p:cNvSpPr/>
          <p:nvPr/>
        </p:nvSpPr>
        <p:spPr>
          <a:xfrm>
            <a:off x="6187288" y="5358384"/>
            <a:ext cx="2636444" cy="658368"/>
          </a:xfrm>
          <a:prstGeom prst="roundRect">
            <a:avLst>
              <a:gd name="adj" fmla="val 16667"/>
            </a:avLst>
          </a:prstGeom>
          <a:solidFill>
            <a:srgbClr val="FFFFFF"/>
          </a:solidFill>
          <a:ln/>
          <a:effectLst>
            <a:outerShdw sx="100000" sy="100000" kx="0" ky="0" algn="bl" rotWithShape="0" blurRad="177800" dist="38100" dir="5400000">
              <a:srgbClr val="0A1628">
                <a:alpha val="12000"/>
              </a:srgbClr>
            </a:outerShdw>
          </a:effectLst>
        </p:spPr>
      </p:sp>
      <p:sp>
        <p:nvSpPr>
          <p:cNvPr id="78" name="Shape 55"/>
          <p:cNvSpPr/>
          <p:nvPr/>
        </p:nvSpPr>
        <p:spPr>
          <a:xfrm>
            <a:off x="6333592" y="5495544"/>
            <a:ext cx="384048" cy="384048"/>
          </a:xfrm>
          <a:prstGeom prst="ellipse">
            <a:avLst/>
          </a:prstGeom>
          <a:solidFill>
            <a:srgbClr val="0B84AE">
              <a:alpha val="14000"/>
            </a:srgbClr>
          </a:solidFill>
          <a:ln/>
        </p:spPr>
      </p:sp>
      <p:pic>
        <p:nvPicPr>
          <p:cNvPr id="79" name="Image 11" descr="preencoded.png">    </p:cNvPr>
          <p:cNvPicPr>
            <a:picLocks noChangeAspect="1"/>
          </p:cNvPicPr>
          <p:nvPr/>
        </p:nvPicPr>
        <p:blipFill>
          <a:blip r:embed="rId9"/>
          <a:stretch>
            <a:fillRect/>
          </a:stretch>
        </p:blipFill>
        <p:spPr>
          <a:xfrm>
            <a:off x="6425032" y="5586984"/>
            <a:ext cx="201168" cy="201168"/>
          </a:xfrm>
          <a:prstGeom prst="rect">
            <a:avLst/>
          </a:prstGeom>
        </p:spPr>
      </p:pic>
      <p:sp>
        <p:nvSpPr>
          <p:cNvPr id="80" name="Text 56"/>
          <p:cNvSpPr txBox="1"/>
          <p:nvPr/>
        </p:nvSpPr>
        <p:spPr>
          <a:xfrm>
            <a:off x="6809080" y="5413248"/>
            <a:ext cx="749808" cy="548640"/>
          </a:xfrm>
          <a:prstGeom prst="rect">
            <a:avLst/>
          </a:prstGeom>
          <a:noFill/>
          <a:ln/>
        </p:spPr>
        <p:txBody>
          <a:bodyPr wrap="square" lIns="0" tIns="0" rIns="0" bIns="0" rtlCol="0" anchor="ctr"/>
          <a:lstStyle/>
          <a:p>
            <a:pPr indent="0" marL="0">
              <a:buNone/>
            </a:pPr>
            <a:r>
              <a:rPr lang="en-US" sz="2200" b="1" dirty="0">
                <a:solidFill>
                  <a:srgbClr val="0B1526"/>
                </a:solidFill>
              </a:rPr>
              <a:t>2×</a:t>
            </a:r>
            <a:endParaRPr lang="en-US" sz="2200" dirty="0"/>
          </a:p>
        </p:txBody>
      </p:sp>
      <p:sp>
        <p:nvSpPr>
          <p:cNvPr id="81" name="Text 57"/>
          <p:cNvSpPr txBox="1"/>
          <p:nvPr/>
        </p:nvSpPr>
        <p:spPr>
          <a:xfrm>
            <a:off x="7558888" y="5431536"/>
            <a:ext cx="1173404" cy="512064"/>
          </a:xfrm>
          <a:prstGeom prst="rect">
            <a:avLst/>
          </a:prstGeom>
          <a:noFill/>
          <a:ln/>
        </p:spPr>
        <p:txBody>
          <a:bodyPr wrap="square" lIns="0" tIns="0" rIns="0" bIns="0" rtlCol="0" anchor="ctr"/>
          <a:lstStyle/>
          <a:p>
            <a:pPr indent="0" marL="0">
              <a:buNone/>
            </a:pPr>
            <a:r>
              <a:rPr lang="en-US" sz="1050" dirty="0">
                <a:solidFill>
                  <a:srgbClr val="4A5870"/>
                </a:solidFill>
              </a:rPr>
              <a:t>air travel demand by 2040</a:t>
            </a:r>
            <a:endParaRPr lang="en-US" sz="1050" dirty="0"/>
          </a:p>
        </p:txBody>
      </p:sp>
      <p:sp>
        <p:nvSpPr>
          <p:cNvPr id="82" name="Shape 58"/>
          <p:cNvSpPr/>
          <p:nvPr/>
        </p:nvSpPr>
        <p:spPr>
          <a:xfrm>
            <a:off x="9006611" y="5358384"/>
            <a:ext cx="2636444" cy="658368"/>
          </a:xfrm>
          <a:prstGeom prst="roundRect">
            <a:avLst>
              <a:gd name="adj" fmla="val 16667"/>
            </a:avLst>
          </a:prstGeom>
          <a:solidFill>
            <a:srgbClr val="FFFFFF"/>
          </a:solidFill>
          <a:ln/>
          <a:effectLst>
            <a:outerShdw sx="100000" sy="100000" kx="0" ky="0" algn="bl" rotWithShape="0" blurRad="177800" dist="38100" dir="5400000">
              <a:srgbClr val="0A1628">
                <a:alpha val="12000"/>
              </a:srgbClr>
            </a:outerShdw>
          </a:effectLst>
        </p:spPr>
      </p:sp>
      <p:sp>
        <p:nvSpPr>
          <p:cNvPr id="83" name="Shape 59"/>
          <p:cNvSpPr/>
          <p:nvPr/>
        </p:nvSpPr>
        <p:spPr>
          <a:xfrm>
            <a:off x="9152915" y="5495544"/>
            <a:ext cx="384048" cy="384048"/>
          </a:xfrm>
          <a:prstGeom prst="ellipse">
            <a:avLst/>
          </a:prstGeom>
          <a:solidFill>
            <a:srgbClr val="0B84AE">
              <a:alpha val="14000"/>
            </a:srgbClr>
          </a:solidFill>
          <a:ln/>
        </p:spPr>
      </p:sp>
      <p:pic>
        <p:nvPicPr>
          <p:cNvPr id="84" name="Image 12" descr="preencoded.png">    </p:cNvPr>
          <p:cNvPicPr>
            <a:picLocks noChangeAspect="1"/>
          </p:cNvPicPr>
          <p:nvPr/>
        </p:nvPicPr>
        <p:blipFill>
          <a:blip r:embed="rId10"/>
          <a:stretch>
            <a:fillRect/>
          </a:stretch>
        </p:blipFill>
        <p:spPr>
          <a:xfrm>
            <a:off x="9244355" y="5586984"/>
            <a:ext cx="201168" cy="201168"/>
          </a:xfrm>
          <a:prstGeom prst="rect">
            <a:avLst/>
          </a:prstGeom>
        </p:spPr>
      </p:pic>
      <p:sp>
        <p:nvSpPr>
          <p:cNvPr id="85" name="Text 60"/>
          <p:cNvSpPr txBox="1"/>
          <p:nvPr/>
        </p:nvSpPr>
        <p:spPr>
          <a:xfrm>
            <a:off x="9628403" y="5413248"/>
            <a:ext cx="749808" cy="548640"/>
          </a:xfrm>
          <a:prstGeom prst="rect">
            <a:avLst/>
          </a:prstGeom>
          <a:noFill/>
          <a:ln/>
        </p:spPr>
        <p:txBody>
          <a:bodyPr wrap="square" lIns="0" tIns="0" rIns="0" bIns="0" rtlCol="0" anchor="ctr"/>
          <a:lstStyle/>
          <a:p>
            <a:pPr indent="0" marL="0">
              <a:buNone/>
            </a:pPr>
            <a:r>
              <a:rPr lang="en-US" sz="2200" b="1" dirty="0">
                <a:solidFill>
                  <a:srgbClr val="0B1526"/>
                </a:solidFill>
              </a:rPr>
              <a:t>48%</a:t>
            </a:r>
            <a:endParaRPr lang="en-US" sz="2200" dirty="0"/>
          </a:p>
        </p:txBody>
      </p:sp>
      <p:sp>
        <p:nvSpPr>
          <p:cNvPr id="86" name="Text 61"/>
          <p:cNvSpPr txBox="1"/>
          <p:nvPr/>
        </p:nvSpPr>
        <p:spPr>
          <a:xfrm>
            <a:off x="10378211" y="5431536"/>
            <a:ext cx="1173404" cy="512064"/>
          </a:xfrm>
          <a:prstGeom prst="rect">
            <a:avLst/>
          </a:prstGeom>
          <a:noFill/>
          <a:ln/>
        </p:spPr>
        <p:txBody>
          <a:bodyPr wrap="square" lIns="0" tIns="0" rIns="0" bIns="0" rtlCol="0" anchor="ctr"/>
          <a:lstStyle/>
          <a:p>
            <a:pPr indent="0" marL="0">
              <a:buNone/>
            </a:pPr>
            <a:r>
              <a:rPr lang="en-US" sz="1050" dirty="0">
                <a:solidFill>
                  <a:srgbClr val="4A5870"/>
                </a:solidFill>
              </a:rPr>
              <a:t>of airports plan cross-silo data sharing by 2027</a:t>
            </a:r>
            <a:endParaRPr lang="en-US" sz="1050" dirty="0"/>
          </a:p>
        </p:txBody>
      </p:sp>
      <p:sp>
        <p:nvSpPr>
          <p:cNvPr id="87" name="Text 62"/>
          <p:cNvSpPr txBox="1"/>
          <p:nvPr/>
        </p:nvSpPr>
        <p:spPr>
          <a:xfrm>
            <a:off x="548640" y="6053328"/>
            <a:ext cx="11094415" cy="219456"/>
          </a:xfrm>
          <a:prstGeom prst="rect">
            <a:avLst/>
          </a:prstGeom>
          <a:noFill/>
          <a:ln/>
        </p:spPr>
        <p:txBody>
          <a:bodyPr wrap="square" lIns="0" tIns="0" rIns="0" bIns="0" rtlCol="0" anchor="ctr"/>
          <a:lstStyle/>
          <a:p>
            <a:pPr indent="0" marL="0">
              <a:buNone/>
            </a:pPr>
            <a:r>
              <a:rPr lang="en-US" sz="900" dirty="0">
                <a:solidFill>
                  <a:srgbClr val="4A5870"/>
                </a:solidFill>
              </a:rPr>
              <a:t>Sources: IATA Global Outlook for Air Transport (Dec 2023); SITA Air Transport IT Insights 2025 (airports). Staff per touchpoint: URS estimate from airport expert calls. Scene and staff counts are illustrative.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DAE19BDA24DF479223A523DC1EAC22" ma:contentTypeVersion="15" ma:contentTypeDescription="Create a new document." ma:contentTypeScope="" ma:versionID="f2d37794f9fe5706fdf315496084d6c9">
  <xsd:schema xmlns:xsd="http://www.w3.org/2001/XMLSchema" xmlns:xs="http://www.w3.org/2001/XMLSchema" xmlns:p="http://schemas.microsoft.com/office/2006/metadata/properties" xmlns:ns1="http://schemas.microsoft.com/sharepoint/v3" xmlns:ns2="59b4f843-a728-4593-8a1f-3b60800c0505" xmlns:ns3="195576e3-6fc6-4cc7-a52f-8a1a90fc6d57" targetNamespace="http://schemas.microsoft.com/office/2006/metadata/properties" ma:root="true" ma:fieldsID="bc42a6b90df392b895de16f18821551c" ns1:_="" ns2:_="" ns3:_="">
    <xsd:import namespace="http://schemas.microsoft.com/sharepoint/v3"/>
    <xsd:import namespace="59b4f843-a728-4593-8a1f-3b60800c0505"/>
    <xsd:import namespace="195576e3-6fc6-4cc7-a52f-8a1a90fc6d5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b4f843-a728-4593-8a1f-3b60800c05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0df6263-beb7-4e3d-b782-8d1ca9c8aa8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5576e3-6fc6-4cc7-a52f-8a1a90fc6d5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a38f4b-5bcc-4500-af1f-c24ca71b5c0a}" ma:internalName="TaxCatchAll" ma:showField="CatchAllData" ma:web="195576e3-6fc6-4cc7-a52f-8a1a90fc6d5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59b4f843-a728-4593-8a1f-3b60800c0505">
      <Terms xmlns="http://schemas.microsoft.com/office/infopath/2007/PartnerControls"/>
    </lcf76f155ced4ddcb4097134ff3c332f>
    <_ip_UnifiedCompliancePolicyProperties xmlns="http://schemas.microsoft.com/sharepoint/v3" xsi:nil="true"/>
    <TaxCatchAll xmlns="195576e3-6fc6-4cc7-a52f-8a1a90fc6d57" xsi:nil="true"/>
  </documentManagement>
</p:properties>
</file>

<file path=customXml/itemProps1.xml><?xml version="1.0" encoding="utf-8"?>
<ds:datastoreItem xmlns:ds="http://schemas.openxmlformats.org/officeDocument/2006/customXml" ds:itemID="{19AC9C15-0E1C-405D-9198-763B7011C765}">
  <ds:schemaRefs>
    <ds:schemaRef ds:uri="http://schemas.microsoft.com/sharepoint/v3/contenttype/forms"/>
  </ds:schemaRefs>
</ds:datastoreItem>
</file>

<file path=customXml/itemProps2.xml><?xml version="1.0" encoding="utf-8"?>
<ds:datastoreItem xmlns:ds="http://schemas.openxmlformats.org/officeDocument/2006/customXml" ds:itemID="{1435FA44-63C2-4ACA-A444-489731DA04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9b4f843-a728-4593-8a1f-3b60800c0505"/>
    <ds:schemaRef ds:uri="195576e3-6fc6-4cc7-a52f-8a1a90fc6d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C1C97A-0FBF-46FC-87F3-807B2E089C9B}">
  <ds:schemaRefs>
    <ds:schemaRef ds:uri="195576e3-6fc6-4cc7-a52f-8a1a90fc6d57"/>
    <ds:schemaRef ds:uri="http://purl.org/dc/dcmitype/"/>
    <ds:schemaRef ds:uri="http://schemas.microsoft.com/office/2006/documentManagement/types"/>
    <ds:schemaRef ds:uri="http://purl.org/dc/terms/"/>
    <ds:schemaRef ds:uri="http://schemas.microsoft.com/office/2006/metadata/properties"/>
    <ds:schemaRef ds:uri="http://schemas.microsoft.com/office/infopath/2007/PartnerControls"/>
    <ds:schemaRef ds:uri="http://purl.org/dc/elements/1.1/"/>
    <ds:schemaRef ds:uri="http://schemas.openxmlformats.org/package/2006/metadata/core-properties"/>
    <ds:schemaRef ds:uri="59b4f843-a728-4593-8a1f-3b60800c0505"/>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1619</TotalTime>
  <Words>2706</Words>
  <Application>Microsoft Office PowerPoint</Application>
  <PresentationFormat>Widescreen</PresentationFormat>
  <Paragraphs>450</Paragraphs>
  <Slides>25</Slides>
  <Notes>25</Notes>
  <HiddenSlides>1</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InnoChamp 2026 | Product Category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Previous Submitted Slide Version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Qinyuan</dc:creator>
  <cp:lastModifiedBy>Zhang Qinyuan</cp:lastModifiedBy>
  <cp:revision>26</cp:revision>
  <dcterms:created xsi:type="dcterms:W3CDTF">2026-07-07T02:13:40Z</dcterms:created>
  <dcterms:modified xsi:type="dcterms:W3CDTF">2026-10-18T15:29:07Z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0x01010031DAE19BDA24DF479223A523DC1EAC22</vt:lpwstr>
  </property>
  <property fmtid="{D5CDD505-2E9C-101B-9397-08002B2CF9AE}" pid="3" name="MSIP_Label_a043ec3a-92eb-434b-bfcd-dd5fcd578c71_Enabled">
    <vt:lpwstr>true</vt:lpwstr>
  </property>
  <property fmtid="{D5CDD505-2E9C-101B-9397-08002B2CF9AE}" pid="4" name="MSIP_Label_a043ec3a-92eb-434b-bfcd-dd5fcd578c71_SetDate">
    <vt:lpwstr>2026-07-07T02:14:00Z</vt:lpwstr>
  </property>
  <property fmtid="{D5CDD505-2E9C-101B-9397-08002B2CF9AE}" pid="5" name="MSIP_Label_a043ec3a-92eb-434b-bfcd-dd5fcd578c71_Method">
    <vt:lpwstr>Privileged</vt:lpwstr>
  </property>
  <property fmtid="{D5CDD505-2E9C-101B-9397-08002B2CF9AE}" pid="6" name="MSIP_Label_a043ec3a-92eb-434b-bfcd-dd5fcd578c71_Name">
    <vt:lpwstr>Group_Unrestricted</vt:lpwstr>
  </property>
  <property fmtid="{D5CDD505-2E9C-101B-9397-08002B2CF9AE}" pid="7" name="MSIP_Label_a043ec3a-92eb-434b-bfcd-dd5fcd578c71_SiteId">
    <vt:lpwstr>82fac8d8-49c2-492d-9f67-7d9e5b66144e</vt:lpwstr>
  </property>
  <property fmtid="{D5CDD505-2E9C-101B-9397-08002B2CF9AE}" pid="8" name="MSIP_Label_a043ec3a-92eb-434b-bfcd-dd5fcd578c71_ActionId">
    <vt:lpwstr>18312b41-4cf1-42d6-90d8-012795db9c2e</vt:lpwstr>
  </property>
  <property fmtid="{D5CDD505-2E9C-101B-9397-08002B2CF9AE}" pid="9" name="MSIP_Label_a043ec3a-92eb-434b-bfcd-dd5fcd578c71_ContentBits">
    <vt:lpwstr>0</vt:lpwstr>
  </property>
  <property fmtid="{D5CDD505-2E9C-101B-9397-08002B2CF9AE}" pid="10" name="MSIP_Label_a043ec3a-92eb-434b-bfcd-dd5fcd578c71_Tag">
    <vt:lpwstr>10, 0, 1, 2</vt:lpwstr>
  </property>
  <property fmtid="{D5CDD505-2E9C-101B-9397-08002B2CF9AE}" pid="11" name="MediaServiceImageTags">
    <vt:lpwstr/>
  </property>
</Properties>
</file>