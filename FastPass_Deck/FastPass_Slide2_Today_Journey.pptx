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2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Lst>
  <p:notesMasterIdLst>
    <p:notesMasterId r:id="rId30"/>
  </p:notesMasterIdLst>
  <p:handoutMasterIdLst>
    <p:handoutMasterId r:id="rId31"/>
  </p:handoutMasterIdLst>
  <p:sldIdLst>
    <p:sldId id="601"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35057655-18B3-2CF7-3345-F40D95C5FCED}" name="Tan Yingyi" initials="YT" userId="S::yingyi@stengg.com::f7bc8c44-56ed-4e68-91d9-1c995133b8e0" providerId="AD"/>
  <p188:author id="{59770F96-C082-2080-39E3-85FEC9A9E93E}" name="Zhang Qinyuan" initials="QZ" userId="S::qinyuan.zhang@stengg.com::377aa130-2eff-480e-939a-bc644c7da80f"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CC4D0"/>
    <a:srgbClr val="00000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5E6333F-C34E-EBD9-E3DB-E1E784382542}" v="32" dt="2026-10-18T02:53:27.293"/>
    <p1510:client id="{AE008423-E7AD-4F63-9C06-E70B1B2A5C09}" v="181" dt="2026-10-16T08:38:10.57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890" autoAdjust="0"/>
    <p:restoredTop sz="86199" autoAdjust="0"/>
  </p:normalViewPr>
  <p:slideViewPr>
    <p:cSldViewPr snapToGrid="0">
      <p:cViewPr varScale="1">
        <p:scale>
          <a:sx n="95" d="100"/>
          <a:sy n="95" d="100"/>
        </p:scale>
        <p:origin x="1200" y="90"/>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84" d="100"/>
          <a:sy n="84" d="100"/>
        </p:scale>
        <p:origin x="3912" y="96"/>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20"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handoutMaster" Target="handoutMasters/handout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microsoft.com/office/2015/10/relationships/revisionInfo" Target="revisionInfo.xml"/><Relationship Id="rId37" Type="http://schemas.microsoft.com/office/2018/10/relationships/authors" Targe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259EDD3-291C-45FC-C893-EF7FCF019A95}"/>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G"/>
          </a:p>
        </p:txBody>
      </p:sp>
      <p:sp>
        <p:nvSpPr>
          <p:cNvPr id="3" name="Date Placeholder 2">
            <a:extLst>
              <a:ext uri="{FF2B5EF4-FFF2-40B4-BE49-F238E27FC236}">
                <a16:creationId xmlns:a16="http://schemas.microsoft.com/office/drawing/2014/main" id="{F6EA241D-EAE3-60C0-E6C5-42EB154A94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F13935D-AD2E-4E45-9F10-EE2611B3B8D1}" type="datetimeFigureOut">
              <a:rPr lang="en-SG" smtClean="0"/>
              <a:t>18/10/2026</a:t>
            </a:fld>
            <a:endParaRPr lang="en-SG"/>
          </a:p>
        </p:txBody>
      </p:sp>
      <p:sp>
        <p:nvSpPr>
          <p:cNvPr id="4" name="Footer Placeholder 3">
            <a:extLst>
              <a:ext uri="{FF2B5EF4-FFF2-40B4-BE49-F238E27FC236}">
                <a16:creationId xmlns:a16="http://schemas.microsoft.com/office/drawing/2014/main" id="{41C560BA-040E-B009-AF38-ED3324EDB31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SG"/>
          </a:p>
        </p:txBody>
      </p:sp>
      <p:sp>
        <p:nvSpPr>
          <p:cNvPr id="5" name="Slide Number Placeholder 4">
            <a:extLst>
              <a:ext uri="{FF2B5EF4-FFF2-40B4-BE49-F238E27FC236}">
                <a16:creationId xmlns:a16="http://schemas.microsoft.com/office/drawing/2014/main" id="{DA267B00-12F8-8763-FB64-518FB91AEEA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5FBD81B-A0DF-40C2-A45D-AEB8D2153280}" type="slidenum">
              <a:rPr lang="en-SG" smtClean="0"/>
              <a:t>‹#›</a:t>
            </a:fld>
            <a:endParaRPr lang="en-SG"/>
          </a:p>
        </p:txBody>
      </p:sp>
    </p:spTree>
    <p:extLst>
      <p:ext uri="{BB962C8B-B14F-4D97-AF65-F5344CB8AC3E}">
        <p14:creationId xmlns:p14="http://schemas.microsoft.com/office/powerpoint/2010/main" val="363180161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7B7C30B-32FA-4F85-87F2-0EDBBAA5BFD5}" type="datetimeFigureOut">
              <a:t>10/18/2026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7AD9013-D3CF-4749-A6CE-301E3BD661CF}" type="slidenum">
              <a:t>‹#›</a:t>
            </a:fld>
            <a:endParaRPr lang="en-US"/>
          </a:p>
        </p:txBody>
      </p:sp>
    </p:spTree>
    <p:extLst>
      <p:ext uri="{BB962C8B-B14F-4D97-AF65-F5344CB8AC3E}">
        <p14:creationId xmlns:p14="http://schemas.microsoft.com/office/powerpoint/2010/main" val="30350462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[0:15–0:55] Think about your last flight. Passport at check-in. Again at immigration. Again at security. Again at the gate. Four checks, four stops, four queues, and staff at every one of them.</a:t>
            </a:r>
          </a:p>
          <a:p>
            <a:r>
              <a:t>Follow the amber line: every stop is a queue, a document check and a desk to staff. The pressure keeps growing: air travel demand doubles by 2040, and half of airports plan to break their data silos by 2027. Airports must move more people with the terminals and staff they already have.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846CE7D5-CF57-46EF-B807-FDD0502418D4}" type="datetimeFigureOut">
              <a:rPr lang="en-US" smtClean="0"/>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46CE7D5-CF57-46EF-B807-FDD0502418D4}" type="datetimeFigureOut">
              <a:rPr lang="en-US" smtClean="0"/>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US" smtClean="0"/>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846CE7D5-CF57-46EF-B807-FDD0502418D4}" type="datetimeFigureOut">
              <a:rPr lang="en-US" smtClean="0"/>
              <a:t>10/18/2026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846CE7D5-CF57-46EF-B807-FDD0502418D4}" type="datetimeFigureOut">
              <a:rPr lang="en-US" smtClean="0"/>
              <a:t>10/18/2026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846CE7D5-CF57-46EF-B807-FDD0502418D4}" type="datetimeFigureOut">
              <a:rPr lang="en-US" smtClean="0"/>
              <a:t>10/18/2026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US" smtClean="0"/>
              <a:t>10/18/2026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US" smtClean="0"/>
              <a:t>10/18/2026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US" smtClean="0"/>
              <a:t>10/18/2026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46CE7D5-CF57-46EF-B807-FDD0502418D4}" type="datetimeFigureOut">
              <a:rPr lang="en-US" smtClean="0"/>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46CE7D5-CF57-46EF-B807-FDD0502418D4}" type="datetimeFigureOut">
              <a:rPr lang="en-US" smtClean="0"/>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47944565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3_Title Slide">
    <p:spTree>
      <p:nvGrpSpPr>
        <p:cNvPr id="1" name=""/>
        <p:cNvGrpSpPr/>
        <p:nvPr/>
      </p:nvGrpSpPr>
      <p:grpSpPr>
        <a:xfrm>
          <a:off x="0" y="0"/>
          <a:ext cx="0" cy="0"/>
          <a:chOff x="0" y="0"/>
          <a:chExt cx="0" cy="0"/>
        </a:xfrm>
      </p:grpSpPr>
      <p:pic>
        <p:nvPicPr>
          <p:cNvPr id="9" name="Picture 8"/>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10" name="Picture 9"/>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8869637" y="373412"/>
            <a:ext cx="3077240" cy="924165"/>
          </a:xfrm>
          <a:prstGeom prst="rect">
            <a:avLst/>
          </a:prstGeom>
        </p:spPr>
      </p:pic>
      <p:sp>
        <p:nvSpPr>
          <p:cNvPr id="4" name="Title 1"/>
          <p:cNvSpPr>
            <a:spLocks noGrp="1"/>
          </p:cNvSpPr>
          <p:nvPr>
            <p:ph type="ctrTitle" hasCustomPrompt="1"/>
          </p:nvPr>
        </p:nvSpPr>
        <p:spPr>
          <a:xfrm>
            <a:off x="619759" y="2666273"/>
            <a:ext cx="9482183" cy="1354217"/>
          </a:xfrm>
        </p:spPr>
        <p:txBody>
          <a:bodyPr wrap="square" anchor="t" anchorCtr="0">
            <a:spAutoFit/>
          </a:bodyPr>
          <a:lstStyle>
            <a:lvl1pPr algn="l">
              <a:lnSpc>
                <a:spcPct val="100000"/>
              </a:lnSpc>
              <a:defRPr sz="4000" baseline="0">
                <a:solidFill>
                  <a:schemeClr val="bg1"/>
                </a:solidFill>
              </a:defRPr>
            </a:lvl1pPr>
          </a:lstStyle>
          <a:p>
            <a:r>
              <a:rPr lang="en-US"/>
              <a:t>This is over slide option 1, </a:t>
            </a:r>
            <a:br>
              <a:rPr lang="en-US"/>
            </a:br>
            <a:r>
              <a:rPr lang="en-US"/>
              <a:t>title font is Arial Black in 30pt </a:t>
            </a:r>
          </a:p>
        </p:txBody>
      </p:sp>
      <p:sp>
        <p:nvSpPr>
          <p:cNvPr id="5" name="Subtitle 2"/>
          <p:cNvSpPr>
            <a:spLocks noGrp="1"/>
          </p:cNvSpPr>
          <p:nvPr>
            <p:ph type="subTitle" idx="1" hasCustomPrompt="1"/>
          </p:nvPr>
        </p:nvSpPr>
        <p:spPr>
          <a:xfrm>
            <a:off x="619760" y="4067747"/>
            <a:ext cx="9699897" cy="461665"/>
          </a:xfrm>
        </p:spPr>
        <p:txBody>
          <a:bodyPr wrap="square">
            <a:spAutoFit/>
          </a:bodyPr>
          <a:lstStyle>
            <a:lvl1pPr marL="0" indent="0" algn="l">
              <a:lnSpc>
                <a:spcPct val="100000"/>
              </a:lnSpc>
              <a:buNone/>
              <a:defRPr sz="2400" baseline="0">
                <a:solidFill>
                  <a:schemeClr val="bg1"/>
                </a:solidFill>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add subtitle, date or presenter’s name, use font Arial in 18pt</a:t>
            </a:r>
          </a:p>
        </p:txBody>
      </p:sp>
      <p:sp>
        <p:nvSpPr>
          <p:cNvPr id="14" name="Text Placeholder 13"/>
          <p:cNvSpPr>
            <a:spLocks noGrp="1"/>
          </p:cNvSpPr>
          <p:nvPr>
            <p:ph type="body" sz="quarter" idx="10" hasCustomPrompt="1"/>
          </p:nvPr>
        </p:nvSpPr>
        <p:spPr>
          <a:xfrm>
            <a:off x="619760" y="6248400"/>
            <a:ext cx="7339875" cy="276935"/>
          </a:xfrm>
        </p:spPr>
        <p:txBody>
          <a:bodyPr wrap="square">
            <a:spAutoFit/>
          </a:bodyPr>
          <a:lstStyle>
            <a:lvl1pPr marL="0" indent="0">
              <a:buNone/>
              <a:defRPr sz="1333">
                <a:solidFill>
                  <a:schemeClr val="bg1"/>
                </a:solidFill>
              </a:defRPr>
            </a:lvl1pPr>
          </a:lstStyle>
          <a:p>
            <a:pPr lvl="0"/>
            <a:r>
              <a:rPr lang="en-US"/>
              <a:t>Remember to classify your document – use font Arial in 10pt </a:t>
            </a:r>
          </a:p>
        </p:txBody>
      </p:sp>
    </p:spTree>
    <p:extLst>
      <p:ext uri="{BB962C8B-B14F-4D97-AF65-F5344CB8AC3E}">
        <p14:creationId xmlns:p14="http://schemas.microsoft.com/office/powerpoint/2010/main" val="32277310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US" smtClean="0"/>
              <a:t>10/18/2026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US" smtClean="0"/>
              <a:t>‹#›</a:t>
            </a:fld>
            <a:endParaRPr lang="en-US"/>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24.png"/><Relationship Id="rId8" Type="http://schemas.openxmlformats.org/officeDocument/2006/relationships/image" Target="../media/image26.png"/><Relationship Id="rId9" Type="http://schemas.openxmlformats.org/officeDocument/2006/relationships/image" Target="../media/image10.png"/><Relationship Id="rId10" Type="http://schemas.openxmlformats.org/officeDocument/2006/relationships/image" Target="../media/image11.png"/><Relationship Id="rId11" Type="http://schemas.openxmlformats.org/officeDocument/2006/relationships/notesSlide" Target="../notesSlides/notesSlide4.xml"/></Relationships>
</file>

<file path=ppt/slides/slide28.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3" name="Rectangle 36">
            <a:extLst>
              <a:ext uri="{FF2B5EF4-FFF2-40B4-BE49-F238E27FC236}">
                <a16:creationId xmlns:a16="http://schemas.microsoft.com/office/drawing/2014/main" id="{FE65ED44-8DB6-2EDB-4B82-1C229A168578}"/>
              </a:ext>
            </a:extLst>
          </p:cNvPr>
          <p:cNvSpPr/>
          <p:nvPr/>
        </p:nvSpPr>
        <p:spPr>
          <a:xfrm>
            <a:off x="-1498" y="0"/>
            <a:ext cx="12192001" cy="6858000"/>
          </a:xfrm>
          <a:prstGeom prst="rect">
            <a:avLst/>
          </a:prstGeom>
          <a:gradFill flip="none" rotWithShape="1">
            <a:gsLst>
              <a:gs pos="10000">
                <a:srgbClr val="6930C3">
                  <a:alpha val="30000"/>
                </a:srgbClr>
              </a:gs>
              <a:gs pos="25000">
                <a:srgbClr val="48BFE3">
                  <a:alpha val="30000"/>
                </a:srgbClr>
              </a:gs>
              <a:gs pos="40000">
                <a:srgbClr val="80FFDB">
                  <a:alpha val="30000"/>
                </a:srgbClr>
              </a:gs>
              <a:gs pos="80000">
                <a:schemeClr val="bg1">
                  <a:alpha val="0"/>
                </a:schemeClr>
              </a:gs>
            </a:gsLst>
            <a:path path="circle">
              <a:fillToRect l="100000" t="100000"/>
            </a:path>
            <a:tileRect r="-100000" b="-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sz="2400">
              <a:latin typeface="+mj-lt"/>
            </a:endParaRPr>
          </a:p>
        </p:txBody>
      </p:sp>
      <p:pic>
        <p:nvPicPr>
          <p:cNvPr id="4" name="Picture 2" descr="A white background with curves&#10;&#10;AI-generated content may be incorrect.">
            <a:extLst>
              <a:ext uri="{FF2B5EF4-FFF2-40B4-BE49-F238E27FC236}">
                <a16:creationId xmlns:a16="http://schemas.microsoft.com/office/drawing/2014/main" id="{470E9D31-D6F7-78B8-9431-3883A953BBF5}"/>
              </a:ext>
            </a:extLst>
          </p:cNvPr>
          <p:cNvPicPr>
            <a:picLocks noChangeAspect="1"/>
          </p:cNvPicPr>
          <p:nvPr/>
        </p:nvPicPr>
        <p:blipFill>
          <a:blip r:embed="rId2" cstate="print">
            <a:alphaModFix amt="55000"/>
            <a:extLst>
              <a:ext uri="{28A0092B-C50C-407E-A947-70E740481C1C}">
                <a14:useLocalDpi xmlns:a14="http://schemas.microsoft.com/office/drawing/2010/main" val="0"/>
              </a:ext>
            </a:extLst>
          </a:blip>
          <a:stretch>
            <a:fillRect/>
          </a:stretch>
        </p:blipFill>
        <p:spPr>
          <a:xfrm>
            <a:off x="-20191" y="-5645"/>
            <a:ext cx="12192001" cy="6863645"/>
          </a:xfrm>
          <a:prstGeom prst="rect">
            <a:avLst/>
          </a:prstGeom>
        </p:spPr>
      </p:pic>
      <p:grpSp>
        <p:nvGrpSpPr>
          <p:cNvPr id="5" name="Group 4">
            <a:extLst>
              <a:ext uri="{FF2B5EF4-FFF2-40B4-BE49-F238E27FC236}">
                <a16:creationId xmlns:a16="http://schemas.microsoft.com/office/drawing/2014/main" id="{C8DDC2E7-0D46-BEDA-B896-5B1FCC79010B}"/>
              </a:ext>
            </a:extLst>
          </p:cNvPr>
          <p:cNvGrpSpPr/>
          <p:nvPr/>
        </p:nvGrpSpPr>
        <p:grpSpPr>
          <a:xfrm>
            <a:off x="-2" y="0"/>
            <a:ext cx="11896603" cy="1600200"/>
            <a:chOff x="-1" y="0"/>
            <a:chExt cx="8922452" cy="1200150"/>
          </a:xfrm>
        </p:grpSpPr>
        <p:pic>
          <p:nvPicPr>
            <p:cNvPr id="6" name="Picture 5">
              <a:extLst>
                <a:ext uri="{FF2B5EF4-FFF2-40B4-BE49-F238E27FC236}">
                  <a16:creationId xmlns:a16="http://schemas.microsoft.com/office/drawing/2014/main" id="{54EC15D4-BE5A-757F-6B02-21351CCBF4DD}"/>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7100240" y="155813"/>
              <a:ext cx="1822211" cy="547251"/>
            </a:xfrm>
            <a:prstGeom prst="rect">
              <a:avLst/>
            </a:prstGeom>
          </p:spPr>
        </p:pic>
        <p:sp>
          <p:nvSpPr>
            <p:cNvPr id="7" name="Rectangle 6">
              <a:extLst>
                <a:ext uri="{FF2B5EF4-FFF2-40B4-BE49-F238E27FC236}">
                  <a16:creationId xmlns:a16="http://schemas.microsoft.com/office/drawing/2014/main" id="{79BB7842-812C-2F3E-B647-1A88F1D39998}"/>
                </a:ext>
              </a:extLst>
            </p:cNvPr>
            <p:cNvSpPr/>
            <p:nvPr userDrawn="1"/>
          </p:nvSpPr>
          <p:spPr>
            <a:xfrm flipV="1">
              <a:off x="-1" y="0"/>
              <a:ext cx="102870" cy="1200150"/>
            </a:xfrm>
            <a:prstGeom prst="rect">
              <a:avLst/>
            </a:prstGeom>
            <a:gradFill>
              <a:gsLst>
                <a:gs pos="100000">
                  <a:srgbClr val="E30613"/>
                </a:gs>
                <a:gs pos="0">
                  <a:srgbClr val="EC4750">
                    <a:alpha val="100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sz="1351">
                <a:latin typeface="+mj-lt"/>
              </a:endParaRPr>
            </a:p>
          </p:txBody>
        </p:sp>
      </p:grpSp>
      <p:sp>
        <p:nvSpPr>
          <p:cNvPr id="8" name="Slide Number Placeholder 4">
            <a:extLst>
              <a:ext uri="{FF2B5EF4-FFF2-40B4-BE49-F238E27FC236}">
                <a16:creationId xmlns:a16="http://schemas.microsoft.com/office/drawing/2014/main" id="{D71C6F89-DFED-26E4-3ABC-C9625EF18DBF}"/>
              </a:ext>
            </a:extLst>
          </p:cNvPr>
          <p:cNvSpPr txBox="1">
            <a:spLocks/>
          </p:cNvSpPr>
          <p:nvPr/>
        </p:nvSpPr>
        <p:spPr>
          <a:xfrm>
            <a:off x="502161" y="6333075"/>
            <a:ext cx="970039" cy="273844"/>
          </a:xfrm>
          <a:prstGeom prst="rect">
            <a:avLst/>
          </a:prstGeom>
        </p:spPr>
        <p:txBody>
          <a:bodyPr/>
          <a:lstStyle>
            <a:defPPr>
              <a:defRPr lang="en-US"/>
            </a:defPPr>
            <a:lvl1pPr marL="0" algn="l" defTabSz="685800" rtl="0" eaLnBrk="1" latinLnBrk="0" hangingPunct="1">
              <a:defRPr sz="1350" kern="1200">
                <a:solidFill>
                  <a:srgbClr val="EC4750"/>
                </a:solidFill>
                <a:latin typeface="Arial" panose="020B0604020202020204" pitchFamily="34" charset="0"/>
                <a:ea typeface="+mn-ea"/>
                <a:cs typeface="Arial" panose="020B0604020202020204" pitchFamily="34" charset="0"/>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fld id="{FC766537-94F2-A24E-B020-2BCDC9CD5735}" type="slidenum">
              <a:rPr lang="en-US" sz="1200">
                <a:latin typeface="+mj-lt"/>
              </a:rPr>
              <a:pPr/>
              <a:t>3</a:t>
            </a:fld>
            <a:r>
              <a:rPr lang="en-US" sz="1200">
                <a:latin typeface="+mj-lt"/>
              </a:rPr>
              <a:t>   | </a:t>
            </a:r>
          </a:p>
        </p:txBody>
      </p:sp>
      <p:sp>
        <p:nvSpPr>
          <p:cNvPr id="9" name="Title 4">
            <a:extLst>
              <a:ext uri="{FF2B5EF4-FFF2-40B4-BE49-F238E27FC236}">
                <a16:creationId xmlns:a16="http://schemas.microsoft.com/office/drawing/2014/main" id="{08F212A0-0828-8963-EA3E-E0EDF089EC8C}"/>
              </a:ext>
            </a:extLst>
          </p:cNvPr>
          <p:cNvSpPr txBox="1">
            <a:spLocks/>
          </p:cNvSpPr>
          <p:nvPr/>
        </p:nvSpPr>
        <p:spPr>
          <a:xfrm>
            <a:off x="295399" y="877944"/>
            <a:ext cx="9386789" cy="1019839"/>
          </a:xfrm>
          <a:prstGeom prst="rect">
            <a:avLst/>
          </a:prstGeom>
        </p:spPr>
        <p:txBody>
          <a:bodyPr vert="horz" lIns="121920" tIns="60960" rIns="121920" bIns="60960" rtlCol="0" anchor="t" anchorCtr="0">
            <a:noAutofit/>
          </a:bodyPr>
          <a:lstStyle>
            <a:defPPr>
              <a:defRPr lang="en-US"/>
            </a:defPPr>
            <a:lvl1pPr marL="0" algn="l" defTabSz="685800" rtl="0" eaLnBrk="1" latinLnBrk="0" hangingPunct="1">
              <a:lnSpc>
                <a:spcPct val="100000"/>
              </a:lnSpc>
              <a:spcBef>
                <a:spcPct val="0"/>
              </a:spcBef>
              <a:buNone/>
              <a:defRPr sz="2000" kern="1200" baseline="0">
                <a:solidFill>
                  <a:srgbClr val="404040"/>
                </a:solidFill>
                <a:latin typeface="Arial Black" panose="020B0A04020102020204" pitchFamily="34" charset="0"/>
                <a:ea typeface="+mj-ea"/>
                <a:cs typeface="+mj-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r>
              <a:rPr lang="en-US" sz="2650" b="1" dirty="0">
                <a:solidFill>
                  <a:schemeClr val="tx1"/>
                </a:solidFill>
                <a:latin typeface="+mj-lt"/>
              </a:rPr>
              <a:t>More passengers. More checks. Limited capacity.</a:t>
            </a:r>
          </a:p>
        </p:txBody>
      </p:sp>
      <p:sp>
        <p:nvSpPr>
          <p:cNvPr id="10" name="TextBox 25">
            <a:extLst>
              <a:ext uri="{FF2B5EF4-FFF2-40B4-BE49-F238E27FC236}">
                <a16:creationId xmlns:a16="http://schemas.microsoft.com/office/drawing/2014/main" id="{7C05267D-674B-7BAD-3DAC-A5B6FDCA3332}"/>
              </a:ext>
            </a:extLst>
          </p:cNvPr>
          <p:cNvSpPr txBox="1"/>
          <p:nvPr/>
        </p:nvSpPr>
        <p:spPr>
          <a:xfrm>
            <a:off x="343779" y="563652"/>
            <a:ext cx="5943600" cy="338554"/>
          </a:xfrm>
          <a:prstGeom prst="rect">
            <a:avLst/>
          </a:prstGeom>
          <a:noFill/>
        </p:spPr>
        <p:txBody>
          <a:bodyPr wrap="square" rtlCol="0">
            <a:spAutoFit/>
          </a:bodyPr>
          <a:lst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defTabSz="914377" algn="l">
              <a:defRPr/>
            </a:pPr>
            <a:r>
              <a:rPr lang="en-US" sz="1600" dirty="0">
                <a:solidFill>
                  <a:srgbClr val="E30613"/>
                </a:solidFill>
                <a:latin typeface="+mj-lt"/>
              </a:rPr>
              <a:t>Market Needs</a:t>
            </a:r>
          </a:p>
        </p:txBody>
      </p:sp>
      <p:sp>
        <p:nvSpPr>
          <p:cNvPr id="11" name="Text 2">
            <a:extLst>
              <a:ext uri="{FF2B5EF4-FFF2-40B4-BE49-F238E27FC236}">
                <a16:creationId xmlns:a16="http://schemas.microsoft.com/office/drawing/2014/main" id="{BE58A662-E22B-C1CC-9FBC-E7CEEE803934}"/>
              </a:ext>
            </a:extLst>
          </p:cNvPr>
          <p:cNvSpPr/>
          <p:nvPr/>
        </p:nvSpPr>
        <p:spPr>
          <a:xfrm>
            <a:off x="398363" y="1399096"/>
            <a:ext cx="11368060" cy="33855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kumimoji="0" lang="en-US" sz="1600" b="0" i="0" u="none" strike="noStrike" kern="1200" cap="none" spc="0" normalizeH="0" baseline="0" noProof="0" dirty="0">
                <a:ln>
                  <a:noFill/>
                </a:ln>
                <a:solidFill>
                  <a:srgbClr val="4F5B6D"/>
                </a:solidFill>
                <a:effectLst/>
                <a:uLnTx/>
                <a:uFillTx/>
                <a:latin typeface="+mj-lt"/>
                <a:ea typeface="+mn-ea"/>
                <a:cs typeface="+mn-cs"/>
              </a:rPr>
              <a:t>Today, every departure stops four times, each with its own queue, its own document check and its own staff.</a:t>
            </a:r>
          </a:p>
        </p:txBody>
      </p:sp>
      <p:pic>
        <p:nvPicPr>
          <p:cNvPr id="12" name="Today: departure journey without FastPass" descr="Isometric airport: queues and staff at check-in, immigration, security screening and boarding gate">    </p:cNvPr>
          <p:cNvPicPr>
            <a:picLocks noChangeAspect="1"/>
          </p:cNvPicPr>
          <p:nvPr/>
        </p:nvPicPr>
        <p:blipFill>
          <a:blip r:embed="rId4"/>
          <a:stretch>
            <a:fillRect/>
          </a:stretch>
        </p:blipFill>
        <p:spPr>
          <a:xfrm>
            <a:off x="448193" y="1777594"/>
            <a:ext cx="11104336" cy="3431286"/>
          </a:xfrm>
          <a:prstGeom prst="rect">
            <a:avLst/>
          </a:prstGeom>
        </p:spPr>
      </p:pic>
      <p:sp>
        <p:nvSpPr>
          <p:cNvPr id="13" name="Shape 0"/>
          <p:cNvSpPr/>
          <p:nvPr/>
        </p:nvSpPr>
        <p:spPr>
          <a:xfrm>
            <a:off x="2311512" y="3789411"/>
            <a:ext cx="0" cy="192024"/>
          </a:xfrm>
          <a:prstGeom prst="line">
            <a:avLst/>
          </a:prstGeom>
          <a:noFill/>
          <a:ln w="15875">
            <a:solidFill>
              <a:srgbClr val="D97706"/>
            </a:solidFill>
            <a:prstDash val="solid"/>
          </a:ln>
        </p:spPr>
      </p:sp>
      <p:sp>
        <p:nvSpPr>
          <p:cNvPr id="14" name="Shape 1"/>
          <p:cNvSpPr/>
          <p:nvPr/>
        </p:nvSpPr>
        <p:spPr>
          <a:xfrm>
            <a:off x="2165208" y="3505947"/>
            <a:ext cx="292608" cy="292608"/>
          </a:xfrm>
          <a:prstGeom prst="ellipse">
            <a:avLst/>
          </a:prstGeom>
          <a:solidFill>
            <a:srgbClr val="D97706"/>
          </a:solidFill>
          <a:ln w="19050">
            <a:solidFill>
              <a:srgbClr val="FFFFFF"/>
            </a:solidFill>
            <a:prstDash val="solid"/>
          </a:ln>
          <a:effectLst>
            <a:outerShdw sx="100000" sy="100000" kx="0" ky="0" algn="bl" rotWithShape="0" blurRad="177800" dist="38100" dir="5400000">
              <a:srgbClr val="0A1628">
                <a:alpha val="12000"/>
              </a:srgbClr>
            </a:outerShdw>
          </a:effectLst>
        </p:spPr>
      </p:sp>
      <p:sp>
        <p:nvSpPr>
          <p:cNvPr id="15" name="Text 2"/>
          <p:cNvSpPr txBox="1"/>
          <p:nvPr/>
        </p:nvSpPr>
        <p:spPr>
          <a:xfrm>
            <a:off x="2165208" y="3505947"/>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16" name="Shape 3"/>
          <p:cNvSpPr/>
          <p:nvPr/>
        </p:nvSpPr>
        <p:spPr>
          <a:xfrm>
            <a:off x="3932469" y="3117052"/>
            <a:ext cx="0" cy="192024"/>
          </a:xfrm>
          <a:prstGeom prst="line">
            <a:avLst/>
          </a:prstGeom>
          <a:noFill/>
          <a:ln w="15875">
            <a:solidFill>
              <a:srgbClr val="D97706"/>
            </a:solidFill>
            <a:prstDash val="solid"/>
          </a:ln>
        </p:spPr>
      </p:sp>
      <p:sp>
        <p:nvSpPr>
          <p:cNvPr id="17" name="Shape 4"/>
          <p:cNvSpPr/>
          <p:nvPr/>
        </p:nvSpPr>
        <p:spPr>
          <a:xfrm>
            <a:off x="3786165" y="2833588"/>
            <a:ext cx="292608" cy="292608"/>
          </a:xfrm>
          <a:prstGeom prst="ellipse">
            <a:avLst/>
          </a:prstGeom>
          <a:solidFill>
            <a:srgbClr val="D97706"/>
          </a:solidFill>
          <a:ln w="19050">
            <a:solidFill>
              <a:srgbClr val="FFFFFF"/>
            </a:solidFill>
            <a:prstDash val="solid"/>
          </a:ln>
          <a:effectLst>
            <a:outerShdw sx="100000" sy="100000" kx="0" ky="0" algn="bl" rotWithShape="0" blurRad="177800" dist="38100" dir="5400000">
              <a:srgbClr val="0A1628">
                <a:alpha val="12000"/>
              </a:srgbClr>
            </a:outerShdw>
          </a:effectLst>
        </p:spPr>
      </p:sp>
      <p:sp>
        <p:nvSpPr>
          <p:cNvPr id="18" name="Text 5"/>
          <p:cNvSpPr txBox="1"/>
          <p:nvPr/>
        </p:nvSpPr>
        <p:spPr>
          <a:xfrm>
            <a:off x="3786165" y="283358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19" name="Shape 6"/>
          <p:cNvSpPr/>
          <p:nvPr/>
        </p:nvSpPr>
        <p:spPr>
          <a:xfrm>
            <a:off x="7770297" y="3647816"/>
            <a:ext cx="0" cy="192024"/>
          </a:xfrm>
          <a:prstGeom prst="line">
            <a:avLst/>
          </a:prstGeom>
          <a:noFill/>
          <a:ln w="15875">
            <a:solidFill>
              <a:srgbClr val="D97706"/>
            </a:solidFill>
            <a:prstDash val="solid"/>
          </a:ln>
        </p:spPr>
      </p:sp>
      <p:sp>
        <p:nvSpPr>
          <p:cNvPr id="20" name="Shape 7"/>
          <p:cNvSpPr/>
          <p:nvPr/>
        </p:nvSpPr>
        <p:spPr>
          <a:xfrm>
            <a:off x="7623993" y="3364352"/>
            <a:ext cx="292608" cy="292608"/>
          </a:xfrm>
          <a:prstGeom prst="ellipse">
            <a:avLst/>
          </a:prstGeom>
          <a:solidFill>
            <a:srgbClr val="D97706"/>
          </a:solidFill>
          <a:ln w="19050">
            <a:solidFill>
              <a:srgbClr val="FFFFFF"/>
            </a:solidFill>
            <a:prstDash val="solid"/>
          </a:ln>
          <a:effectLst>
            <a:outerShdw sx="100000" sy="100000" kx="0" ky="0" algn="bl" rotWithShape="0" blurRad="177800" dist="38100" dir="5400000">
              <a:srgbClr val="0A1628">
                <a:alpha val="12000"/>
              </a:srgbClr>
            </a:outerShdw>
          </a:effectLst>
        </p:spPr>
      </p:sp>
      <p:sp>
        <p:nvSpPr>
          <p:cNvPr id="21" name="Text 8"/>
          <p:cNvSpPr txBox="1"/>
          <p:nvPr/>
        </p:nvSpPr>
        <p:spPr>
          <a:xfrm>
            <a:off x="7623993" y="336435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22" name="Shape 9"/>
          <p:cNvSpPr/>
          <p:nvPr/>
        </p:nvSpPr>
        <p:spPr>
          <a:xfrm>
            <a:off x="8891763" y="4164681"/>
            <a:ext cx="0" cy="192024"/>
          </a:xfrm>
          <a:prstGeom prst="line">
            <a:avLst/>
          </a:prstGeom>
          <a:noFill/>
          <a:ln w="15875">
            <a:solidFill>
              <a:srgbClr val="D97706"/>
            </a:solidFill>
            <a:prstDash val="solid"/>
          </a:ln>
        </p:spPr>
      </p:sp>
      <p:sp>
        <p:nvSpPr>
          <p:cNvPr id="23" name="Shape 10"/>
          <p:cNvSpPr/>
          <p:nvPr/>
        </p:nvSpPr>
        <p:spPr>
          <a:xfrm>
            <a:off x="8745459" y="3881217"/>
            <a:ext cx="292608" cy="292608"/>
          </a:xfrm>
          <a:prstGeom prst="ellipse">
            <a:avLst/>
          </a:prstGeom>
          <a:solidFill>
            <a:srgbClr val="D97706"/>
          </a:solidFill>
          <a:ln w="19050">
            <a:solidFill>
              <a:srgbClr val="FFFFFF"/>
            </a:solidFill>
            <a:prstDash val="solid"/>
          </a:ln>
          <a:effectLst>
            <a:outerShdw sx="100000" sy="100000" kx="0" ky="0" algn="bl" rotWithShape="0" blurRad="177800" dist="38100" dir="5400000">
              <a:srgbClr val="0A1628">
                <a:alpha val="12000"/>
              </a:srgbClr>
            </a:outerShdw>
          </a:effectLst>
        </p:spPr>
      </p:sp>
      <p:sp>
        <p:nvSpPr>
          <p:cNvPr id="24" name="Text 11"/>
          <p:cNvSpPr txBox="1"/>
          <p:nvPr/>
        </p:nvSpPr>
        <p:spPr>
          <a:xfrm>
            <a:off x="8745459" y="3881217"/>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rPr>
              <a:t>4</a:t>
            </a:r>
            <a:endParaRPr lang="en-US" sz="1200" dirty="0"/>
          </a:p>
        </p:txBody>
      </p:sp>
      <p:sp>
        <p:nvSpPr>
          <p:cNvPr id="25" name="Shape 12"/>
          <p:cNvSpPr/>
          <p:nvPr/>
        </p:nvSpPr>
        <p:spPr>
          <a:xfrm>
            <a:off x="548640" y="1828800"/>
            <a:ext cx="1691640" cy="786384"/>
          </a:xfrm>
          <a:prstGeom prst="roundRect">
            <a:avLst>
              <a:gd name="adj" fmla="val 11628"/>
            </a:avLst>
          </a:prstGeom>
          <a:solidFill>
            <a:srgbClr val="FFFFFF"/>
          </a:solidFill>
          <a:ln w="9525">
            <a:solidFill>
              <a:srgbClr val="F2D3A8"/>
            </a:solidFill>
            <a:prstDash val="solid"/>
          </a:ln>
          <a:effectLst>
            <a:outerShdw sx="100000" sy="100000" kx="0" ky="0" algn="bl" rotWithShape="0" blurRad="177800" dist="38100" dir="5400000">
              <a:srgbClr val="0A1628">
                <a:alpha val="12000"/>
              </a:srgbClr>
            </a:outerShdw>
          </a:effectLst>
        </p:spPr>
      </p:sp>
      <p:sp>
        <p:nvSpPr>
          <p:cNvPr id="26" name="Shape 13"/>
          <p:cNvSpPr/>
          <p:nvPr/>
        </p:nvSpPr>
        <p:spPr>
          <a:xfrm>
            <a:off x="658368" y="1911096"/>
            <a:ext cx="237744" cy="237744"/>
          </a:xfrm>
          <a:prstGeom prst="ellipse">
            <a:avLst/>
          </a:prstGeom>
          <a:solidFill>
            <a:srgbClr val="D97706"/>
          </a:solidFill>
          <a:ln/>
        </p:spPr>
      </p:sp>
      <p:sp>
        <p:nvSpPr>
          <p:cNvPr id="27" name="Text 14"/>
          <p:cNvSpPr txBox="1"/>
          <p:nvPr/>
        </p:nvSpPr>
        <p:spPr>
          <a:xfrm>
            <a:off x="658368" y="1911096"/>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28" name="Text 15"/>
          <p:cNvSpPr txBox="1"/>
          <p:nvPr/>
        </p:nvSpPr>
        <p:spPr>
          <a:xfrm>
            <a:off x="987552" y="1874520"/>
            <a:ext cx="1252728" cy="310896"/>
          </a:xfrm>
          <a:prstGeom prst="rect">
            <a:avLst/>
          </a:prstGeom>
          <a:noFill/>
          <a:ln/>
        </p:spPr>
        <p:txBody>
          <a:bodyPr wrap="square" lIns="0" tIns="0" rIns="0" bIns="0" rtlCol="0" anchor="ctr"/>
          <a:lstStyle/>
          <a:p>
            <a:pPr indent="0" marL="0">
              <a:buNone/>
            </a:pPr>
            <a:r>
              <a:rPr lang="en-US" sz="1300" b="1" dirty="0">
                <a:solidFill>
                  <a:srgbClr val="0B1526"/>
                </a:solidFill>
              </a:rPr>
              <a:t>Check-in</a:t>
            </a:r>
            <a:endParaRPr lang="en-US" sz="1300" dirty="0"/>
          </a:p>
        </p:txBody>
      </p:sp>
      <p:sp>
        <p:nvSpPr>
          <p:cNvPr id="29" name="Text 16"/>
          <p:cNvSpPr txBox="1"/>
          <p:nvPr/>
        </p:nvSpPr>
        <p:spPr>
          <a:xfrm>
            <a:off x="658368" y="2176272"/>
            <a:ext cx="1581912" cy="201168"/>
          </a:xfrm>
          <a:prstGeom prst="rect">
            <a:avLst/>
          </a:prstGeom>
          <a:noFill/>
          <a:ln/>
        </p:spPr>
        <p:txBody>
          <a:bodyPr wrap="square" lIns="0" tIns="0" rIns="0" bIns="0" rtlCol="0" anchor="ctr"/>
          <a:lstStyle/>
          <a:p>
            <a:pPr indent="0" marL="0">
              <a:buNone/>
            </a:pPr>
            <a:r>
              <a:rPr lang="en-US" sz="1000" dirty="0">
                <a:solidFill>
                  <a:srgbClr val="4A5870"/>
                </a:solidFill>
              </a:rPr>
              <a:t>ID, ticket and bag drop</a:t>
            </a:r>
            <a:endParaRPr lang="en-US" sz="1000" dirty="0"/>
          </a:p>
        </p:txBody>
      </p:sp>
      <p:pic>
        <p:nvPicPr>
          <p:cNvPr id="30" name="Image 1" descr="preencoded.png">    </p:cNvPr>
          <p:cNvPicPr>
            <a:picLocks noChangeAspect="1"/>
          </p:cNvPicPr>
          <p:nvPr/>
        </p:nvPicPr>
        <p:blipFill>
          <a:blip r:embed="rId5"/>
          <a:stretch>
            <a:fillRect/>
          </a:stretch>
        </p:blipFill>
        <p:spPr>
          <a:xfrm>
            <a:off x="658368" y="2395728"/>
            <a:ext cx="155448" cy="155448"/>
          </a:xfrm>
          <a:prstGeom prst="rect">
            <a:avLst/>
          </a:prstGeom>
        </p:spPr>
      </p:pic>
      <p:sp>
        <p:nvSpPr>
          <p:cNvPr id="31" name="Text 17"/>
          <p:cNvSpPr txBox="1"/>
          <p:nvPr/>
        </p:nvSpPr>
        <p:spPr>
          <a:xfrm>
            <a:off x="859536" y="2377440"/>
            <a:ext cx="419735" cy="192024"/>
          </a:xfrm>
          <a:prstGeom prst="rect">
            <a:avLst/>
          </a:prstGeom>
          <a:noFill/>
          <a:ln/>
        </p:spPr>
        <p:txBody>
          <a:bodyPr wrap="square" lIns="0" tIns="0" rIns="0" bIns="0" rtlCol="0" anchor="ctr"/>
          <a:lstStyle/>
          <a:p>
            <a:pPr indent="0" marL="0">
              <a:buNone/>
            </a:pPr>
            <a:r>
              <a:rPr lang="en-US" sz="1000" b="1" dirty="0">
                <a:solidFill>
                  <a:srgbClr val="0B2545"/>
                </a:solidFill>
              </a:rPr>
              <a:t>4 staff</a:t>
            </a:r>
            <a:endParaRPr lang="en-US" sz="1000" dirty="0"/>
          </a:p>
        </p:txBody>
      </p:sp>
      <p:pic>
        <p:nvPicPr>
          <p:cNvPr id="32" name="Image 2" descr="preencoded.png">    </p:cNvPr>
          <p:cNvPicPr>
            <a:picLocks noChangeAspect="1"/>
          </p:cNvPicPr>
          <p:nvPr/>
        </p:nvPicPr>
        <p:blipFill>
          <a:blip r:embed="rId6"/>
          <a:stretch>
            <a:fillRect/>
          </a:stretch>
        </p:blipFill>
        <p:spPr>
          <a:xfrm>
            <a:off x="1398143" y="2395728"/>
            <a:ext cx="155448" cy="155448"/>
          </a:xfrm>
          <a:prstGeom prst="rect">
            <a:avLst/>
          </a:prstGeom>
        </p:spPr>
      </p:pic>
      <p:sp>
        <p:nvSpPr>
          <p:cNvPr id="33" name="Text 18"/>
          <p:cNvSpPr txBox="1"/>
          <p:nvPr/>
        </p:nvSpPr>
        <p:spPr>
          <a:xfrm>
            <a:off x="1599311" y="2377440"/>
            <a:ext cx="548640" cy="192024"/>
          </a:xfrm>
          <a:prstGeom prst="rect">
            <a:avLst/>
          </a:prstGeom>
          <a:noFill/>
          <a:ln/>
        </p:spPr>
        <p:txBody>
          <a:bodyPr wrap="square" lIns="0" tIns="0" rIns="0" bIns="0" rtlCol="0" anchor="ctr"/>
          <a:lstStyle/>
          <a:p>
            <a:pPr indent="0" marL="0">
              <a:buNone/>
            </a:pPr>
            <a:r>
              <a:rPr lang="en-US" sz="1000" b="1" dirty="0">
                <a:solidFill>
                  <a:srgbClr val="D97706"/>
                </a:solidFill>
              </a:rPr>
              <a:t>Queue</a:t>
            </a:r>
            <a:endParaRPr lang="en-US" sz="1000" dirty="0"/>
          </a:p>
        </p:txBody>
      </p:sp>
      <p:sp>
        <p:nvSpPr>
          <p:cNvPr id="34" name="Shape 19"/>
          <p:cNvSpPr/>
          <p:nvPr/>
        </p:nvSpPr>
        <p:spPr>
          <a:xfrm>
            <a:off x="2423160" y="1828800"/>
            <a:ext cx="1691640" cy="786384"/>
          </a:xfrm>
          <a:prstGeom prst="roundRect">
            <a:avLst>
              <a:gd name="adj" fmla="val 11628"/>
            </a:avLst>
          </a:prstGeom>
          <a:solidFill>
            <a:srgbClr val="FFFFFF"/>
          </a:solidFill>
          <a:ln w="9525">
            <a:solidFill>
              <a:srgbClr val="F2D3A8"/>
            </a:solidFill>
            <a:prstDash val="solid"/>
          </a:ln>
          <a:effectLst>
            <a:outerShdw sx="100000" sy="100000" kx="0" ky="0" algn="bl" rotWithShape="0" blurRad="177800" dist="38100" dir="5400000">
              <a:srgbClr val="0A1628">
                <a:alpha val="12000"/>
              </a:srgbClr>
            </a:outerShdw>
          </a:effectLst>
        </p:spPr>
      </p:sp>
      <p:sp>
        <p:nvSpPr>
          <p:cNvPr id="35" name="Shape 20"/>
          <p:cNvSpPr/>
          <p:nvPr/>
        </p:nvSpPr>
        <p:spPr>
          <a:xfrm>
            <a:off x="2532888" y="1911096"/>
            <a:ext cx="237744" cy="237744"/>
          </a:xfrm>
          <a:prstGeom prst="ellipse">
            <a:avLst/>
          </a:prstGeom>
          <a:solidFill>
            <a:srgbClr val="D97706"/>
          </a:solidFill>
          <a:ln/>
        </p:spPr>
      </p:sp>
      <p:sp>
        <p:nvSpPr>
          <p:cNvPr id="36" name="Text 21"/>
          <p:cNvSpPr txBox="1"/>
          <p:nvPr/>
        </p:nvSpPr>
        <p:spPr>
          <a:xfrm>
            <a:off x="2532888" y="1911096"/>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37" name="Text 22"/>
          <p:cNvSpPr txBox="1"/>
          <p:nvPr/>
        </p:nvSpPr>
        <p:spPr>
          <a:xfrm>
            <a:off x="2862072" y="1874520"/>
            <a:ext cx="1252728" cy="310896"/>
          </a:xfrm>
          <a:prstGeom prst="rect">
            <a:avLst/>
          </a:prstGeom>
          <a:noFill/>
          <a:ln/>
        </p:spPr>
        <p:txBody>
          <a:bodyPr wrap="square" lIns="0" tIns="0" rIns="0" bIns="0" rtlCol="0" anchor="ctr"/>
          <a:lstStyle/>
          <a:p>
            <a:pPr indent="0" marL="0">
              <a:buNone/>
            </a:pPr>
            <a:r>
              <a:rPr lang="en-US" sz="1300" b="1" dirty="0">
                <a:solidFill>
                  <a:srgbClr val="0B1526"/>
                </a:solidFill>
              </a:rPr>
              <a:t>Immigration</a:t>
            </a:r>
            <a:endParaRPr lang="en-US" sz="1300" dirty="0"/>
          </a:p>
        </p:txBody>
      </p:sp>
      <p:sp>
        <p:nvSpPr>
          <p:cNvPr id="38" name="Text 23"/>
          <p:cNvSpPr txBox="1"/>
          <p:nvPr/>
        </p:nvSpPr>
        <p:spPr>
          <a:xfrm>
            <a:off x="2532888" y="2176272"/>
            <a:ext cx="1581912" cy="201168"/>
          </a:xfrm>
          <a:prstGeom prst="rect">
            <a:avLst/>
          </a:prstGeom>
          <a:noFill/>
          <a:ln/>
        </p:spPr>
        <p:txBody>
          <a:bodyPr wrap="square" lIns="0" tIns="0" rIns="0" bIns="0" rtlCol="0" anchor="ctr"/>
          <a:lstStyle/>
          <a:p>
            <a:pPr indent="0" marL="0">
              <a:buNone/>
            </a:pPr>
            <a:r>
              <a:rPr lang="en-US" sz="1000" dirty="0">
                <a:solidFill>
                  <a:srgbClr val="4A5870"/>
                </a:solidFill>
              </a:rPr>
              <a:t>Manual passport check</a:t>
            </a:r>
            <a:endParaRPr lang="en-US" sz="1000" dirty="0"/>
          </a:p>
        </p:txBody>
      </p:sp>
      <p:pic>
        <p:nvPicPr>
          <p:cNvPr id="39" name="Image 3" descr="preencoded.png">    </p:cNvPr>
          <p:cNvPicPr>
            <a:picLocks noChangeAspect="1"/>
          </p:cNvPicPr>
          <p:nvPr/>
        </p:nvPicPr>
        <p:blipFill>
          <a:blip r:embed="rId5"/>
          <a:stretch>
            <a:fillRect/>
          </a:stretch>
        </p:blipFill>
        <p:spPr>
          <a:xfrm>
            <a:off x="2532888" y="2395728"/>
            <a:ext cx="155448" cy="155448"/>
          </a:xfrm>
          <a:prstGeom prst="rect">
            <a:avLst/>
          </a:prstGeom>
        </p:spPr>
      </p:pic>
      <p:sp>
        <p:nvSpPr>
          <p:cNvPr id="40" name="Text 24"/>
          <p:cNvSpPr txBox="1"/>
          <p:nvPr/>
        </p:nvSpPr>
        <p:spPr>
          <a:xfrm>
            <a:off x="2734056" y="2377440"/>
            <a:ext cx="419735" cy="192024"/>
          </a:xfrm>
          <a:prstGeom prst="rect">
            <a:avLst/>
          </a:prstGeom>
          <a:noFill/>
          <a:ln/>
        </p:spPr>
        <p:txBody>
          <a:bodyPr wrap="square" lIns="0" tIns="0" rIns="0" bIns="0" rtlCol="0" anchor="ctr"/>
          <a:lstStyle/>
          <a:p>
            <a:pPr indent="0" marL="0">
              <a:buNone/>
            </a:pPr>
            <a:r>
              <a:rPr lang="en-US" sz="1000" b="1" dirty="0">
                <a:solidFill>
                  <a:srgbClr val="0B2545"/>
                </a:solidFill>
              </a:rPr>
              <a:t>4 staff</a:t>
            </a:r>
            <a:endParaRPr lang="en-US" sz="1000" dirty="0"/>
          </a:p>
        </p:txBody>
      </p:sp>
      <p:pic>
        <p:nvPicPr>
          <p:cNvPr id="41" name="Image 4" descr="preencoded.png">    </p:cNvPr>
          <p:cNvPicPr>
            <a:picLocks noChangeAspect="1"/>
          </p:cNvPicPr>
          <p:nvPr/>
        </p:nvPicPr>
        <p:blipFill>
          <a:blip r:embed="rId6"/>
          <a:stretch>
            <a:fillRect/>
          </a:stretch>
        </p:blipFill>
        <p:spPr>
          <a:xfrm>
            <a:off x="3272663" y="2395728"/>
            <a:ext cx="155448" cy="155448"/>
          </a:xfrm>
          <a:prstGeom prst="rect">
            <a:avLst/>
          </a:prstGeom>
        </p:spPr>
      </p:pic>
      <p:sp>
        <p:nvSpPr>
          <p:cNvPr id="42" name="Text 25"/>
          <p:cNvSpPr txBox="1"/>
          <p:nvPr/>
        </p:nvSpPr>
        <p:spPr>
          <a:xfrm>
            <a:off x="3473831" y="2377440"/>
            <a:ext cx="548640" cy="192024"/>
          </a:xfrm>
          <a:prstGeom prst="rect">
            <a:avLst/>
          </a:prstGeom>
          <a:noFill/>
          <a:ln/>
        </p:spPr>
        <p:txBody>
          <a:bodyPr wrap="square" lIns="0" tIns="0" rIns="0" bIns="0" rtlCol="0" anchor="ctr"/>
          <a:lstStyle/>
          <a:p>
            <a:pPr indent="0" marL="0">
              <a:buNone/>
            </a:pPr>
            <a:r>
              <a:rPr lang="en-US" sz="1000" b="1" dirty="0">
                <a:solidFill>
                  <a:srgbClr val="D97706"/>
                </a:solidFill>
              </a:rPr>
              <a:t>Queue</a:t>
            </a:r>
            <a:endParaRPr lang="en-US" sz="1000" dirty="0"/>
          </a:p>
        </p:txBody>
      </p:sp>
      <p:sp>
        <p:nvSpPr>
          <p:cNvPr id="43" name="Shape 26"/>
          <p:cNvSpPr/>
          <p:nvPr/>
        </p:nvSpPr>
        <p:spPr>
          <a:xfrm>
            <a:off x="7571872" y="1828800"/>
            <a:ext cx="2099139" cy="786384"/>
          </a:xfrm>
          <a:prstGeom prst="roundRect">
            <a:avLst>
              <a:gd name="adj" fmla="val 11628"/>
            </a:avLst>
          </a:prstGeom>
          <a:solidFill>
            <a:srgbClr val="FFFFFF"/>
          </a:solidFill>
          <a:ln w="9525">
            <a:solidFill>
              <a:srgbClr val="F2D3A8"/>
            </a:solidFill>
            <a:prstDash val="solid"/>
          </a:ln>
          <a:effectLst>
            <a:outerShdw sx="100000" sy="100000" kx="0" ky="0" algn="bl" rotWithShape="0" blurRad="177800" dist="38100" dir="5400000">
              <a:srgbClr val="0A1628">
                <a:alpha val="12000"/>
              </a:srgbClr>
            </a:outerShdw>
          </a:effectLst>
        </p:spPr>
      </p:sp>
      <p:sp>
        <p:nvSpPr>
          <p:cNvPr id="44" name="Shape 27"/>
          <p:cNvSpPr/>
          <p:nvPr/>
        </p:nvSpPr>
        <p:spPr>
          <a:xfrm>
            <a:off x="7681600" y="1911096"/>
            <a:ext cx="237744" cy="237744"/>
          </a:xfrm>
          <a:prstGeom prst="ellipse">
            <a:avLst/>
          </a:prstGeom>
          <a:solidFill>
            <a:srgbClr val="D97706"/>
          </a:solidFill>
          <a:ln/>
        </p:spPr>
      </p:sp>
      <p:sp>
        <p:nvSpPr>
          <p:cNvPr id="45" name="Text 28"/>
          <p:cNvSpPr txBox="1"/>
          <p:nvPr/>
        </p:nvSpPr>
        <p:spPr>
          <a:xfrm>
            <a:off x="7681600" y="1911096"/>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rPr>
              <a:t>3</a:t>
            </a:r>
            <a:endParaRPr lang="en-US" sz="1100" dirty="0"/>
          </a:p>
        </p:txBody>
      </p:sp>
      <p:sp>
        <p:nvSpPr>
          <p:cNvPr id="46" name="Text 29"/>
          <p:cNvSpPr txBox="1"/>
          <p:nvPr/>
        </p:nvSpPr>
        <p:spPr>
          <a:xfrm>
            <a:off x="8010784" y="1874520"/>
            <a:ext cx="1660227" cy="310896"/>
          </a:xfrm>
          <a:prstGeom prst="rect">
            <a:avLst/>
          </a:prstGeom>
          <a:noFill/>
          <a:ln/>
        </p:spPr>
        <p:txBody>
          <a:bodyPr wrap="square" lIns="0" tIns="0" rIns="0" bIns="0" rtlCol="0" anchor="ctr"/>
          <a:lstStyle/>
          <a:p>
            <a:pPr indent="0" marL="0">
              <a:buNone/>
            </a:pPr>
            <a:r>
              <a:rPr lang="en-US" sz="1300" b="1" dirty="0">
                <a:solidFill>
                  <a:srgbClr val="0B1526"/>
                </a:solidFill>
              </a:rPr>
              <a:t>Security screening</a:t>
            </a:r>
            <a:endParaRPr lang="en-US" sz="1300" dirty="0"/>
          </a:p>
        </p:txBody>
      </p:sp>
      <p:sp>
        <p:nvSpPr>
          <p:cNvPr id="47" name="Text 30"/>
          <p:cNvSpPr txBox="1"/>
          <p:nvPr/>
        </p:nvSpPr>
        <p:spPr>
          <a:xfrm>
            <a:off x="7681600" y="2176272"/>
            <a:ext cx="1989411" cy="201168"/>
          </a:xfrm>
          <a:prstGeom prst="rect">
            <a:avLst/>
          </a:prstGeom>
          <a:noFill/>
          <a:ln/>
        </p:spPr>
        <p:txBody>
          <a:bodyPr wrap="square" lIns="0" tIns="0" rIns="0" bIns="0" rtlCol="0" anchor="ctr"/>
          <a:lstStyle/>
          <a:p>
            <a:pPr indent="0" marL="0">
              <a:buNone/>
            </a:pPr>
            <a:r>
              <a:rPr lang="en-US" sz="1000" dirty="0">
                <a:solidFill>
                  <a:srgbClr val="4A5870"/>
                </a:solidFill>
              </a:rPr>
              <a:t>Boarding pass and bags</a:t>
            </a:r>
            <a:endParaRPr lang="en-US" sz="1000" dirty="0"/>
          </a:p>
        </p:txBody>
      </p:sp>
      <p:pic>
        <p:nvPicPr>
          <p:cNvPr id="48" name="Image 5" descr="preencoded.png">    </p:cNvPr>
          <p:cNvPicPr>
            <a:picLocks noChangeAspect="1"/>
          </p:cNvPicPr>
          <p:nvPr/>
        </p:nvPicPr>
        <p:blipFill>
          <a:blip r:embed="rId5"/>
          <a:stretch>
            <a:fillRect/>
          </a:stretch>
        </p:blipFill>
        <p:spPr>
          <a:xfrm>
            <a:off x="7681600" y="2395728"/>
            <a:ext cx="155448" cy="155448"/>
          </a:xfrm>
          <a:prstGeom prst="rect">
            <a:avLst/>
          </a:prstGeom>
        </p:spPr>
      </p:pic>
      <p:sp>
        <p:nvSpPr>
          <p:cNvPr id="49" name="Text 31"/>
          <p:cNvSpPr txBox="1"/>
          <p:nvPr/>
        </p:nvSpPr>
        <p:spPr>
          <a:xfrm>
            <a:off x="7882768" y="2377440"/>
            <a:ext cx="419735" cy="192024"/>
          </a:xfrm>
          <a:prstGeom prst="rect">
            <a:avLst/>
          </a:prstGeom>
          <a:noFill/>
          <a:ln/>
        </p:spPr>
        <p:txBody>
          <a:bodyPr wrap="square" lIns="0" tIns="0" rIns="0" bIns="0" rtlCol="0" anchor="ctr"/>
          <a:lstStyle/>
          <a:p>
            <a:pPr indent="0" marL="0">
              <a:buNone/>
            </a:pPr>
            <a:r>
              <a:rPr lang="en-US" sz="1000" b="1" dirty="0">
                <a:solidFill>
                  <a:srgbClr val="0B2545"/>
                </a:solidFill>
              </a:rPr>
              <a:t>5 staff</a:t>
            </a:r>
            <a:endParaRPr lang="en-US" sz="1000" dirty="0"/>
          </a:p>
        </p:txBody>
      </p:sp>
      <p:pic>
        <p:nvPicPr>
          <p:cNvPr id="50" name="Image 6" descr="preencoded.png">    </p:cNvPr>
          <p:cNvPicPr>
            <a:picLocks noChangeAspect="1"/>
          </p:cNvPicPr>
          <p:nvPr/>
        </p:nvPicPr>
        <p:blipFill>
          <a:blip r:embed="rId6"/>
          <a:stretch>
            <a:fillRect/>
          </a:stretch>
        </p:blipFill>
        <p:spPr>
          <a:xfrm>
            <a:off x="8421375" y="2395728"/>
            <a:ext cx="155448" cy="155448"/>
          </a:xfrm>
          <a:prstGeom prst="rect">
            <a:avLst/>
          </a:prstGeom>
        </p:spPr>
      </p:pic>
      <p:sp>
        <p:nvSpPr>
          <p:cNvPr id="51" name="Text 32"/>
          <p:cNvSpPr txBox="1"/>
          <p:nvPr/>
        </p:nvSpPr>
        <p:spPr>
          <a:xfrm>
            <a:off x="8622543" y="2377440"/>
            <a:ext cx="548640" cy="192024"/>
          </a:xfrm>
          <a:prstGeom prst="rect">
            <a:avLst/>
          </a:prstGeom>
          <a:noFill/>
          <a:ln/>
        </p:spPr>
        <p:txBody>
          <a:bodyPr wrap="square" lIns="0" tIns="0" rIns="0" bIns="0" rtlCol="0" anchor="ctr"/>
          <a:lstStyle/>
          <a:p>
            <a:pPr indent="0" marL="0">
              <a:buNone/>
            </a:pPr>
            <a:r>
              <a:rPr lang="en-US" sz="1000" b="1" dirty="0">
                <a:solidFill>
                  <a:srgbClr val="D97706"/>
                </a:solidFill>
              </a:rPr>
              <a:t>Queue</a:t>
            </a:r>
            <a:endParaRPr lang="en-US" sz="1000" dirty="0"/>
          </a:p>
        </p:txBody>
      </p:sp>
      <p:sp>
        <p:nvSpPr>
          <p:cNvPr id="52" name="Shape 33"/>
          <p:cNvSpPr/>
          <p:nvPr/>
        </p:nvSpPr>
        <p:spPr>
          <a:xfrm>
            <a:off x="9853891" y="1828800"/>
            <a:ext cx="1789164" cy="786384"/>
          </a:xfrm>
          <a:prstGeom prst="roundRect">
            <a:avLst>
              <a:gd name="adj" fmla="val 11628"/>
            </a:avLst>
          </a:prstGeom>
          <a:solidFill>
            <a:srgbClr val="FFFFFF"/>
          </a:solidFill>
          <a:ln w="9525">
            <a:solidFill>
              <a:srgbClr val="F2D3A8"/>
            </a:solidFill>
            <a:prstDash val="solid"/>
          </a:ln>
          <a:effectLst>
            <a:outerShdw sx="100000" sy="100000" kx="0" ky="0" algn="bl" rotWithShape="0" blurRad="177800" dist="38100" dir="5400000">
              <a:srgbClr val="0A1628">
                <a:alpha val="12000"/>
              </a:srgbClr>
            </a:outerShdw>
          </a:effectLst>
        </p:spPr>
      </p:sp>
      <p:sp>
        <p:nvSpPr>
          <p:cNvPr id="53" name="Shape 34"/>
          <p:cNvSpPr/>
          <p:nvPr/>
        </p:nvSpPr>
        <p:spPr>
          <a:xfrm>
            <a:off x="9963619" y="1911096"/>
            <a:ext cx="237744" cy="237744"/>
          </a:xfrm>
          <a:prstGeom prst="ellipse">
            <a:avLst/>
          </a:prstGeom>
          <a:solidFill>
            <a:srgbClr val="D97706"/>
          </a:solidFill>
          <a:ln/>
        </p:spPr>
      </p:sp>
      <p:sp>
        <p:nvSpPr>
          <p:cNvPr id="54" name="Text 35"/>
          <p:cNvSpPr txBox="1"/>
          <p:nvPr/>
        </p:nvSpPr>
        <p:spPr>
          <a:xfrm>
            <a:off x="9963619" y="1911096"/>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rPr>
              <a:t>4</a:t>
            </a:r>
            <a:endParaRPr lang="en-US" sz="1100" dirty="0"/>
          </a:p>
        </p:txBody>
      </p:sp>
      <p:sp>
        <p:nvSpPr>
          <p:cNvPr id="55" name="Text 36"/>
          <p:cNvSpPr txBox="1"/>
          <p:nvPr/>
        </p:nvSpPr>
        <p:spPr>
          <a:xfrm>
            <a:off x="10292803" y="1874520"/>
            <a:ext cx="1350252" cy="310896"/>
          </a:xfrm>
          <a:prstGeom prst="rect">
            <a:avLst/>
          </a:prstGeom>
          <a:noFill/>
          <a:ln/>
        </p:spPr>
        <p:txBody>
          <a:bodyPr wrap="square" lIns="0" tIns="0" rIns="0" bIns="0" rtlCol="0" anchor="ctr"/>
          <a:lstStyle/>
          <a:p>
            <a:pPr indent="0" marL="0">
              <a:buNone/>
            </a:pPr>
            <a:r>
              <a:rPr lang="en-US" sz="1300" b="1" dirty="0">
                <a:solidFill>
                  <a:srgbClr val="0B1526"/>
                </a:solidFill>
              </a:rPr>
              <a:t>Boarding gate</a:t>
            </a:r>
            <a:endParaRPr lang="en-US" sz="1300" dirty="0"/>
          </a:p>
        </p:txBody>
      </p:sp>
      <p:sp>
        <p:nvSpPr>
          <p:cNvPr id="56" name="Text 37"/>
          <p:cNvSpPr txBox="1"/>
          <p:nvPr/>
        </p:nvSpPr>
        <p:spPr>
          <a:xfrm>
            <a:off x="9963619" y="2176272"/>
            <a:ext cx="1679436" cy="201168"/>
          </a:xfrm>
          <a:prstGeom prst="rect">
            <a:avLst/>
          </a:prstGeom>
          <a:noFill/>
          <a:ln/>
        </p:spPr>
        <p:txBody>
          <a:bodyPr wrap="square" lIns="0" tIns="0" rIns="0" bIns="0" rtlCol="0" anchor="ctr"/>
          <a:lstStyle/>
          <a:p>
            <a:pPr indent="0" marL="0">
              <a:buNone/>
            </a:pPr>
            <a:r>
              <a:rPr lang="en-US" sz="1000" dirty="0">
                <a:solidFill>
                  <a:srgbClr val="4A5870"/>
                </a:solidFill>
              </a:rPr>
              <a:t>Documents checked again</a:t>
            </a:r>
            <a:endParaRPr lang="en-US" sz="1000" dirty="0"/>
          </a:p>
        </p:txBody>
      </p:sp>
      <p:pic>
        <p:nvPicPr>
          <p:cNvPr id="57" name="Image 7" descr="preencoded.png">    </p:cNvPr>
          <p:cNvPicPr>
            <a:picLocks noChangeAspect="1"/>
          </p:cNvPicPr>
          <p:nvPr/>
        </p:nvPicPr>
        <p:blipFill>
          <a:blip r:embed="rId5"/>
          <a:stretch>
            <a:fillRect/>
          </a:stretch>
        </p:blipFill>
        <p:spPr>
          <a:xfrm>
            <a:off x="9963619" y="2395728"/>
            <a:ext cx="155448" cy="155448"/>
          </a:xfrm>
          <a:prstGeom prst="rect">
            <a:avLst/>
          </a:prstGeom>
        </p:spPr>
      </p:pic>
      <p:sp>
        <p:nvSpPr>
          <p:cNvPr id="58" name="Text 38"/>
          <p:cNvSpPr txBox="1"/>
          <p:nvPr/>
        </p:nvSpPr>
        <p:spPr>
          <a:xfrm>
            <a:off x="10164787" y="2377440"/>
            <a:ext cx="419735" cy="192024"/>
          </a:xfrm>
          <a:prstGeom prst="rect">
            <a:avLst/>
          </a:prstGeom>
          <a:noFill/>
          <a:ln/>
        </p:spPr>
        <p:txBody>
          <a:bodyPr wrap="square" lIns="0" tIns="0" rIns="0" bIns="0" rtlCol="0" anchor="ctr"/>
          <a:lstStyle/>
          <a:p>
            <a:pPr indent="0" marL="0">
              <a:buNone/>
            </a:pPr>
            <a:r>
              <a:rPr lang="en-US" sz="1000" b="1" dirty="0">
                <a:solidFill>
                  <a:srgbClr val="0B2545"/>
                </a:solidFill>
              </a:rPr>
              <a:t>3 staff</a:t>
            </a:r>
            <a:endParaRPr lang="en-US" sz="1000" dirty="0"/>
          </a:p>
        </p:txBody>
      </p:sp>
      <p:pic>
        <p:nvPicPr>
          <p:cNvPr id="59" name="Image 8" descr="preencoded.png">    </p:cNvPr>
          <p:cNvPicPr>
            <a:picLocks noChangeAspect="1"/>
          </p:cNvPicPr>
          <p:nvPr/>
        </p:nvPicPr>
        <p:blipFill>
          <a:blip r:embed="rId6"/>
          <a:stretch>
            <a:fillRect/>
          </a:stretch>
        </p:blipFill>
        <p:spPr>
          <a:xfrm>
            <a:off x="10703394" y="2395728"/>
            <a:ext cx="155448" cy="155448"/>
          </a:xfrm>
          <a:prstGeom prst="rect">
            <a:avLst/>
          </a:prstGeom>
        </p:spPr>
      </p:pic>
      <p:sp>
        <p:nvSpPr>
          <p:cNvPr id="60" name="Text 39"/>
          <p:cNvSpPr txBox="1"/>
          <p:nvPr/>
        </p:nvSpPr>
        <p:spPr>
          <a:xfrm>
            <a:off x="10904562" y="2377440"/>
            <a:ext cx="548640" cy="192024"/>
          </a:xfrm>
          <a:prstGeom prst="rect">
            <a:avLst/>
          </a:prstGeom>
          <a:noFill/>
          <a:ln/>
        </p:spPr>
        <p:txBody>
          <a:bodyPr wrap="square" lIns="0" tIns="0" rIns="0" bIns="0" rtlCol="0" anchor="ctr"/>
          <a:lstStyle/>
          <a:p>
            <a:pPr indent="0" marL="0">
              <a:buNone/>
            </a:pPr>
            <a:r>
              <a:rPr lang="en-US" sz="1000" b="1" dirty="0">
                <a:solidFill>
                  <a:srgbClr val="D97706"/>
                </a:solidFill>
              </a:rPr>
              <a:t>Queue</a:t>
            </a:r>
            <a:endParaRPr lang="en-US" sz="1000" dirty="0"/>
          </a:p>
        </p:txBody>
      </p:sp>
      <p:sp>
        <p:nvSpPr>
          <p:cNvPr id="61" name="Shape 40"/>
          <p:cNvSpPr/>
          <p:nvPr/>
        </p:nvSpPr>
        <p:spPr>
          <a:xfrm>
            <a:off x="4069080" y="4828032"/>
            <a:ext cx="292608" cy="0"/>
          </a:xfrm>
          <a:prstGeom prst="line">
            <a:avLst/>
          </a:prstGeom>
          <a:noFill/>
          <a:ln w="28575">
            <a:solidFill>
              <a:srgbClr val="D97706"/>
            </a:solidFill>
            <a:prstDash val="solid"/>
          </a:ln>
        </p:spPr>
      </p:sp>
      <p:sp>
        <p:nvSpPr>
          <p:cNvPr id="62" name="Text 41"/>
          <p:cNvSpPr txBox="1"/>
          <p:nvPr/>
        </p:nvSpPr>
        <p:spPr>
          <a:xfrm>
            <a:off x="4434840" y="4736592"/>
            <a:ext cx="1600200" cy="182880"/>
          </a:xfrm>
          <a:prstGeom prst="rect">
            <a:avLst/>
          </a:prstGeom>
          <a:noFill/>
          <a:ln/>
        </p:spPr>
        <p:txBody>
          <a:bodyPr wrap="square" lIns="0" tIns="0" rIns="0" bIns="0" rtlCol="0" anchor="ctr"/>
          <a:lstStyle/>
          <a:p>
            <a:pPr indent="0" marL="0">
              <a:buNone/>
            </a:pPr>
            <a:r>
              <a:rPr lang="en-US" sz="950" dirty="0">
                <a:solidFill>
                  <a:srgbClr val="4A5870"/>
                </a:solidFill>
              </a:rPr>
              <a:t>Traveller path and stops</a:t>
            </a:r>
            <a:endParaRPr lang="en-US" sz="950" dirty="0"/>
          </a:p>
        </p:txBody>
      </p:sp>
      <p:sp>
        <p:nvSpPr>
          <p:cNvPr id="63" name="Shape 42"/>
          <p:cNvSpPr/>
          <p:nvPr/>
        </p:nvSpPr>
        <p:spPr>
          <a:xfrm>
            <a:off x="6035040" y="4754880"/>
            <a:ext cx="146304" cy="146304"/>
          </a:xfrm>
          <a:prstGeom prst="ellipse">
            <a:avLst/>
          </a:prstGeom>
          <a:solidFill>
            <a:srgbClr val="0B2545"/>
          </a:solidFill>
          <a:ln/>
        </p:spPr>
      </p:sp>
      <p:sp>
        <p:nvSpPr>
          <p:cNvPr id="64" name="Text 43"/>
          <p:cNvSpPr txBox="1"/>
          <p:nvPr/>
        </p:nvSpPr>
        <p:spPr>
          <a:xfrm>
            <a:off x="6245352" y="4736592"/>
            <a:ext cx="914400" cy="182880"/>
          </a:xfrm>
          <a:prstGeom prst="rect">
            <a:avLst/>
          </a:prstGeom>
          <a:noFill/>
          <a:ln/>
        </p:spPr>
        <p:txBody>
          <a:bodyPr wrap="square" lIns="0" tIns="0" rIns="0" bIns="0" rtlCol="0" anchor="ctr"/>
          <a:lstStyle/>
          <a:p>
            <a:pPr indent="0" marL="0">
              <a:buNone/>
            </a:pPr>
            <a:r>
              <a:rPr lang="en-US" sz="950" dirty="0">
                <a:solidFill>
                  <a:srgbClr val="4A5870"/>
                </a:solidFill>
              </a:rPr>
              <a:t>Staff / officer</a:t>
            </a:r>
            <a:endParaRPr lang="en-US" sz="950" dirty="0"/>
          </a:p>
        </p:txBody>
      </p:sp>
      <p:sp>
        <p:nvSpPr>
          <p:cNvPr id="65" name="Shape 44"/>
          <p:cNvSpPr/>
          <p:nvPr/>
        </p:nvSpPr>
        <p:spPr>
          <a:xfrm>
            <a:off x="7196328" y="4754880"/>
            <a:ext cx="256032" cy="146304"/>
          </a:xfrm>
          <a:prstGeom prst="roundRect">
            <a:avLst>
              <a:gd name="adj" fmla="val 31250"/>
            </a:avLst>
          </a:prstGeom>
          <a:solidFill>
            <a:srgbClr val="FFB340">
              <a:alpha val="45000"/>
            </a:srgbClr>
          </a:solidFill>
          <a:ln/>
        </p:spPr>
      </p:sp>
      <p:sp>
        <p:nvSpPr>
          <p:cNvPr id="66" name="Text 45"/>
          <p:cNvSpPr txBox="1"/>
          <p:nvPr/>
        </p:nvSpPr>
        <p:spPr>
          <a:xfrm>
            <a:off x="7525512" y="4736592"/>
            <a:ext cx="548640" cy="182880"/>
          </a:xfrm>
          <a:prstGeom prst="rect">
            <a:avLst/>
          </a:prstGeom>
          <a:noFill/>
          <a:ln/>
        </p:spPr>
        <p:txBody>
          <a:bodyPr wrap="square" lIns="0" tIns="0" rIns="0" bIns="0" rtlCol="0" anchor="ctr"/>
          <a:lstStyle/>
          <a:p>
            <a:pPr indent="0" marL="0">
              <a:buNone/>
            </a:pPr>
            <a:r>
              <a:rPr lang="en-US" sz="950" dirty="0">
                <a:solidFill>
                  <a:srgbClr val="4A5870"/>
                </a:solidFill>
              </a:rPr>
              <a:t>Queue</a:t>
            </a:r>
            <a:endParaRPr lang="en-US" sz="950" dirty="0"/>
          </a:p>
        </p:txBody>
      </p:sp>
      <p:sp>
        <p:nvSpPr>
          <p:cNvPr id="67" name="Shape 46"/>
          <p:cNvSpPr/>
          <p:nvPr/>
        </p:nvSpPr>
        <p:spPr>
          <a:xfrm>
            <a:off x="548640" y="5358384"/>
            <a:ext cx="2636444" cy="658368"/>
          </a:xfrm>
          <a:prstGeom prst="roundRect">
            <a:avLst>
              <a:gd name="adj" fmla="val 16667"/>
            </a:avLst>
          </a:prstGeom>
          <a:solidFill>
            <a:srgbClr val="FFFFFF"/>
          </a:solidFill>
          <a:ln/>
          <a:effectLst>
            <a:outerShdw sx="100000" sy="100000" kx="0" ky="0" algn="bl" rotWithShape="0" blurRad="177800" dist="38100" dir="5400000">
              <a:srgbClr val="0A1628">
                <a:alpha val="12000"/>
              </a:srgbClr>
            </a:outerShdw>
          </a:effectLst>
        </p:spPr>
      </p:sp>
      <p:sp>
        <p:nvSpPr>
          <p:cNvPr id="68" name="Shape 47"/>
          <p:cNvSpPr/>
          <p:nvPr/>
        </p:nvSpPr>
        <p:spPr>
          <a:xfrm>
            <a:off x="694944" y="5495544"/>
            <a:ext cx="384048" cy="384048"/>
          </a:xfrm>
          <a:prstGeom prst="ellipse">
            <a:avLst/>
          </a:prstGeom>
          <a:solidFill>
            <a:srgbClr val="D97706">
              <a:alpha val="14000"/>
            </a:srgbClr>
          </a:solidFill>
          <a:ln/>
        </p:spPr>
      </p:sp>
      <p:pic>
        <p:nvPicPr>
          <p:cNvPr id="69" name="Image 9" descr="preencoded.png">    </p:cNvPr>
          <p:cNvPicPr>
            <a:picLocks noChangeAspect="1"/>
          </p:cNvPicPr>
          <p:nvPr/>
        </p:nvPicPr>
        <p:blipFill>
          <a:blip r:embed="rId7"/>
          <a:stretch>
            <a:fillRect/>
          </a:stretch>
        </p:blipFill>
        <p:spPr>
          <a:xfrm>
            <a:off x="786384" y="5586984"/>
            <a:ext cx="201168" cy="201168"/>
          </a:xfrm>
          <a:prstGeom prst="rect">
            <a:avLst/>
          </a:prstGeom>
        </p:spPr>
      </p:pic>
      <p:sp>
        <p:nvSpPr>
          <p:cNvPr id="70" name="Text 48"/>
          <p:cNvSpPr txBox="1"/>
          <p:nvPr/>
        </p:nvSpPr>
        <p:spPr>
          <a:xfrm>
            <a:off x="1170432" y="5413248"/>
            <a:ext cx="749808" cy="548640"/>
          </a:xfrm>
          <a:prstGeom prst="rect">
            <a:avLst/>
          </a:prstGeom>
          <a:noFill/>
          <a:ln/>
        </p:spPr>
        <p:txBody>
          <a:bodyPr wrap="square" lIns="0" tIns="0" rIns="0" bIns="0" rtlCol="0" anchor="ctr"/>
          <a:lstStyle/>
          <a:p>
            <a:pPr indent="0" marL="0">
              <a:buNone/>
            </a:pPr>
            <a:r>
              <a:rPr lang="en-US" sz="2200" b="1" dirty="0">
                <a:solidFill>
                  <a:srgbClr val="0B1526"/>
                </a:solidFill>
              </a:rPr>
              <a:t>~4</a:t>
            </a:r>
            <a:endParaRPr lang="en-US" sz="2200" dirty="0"/>
          </a:p>
        </p:txBody>
      </p:sp>
      <p:sp>
        <p:nvSpPr>
          <p:cNvPr id="71" name="Text 49"/>
          <p:cNvSpPr txBox="1"/>
          <p:nvPr/>
        </p:nvSpPr>
        <p:spPr>
          <a:xfrm>
            <a:off x="1920240" y="5431536"/>
            <a:ext cx="1173404" cy="512064"/>
          </a:xfrm>
          <a:prstGeom prst="rect">
            <a:avLst/>
          </a:prstGeom>
          <a:noFill/>
          <a:ln/>
        </p:spPr>
        <p:txBody>
          <a:bodyPr wrap="square" lIns="0" tIns="0" rIns="0" bIns="0" rtlCol="0" anchor="ctr"/>
          <a:lstStyle/>
          <a:p>
            <a:pPr indent="0" marL="0">
              <a:buNone/>
            </a:pPr>
            <a:r>
              <a:rPr lang="en-US" sz="1050" dirty="0">
                <a:solidFill>
                  <a:srgbClr val="4A5870"/>
                </a:solidFill>
              </a:rPr>
              <a:t>identity checks per departure</a:t>
            </a:r>
            <a:endParaRPr lang="en-US" sz="1050" dirty="0"/>
          </a:p>
        </p:txBody>
      </p:sp>
      <p:sp>
        <p:nvSpPr>
          <p:cNvPr id="72" name="Shape 50"/>
          <p:cNvSpPr/>
          <p:nvPr/>
        </p:nvSpPr>
        <p:spPr>
          <a:xfrm>
            <a:off x="3367964" y="5358384"/>
            <a:ext cx="2636444" cy="658368"/>
          </a:xfrm>
          <a:prstGeom prst="roundRect">
            <a:avLst>
              <a:gd name="adj" fmla="val 16667"/>
            </a:avLst>
          </a:prstGeom>
          <a:solidFill>
            <a:srgbClr val="FFFFFF"/>
          </a:solidFill>
          <a:ln/>
          <a:effectLst>
            <a:outerShdw sx="100000" sy="100000" kx="0" ky="0" algn="bl" rotWithShape="0" blurRad="177800" dist="38100" dir="5400000">
              <a:srgbClr val="0A1628">
                <a:alpha val="12000"/>
              </a:srgbClr>
            </a:outerShdw>
          </a:effectLst>
        </p:spPr>
      </p:sp>
      <p:sp>
        <p:nvSpPr>
          <p:cNvPr id="73" name="Shape 51"/>
          <p:cNvSpPr/>
          <p:nvPr/>
        </p:nvSpPr>
        <p:spPr>
          <a:xfrm>
            <a:off x="3514268" y="5495544"/>
            <a:ext cx="384048" cy="384048"/>
          </a:xfrm>
          <a:prstGeom prst="ellipse">
            <a:avLst/>
          </a:prstGeom>
          <a:solidFill>
            <a:srgbClr val="D97706">
              <a:alpha val="14000"/>
            </a:srgbClr>
          </a:solidFill>
          <a:ln/>
        </p:spPr>
      </p:sp>
      <p:pic>
        <p:nvPicPr>
          <p:cNvPr id="74" name="Image 10" descr="preencoded.png">    </p:cNvPr>
          <p:cNvPicPr>
            <a:picLocks noChangeAspect="1"/>
          </p:cNvPicPr>
          <p:nvPr/>
        </p:nvPicPr>
        <p:blipFill>
          <a:blip r:embed="rId8"/>
          <a:stretch>
            <a:fillRect/>
          </a:stretch>
        </p:blipFill>
        <p:spPr>
          <a:xfrm>
            <a:off x="3605708" y="5586984"/>
            <a:ext cx="201168" cy="201168"/>
          </a:xfrm>
          <a:prstGeom prst="rect">
            <a:avLst/>
          </a:prstGeom>
        </p:spPr>
      </p:pic>
      <p:sp>
        <p:nvSpPr>
          <p:cNvPr id="75" name="Text 52"/>
          <p:cNvSpPr txBox="1"/>
          <p:nvPr/>
        </p:nvSpPr>
        <p:spPr>
          <a:xfrm>
            <a:off x="3989756" y="5413248"/>
            <a:ext cx="749808" cy="548640"/>
          </a:xfrm>
          <a:prstGeom prst="rect">
            <a:avLst/>
          </a:prstGeom>
          <a:noFill/>
          <a:ln/>
        </p:spPr>
        <p:txBody>
          <a:bodyPr wrap="square" lIns="0" tIns="0" rIns="0" bIns="0" rtlCol="0" anchor="ctr"/>
          <a:lstStyle/>
          <a:p>
            <a:pPr indent="0" marL="0">
              <a:buNone/>
            </a:pPr>
            <a:r>
              <a:rPr lang="en-US" sz="2200" b="1" dirty="0">
                <a:solidFill>
                  <a:srgbClr val="0B1526"/>
                </a:solidFill>
              </a:rPr>
              <a:t>≥2</a:t>
            </a:r>
            <a:endParaRPr lang="en-US" sz="2200" dirty="0"/>
          </a:p>
        </p:txBody>
      </p:sp>
      <p:sp>
        <p:nvSpPr>
          <p:cNvPr id="76" name="Text 53"/>
          <p:cNvSpPr txBox="1"/>
          <p:nvPr/>
        </p:nvSpPr>
        <p:spPr>
          <a:xfrm>
            <a:off x="4739564" y="5431536"/>
            <a:ext cx="1173404" cy="512064"/>
          </a:xfrm>
          <a:prstGeom prst="rect">
            <a:avLst/>
          </a:prstGeom>
          <a:noFill/>
          <a:ln/>
        </p:spPr>
        <p:txBody>
          <a:bodyPr wrap="square" lIns="0" tIns="0" rIns="0" bIns="0" rtlCol="0" anchor="ctr"/>
          <a:lstStyle/>
          <a:p>
            <a:pPr indent="0" marL="0">
              <a:buNone/>
            </a:pPr>
            <a:r>
              <a:rPr lang="en-US" sz="1050" dirty="0">
                <a:solidFill>
                  <a:srgbClr val="4A5870"/>
                </a:solidFill>
              </a:rPr>
              <a:t>staff at every touchpoint</a:t>
            </a:r>
            <a:endParaRPr lang="en-US" sz="1050" dirty="0"/>
          </a:p>
        </p:txBody>
      </p:sp>
      <p:sp>
        <p:nvSpPr>
          <p:cNvPr id="77" name="Shape 54"/>
          <p:cNvSpPr/>
          <p:nvPr/>
        </p:nvSpPr>
        <p:spPr>
          <a:xfrm>
            <a:off x="6187288" y="5358384"/>
            <a:ext cx="2636444" cy="658368"/>
          </a:xfrm>
          <a:prstGeom prst="roundRect">
            <a:avLst>
              <a:gd name="adj" fmla="val 16667"/>
            </a:avLst>
          </a:prstGeom>
          <a:solidFill>
            <a:srgbClr val="FFFFFF"/>
          </a:solidFill>
          <a:ln/>
          <a:effectLst>
            <a:outerShdw sx="100000" sy="100000" kx="0" ky="0" algn="bl" rotWithShape="0" blurRad="177800" dist="38100" dir="5400000">
              <a:srgbClr val="0A1628">
                <a:alpha val="12000"/>
              </a:srgbClr>
            </a:outerShdw>
          </a:effectLst>
        </p:spPr>
      </p:sp>
      <p:sp>
        <p:nvSpPr>
          <p:cNvPr id="78" name="Shape 55"/>
          <p:cNvSpPr/>
          <p:nvPr/>
        </p:nvSpPr>
        <p:spPr>
          <a:xfrm>
            <a:off x="6333592" y="5495544"/>
            <a:ext cx="384048" cy="384048"/>
          </a:xfrm>
          <a:prstGeom prst="ellipse">
            <a:avLst/>
          </a:prstGeom>
          <a:solidFill>
            <a:srgbClr val="0B84AE">
              <a:alpha val="14000"/>
            </a:srgbClr>
          </a:solidFill>
          <a:ln/>
        </p:spPr>
      </p:sp>
      <p:pic>
        <p:nvPicPr>
          <p:cNvPr id="79" name="Image 11" descr="preencoded.png">    </p:cNvPr>
          <p:cNvPicPr>
            <a:picLocks noChangeAspect="1"/>
          </p:cNvPicPr>
          <p:nvPr/>
        </p:nvPicPr>
        <p:blipFill>
          <a:blip r:embed="rId9"/>
          <a:stretch>
            <a:fillRect/>
          </a:stretch>
        </p:blipFill>
        <p:spPr>
          <a:xfrm>
            <a:off x="6425032" y="5586984"/>
            <a:ext cx="201168" cy="201168"/>
          </a:xfrm>
          <a:prstGeom prst="rect">
            <a:avLst/>
          </a:prstGeom>
        </p:spPr>
      </p:pic>
      <p:sp>
        <p:nvSpPr>
          <p:cNvPr id="80" name="Text 56"/>
          <p:cNvSpPr txBox="1"/>
          <p:nvPr/>
        </p:nvSpPr>
        <p:spPr>
          <a:xfrm>
            <a:off x="6809080" y="5413248"/>
            <a:ext cx="749808" cy="548640"/>
          </a:xfrm>
          <a:prstGeom prst="rect">
            <a:avLst/>
          </a:prstGeom>
          <a:noFill/>
          <a:ln/>
        </p:spPr>
        <p:txBody>
          <a:bodyPr wrap="square" lIns="0" tIns="0" rIns="0" bIns="0" rtlCol="0" anchor="ctr"/>
          <a:lstStyle/>
          <a:p>
            <a:pPr indent="0" marL="0">
              <a:buNone/>
            </a:pPr>
            <a:r>
              <a:rPr lang="en-US" sz="2200" b="1" dirty="0">
                <a:solidFill>
                  <a:srgbClr val="0B1526"/>
                </a:solidFill>
              </a:rPr>
              <a:t>2×</a:t>
            </a:r>
            <a:endParaRPr lang="en-US" sz="2200" dirty="0"/>
          </a:p>
        </p:txBody>
      </p:sp>
      <p:sp>
        <p:nvSpPr>
          <p:cNvPr id="81" name="Text 57"/>
          <p:cNvSpPr txBox="1"/>
          <p:nvPr/>
        </p:nvSpPr>
        <p:spPr>
          <a:xfrm>
            <a:off x="7558888" y="5431536"/>
            <a:ext cx="1173404" cy="512064"/>
          </a:xfrm>
          <a:prstGeom prst="rect">
            <a:avLst/>
          </a:prstGeom>
          <a:noFill/>
          <a:ln/>
        </p:spPr>
        <p:txBody>
          <a:bodyPr wrap="square" lIns="0" tIns="0" rIns="0" bIns="0" rtlCol="0" anchor="ctr"/>
          <a:lstStyle/>
          <a:p>
            <a:pPr indent="0" marL="0">
              <a:buNone/>
            </a:pPr>
            <a:r>
              <a:rPr lang="en-US" sz="1050" dirty="0">
                <a:solidFill>
                  <a:srgbClr val="4A5870"/>
                </a:solidFill>
              </a:rPr>
              <a:t>air travel demand by 2040</a:t>
            </a:r>
            <a:endParaRPr lang="en-US" sz="1050" dirty="0"/>
          </a:p>
        </p:txBody>
      </p:sp>
      <p:sp>
        <p:nvSpPr>
          <p:cNvPr id="82" name="Shape 58"/>
          <p:cNvSpPr/>
          <p:nvPr/>
        </p:nvSpPr>
        <p:spPr>
          <a:xfrm>
            <a:off x="9006611" y="5358384"/>
            <a:ext cx="2636444" cy="658368"/>
          </a:xfrm>
          <a:prstGeom prst="roundRect">
            <a:avLst>
              <a:gd name="adj" fmla="val 16667"/>
            </a:avLst>
          </a:prstGeom>
          <a:solidFill>
            <a:srgbClr val="FFFFFF"/>
          </a:solidFill>
          <a:ln/>
          <a:effectLst>
            <a:outerShdw sx="100000" sy="100000" kx="0" ky="0" algn="bl" rotWithShape="0" blurRad="177800" dist="38100" dir="5400000">
              <a:srgbClr val="0A1628">
                <a:alpha val="12000"/>
              </a:srgbClr>
            </a:outerShdw>
          </a:effectLst>
        </p:spPr>
      </p:sp>
      <p:sp>
        <p:nvSpPr>
          <p:cNvPr id="83" name="Shape 59"/>
          <p:cNvSpPr/>
          <p:nvPr/>
        </p:nvSpPr>
        <p:spPr>
          <a:xfrm>
            <a:off x="9152915" y="5495544"/>
            <a:ext cx="384048" cy="384048"/>
          </a:xfrm>
          <a:prstGeom prst="ellipse">
            <a:avLst/>
          </a:prstGeom>
          <a:solidFill>
            <a:srgbClr val="0B84AE">
              <a:alpha val="14000"/>
            </a:srgbClr>
          </a:solidFill>
          <a:ln/>
        </p:spPr>
      </p:sp>
      <p:pic>
        <p:nvPicPr>
          <p:cNvPr id="84" name="Image 12" descr="preencoded.png">    </p:cNvPr>
          <p:cNvPicPr>
            <a:picLocks noChangeAspect="1"/>
          </p:cNvPicPr>
          <p:nvPr/>
        </p:nvPicPr>
        <p:blipFill>
          <a:blip r:embed="rId10"/>
          <a:stretch>
            <a:fillRect/>
          </a:stretch>
        </p:blipFill>
        <p:spPr>
          <a:xfrm>
            <a:off x="9244355" y="5586984"/>
            <a:ext cx="201168" cy="201168"/>
          </a:xfrm>
          <a:prstGeom prst="rect">
            <a:avLst/>
          </a:prstGeom>
        </p:spPr>
      </p:pic>
      <p:sp>
        <p:nvSpPr>
          <p:cNvPr id="85" name="Text 60"/>
          <p:cNvSpPr txBox="1"/>
          <p:nvPr/>
        </p:nvSpPr>
        <p:spPr>
          <a:xfrm>
            <a:off x="9628403" y="5413248"/>
            <a:ext cx="749808" cy="548640"/>
          </a:xfrm>
          <a:prstGeom prst="rect">
            <a:avLst/>
          </a:prstGeom>
          <a:noFill/>
          <a:ln/>
        </p:spPr>
        <p:txBody>
          <a:bodyPr wrap="square" lIns="0" tIns="0" rIns="0" bIns="0" rtlCol="0" anchor="ctr"/>
          <a:lstStyle/>
          <a:p>
            <a:pPr indent="0" marL="0">
              <a:buNone/>
            </a:pPr>
            <a:r>
              <a:rPr lang="en-US" sz="2200" b="1" dirty="0">
                <a:solidFill>
                  <a:srgbClr val="0B1526"/>
                </a:solidFill>
              </a:rPr>
              <a:t>48%</a:t>
            </a:r>
            <a:endParaRPr lang="en-US" sz="2200" dirty="0"/>
          </a:p>
        </p:txBody>
      </p:sp>
      <p:sp>
        <p:nvSpPr>
          <p:cNvPr id="86" name="Text 61"/>
          <p:cNvSpPr txBox="1"/>
          <p:nvPr/>
        </p:nvSpPr>
        <p:spPr>
          <a:xfrm>
            <a:off x="10378211" y="5431536"/>
            <a:ext cx="1173404" cy="512064"/>
          </a:xfrm>
          <a:prstGeom prst="rect">
            <a:avLst/>
          </a:prstGeom>
          <a:noFill/>
          <a:ln/>
        </p:spPr>
        <p:txBody>
          <a:bodyPr wrap="square" lIns="0" tIns="0" rIns="0" bIns="0" rtlCol="0" anchor="ctr"/>
          <a:lstStyle/>
          <a:p>
            <a:pPr indent="0" marL="0">
              <a:buNone/>
            </a:pPr>
            <a:r>
              <a:rPr lang="en-US" sz="1050" dirty="0">
                <a:solidFill>
                  <a:srgbClr val="4A5870"/>
                </a:solidFill>
              </a:rPr>
              <a:t>of airports plan cross-silo data sharing by 2027</a:t>
            </a:r>
            <a:endParaRPr lang="en-US" sz="1050" dirty="0"/>
          </a:p>
        </p:txBody>
      </p:sp>
      <p:sp>
        <p:nvSpPr>
          <p:cNvPr id="87" name="Text 62"/>
          <p:cNvSpPr txBox="1"/>
          <p:nvPr/>
        </p:nvSpPr>
        <p:spPr>
          <a:xfrm>
            <a:off x="548640" y="6053328"/>
            <a:ext cx="11094415" cy="219456"/>
          </a:xfrm>
          <a:prstGeom prst="rect">
            <a:avLst/>
          </a:prstGeom>
          <a:noFill/>
          <a:ln/>
        </p:spPr>
        <p:txBody>
          <a:bodyPr wrap="square" lIns="0" tIns="0" rIns="0" bIns="0" rtlCol="0" anchor="ctr"/>
          <a:lstStyle/>
          <a:p>
            <a:pPr indent="0" marL="0">
              <a:buNone/>
            </a:pPr>
            <a:r>
              <a:rPr lang="en-US" sz="900" dirty="0">
                <a:solidFill>
                  <a:srgbClr val="4A5870"/>
                </a:solidFill>
              </a:rPr>
              <a:t>Sources: IATA Global Outlook for Air Transport (Dec 2023); SITA Air Transport IT Insights 2025 (airports). Staff per touchpoint: URS estimate from airport expert calls. Scene and staff counts are illustrative.</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31DAE19BDA24DF479223A523DC1EAC22" ma:contentTypeVersion="15" ma:contentTypeDescription="Create a new document." ma:contentTypeScope="" ma:versionID="f2d37794f9fe5706fdf315496084d6c9">
  <xsd:schema xmlns:xsd="http://www.w3.org/2001/XMLSchema" xmlns:xs="http://www.w3.org/2001/XMLSchema" xmlns:p="http://schemas.microsoft.com/office/2006/metadata/properties" xmlns:ns1="http://schemas.microsoft.com/sharepoint/v3" xmlns:ns2="59b4f843-a728-4593-8a1f-3b60800c0505" xmlns:ns3="195576e3-6fc6-4cc7-a52f-8a1a90fc6d57" targetNamespace="http://schemas.microsoft.com/office/2006/metadata/properties" ma:root="true" ma:fieldsID="bc42a6b90df392b895de16f18821551c" ns1:_="" ns2:_="" ns3:_="">
    <xsd:import namespace="http://schemas.microsoft.com/sharepoint/v3"/>
    <xsd:import namespace="59b4f843-a728-4593-8a1f-3b60800c0505"/>
    <xsd:import namespace="195576e3-6fc6-4cc7-a52f-8a1a90fc6d57"/>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1:_ip_UnifiedCompliancePolicyProperties" minOccurs="0"/>
                <xsd:element ref="ns1:_ip_UnifiedCompliancePolicyUIAction" minOccurs="0"/>
                <xsd:element ref="ns2:MediaLengthInSeconds" minOccurs="0"/>
                <xsd:element ref="ns2:MediaServiceLocation"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8" nillable="true" ma:displayName="Unified Compliance Policy Properties" ma:hidden="true" ma:internalName="_ip_UnifiedCompliancePolicyProperties">
      <xsd:simpleType>
        <xsd:restriction base="dms:Note"/>
      </xsd:simpleType>
    </xsd:element>
    <xsd:element name="_ip_UnifiedCompliancePolicyUIAction" ma:index="19"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59b4f843-a728-4593-8a1f-3b60800c050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60df6263-beb7-4e3d-b782-8d1ca9c8aa80"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LengthInSeconds" ma:index="20" nillable="true" ma:displayName="MediaLengthInSeconds" ma:hidden="true" ma:internalName="MediaLengthInSeconds" ma:readOnly="true">
      <xsd:simpleType>
        <xsd:restriction base="dms:Unknown"/>
      </xsd:simpleType>
    </xsd:element>
    <xsd:element name="MediaServiceLocation" ma:index="21" nillable="true" ma:displayName="Location" ma:indexed="true" ma:internalName="MediaServiceLocation" ma:readOnly="true">
      <xsd:simpleType>
        <xsd:restriction base="dms:Text"/>
      </xsd:simpleType>
    </xsd:element>
    <xsd:element name="MediaServiceBillingMetadata" ma:index="22"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95576e3-6fc6-4cc7-a52f-8a1a90fc6d57"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a3a38f4b-5bcc-4500-af1f-c24ca71b5c0a}" ma:internalName="TaxCatchAll" ma:showField="CatchAllData" ma:web="195576e3-6fc6-4cc7-a52f-8a1a90fc6d57">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lcf76f155ced4ddcb4097134ff3c332f xmlns="59b4f843-a728-4593-8a1f-3b60800c0505">
      <Terms xmlns="http://schemas.microsoft.com/office/infopath/2007/PartnerControls"/>
    </lcf76f155ced4ddcb4097134ff3c332f>
    <_ip_UnifiedCompliancePolicyProperties xmlns="http://schemas.microsoft.com/sharepoint/v3" xsi:nil="true"/>
    <TaxCatchAll xmlns="195576e3-6fc6-4cc7-a52f-8a1a90fc6d57" xsi:nil="true"/>
  </documentManagement>
</p:properties>
</file>

<file path=customXml/itemProps1.xml><?xml version="1.0" encoding="utf-8"?>
<ds:datastoreItem xmlns:ds="http://schemas.openxmlformats.org/officeDocument/2006/customXml" ds:itemID="{19AC9C15-0E1C-405D-9198-763B7011C765}">
  <ds:schemaRefs>
    <ds:schemaRef ds:uri="http://schemas.microsoft.com/sharepoint/v3/contenttype/forms"/>
  </ds:schemaRefs>
</ds:datastoreItem>
</file>

<file path=customXml/itemProps2.xml><?xml version="1.0" encoding="utf-8"?>
<ds:datastoreItem xmlns:ds="http://schemas.openxmlformats.org/officeDocument/2006/customXml" ds:itemID="{1435FA44-63C2-4ACA-A444-489731DA04F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59b4f843-a728-4593-8a1f-3b60800c0505"/>
    <ds:schemaRef ds:uri="195576e3-6fc6-4cc7-a52f-8a1a90fc6d57"/>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45C1C97A-0FBF-46FC-87F3-807B2E089C9B}">
  <ds:schemaRefs>
    <ds:schemaRef ds:uri="195576e3-6fc6-4cc7-a52f-8a1a90fc6d57"/>
    <ds:schemaRef ds:uri="http://purl.org/dc/dcmitype/"/>
    <ds:schemaRef ds:uri="http://schemas.microsoft.com/office/2006/documentManagement/types"/>
    <ds:schemaRef ds:uri="http://purl.org/dc/terms/"/>
    <ds:schemaRef ds:uri="http://schemas.microsoft.com/office/2006/metadata/properties"/>
    <ds:schemaRef ds:uri="http://schemas.microsoft.com/office/infopath/2007/PartnerControls"/>
    <ds:schemaRef ds:uri="http://purl.org/dc/elements/1.1/"/>
    <ds:schemaRef ds:uri="http://schemas.openxmlformats.org/package/2006/metadata/core-properties"/>
    <ds:schemaRef ds:uri="59b4f843-a728-4593-8a1f-3b60800c0505"/>
    <ds:schemaRef ds:uri="http://schemas.microsoft.com/sharepoint/v3"/>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office theme</Template>
  <TotalTime>1619</TotalTime>
  <Words>2706</Words>
  <Application>Microsoft Office PowerPoint</Application>
  <PresentationFormat>Widescreen</PresentationFormat>
  <Paragraphs>450</Paragraphs>
  <Slides>25</Slides>
  <Notes>25</Notes>
  <HiddenSlides>1</HiddenSlides>
  <MMClips>0</MMClips>
  <ScaleCrop>false</ScaleCrop>
  <HeadingPairs>
    <vt:vector size="4" baseType="variant">
      <vt:variant>
        <vt:lpstr>Theme</vt:lpstr>
      </vt:variant>
      <vt:variant>
        <vt:i4>1</vt:i4>
      </vt:variant>
      <vt:variant>
        <vt:lpstr>Slide Titles</vt:lpstr>
      </vt:variant>
      <vt:variant>
        <vt:i4>25</vt:i4>
      </vt:variant>
    </vt:vector>
  </HeadingPairs>
  <TitlesOfParts>
    <vt:vector size="26" baseType="lpstr">
      <vt:lpstr>office theme</vt:lpstr>
      <vt:lpstr>InnoChamp 2026 | Product Category</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lpstr>Appendix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Previous Submitted Slide Version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Zhang Qinyuan</dc:creator>
  <cp:lastModifiedBy>Zhang Qinyuan</cp:lastModifiedBy>
  <cp:revision>26</cp:revision>
  <dcterms:created xsi:type="dcterms:W3CDTF">2026-07-07T02:13:40Z</dcterms:created>
  <dcterms:modified xsi:type="dcterms:W3CDTF">2026-10-18T15:29:07Z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0x01010031DAE19BDA24DF479223A523DC1EAC22</vt:lpwstr>
  </property>
  <property fmtid="{D5CDD505-2E9C-101B-9397-08002B2CF9AE}" pid="3" name="MSIP_Label_a043ec3a-92eb-434b-bfcd-dd5fcd578c71_Enabled">
    <vt:lpwstr>true</vt:lpwstr>
  </property>
  <property fmtid="{D5CDD505-2E9C-101B-9397-08002B2CF9AE}" pid="4" name="MSIP_Label_a043ec3a-92eb-434b-bfcd-dd5fcd578c71_SetDate">
    <vt:lpwstr>2026-07-07T02:14:00Z</vt:lpwstr>
  </property>
  <property fmtid="{D5CDD505-2E9C-101B-9397-08002B2CF9AE}" pid="5" name="MSIP_Label_a043ec3a-92eb-434b-bfcd-dd5fcd578c71_Method">
    <vt:lpwstr>Privileged</vt:lpwstr>
  </property>
  <property fmtid="{D5CDD505-2E9C-101B-9397-08002B2CF9AE}" pid="6" name="MSIP_Label_a043ec3a-92eb-434b-bfcd-dd5fcd578c71_Name">
    <vt:lpwstr>Group_Unrestricted</vt:lpwstr>
  </property>
  <property fmtid="{D5CDD505-2E9C-101B-9397-08002B2CF9AE}" pid="7" name="MSIP_Label_a043ec3a-92eb-434b-bfcd-dd5fcd578c71_SiteId">
    <vt:lpwstr>82fac8d8-49c2-492d-9f67-7d9e5b66144e</vt:lpwstr>
  </property>
  <property fmtid="{D5CDD505-2E9C-101B-9397-08002B2CF9AE}" pid="8" name="MSIP_Label_a043ec3a-92eb-434b-bfcd-dd5fcd578c71_ActionId">
    <vt:lpwstr>18312b41-4cf1-42d6-90d8-012795db9c2e</vt:lpwstr>
  </property>
  <property fmtid="{D5CDD505-2E9C-101B-9397-08002B2CF9AE}" pid="9" name="MSIP_Label_a043ec3a-92eb-434b-bfcd-dd5fcd578c71_ContentBits">
    <vt:lpwstr>0</vt:lpwstr>
  </property>
  <property fmtid="{D5CDD505-2E9C-101B-9397-08002B2CF9AE}" pid="10" name="MSIP_Label_a043ec3a-92eb-434b-bfcd-dd5fcd578c71_Tag">
    <vt:lpwstr>10, 0, 1, 2</vt:lpwstr>
  </property>
  <property fmtid="{D5CDD505-2E9C-101B-9397-08002B2CF9AE}" pid="11" name="MediaServiceImageTags">
    <vt:lpwstr/>
  </property>
</Properties>
</file>