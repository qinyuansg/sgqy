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e5cc03de-c68e-b2b9-cb55-2e71da9841ca}">
          <p14:sldIdLst>
            <p14:sldId id="256"/>
            <p14:sldId id="257"/>
            <p14:sldId id="258"/>
            <p14:sldId id="259"/>
            <p14:sldId id="260"/>
            <p14:sldId id="261"/>
            <p14:sldId id="262"/>
            <p14:sldId id="263"/>
            <p14:sldId id="264"/>
            <p14:sldId id="265"/>
            <p14:sldId id="266"/>
          </p14:sldIdLst>
        </p14:section>
        <p14:section name="Appendix" id="{350d08e8-8942-48d5-09cc-834173be8aca}">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Cover
Good morning. I'm [Name]. With colleagues across Smart Security &amp; Automation, Smart Utilities &amp; Infrastructure and Urban Solutions, we built AGIL Secure FastPass.
Our idea is simple: curb to gate, on one verified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[0:15–0:55]  Market Needs
Let's start with the problem.
Think about your last flight. You showed your passport at check-in. Again at immigration. Again at security. And again at the gate. Four checks. Four stops. Four queues. And at every stop, there is at least one officer doing routine work.
The pressure keeps growing. Air travel will double by 2040. But new terminals take years. Changi's next terminal will not open until the 2030s.
So airports must move more people, with the space and staff they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[0:55–1:45]  Market Potential
This is a large and growing market.
Automated border control will reach about 5 billion US dollars by 2030, growing over 14 percent a year. Most of it is at airports.
We focus on the Middle East and Southeast Asia, where traffic grows fastest. That gives us a market of 500 to 700 million US dollars over five years. That's about 100 to 140 million a year.
And the timing is right. Seven in ten airlines are adopting biometric ID by 2026. And almost 80 percent of airport projects in these regions upgrade existing terminals. That is exactly where FastPass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[1:45–2:45]  Solution: the journey
So how does it work? Please follow the blue line.
One. At home, the traveller enrols once in the FastPass app: a passport scan and a selfie. The credential stays safely on the phone.
Two. As they walk up to the lane, the phone connects to it by Bluetooth. It stays in the pocket.
Three. They walk through the e-gate. The camera matches the face to the phone, without stopping. The screen next to the gate shows their name and a green "Cleared".
Four. Before security screening, a profile check confirms it is the same person.
Five. At the gate, the boarding kiosk clears them by face. No passport. No boarding pass.
Six. And the control room sees every step. Officers step in only when something needs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[2:45–3:15]  AGIL Secure ISMP
That control room runs on AGIL Secure ISMP, our existing platform.
It brings everything into one place: traveller clearances, lanes and gates, alerts, CCTV and access control, a 3D view of the terminal, and AI that helps operators act faster.
On the right is the real product: a live passenger log, passenger flow by zone, and exceptions flagged for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[3:15–4:00]  Innovativeness
So where is the innovation? It's not another gate. It's the credential.
Most walk-through lanes check one thing: your face. FastPass checks two things at once, while you walk. The phone proves the credential. The face proves the person.
It is also built differently. Data stays encrypted on the traveller's phone, not in an airport database. It plugs into the apps airports and airlines already have. It is joined up with security operations. And we use AI in the product, for face matching and alerts, and in how we build it, cutting front-end effort by about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[4:00–4:40]  Business Impact
What does this mean for each group?
Look at the two lines. Today, the traveller stops four times. With FastPass, they keep moving.
For passengers: zero stops. Our target is curb to gate in 8 to 11 minutes.
For operators: all four touchpoints are automated, so officers focus only on exceptions. That is the return on investment: fewer officer hours, and more capacity without new buildings.
For security: one view of every lane, every clearance and every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[4:40–5:20]  Time to Market
How do we go to market?
Our buyers are Tier-2 international airports in the Middle East and Southeast Asia. Immigration agencies decide with them. Airlines help through their own apps.
The model is simple: a one-off sale for lane hardware, a recurring ISMP licence, project fees for integration, and annual support.
And we grow step by step. Prove it with one pilot lane. Expand to more lanes. Connect every touchpoint through ISMP. Then scale across terminals and airports. Because ISMP is already running, we can move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[5:20–6:10]  Collaboration &amp; Entry Barriers
FastPass is built across three business areas, as one product team, from biometrics to sales.
That is also what makes it hard to copy. We own the IP: the app, the lane logic and ISMP. We bring over 35 years of mission-critical experience. We have a specialised set-up that joins clearance with security operations. And we have the Group's sales reach in our target regions.
To scale fast, we will cross-sell through Group business units in other countries and work with regional partners. And we have already built in international needs, like privacy rules and a manual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[6:10–6:50]  Conclusion &amp; Ask
So, four reasons to back FastPass now. A clear need. A focused market. A working product, shown live at the Singapore Airshow this year. And an edge that is hard to copy.
Next comes a live demo with airport stakeholders this quarter, Passenger Terminal World in Amsterdam next April, and our first customer pilot in 2027.
To get there, we ask for three things: funding to turn the prototype into a product, a launch customer through Group Sales, and support to showcase FastPass at Passenger Terminal World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[6:50–6:55]  Thank you
One identity, from curb to gate. Thank you.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ST_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ST_CONTENT-image-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T_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gqy/b70fb111-7300-56ba-abe4-4b6e17d8c33e/scratchpad/assets/common/logo_white.png">    </p:cNvPr>
          <p:cNvPicPr>
            <a:picLocks noChangeAspect="1"/>
          </p:cNvPicPr>
          <p:nvPr/>
        </p:nvPicPr>
        <p:blipFill>
          <a:blip r:embed="rId1"/>
          <a:stretch>
            <a:fillRect/>
          </a:stretch>
        </p:blipFill>
        <p:spPr>
          <a:xfrm>
            <a:off x="9189720" y="640080"/>
            <a:ext cx="2450592" cy="731520"/>
          </a:xfrm>
          <a:prstGeom prst="rect">
            <a:avLst/>
          </a:prstGeom>
        </p:spPr>
      </p:pic>
      <p:sp>
        <p:nvSpPr>
          <p:cNvPr id="3" name="Text 0"/>
          <p:cNvSpPr/>
          <p:nvPr>
            <p:ph idx="101" type="body" hasCustomPrompt="1"/>
          </p:nvPr>
        </p:nvSpPr>
        <p:spPr>
          <a:xfrm>
            <a:off x="713232" y="2011680"/>
            <a:ext cx="8229600" cy="45720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
        <p:nvSpPr>
          <p:cNvPr id="4" name="Text 0"/>
          <p:cNvSpPr/>
          <p:nvPr>
            <p:ph idx="102" type="title" hasCustomPrompt="1"/>
          </p:nvPr>
        </p:nvSpPr>
        <p:spPr>
          <a:xfrm>
            <a:off x="713232" y="2514600"/>
            <a:ext cx="8686800" cy="9144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5" name="Text 0"/>
          <p:cNvSpPr/>
          <p:nvPr>
            <p:ph idx="103" type="body" hasCustomPrompt="1"/>
          </p:nvPr>
        </p:nvSpPr>
        <p:spPr>
          <a:xfrm>
            <a:off x="713232" y="3474720"/>
            <a:ext cx="8229600" cy="45720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_CONTENT">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gqy/b70fb111-7300-56ba-abe4-4b6e17d8c33e/scratchpad/assets/v4/redbar.png">    </p:cNvPr>
          <p:cNvPicPr>
            <a:picLocks noChangeAspect="1"/>
          </p:cNvPicPr>
          <p:nvPr/>
        </p:nvPicPr>
        <p:blipFill>
          <a:blip r:embed="rId1"/>
          <a:stretch>
            <a:fillRect/>
          </a:stretch>
        </p:blipFill>
        <p:spPr>
          <a:xfrm>
            <a:off x="0" y="0"/>
            <a:ext cx="137160" cy="1673352"/>
          </a:xfrm>
          <a:prstGeom prst="rect">
            <a:avLst/>
          </a:prstGeom>
        </p:spPr>
      </p:pic>
      <p:pic>
        <p:nvPicPr>
          <p:cNvPr id="3" name="Image 1" descr="/tmp/claude-0/-home-user-sgqy/b70fb111-7300-56ba-abe4-4b6e17d8c33e/scratchpad/assets/common/logo_color.png">    </p:cNvPr>
          <p:cNvPicPr>
            <a:picLocks noChangeAspect="1"/>
          </p:cNvPicPr>
          <p:nvPr/>
        </p:nvPicPr>
        <p:blipFill>
          <a:blip r:embed="rId2"/>
          <a:stretch>
            <a:fillRect/>
          </a:stretch>
        </p:blipFill>
        <p:spPr>
          <a:xfrm>
            <a:off x="9710928" y="384048"/>
            <a:ext cx="1920240" cy="576072"/>
          </a:xfrm>
          <a:prstGeom prst="rect">
            <a:avLst/>
          </a:prstGeom>
        </p:spPr>
      </p:pic>
      <p:sp>
        <p:nvSpPr>
          <p:cNvPr id="4" name="Text 0"/>
          <p:cNvSpPr/>
          <p:nvPr>
            <p:ph idx="102" type="body" hasCustomPrompt="1"/>
          </p:nvPr>
        </p:nvSpPr>
        <p:spPr>
          <a:xfrm>
            <a:off x="429768" y="566928"/>
            <a:ext cx="8686800" cy="292608"/>
          </a:xfrm>
          <a:prstGeom prst="rect">
            <a:avLst/>
          </a:prstGeom>
          <a:noFill/>
          <a:ln/>
        </p:spPr>
        <p:txBody>
          <a:bodyPr wrap="square" rtlCol="0"/>
          <a:lstStyle>
            <a:lvl1pPr algn="l" indent="0" marL="0">
              <a:buNone/>
              <a:defRPr lang="en-US" sz="1400" dirty="0">
                <a:solidFill>
                  <a:schemeClr val="accent4"/>
                </a:solidFill>
              </a:defRPr>
            </a:lvl1pPr>
          </a:lstStyle>
          <a:p>
            <a:pPr algn="l" indent="0" marL="0">
              <a:buNone/>
            </a:pPr>
            <a:endParaRPr lang="en-US" sz="1400" dirty="0"/>
          </a:p>
        </p:txBody>
      </p:sp>
      <p:sp>
        <p:nvSpPr>
          <p:cNvPr id="5" name="Text 0"/>
          <p:cNvSpPr/>
          <p:nvPr>
            <p:ph idx="103" type="title" hasCustomPrompt="1"/>
          </p:nvPr>
        </p:nvSpPr>
        <p:spPr>
          <a:xfrm>
            <a:off x="411480" y="868680"/>
            <a:ext cx="9235440" cy="530352"/>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6" name="Text 0"/>
          <p:cNvSpPr/>
          <p:nvPr>
            <p:ph idx="104" type="body" hasCustomPrompt="1"/>
          </p:nvPr>
        </p:nvSpPr>
        <p:spPr>
          <a:xfrm>
            <a:off x="429768" y="1417320"/>
            <a:ext cx="10607040" cy="347472"/>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7" name="Text 0"/>
          <p:cNvSpPr/>
          <p:nvPr/>
        </p:nvSpPr>
        <p:spPr>
          <a:xfrm>
            <a:off x="694944" y="6382512"/>
            <a:ext cx="182880" cy="256032"/>
          </a:xfrm>
          <a:prstGeom prst="rect">
            <a:avLst/>
          </a:prstGeom>
          <a:noFill/>
          <a:ln/>
        </p:spPr>
        <p:txBody>
          <a:bodyPr wrap="square" lIns="0" tIns="0" rIns="0" bIns="0" rtlCol="0" anchor="ctr"/>
          <a:lstStyle/>
          <a:p>
            <a:pPr indent="0" marL="0">
              <a:buNone/>
            </a:pPr>
            <a:r>
              <a:rPr lang="en-US" sz="1200" dirty="0">
                <a:solidFill>
                  <a:schemeClr val="accent4"/>
                </a:solidFill>
              </a:rPr>
              <a:t>|</a:t>
            </a:r>
            <a:endParaRPr lang="en-US" sz="12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slideLayout" Target="../slideLayouts/slideLayout3.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3.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iata.org/en/iata-repository/publications/economic-reports/global-outlook-for-air-transport---december-2023---report/" TargetMode="External"/><Relationship Id="rId2" Type="http://schemas.openxmlformats.org/officeDocument/2006/relationships/hyperlink" Target="https://www.mot.gov.sg/news-resources/newsroom/update-on-development-plans-for-changi-airport-terminal-5/" TargetMode="External"/><Relationship Id="rId3" Type="http://schemas.openxmlformats.org/officeDocument/2006/relationships/hyperlink" Target="https://www.marketsandmarkets.com/PressReleases/automated-border-control.asp" TargetMode="External"/><Relationship Id="rId4" Type="http://schemas.openxmlformats.org/officeDocument/2006/relationships/hyperlink" Target="https://www.marketsandmarkets.com/ResearchInsight/automated-border-control-market-size.asp" TargetMode="External"/><Relationship Id="rId5" Type="http://schemas.openxmlformats.org/officeDocument/2006/relationships/hyperlink" Target="https://www.sita.aero/resources/surveys-reports/air-transport-it-insights-2024/" TargetMode="External"/><Relationship Id="rId6" Type="http://schemas.openxmlformats.org/officeDocument/2006/relationships/hyperlink" Target="https://www.scmp.com/news/world/middle-east/article/3271055/global-airline-traffic-forecast-double-20-years-led-asia-middle-east" TargetMode="External"/><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13232" y="2011680"/>
            <a:ext cx="8229600" cy="457200"/>
          </a:xfrm>
          <a:prstGeom prst="rect">
            <a:avLst/>
          </a:prstGeom>
          <a:noFill/>
          <a:ln/>
        </p:spPr>
        <p:txBody>
          <a:bodyPr wrap="square" lIns="0" tIns="0" rIns="0" bIns="0" rtlCol="0" anchor="ctr"/>
          <a:lstStyle/>
          <a:p>
            <a:pPr algn="l" indent="0" marL="0">
              <a:buNone/>
            </a:pPr>
            <a:r>
              <a:rPr lang="en-US" sz="2200" dirty="0">
                <a:solidFill>
                  <a:schemeClr val="bg1"/>
                </a:solidFill>
              </a:rPr>
              <a:t>InnoChamp 2026  |  Product Category</a:t>
            </a:r>
            <a:endParaRPr lang="en-US" sz="2200" dirty="0"/>
          </a:p>
        </p:txBody>
      </p:sp>
      <p:sp>
        <p:nvSpPr>
          <p:cNvPr id="3" name="Text 0"/>
          <p:cNvSpPr/>
          <p:nvPr>
            <p:ph idx="102" type="title" hasCustomPrompt="1"/>
          </p:nvPr>
        </p:nvSpPr>
        <p:spPr>
          <a:xfrm>
            <a:off x="713232" y="2514600"/>
            <a:ext cx="8686800" cy="914400"/>
          </a:xfrm>
          <a:prstGeom prst="rect">
            <a:avLst/>
          </a:prstGeom>
          <a:noFill/>
          <a:ln/>
        </p:spPr>
        <p:txBody>
          <a:bodyPr wrap="square" lIns="0" tIns="0" rIns="0" bIns="0" rtlCol="0" anchor="ctr"/>
          <a:lstStyle/>
          <a:p>
            <a:pPr algn="l" indent="0" marL="0">
              <a:buNone/>
            </a:pPr>
            <a:r>
              <a:rPr lang="en-US" sz="4800" b="1" dirty="0">
                <a:solidFill>
                  <a:schemeClr val="bg1"/>
                </a:solidFill>
              </a:rPr>
              <a:t>AGIL® Secure FastPass</a:t>
            </a:r>
            <a:endParaRPr lang="en-US" sz="4800" dirty="0"/>
          </a:p>
        </p:txBody>
      </p:sp>
      <p:sp>
        <p:nvSpPr>
          <p:cNvPr id="4" name="Text 0"/>
          <p:cNvSpPr/>
          <p:nvPr>
            <p:ph idx="103" type="body" hasCustomPrompt="1"/>
          </p:nvPr>
        </p:nvSpPr>
        <p:spPr>
          <a:xfrm>
            <a:off x="713232" y="3474720"/>
            <a:ext cx="8229600" cy="457200"/>
          </a:xfrm>
          <a:prstGeom prst="rect">
            <a:avLst/>
          </a:prstGeom>
          <a:noFill/>
          <a:ln/>
        </p:spPr>
        <p:txBody>
          <a:bodyPr wrap="square" lIns="0" tIns="0" rIns="0" bIns="0" rtlCol="0" anchor="ctr"/>
          <a:lstStyle/>
          <a:p>
            <a:pPr algn="l" indent="0" marL="0">
              <a:buNone/>
            </a:pPr>
            <a:r>
              <a:rPr lang="en-US" sz="2000" dirty="0">
                <a:solidFill>
                  <a:schemeClr val="bg1"/>
                </a:solidFill>
              </a:rPr>
              <a:t>Curb to gate on one verified identity.</a:t>
            </a:r>
            <a:endParaRPr lang="en-US" sz="2000" dirty="0"/>
          </a:p>
        </p:txBody>
      </p:sp>
      <p:sp>
        <p:nvSpPr>
          <p:cNvPr id="5" name="Text 3"/>
          <p:cNvSpPr txBox="1"/>
          <p:nvPr/>
        </p:nvSpPr>
        <p:spPr>
          <a:xfrm>
            <a:off x="713232" y="4160520"/>
            <a:ext cx="7315200" cy="274320"/>
          </a:xfrm>
          <a:prstGeom prst="rect">
            <a:avLst/>
          </a:prstGeom>
          <a:noFill/>
          <a:ln/>
        </p:spPr>
        <p:txBody>
          <a:bodyPr wrap="square" lIns="0" tIns="0" rIns="0" bIns="0" rtlCol="0" anchor="ctr"/>
          <a:lstStyle/>
          <a:p>
            <a:pPr indent="0" marL="0">
              <a:buNone/>
            </a:pPr>
            <a:r>
              <a:rPr lang="en-US" sz="1200" b="1" spc="300" kern="0" dirty="0">
                <a:solidFill>
                  <a:schemeClr val="bg1"/>
                </a:solidFill>
              </a:rPr>
              <a:t>TWO-FACTOR   ·   PRIVACY-FIRST   ·   MODULAR</a:t>
            </a:r>
            <a:endParaRPr lang="en-US" sz="1200" dirty="0"/>
          </a:p>
        </p:txBody>
      </p:sp>
      <p:sp>
        <p:nvSpPr>
          <p:cNvPr id="6" name="Text 4"/>
          <p:cNvSpPr txBox="1"/>
          <p:nvPr/>
        </p:nvSpPr>
        <p:spPr>
          <a:xfrm>
            <a:off x="713232" y="5440680"/>
            <a:ext cx="5486400" cy="868680"/>
          </a:xfrm>
          <a:prstGeom prst="rect">
            <a:avLst/>
          </a:prstGeom>
          <a:noFill/>
          <a:ln/>
        </p:spPr>
        <p:txBody>
          <a:bodyPr wrap="square" lIns="0" tIns="0" rIns="0" bIns="0" rtlCol="0" anchor="b"/>
          <a:lstStyle/>
          <a:p>
            <a:pPr indent="0" marL="0">
              <a:spcAft>
                <a:spcPts val="200"/>
              </a:spcAft>
              <a:buNone/>
            </a:pPr>
            <a:r>
              <a:rPr lang="en-US" sz="1500" dirty="0">
                <a:solidFill>
                  <a:schemeClr val="bg1"/>
                </a:solidFill>
              </a:rPr>
              <a:t>Smart Security &amp; Automation</a:t>
            </a:r>
            <a:endParaRPr lang="en-US" sz="1500" dirty="0"/>
          </a:p>
          <a:p>
            <a:pPr indent="0" marL="0">
              <a:spcAft>
                <a:spcPts val="200"/>
              </a:spcAft>
              <a:buNone/>
            </a:pPr>
            <a:r>
              <a:rPr lang="en-US" sz="1500" dirty="0">
                <a:solidFill>
                  <a:schemeClr val="bg1"/>
                </a:solidFill>
              </a:rPr>
              <a:t>Smart Utilities &amp; Infrastructure</a:t>
            </a:r>
            <a:endParaRPr lang="en-US" sz="1500" dirty="0"/>
          </a:p>
          <a:p>
            <a:pPr indent="0" marL="0">
              <a:spcAft>
                <a:spcPts val="200"/>
              </a:spcAft>
              <a:buNone/>
            </a:pPr>
            <a:r>
              <a:rPr lang="en-US" sz="1500" dirty="0">
                <a:solidFill>
                  <a:schemeClr val="bg1"/>
                </a:solidFill>
              </a:rPr>
              <a:t>Urban Solutions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Market Needs</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More passengers. More checks. Limited capacity.</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Every departure is split into four identity checks — each a stop, a queue and a staffed desk.</a:t>
            </a:r>
            <a:endParaRPr lang="en-US" sz="1500" dirty="0"/>
          </a:p>
        </p:txBody>
      </p:sp>
      <p:sp>
        <p:nvSpPr>
          <p:cNvPr id="5" name="Shape 3"/>
          <p:cNvSpPr/>
          <p:nvPr/>
        </p:nvSpPr>
        <p:spPr>
          <a:xfrm>
            <a:off x="1005840" y="2606040"/>
            <a:ext cx="10149840" cy="0"/>
          </a:xfrm>
          <a:prstGeom prst="line">
            <a:avLst/>
          </a:prstGeom>
          <a:noFill/>
          <a:ln w="25400">
            <a:solidFill>
              <a:schemeClr val="accent5"/>
            </a:solidFill>
            <a:prstDash val="solid"/>
          </a:ln>
        </p:spPr>
      </p:sp>
      <p:sp>
        <p:nvSpPr>
          <p:cNvPr id="6" name="Shape 4"/>
          <p:cNvSpPr/>
          <p:nvPr/>
        </p:nvSpPr>
        <p:spPr>
          <a:xfrm>
            <a:off x="548640" y="2377440"/>
            <a:ext cx="457200" cy="457200"/>
          </a:xfrm>
          <a:prstGeom prst="ellipse">
            <a:avLst/>
          </a:prstGeom>
          <a:solidFill>
            <a:schemeClr val="accent1">
              <a:alpha val="12000"/>
            </a:schemeClr>
          </a:solidFill>
          <a:ln/>
        </p:spPr>
      </p:sp>
      <p:pic>
        <p:nvPicPr>
          <p:cNvPr id="7" name="Image 0" descr="preencoded.png">    </p:cNvPr>
          <p:cNvPicPr>
            <a:picLocks noChangeAspect="1"/>
          </p:cNvPicPr>
          <p:nvPr/>
        </p:nvPicPr>
        <p:blipFill>
          <a:blip r:embed="rId1"/>
          <a:stretch>
            <a:fillRect/>
          </a:stretch>
        </p:blipFill>
        <p:spPr>
          <a:xfrm>
            <a:off x="653796" y="2482596"/>
            <a:ext cx="246888" cy="246888"/>
          </a:xfrm>
          <a:prstGeom prst="rect">
            <a:avLst/>
          </a:prstGeom>
        </p:spPr>
      </p:pic>
      <p:sp>
        <p:nvSpPr>
          <p:cNvPr id="8" name="Shape 5"/>
          <p:cNvSpPr/>
          <p:nvPr/>
        </p:nvSpPr>
        <p:spPr>
          <a:xfrm>
            <a:off x="11183112" y="2377440"/>
            <a:ext cx="457200" cy="457200"/>
          </a:xfrm>
          <a:prstGeom prst="ellipse">
            <a:avLst/>
          </a:prstGeom>
          <a:solidFill>
            <a:schemeClr val="accent1">
              <a:alpha val="12000"/>
            </a:schemeClr>
          </a:solidFill>
          <a:ln/>
        </p:spPr>
      </p:sp>
      <p:pic>
        <p:nvPicPr>
          <p:cNvPr id="9" name="Image 1" descr="preencoded.png">    </p:cNvPr>
          <p:cNvPicPr>
            <a:picLocks noChangeAspect="1"/>
          </p:cNvPicPr>
          <p:nvPr/>
        </p:nvPicPr>
        <p:blipFill>
          <a:blip r:embed="rId2"/>
          <a:stretch>
            <a:fillRect/>
          </a:stretch>
        </p:blipFill>
        <p:spPr>
          <a:xfrm>
            <a:off x="11288268" y="2482596"/>
            <a:ext cx="246888" cy="246888"/>
          </a:xfrm>
          <a:prstGeom prst="rect">
            <a:avLst/>
          </a:prstGeom>
        </p:spPr>
      </p:pic>
      <p:sp>
        <p:nvSpPr>
          <p:cNvPr id="10" name="Shape 6"/>
          <p:cNvSpPr/>
          <p:nvPr/>
        </p:nvSpPr>
        <p:spPr>
          <a:xfrm>
            <a:off x="1911096" y="2368296"/>
            <a:ext cx="475488" cy="475488"/>
          </a:xfrm>
          <a:prstGeom prst="octagon">
            <a:avLst/>
          </a:prstGeom>
          <a:solidFill>
            <a:schemeClr val="accent3"/>
          </a:solidFill>
          <a:ln/>
        </p:spPr>
      </p:sp>
      <p:pic>
        <p:nvPicPr>
          <p:cNvPr id="11" name="Image 2" descr="preencoded.png">    </p:cNvPr>
          <p:cNvPicPr>
            <a:picLocks noChangeAspect="1"/>
          </p:cNvPicPr>
          <p:nvPr/>
        </p:nvPicPr>
        <p:blipFill>
          <a:blip r:embed="rId3"/>
          <a:stretch>
            <a:fillRect/>
          </a:stretch>
        </p:blipFill>
        <p:spPr>
          <a:xfrm>
            <a:off x="2011680" y="2468880"/>
            <a:ext cx="274320" cy="274320"/>
          </a:xfrm>
          <a:prstGeom prst="rect">
            <a:avLst/>
          </a:prstGeom>
        </p:spPr>
      </p:pic>
      <p:sp>
        <p:nvSpPr>
          <p:cNvPr id="12" name="Text 7"/>
          <p:cNvSpPr txBox="1"/>
          <p:nvPr/>
        </p:nvSpPr>
        <p:spPr>
          <a:xfrm>
            <a:off x="960120" y="2953512"/>
            <a:ext cx="2377440" cy="274320"/>
          </a:xfrm>
          <a:prstGeom prst="rect">
            <a:avLst/>
          </a:prstGeom>
          <a:noFill/>
          <a:ln/>
        </p:spPr>
        <p:txBody>
          <a:bodyPr wrap="square" lIns="0" tIns="0" rIns="0" bIns="0" rtlCol="0" anchor="ctr"/>
          <a:lstStyle/>
          <a:p>
            <a:pPr algn="ctr" indent="0" marL="0">
              <a:buNone/>
            </a:pPr>
            <a:r>
              <a:rPr lang="en-US" sz="1500" b="1" dirty="0">
                <a:solidFill>
                  <a:schemeClr val="tx1"/>
                </a:solidFill>
              </a:rPr>
              <a:t>Check-in</a:t>
            </a:r>
            <a:endParaRPr lang="en-US" sz="1500" dirty="0"/>
          </a:p>
        </p:txBody>
      </p:sp>
      <p:pic>
        <p:nvPicPr>
          <p:cNvPr id="13" name="Image 3" descr="preencoded.png">    </p:cNvPr>
          <p:cNvPicPr>
            <a:picLocks noChangeAspect="1"/>
          </p:cNvPicPr>
          <p:nvPr/>
        </p:nvPicPr>
        <p:blipFill>
          <a:blip r:embed="rId4"/>
          <a:stretch>
            <a:fillRect/>
          </a:stretch>
        </p:blipFill>
        <p:spPr>
          <a:xfrm>
            <a:off x="1874520" y="3300984"/>
            <a:ext cx="219456" cy="219456"/>
          </a:xfrm>
          <a:prstGeom prst="rect">
            <a:avLst/>
          </a:prstGeom>
        </p:spPr>
      </p:pic>
      <p:pic>
        <p:nvPicPr>
          <p:cNvPr id="14" name="Image 4" descr="preencoded.png">    </p:cNvPr>
          <p:cNvPicPr>
            <a:picLocks noChangeAspect="1"/>
          </p:cNvPicPr>
          <p:nvPr/>
        </p:nvPicPr>
        <p:blipFill>
          <a:blip r:embed="rId5"/>
          <a:stretch>
            <a:fillRect/>
          </a:stretch>
        </p:blipFill>
        <p:spPr>
          <a:xfrm>
            <a:off x="2203704" y="3300984"/>
            <a:ext cx="219456" cy="219456"/>
          </a:xfrm>
          <a:prstGeom prst="rect">
            <a:avLst/>
          </a:prstGeom>
        </p:spPr>
      </p:pic>
      <p:sp>
        <p:nvSpPr>
          <p:cNvPr id="15" name="Shape 8"/>
          <p:cNvSpPr/>
          <p:nvPr/>
        </p:nvSpPr>
        <p:spPr>
          <a:xfrm>
            <a:off x="4544568" y="2368296"/>
            <a:ext cx="475488" cy="475488"/>
          </a:xfrm>
          <a:prstGeom prst="octagon">
            <a:avLst/>
          </a:prstGeom>
          <a:solidFill>
            <a:schemeClr val="accent3"/>
          </a:solidFill>
          <a:ln/>
        </p:spPr>
      </p:sp>
      <p:pic>
        <p:nvPicPr>
          <p:cNvPr id="16" name="Image 5" descr="preencoded.png">    </p:cNvPr>
          <p:cNvPicPr>
            <a:picLocks noChangeAspect="1"/>
          </p:cNvPicPr>
          <p:nvPr/>
        </p:nvPicPr>
        <p:blipFill>
          <a:blip r:embed="rId6"/>
          <a:stretch>
            <a:fillRect/>
          </a:stretch>
        </p:blipFill>
        <p:spPr>
          <a:xfrm>
            <a:off x="4645152" y="2468880"/>
            <a:ext cx="274320" cy="274320"/>
          </a:xfrm>
          <a:prstGeom prst="rect">
            <a:avLst/>
          </a:prstGeom>
        </p:spPr>
      </p:pic>
      <p:sp>
        <p:nvSpPr>
          <p:cNvPr id="17" name="Text 9"/>
          <p:cNvSpPr txBox="1"/>
          <p:nvPr/>
        </p:nvSpPr>
        <p:spPr>
          <a:xfrm>
            <a:off x="3593592" y="2953512"/>
            <a:ext cx="2377440" cy="274320"/>
          </a:xfrm>
          <a:prstGeom prst="rect">
            <a:avLst/>
          </a:prstGeom>
          <a:noFill/>
          <a:ln/>
        </p:spPr>
        <p:txBody>
          <a:bodyPr wrap="square" lIns="0" tIns="0" rIns="0" bIns="0" rtlCol="0" anchor="ctr"/>
          <a:lstStyle/>
          <a:p>
            <a:pPr algn="ctr" indent="0" marL="0">
              <a:buNone/>
            </a:pPr>
            <a:r>
              <a:rPr lang="en-US" sz="1500" b="1" dirty="0">
                <a:solidFill>
                  <a:schemeClr val="tx1"/>
                </a:solidFill>
              </a:rPr>
              <a:t>Immigration</a:t>
            </a:r>
            <a:endParaRPr lang="en-US" sz="1500" dirty="0"/>
          </a:p>
        </p:txBody>
      </p:sp>
      <p:pic>
        <p:nvPicPr>
          <p:cNvPr id="18" name="Image 6" descr="preencoded.png">    </p:cNvPr>
          <p:cNvPicPr>
            <a:picLocks noChangeAspect="1"/>
          </p:cNvPicPr>
          <p:nvPr/>
        </p:nvPicPr>
        <p:blipFill>
          <a:blip r:embed="rId7"/>
          <a:stretch>
            <a:fillRect/>
          </a:stretch>
        </p:blipFill>
        <p:spPr>
          <a:xfrm>
            <a:off x="4507992" y="3300984"/>
            <a:ext cx="219456" cy="219456"/>
          </a:xfrm>
          <a:prstGeom prst="rect">
            <a:avLst/>
          </a:prstGeom>
        </p:spPr>
      </p:pic>
      <p:pic>
        <p:nvPicPr>
          <p:cNvPr id="19" name="Image 7" descr="preencoded.png">    </p:cNvPr>
          <p:cNvPicPr>
            <a:picLocks noChangeAspect="1"/>
          </p:cNvPicPr>
          <p:nvPr/>
        </p:nvPicPr>
        <p:blipFill>
          <a:blip r:embed="rId8"/>
          <a:stretch>
            <a:fillRect/>
          </a:stretch>
        </p:blipFill>
        <p:spPr>
          <a:xfrm>
            <a:off x="4837176" y="3300984"/>
            <a:ext cx="219456" cy="219456"/>
          </a:xfrm>
          <a:prstGeom prst="rect">
            <a:avLst/>
          </a:prstGeom>
        </p:spPr>
      </p:pic>
      <p:sp>
        <p:nvSpPr>
          <p:cNvPr id="20" name="Shape 10"/>
          <p:cNvSpPr/>
          <p:nvPr/>
        </p:nvSpPr>
        <p:spPr>
          <a:xfrm>
            <a:off x="7178040" y="2368296"/>
            <a:ext cx="475488" cy="475488"/>
          </a:xfrm>
          <a:prstGeom prst="octagon">
            <a:avLst/>
          </a:prstGeom>
          <a:solidFill>
            <a:schemeClr val="accent3"/>
          </a:solidFill>
          <a:ln/>
        </p:spPr>
      </p:sp>
      <p:pic>
        <p:nvPicPr>
          <p:cNvPr id="21" name="Image 8" descr="preencoded.png">    </p:cNvPr>
          <p:cNvPicPr>
            <a:picLocks noChangeAspect="1"/>
          </p:cNvPicPr>
          <p:nvPr/>
        </p:nvPicPr>
        <p:blipFill>
          <a:blip r:embed="rId9"/>
          <a:stretch>
            <a:fillRect/>
          </a:stretch>
        </p:blipFill>
        <p:spPr>
          <a:xfrm>
            <a:off x="7278624" y="2468880"/>
            <a:ext cx="274320" cy="274320"/>
          </a:xfrm>
          <a:prstGeom prst="rect">
            <a:avLst/>
          </a:prstGeom>
        </p:spPr>
      </p:pic>
      <p:sp>
        <p:nvSpPr>
          <p:cNvPr id="22" name="Text 11"/>
          <p:cNvSpPr txBox="1"/>
          <p:nvPr/>
        </p:nvSpPr>
        <p:spPr>
          <a:xfrm>
            <a:off x="6227064" y="2953512"/>
            <a:ext cx="2377440" cy="274320"/>
          </a:xfrm>
          <a:prstGeom prst="rect">
            <a:avLst/>
          </a:prstGeom>
          <a:noFill/>
          <a:ln/>
        </p:spPr>
        <p:txBody>
          <a:bodyPr wrap="square" lIns="0" tIns="0" rIns="0" bIns="0" rtlCol="0" anchor="ctr"/>
          <a:lstStyle/>
          <a:p>
            <a:pPr algn="ctr" indent="0" marL="0">
              <a:buNone/>
            </a:pPr>
            <a:r>
              <a:rPr lang="en-US" sz="1500" b="1" dirty="0">
                <a:solidFill>
                  <a:schemeClr val="tx1"/>
                </a:solidFill>
              </a:rPr>
              <a:t>Security screening</a:t>
            </a:r>
            <a:endParaRPr lang="en-US" sz="1500" dirty="0"/>
          </a:p>
        </p:txBody>
      </p:sp>
      <p:pic>
        <p:nvPicPr>
          <p:cNvPr id="23" name="Image 9" descr="preencoded.png">    </p:cNvPr>
          <p:cNvPicPr>
            <a:picLocks noChangeAspect="1"/>
          </p:cNvPicPr>
          <p:nvPr/>
        </p:nvPicPr>
        <p:blipFill>
          <a:blip r:embed="rId10"/>
          <a:stretch>
            <a:fillRect/>
          </a:stretch>
        </p:blipFill>
        <p:spPr>
          <a:xfrm>
            <a:off x="7141464" y="3300984"/>
            <a:ext cx="219456" cy="219456"/>
          </a:xfrm>
          <a:prstGeom prst="rect">
            <a:avLst/>
          </a:prstGeom>
        </p:spPr>
      </p:pic>
      <p:pic>
        <p:nvPicPr>
          <p:cNvPr id="24" name="Image 10" descr="preencoded.png">    </p:cNvPr>
          <p:cNvPicPr>
            <a:picLocks noChangeAspect="1"/>
          </p:cNvPicPr>
          <p:nvPr/>
        </p:nvPicPr>
        <p:blipFill>
          <a:blip r:embed="rId11"/>
          <a:stretch>
            <a:fillRect/>
          </a:stretch>
        </p:blipFill>
        <p:spPr>
          <a:xfrm>
            <a:off x="7470648" y="3300984"/>
            <a:ext cx="219456" cy="219456"/>
          </a:xfrm>
          <a:prstGeom prst="rect">
            <a:avLst/>
          </a:prstGeom>
        </p:spPr>
      </p:pic>
      <p:sp>
        <p:nvSpPr>
          <p:cNvPr id="25" name="Shape 12"/>
          <p:cNvSpPr/>
          <p:nvPr/>
        </p:nvSpPr>
        <p:spPr>
          <a:xfrm>
            <a:off x="9811512" y="2368296"/>
            <a:ext cx="475488" cy="475488"/>
          </a:xfrm>
          <a:prstGeom prst="octagon">
            <a:avLst/>
          </a:prstGeom>
          <a:solidFill>
            <a:schemeClr val="accent3"/>
          </a:solidFill>
          <a:ln/>
        </p:spPr>
      </p:sp>
      <p:pic>
        <p:nvPicPr>
          <p:cNvPr id="26" name="Image 11" descr="preencoded.png">    </p:cNvPr>
          <p:cNvPicPr>
            <a:picLocks noChangeAspect="1"/>
          </p:cNvPicPr>
          <p:nvPr/>
        </p:nvPicPr>
        <p:blipFill>
          <a:blip r:embed="rId12"/>
          <a:stretch>
            <a:fillRect/>
          </a:stretch>
        </p:blipFill>
        <p:spPr>
          <a:xfrm>
            <a:off x="9912096" y="2468880"/>
            <a:ext cx="274320" cy="274320"/>
          </a:xfrm>
          <a:prstGeom prst="rect">
            <a:avLst/>
          </a:prstGeom>
        </p:spPr>
      </p:pic>
      <p:sp>
        <p:nvSpPr>
          <p:cNvPr id="27" name="Text 13"/>
          <p:cNvSpPr txBox="1"/>
          <p:nvPr/>
        </p:nvSpPr>
        <p:spPr>
          <a:xfrm>
            <a:off x="8860536" y="2953512"/>
            <a:ext cx="2377440" cy="274320"/>
          </a:xfrm>
          <a:prstGeom prst="rect">
            <a:avLst/>
          </a:prstGeom>
          <a:noFill/>
          <a:ln/>
        </p:spPr>
        <p:txBody>
          <a:bodyPr wrap="square" lIns="0" tIns="0" rIns="0" bIns="0" rtlCol="0" anchor="ctr"/>
          <a:lstStyle/>
          <a:p>
            <a:pPr algn="ctr" indent="0" marL="0">
              <a:buNone/>
            </a:pPr>
            <a:r>
              <a:rPr lang="en-US" sz="1500" b="1" dirty="0">
                <a:solidFill>
                  <a:schemeClr val="tx1"/>
                </a:solidFill>
              </a:rPr>
              <a:t>Boarding gate</a:t>
            </a:r>
            <a:endParaRPr lang="en-US" sz="1500" dirty="0"/>
          </a:p>
        </p:txBody>
      </p:sp>
      <p:pic>
        <p:nvPicPr>
          <p:cNvPr id="28" name="Image 12" descr="preencoded.png">    </p:cNvPr>
          <p:cNvPicPr>
            <a:picLocks noChangeAspect="1"/>
          </p:cNvPicPr>
          <p:nvPr/>
        </p:nvPicPr>
        <p:blipFill>
          <a:blip r:embed="rId13"/>
          <a:stretch>
            <a:fillRect/>
          </a:stretch>
        </p:blipFill>
        <p:spPr>
          <a:xfrm>
            <a:off x="9774936" y="3300984"/>
            <a:ext cx="219456" cy="219456"/>
          </a:xfrm>
          <a:prstGeom prst="rect">
            <a:avLst/>
          </a:prstGeom>
        </p:spPr>
      </p:pic>
      <p:pic>
        <p:nvPicPr>
          <p:cNvPr id="29" name="Image 13" descr="preencoded.png">    </p:cNvPr>
          <p:cNvPicPr>
            <a:picLocks noChangeAspect="1"/>
          </p:cNvPicPr>
          <p:nvPr/>
        </p:nvPicPr>
        <p:blipFill>
          <a:blip r:embed="rId14"/>
          <a:stretch>
            <a:fillRect/>
          </a:stretch>
        </p:blipFill>
        <p:spPr>
          <a:xfrm>
            <a:off x="10104120" y="3300984"/>
            <a:ext cx="219456" cy="219456"/>
          </a:xfrm>
          <a:prstGeom prst="rect">
            <a:avLst/>
          </a:prstGeom>
        </p:spPr>
      </p:pic>
      <p:sp>
        <p:nvSpPr>
          <p:cNvPr id="30" name="Shape 14"/>
          <p:cNvSpPr/>
          <p:nvPr/>
        </p:nvSpPr>
        <p:spPr>
          <a:xfrm>
            <a:off x="548640" y="3931920"/>
            <a:ext cx="2567864" cy="1828800"/>
          </a:xfrm>
          <a:prstGeom prst="roundRect">
            <a:avLst>
              <a:gd name="adj" fmla="val 7000"/>
            </a:avLst>
          </a:prstGeom>
          <a:solidFill>
            <a:schemeClr val="bg1"/>
          </a:solidFill>
          <a:ln/>
          <a:effectLst>
            <a:outerShdw sx="100000" sy="100000" kx="0" ky="0" algn="bl" rotWithShape="0" blurRad="203200" dist="38100" dir="5400000">
              <a:srgbClr val="0A1628">
                <a:alpha val="9000"/>
              </a:srgbClr>
            </a:outerShdw>
          </a:effectLst>
        </p:spPr>
      </p:sp>
      <p:sp>
        <p:nvSpPr>
          <p:cNvPr id="31" name="Text 15"/>
          <p:cNvSpPr txBox="1"/>
          <p:nvPr/>
        </p:nvSpPr>
        <p:spPr>
          <a:xfrm>
            <a:off x="822960" y="4160520"/>
            <a:ext cx="1737360" cy="685800"/>
          </a:xfrm>
          <a:prstGeom prst="rect">
            <a:avLst/>
          </a:prstGeom>
          <a:noFill/>
          <a:ln/>
        </p:spPr>
        <p:txBody>
          <a:bodyPr wrap="square" lIns="0" tIns="0" rIns="0" bIns="0" rtlCol="0" anchor="ctr"/>
          <a:lstStyle/>
          <a:p>
            <a:pPr indent="0" marL="0">
              <a:buNone/>
            </a:pPr>
            <a:r>
              <a:rPr lang="en-US" sz="4000" b="1" dirty="0">
                <a:solidFill>
                  <a:schemeClr val="tx1"/>
                </a:solidFill>
              </a:rPr>
              <a:t>4</a:t>
            </a:r>
            <a:endParaRPr lang="en-US" sz="4000" dirty="0"/>
          </a:p>
        </p:txBody>
      </p:sp>
      <p:sp>
        <p:nvSpPr>
          <p:cNvPr id="32" name="Shape 16"/>
          <p:cNvSpPr/>
          <p:nvPr/>
        </p:nvSpPr>
        <p:spPr>
          <a:xfrm>
            <a:off x="2421560" y="4206240"/>
            <a:ext cx="420624" cy="420624"/>
          </a:xfrm>
          <a:prstGeom prst="ellipse">
            <a:avLst/>
          </a:prstGeom>
          <a:solidFill>
            <a:schemeClr val="accent3">
              <a:alpha val="12000"/>
            </a:schemeClr>
          </a:solidFill>
          <a:ln/>
        </p:spPr>
      </p:sp>
      <p:pic>
        <p:nvPicPr>
          <p:cNvPr id="33" name="Image 14" descr="preencoded.png">    </p:cNvPr>
          <p:cNvPicPr>
            <a:picLocks noChangeAspect="1"/>
          </p:cNvPicPr>
          <p:nvPr/>
        </p:nvPicPr>
        <p:blipFill>
          <a:blip r:embed="rId15"/>
          <a:stretch>
            <a:fillRect/>
          </a:stretch>
        </p:blipFill>
        <p:spPr>
          <a:xfrm>
            <a:off x="2518303" y="4302984"/>
            <a:ext cx="227137" cy="227137"/>
          </a:xfrm>
          <a:prstGeom prst="rect">
            <a:avLst/>
          </a:prstGeom>
        </p:spPr>
      </p:pic>
      <p:sp>
        <p:nvSpPr>
          <p:cNvPr id="34" name="Text 17"/>
          <p:cNvSpPr txBox="1"/>
          <p:nvPr/>
        </p:nvSpPr>
        <p:spPr>
          <a:xfrm>
            <a:off x="822960" y="4956048"/>
            <a:ext cx="2019224" cy="566928"/>
          </a:xfrm>
          <a:prstGeom prst="rect">
            <a:avLst/>
          </a:prstGeom>
          <a:noFill/>
          <a:ln/>
        </p:spPr>
        <p:txBody>
          <a:bodyPr wrap="square" lIns="0" tIns="0" rIns="0" bIns="0" rtlCol="0" anchor="t"/>
          <a:lstStyle/>
          <a:p>
            <a:pPr indent="0" marL="0">
              <a:buNone/>
            </a:pPr>
            <a:r>
              <a:rPr lang="en-US" sz="1500" b="1" dirty="0">
                <a:solidFill>
                  <a:schemeClr val="tx2"/>
                </a:solidFill>
              </a:rPr>
              <a:t>identity checks per departure</a:t>
            </a:r>
            <a:endParaRPr lang="en-US" sz="1500" dirty="0"/>
          </a:p>
        </p:txBody>
      </p:sp>
      <p:sp>
        <p:nvSpPr>
          <p:cNvPr id="35" name="Shape 18"/>
          <p:cNvSpPr/>
          <p:nvPr/>
        </p:nvSpPr>
        <p:spPr>
          <a:xfrm>
            <a:off x="3390824" y="3931920"/>
            <a:ext cx="2567864" cy="1828800"/>
          </a:xfrm>
          <a:prstGeom prst="roundRect">
            <a:avLst>
              <a:gd name="adj" fmla="val 7000"/>
            </a:avLst>
          </a:prstGeom>
          <a:solidFill>
            <a:schemeClr val="bg1"/>
          </a:solidFill>
          <a:ln/>
          <a:effectLst>
            <a:outerShdw sx="100000" sy="100000" kx="0" ky="0" algn="bl" rotWithShape="0" blurRad="203200" dist="38100" dir="5400000">
              <a:srgbClr val="0A1628">
                <a:alpha val="9000"/>
              </a:srgbClr>
            </a:outerShdw>
          </a:effectLst>
        </p:spPr>
      </p:sp>
      <p:sp>
        <p:nvSpPr>
          <p:cNvPr id="36" name="Text 19"/>
          <p:cNvSpPr txBox="1"/>
          <p:nvPr/>
        </p:nvSpPr>
        <p:spPr>
          <a:xfrm>
            <a:off x="3665144" y="4160520"/>
            <a:ext cx="1737360" cy="685800"/>
          </a:xfrm>
          <a:prstGeom prst="rect">
            <a:avLst/>
          </a:prstGeom>
          <a:noFill/>
          <a:ln/>
        </p:spPr>
        <p:txBody>
          <a:bodyPr wrap="square" lIns="0" tIns="0" rIns="0" bIns="0" rtlCol="0" anchor="ctr"/>
          <a:lstStyle/>
          <a:p>
            <a:pPr indent="0" marL="0">
              <a:buNone/>
            </a:pPr>
            <a:r>
              <a:rPr lang="en-US" sz="4000" b="1" dirty="0">
                <a:solidFill>
                  <a:schemeClr val="tx1"/>
                </a:solidFill>
              </a:rPr>
              <a:t>≥1</a:t>
            </a:r>
            <a:endParaRPr lang="en-US" sz="4000" dirty="0"/>
          </a:p>
        </p:txBody>
      </p:sp>
      <p:sp>
        <p:nvSpPr>
          <p:cNvPr id="37" name="Shape 20"/>
          <p:cNvSpPr/>
          <p:nvPr/>
        </p:nvSpPr>
        <p:spPr>
          <a:xfrm>
            <a:off x="5263744" y="4206240"/>
            <a:ext cx="420624" cy="420624"/>
          </a:xfrm>
          <a:prstGeom prst="ellipse">
            <a:avLst/>
          </a:prstGeom>
          <a:solidFill>
            <a:schemeClr val="accent1">
              <a:alpha val="12000"/>
            </a:schemeClr>
          </a:solidFill>
          <a:ln/>
        </p:spPr>
      </p:sp>
      <p:pic>
        <p:nvPicPr>
          <p:cNvPr id="38" name="Image 15" descr="preencoded.png">    </p:cNvPr>
          <p:cNvPicPr>
            <a:picLocks noChangeAspect="1"/>
          </p:cNvPicPr>
          <p:nvPr/>
        </p:nvPicPr>
        <p:blipFill>
          <a:blip r:embed="rId16"/>
          <a:stretch>
            <a:fillRect/>
          </a:stretch>
        </p:blipFill>
        <p:spPr>
          <a:xfrm>
            <a:off x="5360487" y="4302984"/>
            <a:ext cx="227137" cy="227137"/>
          </a:xfrm>
          <a:prstGeom prst="rect">
            <a:avLst/>
          </a:prstGeom>
        </p:spPr>
      </p:pic>
      <p:sp>
        <p:nvSpPr>
          <p:cNvPr id="39" name="Text 21"/>
          <p:cNvSpPr txBox="1"/>
          <p:nvPr/>
        </p:nvSpPr>
        <p:spPr>
          <a:xfrm>
            <a:off x="3665144" y="4956048"/>
            <a:ext cx="2019224" cy="566928"/>
          </a:xfrm>
          <a:prstGeom prst="rect">
            <a:avLst/>
          </a:prstGeom>
          <a:noFill/>
          <a:ln/>
        </p:spPr>
        <p:txBody>
          <a:bodyPr wrap="square" lIns="0" tIns="0" rIns="0" bIns="0" rtlCol="0" anchor="t"/>
          <a:lstStyle/>
          <a:p>
            <a:pPr indent="0" marL="0">
              <a:buNone/>
            </a:pPr>
            <a:r>
              <a:rPr lang="en-US" sz="1500" b="1" dirty="0">
                <a:solidFill>
                  <a:schemeClr val="tx2"/>
                </a:solidFill>
              </a:rPr>
              <a:t>officer staffing every touchpoint</a:t>
            </a:r>
            <a:endParaRPr lang="en-US" sz="1500" dirty="0"/>
          </a:p>
        </p:txBody>
      </p:sp>
      <p:sp>
        <p:nvSpPr>
          <p:cNvPr id="40" name="Shape 22"/>
          <p:cNvSpPr/>
          <p:nvPr/>
        </p:nvSpPr>
        <p:spPr>
          <a:xfrm>
            <a:off x="6233008" y="3931920"/>
            <a:ext cx="2567864" cy="1828800"/>
          </a:xfrm>
          <a:prstGeom prst="roundRect">
            <a:avLst>
              <a:gd name="adj" fmla="val 7000"/>
            </a:avLst>
          </a:prstGeom>
          <a:solidFill>
            <a:schemeClr val="bg1"/>
          </a:solidFill>
          <a:ln/>
          <a:effectLst>
            <a:outerShdw sx="100000" sy="100000" kx="0" ky="0" algn="bl" rotWithShape="0" blurRad="203200" dist="38100" dir="5400000">
              <a:srgbClr val="0A1628">
                <a:alpha val="9000"/>
              </a:srgbClr>
            </a:outerShdw>
          </a:effectLst>
        </p:spPr>
      </p:sp>
      <p:sp>
        <p:nvSpPr>
          <p:cNvPr id="41" name="Text 23"/>
          <p:cNvSpPr txBox="1"/>
          <p:nvPr/>
        </p:nvSpPr>
        <p:spPr>
          <a:xfrm>
            <a:off x="6507328" y="4160520"/>
            <a:ext cx="1737360" cy="685800"/>
          </a:xfrm>
          <a:prstGeom prst="rect">
            <a:avLst/>
          </a:prstGeom>
          <a:noFill/>
          <a:ln/>
        </p:spPr>
        <p:txBody>
          <a:bodyPr wrap="square" lIns="0" tIns="0" rIns="0" bIns="0" rtlCol="0" anchor="ctr"/>
          <a:lstStyle/>
          <a:p>
            <a:pPr indent="0" marL="0">
              <a:buNone/>
            </a:pPr>
            <a:r>
              <a:rPr lang="en-US" sz="4000" b="1" dirty="0">
                <a:solidFill>
                  <a:schemeClr val="tx1"/>
                </a:solidFill>
              </a:rPr>
              <a:t>2×</a:t>
            </a:r>
            <a:endParaRPr lang="en-US" sz="4000" dirty="0"/>
          </a:p>
        </p:txBody>
      </p:sp>
      <p:sp>
        <p:nvSpPr>
          <p:cNvPr id="42" name="Shape 24"/>
          <p:cNvSpPr/>
          <p:nvPr/>
        </p:nvSpPr>
        <p:spPr>
          <a:xfrm>
            <a:off x="8105927" y="4206240"/>
            <a:ext cx="420624" cy="420624"/>
          </a:xfrm>
          <a:prstGeom prst="ellipse">
            <a:avLst/>
          </a:prstGeom>
          <a:solidFill>
            <a:schemeClr val="accent1">
              <a:alpha val="12000"/>
            </a:schemeClr>
          </a:solidFill>
          <a:ln/>
        </p:spPr>
      </p:sp>
      <p:pic>
        <p:nvPicPr>
          <p:cNvPr id="43" name="Image 16" descr="preencoded.png">    </p:cNvPr>
          <p:cNvPicPr>
            <a:picLocks noChangeAspect="1"/>
          </p:cNvPicPr>
          <p:nvPr/>
        </p:nvPicPr>
        <p:blipFill>
          <a:blip r:embed="rId17"/>
          <a:stretch>
            <a:fillRect/>
          </a:stretch>
        </p:blipFill>
        <p:spPr>
          <a:xfrm>
            <a:off x="8202671" y="4302984"/>
            <a:ext cx="227137" cy="227137"/>
          </a:xfrm>
          <a:prstGeom prst="rect">
            <a:avLst/>
          </a:prstGeom>
        </p:spPr>
      </p:pic>
      <p:sp>
        <p:nvSpPr>
          <p:cNvPr id="44" name="Text 25"/>
          <p:cNvSpPr txBox="1"/>
          <p:nvPr/>
        </p:nvSpPr>
        <p:spPr>
          <a:xfrm>
            <a:off x="6507328" y="4956048"/>
            <a:ext cx="2019224" cy="566928"/>
          </a:xfrm>
          <a:prstGeom prst="rect">
            <a:avLst/>
          </a:prstGeom>
          <a:noFill/>
          <a:ln/>
        </p:spPr>
        <p:txBody>
          <a:bodyPr wrap="square" lIns="0" tIns="0" rIns="0" bIns="0" rtlCol="0" anchor="t"/>
          <a:lstStyle/>
          <a:p>
            <a:pPr indent="0" marL="0">
              <a:buNone/>
            </a:pPr>
            <a:r>
              <a:rPr lang="en-US" sz="1500" b="1" dirty="0">
                <a:solidFill>
                  <a:schemeClr val="tx2"/>
                </a:solidFill>
              </a:rPr>
              <a:t>air travel demand by 2040</a:t>
            </a:r>
            <a:endParaRPr lang="en-US" sz="1500" dirty="0"/>
          </a:p>
        </p:txBody>
      </p:sp>
      <p:sp>
        <p:nvSpPr>
          <p:cNvPr id="45" name="Shape 26"/>
          <p:cNvSpPr/>
          <p:nvPr/>
        </p:nvSpPr>
        <p:spPr>
          <a:xfrm>
            <a:off x="9075191" y="3931920"/>
            <a:ext cx="2567864" cy="1828800"/>
          </a:xfrm>
          <a:prstGeom prst="roundRect">
            <a:avLst>
              <a:gd name="adj" fmla="val 7000"/>
            </a:avLst>
          </a:prstGeom>
          <a:solidFill>
            <a:schemeClr val="bg1"/>
          </a:solidFill>
          <a:ln/>
          <a:effectLst>
            <a:outerShdw sx="100000" sy="100000" kx="0" ky="0" algn="bl" rotWithShape="0" blurRad="203200" dist="38100" dir="5400000">
              <a:srgbClr val="0A1628">
                <a:alpha val="9000"/>
              </a:srgbClr>
            </a:outerShdw>
          </a:effectLst>
        </p:spPr>
      </p:sp>
      <p:sp>
        <p:nvSpPr>
          <p:cNvPr id="46" name="Text 27"/>
          <p:cNvSpPr txBox="1"/>
          <p:nvPr/>
        </p:nvSpPr>
        <p:spPr>
          <a:xfrm>
            <a:off x="9349511" y="4160520"/>
            <a:ext cx="1737360" cy="685800"/>
          </a:xfrm>
          <a:prstGeom prst="rect">
            <a:avLst/>
          </a:prstGeom>
          <a:noFill/>
          <a:ln/>
        </p:spPr>
        <p:txBody>
          <a:bodyPr wrap="square" lIns="0" tIns="0" rIns="0" bIns="0" rtlCol="0" anchor="ctr"/>
          <a:lstStyle/>
          <a:p>
            <a:pPr indent="0" marL="0">
              <a:buNone/>
            </a:pPr>
            <a:r>
              <a:rPr lang="en-US" sz="4000" b="1" dirty="0">
                <a:solidFill>
                  <a:schemeClr val="tx1"/>
                </a:solidFill>
              </a:rPr>
              <a:t>2030s</a:t>
            </a:r>
            <a:endParaRPr lang="en-US" sz="4000" dirty="0"/>
          </a:p>
        </p:txBody>
      </p:sp>
      <p:sp>
        <p:nvSpPr>
          <p:cNvPr id="47" name="Shape 28"/>
          <p:cNvSpPr/>
          <p:nvPr/>
        </p:nvSpPr>
        <p:spPr>
          <a:xfrm>
            <a:off x="10948111" y="4206240"/>
            <a:ext cx="420624" cy="420624"/>
          </a:xfrm>
          <a:prstGeom prst="ellipse">
            <a:avLst/>
          </a:prstGeom>
          <a:solidFill>
            <a:schemeClr val="accent1">
              <a:alpha val="12000"/>
            </a:schemeClr>
          </a:solidFill>
          <a:ln/>
        </p:spPr>
      </p:sp>
      <p:pic>
        <p:nvPicPr>
          <p:cNvPr id="48" name="Image 17" descr="preencoded.png">    </p:cNvPr>
          <p:cNvPicPr>
            <a:picLocks noChangeAspect="1"/>
          </p:cNvPicPr>
          <p:nvPr/>
        </p:nvPicPr>
        <p:blipFill>
          <a:blip r:embed="rId18"/>
          <a:stretch>
            <a:fillRect/>
          </a:stretch>
        </p:blipFill>
        <p:spPr>
          <a:xfrm>
            <a:off x="11044855" y="4302984"/>
            <a:ext cx="227137" cy="227137"/>
          </a:xfrm>
          <a:prstGeom prst="rect">
            <a:avLst/>
          </a:prstGeom>
        </p:spPr>
      </p:pic>
      <p:sp>
        <p:nvSpPr>
          <p:cNvPr id="49" name="Text 29"/>
          <p:cNvSpPr txBox="1"/>
          <p:nvPr/>
        </p:nvSpPr>
        <p:spPr>
          <a:xfrm>
            <a:off x="9349511" y="4956048"/>
            <a:ext cx="2019224" cy="566928"/>
          </a:xfrm>
          <a:prstGeom prst="rect">
            <a:avLst/>
          </a:prstGeom>
          <a:noFill/>
          <a:ln/>
        </p:spPr>
        <p:txBody>
          <a:bodyPr wrap="square" lIns="0" tIns="0" rIns="0" bIns="0" rtlCol="0" anchor="t"/>
          <a:lstStyle/>
          <a:p>
            <a:pPr indent="0" marL="0">
              <a:buNone/>
            </a:pPr>
            <a:r>
              <a:rPr lang="en-US" sz="1500" b="1" dirty="0">
                <a:solidFill>
                  <a:schemeClr val="tx2"/>
                </a:solidFill>
              </a:rPr>
              <a:t>before Changi’s next terminal opens</a:t>
            </a:r>
            <a:endParaRPr lang="en-US" sz="1500" dirty="0"/>
          </a:p>
        </p:txBody>
      </p:sp>
      <p:sp>
        <p:nvSpPr>
          <p:cNvPr id="50" name="Text 30"/>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tx2"/>
                </a:solidFill>
              </a:rPr>
              <a:t>Sources: IATA Global Outlook for Air Transport (Dec 2023); Singapore MOT, Changi T5 update (2025). Staffing per touchpoint: airport expert calls. See References.</a:t>
            </a:r>
            <a:endParaRPr lang="en-US" sz="10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Market Potential</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A focused market in high-growth airport regions</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Brownfield airports in the Middle East and Southeast Asia, where growth outpaces capacity.</a:t>
            </a:r>
            <a:endParaRPr lang="en-US" sz="1500" dirty="0"/>
          </a:p>
        </p:txBody>
      </p:sp>
      <p:sp>
        <p:nvSpPr>
          <p:cNvPr id="5" name="Shape 3"/>
          <p:cNvSpPr/>
          <p:nvPr/>
        </p:nvSpPr>
        <p:spPr>
          <a:xfrm>
            <a:off x="548640" y="2103120"/>
            <a:ext cx="5669280" cy="676656"/>
          </a:xfrm>
          <a:prstGeom prst="roundRect">
            <a:avLst>
              <a:gd name="adj" fmla="val 21622"/>
            </a:avLst>
          </a:prstGeom>
          <a:solidFill>
            <a:schemeClr val="accent1">
              <a:alpha val="16000"/>
            </a:schemeClr>
          </a:solidFill>
          <a:ln/>
        </p:spPr>
      </p:sp>
      <p:sp>
        <p:nvSpPr>
          <p:cNvPr id="6" name="Text 4"/>
          <p:cNvSpPr txBox="1"/>
          <p:nvPr/>
        </p:nvSpPr>
        <p:spPr>
          <a:xfrm>
            <a:off x="548640" y="2103120"/>
            <a:ext cx="5669280" cy="676656"/>
          </a:xfrm>
          <a:prstGeom prst="rect">
            <a:avLst/>
          </a:prstGeom>
          <a:noFill/>
          <a:ln/>
        </p:spPr>
        <p:txBody>
          <a:bodyPr wrap="square" lIns="0" tIns="0" rIns="0" bIns="0" rtlCol="0" anchor="ctr"/>
          <a:lstStyle/>
          <a:p>
            <a:pPr algn="ctr" indent="0" marL="0">
              <a:buNone/>
            </a:pPr>
            <a:r>
              <a:rPr lang="en-US" sz="2100" b="1" dirty="0">
                <a:solidFill>
                  <a:schemeClr val="tx1"/>
                </a:solidFill>
              </a:rPr>
              <a:t>US$5.0B</a:t>
            </a:r>
            <a:pPr algn="ctr" indent="0" marL="0">
              <a:buNone/>
            </a:pPr>
            <a:r>
              <a:rPr lang="en-US" sz="1400" dirty="0">
                <a:solidFill>
                  <a:schemeClr val="tx1"/>
                </a:solidFill>
              </a:rPr>
              <a:t>  global ABC market by 2030</a:t>
            </a:r>
            <a:endParaRPr lang="en-US" sz="1400" dirty="0"/>
          </a:p>
        </p:txBody>
      </p:sp>
      <p:sp>
        <p:nvSpPr>
          <p:cNvPr id="7" name="Shape 5"/>
          <p:cNvSpPr/>
          <p:nvPr/>
        </p:nvSpPr>
        <p:spPr>
          <a:xfrm>
            <a:off x="914400" y="2907792"/>
            <a:ext cx="4937760" cy="676656"/>
          </a:xfrm>
          <a:prstGeom prst="roundRect">
            <a:avLst>
              <a:gd name="adj" fmla="val 21622"/>
            </a:avLst>
          </a:prstGeom>
          <a:solidFill>
            <a:schemeClr val="accent1">
              <a:alpha val="28000"/>
            </a:schemeClr>
          </a:solidFill>
          <a:ln/>
        </p:spPr>
      </p:sp>
      <p:sp>
        <p:nvSpPr>
          <p:cNvPr id="8" name="Text 6"/>
          <p:cNvSpPr txBox="1"/>
          <p:nvPr/>
        </p:nvSpPr>
        <p:spPr>
          <a:xfrm>
            <a:off x="914400" y="2907792"/>
            <a:ext cx="4937760" cy="676656"/>
          </a:xfrm>
          <a:prstGeom prst="rect">
            <a:avLst/>
          </a:prstGeom>
          <a:noFill/>
          <a:ln/>
        </p:spPr>
        <p:txBody>
          <a:bodyPr wrap="square" lIns="0" tIns="0" rIns="0" bIns="0" rtlCol="0" anchor="ctr"/>
          <a:lstStyle/>
          <a:p>
            <a:pPr algn="ctr" indent="0" marL="0">
              <a:buNone/>
            </a:pPr>
            <a:r>
              <a:rPr lang="en-US" sz="2100" b="1" dirty="0">
                <a:solidFill>
                  <a:schemeClr val="tx1"/>
                </a:solidFill>
              </a:rPr>
              <a:t>≈83%</a:t>
            </a:r>
            <a:pPr algn="ctr" indent="0" marL="0">
              <a:buNone/>
            </a:pPr>
            <a:r>
              <a:rPr lang="en-US" sz="1400" dirty="0">
                <a:solidFill>
                  <a:schemeClr val="tx1"/>
                </a:solidFill>
              </a:rPr>
              <a:t>  at airports</a:t>
            </a:r>
            <a:endParaRPr lang="en-US" sz="1400" dirty="0"/>
          </a:p>
        </p:txBody>
      </p:sp>
      <p:sp>
        <p:nvSpPr>
          <p:cNvPr id="9" name="Shape 7"/>
          <p:cNvSpPr/>
          <p:nvPr/>
        </p:nvSpPr>
        <p:spPr>
          <a:xfrm>
            <a:off x="1280160" y="3712464"/>
            <a:ext cx="4206240" cy="676656"/>
          </a:xfrm>
          <a:prstGeom prst="roundRect">
            <a:avLst>
              <a:gd name="adj" fmla="val 21622"/>
            </a:avLst>
          </a:prstGeom>
          <a:solidFill>
            <a:schemeClr val="accent1">
              <a:alpha val="46000"/>
            </a:schemeClr>
          </a:solidFill>
          <a:ln/>
        </p:spPr>
      </p:sp>
      <p:sp>
        <p:nvSpPr>
          <p:cNvPr id="10" name="Text 8"/>
          <p:cNvSpPr txBox="1"/>
          <p:nvPr/>
        </p:nvSpPr>
        <p:spPr>
          <a:xfrm>
            <a:off x="1280160" y="3712464"/>
            <a:ext cx="4206240" cy="676656"/>
          </a:xfrm>
          <a:prstGeom prst="rect">
            <a:avLst/>
          </a:prstGeom>
          <a:noFill/>
          <a:ln/>
        </p:spPr>
        <p:txBody>
          <a:bodyPr wrap="square" lIns="0" tIns="0" rIns="0" bIns="0" rtlCol="0" anchor="ctr"/>
          <a:lstStyle/>
          <a:p>
            <a:pPr algn="ctr" indent="0" marL="0">
              <a:buNone/>
            </a:pPr>
            <a:r>
              <a:rPr lang="en-US" sz="2100" b="1" dirty="0">
                <a:solidFill>
                  <a:schemeClr val="tx1"/>
                </a:solidFill>
              </a:rPr>
              <a:t>10–15%</a:t>
            </a:r>
            <a:pPr algn="ctr" indent="0" marL="0">
              <a:buNone/>
            </a:pPr>
            <a:r>
              <a:rPr lang="en-US" sz="1400" dirty="0">
                <a:solidFill>
                  <a:schemeClr val="tx1"/>
                </a:solidFill>
              </a:rPr>
              <a:t>  Middle East + SE Asia</a:t>
            </a:r>
            <a:endParaRPr lang="en-US" sz="1400" dirty="0"/>
          </a:p>
        </p:txBody>
      </p:sp>
      <p:sp>
        <p:nvSpPr>
          <p:cNvPr id="11" name="Shape 9"/>
          <p:cNvSpPr/>
          <p:nvPr/>
        </p:nvSpPr>
        <p:spPr>
          <a:xfrm>
            <a:off x="1600200" y="4517136"/>
            <a:ext cx="3566160" cy="676656"/>
          </a:xfrm>
          <a:prstGeom prst="roundRect">
            <a:avLst>
              <a:gd name="adj" fmla="val 21622"/>
            </a:avLst>
          </a:prstGeom>
          <a:solidFill>
            <a:schemeClr val="accent1"/>
          </a:solidFill>
          <a:ln/>
        </p:spPr>
      </p:sp>
      <p:sp>
        <p:nvSpPr>
          <p:cNvPr id="12" name="Text 10"/>
          <p:cNvSpPr txBox="1"/>
          <p:nvPr/>
        </p:nvSpPr>
        <p:spPr>
          <a:xfrm>
            <a:off x="1600200" y="4517136"/>
            <a:ext cx="3566160" cy="676656"/>
          </a:xfrm>
          <a:prstGeom prst="rect">
            <a:avLst/>
          </a:prstGeom>
          <a:noFill/>
          <a:ln/>
        </p:spPr>
        <p:txBody>
          <a:bodyPr wrap="square" lIns="0" tIns="0" rIns="0" bIns="0" rtlCol="0" anchor="ctr"/>
          <a:lstStyle/>
          <a:p>
            <a:pPr algn="ctr" indent="0" marL="0">
              <a:buNone/>
            </a:pPr>
            <a:r>
              <a:rPr lang="en-US" sz="2100" b="1" dirty="0">
                <a:solidFill>
                  <a:schemeClr val="bg1"/>
                </a:solidFill>
              </a:rPr>
              <a:t>≈25%</a:t>
            </a:r>
            <a:pPr algn="ctr" indent="0" marL="0">
              <a:buNone/>
            </a:pPr>
            <a:r>
              <a:rPr lang="en-US" sz="1400" dirty="0">
                <a:solidFill>
                  <a:schemeClr val="bg1"/>
                </a:solidFill>
              </a:rPr>
              <a:t>  FastPass addressable share</a:t>
            </a:r>
            <a:endParaRPr lang="en-US" sz="1400" dirty="0"/>
          </a:p>
        </p:txBody>
      </p:sp>
      <p:sp>
        <p:nvSpPr>
          <p:cNvPr id="13" name="Text 11"/>
          <p:cNvSpPr txBox="1"/>
          <p:nvPr/>
        </p:nvSpPr>
        <p:spPr>
          <a:xfrm>
            <a:off x="548640" y="5358384"/>
            <a:ext cx="5669280" cy="274320"/>
          </a:xfrm>
          <a:prstGeom prst="rect">
            <a:avLst/>
          </a:prstGeom>
          <a:noFill/>
          <a:ln/>
        </p:spPr>
        <p:txBody>
          <a:bodyPr wrap="square" lIns="0" tIns="0" rIns="0" bIns="0" rtlCol="0" anchor="ctr"/>
          <a:lstStyle/>
          <a:p>
            <a:pPr algn="ctr" indent="0" marL="0">
              <a:buNone/>
            </a:pPr>
            <a:r>
              <a:rPr lang="en-US" sz="1200" dirty="0">
                <a:solidFill>
                  <a:schemeClr val="tx2"/>
                </a:solidFill>
              </a:rPr>
              <a:t>US$2.56B (2025) → US$5.03B (2030)  ·  14.4% CAGR</a:t>
            </a:r>
            <a:endParaRPr lang="en-US" sz="1200" dirty="0"/>
          </a:p>
        </p:txBody>
      </p:sp>
      <p:sp>
        <p:nvSpPr>
          <p:cNvPr id="14" name="Shape 12"/>
          <p:cNvSpPr/>
          <p:nvPr/>
        </p:nvSpPr>
        <p:spPr>
          <a:xfrm>
            <a:off x="6629400" y="2103120"/>
            <a:ext cx="5013655" cy="2011680"/>
          </a:xfrm>
          <a:prstGeom prst="roundRect">
            <a:avLst>
              <a:gd name="adj" fmla="val 7273"/>
            </a:avLst>
          </a:prstGeom>
          <a:solidFill>
            <a:schemeClr val="accent6"/>
          </a:solidFill>
          <a:ln/>
          <a:effectLst>
            <a:outerShdw sx="100000" sy="100000" kx="0" ky="0" algn="bl" rotWithShape="0" blurRad="203200" dist="38100" dir="5400000">
              <a:srgbClr val="0A1628">
                <a:alpha val="9000"/>
              </a:srgbClr>
            </a:outerShdw>
          </a:effectLst>
        </p:spPr>
      </p:sp>
      <p:sp>
        <p:nvSpPr>
          <p:cNvPr id="15" name="Text 13"/>
          <p:cNvSpPr txBox="1"/>
          <p:nvPr/>
        </p:nvSpPr>
        <p:spPr>
          <a:xfrm>
            <a:off x="6995160" y="2331720"/>
            <a:ext cx="4282135" cy="237744"/>
          </a:xfrm>
          <a:prstGeom prst="rect">
            <a:avLst/>
          </a:prstGeom>
          <a:noFill/>
          <a:ln/>
        </p:spPr>
        <p:txBody>
          <a:bodyPr wrap="square" lIns="0" tIns="0" rIns="0" bIns="0" rtlCol="0" anchor="ctr"/>
          <a:lstStyle/>
          <a:p>
            <a:pPr indent="0" marL="0">
              <a:buNone/>
            </a:pPr>
            <a:r>
              <a:rPr lang="en-US" sz="1100" b="1" spc="200" kern="0" dirty="0">
                <a:solidFill>
                  <a:schemeClr val="accent5"/>
                </a:solidFill>
              </a:rPr>
              <a:t>SERVICEABLE MARKET  ·  2026–30</a:t>
            </a:r>
            <a:endParaRPr lang="en-US" sz="1100" dirty="0"/>
          </a:p>
        </p:txBody>
      </p:sp>
      <p:sp>
        <p:nvSpPr>
          <p:cNvPr id="16" name="Text 14"/>
          <p:cNvSpPr txBox="1"/>
          <p:nvPr/>
        </p:nvSpPr>
        <p:spPr>
          <a:xfrm>
            <a:off x="6995160" y="2633472"/>
            <a:ext cx="4282135" cy="731520"/>
          </a:xfrm>
          <a:prstGeom prst="rect">
            <a:avLst/>
          </a:prstGeom>
          <a:noFill/>
          <a:ln/>
        </p:spPr>
        <p:txBody>
          <a:bodyPr wrap="square" lIns="0" tIns="0" rIns="0" bIns="0" rtlCol="0" anchor="ctr"/>
          <a:lstStyle/>
          <a:p>
            <a:pPr indent="0" marL="0">
              <a:buNone/>
            </a:pPr>
            <a:r>
              <a:rPr lang="en-US" sz="4400" b="1" dirty="0">
                <a:solidFill>
                  <a:schemeClr val="bg1"/>
                </a:solidFill>
              </a:rPr>
              <a:t>US$500–700M</a:t>
            </a:r>
            <a:endParaRPr lang="en-US" sz="4400" dirty="0"/>
          </a:p>
        </p:txBody>
      </p:sp>
      <p:sp>
        <p:nvSpPr>
          <p:cNvPr id="17" name="Text 15"/>
          <p:cNvSpPr txBox="1"/>
          <p:nvPr/>
        </p:nvSpPr>
        <p:spPr>
          <a:xfrm>
            <a:off x="6995160" y="3401568"/>
            <a:ext cx="4282135" cy="457200"/>
          </a:xfrm>
          <a:prstGeom prst="rect">
            <a:avLst/>
          </a:prstGeom>
          <a:noFill/>
          <a:ln/>
        </p:spPr>
        <p:txBody>
          <a:bodyPr wrap="square" lIns="0" tIns="0" rIns="0" bIns="0" rtlCol="0" anchor="ctr"/>
          <a:lstStyle/>
          <a:p>
            <a:pPr indent="0" marL="0">
              <a:buNone/>
            </a:pPr>
            <a:r>
              <a:rPr lang="en-US" sz="1400" dirty="0">
                <a:solidFill>
                  <a:schemeClr val="accent5"/>
                </a:solidFill>
              </a:rPr>
              <a:t>≈ US$100–140M a year, hardware to services</a:t>
            </a:r>
            <a:endParaRPr lang="en-US" sz="1400" dirty="0"/>
          </a:p>
        </p:txBody>
      </p:sp>
      <p:sp>
        <p:nvSpPr>
          <p:cNvPr id="18" name="Shape 16"/>
          <p:cNvSpPr/>
          <p:nvPr/>
        </p:nvSpPr>
        <p:spPr>
          <a:xfrm>
            <a:off x="6629400" y="4343400"/>
            <a:ext cx="2369668" cy="1463040"/>
          </a:xfrm>
          <a:prstGeom prst="roundRect">
            <a:avLst>
              <a:gd name="adj" fmla="val 8750"/>
            </a:avLst>
          </a:prstGeom>
          <a:solidFill>
            <a:schemeClr val="bg1"/>
          </a:solidFill>
          <a:ln/>
          <a:effectLst>
            <a:outerShdw sx="100000" sy="100000" kx="0" ky="0" algn="bl" rotWithShape="0" blurRad="203200" dist="38100" dir="5400000">
              <a:srgbClr val="0A1628">
                <a:alpha val="9000"/>
              </a:srgbClr>
            </a:outerShdw>
          </a:effectLst>
        </p:spPr>
      </p:sp>
      <p:sp>
        <p:nvSpPr>
          <p:cNvPr id="19" name="Shape 17"/>
          <p:cNvSpPr/>
          <p:nvPr/>
        </p:nvSpPr>
        <p:spPr>
          <a:xfrm>
            <a:off x="6858000" y="4526280"/>
            <a:ext cx="384048" cy="384048"/>
          </a:xfrm>
          <a:prstGeom prst="ellipse">
            <a:avLst/>
          </a:prstGeom>
          <a:solidFill>
            <a:schemeClr val="accent1">
              <a:alpha val="12000"/>
            </a:schemeClr>
          </a:solidFill>
          <a:ln/>
        </p:spPr>
      </p:sp>
      <p:pic>
        <p:nvPicPr>
          <p:cNvPr id="20" name="Image 0" descr="preencoded.png">    </p:cNvPr>
          <p:cNvPicPr>
            <a:picLocks noChangeAspect="1"/>
          </p:cNvPicPr>
          <p:nvPr/>
        </p:nvPicPr>
        <p:blipFill>
          <a:blip r:embed="rId1"/>
          <a:stretch>
            <a:fillRect/>
          </a:stretch>
        </p:blipFill>
        <p:spPr>
          <a:xfrm>
            <a:off x="6946331" y="4614611"/>
            <a:ext cx="207386" cy="207386"/>
          </a:xfrm>
          <a:prstGeom prst="rect">
            <a:avLst/>
          </a:prstGeom>
        </p:spPr>
      </p:pic>
      <p:sp>
        <p:nvSpPr>
          <p:cNvPr id="21" name="Text 18"/>
          <p:cNvSpPr txBox="1"/>
          <p:nvPr/>
        </p:nvSpPr>
        <p:spPr>
          <a:xfrm>
            <a:off x="7360920" y="4526280"/>
            <a:ext cx="1455268" cy="384048"/>
          </a:xfrm>
          <a:prstGeom prst="rect">
            <a:avLst/>
          </a:prstGeom>
          <a:noFill/>
          <a:ln/>
        </p:spPr>
        <p:txBody>
          <a:bodyPr wrap="square" lIns="0" tIns="0" rIns="0" bIns="0" rtlCol="0" anchor="ctr"/>
          <a:lstStyle/>
          <a:p>
            <a:pPr indent="0" marL="0">
              <a:buNone/>
            </a:pPr>
            <a:r>
              <a:rPr lang="en-US" sz="2600" b="1" dirty="0">
                <a:solidFill>
                  <a:schemeClr val="accent1"/>
                </a:solidFill>
              </a:rPr>
              <a:t>7 in 10</a:t>
            </a:r>
            <a:endParaRPr lang="en-US" sz="2600" dirty="0"/>
          </a:p>
        </p:txBody>
      </p:sp>
      <p:sp>
        <p:nvSpPr>
          <p:cNvPr id="22" name="Text 19"/>
          <p:cNvSpPr txBox="1"/>
          <p:nvPr/>
        </p:nvSpPr>
        <p:spPr>
          <a:xfrm>
            <a:off x="6858000" y="5029200"/>
            <a:ext cx="1958188" cy="640080"/>
          </a:xfrm>
          <a:prstGeom prst="rect">
            <a:avLst/>
          </a:prstGeom>
          <a:noFill/>
          <a:ln/>
        </p:spPr>
        <p:txBody>
          <a:bodyPr wrap="square" lIns="0" tIns="0" rIns="0" bIns="0" rtlCol="0" anchor="t"/>
          <a:lstStyle/>
          <a:p>
            <a:pPr indent="0" marL="0">
              <a:buNone/>
            </a:pPr>
            <a:r>
              <a:rPr lang="en-US" sz="1400" dirty="0">
                <a:solidFill>
                  <a:schemeClr val="tx2"/>
                </a:solidFill>
              </a:rPr>
              <a:t>airlines adopting biometric ID by 2026</a:t>
            </a:r>
            <a:endParaRPr lang="en-US" sz="1400" dirty="0"/>
          </a:p>
        </p:txBody>
      </p:sp>
      <p:sp>
        <p:nvSpPr>
          <p:cNvPr id="23" name="Shape 20"/>
          <p:cNvSpPr/>
          <p:nvPr/>
        </p:nvSpPr>
        <p:spPr>
          <a:xfrm>
            <a:off x="9273388" y="4343400"/>
            <a:ext cx="2369668" cy="1463040"/>
          </a:xfrm>
          <a:prstGeom prst="roundRect">
            <a:avLst>
              <a:gd name="adj" fmla="val 8750"/>
            </a:avLst>
          </a:prstGeom>
          <a:solidFill>
            <a:schemeClr val="bg1"/>
          </a:solidFill>
          <a:ln/>
          <a:effectLst>
            <a:outerShdw sx="100000" sy="100000" kx="0" ky="0" algn="bl" rotWithShape="0" blurRad="203200" dist="38100" dir="5400000">
              <a:srgbClr val="0A1628">
                <a:alpha val="9000"/>
              </a:srgbClr>
            </a:outerShdw>
          </a:effectLst>
        </p:spPr>
      </p:sp>
      <p:sp>
        <p:nvSpPr>
          <p:cNvPr id="24" name="Shape 21"/>
          <p:cNvSpPr/>
          <p:nvPr/>
        </p:nvSpPr>
        <p:spPr>
          <a:xfrm>
            <a:off x="9501988" y="4526280"/>
            <a:ext cx="384048" cy="384048"/>
          </a:xfrm>
          <a:prstGeom prst="ellipse">
            <a:avLst/>
          </a:prstGeom>
          <a:solidFill>
            <a:schemeClr val="accent1">
              <a:alpha val="12000"/>
            </a:schemeClr>
          </a:solidFill>
          <a:ln/>
        </p:spPr>
      </p:sp>
      <p:pic>
        <p:nvPicPr>
          <p:cNvPr id="25" name="Image 1" descr="preencoded.png">    </p:cNvPr>
          <p:cNvPicPr>
            <a:picLocks noChangeAspect="1"/>
          </p:cNvPicPr>
          <p:nvPr/>
        </p:nvPicPr>
        <p:blipFill>
          <a:blip r:embed="rId2"/>
          <a:stretch>
            <a:fillRect/>
          </a:stretch>
        </p:blipFill>
        <p:spPr>
          <a:xfrm>
            <a:off x="9590319" y="4614611"/>
            <a:ext cx="207386" cy="207386"/>
          </a:xfrm>
          <a:prstGeom prst="rect">
            <a:avLst/>
          </a:prstGeom>
        </p:spPr>
      </p:pic>
      <p:sp>
        <p:nvSpPr>
          <p:cNvPr id="26" name="Text 22"/>
          <p:cNvSpPr txBox="1"/>
          <p:nvPr/>
        </p:nvSpPr>
        <p:spPr>
          <a:xfrm>
            <a:off x="10004908" y="4526280"/>
            <a:ext cx="1455268" cy="384048"/>
          </a:xfrm>
          <a:prstGeom prst="rect">
            <a:avLst/>
          </a:prstGeom>
          <a:noFill/>
          <a:ln/>
        </p:spPr>
        <p:txBody>
          <a:bodyPr wrap="square" lIns="0" tIns="0" rIns="0" bIns="0" rtlCol="0" anchor="ctr"/>
          <a:lstStyle/>
          <a:p>
            <a:pPr indent="0" marL="0">
              <a:buNone/>
            </a:pPr>
            <a:r>
              <a:rPr lang="en-US" sz="2600" b="1" dirty="0">
                <a:solidFill>
                  <a:schemeClr val="accent1"/>
                </a:solidFill>
              </a:rPr>
              <a:t>~78%</a:t>
            </a:r>
            <a:endParaRPr lang="en-US" sz="2600" dirty="0"/>
          </a:p>
        </p:txBody>
      </p:sp>
      <p:sp>
        <p:nvSpPr>
          <p:cNvPr id="27" name="Text 23"/>
          <p:cNvSpPr txBox="1"/>
          <p:nvPr/>
        </p:nvSpPr>
        <p:spPr>
          <a:xfrm>
            <a:off x="9501988" y="5029200"/>
            <a:ext cx="1958188" cy="640080"/>
          </a:xfrm>
          <a:prstGeom prst="rect">
            <a:avLst/>
          </a:prstGeom>
          <a:noFill/>
          <a:ln/>
        </p:spPr>
        <p:txBody>
          <a:bodyPr wrap="square" lIns="0" tIns="0" rIns="0" bIns="0" rtlCol="0" anchor="t"/>
          <a:lstStyle/>
          <a:p>
            <a:pPr indent="0" marL="0">
              <a:buNone/>
            </a:pPr>
            <a:r>
              <a:rPr lang="en-US" sz="1400" dirty="0">
                <a:solidFill>
                  <a:schemeClr val="tx2"/>
                </a:solidFill>
              </a:rPr>
              <a:t>of ME/SEA airport projects are brownfield</a:t>
            </a:r>
            <a:endParaRPr lang="en-US" sz="1400" dirty="0"/>
          </a:p>
        </p:txBody>
      </p:sp>
      <p:sp>
        <p:nvSpPr>
          <p:cNvPr id="28" name="Text 24"/>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tx2"/>
                </a:solidFill>
              </a:rPr>
              <a:t>Sources: MarketsandMarkets, Automated Border Control Market 2025–2030; SITA Air Transport IT Insights 2024. Regional and serviceable shares: URS estimate. See References.</a:t>
            </a:r>
            <a:endParaRPr lang="en-US" sz="10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Curb-to-gate journey" descr="/tmp/claude-0/-home-user-sgqy/b70fb111-7300-56ba-abe4-4b6e17d8c33e/scratchpad/journey/sf_pear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FastPass Solution</a:t>
            </a:r>
            <a:endParaRPr lang="en-US" sz="1400" dirty="0"/>
          </a:p>
        </p:txBody>
      </p:sp>
      <p:sp>
        <p:nvSpPr>
          <p:cNvPr id="4"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One identity, from curb to gate</a:t>
            </a:r>
            <a:endParaRPr lang="en-US" sz="3000" dirty="0"/>
          </a:p>
        </p:txBody>
      </p:sp>
      <p:sp>
        <p:nvSpPr>
          <p:cNvPr id="5"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Six touchpoints. One verified credential. No stops for eligible travellers.</a:t>
            </a:r>
            <a:endParaRPr lang="en-US" sz="1500" dirty="0"/>
          </a:p>
        </p:txBody>
      </p:sp>
      <p:sp>
        <p:nvSpPr>
          <p:cNvPr id="6" name="Shape 3"/>
          <p:cNvSpPr/>
          <p:nvPr/>
        </p:nvSpPr>
        <p:spPr>
          <a:xfrm flipV="1">
            <a:off x="1856232" y="2798064"/>
            <a:ext cx="521208" cy="2278685"/>
          </a:xfrm>
          <a:prstGeom prst="line">
            <a:avLst/>
          </a:prstGeom>
          <a:noFill/>
          <a:ln w="12700">
            <a:solidFill>
              <a:schemeClr val="accent1">
                <a:alpha val="85000"/>
              </a:schemeClr>
            </a:solidFill>
            <a:prstDash val="solid"/>
          </a:ln>
        </p:spPr>
      </p:sp>
      <p:sp>
        <p:nvSpPr>
          <p:cNvPr id="7" name="Shape 4"/>
          <p:cNvSpPr/>
          <p:nvPr/>
        </p:nvSpPr>
        <p:spPr>
          <a:xfrm flipV="1">
            <a:off x="3000146" y="2798064"/>
            <a:ext cx="566014" cy="1707185"/>
          </a:xfrm>
          <a:prstGeom prst="line">
            <a:avLst/>
          </a:prstGeom>
          <a:noFill/>
          <a:ln w="12700">
            <a:solidFill>
              <a:schemeClr val="accent1">
                <a:alpha val="85000"/>
              </a:schemeClr>
            </a:solidFill>
            <a:prstDash val="solid"/>
          </a:ln>
        </p:spPr>
      </p:sp>
      <p:sp>
        <p:nvSpPr>
          <p:cNvPr id="8" name="Shape 5"/>
          <p:cNvSpPr/>
          <p:nvPr/>
        </p:nvSpPr>
        <p:spPr>
          <a:xfrm flipV="1">
            <a:off x="4924958" y="2798064"/>
            <a:ext cx="561442" cy="744322"/>
          </a:xfrm>
          <a:prstGeom prst="line">
            <a:avLst/>
          </a:prstGeom>
          <a:noFill/>
          <a:ln w="12700">
            <a:solidFill>
              <a:schemeClr val="accent1">
                <a:alpha val="85000"/>
              </a:schemeClr>
            </a:solidFill>
            <a:prstDash val="solid"/>
          </a:ln>
        </p:spPr>
      </p:sp>
      <p:sp>
        <p:nvSpPr>
          <p:cNvPr id="9" name="Shape 6"/>
          <p:cNvSpPr/>
          <p:nvPr/>
        </p:nvSpPr>
        <p:spPr>
          <a:xfrm flipV="1">
            <a:off x="6540703" y="2798064"/>
            <a:ext cx="1048817" cy="1280160"/>
          </a:xfrm>
          <a:prstGeom prst="line">
            <a:avLst/>
          </a:prstGeom>
          <a:noFill/>
          <a:ln w="12700">
            <a:solidFill>
              <a:schemeClr val="accent1">
                <a:alpha val="85000"/>
              </a:schemeClr>
            </a:solidFill>
            <a:prstDash val="solid"/>
          </a:ln>
        </p:spPr>
      </p:sp>
      <p:sp>
        <p:nvSpPr>
          <p:cNvPr id="10" name="Shape 7"/>
          <p:cNvSpPr/>
          <p:nvPr/>
        </p:nvSpPr>
        <p:spPr>
          <a:xfrm flipV="1">
            <a:off x="8882482" y="2798064"/>
            <a:ext cx="993038" cy="2451506"/>
          </a:xfrm>
          <a:prstGeom prst="line">
            <a:avLst/>
          </a:prstGeom>
          <a:noFill/>
          <a:ln w="12700">
            <a:solidFill>
              <a:schemeClr val="accent1">
                <a:alpha val="85000"/>
              </a:schemeClr>
            </a:solidFill>
            <a:prstDash val="solid"/>
          </a:ln>
        </p:spPr>
      </p:sp>
      <p:sp>
        <p:nvSpPr>
          <p:cNvPr id="11" name="Shape 8"/>
          <p:cNvSpPr/>
          <p:nvPr/>
        </p:nvSpPr>
        <p:spPr>
          <a:xfrm>
            <a:off x="5216652" y="5598871"/>
            <a:ext cx="864108" cy="253289"/>
          </a:xfrm>
          <a:prstGeom prst="line">
            <a:avLst/>
          </a:prstGeom>
          <a:noFill/>
          <a:ln w="12700">
            <a:solidFill>
              <a:schemeClr val="accent1">
                <a:alpha val="85000"/>
              </a:schemeClr>
            </a:solidFill>
            <a:prstDash val="solid"/>
          </a:ln>
        </p:spPr>
      </p:sp>
      <p:sp>
        <p:nvSpPr>
          <p:cNvPr id="12" name="Shape 9"/>
          <p:cNvSpPr/>
          <p:nvPr/>
        </p:nvSpPr>
        <p:spPr>
          <a:xfrm>
            <a:off x="2019912" y="3672474"/>
            <a:ext cx="2504539" cy="137831"/>
          </a:xfrm>
          <a:prstGeom prst="line">
            <a:avLst/>
          </a:prstGeom>
          <a:noFill/>
          <a:ln w="12700">
            <a:solidFill>
              <a:schemeClr val="accent1"/>
            </a:solidFill>
            <a:prstDash val="dash"/>
          </a:ln>
        </p:spPr>
      </p:sp>
      <p:sp>
        <p:nvSpPr>
          <p:cNvPr id="13" name="Shape 10"/>
          <p:cNvSpPr/>
          <p:nvPr/>
        </p:nvSpPr>
        <p:spPr>
          <a:xfrm>
            <a:off x="4483303" y="3769157"/>
            <a:ext cx="82296" cy="82296"/>
          </a:xfrm>
          <a:prstGeom prst="ellipse">
            <a:avLst/>
          </a:prstGeom>
          <a:solidFill>
            <a:schemeClr val="accent1"/>
          </a:solidFill>
          <a:ln/>
        </p:spPr>
      </p:sp>
      <p:sp>
        <p:nvSpPr>
          <p:cNvPr id="14" name="Shape 11"/>
          <p:cNvSpPr/>
          <p:nvPr/>
        </p:nvSpPr>
        <p:spPr>
          <a:xfrm>
            <a:off x="768096" y="2990088"/>
            <a:ext cx="1298448" cy="1298448"/>
          </a:xfrm>
          <a:prstGeom prst="ellipse">
            <a:avLst/>
          </a:prstGeom>
          <a:solidFill>
            <a:schemeClr val="bg1"/>
          </a:solidFill>
          <a:ln w="19050">
            <a:solidFill>
              <a:schemeClr val="accent1"/>
            </a:solidFill>
            <a:prstDash val="solid"/>
          </a:ln>
          <a:effectLst>
            <a:outerShdw sx="100000" sy="100000" kx="0" ky="0" algn="bl" rotWithShape="0" blurRad="203200" dist="38100" dir="5400000">
              <a:srgbClr val="0A1628">
                <a:alpha val="9000"/>
              </a:srgbClr>
            </a:outerShdw>
          </a:effectLst>
        </p:spPr>
      </p:sp>
      <p:sp>
        <p:nvSpPr>
          <p:cNvPr id="15" name="Shape 12"/>
          <p:cNvSpPr/>
          <p:nvPr/>
        </p:nvSpPr>
        <p:spPr>
          <a:xfrm>
            <a:off x="905256" y="3273552"/>
            <a:ext cx="1024128" cy="603504"/>
          </a:xfrm>
          <a:prstGeom prst="roundRect">
            <a:avLst>
              <a:gd name="adj" fmla="val 9091"/>
            </a:avLst>
          </a:prstGeom>
          <a:solidFill>
            <a:srgbClr val="0E1B2D"/>
          </a:solidFill>
          <a:ln w="9525">
            <a:solidFill>
              <a:schemeClr val="accent1"/>
            </a:solidFill>
            <a:prstDash val="solid"/>
          </a:ln>
        </p:spPr>
      </p:sp>
      <p:sp>
        <p:nvSpPr>
          <p:cNvPr id="16" name="Shape 13"/>
          <p:cNvSpPr/>
          <p:nvPr/>
        </p:nvSpPr>
        <p:spPr>
          <a:xfrm>
            <a:off x="987552" y="3355848"/>
            <a:ext cx="246888" cy="246888"/>
          </a:xfrm>
          <a:prstGeom prst="ellipse">
            <a:avLst/>
          </a:prstGeom>
          <a:solidFill>
            <a:srgbClr val="E7CDB4"/>
          </a:solidFill>
          <a:ln/>
        </p:spPr>
      </p:sp>
      <p:sp>
        <p:nvSpPr>
          <p:cNvPr id="17" name="Text 14"/>
          <p:cNvSpPr txBox="1"/>
          <p:nvPr/>
        </p:nvSpPr>
        <p:spPr>
          <a:xfrm>
            <a:off x="1280160" y="3337560"/>
            <a:ext cx="621792" cy="155448"/>
          </a:xfrm>
          <a:prstGeom prst="rect">
            <a:avLst/>
          </a:prstGeom>
          <a:noFill/>
          <a:ln/>
        </p:spPr>
        <p:txBody>
          <a:bodyPr wrap="square" lIns="0" tIns="0" rIns="0" bIns="0" rtlCol="0" anchor="ctr"/>
          <a:lstStyle/>
          <a:p>
            <a:pPr indent="0" marL="0">
              <a:buNone/>
            </a:pPr>
            <a:r>
              <a:rPr lang="en-US" sz="900" b="1" dirty="0">
                <a:solidFill>
                  <a:srgbClr val="FFFFFF"/>
                </a:solidFill>
              </a:rPr>
              <a:t>TAN M. L.</a:t>
            </a:r>
            <a:endParaRPr lang="en-US" sz="900" dirty="0"/>
          </a:p>
        </p:txBody>
      </p:sp>
      <p:sp>
        <p:nvSpPr>
          <p:cNvPr id="18" name="Text 15"/>
          <p:cNvSpPr txBox="1"/>
          <p:nvPr/>
        </p:nvSpPr>
        <p:spPr>
          <a:xfrm>
            <a:off x="1280160" y="3493008"/>
            <a:ext cx="621792" cy="118872"/>
          </a:xfrm>
          <a:prstGeom prst="rect">
            <a:avLst/>
          </a:prstGeom>
          <a:noFill/>
          <a:ln/>
        </p:spPr>
        <p:txBody>
          <a:bodyPr wrap="square" lIns="0" tIns="0" rIns="0" bIns="0" rtlCol="0" anchor="ctr"/>
          <a:lstStyle/>
          <a:p>
            <a:pPr indent="0" marL="0">
              <a:buNone/>
            </a:pPr>
            <a:r>
              <a:rPr lang="en-US" sz="700" dirty="0">
                <a:solidFill>
                  <a:srgbClr val="9AA8BC"/>
                </a:solidFill>
              </a:rPr>
              <a:t>SQ 322 · B12</a:t>
            </a:r>
            <a:endParaRPr lang="en-US" sz="700" dirty="0"/>
          </a:p>
        </p:txBody>
      </p:sp>
      <p:sp>
        <p:nvSpPr>
          <p:cNvPr id="19" name="Shape 16"/>
          <p:cNvSpPr/>
          <p:nvPr/>
        </p:nvSpPr>
        <p:spPr>
          <a:xfrm>
            <a:off x="987552" y="3675888"/>
            <a:ext cx="859536" cy="146304"/>
          </a:xfrm>
          <a:prstGeom prst="roundRect">
            <a:avLst>
              <a:gd name="adj" fmla="val 50000"/>
            </a:avLst>
          </a:prstGeom>
          <a:solidFill>
            <a:schemeClr val="accent2"/>
          </a:solidFill>
          <a:ln/>
        </p:spPr>
      </p:sp>
      <p:sp>
        <p:nvSpPr>
          <p:cNvPr id="20" name="Text 17"/>
          <p:cNvSpPr txBox="1"/>
          <p:nvPr/>
        </p:nvSpPr>
        <p:spPr>
          <a:xfrm>
            <a:off x="987552" y="3675888"/>
            <a:ext cx="859536" cy="146304"/>
          </a:xfrm>
          <a:prstGeom prst="rect">
            <a:avLst/>
          </a:prstGeom>
          <a:noFill/>
          <a:ln/>
        </p:spPr>
        <p:txBody>
          <a:bodyPr wrap="square" lIns="0" tIns="0" rIns="0" bIns="0" rtlCol="0" anchor="ctr"/>
          <a:lstStyle/>
          <a:p>
            <a:pPr algn="ctr" indent="0" marL="0">
              <a:buNone/>
            </a:pPr>
            <a:r>
              <a:rPr lang="en-US" sz="800" b="1" spc="100" kern="0" dirty="0">
                <a:solidFill>
                  <a:srgbClr val="FFFFFF"/>
                </a:solidFill>
              </a:rPr>
              <a:t>CLEARED</a:t>
            </a:r>
            <a:endParaRPr lang="en-US" sz="800" dirty="0"/>
          </a:p>
        </p:txBody>
      </p:sp>
      <p:sp>
        <p:nvSpPr>
          <p:cNvPr id="21" name="Text 18"/>
          <p:cNvSpPr txBox="1"/>
          <p:nvPr/>
        </p:nvSpPr>
        <p:spPr>
          <a:xfrm>
            <a:off x="914400" y="3950208"/>
            <a:ext cx="1005840" cy="146304"/>
          </a:xfrm>
          <a:prstGeom prst="rect">
            <a:avLst/>
          </a:prstGeom>
          <a:noFill/>
          <a:ln/>
        </p:spPr>
        <p:txBody>
          <a:bodyPr wrap="square" lIns="0" tIns="0" rIns="0" bIns="0" rtlCol="0" anchor="ctr"/>
          <a:lstStyle/>
          <a:p>
            <a:pPr algn="ctr" indent="0" marL="0">
              <a:buNone/>
            </a:pPr>
            <a:r>
              <a:rPr lang="en-US" sz="800" b="1" spc="150" kern="0" dirty="0">
                <a:solidFill>
                  <a:schemeClr val="accent1"/>
                </a:solidFill>
              </a:rPr>
              <a:t>STATUS TV</a:t>
            </a:r>
            <a:endParaRPr lang="en-US" sz="800" dirty="0"/>
          </a:p>
        </p:txBody>
      </p:sp>
      <p:sp>
        <p:nvSpPr>
          <p:cNvPr id="22" name="Shape 19"/>
          <p:cNvSpPr/>
          <p:nvPr/>
        </p:nvSpPr>
        <p:spPr>
          <a:xfrm>
            <a:off x="548640" y="2011680"/>
            <a:ext cx="2057400" cy="786384"/>
          </a:xfrm>
          <a:prstGeom prst="roundRect">
            <a:avLst>
              <a:gd name="adj" fmla="val 16279"/>
            </a:avLst>
          </a:prstGeom>
          <a:solidFill>
            <a:schemeClr val="bg1"/>
          </a:solidFill>
          <a:ln/>
          <a:effectLst>
            <a:outerShdw sx="100000" sy="100000" kx="0" ky="0" algn="bl" rotWithShape="0" blurRad="203200" dist="38100" dir="5400000">
              <a:srgbClr val="0A1628">
                <a:alpha val="9000"/>
              </a:srgbClr>
            </a:outerShdw>
          </a:effectLst>
        </p:spPr>
      </p:sp>
      <p:sp>
        <p:nvSpPr>
          <p:cNvPr id="23" name="Shape 20"/>
          <p:cNvSpPr/>
          <p:nvPr/>
        </p:nvSpPr>
        <p:spPr>
          <a:xfrm>
            <a:off x="685800" y="2112264"/>
            <a:ext cx="274320" cy="274320"/>
          </a:xfrm>
          <a:prstGeom prst="ellipse">
            <a:avLst/>
          </a:prstGeom>
          <a:solidFill>
            <a:schemeClr val="accent1"/>
          </a:solidFill>
          <a:ln/>
        </p:spPr>
      </p:sp>
      <p:sp>
        <p:nvSpPr>
          <p:cNvPr id="24" name="Text 21"/>
          <p:cNvSpPr txBox="1"/>
          <p:nvPr/>
        </p:nvSpPr>
        <p:spPr>
          <a:xfrm>
            <a:off x="685800" y="2112264"/>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5" name="Text 22"/>
          <p:cNvSpPr txBox="1"/>
          <p:nvPr/>
        </p:nvSpPr>
        <p:spPr>
          <a:xfrm>
            <a:off x="1051560" y="2084832"/>
            <a:ext cx="1463040" cy="329184"/>
          </a:xfrm>
          <a:prstGeom prst="rect">
            <a:avLst/>
          </a:prstGeom>
          <a:noFill/>
          <a:ln/>
        </p:spPr>
        <p:txBody>
          <a:bodyPr wrap="square" lIns="0" tIns="0" rIns="0" bIns="0" rtlCol="0" anchor="ctr"/>
          <a:lstStyle/>
          <a:p>
            <a:pPr indent="0" marL="0">
              <a:buNone/>
            </a:pPr>
            <a:r>
              <a:rPr lang="en-US" sz="1400" b="1" dirty="0">
                <a:solidFill>
                  <a:schemeClr val="tx1"/>
                </a:solidFill>
              </a:rPr>
              <a:t>Enrol at home</a:t>
            </a:r>
            <a:endParaRPr lang="en-US" sz="1400" dirty="0"/>
          </a:p>
        </p:txBody>
      </p:sp>
      <p:pic>
        <p:nvPicPr>
          <p:cNvPr id="26" name="Image 1" descr="preencoded.png">    </p:cNvPr>
          <p:cNvPicPr>
            <a:picLocks noChangeAspect="1"/>
          </p:cNvPicPr>
          <p:nvPr/>
        </p:nvPicPr>
        <p:blipFill>
          <a:blip r:embed="rId2"/>
          <a:stretch>
            <a:fillRect/>
          </a:stretch>
        </p:blipFill>
        <p:spPr>
          <a:xfrm>
            <a:off x="713232" y="2468880"/>
            <a:ext cx="219456" cy="219456"/>
          </a:xfrm>
          <a:prstGeom prst="rect">
            <a:avLst/>
          </a:prstGeom>
        </p:spPr>
      </p:pic>
      <p:sp>
        <p:nvSpPr>
          <p:cNvPr id="27" name="Text 23"/>
          <p:cNvSpPr txBox="1"/>
          <p:nvPr/>
        </p:nvSpPr>
        <p:spPr>
          <a:xfrm>
            <a:off x="1051560" y="2432304"/>
            <a:ext cx="1463040" cy="292608"/>
          </a:xfrm>
          <a:prstGeom prst="rect">
            <a:avLst/>
          </a:prstGeom>
          <a:noFill/>
          <a:ln/>
        </p:spPr>
        <p:txBody>
          <a:bodyPr wrap="square" lIns="0" tIns="0" rIns="0" bIns="0" rtlCol="0" anchor="ctr"/>
          <a:lstStyle/>
          <a:p>
            <a:pPr indent="0" marL="0">
              <a:buNone/>
            </a:pPr>
            <a:r>
              <a:rPr lang="en-US" sz="1200" b="1" dirty="0">
                <a:solidFill>
                  <a:schemeClr val="accent1"/>
                </a:solidFill>
              </a:rPr>
              <a:t>FastPass App</a:t>
            </a:r>
            <a:endParaRPr lang="en-US" sz="1200" dirty="0"/>
          </a:p>
        </p:txBody>
      </p:sp>
      <p:sp>
        <p:nvSpPr>
          <p:cNvPr id="28" name="Shape 24"/>
          <p:cNvSpPr/>
          <p:nvPr/>
        </p:nvSpPr>
        <p:spPr>
          <a:xfrm>
            <a:off x="2743200" y="2011680"/>
            <a:ext cx="2057400" cy="786384"/>
          </a:xfrm>
          <a:prstGeom prst="roundRect">
            <a:avLst>
              <a:gd name="adj" fmla="val 16279"/>
            </a:avLst>
          </a:prstGeom>
          <a:solidFill>
            <a:schemeClr val="bg1"/>
          </a:solidFill>
          <a:ln/>
          <a:effectLst>
            <a:outerShdw sx="100000" sy="100000" kx="0" ky="0" algn="bl" rotWithShape="0" blurRad="203200" dist="38100" dir="5400000">
              <a:srgbClr val="0A1628">
                <a:alpha val="9000"/>
              </a:srgbClr>
            </a:outerShdw>
          </a:effectLst>
        </p:spPr>
      </p:sp>
      <p:sp>
        <p:nvSpPr>
          <p:cNvPr id="29" name="Shape 25"/>
          <p:cNvSpPr/>
          <p:nvPr/>
        </p:nvSpPr>
        <p:spPr>
          <a:xfrm>
            <a:off x="2880360" y="2112264"/>
            <a:ext cx="274320" cy="274320"/>
          </a:xfrm>
          <a:prstGeom prst="ellipse">
            <a:avLst/>
          </a:prstGeom>
          <a:solidFill>
            <a:schemeClr val="accent1"/>
          </a:solidFill>
          <a:ln/>
        </p:spPr>
      </p:sp>
      <p:sp>
        <p:nvSpPr>
          <p:cNvPr id="30" name="Text 26"/>
          <p:cNvSpPr txBox="1"/>
          <p:nvPr/>
        </p:nvSpPr>
        <p:spPr>
          <a:xfrm>
            <a:off x="2880360" y="2112264"/>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7"/>
          <p:cNvSpPr txBox="1"/>
          <p:nvPr/>
        </p:nvSpPr>
        <p:spPr>
          <a:xfrm>
            <a:off x="3246120" y="2084832"/>
            <a:ext cx="1463040" cy="329184"/>
          </a:xfrm>
          <a:prstGeom prst="rect">
            <a:avLst/>
          </a:prstGeom>
          <a:noFill/>
          <a:ln/>
        </p:spPr>
        <p:txBody>
          <a:bodyPr wrap="square" lIns="0" tIns="0" rIns="0" bIns="0" rtlCol="0" anchor="ctr"/>
          <a:lstStyle/>
          <a:p>
            <a:pPr indent="0" marL="0">
              <a:buNone/>
            </a:pPr>
            <a:r>
              <a:rPr lang="en-US" sz="1400" b="1" dirty="0">
                <a:solidFill>
                  <a:schemeClr val="tx1"/>
                </a:solidFill>
              </a:rPr>
              <a:t>Approach</a:t>
            </a:r>
            <a:endParaRPr lang="en-US" sz="1400" dirty="0"/>
          </a:p>
        </p:txBody>
      </p:sp>
      <p:pic>
        <p:nvPicPr>
          <p:cNvPr id="32" name="Image 2" descr="preencoded.png">    </p:cNvPr>
          <p:cNvPicPr>
            <a:picLocks noChangeAspect="1"/>
          </p:cNvPicPr>
          <p:nvPr/>
        </p:nvPicPr>
        <p:blipFill>
          <a:blip r:embed="rId3"/>
          <a:stretch>
            <a:fillRect/>
          </a:stretch>
        </p:blipFill>
        <p:spPr>
          <a:xfrm>
            <a:off x="2907792" y="2468880"/>
            <a:ext cx="219456" cy="219456"/>
          </a:xfrm>
          <a:prstGeom prst="rect">
            <a:avLst/>
          </a:prstGeom>
        </p:spPr>
      </p:pic>
      <p:sp>
        <p:nvSpPr>
          <p:cNvPr id="33" name="Text 28"/>
          <p:cNvSpPr txBox="1"/>
          <p:nvPr/>
        </p:nvSpPr>
        <p:spPr>
          <a:xfrm>
            <a:off x="3246120" y="2432304"/>
            <a:ext cx="1463040" cy="292608"/>
          </a:xfrm>
          <a:prstGeom prst="rect">
            <a:avLst/>
          </a:prstGeom>
          <a:noFill/>
          <a:ln/>
        </p:spPr>
        <p:txBody>
          <a:bodyPr wrap="square" lIns="0" tIns="0" rIns="0" bIns="0" rtlCol="0" anchor="ctr"/>
          <a:lstStyle/>
          <a:p>
            <a:pPr indent="0" marL="0">
              <a:buNone/>
            </a:pPr>
            <a:r>
              <a:rPr lang="en-US" sz="1200" b="1" dirty="0">
                <a:solidFill>
                  <a:schemeClr val="accent1"/>
                </a:solidFill>
              </a:rPr>
              <a:t>BLE lane pairing</a:t>
            </a:r>
            <a:endParaRPr lang="en-US" sz="1200" dirty="0"/>
          </a:p>
        </p:txBody>
      </p:sp>
      <p:sp>
        <p:nvSpPr>
          <p:cNvPr id="34" name="Shape 29"/>
          <p:cNvSpPr/>
          <p:nvPr/>
        </p:nvSpPr>
        <p:spPr>
          <a:xfrm>
            <a:off x="4937760" y="2011680"/>
            <a:ext cx="2057400" cy="786384"/>
          </a:xfrm>
          <a:prstGeom prst="roundRect">
            <a:avLst>
              <a:gd name="adj" fmla="val 16279"/>
            </a:avLst>
          </a:prstGeom>
          <a:solidFill>
            <a:schemeClr val="bg1"/>
          </a:solidFill>
          <a:ln/>
          <a:effectLst>
            <a:outerShdw sx="100000" sy="100000" kx="0" ky="0" algn="bl" rotWithShape="0" blurRad="203200" dist="38100" dir="5400000">
              <a:srgbClr val="0A1628">
                <a:alpha val="9000"/>
              </a:srgbClr>
            </a:outerShdw>
          </a:effectLst>
        </p:spPr>
      </p:sp>
      <p:sp>
        <p:nvSpPr>
          <p:cNvPr id="35" name="Shape 30"/>
          <p:cNvSpPr/>
          <p:nvPr/>
        </p:nvSpPr>
        <p:spPr>
          <a:xfrm>
            <a:off x="5074920" y="2112264"/>
            <a:ext cx="274320" cy="274320"/>
          </a:xfrm>
          <a:prstGeom prst="ellipse">
            <a:avLst/>
          </a:prstGeom>
          <a:solidFill>
            <a:schemeClr val="accent1"/>
          </a:solidFill>
          <a:ln/>
        </p:spPr>
      </p:sp>
      <p:sp>
        <p:nvSpPr>
          <p:cNvPr id="36" name="Text 31"/>
          <p:cNvSpPr txBox="1"/>
          <p:nvPr/>
        </p:nvSpPr>
        <p:spPr>
          <a:xfrm>
            <a:off x="5074920" y="2112264"/>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Text 32"/>
          <p:cNvSpPr txBox="1"/>
          <p:nvPr/>
        </p:nvSpPr>
        <p:spPr>
          <a:xfrm>
            <a:off x="5440680" y="2084832"/>
            <a:ext cx="1463040" cy="329184"/>
          </a:xfrm>
          <a:prstGeom prst="rect">
            <a:avLst/>
          </a:prstGeom>
          <a:noFill/>
          <a:ln/>
        </p:spPr>
        <p:txBody>
          <a:bodyPr wrap="square" lIns="0" tIns="0" rIns="0" bIns="0" rtlCol="0" anchor="ctr"/>
          <a:lstStyle/>
          <a:p>
            <a:pPr indent="0" marL="0">
              <a:buNone/>
            </a:pPr>
            <a:r>
              <a:rPr lang="en-US" sz="1400" b="1" dirty="0">
                <a:solidFill>
                  <a:schemeClr val="tx1"/>
                </a:solidFill>
              </a:rPr>
              <a:t>Walk through</a:t>
            </a:r>
            <a:endParaRPr lang="en-US" sz="1400" dirty="0"/>
          </a:p>
        </p:txBody>
      </p:sp>
      <p:pic>
        <p:nvPicPr>
          <p:cNvPr id="38" name="Image 3" descr="preencoded.png">    </p:cNvPr>
          <p:cNvPicPr>
            <a:picLocks noChangeAspect="1"/>
          </p:cNvPicPr>
          <p:nvPr/>
        </p:nvPicPr>
        <p:blipFill>
          <a:blip r:embed="rId4"/>
          <a:stretch>
            <a:fillRect/>
          </a:stretch>
        </p:blipFill>
        <p:spPr>
          <a:xfrm>
            <a:off x="5102352" y="2468880"/>
            <a:ext cx="219456" cy="219456"/>
          </a:xfrm>
          <a:prstGeom prst="rect">
            <a:avLst/>
          </a:prstGeom>
        </p:spPr>
      </p:pic>
      <p:sp>
        <p:nvSpPr>
          <p:cNvPr id="39" name="Text 33"/>
          <p:cNvSpPr txBox="1"/>
          <p:nvPr/>
        </p:nvSpPr>
        <p:spPr>
          <a:xfrm>
            <a:off x="5440680" y="2432304"/>
            <a:ext cx="1463040" cy="292608"/>
          </a:xfrm>
          <a:prstGeom prst="rect">
            <a:avLst/>
          </a:prstGeom>
          <a:noFill/>
          <a:ln/>
        </p:spPr>
        <p:txBody>
          <a:bodyPr wrap="square" lIns="0" tIns="0" rIns="0" bIns="0" rtlCol="0" anchor="ctr"/>
          <a:lstStyle/>
          <a:p>
            <a:pPr indent="0" marL="0">
              <a:buNone/>
            </a:pPr>
            <a:r>
              <a:rPr lang="en-US" sz="1200" b="1" dirty="0">
                <a:solidFill>
                  <a:schemeClr val="accent1"/>
                </a:solidFill>
              </a:rPr>
              <a:t>Biometric E-Gate</a:t>
            </a:r>
            <a:endParaRPr lang="en-US" sz="1200" dirty="0"/>
          </a:p>
        </p:txBody>
      </p:sp>
      <p:sp>
        <p:nvSpPr>
          <p:cNvPr id="40" name="Shape 34"/>
          <p:cNvSpPr/>
          <p:nvPr/>
        </p:nvSpPr>
        <p:spPr>
          <a:xfrm>
            <a:off x="7132320" y="2011680"/>
            <a:ext cx="2057400" cy="786384"/>
          </a:xfrm>
          <a:prstGeom prst="roundRect">
            <a:avLst>
              <a:gd name="adj" fmla="val 16279"/>
            </a:avLst>
          </a:prstGeom>
          <a:solidFill>
            <a:schemeClr val="bg1"/>
          </a:solidFill>
          <a:ln/>
          <a:effectLst>
            <a:outerShdw sx="100000" sy="100000" kx="0" ky="0" algn="bl" rotWithShape="0" blurRad="203200" dist="38100" dir="5400000">
              <a:srgbClr val="0A1628">
                <a:alpha val="9000"/>
              </a:srgbClr>
            </a:outerShdw>
          </a:effectLst>
        </p:spPr>
      </p:sp>
      <p:sp>
        <p:nvSpPr>
          <p:cNvPr id="41" name="Shape 35"/>
          <p:cNvSpPr/>
          <p:nvPr/>
        </p:nvSpPr>
        <p:spPr>
          <a:xfrm>
            <a:off x="7269480" y="2112264"/>
            <a:ext cx="274320" cy="274320"/>
          </a:xfrm>
          <a:prstGeom prst="ellipse">
            <a:avLst/>
          </a:prstGeom>
          <a:solidFill>
            <a:schemeClr val="accent1"/>
          </a:solidFill>
          <a:ln/>
        </p:spPr>
      </p:sp>
      <p:sp>
        <p:nvSpPr>
          <p:cNvPr id="42" name="Text 36"/>
          <p:cNvSpPr txBox="1"/>
          <p:nvPr/>
        </p:nvSpPr>
        <p:spPr>
          <a:xfrm>
            <a:off x="7269480" y="2112264"/>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3" name="Text 37"/>
          <p:cNvSpPr txBox="1"/>
          <p:nvPr/>
        </p:nvSpPr>
        <p:spPr>
          <a:xfrm>
            <a:off x="7635240" y="2084832"/>
            <a:ext cx="1463040" cy="329184"/>
          </a:xfrm>
          <a:prstGeom prst="rect">
            <a:avLst/>
          </a:prstGeom>
          <a:noFill/>
          <a:ln/>
        </p:spPr>
        <p:txBody>
          <a:bodyPr wrap="square" lIns="0" tIns="0" rIns="0" bIns="0" rtlCol="0" anchor="ctr"/>
          <a:lstStyle/>
          <a:p>
            <a:pPr indent="0" marL="0">
              <a:buNone/>
            </a:pPr>
            <a:r>
              <a:rPr lang="en-US" sz="1400" b="1" dirty="0">
                <a:solidFill>
                  <a:schemeClr val="tx1"/>
                </a:solidFill>
              </a:rPr>
              <a:t>Pre-screen</a:t>
            </a:r>
            <a:endParaRPr lang="en-US" sz="1400" dirty="0"/>
          </a:p>
        </p:txBody>
      </p:sp>
      <p:pic>
        <p:nvPicPr>
          <p:cNvPr id="44" name="Image 4" descr="preencoded.png">    </p:cNvPr>
          <p:cNvPicPr>
            <a:picLocks noChangeAspect="1"/>
          </p:cNvPicPr>
          <p:nvPr/>
        </p:nvPicPr>
        <p:blipFill>
          <a:blip r:embed="rId5"/>
          <a:stretch>
            <a:fillRect/>
          </a:stretch>
        </p:blipFill>
        <p:spPr>
          <a:xfrm>
            <a:off x="7296912" y="2468880"/>
            <a:ext cx="219456" cy="219456"/>
          </a:xfrm>
          <a:prstGeom prst="rect">
            <a:avLst/>
          </a:prstGeom>
        </p:spPr>
      </p:pic>
      <p:sp>
        <p:nvSpPr>
          <p:cNvPr id="45" name="Text 38"/>
          <p:cNvSpPr txBox="1"/>
          <p:nvPr/>
        </p:nvSpPr>
        <p:spPr>
          <a:xfrm>
            <a:off x="7635240" y="2432304"/>
            <a:ext cx="1463040" cy="292608"/>
          </a:xfrm>
          <a:prstGeom prst="rect">
            <a:avLst/>
          </a:prstGeom>
          <a:noFill/>
          <a:ln/>
        </p:spPr>
        <p:txBody>
          <a:bodyPr wrap="square" lIns="0" tIns="0" rIns="0" bIns="0" rtlCol="0" anchor="ctr"/>
          <a:lstStyle/>
          <a:p>
            <a:pPr indent="0" marL="0">
              <a:buNone/>
            </a:pPr>
            <a:r>
              <a:rPr lang="en-US" sz="1200" b="1" dirty="0">
                <a:solidFill>
                  <a:schemeClr val="accent1"/>
                </a:solidFill>
              </a:rPr>
              <a:t>Profile Check</a:t>
            </a:r>
            <a:endParaRPr lang="en-US" sz="1200" dirty="0"/>
          </a:p>
        </p:txBody>
      </p:sp>
      <p:sp>
        <p:nvSpPr>
          <p:cNvPr id="46" name="Shape 39"/>
          <p:cNvSpPr/>
          <p:nvPr/>
        </p:nvSpPr>
        <p:spPr>
          <a:xfrm>
            <a:off x="9326880" y="2011680"/>
            <a:ext cx="2316175" cy="786384"/>
          </a:xfrm>
          <a:prstGeom prst="roundRect">
            <a:avLst>
              <a:gd name="adj" fmla="val 16279"/>
            </a:avLst>
          </a:prstGeom>
          <a:solidFill>
            <a:schemeClr val="bg1"/>
          </a:solidFill>
          <a:ln/>
          <a:effectLst>
            <a:outerShdw sx="100000" sy="100000" kx="0" ky="0" algn="bl" rotWithShape="0" blurRad="203200" dist="38100" dir="5400000">
              <a:srgbClr val="0A1628">
                <a:alpha val="9000"/>
              </a:srgbClr>
            </a:outerShdw>
          </a:effectLst>
        </p:spPr>
      </p:sp>
      <p:sp>
        <p:nvSpPr>
          <p:cNvPr id="47" name="Shape 40"/>
          <p:cNvSpPr/>
          <p:nvPr/>
        </p:nvSpPr>
        <p:spPr>
          <a:xfrm>
            <a:off x="9464040" y="2112264"/>
            <a:ext cx="274320" cy="274320"/>
          </a:xfrm>
          <a:prstGeom prst="ellipse">
            <a:avLst/>
          </a:prstGeom>
          <a:solidFill>
            <a:schemeClr val="accent1"/>
          </a:solidFill>
          <a:ln/>
        </p:spPr>
      </p:sp>
      <p:sp>
        <p:nvSpPr>
          <p:cNvPr id="48" name="Text 41"/>
          <p:cNvSpPr txBox="1"/>
          <p:nvPr/>
        </p:nvSpPr>
        <p:spPr>
          <a:xfrm>
            <a:off x="9464040" y="2112264"/>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9" name="Text 42"/>
          <p:cNvSpPr txBox="1"/>
          <p:nvPr/>
        </p:nvSpPr>
        <p:spPr>
          <a:xfrm>
            <a:off x="9829800" y="2084832"/>
            <a:ext cx="1721815" cy="329184"/>
          </a:xfrm>
          <a:prstGeom prst="rect">
            <a:avLst/>
          </a:prstGeom>
          <a:noFill/>
          <a:ln/>
        </p:spPr>
        <p:txBody>
          <a:bodyPr wrap="square" lIns="0" tIns="0" rIns="0" bIns="0" rtlCol="0" anchor="ctr"/>
          <a:lstStyle/>
          <a:p>
            <a:pPr indent="0" marL="0">
              <a:buNone/>
            </a:pPr>
            <a:r>
              <a:rPr lang="en-US" sz="1400" b="1" dirty="0">
                <a:solidFill>
                  <a:schemeClr val="tx1"/>
                </a:solidFill>
              </a:rPr>
              <a:t>Board</a:t>
            </a:r>
            <a:endParaRPr lang="en-US" sz="1400" dirty="0"/>
          </a:p>
        </p:txBody>
      </p:sp>
      <p:pic>
        <p:nvPicPr>
          <p:cNvPr id="50" name="Image 5" descr="preencoded.png">    </p:cNvPr>
          <p:cNvPicPr>
            <a:picLocks noChangeAspect="1"/>
          </p:cNvPicPr>
          <p:nvPr/>
        </p:nvPicPr>
        <p:blipFill>
          <a:blip r:embed="rId6"/>
          <a:stretch>
            <a:fillRect/>
          </a:stretch>
        </p:blipFill>
        <p:spPr>
          <a:xfrm>
            <a:off x="9491472" y="2468880"/>
            <a:ext cx="219456" cy="219456"/>
          </a:xfrm>
          <a:prstGeom prst="rect">
            <a:avLst/>
          </a:prstGeom>
        </p:spPr>
      </p:pic>
      <p:sp>
        <p:nvSpPr>
          <p:cNvPr id="51" name="Text 43"/>
          <p:cNvSpPr txBox="1"/>
          <p:nvPr/>
        </p:nvSpPr>
        <p:spPr>
          <a:xfrm>
            <a:off x="9829800" y="2432304"/>
            <a:ext cx="1721815" cy="292608"/>
          </a:xfrm>
          <a:prstGeom prst="rect">
            <a:avLst/>
          </a:prstGeom>
          <a:noFill/>
          <a:ln/>
        </p:spPr>
        <p:txBody>
          <a:bodyPr wrap="square" lIns="0" tIns="0" rIns="0" bIns="0" rtlCol="0" anchor="ctr"/>
          <a:lstStyle/>
          <a:p>
            <a:pPr indent="0" marL="0">
              <a:buNone/>
            </a:pPr>
            <a:r>
              <a:rPr lang="en-US" sz="1200" b="1" dirty="0">
                <a:solidFill>
                  <a:schemeClr val="accent1"/>
                </a:solidFill>
              </a:rPr>
              <a:t>Smart Boarding Kiosk</a:t>
            </a:r>
            <a:endParaRPr lang="en-US" sz="1200" dirty="0"/>
          </a:p>
        </p:txBody>
      </p:sp>
      <p:sp>
        <p:nvSpPr>
          <p:cNvPr id="52" name="Shape 44"/>
          <p:cNvSpPr/>
          <p:nvPr/>
        </p:nvSpPr>
        <p:spPr>
          <a:xfrm>
            <a:off x="6080760" y="5532120"/>
            <a:ext cx="2057400" cy="786384"/>
          </a:xfrm>
          <a:prstGeom prst="roundRect">
            <a:avLst>
              <a:gd name="adj" fmla="val 16279"/>
            </a:avLst>
          </a:prstGeom>
          <a:solidFill>
            <a:schemeClr val="bg1"/>
          </a:solidFill>
          <a:ln/>
          <a:effectLst>
            <a:outerShdw sx="100000" sy="100000" kx="0" ky="0" algn="bl" rotWithShape="0" blurRad="203200" dist="38100" dir="5400000">
              <a:srgbClr val="0A1628">
                <a:alpha val="9000"/>
              </a:srgbClr>
            </a:outerShdw>
          </a:effectLst>
        </p:spPr>
      </p:sp>
      <p:sp>
        <p:nvSpPr>
          <p:cNvPr id="53" name="Shape 45"/>
          <p:cNvSpPr/>
          <p:nvPr/>
        </p:nvSpPr>
        <p:spPr>
          <a:xfrm>
            <a:off x="6217920" y="5632704"/>
            <a:ext cx="274320" cy="274320"/>
          </a:xfrm>
          <a:prstGeom prst="ellipse">
            <a:avLst/>
          </a:prstGeom>
          <a:solidFill>
            <a:schemeClr val="accent1"/>
          </a:solidFill>
          <a:ln/>
        </p:spPr>
      </p:sp>
      <p:sp>
        <p:nvSpPr>
          <p:cNvPr id="54" name="Text 46"/>
          <p:cNvSpPr txBox="1"/>
          <p:nvPr/>
        </p:nvSpPr>
        <p:spPr>
          <a:xfrm>
            <a:off x="6217920" y="5632704"/>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5" name="Text 47"/>
          <p:cNvSpPr txBox="1"/>
          <p:nvPr/>
        </p:nvSpPr>
        <p:spPr>
          <a:xfrm>
            <a:off x="6583680" y="5605272"/>
            <a:ext cx="1463040" cy="329184"/>
          </a:xfrm>
          <a:prstGeom prst="rect">
            <a:avLst/>
          </a:prstGeom>
          <a:noFill/>
          <a:ln/>
        </p:spPr>
        <p:txBody>
          <a:bodyPr wrap="square" lIns="0" tIns="0" rIns="0" bIns="0" rtlCol="0" anchor="ctr"/>
          <a:lstStyle/>
          <a:p>
            <a:pPr indent="0" marL="0">
              <a:buNone/>
            </a:pPr>
            <a:r>
              <a:rPr lang="en-US" sz="1400" b="1" dirty="0">
                <a:solidFill>
                  <a:schemeClr val="tx1"/>
                </a:solidFill>
              </a:rPr>
              <a:t>Oversee</a:t>
            </a:r>
            <a:endParaRPr lang="en-US" sz="1400" dirty="0"/>
          </a:p>
        </p:txBody>
      </p:sp>
      <p:pic>
        <p:nvPicPr>
          <p:cNvPr id="56" name="Image 6" descr="preencoded.png">    </p:cNvPr>
          <p:cNvPicPr>
            <a:picLocks noChangeAspect="1"/>
          </p:cNvPicPr>
          <p:nvPr/>
        </p:nvPicPr>
        <p:blipFill>
          <a:blip r:embed="rId7"/>
          <a:stretch>
            <a:fillRect/>
          </a:stretch>
        </p:blipFill>
        <p:spPr>
          <a:xfrm>
            <a:off x="6245352" y="5989320"/>
            <a:ext cx="219456" cy="219456"/>
          </a:xfrm>
          <a:prstGeom prst="rect">
            <a:avLst/>
          </a:prstGeom>
        </p:spPr>
      </p:pic>
      <p:sp>
        <p:nvSpPr>
          <p:cNvPr id="57" name="Text 48"/>
          <p:cNvSpPr txBox="1"/>
          <p:nvPr/>
        </p:nvSpPr>
        <p:spPr>
          <a:xfrm>
            <a:off x="6583680" y="5952744"/>
            <a:ext cx="1463040" cy="292608"/>
          </a:xfrm>
          <a:prstGeom prst="rect">
            <a:avLst/>
          </a:prstGeom>
          <a:noFill/>
          <a:ln/>
        </p:spPr>
        <p:txBody>
          <a:bodyPr wrap="square" lIns="0" tIns="0" rIns="0" bIns="0" rtlCol="0" anchor="ctr"/>
          <a:lstStyle/>
          <a:p>
            <a:pPr indent="0" marL="0">
              <a:buNone/>
            </a:pPr>
            <a:r>
              <a:rPr lang="en-US" sz="1200" b="1" dirty="0">
                <a:solidFill>
                  <a:schemeClr val="accent1"/>
                </a:solidFill>
              </a:rPr>
              <a:t>AGIL® Secure ISMP</a:t>
            </a:r>
            <a:endParaRPr lang="en-US" sz="1200" dirty="0"/>
          </a:p>
        </p:txBody>
      </p:sp>
      <p:sp>
        <p:nvSpPr>
          <p:cNvPr id="58" name="Shape 49"/>
          <p:cNvSpPr/>
          <p:nvPr/>
        </p:nvSpPr>
        <p:spPr>
          <a:xfrm>
            <a:off x="1609344" y="4829861"/>
            <a:ext cx="493776" cy="493776"/>
          </a:xfrm>
          <a:prstGeom prst="ellipse">
            <a:avLst/>
          </a:prstGeom>
          <a:solidFill>
            <a:schemeClr val="accent1">
              <a:alpha val="16000"/>
            </a:schemeClr>
          </a:solidFill>
          <a:ln/>
        </p:spPr>
      </p:sp>
      <p:sp>
        <p:nvSpPr>
          <p:cNvPr id="59" name="Shape 50"/>
          <p:cNvSpPr/>
          <p:nvPr/>
        </p:nvSpPr>
        <p:spPr>
          <a:xfrm>
            <a:off x="1709928" y="4930445"/>
            <a:ext cx="292608" cy="292608"/>
          </a:xfrm>
          <a:prstGeom prst="ellipse">
            <a:avLst/>
          </a:prstGeom>
          <a:solidFill>
            <a:schemeClr val="accent1"/>
          </a:solidFill>
          <a:ln w="15875">
            <a:solidFill>
              <a:schemeClr val="bg1"/>
            </a:solidFill>
            <a:prstDash val="solid"/>
          </a:ln>
        </p:spPr>
      </p:sp>
      <p:sp>
        <p:nvSpPr>
          <p:cNvPr id="60" name="Text 51"/>
          <p:cNvSpPr txBox="1"/>
          <p:nvPr/>
        </p:nvSpPr>
        <p:spPr>
          <a:xfrm>
            <a:off x="1709928" y="4930445"/>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1" name="Shape 52"/>
          <p:cNvSpPr/>
          <p:nvPr/>
        </p:nvSpPr>
        <p:spPr>
          <a:xfrm>
            <a:off x="2753258" y="4258361"/>
            <a:ext cx="493776" cy="493776"/>
          </a:xfrm>
          <a:prstGeom prst="ellipse">
            <a:avLst/>
          </a:prstGeom>
          <a:solidFill>
            <a:schemeClr val="accent1">
              <a:alpha val="16000"/>
            </a:schemeClr>
          </a:solidFill>
          <a:ln/>
        </p:spPr>
      </p:sp>
      <p:sp>
        <p:nvSpPr>
          <p:cNvPr id="62" name="Shape 53"/>
          <p:cNvSpPr/>
          <p:nvPr/>
        </p:nvSpPr>
        <p:spPr>
          <a:xfrm>
            <a:off x="2853842" y="4358945"/>
            <a:ext cx="292608" cy="292608"/>
          </a:xfrm>
          <a:prstGeom prst="ellipse">
            <a:avLst/>
          </a:prstGeom>
          <a:solidFill>
            <a:schemeClr val="accent1"/>
          </a:solidFill>
          <a:ln w="15875">
            <a:solidFill>
              <a:schemeClr val="bg1"/>
            </a:solidFill>
            <a:prstDash val="solid"/>
          </a:ln>
        </p:spPr>
      </p:sp>
      <p:sp>
        <p:nvSpPr>
          <p:cNvPr id="63" name="Text 54"/>
          <p:cNvSpPr txBox="1"/>
          <p:nvPr/>
        </p:nvSpPr>
        <p:spPr>
          <a:xfrm>
            <a:off x="2853842" y="4358945"/>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4" name="Shape 55"/>
          <p:cNvSpPr/>
          <p:nvPr/>
        </p:nvSpPr>
        <p:spPr>
          <a:xfrm>
            <a:off x="4678070" y="3295498"/>
            <a:ext cx="493776" cy="493776"/>
          </a:xfrm>
          <a:prstGeom prst="ellipse">
            <a:avLst/>
          </a:prstGeom>
          <a:solidFill>
            <a:schemeClr val="accent1">
              <a:alpha val="16000"/>
            </a:schemeClr>
          </a:solidFill>
          <a:ln/>
        </p:spPr>
      </p:sp>
      <p:sp>
        <p:nvSpPr>
          <p:cNvPr id="65" name="Shape 56"/>
          <p:cNvSpPr/>
          <p:nvPr/>
        </p:nvSpPr>
        <p:spPr>
          <a:xfrm>
            <a:off x="4778654" y="3396082"/>
            <a:ext cx="292608" cy="292608"/>
          </a:xfrm>
          <a:prstGeom prst="ellipse">
            <a:avLst/>
          </a:prstGeom>
          <a:solidFill>
            <a:schemeClr val="accent1"/>
          </a:solidFill>
          <a:ln w="15875">
            <a:solidFill>
              <a:schemeClr val="bg1"/>
            </a:solidFill>
            <a:prstDash val="solid"/>
          </a:ln>
        </p:spPr>
      </p:sp>
      <p:sp>
        <p:nvSpPr>
          <p:cNvPr id="66" name="Text 57"/>
          <p:cNvSpPr txBox="1"/>
          <p:nvPr/>
        </p:nvSpPr>
        <p:spPr>
          <a:xfrm>
            <a:off x="4778654" y="3396082"/>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7" name="Shape 58"/>
          <p:cNvSpPr/>
          <p:nvPr/>
        </p:nvSpPr>
        <p:spPr>
          <a:xfrm>
            <a:off x="6293815" y="3831336"/>
            <a:ext cx="493776" cy="493776"/>
          </a:xfrm>
          <a:prstGeom prst="ellipse">
            <a:avLst/>
          </a:prstGeom>
          <a:solidFill>
            <a:schemeClr val="accent1">
              <a:alpha val="16000"/>
            </a:schemeClr>
          </a:solidFill>
          <a:ln/>
        </p:spPr>
      </p:sp>
      <p:sp>
        <p:nvSpPr>
          <p:cNvPr id="68" name="Shape 59"/>
          <p:cNvSpPr/>
          <p:nvPr/>
        </p:nvSpPr>
        <p:spPr>
          <a:xfrm>
            <a:off x="6394399" y="3931920"/>
            <a:ext cx="292608" cy="292608"/>
          </a:xfrm>
          <a:prstGeom prst="ellipse">
            <a:avLst/>
          </a:prstGeom>
          <a:solidFill>
            <a:schemeClr val="accent1"/>
          </a:solidFill>
          <a:ln w="15875">
            <a:solidFill>
              <a:schemeClr val="bg1"/>
            </a:solidFill>
            <a:prstDash val="solid"/>
          </a:ln>
        </p:spPr>
      </p:sp>
      <p:sp>
        <p:nvSpPr>
          <p:cNvPr id="69" name="Text 60"/>
          <p:cNvSpPr txBox="1"/>
          <p:nvPr/>
        </p:nvSpPr>
        <p:spPr>
          <a:xfrm>
            <a:off x="6394399" y="3931920"/>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70" name="Shape 61"/>
          <p:cNvSpPr/>
          <p:nvPr/>
        </p:nvSpPr>
        <p:spPr>
          <a:xfrm>
            <a:off x="8635594" y="5002682"/>
            <a:ext cx="493776" cy="493776"/>
          </a:xfrm>
          <a:prstGeom prst="ellipse">
            <a:avLst/>
          </a:prstGeom>
          <a:solidFill>
            <a:schemeClr val="accent1">
              <a:alpha val="16000"/>
            </a:schemeClr>
          </a:solidFill>
          <a:ln/>
        </p:spPr>
      </p:sp>
      <p:sp>
        <p:nvSpPr>
          <p:cNvPr id="71" name="Shape 62"/>
          <p:cNvSpPr/>
          <p:nvPr/>
        </p:nvSpPr>
        <p:spPr>
          <a:xfrm>
            <a:off x="8736178" y="5103266"/>
            <a:ext cx="292608" cy="292608"/>
          </a:xfrm>
          <a:prstGeom prst="ellipse">
            <a:avLst/>
          </a:prstGeom>
          <a:solidFill>
            <a:schemeClr val="accent1"/>
          </a:solidFill>
          <a:ln w="15875">
            <a:solidFill>
              <a:schemeClr val="bg1"/>
            </a:solidFill>
            <a:prstDash val="solid"/>
          </a:ln>
        </p:spPr>
      </p:sp>
      <p:sp>
        <p:nvSpPr>
          <p:cNvPr id="72" name="Text 63"/>
          <p:cNvSpPr txBox="1"/>
          <p:nvPr/>
        </p:nvSpPr>
        <p:spPr>
          <a:xfrm>
            <a:off x="8736178" y="5103266"/>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73" name="Shape 64"/>
          <p:cNvSpPr/>
          <p:nvPr/>
        </p:nvSpPr>
        <p:spPr>
          <a:xfrm>
            <a:off x="4969764" y="5351983"/>
            <a:ext cx="493776" cy="493776"/>
          </a:xfrm>
          <a:prstGeom prst="ellipse">
            <a:avLst/>
          </a:prstGeom>
          <a:solidFill>
            <a:schemeClr val="accent1">
              <a:alpha val="16000"/>
            </a:schemeClr>
          </a:solidFill>
          <a:ln/>
        </p:spPr>
      </p:sp>
      <p:sp>
        <p:nvSpPr>
          <p:cNvPr id="74" name="Shape 65"/>
          <p:cNvSpPr/>
          <p:nvPr/>
        </p:nvSpPr>
        <p:spPr>
          <a:xfrm>
            <a:off x="5070348" y="5452567"/>
            <a:ext cx="292608" cy="292608"/>
          </a:xfrm>
          <a:prstGeom prst="ellipse">
            <a:avLst/>
          </a:prstGeom>
          <a:solidFill>
            <a:schemeClr val="accent1"/>
          </a:solidFill>
          <a:ln w="15875">
            <a:solidFill>
              <a:schemeClr val="bg1"/>
            </a:solidFill>
            <a:prstDash val="solid"/>
          </a:ln>
        </p:spPr>
      </p:sp>
      <p:sp>
        <p:nvSpPr>
          <p:cNvPr id="75" name="Text 66"/>
          <p:cNvSpPr txBox="1"/>
          <p:nvPr/>
        </p:nvSpPr>
        <p:spPr>
          <a:xfrm>
            <a:off x="5070348" y="5452567"/>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FastPass Solution  ·  AGIL® Secure ISMP</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One command environment for every touchpoint</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AGIL® Secure ISMP is the operational backbone behind FastPass.</a:t>
            </a:r>
            <a:endParaRPr lang="en-US" sz="1500" dirty="0"/>
          </a:p>
        </p:txBody>
      </p:sp>
      <p:sp>
        <p:nvSpPr>
          <p:cNvPr id="5" name="Shape 3"/>
          <p:cNvSpPr/>
          <p:nvPr/>
        </p:nvSpPr>
        <p:spPr>
          <a:xfrm>
            <a:off x="886968" y="2624328"/>
            <a:ext cx="5029200" cy="2834640"/>
          </a:xfrm>
          <a:prstGeom prst="ellipse">
            <a:avLst/>
          </a:prstGeom>
          <a:solidFill>
            <a:schemeClr val="accent1">
              <a:alpha val="5000"/>
            </a:schemeClr>
          </a:solidFill>
          <a:ln/>
        </p:spPr>
      </p:sp>
      <p:sp>
        <p:nvSpPr>
          <p:cNvPr id="6" name="Shape 4"/>
          <p:cNvSpPr/>
          <p:nvPr/>
        </p:nvSpPr>
        <p:spPr>
          <a:xfrm>
            <a:off x="1344168" y="2852928"/>
            <a:ext cx="4114800" cy="2377440"/>
          </a:xfrm>
          <a:prstGeom prst="ellipse">
            <a:avLst/>
          </a:prstGeom>
          <a:ln w="12700">
            <a:solidFill>
              <a:schemeClr val="accent1">
                <a:alpha val="60000"/>
              </a:schemeClr>
            </a:solidFill>
            <a:prstDash val="solid"/>
          </a:ln>
        </p:spPr>
      </p:sp>
      <p:sp>
        <p:nvSpPr>
          <p:cNvPr id="7" name="Shape 5"/>
          <p:cNvSpPr/>
          <p:nvPr/>
        </p:nvSpPr>
        <p:spPr>
          <a:xfrm>
            <a:off x="1938528" y="3264408"/>
            <a:ext cx="2926080" cy="1554480"/>
          </a:xfrm>
          <a:prstGeom prst="ellipse">
            <a:avLst/>
          </a:prstGeom>
          <a:solidFill>
            <a:schemeClr val="accent1">
              <a:alpha val="9000"/>
            </a:schemeClr>
          </a:solidFill>
          <a:ln w="9525">
            <a:solidFill>
              <a:schemeClr val="accent1">
                <a:alpha val="35000"/>
              </a:schemeClr>
            </a:solidFill>
            <a:prstDash val="solid"/>
          </a:ln>
        </p:spPr>
      </p:sp>
      <p:sp>
        <p:nvSpPr>
          <p:cNvPr id="8" name="Shape 6"/>
          <p:cNvSpPr/>
          <p:nvPr/>
        </p:nvSpPr>
        <p:spPr>
          <a:xfrm>
            <a:off x="3401568" y="2852928"/>
            <a:ext cx="914" cy="570586"/>
          </a:xfrm>
          <a:prstGeom prst="line">
            <a:avLst/>
          </a:prstGeom>
          <a:noFill/>
          <a:ln w="9525">
            <a:solidFill>
              <a:schemeClr val="accent1">
                <a:alpha val="75000"/>
              </a:schemeClr>
            </a:solidFill>
            <a:prstDash val="dash"/>
          </a:ln>
        </p:spPr>
      </p:sp>
      <p:sp>
        <p:nvSpPr>
          <p:cNvPr id="9" name="Shape 7"/>
          <p:cNvSpPr/>
          <p:nvPr/>
        </p:nvSpPr>
        <p:spPr>
          <a:xfrm flipV="1">
            <a:off x="4328084" y="3447288"/>
            <a:ext cx="855245" cy="285293"/>
          </a:xfrm>
          <a:prstGeom prst="line">
            <a:avLst/>
          </a:prstGeom>
          <a:noFill/>
          <a:ln w="9525">
            <a:solidFill>
              <a:schemeClr val="accent1">
                <a:alpha val="75000"/>
              </a:schemeClr>
            </a:solidFill>
            <a:prstDash val="dash"/>
          </a:ln>
        </p:spPr>
      </p:sp>
      <p:sp>
        <p:nvSpPr>
          <p:cNvPr id="10" name="Shape 8"/>
          <p:cNvSpPr/>
          <p:nvPr/>
        </p:nvSpPr>
        <p:spPr>
          <a:xfrm>
            <a:off x="4328084" y="4350715"/>
            <a:ext cx="855245" cy="285293"/>
          </a:xfrm>
          <a:prstGeom prst="line">
            <a:avLst/>
          </a:prstGeom>
          <a:noFill/>
          <a:ln w="9525">
            <a:solidFill>
              <a:schemeClr val="accent1">
                <a:alpha val="75000"/>
              </a:schemeClr>
            </a:solidFill>
            <a:prstDash val="dash"/>
          </a:ln>
        </p:spPr>
      </p:sp>
      <p:sp>
        <p:nvSpPr>
          <p:cNvPr id="11" name="Shape 9"/>
          <p:cNvSpPr/>
          <p:nvPr/>
        </p:nvSpPr>
        <p:spPr>
          <a:xfrm>
            <a:off x="3401568" y="4659782"/>
            <a:ext cx="914" cy="570586"/>
          </a:xfrm>
          <a:prstGeom prst="line">
            <a:avLst/>
          </a:prstGeom>
          <a:noFill/>
          <a:ln w="9525">
            <a:solidFill>
              <a:schemeClr val="accent1">
                <a:alpha val="75000"/>
              </a:schemeClr>
            </a:solidFill>
            <a:prstDash val="dash"/>
          </a:ln>
        </p:spPr>
      </p:sp>
      <p:sp>
        <p:nvSpPr>
          <p:cNvPr id="12" name="Shape 10"/>
          <p:cNvSpPr/>
          <p:nvPr/>
        </p:nvSpPr>
        <p:spPr>
          <a:xfrm flipV="1">
            <a:off x="1619807" y="4350715"/>
            <a:ext cx="855245" cy="285293"/>
          </a:xfrm>
          <a:prstGeom prst="line">
            <a:avLst/>
          </a:prstGeom>
          <a:noFill/>
          <a:ln w="9525">
            <a:solidFill>
              <a:schemeClr val="accent1">
                <a:alpha val="75000"/>
              </a:schemeClr>
            </a:solidFill>
            <a:prstDash val="dash"/>
          </a:ln>
        </p:spPr>
      </p:sp>
      <p:sp>
        <p:nvSpPr>
          <p:cNvPr id="13" name="Shape 11"/>
          <p:cNvSpPr/>
          <p:nvPr/>
        </p:nvSpPr>
        <p:spPr>
          <a:xfrm>
            <a:off x="1619807" y="3447288"/>
            <a:ext cx="855245" cy="285293"/>
          </a:xfrm>
          <a:prstGeom prst="line">
            <a:avLst/>
          </a:prstGeom>
          <a:noFill/>
          <a:ln w="9525">
            <a:solidFill>
              <a:schemeClr val="accent1">
                <a:alpha val="75000"/>
              </a:schemeClr>
            </a:solidFill>
            <a:prstDash val="dash"/>
          </a:ln>
        </p:spPr>
      </p:sp>
      <p:sp>
        <p:nvSpPr>
          <p:cNvPr id="14" name="Shape 12"/>
          <p:cNvSpPr/>
          <p:nvPr/>
        </p:nvSpPr>
        <p:spPr>
          <a:xfrm>
            <a:off x="2167128" y="3566160"/>
            <a:ext cx="2468880" cy="950976"/>
          </a:xfrm>
          <a:prstGeom prst="ellipse">
            <a:avLst/>
          </a:prstGeom>
          <a:solidFill>
            <a:schemeClr val="accent6"/>
          </a:solidFill>
          <a:ln w="15875">
            <a:solidFill>
              <a:schemeClr val="accent1"/>
            </a:solidFill>
            <a:prstDash val="solid"/>
          </a:ln>
          <a:effectLst>
            <a:outerShdw sx="100000" sy="100000" kx="0" ky="0" algn="bl" rotWithShape="0" blurRad="203200" dist="38100" dir="5400000">
              <a:srgbClr val="0A1628">
                <a:alpha val="9000"/>
              </a:srgbClr>
            </a:outerShdw>
          </a:effectLst>
        </p:spPr>
      </p:sp>
      <p:sp>
        <p:nvSpPr>
          <p:cNvPr id="15" name="Text 13"/>
          <p:cNvSpPr txBox="1"/>
          <p:nvPr/>
        </p:nvSpPr>
        <p:spPr>
          <a:xfrm>
            <a:off x="2212848" y="3767328"/>
            <a:ext cx="2377440" cy="310896"/>
          </a:xfrm>
          <a:prstGeom prst="rect">
            <a:avLst/>
          </a:prstGeom>
          <a:noFill/>
          <a:ln/>
        </p:spPr>
        <p:txBody>
          <a:bodyPr wrap="square" lIns="0" tIns="0" rIns="0" bIns="0" rtlCol="0" anchor="ctr"/>
          <a:lstStyle/>
          <a:p>
            <a:pPr algn="ctr" indent="0" marL="0">
              <a:buNone/>
            </a:pPr>
            <a:r>
              <a:rPr lang="en-US" sz="1600" b="1" dirty="0">
                <a:solidFill>
                  <a:schemeClr val="bg1"/>
                </a:solidFill>
              </a:rPr>
              <a:t>AGIL® Secure ISMP</a:t>
            </a:r>
            <a:endParaRPr lang="en-US" sz="1600" dirty="0"/>
          </a:p>
        </p:txBody>
      </p:sp>
      <p:sp>
        <p:nvSpPr>
          <p:cNvPr id="16" name="Text 14"/>
          <p:cNvSpPr txBox="1"/>
          <p:nvPr/>
        </p:nvSpPr>
        <p:spPr>
          <a:xfrm>
            <a:off x="2212848" y="4078224"/>
            <a:ext cx="2377440" cy="237744"/>
          </a:xfrm>
          <a:prstGeom prst="rect">
            <a:avLst/>
          </a:prstGeom>
          <a:noFill/>
          <a:ln/>
        </p:spPr>
        <p:txBody>
          <a:bodyPr wrap="square" lIns="0" tIns="0" rIns="0" bIns="0" rtlCol="0" anchor="ctr"/>
          <a:lstStyle/>
          <a:p>
            <a:pPr algn="ctr" indent="0" marL="0">
              <a:buNone/>
            </a:pPr>
            <a:r>
              <a:rPr lang="en-US" sz="1100" dirty="0">
                <a:solidFill>
                  <a:schemeClr val="accent5"/>
                </a:solidFill>
              </a:rPr>
              <a:t>One command layer</a:t>
            </a:r>
            <a:endParaRPr lang="en-US" sz="1100" dirty="0"/>
          </a:p>
        </p:txBody>
      </p:sp>
      <p:sp>
        <p:nvSpPr>
          <p:cNvPr id="17" name="Shape 15"/>
          <p:cNvSpPr/>
          <p:nvPr/>
        </p:nvSpPr>
        <p:spPr>
          <a:xfrm>
            <a:off x="3163824" y="2615184"/>
            <a:ext cx="475488" cy="475488"/>
          </a:xfrm>
          <a:prstGeom prst="ellipse">
            <a:avLst/>
          </a:prstGeom>
          <a:solidFill>
            <a:schemeClr val="bg1"/>
          </a:solidFill>
          <a:ln w="15875">
            <a:solidFill>
              <a:schemeClr val="accent1"/>
            </a:solidFill>
            <a:prstDash val="solid"/>
          </a:ln>
          <a:effectLst>
            <a:outerShdw sx="100000" sy="100000" kx="0" ky="0" algn="bl" rotWithShape="0" blurRad="203200" dist="38100" dir="5400000">
              <a:srgbClr val="0A1628">
                <a:alpha val="9000"/>
              </a:srgbClr>
            </a:outerShdw>
          </a:effectLst>
        </p:spPr>
      </p:sp>
      <p:pic>
        <p:nvPicPr>
          <p:cNvPr id="18" name="Image 0" descr="preencoded.png">    </p:cNvPr>
          <p:cNvPicPr>
            <a:picLocks noChangeAspect="1"/>
          </p:cNvPicPr>
          <p:nvPr/>
        </p:nvPicPr>
        <p:blipFill>
          <a:blip r:embed="rId1"/>
          <a:stretch>
            <a:fillRect/>
          </a:stretch>
        </p:blipFill>
        <p:spPr>
          <a:xfrm>
            <a:off x="3273552" y="2724912"/>
            <a:ext cx="256032" cy="256032"/>
          </a:xfrm>
          <a:prstGeom prst="rect">
            <a:avLst/>
          </a:prstGeom>
        </p:spPr>
      </p:pic>
      <p:sp>
        <p:nvSpPr>
          <p:cNvPr id="19" name="Text 16"/>
          <p:cNvSpPr txBox="1"/>
          <p:nvPr/>
        </p:nvSpPr>
        <p:spPr>
          <a:xfrm>
            <a:off x="2441448" y="2304288"/>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rPr>
              <a:t>Traveller transactions</a:t>
            </a:r>
            <a:endParaRPr lang="en-US" sz="1300" dirty="0"/>
          </a:p>
        </p:txBody>
      </p:sp>
      <p:sp>
        <p:nvSpPr>
          <p:cNvPr id="20" name="Shape 17"/>
          <p:cNvSpPr/>
          <p:nvPr/>
        </p:nvSpPr>
        <p:spPr>
          <a:xfrm>
            <a:off x="4945585" y="3209544"/>
            <a:ext cx="475488" cy="475488"/>
          </a:xfrm>
          <a:prstGeom prst="ellipse">
            <a:avLst/>
          </a:prstGeom>
          <a:solidFill>
            <a:schemeClr val="bg1"/>
          </a:solidFill>
          <a:ln w="15875">
            <a:solidFill>
              <a:schemeClr val="accent1"/>
            </a:solidFill>
            <a:prstDash val="solid"/>
          </a:ln>
          <a:effectLst>
            <a:outerShdw sx="100000" sy="100000" kx="0" ky="0" algn="bl" rotWithShape="0" blurRad="203200" dist="38100" dir="5400000">
              <a:srgbClr val="0A1628">
                <a:alpha val="9000"/>
              </a:srgbClr>
            </a:outerShdw>
          </a:effectLst>
        </p:spPr>
      </p:sp>
      <p:pic>
        <p:nvPicPr>
          <p:cNvPr id="21" name="Image 1" descr="preencoded.png">    </p:cNvPr>
          <p:cNvPicPr>
            <a:picLocks noChangeAspect="1"/>
          </p:cNvPicPr>
          <p:nvPr/>
        </p:nvPicPr>
        <p:blipFill>
          <a:blip r:embed="rId2"/>
          <a:stretch>
            <a:fillRect/>
          </a:stretch>
        </p:blipFill>
        <p:spPr>
          <a:xfrm>
            <a:off x="5055313" y="3319272"/>
            <a:ext cx="256032" cy="256032"/>
          </a:xfrm>
          <a:prstGeom prst="rect">
            <a:avLst/>
          </a:prstGeom>
        </p:spPr>
      </p:pic>
      <p:sp>
        <p:nvSpPr>
          <p:cNvPr id="22" name="Text 18"/>
          <p:cNvSpPr txBox="1"/>
          <p:nvPr/>
        </p:nvSpPr>
        <p:spPr>
          <a:xfrm>
            <a:off x="4223209" y="2898648"/>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rPr>
              <a:t>Lane &amp; gate control</a:t>
            </a:r>
            <a:endParaRPr lang="en-US" sz="1300" dirty="0"/>
          </a:p>
        </p:txBody>
      </p:sp>
      <p:sp>
        <p:nvSpPr>
          <p:cNvPr id="23" name="Shape 19"/>
          <p:cNvSpPr/>
          <p:nvPr/>
        </p:nvSpPr>
        <p:spPr>
          <a:xfrm>
            <a:off x="4945585" y="4398264"/>
            <a:ext cx="475488" cy="475488"/>
          </a:xfrm>
          <a:prstGeom prst="ellipse">
            <a:avLst/>
          </a:prstGeom>
          <a:solidFill>
            <a:schemeClr val="bg1"/>
          </a:solidFill>
          <a:ln w="15875">
            <a:solidFill>
              <a:schemeClr val="accent1"/>
            </a:solidFill>
            <a:prstDash val="solid"/>
          </a:ln>
          <a:effectLst>
            <a:outerShdw sx="100000" sy="100000" kx="0" ky="0" algn="bl" rotWithShape="0" blurRad="203200" dist="38100" dir="5400000">
              <a:srgbClr val="0A1628">
                <a:alpha val="9000"/>
              </a:srgbClr>
            </a:outerShdw>
          </a:effectLst>
        </p:spPr>
      </p:sp>
      <p:pic>
        <p:nvPicPr>
          <p:cNvPr id="24" name="Image 2" descr="preencoded.png">    </p:cNvPr>
          <p:cNvPicPr>
            <a:picLocks noChangeAspect="1"/>
          </p:cNvPicPr>
          <p:nvPr/>
        </p:nvPicPr>
        <p:blipFill>
          <a:blip r:embed="rId3"/>
          <a:stretch>
            <a:fillRect/>
          </a:stretch>
        </p:blipFill>
        <p:spPr>
          <a:xfrm>
            <a:off x="5055313" y="4507992"/>
            <a:ext cx="256032" cy="256032"/>
          </a:xfrm>
          <a:prstGeom prst="rect">
            <a:avLst/>
          </a:prstGeom>
        </p:spPr>
      </p:pic>
      <p:sp>
        <p:nvSpPr>
          <p:cNvPr id="25" name="Text 20"/>
          <p:cNvSpPr txBox="1"/>
          <p:nvPr/>
        </p:nvSpPr>
        <p:spPr>
          <a:xfrm>
            <a:off x="4223209" y="4910328"/>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rPr>
              <a:t>Exception management</a:t>
            </a:r>
            <a:endParaRPr lang="en-US" sz="1300" dirty="0"/>
          </a:p>
        </p:txBody>
      </p:sp>
      <p:sp>
        <p:nvSpPr>
          <p:cNvPr id="26" name="Shape 21"/>
          <p:cNvSpPr/>
          <p:nvPr/>
        </p:nvSpPr>
        <p:spPr>
          <a:xfrm>
            <a:off x="3163824" y="4992624"/>
            <a:ext cx="475488" cy="475488"/>
          </a:xfrm>
          <a:prstGeom prst="ellipse">
            <a:avLst/>
          </a:prstGeom>
          <a:solidFill>
            <a:schemeClr val="bg1"/>
          </a:solidFill>
          <a:ln w="15875">
            <a:solidFill>
              <a:schemeClr val="accent1"/>
            </a:solidFill>
            <a:prstDash val="solid"/>
          </a:ln>
          <a:effectLst>
            <a:outerShdw sx="100000" sy="100000" kx="0" ky="0" algn="bl" rotWithShape="0" blurRad="203200" dist="38100" dir="5400000">
              <a:srgbClr val="0A1628">
                <a:alpha val="9000"/>
              </a:srgbClr>
            </a:outerShdw>
          </a:effectLst>
        </p:spPr>
      </p:sp>
      <p:pic>
        <p:nvPicPr>
          <p:cNvPr id="27" name="Image 3" descr="preencoded.png">    </p:cNvPr>
          <p:cNvPicPr>
            <a:picLocks noChangeAspect="1"/>
          </p:cNvPicPr>
          <p:nvPr/>
        </p:nvPicPr>
        <p:blipFill>
          <a:blip r:embed="rId4"/>
          <a:stretch>
            <a:fillRect/>
          </a:stretch>
        </p:blipFill>
        <p:spPr>
          <a:xfrm>
            <a:off x="3273552" y="5102352"/>
            <a:ext cx="256032" cy="256032"/>
          </a:xfrm>
          <a:prstGeom prst="rect">
            <a:avLst/>
          </a:prstGeom>
        </p:spPr>
      </p:pic>
      <p:sp>
        <p:nvSpPr>
          <p:cNvPr id="28" name="Text 22"/>
          <p:cNvSpPr txBox="1"/>
          <p:nvPr/>
        </p:nvSpPr>
        <p:spPr>
          <a:xfrm>
            <a:off x="2441448" y="5504688"/>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rPr>
              <a:t>Assistive AI</a:t>
            </a:r>
            <a:endParaRPr lang="en-US" sz="1300" dirty="0"/>
          </a:p>
        </p:txBody>
      </p:sp>
      <p:sp>
        <p:nvSpPr>
          <p:cNvPr id="29" name="Shape 23"/>
          <p:cNvSpPr/>
          <p:nvPr/>
        </p:nvSpPr>
        <p:spPr>
          <a:xfrm>
            <a:off x="1382063" y="4398264"/>
            <a:ext cx="475488" cy="475488"/>
          </a:xfrm>
          <a:prstGeom prst="ellipse">
            <a:avLst/>
          </a:prstGeom>
          <a:solidFill>
            <a:schemeClr val="bg1"/>
          </a:solidFill>
          <a:ln w="15875">
            <a:solidFill>
              <a:schemeClr val="accent1"/>
            </a:solidFill>
            <a:prstDash val="solid"/>
          </a:ln>
          <a:effectLst>
            <a:outerShdw sx="100000" sy="100000" kx="0" ky="0" algn="bl" rotWithShape="0" blurRad="203200" dist="38100" dir="5400000">
              <a:srgbClr val="0A1628">
                <a:alpha val="9000"/>
              </a:srgbClr>
            </a:outerShdw>
          </a:effectLst>
        </p:spPr>
      </p:sp>
      <p:pic>
        <p:nvPicPr>
          <p:cNvPr id="30" name="Image 4" descr="preencoded.png">    </p:cNvPr>
          <p:cNvPicPr>
            <a:picLocks noChangeAspect="1"/>
          </p:cNvPicPr>
          <p:nvPr/>
        </p:nvPicPr>
        <p:blipFill>
          <a:blip r:embed="rId5"/>
          <a:stretch>
            <a:fillRect/>
          </a:stretch>
        </p:blipFill>
        <p:spPr>
          <a:xfrm>
            <a:off x="1491791" y="4507992"/>
            <a:ext cx="256032" cy="256032"/>
          </a:xfrm>
          <a:prstGeom prst="rect">
            <a:avLst/>
          </a:prstGeom>
        </p:spPr>
      </p:pic>
      <p:sp>
        <p:nvSpPr>
          <p:cNvPr id="31" name="Text 24"/>
          <p:cNvSpPr txBox="1"/>
          <p:nvPr/>
        </p:nvSpPr>
        <p:spPr>
          <a:xfrm>
            <a:off x="659687" y="4910328"/>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rPr>
              <a:t>3D operational view</a:t>
            </a:r>
            <a:endParaRPr lang="en-US" sz="1300" dirty="0"/>
          </a:p>
        </p:txBody>
      </p:sp>
      <p:sp>
        <p:nvSpPr>
          <p:cNvPr id="32" name="Shape 25"/>
          <p:cNvSpPr/>
          <p:nvPr/>
        </p:nvSpPr>
        <p:spPr>
          <a:xfrm>
            <a:off x="1382063" y="3209544"/>
            <a:ext cx="475488" cy="475488"/>
          </a:xfrm>
          <a:prstGeom prst="ellipse">
            <a:avLst/>
          </a:prstGeom>
          <a:solidFill>
            <a:schemeClr val="bg1"/>
          </a:solidFill>
          <a:ln w="15875">
            <a:solidFill>
              <a:schemeClr val="accent1"/>
            </a:solidFill>
            <a:prstDash val="solid"/>
          </a:ln>
          <a:effectLst>
            <a:outerShdw sx="100000" sy="100000" kx="0" ky="0" algn="bl" rotWithShape="0" blurRad="203200" dist="38100" dir="5400000">
              <a:srgbClr val="0A1628">
                <a:alpha val="9000"/>
              </a:srgbClr>
            </a:outerShdw>
          </a:effectLst>
        </p:spPr>
      </p:sp>
      <p:pic>
        <p:nvPicPr>
          <p:cNvPr id="33" name="Image 5" descr="preencoded.png">    </p:cNvPr>
          <p:cNvPicPr>
            <a:picLocks noChangeAspect="1"/>
          </p:cNvPicPr>
          <p:nvPr/>
        </p:nvPicPr>
        <p:blipFill>
          <a:blip r:embed="rId6"/>
          <a:stretch>
            <a:fillRect/>
          </a:stretch>
        </p:blipFill>
        <p:spPr>
          <a:xfrm>
            <a:off x="1491791" y="3319272"/>
            <a:ext cx="256032" cy="256032"/>
          </a:xfrm>
          <a:prstGeom prst="rect">
            <a:avLst/>
          </a:prstGeom>
        </p:spPr>
      </p:pic>
      <p:sp>
        <p:nvSpPr>
          <p:cNvPr id="34" name="Text 26"/>
          <p:cNvSpPr txBox="1"/>
          <p:nvPr/>
        </p:nvSpPr>
        <p:spPr>
          <a:xfrm>
            <a:off x="659687" y="2898648"/>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rPr>
              <a:t>Physical security</a:t>
            </a:r>
            <a:endParaRPr lang="en-US" sz="1300" dirty="0"/>
          </a:p>
        </p:txBody>
      </p:sp>
      <p:pic>
        <p:nvPicPr>
          <p:cNvPr id="35" name="ISMP dashboard" descr="/tmp/claude-0/-home-user-sgqy/b70fb111-7300-56ba-abe4-4b6e17d8c33e/scratchpad/assets/v4/ismp_tile.png">    </p:cNvPr>
          <p:cNvPicPr>
            <a:picLocks noChangeAspect="1"/>
          </p:cNvPicPr>
          <p:nvPr/>
        </p:nvPicPr>
        <p:blipFill>
          <a:blip r:embed="rId7"/>
          <a:stretch>
            <a:fillRect/>
          </a:stretch>
        </p:blipFill>
        <p:spPr>
          <a:xfrm>
            <a:off x="6492240" y="2103120"/>
            <a:ext cx="5148072" cy="3328416"/>
          </a:xfrm>
          <a:prstGeom prst="rect">
            <a:avLst/>
          </a:prstGeom>
        </p:spPr>
      </p:pic>
      <p:sp>
        <p:nvSpPr>
          <p:cNvPr id="36" name="Shape 27"/>
          <p:cNvSpPr/>
          <p:nvPr/>
        </p:nvSpPr>
        <p:spPr>
          <a:xfrm>
            <a:off x="6492240" y="5559552"/>
            <a:ext cx="1624584" cy="384048"/>
          </a:xfrm>
          <a:prstGeom prst="roundRect">
            <a:avLst>
              <a:gd name="adj" fmla="val 50000"/>
            </a:avLst>
          </a:prstGeom>
          <a:solidFill>
            <a:schemeClr val="bg1"/>
          </a:solidFill>
          <a:ln/>
          <a:effectLst>
            <a:outerShdw sx="100000" sy="100000" kx="0" ky="0" algn="bl" rotWithShape="0" blurRad="203200" dist="38100" dir="5400000">
              <a:srgbClr val="0A1628">
                <a:alpha val="9000"/>
              </a:srgbClr>
            </a:outerShdw>
          </a:effectLst>
        </p:spPr>
      </p:sp>
      <p:pic>
        <p:nvPicPr>
          <p:cNvPr id="37" name="Image 7" descr="preencoded.png">    </p:cNvPr>
          <p:cNvPicPr>
            <a:picLocks noChangeAspect="1"/>
          </p:cNvPicPr>
          <p:nvPr/>
        </p:nvPicPr>
        <p:blipFill>
          <a:blip r:embed="rId8"/>
          <a:stretch>
            <a:fillRect/>
          </a:stretch>
        </p:blipFill>
        <p:spPr>
          <a:xfrm>
            <a:off x="6638544" y="5641848"/>
            <a:ext cx="219456" cy="219456"/>
          </a:xfrm>
          <a:prstGeom prst="rect">
            <a:avLst/>
          </a:prstGeom>
        </p:spPr>
      </p:pic>
      <p:sp>
        <p:nvSpPr>
          <p:cNvPr id="38" name="Text 28"/>
          <p:cNvSpPr txBox="1"/>
          <p:nvPr/>
        </p:nvSpPr>
        <p:spPr>
          <a:xfrm>
            <a:off x="6931152" y="5559552"/>
            <a:ext cx="1121664" cy="384048"/>
          </a:xfrm>
          <a:prstGeom prst="rect">
            <a:avLst/>
          </a:prstGeom>
          <a:noFill/>
          <a:ln/>
        </p:spPr>
        <p:txBody>
          <a:bodyPr wrap="square" lIns="0" tIns="0" rIns="0" bIns="0" rtlCol="0" anchor="ctr"/>
          <a:lstStyle/>
          <a:p>
            <a:pPr indent="0" marL="0">
              <a:buNone/>
            </a:pPr>
            <a:r>
              <a:rPr lang="en-US" sz="1200" b="1" dirty="0">
                <a:solidFill>
                  <a:schemeClr val="tx1"/>
                </a:solidFill>
              </a:rPr>
              <a:t>Passenger log</a:t>
            </a:r>
            <a:endParaRPr lang="en-US" sz="1200" dirty="0"/>
          </a:p>
        </p:txBody>
      </p:sp>
      <p:sp>
        <p:nvSpPr>
          <p:cNvPr id="39" name="Shape 29"/>
          <p:cNvSpPr/>
          <p:nvPr/>
        </p:nvSpPr>
        <p:spPr>
          <a:xfrm>
            <a:off x="8253984" y="5559552"/>
            <a:ext cx="1624584" cy="384048"/>
          </a:xfrm>
          <a:prstGeom prst="roundRect">
            <a:avLst>
              <a:gd name="adj" fmla="val 50000"/>
            </a:avLst>
          </a:prstGeom>
          <a:solidFill>
            <a:schemeClr val="bg1"/>
          </a:solidFill>
          <a:ln/>
          <a:effectLst>
            <a:outerShdw sx="100000" sy="100000" kx="0" ky="0" algn="bl" rotWithShape="0" blurRad="203200" dist="38100" dir="5400000">
              <a:srgbClr val="0A1628">
                <a:alpha val="9000"/>
              </a:srgbClr>
            </a:outerShdw>
          </a:effectLst>
        </p:spPr>
      </p:sp>
      <p:pic>
        <p:nvPicPr>
          <p:cNvPr id="40" name="Image 8" descr="preencoded.png">    </p:cNvPr>
          <p:cNvPicPr>
            <a:picLocks noChangeAspect="1"/>
          </p:cNvPicPr>
          <p:nvPr/>
        </p:nvPicPr>
        <p:blipFill>
          <a:blip r:embed="rId9"/>
          <a:stretch>
            <a:fillRect/>
          </a:stretch>
        </p:blipFill>
        <p:spPr>
          <a:xfrm>
            <a:off x="8400288" y="5641848"/>
            <a:ext cx="219456" cy="219456"/>
          </a:xfrm>
          <a:prstGeom prst="rect">
            <a:avLst/>
          </a:prstGeom>
        </p:spPr>
      </p:pic>
      <p:sp>
        <p:nvSpPr>
          <p:cNvPr id="41" name="Text 30"/>
          <p:cNvSpPr txBox="1"/>
          <p:nvPr/>
        </p:nvSpPr>
        <p:spPr>
          <a:xfrm>
            <a:off x="8692896" y="5559552"/>
            <a:ext cx="1121664" cy="384048"/>
          </a:xfrm>
          <a:prstGeom prst="rect">
            <a:avLst/>
          </a:prstGeom>
          <a:noFill/>
          <a:ln/>
        </p:spPr>
        <p:txBody>
          <a:bodyPr wrap="square" lIns="0" tIns="0" rIns="0" bIns="0" rtlCol="0" anchor="ctr"/>
          <a:lstStyle/>
          <a:p>
            <a:pPr indent="0" marL="0">
              <a:buNone/>
            </a:pPr>
            <a:r>
              <a:rPr lang="en-US" sz="1200" b="1" dirty="0">
                <a:solidFill>
                  <a:schemeClr val="tx1"/>
                </a:solidFill>
              </a:rPr>
              <a:t>Flow by zone</a:t>
            </a:r>
            <a:endParaRPr lang="en-US" sz="1200" dirty="0"/>
          </a:p>
        </p:txBody>
      </p:sp>
      <p:sp>
        <p:nvSpPr>
          <p:cNvPr id="42" name="Shape 31"/>
          <p:cNvSpPr/>
          <p:nvPr/>
        </p:nvSpPr>
        <p:spPr>
          <a:xfrm>
            <a:off x="10015728" y="5559552"/>
            <a:ext cx="1624584" cy="384048"/>
          </a:xfrm>
          <a:prstGeom prst="roundRect">
            <a:avLst>
              <a:gd name="adj" fmla="val 50000"/>
            </a:avLst>
          </a:prstGeom>
          <a:solidFill>
            <a:schemeClr val="bg1"/>
          </a:solidFill>
          <a:ln/>
          <a:effectLst>
            <a:outerShdw sx="100000" sy="100000" kx="0" ky="0" algn="bl" rotWithShape="0" blurRad="203200" dist="38100" dir="5400000">
              <a:srgbClr val="0A1628">
                <a:alpha val="9000"/>
              </a:srgbClr>
            </a:outerShdw>
          </a:effectLst>
        </p:spPr>
      </p:sp>
      <p:pic>
        <p:nvPicPr>
          <p:cNvPr id="43" name="Image 9" descr="preencoded.png">    </p:cNvPr>
          <p:cNvPicPr>
            <a:picLocks noChangeAspect="1"/>
          </p:cNvPicPr>
          <p:nvPr/>
        </p:nvPicPr>
        <p:blipFill>
          <a:blip r:embed="rId10"/>
          <a:stretch>
            <a:fillRect/>
          </a:stretch>
        </p:blipFill>
        <p:spPr>
          <a:xfrm>
            <a:off x="10162032" y="5641848"/>
            <a:ext cx="219456" cy="219456"/>
          </a:xfrm>
          <a:prstGeom prst="rect">
            <a:avLst/>
          </a:prstGeom>
        </p:spPr>
      </p:pic>
      <p:sp>
        <p:nvSpPr>
          <p:cNvPr id="44" name="Text 32"/>
          <p:cNvSpPr txBox="1"/>
          <p:nvPr/>
        </p:nvSpPr>
        <p:spPr>
          <a:xfrm>
            <a:off x="10454640" y="5559552"/>
            <a:ext cx="1121664" cy="384048"/>
          </a:xfrm>
          <a:prstGeom prst="rect">
            <a:avLst/>
          </a:prstGeom>
          <a:noFill/>
          <a:ln/>
        </p:spPr>
        <p:txBody>
          <a:bodyPr wrap="square" lIns="0" tIns="0" rIns="0" bIns="0" rtlCol="0" anchor="ctr"/>
          <a:lstStyle/>
          <a:p>
            <a:pPr indent="0" marL="0">
              <a:buNone/>
            </a:pPr>
            <a:r>
              <a:rPr lang="en-US" sz="1200" b="1" dirty="0">
                <a:solidFill>
                  <a:schemeClr val="tx1"/>
                </a:solidFill>
              </a:rPr>
              <a:t>Exceptions</a:t>
            </a:r>
            <a:endParaRPr lang="en-US" sz="12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Innovativeness</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The innovation is the credential, not the gate</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Two factors, on the move: the phone proves the credential, the face proves the person.</a:t>
            </a:r>
            <a:endParaRPr lang="en-US" sz="1500" dirty="0"/>
          </a:p>
        </p:txBody>
      </p:sp>
      <p:sp>
        <p:nvSpPr>
          <p:cNvPr id="5" name="Shape 3"/>
          <p:cNvSpPr/>
          <p:nvPr/>
        </p:nvSpPr>
        <p:spPr>
          <a:xfrm>
            <a:off x="548640" y="2103120"/>
            <a:ext cx="4846320" cy="3840480"/>
          </a:xfrm>
          <a:prstGeom prst="roundRect">
            <a:avLst>
              <a:gd name="adj" fmla="val 3333"/>
            </a:avLst>
          </a:prstGeom>
          <a:solidFill>
            <a:schemeClr val="bg1"/>
          </a:solidFill>
          <a:ln/>
          <a:effectLst>
            <a:outerShdw sx="100000" sy="100000" kx="0" ky="0" algn="bl" rotWithShape="0" blurRad="203200" dist="38100" dir="5400000">
              <a:srgbClr val="0A1628">
                <a:alpha val="9000"/>
              </a:srgbClr>
            </a:outerShdw>
          </a:effectLst>
        </p:spPr>
      </p:sp>
      <p:sp>
        <p:nvSpPr>
          <p:cNvPr id="6" name="Text 4"/>
          <p:cNvSpPr txBox="1"/>
          <p:nvPr/>
        </p:nvSpPr>
        <p:spPr>
          <a:xfrm>
            <a:off x="868680" y="2304288"/>
            <a:ext cx="4114800" cy="237744"/>
          </a:xfrm>
          <a:prstGeom prst="rect">
            <a:avLst/>
          </a:prstGeom>
          <a:noFill/>
          <a:ln/>
        </p:spPr>
        <p:txBody>
          <a:bodyPr wrap="square" lIns="0" tIns="0" rIns="0" bIns="0" rtlCol="0" anchor="ctr"/>
          <a:lstStyle/>
          <a:p>
            <a:pPr indent="0" marL="0">
              <a:buNone/>
            </a:pPr>
            <a:r>
              <a:rPr lang="en-US" sz="1100" b="1" spc="200" kern="0" dirty="0">
                <a:solidFill>
                  <a:schemeClr val="accent1"/>
                </a:solidFill>
              </a:rPr>
              <a:t>TWO FACTORS, ONE STRIDE</a:t>
            </a:r>
            <a:endParaRPr lang="en-US" sz="1100" dirty="0"/>
          </a:p>
        </p:txBody>
      </p:sp>
      <p:sp>
        <p:nvSpPr>
          <p:cNvPr id="7" name="Shape 5"/>
          <p:cNvSpPr/>
          <p:nvPr/>
        </p:nvSpPr>
        <p:spPr>
          <a:xfrm>
            <a:off x="914400" y="2743200"/>
            <a:ext cx="1024128" cy="1024128"/>
          </a:xfrm>
          <a:prstGeom prst="ellipse">
            <a:avLst/>
          </a:prstGeom>
          <a:solidFill>
            <a:schemeClr val="accent1">
              <a:alpha val="12000"/>
            </a:schemeClr>
          </a:solidFill>
          <a:ln w="15875">
            <a:solidFill>
              <a:schemeClr val="accent1"/>
            </a:solidFill>
            <a:prstDash val="solid"/>
          </a:ln>
        </p:spPr>
      </p:sp>
      <p:pic>
        <p:nvPicPr>
          <p:cNvPr id="8" name="Image 0" descr="preencoded.png">    </p:cNvPr>
          <p:cNvPicPr>
            <a:picLocks noChangeAspect="1"/>
          </p:cNvPicPr>
          <p:nvPr/>
        </p:nvPicPr>
        <p:blipFill>
          <a:blip r:embed="rId1"/>
          <a:stretch>
            <a:fillRect/>
          </a:stretch>
        </p:blipFill>
        <p:spPr>
          <a:xfrm>
            <a:off x="1179576" y="3008376"/>
            <a:ext cx="493776" cy="493776"/>
          </a:xfrm>
          <a:prstGeom prst="rect">
            <a:avLst/>
          </a:prstGeom>
        </p:spPr>
      </p:pic>
      <p:sp>
        <p:nvSpPr>
          <p:cNvPr id="9" name="Text 6"/>
          <p:cNvSpPr txBox="1"/>
          <p:nvPr/>
        </p:nvSpPr>
        <p:spPr>
          <a:xfrm>
            <a:off x="713232" y="3858768"/>
            <a:ext cx="1426464" cy="502920"/>
          </a:xfrm>
          <a:prstGeom prst="rect">
            <a:avLst/>
          </a:prstGeom>
          <a:noFill/>
          <a:ln/>
        </p:spPr>
        <p:txBody>
          <a:bodyPr wrap="square" lIns="0" tIns="0" rIns="0" bIns="0" rtlCol="0" anchor="t"/>
          <a:lstStyle/>
          <a:p>
            <a:pPr algn="ctr" indent="0" marL="0">
              <a:buNone/>
            </a:pPr>
            <a:r>
              <a:rPr lang="en-US" sz="1200" b="1" dirty="0">
                <a:solidFill>
                  <a:schemeClr val="tx1"/>
                </a:solidFill>
              </a:rPr>
              <a:t>Device credential</a:t>
            </a:r>
            <a:endParaRPr lang="en-US" sz="1200" dirty="0"/>
          </a:p>
          <a:p>
            <a:pPr algn="ctr" indent="0" marL="0">
              <a:buNone/>
            </a:pPr>
            <a:r>
              <a:rPr lang="en-US" sz="1200" dirty="0">
                <a:solidFill>
                  <a:schemeClr val="tx2"/>
                </a:solidFill>
              </a:rPr>
              <a:t>via BLE</a:t>
            </a:r>
            <a:endParaRPr lang="en-US" sz="1200" dirty="0"/>
          </a:p>
        </p:txBody>
      </p:sp>
      <p:sp>
        <p:nvSpPr>
          <p:cNvPr id="10" name="Text 7"/>
          <p:cNvSpPr txBox="1"/>
          <p:nvPr/>
        </p:nvSpPr>
        <p:spPr>
          <a:xfrm>
            <a:off x="1938528" y="2999232"/>
            <a:ext cx="512064" cy="512064"/>
          </a:xfrm>
          <a:prstGeom prst="rect">
            <a:avLst/>
          </a:prstGeom>
          <a:noFill/>
          <a:ln/>
        </p:spPr>
        <p:txBody>
          <a:bodyPr wrap="square" lIns="0" tIns="0" rIns="0" bIns="0" rtlCol="0" anchor="ctr"/>
          <a:lstStyle/>
          <a:p>
            <a:pPr algn="ctr" indent="0" marL="0">
              <a:buNone/>
            </a:pPr>
            <a:r>
              <a:rPr lang="en-US" sz="2600" b="1" dirty="0">
                <a:solidFill>
                  <a:schemeClr val="tx2"/>
                </a:solidFill>
              </a:rPr>
              <a:t>+</a:t>
            </a:r>
            <a:endParaRPr lang="en-US" sz="2600" dirty="0"/>
          </a:p>
        </p:txBody>
      </p:sp>
      <p:sp>
        <p:nvSpPr>
          <p:cNvPr id="11" name="Shape 8"/>
          <p:cNvSpPr/>
          <p:nvPr/>
        </p:nvSpPr>
        <p:spPr>
          <a:xfrm>
            <a:off x="2450592" y="2743200"/>
            <a:ext cx="1024128" cy="1024128"/>
          </a:xfrm>
          <a:prstGeom prst="ellipse">
            <a:avLst/>
          </a:prstGeom>
          <a:solidFill>
            <a:schemeClr val="accent1">
              <a:alpha val="12000"/>
            </a:schemeClr>
          </a:solidFill>
          <a:ln w="15875">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2715768" y="3008376"/>
            <a:ext cx="493776" cy="493776"/>
          </a:xfrm>
          <a:prstGeom prst="rect">
            <a:avLst/>
          </a:prstGeom>
        </p:spPr>
      </p:pic>
      <p:sp>
        <p:nvSpPr>
          <p:cNvPr id="13" name="Text 9"/>
          <p:cNvSpPr txBox="1"/>
          <p:nvPr/>
        </p:nvSpPr>
        <p:spPr>
          <a:xfrm>
            <a:off x="2249424" y="3858768"/>
            <a:ext cx="1426464" cy="502920"/>
          </a:xfrm>
          <a:prstGeom prst="rect">
            <a:avLst/>
          </a:prstGeom>
          <a:noFill/>
          <a:ln/>
        </p:spPr>
        <p:txBody>
          <a:bodyPr wrap="square" lIns="0" tIns="0" rIns="0" bIns="0" rtlCol="0" anchor="t"/>
          <a:lstStyle/>
          <a:p>
            <a:pPr algn="ctr" indent="0" marL="0">
              <a:buNone/>
            </a:pPr>
            <a:r>
              <a:rPr lang="en-US" sz="1200" b="1" dirty="0">
                <a:solidFill>
                  <a:schemeClr val="tx1"/>
                </a:solidFill>
              </a:rPr>
              <a:t>Live face</a:t>
            </a:r>
            <a:endParaRPr lang="en-US" sz="1200" dirty="0"/>
          </a:p>
          <a:p>
            <a:pPr algn="ctr" indent="0" marL="0">
              <a:buNone/>
            </a:pPr>
            <a:r>
              <a:rPr lang="en-US" sz="1200" dirty="0">
                <a:solidFill>
                  <a:schemeClr val="tx2"/>
                </a:solidFill>
              </a:rPr>
              <a:t>on the move</a:t>
            </a:r>
            <a:endParaRPr lang="en-US" sz="1200" dirty="0"/>
          </a:p>
        </p:txBody>
      </p:sp>
      <p:sp>
        <p:nvSpPr>
          <p:cNvPr id="14" name="Text 10"/>
          <p:cNvSpPr txBox="1"/>
          <p:nvPr/>
        </p:nvSpPr>
        <p:spPr>
          <a:xfrm>
            <a:off x="3474720" y="2999232"/>
            <a:ext cx="512064" cy="512064"/>
          </a:xfrm>
          <a:prstGeom prst="rect">
            <a:avLst/>
          </a:prstGeom>
          <a:noFill/>
          <a:ln/>
        </p:spPr>
        <p:txBody>
          <a:bodyPr wrap="square" lIns="0" tIns="0" rIns="0" bIns="0" rtlCol="0" anchor="ctr"/>
          <a:lstStyle/>
          <a:p>
            <a:pPr algn="ctr" indent="0" marL="0">
              <a:buNone/>
            </a:pPr>
            <a:r>
              <a:rPr lang="en-US" sz="2600" b="1" dirty="0">
                <a:solidFill>
                  <a:schemeClr val="tx2"/>
                </a:solidFill>
              </a:rPr>
              <a:t>=</a:t>
            </a:r>
            <a:endParaRPr lang="en-US" sz="2600" dirty="0"/>
          </a:p>
        </p:txBody>
      </p:sp>
      <p:sp>
        <p:nvSpPr>
          <p:cNvPr id="15" name="Shape 11"/>
          <p:cNvSpPr/>
          <p:nvPr/>
        </p:nvSpPr>
        <p:spPr>
          <a:xfrm>
            <a:off x="3986784" y="2743200"/>
            <a:ext cx="1024128" cy="1024128"/>
          </a:xfrm>
          <a:prstGeom prst="ellipse">
            <a:avLst/>
          </a:prstGeom>
          <a:solidFill>
            <a:schemeClr val="accent2">
              <a:alpha val="12000"/>
            </a:schemeClr>
          </a:solidFill>
          <a:ln w="15875">
            <a:solidFill>
              <a:schemeClr val="accent2"/>
            </a:solidFill>
            <a:prstDash val="solid"/>
          </a:ln>
        </p:spPr>
      </p:sp>
      <p:pic>
        <p:nvPicPr>
          <p:cNvPr id="16" name="Image 2" descr="preencoded.png">    </p:cNvPr>
          <p:cNvPicPr>
            <a:picLocks noChangeAspect="1"/>
          </p:cNvPicPr>
          <p:nvPr/>
        </p:nvPicPr>
        <p:blipFill>
          <a:blip r:embed="rId3"/>
          <a:stretch>
            <a:fillRect/>
          </a:stretch>
        </p:blipFill>
        <p:spPr>
          <a:xfrm>
            <a:off x="4251960" y="3008376"/>
            <a:ext cx="493776" cy="493776"/>
          </a:xfrm>
          <a:prstGeom prst="rect">
            <a:avLst/>
          </a:prstGeom>
        </p:spPr>
      </p:pic>
      <p:sp>
        <p:nvSpPr>
          <p:cNvPr id="17" name="Text 12"/>
          <p:cNvSpPr txBox="1"/>
          <p:nvPr/>
        </p:nvSpPr>
        <p:spPr>
          <a:xfrm>
            <a:off x="3785616" y="3858768"/>
            <a:ext cx="1426464" cy="502920"/>
          </a:xfrm>
          <a:prstGeom prst="rect">
            <a:avLst/>
          </a:prstGeom>
          <a:noFill/>
          <a:ln/>
        </p:spPr>
        <p:txBody>
          <a:bodyPr wrap="square" lIns="0" tIns="0" rIns="0" bIns="0" rtlCol="0" anchor="t"/>
          <a:lstStyle/>
          <a:p>
            <a:pPr algn="ctr" indent="0" marL="0">
              <a:buNone/>
            </a:pPr>
            <a:r>
              <a:rPr lang="en-US" sz="1200" b="1" dirty="0">
                <a:solidFill>
                  <a:schemeClr val="tx1"/>
                </a:solidFill>
              </a:rPr>
              <a:t>Cleared</a:t>
            </a:r>
            <a:endParaRPr lang="en-US" sz="1200" dirty="0"/>
          </a:p>
          <a:p>
            <a:pPr algn="ctr" indent="0" marL="0">
              <a:buNone/>
            </a:pPr>
            <a:r>
              <a:rPr lang="en-US" sz="1200" dirty="0">
                <a:solidFill>
                  <a:schemeClr val="tx2"/>
                </a:solidFill>
              </a:rPr>
              <a:t>lane stays open</a:t>
            </a:r>
            <a:endParaRPr lang="en-US" sz="1200" dirty="0"/>
          </a:p>
        </p:txBody>
      </p:sp>
      <p:sp>
        <p:nvSpPr>
          <p:cNvPr id="18" name="Shape 13"/>
          <p:cNvSpPr/>
          <p:nvPr/>
        </p:nvSpPr>
        <p:spPr>
          <a:xfrm>
            <a:off x="868680" y="4617720"/>
            <a:ext cx="4206240" cy="0"/>
          </a:xfrm>
          <a:prstGeom prst="line">
            <a:avLst/>
          </a:prstGeom>
          <a:noFill/>
          <a:ln w="9525">
            <a:solidFill>
              <a:schemeClr val="accent5"/>
            </a:solidFill>
            <a:prstDash val="solid"/>
          </a:ln>
        </p:spPr>
      </p:sp>
      <p:pic>
        <p:nvPicPr>
          <p:cNvPr id="19" name="Image 3" descr="preencoded.png">    </p:cNvPr>
          <p:cNvPicPr>
            <a:picLocks noChangeAspect="1"/>
          </p:cNvPicPr>
          <p:nvPr/>
        </p:nvPicPr>
        <p:blipFill>
          <a:blip r:embed="rId4"/>
          <a:stretch>
            <a:fillRect/>
          </a:stretch>
        </p:blipFill>
        <p:spPr>
          <a:xfrm>
            <a:off x="868680" y="4818888"/>
            <a:ext cx="256032" cy="256032"/>
          </a:xfrm>
          <a:prstGeom prst="rect">
            <a:avLst/>
          </a:prstGeom>
        </p:spPr>
      </p:pic>
      <p:sp>
        <p:nvSpPr>
          <p:cNvPr id="20" name="Text 14"/>
          <p:cNvSpPr txBox="1"/>
          <p:nvPr/>
        </p:nvSpPr>
        <p:spPr>
          <a:xfrm>
            <a:off x="1261872" y="4773168"/>
            <a:ext cx="3840480" cy="347472"/>
          </a:xfrm>
          <a:prstGeom prst="rect">
            <a:avLst/>
          </a:prstGeom>
          <a:noFill/>
          <a:ln/>
        </p:spPr>
        <p:txBody>
          <a:bodyPr wrap="square" lIns="0" tIns="0" rIns="0" bIns="0" rtlCol="0" anchor="ctr"/>
          <a:lstStyle/>
          <a:p>
            <a:pPr indent="0" marL="0">
              <a:buNone/>
            </a:pPr>
            <a:r>
              <a:rPr lang="en-US" sz="1300" b="1" dirty="0">
                <a:solidFill>
                  <a:schemeClr val="tx1"/>
                </a:solidFill>
              </a:rPr>
              <a:t>Typical walk-through  </a:t>
            </a:r>
            <a:pPr indent="0" marL="0">
              <a:buNone/>
            </a:pPr>
            <a:r>
              <a:rPr lang="en-US" sz="1300" dirty="0">
                <a:solidFill>
                  <a:schemeClr val="tx2"/>
                </a:solidFill>
              </a:rPr>
              <a:t>face only (1FA)</a:t>
            </a:r>
            <a:endParaRPr lang="en-US" sz="1300" dirty="0"/>
          </a:p>
        </p:txBody>
      </p:sp>
      <p:pic>
        <p:nvPicPr>
          <p:cNvPr id="21" name="Image 4" descr="preencoded.png">    </p:cNvPr>
          <p:cNvPicPr>
            <a:picLocks noChangeAspect="1"/>
          </p:cNvPicPr>
          <p:nvPr/>
        </p:nvPicPr>
        <p:blipFill>
          <a:blip r:embed="rId5"/>
          <a:stretch>
            <a:fillRect/>
          </a:stretch>
        </p:blipFill>
        <p:spPr>
          <a:xfrm>
            <a:off x="868680" y="5276088"/>
            <a:ext cx="256032" cy="256032"/>
          </a:xfrm>
          <a:prstGeom prst="rect">
            <a:avLst/>
          </a:prstGeom>
        </p:spPr>
      </p:pic>
      <p:sp>
        <p:nvSpPr>
          <p:cNvPr id="22" name="Text 15"/>
          <p:cNvSpPr txBox="1"/>
          <p:nvPr/>
        </p:nvSpPr>
        <p:spPr>
          <a:xfrm>
            <a:off x="1261872" y="5230368"/>
            <a:ext cx="3840480" cy="347472"/>
          </a:xfrm>
          <a:prstGeom prst="rect">
            <a:avLst/>
          </a:prstGeom>
          <a:noFill/>
          <a:ln/>
        </p:spPr>
        <p:txBody>
          <a:bodyPr wrap="square" lIns="0" tIns="0" rIns="0" bIns="0" rtlCol="0" anchor="ctr"/>
          <a:lstStyle/>
          <a:p>
            <a:pPr indent="0" marL="0">
              <a:buNone/>
            </a:pPr>
            <a:r>
              <a:rPr lang="en-US" sz="1300" b="1" dirty="0">
                <a:solidFill>
                  <a:schemeClr val="tx1"/>
                </a:solidFill>
              </a:rPr>
              <a:t>FastPass  </a:t>
            </a:r>
            <a:pPr indent="0" marL="0">
              <a:buNone/>
            </a:pPr>
            <a:r>
              <a:rPr lang="en-US" sz="1300" dirty="0">
                <a:solidFill>
                  <a:schemeClr val="tx2"/>
                </a:solidFill>
              </a:rPr>
              <a:t>face + phone (2FA), on the move</a:t>
            </a:r>
            <a:endParaRPr lang="en-US" sz="1300" dirty="0"/>
          </a:p>
        </p:txBody>
      </p:sp>
      <p:sp>
        <p:nvSpPr>
          <p:cNvPr id="23" name="Shape 16"/>
          <p:cNvSpPr/>
          <p:nvPr/>
        </p:nvSpPr>
        <p:spPr>
          <a:xfrm>
            <a:off x="5760720" y="2194560"/>
            <a:ext cx="457200" cy="457200"/>
          </a:xfrm>
          <a:prstGeom prst="ellipse">
            <a:avLst/>
          </a:prstGeom>
          <a:solidFill>
            <a:schemeClr val="accent1">
              <a:alpha val="12000"/>
            </a:schemeClr>
          </a:solidFill>
          <a:ln/>
        </p:spPr>
      </p:sp>
      <p:pic>
        <p:nvPicPr>
          <p:cNvPr id="24" name="Image 5" descr="preencoded.png">    </p:cNvPr>
          <p:cNvPicPr>
            <a:picLocks noChangeAspect="1"/>
          </p:cNvPicPr>
          <p:nvPr/>
        </p:nvPicPr>
        <p:blipFill>
          <a:blip r:embed="rId6"/>
          <a:stretch>
            <a:fillRect/>
          </a:stretch>
        </p:blipFill>
        <p:spPr>
          <a:xfrm>
            <a:off x="5865876" y="2299716"/>
            <a:ext cx="246888" cy="246888"/>
          </a:xfrm>
          <a:prstGeom prst="rect">
            <a:avLst/>
          </a:prstGeom>
        </p:spPr>
      </p:pic>
      <p:sp>
        <p:nvSpPr>
          <p:cNvPr id="25" name="Text 17"/>
          <p:cNvSpPr txBox="1"/>
          <p:nvPr/>
        </p:nvSpPr>
        <p:spPr>
          <a:xfrm>
            <a:off x="6400800" y="2176272"/>
            <a:ext cx="5212080" cy="292608"/>
          </a:xfrm>
          <a:prstGeom prst="rect">
            <a:avLst/>
          </a:prstGeom>
          <a:noFill/>
          <a:ln/>
        </p:spPr>
        <p:txBody>
          <a:bodyPr wrap="square" lIns="0" tIns="0" rIns="0" bIns="0" rtlCol="0" anchor="ctr"/>
          <a:lstStyle/>
          <a:p>
            <a:pPr indent="0" marL="0">
              <a:buNone/>
            </a:pPr>
            <a:r>
              <a:rPr lang="en-US" sz="1600" b="1" dirty="0">
                <a:solidFill>
                  <a:schemeClr val="tx1"/>
                </a:solidFill>
              </a:rPr>
              <a:t>Privacy by design</a:t>
            </a:r>
            <a:endParaRPr lang="en-US" sz="1600" dirty="0"/>
          </a:p>
        </p:txBody>
      </p:sp>
      <p:sp>
        <p:nvSpPr>
          <p:cNvPr id="26" name="Text 18"/>
          <p:cNvSpPr txBox="1"/>
          <p:nvPr/>
        </p:nvSpPr>
        <p:spPr>
          <a:xfrm>
            <a:off x="6400800" y="2487168"/>
            <a:ext cx="5212080" cy="292608"/>
          </a:xfrm>
          <a:prstGeom prst="rect">
            <a:avLst/>
          </a:prstGeom>
          <a:noFill/>
          <a:ln/>
        </p:spPr>
        <p:txBody>
          <a:bodyPr wrap="square" lIns="0" tIns="0" rIns="0" bIns="0" rtlCol="0" anchor="ctr"/>
          <a:lstStyle/>
          <a:p>
            <a:pPr indent="0" marL="0">
              <a:buNone/>
            </a:pPr>
            <a:r>
              <a:rPr lang="en-US" sz="1400" dirty="0">
                <a:solidFill>
                  <a:schemeClr val="tx2"/>
                </a:solidFill>
              </a:rPr>
              <a:t>Credentials stay encrypted on the phone</a:t>
            </a:r>
            <a:endParaRPr lang="en-US" sz="1400" dirty="0"/>
          </a:p>
        </p:txBody>
      </p:sp>
      <p:sp>
        <p:nvSpPr>
          <p:cNvPr id="27" name="Shape 19"/>
          <p:cNvSpPr/>
          <p:nvPr/>
        </p:nvSpPr>
        <p:spPr>
          <a:xfrm>
            <a:off x="5760720" y="3136392"/>
            <a:ext cx="457200" cy="457200"/>
          </a:xfrm>
          <a:prstGeom prst="ellipse">
            <a:avLst/>
          </a:prstGeom>
          <a:solidFill>
            <a:schemeClr val="accent1">
              <a:alpha val="12000"/>
            </a:schemeClr>
          </a:solidFill>
          <a:ln/>
        </p:spPr>
      </p:sp>
      <p:pic>
        <p:nvPicPr>
          <p:cNvPr id="28" name="Image 6" descr="preencoded.png">    </p:cNvPr>
          <p:cNvPicPr>
            <a:picLocks noChangeAspect="1"/>
          </p:cNvPicPr>
          <p:nvPr/>
        </p:nvPicPr>
        <p:blipFill>
          <a:blip r:embed="rId7"/>
          <a:stretch>
            <a:fillRect/>
          </a:stretch>
        </p:blipFill>
        <p:spPr>
          <a:xfrm>
            <a:off x="5865876" y="3241548"/>
            <a:ext cx="246888" cy="246888"/>
          </a:xfrm>
          <a:prstGeom prst="rect">
            <a:avLst/>
          </a:prstGeom>
        </p:spPr>
      </p:pic>
      <p:sp>
        <p:nvSpPr>
          <p:cNvPr id="29" name="Text 20"/>
          <p:cNvSpPr txBox="1"/>
          <p:nvPr/>
        </p:nvSpPr>
        <p:spPr>
          <a:xfrm>
            <a:off x="6400800" y="3118104"/>
            <a:ext cx="5212080" cy="292608"/>
          </a:xfrm>
          <a:prstGeom prst="rect">
            <a:avLst/>
          </a:prstGeom>
          <a:noFill/>
          <a:ln/>
        </p:spPr>
        <p:txBody>
          <a:bodyPr wrap="square" lIns="0" tIns="0" rIns="0" bIns="0" rtlCol="0" anchor="ctr"/>
          <a:lstStyle/>
          <a:p>
            <a:pPr indent="0" marL="0">
              <a:buNone/>
            </a:pPr>
            <a:r>
              <a:rPr lang="en-US" sz="1600" b="1" dirty="0">
                <a:solidFill>
                  <a:schemeClr val="tx1"/>
                </a:solidFill>
              </a:rPr>
              <a:t>Plugs into existing apps</a:t>
            </a:r>
            <a:endParaRPr lang="en-US" sz="1600" dirty="0"/>
          </a:p>
        </p:txBody>
      </p:sp>
      <p:sp>
        <p:nvSpPr>
          <p:cNvPr id="30" name="Text 21"/>
          <p:cNvSpPr txBox="1"/>
          <p:nvPr/>
        </p:nvSpPr>
        <p:spPr>
          <a:xfrm>
            <a:off x="6400800" y="3429000"/>
            <a:ext cx="5212080" cy="292608"/>
          </a:xfrm>
          <a:prstGeom prst="rect">
            <a:avLst/>
          </a:prstGeom>
          <a:noFill/>
          <a:ln/>
        </p:spPr>
        <p:txBody>
          <a:bodyPr wrap="square" lIns="0" tIns="0" rIns="0" bIns="0" rtlCol="0" anchor="ctr"/>
          <a:lstStyle/>
          <a:p>
            <a:pPr indent="0" marL="0">
              <a:buNone/>
            </a:pPr>
            <a:r>
              <a:rPr lang="en-US" sz="1400" dirty="0">
                <a:solidFill>
                  <a:schemeClr val="tx2"/>
                </a:solidFill>
              </a:rPr>
              <a:t>SDK for airport and airline channels</a:t>
            </a:r>
            <a:endParaRPr lang="en-US" sz="1400" dirty="0"/>
          </a:p>
        </p:txBody>
      </p:sp>
      <p:sp>
        <p:nvSpPr>
          <p:cNvPr id="31" name="Shape 22"/>
          <p:cNvSpPr/>
          <p:nvPr/>
        </p:nvSpPr>
        <p:spPr>
          <a:xfrm>
            <a:off x="5760720" y="4078224"/>
            <a:ext cx="457200" cy="457200"/>
          </a:xfrm>
          <a:prstGeom prst="ellipse">
            <a:avLst/>
          </a:prstGeom>
          <a:solidFill>
            <a:schemeClr val="accent1">
              <a:alpha val="12000"/>
            </a:schemeClr>
          </a:solidFill>
          <a:ln/>
        </p:spPr>
      </p:sp>
      <p:pic>
        <p:nvPicPr>
          <p:cNvPr id="32" name="Image 7" descr="preencoded.png">    </p:cNvPr>
          <p:cNvPicPr>
            <a:picLocks noChangeAspect="1"/>
          </p:cNvPicPr>
          <p:nvPr/>
        </p:nvPicPr>
        <p:blipFill>
          <a:blip r:embed="rId8"/>
          <a:stretch>
            <a:fillRect/>
          </a:stretch>
        </p:blipFill>
        <p:spPr>
          <a:xfrm>
            <a:off x="5865876" y="4183380"/>
            <a:ext cx="246888" cy="246888"/>
          </a:xfrm>
          <a:prstGeom prst="rect">
            <a:avLst/>
          </a:prstGeom>
        </p:spPr>
      </p:pic>
      <p:sp>
        <p:nvSpPr>
          <p:cNvPr id="33" name="Text 23"/>
          <p:cNvSpPr txBox="1"/>
          <p:nvPr/>
        </p:nvSpPr>
        <p:spPr>
          <a:xfrm>
            <a:off x="6400800" y="4059936"/>
            <a:ext cx="5212080" cy="292608"/>
          </a:xfrm>
          <a:prstGeom prst="rect">
            <a:avLst/>
          </a:prstGeom>
          <a:noFill/>
          <a:ln/>
        </p:spPr>
        <p:txBody>
          <a:bodyPr wrap="square" lIns="0" tIns="0" rIns="0" bIns="0" rtlCol="0" anchor="ctr"/>
          <a:lstStyle/>
          <a:p>
            <a:pPr indent="0" marL="0">
              <a:buNone/>
            </a:pPr>
            <a:r>
              <a:rPr lang="en-US" sz="1600" b="1" dirty="0">
                <a:solidFill>
                  <a:schemeClr val="tx1"/>
                </a:solidFill>
              </a:rPr>
              <a:t>Converged with security ops</a:t>
            </a:r>
            <a:endParaRPr lang="en-US" sz="1600" dirty="0"/>
          </a:p>
        </p:txBody>
      </p:sp>
      <p:sp>
        <p:nvSpPr>
          <p:cNvPr id="34" name="Text 24"/>
          <p:cNvSpPr txBox="1"/>
          <p:nvPr/>
        </p:nvSpPr>
        <p:spPr>
          <a:xfrm>
            <a:off x="6400800" y="4370832"/>
            <a:ext cx="5212080" cy="292608"/>
          </a:xfrm>
          <a:prstGeom prst="rect">
            <a:avLst/>
          </a:prstGeom>
          <a:noFill/>
          <a:ln/>
        </p:spPr>
        <p:txBody>
          <a:bodyPr wrap="square" lIns="0" tIns="0" rIns="0" bIns="0" rtlCol="0" anchor="ctr"/>
          <a:lstStyle/>
          <a:p>
            <a:pPr indent="0" marL="0">
              <a:buNone/>
            </a:pPr>
            <a:r>
              <a:rPr lang="en-US" sz="1400" dirty="0">
                <a:solidFill>
                  <a:schemeClr val="tx2"/>
                </a:solidFill>
              </a:rPr>
              <a:t>Clearances beside CCTV, access and incidents</a:t>
            </a:r>
            <a:endParaRPr lang="en-US" sz="1400" dirty="0"/>
          </a:p>
        </p:txBody>
      </p:sp>
      <p:sp>
        <p:nvSpPr>
          <p:cNvPr id="35" name="Shape 25"/>
          <p:cNvSpPr/>
          <p:nvPr/>
        </p:nvSpPr>
        <p:spPr>
          <a:xfrm>
            <a:off x="5760720" y="5020056"/>
            <a:ext cx="457200" cy="457200"/>
          </a:xfrm>
          <a:prstGeom prst="ellipse">
            <a:avLst/>
          </a:prstGeom>
          <a:solidFill>
            <a:schemeClr val="accent1">
              <a:alpha val="12000"/>
            </a:schemeClr>
          </a:solidFill>
          <a:ln/>
        </p:spPr>
      </p:sp>
      <p:pic>
        <p:nvPicPr>
          <p:cNvPr id="36" name="Image 8" descr="preencoded.png">    </p:cNvPr>
          <p:cNvPicPr>
            <a:picLocks noChangeAspect="1"/>
          </p:cNvPicPr>
          <p:nvPr/>
        </p:nvPicPr>
        <p:blipFill>
          <a:blip r:embed="rId9"/>
          <a:stretch>
            <a:fillRect/>
          </a:stretch>
        </p:blipFill>
        <p:spPr>
          <a:xfrm>
            <a:off x="5865876" y="5125212"/>
            <a:ext cx="246888" cy="246888"/>
          </a:xfrm>
          <a:prstGeom prst="rect">
            <a:avLst/>
          </a:prstGeom>
        </p:spPr>
      </p:pic>
      <p:sp>
        <p:nvSpPr>
          <p:cNvPr id="37" name="Text 26"/>
          <p:cNvSpPr txBox="1"/>
          <p:nvPr/>
        </p:nvSpPr>
        <p:spPr>
          <a:xfrm>
            <a:off x="6400800" y="5001768"/>
            <a:ext cx="5212080" cy="292608"/>
          </a:xfrm>
          <a:prstGeom prst="rect">
            <a:avLst/>
          </a:prstGeom>
          <a:noFill/>
          <a:ln/>
        </p:spPr>
        <p:txBody>
          <a:bodyPr wrap="square" lIns="0" tIns="0" rIns="0" bIns="0" rtlCol="0" anchor="ctr"/>
          <a:lstStyle/>
          <a:p>
            <a:pPr indent="0" marL="0">
              <a:buNone/>
            </a:pPr>
            <a:r>
              <a:rPr lang="en-US" sz="1600" b="1" dirty="0">
                <a:solidFill>
                  <a:schemeClr val="tx1"/>
                </a:solidFill>
              </a:rPr>
              <a:t>AI in the product and the build</a:t>
            </a:r>
            <a:endParaRPr lang="en-US" sz="1600" dirty="0"/>
          </a:p>
        </p:txBody>
      </p:sp>
      <p:sp>
        <p:nvSpPr>
          <p:cNvPr id="38" name="Text 27"/>
          <p:cNvSpPr txBox="1"/>
          <p:nvPr/>
        </p:nvSpPr>
        <p:spPr>
          <a:xfrm>
            <a:off x="6400800" y="5312664"/>
            <a:ext cx="5212080" cy="292608"/>
          </a:xfrm>
          <a:prstGeom prst="rect">
            <a:avLst/>
          </a:prstGeom>
          <a:noFill/>
          <a:ln/>
        </p:spPr>
        <p:txBody>
          <a:bodyPr wrap="square" lIns="0" tIns="0" rIns="0" bIns="0" rtlCol="0" anchor="ctr"/>
          <a:lstStyle/>
          <a:p>
            <a:pPr indent="0" marL="0">
              <a:buNone/>
            </a:pPr>
            <a:r>
              <a:rPr lang="en-US" sz="1400" dirty="0">
                <a:solidFill>
                  <a:schemeClr val="tx2"/>
                </a:solidFill>
              </a:rPr>
              <a:t>On-the-move FR and alert triage; ~50% less front-end effort</a:t>
            </a:r>
            <a:endParaRPr lang="en-US" sz="14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Business Impact</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Measurable impact for every stakeholder</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Today’s traveller stops four times. With FastPass, eligible travellers keep moving.</a:t>
            </a:r>
            <a:endParaRPr lang="en-US" sz="1500" dirty="0"/>
          </a:p>
        </p:txBody>
      </p:sp>
      <p:sp>
        <p:nvSpPr>
          <p:cNvPr id="5" name="Shape 3"/>
          <p:cNvSpPr/>
          <p:nvPr/>
        </p:nvSpPr>
        <p:spPr>
          <a:xfrm>
            <a:off x="548640" y="2057400"/>
            <a:ext cx="11094415" cy="1938528"/>
          </a:xfrm>
          <a:prstGeom prst="roundRect">
            <a:avLst>
              <a:gd name="adj" fmla="val 6604"/>
            </a:avLst>
          </a:prstGeom>
          <a:solidFill>
            <a:schemeClr val="bg1"/>
          </a:solidFill>
          <a:ln/>
          <a:effectLst>
            <a:outerShdw sx="100000" sy="100000" kx="0" ky="0" algn="bl" rotWithShape="0" blurRad="203200" dist="38100" dir="5400000">
              <a:srgbClr val="0A1628">
                <a:alpha val="9000"/>
              </a:srgbClr>
            </a:outerShdw>
          </a:effectLst>
        </p:spPr>
      </p:sp>
      <p:sp>
        <p:nvSpPr>
          <p:cNvPr id="6" name="Text 4"/>
          <p:cNvSpPr txBox="1"/>
          <p:nvPr/>
        </p:nvSpPr>
        <p:spPr>
          <a:xfrm>
            <a:off x="3900830" y="2194560"/>
            <a:ext cx="1463040" cy="237744"/>
          </a:xfrm>
          <a:prstGeom prst="rect">
            <a:avLst/>
          </a:prstGeom>
          <a:noFill/>
          <a:ln/>
        </p:spPr>
        <p:txBody>
          <a:bodyPr wrap="square" lIns="0" tIns="0" rIns="0" bIns="0" rtlCol="0" anchor="ctr"/>
          <a:lstStyle/>
          <a:p>
            <a:pPr algn="ctr" indent="0" marL="0">
              <a:buNone/>
            </a:pPr>
            <a:r>
              <a:rPr lang="en-US" sz="1100" b="1" dirty="0">
                <a:solidFill>
                  <a:schemeClr val="tx2"/>
                </a:solidFill>
              </a:rPr>
              <a:t>Check-in</a:t>
            </a:r>
            <a:endParaRPr lang="en-US" sz="1100" dirty="0"/>
          </a:p>
        </p:txBody>
      </p:sp>
      <p:sp>
        <p:nvSpPr>
          <p:cNvPr id="7" name="Text 5"/>
          <p:cNvSpPr txBox="1"/>
          <p:nvPr/>
        </p:nvSpPr>
        <p:spPr>
          <a:xfrm>
            <a:off x="5515661" y="2194560"/>
            <a:ext cx="1463040" cy="237744"/>
          </a:xfrm>
          <a:prstGeom prst="rect">
            <a:avLst/>
          </a:prstGeom>
          <a:noFill/>
          <a:ln/>
        </p:spPr>
        <p:txBody>
          <a:bodyPr wrap="square" lIns="0" tIns="0" rIns="0" bIns="0" rtlCol="0" anchor="ctr"/>
          <a:lstStyle/>
          <a:p>
            <a:pPr algn="ctr" indent="0" marL="0">
              <a:buNone/>
            </a:pPr>
            <a:r>
              <a:rPr lang="en-US" sz="1100" b="1" dirty="0">
                <a:solidFill>
                  <a:schemeClr val="tx2"/>
                </a:solidFill>
              </a:rPr>
              <a:t>Immigration</a:t>
            </a:r>
            <a:endParaRPr lang="en-US" sz="1100" dirty="0"/>
          </a:p>
        </p:txBody>
      </p:sp>
      <p:sp>
        <p:nvSpPr>
          <p:cNvPr id="8" name="Text 6"/>
          <p:cNvSpPr txBox="1"/>
          <p:nvPr/>
        </p:nvSpPr>
        <p:spPr>
          <a:xfrm>
            <a:off x="7130491" y="2194560"/>
            <a:ext cx="1463040" cy="237744"/>
          </a:xfrm>
          <a:prstGeom prst="rect">
            <a:avLst/>
          </a:prstGeom>
          <a:noFill/>
          <a:ln/>
        </p:spPr>
        <p:txBody>
          <a:bodyPr wrap="square" lIns="0" tIns="0" rIns="0" bIns="0" rtlCol="0" anchor="ctr"/>
          <a:lstStyle/>
          <a:p>
            <a:pPr algn="ctr" indent="0" marL="0">
              <a:buNone/>
            </a:pPr>
            <a:r>
              <a:rPr lang="en-US" sz="1100" b="1" dirty="0">
                <a:solidFill>
                  <a:schemeClr val="tx2"/>
                </a:solidFill>
              </a:rPr>
              <a:t>Screening</a:t>
            </a:r>
            <a:endParaRPr lang="en-US" sz="1100" dirty="0"/>
          </a:p>
        </p:txBody>
      </p:sp>
      <p:sp>
        <p:nvSpPr>
          <p:cNvPr id="9" name="Text 7"/>
          <p:cNvSpPr txBox="1"/>
          <p:nvPr/>
        </p:nvSpPr>
        <p:spPr>
          <a:xfrm>
            <a:off x="8745322" y="2194560"/>
            <a:ext cx="1463040" cy="237744"/>
          </a:xfrm>
          <a:prstGeom prst="rect">
            <a:avLst/>
          </a:prstGeom>
          <a:noFill/>
          <a:ln/>
        </p:spPr>
        <p:txBody>
          <a:bodyPr wrap="square" lIns="0" tIns="0" rIns="0" bIns="0" rtlCol="0" anchor="ctr"/>
          <a:lstStyle/>
          <a:p>
            <a:pPr algn="ctr" indent="0" marL="0">
              <a:buNone/>
            </a:pPr>
            <a:r>
              <a:rPr lang="en-US" sz="1100" b="1" dirty="0">
                <a:solidFill>
                  <a:schemeClr val="tx2"/>
                </a:solidFill>
              </a:rPr>
              <a:t>Boarding</a:t>
            </a:r>
            <a:endParaRPr lang="en-US" sz="1100" dirty="0"/>
          </a:p>
        </p:txBody>
      </p:sp>
      <p:pic>
        <p:nvPicPr>
          <p:cNvPr id="10" name="Today vs FastPass loop" descr="/tmp/claude-0/-home-user-sgqy/b70fb111-7300-56ba-abe4-4b6e17d8c33e/scratchpad/assets/pearl/flow_compare.gif">    </p:cNvPr>
          <p:cNvPicPr>
            <a:picLocks noChangeAspect="1"/>
          </p:cNvPicPr>
          <p:nvPr/>
        </p:nvPicPr>
        <p:blipFill>
          <a:blip r:embed="rId1"/>
          <a:stretch>
            <a:fillRect/>
          </a:stretch>
        </p:blipFill>
        <p:spPr>
          <a:xfrm>
            <a:off x="2788920" y="2514600"/>
            <a:ext cx="8531352" cy="1371600"/>
          </a:xfrm>
          <a:prstGeom prst="rect">
            <a:avLst/>
          </a:prstGeom>
        </p:spPr>
      </p:pic>
      <p:sp>
        <p:nvSpPr>
          <p:cNvPr id="11" name="Text 8"/>
          <p:cNvSpPr txBox="1"/>
          <p:nvPr/>
        </p:nvSpPr>
        <p:spPr>
          <a:xfrm>
            <a:off x="822960" y="2651760"/>
            <a:ext cx="1828800" cy="292608"/>
          </a:xfrm>
          <a:prstGeom prst="rect">
            <a:avLst/>
          </a:prstGeom>
          <a:noFill/>
          <a:ln/>
        </p:spPr>
        <p:txBody>
          <a:bodyPr wrap="square" lIns="0" tIns="0" rIns="0" bIns="0" rtlCol="0" anchor="ctr"/>
          <a:lstStyle/>
          <a:p>
            <a:pPr indent="0" marL="0">
              <a:buNone/>
            </a:pPr>
            <a:r>
              <a:rPr lang="en-US" sz="1700" b="1" dirty="0">
                <a:solidFill>
                  <a:schemeClr val="tx1"/>
                </a:solidFill>
              </a:rPr>
              <a:t>Today</a:t>
            </a:r>
            <a:endParaRPr lang="en-US" sz="1700" dirty="0"/>
          </a:p>
        </p:txBody>
      </p:sp>
      <p:sp>
        <p:nvSpPr>
          <p:cNvPr id="12" name="Text 9"/>
          <p:cNvSpPr txBox="1"/>
          <p:nvPr/>
        </p:nvSpPr>
        <p:spPr>
          <a:xfrm>
            <a:off x="822960" y="2944368"/>
            <a:ext cx="1920240" cy="237744"/>
          </a:xfrm>
          <a:prstGeom prst="rect">
            <a:avLst/>
          </a:prstGeom>
          <a:noFill/>
          <a:ln/>
        </p:spPr>
        <p:txBody>
          <a:bodyPr wrap="square" lIns="0" tIns="0" rIns="0" bIns="0" rtlCol="0" anchor="ctr"/>
          <a:lstStyle/>
          <a:p>
            <a:pPr indent="0" marL="0">
              <a:buNone/>
            </a:pPr>
            <a:r>
              <a:rPr lang="en-US" sz="1200" dirty="0">
                <a:solidFill>
                  <a:schemeClr val="accent3"/>
                </a:solidFill>
              </a:rPr>
              <a:t>4 stops · officer at each</a:t>
            </a:r>
            <a:endParaRPr lang="en-US" sz="1200" dirty="0"/>
          </a:p>
        </p:txBody>
      </p:sp>
      <p:sp>
        <p:nvSpPr>
          <p:cNvPr id="13" name="Text 10"/>
          <p:cNvSpPr txBox="1"/>
          <p:nvPr/>
        </p:nvSpPr>
        <p:spPr>
          <a:xfrm>
            <a:off x="822960" y="3273552"/>
            <a:ext cx="1920240" cy="292608"/>
          </a:xfrm>
          <a:prstGeom prst="rect">
            <a:avLst/>
          </a:prstGeom>
          <a:noFill/>
          <a:ln/>
        </p:spPr>
        <p:txBody>
          <a:bodyPr wrap="square" lIns="0" tIns="0" rIns="0" bIns="0" rtlCol="0" anchor="ctr"/>
          <a:lstStyle/>
          <a:p>
            <a:pPr indent="0" marL="0">
              <a:buNone/>
            </a:pPr>
            <a:r>
              <a:rPr lang="en-US" sz="1700" b="1" dirty="0">
                <a:solidFill>
                  <a:schemeClr val="accent1"/>
                </a:solidFill>
              </a:rPr>
              <a:t>With FastPass</a:t>
            </a:r>
            <a:endParaRPr lang="en-US" sz="1700" dirty="0"/>
          </a:p>
        </p:txBody>
      </p:sp>
      <p:sp>
        <p:nvSpPr>
          <p:cNvPr id="14" name="Text 11"/>
          <p:cNvSpPr txBox="1"/>
          <p:nvPr/>
        </p:nvSpPr>
        <p:spPr>
          <a:xfrm>
            <a:off x="822960" y="3566160"/>
            <a:ext cx="1965960" cy="237744"/>
          </a:xfrm>
          <a:prstGeom prst="rect">
            <a:avLst/>
          </a:prstGeom>
          <a:noFill/>
          <a:ln/>
        </p:spPr>
        <p:txBody>
          <a:bodyPr wrap="square" lIns="0" tIns="0" rIns="0" bIns="0" rtlCol="0" anchor="ctr"/>
          <a:lstStyle/>
          <a:p>
            <a:pPr indent="0" marL="0">
              <a:buNone/>
            </a:pPr>
            <a:r>
              <a:rPr lang="en-US" sz="1200" dirty="0">
                <a:solidFill>
                  <a:schemeClr val="accent2"/>
                </a:solidFill>
              </a:rPr>
              <a:t>0 stops · exceptions only</a:t>
            </a:r>
            <a:endParaRPr lang="en-US" sz="1200" dirty="0"/>
          </a:p>
        </p:txBody>
      </p:sp>
      <p:sp>
        <p:nvSpPr>
          <p:cNvPr id="15" name="Shape 12"/>
          <p:cNvSpPr/>
          <p:nvPr/>
        </p:nvSpPr>
        <p:spPr>
          <a:xfrm>
            <a:off x="548640" y="4187952"/>
            <a:ext cx="3515258" cy="1700784"/>
          </a:xfrm>
          <a:prstGeom prst="roundRect">
            <a:avLst>
              <a:gd name="adj" fmla="val 7527"/>
            </a:avLst>
          </a:prstGeom>
          <a:solidFill>
            <a:schemeClr val="bg1"/>
          </a:solidFill>
          <a:ln/>
          <a:effectLst>
            <a:outerShdw sx="100000" sy="100000" kx="0" ky="0" algn="bl" rotWithShape="0" blurRad="203200" dist="38100" dir="5400000">
              <a:srgbClr val="0A1628">
                <a:alpha val="9000"/>
              </a:srgbClr>
            </a:outerShdw>
          </a:effectLst>
        </p:spPr>
      </p:sp>
      <p:sp>
        <p:nvSpPr>
          <p:cNvPr id="16" name="Shape 13"/>
          <p:cNvSpPr/>
          <p:nvPr/>
        </p:nvSpPr>
        <p:spPr>
          <a:xfrm>
            <a:off x="822960" y="4416552"/>
            <a:ext cx="384048" cy="384048"/>
          </a:xfrm>
          <a:prstGeom prst="ellipse">
            <a:avLst/>
          </a:prstGeom>
          <a:solidFill>
            <a:schemeClr val="accent1">
              <a:alpha val="12000"/>
            </a:schemeClr>
          </a:solidFill>
          <a:ln/>
        </p:spPr>
      </p:sp>
      <p:pic>
        <p:nvPicPr>
          <p:cNvPr id="17" name="Image 1" descr="preencoded.png">    </p:cNvPr>
          <p:cNvPicPr>
            <a:picLocks noChangeAspect="1"/>
          </p:cNvPicPr>
          <p:nvPr/>
        </p:nvPicPr>
        <p:blipFill>
          <a:blip r:embed="rId2"/>
          <a:stretch>
            <a:fillRect/>
          </a:stretch>
        </p:blipFill>
        <p:spPr>
          <a:xfrm>
            <a:off x="911291" y="4504883"/>
            <a:ext cx="207386" cy="207386"/>
          </a:xfrm>
          <a:prstGeom prst="rect">
            <a:avLst/>
          </a:prstGeom>
        </p:spPr>
      </p:pic>
      <p:sp>
        <p:nvSpPr>
          <p:cNvPr id="18" name="Text 14"/>
          <p:cNvSpPr txBox="1"/>
          <p:nvPr/>
        </p:nvSpPr>
        <p:spPr>
          <a:xfrm>
            <a:off x="1316736" y="4489704"/>
            <a:ext cx="2509418" cy="237744"/>
          </a:xfrm>
          <a:prstGeom prst="rect">
            <a:avLst/>
          </a:prstGeom>
          <a:noFill/>
          <a:ln/>
        </p:spPr>
        <p:txBody>
          <a:bodyPr wrap="square" lIns="0" tIns="0" rIns="0" bIns="0" rtlCol="0" anchor="ctr"/>
          <a:lstStyle/>
          <a:p>
            <a:pPr indent="0" marL="0">
              <a:buNone/>
            </a:pPr>
            <a:r>
              <a:rPr lang="en-US" sz="1100" b="1" spc="200" kern="0" dirty="0">
                <a:solidFill>
                  <a:schemeClr val="accent1"/>
                </a:solidFill>
              </a:rPr>
              <a:t>PASSENGERS</a:t>
            </a:r>
            <a:endParaRPr lang="en-US" sz="1100" dirty="0"/>
          </a:p>
        </p:txBody>
      </p:sp>
      <p:sp>
        <p:nvSpPr>
          <p:cNvPr id="19" name="Text 15"/>
          <p:cNvSpPr txBox="1"/>
          <p:nvPr/>
        </p:nvSpPr>
        <p:spPr>
          <a:xfrm>
            <a:off x="822960" y="4901184"/>
            <a:ext cx="3058058" cy="502920"/>
          </a:xfrm>
          <a:prstGeom prst="rect">
            <a:avLst/>
          </a:prstGeom>
          <a:noFill/>
          <a:ln/>
        </p:spPr>
        <p:txBody>
          <a:bodyPr wrap="square" lIns="0" tIns="0" rIns="0" bIns="0" rtlCol="0" anchor="ctr"/>
          <a:lstStyle/>
          <a:p>
            <a:pPr indent="0" marL="0">
              <a:buNone/>
            </a:pPr>
            <a:r>
              <a:rPr lang="en-US" sz="3000" b="1" dirty="0">
                <a:solidFill>
                  <a:schemeClr val="tx1"/>
                </a:solidFill>
              </a:rPr>
              <a:t>0 stops</a:t>
            </a:r>
            <a:endParaRPr lang="en-US" sz="3000" dirty="0"/>
          </a:p>
        </p:txBody>
      </p:sp>
      <p:sp>
        <p:nvSpPr>
          <p:cNvPr id="20" name="Text 16"/>
          <p:cNvSpPr txBox="1"/>
          <p:nvPr/>
        </p:nvSpPr>
        <p:spPr>
          <a:xfrm>
            <a:off x="822960" y="5449824"/>
            <a:ext cx="3058058" cy="274320"/>
          </a:xfrm>
          <a:prstGeom prst="rect">
            <a:avLst/>
          </a:prstGeom>
          <a:noFill/>
          <a:ln/>
        </p:spPr>
        <p:txBody>
          <a:bodyPr wrap="square" lIns="0" tIns="0" rIns="0" bIns="0" rtlCol="0" anchor="ctr"/>
          <a:lstStyle/>
          <a:p>
            <a:pPr indent="0" marL="0">
              <a:buNone/>
            </a:pPr>
            <a:r>
              <a:rPr lang="en-US" sz="1300" dirty="0">
                <a:solidFill>
                  <a:schemeClr val="tx2"/>
                </a:solidFill>
              </a:rPr>
              <a:t>Curb to gate in 8–11 min (target)</a:t>
            </a:r>
            <a:endParaRPr lang="en-US" sz="1300" dirty="0"/>
          </a:p>
        </p:txBody>
      </p:sp>
      <p:sp>
        <p:nvSpPr>
          <p:cNvPr id="21" name="Shape 17"/>
          <p:cNvSpPr/>
          <p:nvPr/>
        </p:nvSpPr>
        <p:spPr>
          <a:xfrm>
            <a:off x="4338218" y="4187952"/>
            <a:ext cx="3515258" cy="1700784"/>
          </a:xfrm>
          <a:prstGeom prst="roundRect">
            <a:avLst>
              <a:gd name="adj" fmla="val 7527"/>
            </a:avLst>
          </a:prstGeom>
          <a:solidFill>
            <a:schemeClr val="bg1"/>
          </a:solidFill>
          <a:ln/>
          <a:effectLst>
            <a:outerShdw sx="100000" sy="100000" kx="0" ky="0" algn="bl" rotWithShape="0" blurRad="203200" dist="38100" dir="5400000">
              <a:srgbClr val="0A1628">
                <a:alpha val="9000"/>
              </a:srgbClr>
            </a:outerShdw>
          </a:effectLst>
        </p:spPr>
      </p:sp>
      <p:sp>
        <p:nvSpPr>
          <p:cNvPr id="22" name="Shape 18"/>
          <p:cNvSpPr/>
          <p:nvPr/>
        </p:nvSpPr>
        <p:spPr>
          <a:xfrm>
            <a:off x="4612538" y="4416552"/>
            <a:ext cx="384048" cy="384048"/>
          </a:xfrm>
          <a:prstGeom prst="ellipse">
            <a:avLst/>
          </a:prstGeom>
          <a:solidFill>
            <a:schemeClr val="accent1">
              <a:alpha val="12000"/>
            </a:schemeClr>
          </a:solidFill>
          <a:ln/>
        </p:spPr>
      </p:sp>
      <p:pic>
        <p:nvPicPr>
          <p:cNvPr id="23" name="Image 2" descr="preencoded.png">    </p:cNvPr>
          <p:cNvPicPr>
            <a:picLocks noChangeAspect="1"/>
          </p:cNvPicPr>
          <p:nvPr/>
        </p:nvPicPr>
        <p:blipFill>
          <a:blip r:embed="rId3"/>
          <a:stretch>
            <a:fillRect/>
          </a:stretch>
        </p:blipFill>
        <p:spPr>
          <a:xfrm>
            <a:off x="4700869" y="4504883"/>
            <a:ext cx="207386" cy="207386"/>
          </a:xfrm>
          <a:prstGeom prst="rect">
            <a:avLst/>
          </a:prstGeom>
        </p:spPr>
      </p:pic>
      <p:sp>
        <p:nvSpPr>
          <p:cNvPr id="24" name="Text 19"/>
          <p:cNvSpPr txBox="1"/>
          <p:nvPr/>
        </p:nvSpPr>
        <p:spPr>
          <a:xfrm>
            <a:off x="5106314" y="4489704"/>
            <a:ext cx="2509418" cy="237744"/>
          </a:xfrm>
          <a:prstGeom prst="rect">
            <a:avLst/>
          </a:prstGeom>
          <a:noFill/>
          <a:ln/>
        </p:spPr>
        <p:txBody>
          <a:bodyPr wrap="square" lIns="0" tIns="0" rIns="0" bIns="0" rtlCol="0" anchor="ctr"/>
          <a:lstStyle/>
          <a:p>
            <a:pPr indent="0" marL="0">
              <a:buNone/>
            </a:pPr>
            <a:r>
              <a:rPr lang="en-US" sz="1100" b="1" spc="200" kern="0" dirty="0">
                <a:solidFill>
                  <a:schemeClr val="accent1"/>
                </a:solidFill>
              </a:rPr>
              <a:t>OPERATORS</a:t>
            </a:r>
            <a:endParaRPr lang="en-US" sz="1100" dirty="0"/>
          </a:p>
        </p:txBody>
      </p:sp>
      <p:sp>
        <p:nvSpPr>
          <p:cNvPr id="25" name="Text 20"/>
          <p:cNvSpPr txBox="1"/>
          <p:nvPr/>
        </p:nvSpPr>
        <p:spPr>
          <a:xfrm>
            <a:off x="4612538" y="4901184"/>
            <a:ext cx="3058058" cy="502920"/>
          </a:xfrm>
          <a:prstGeom prst="rect">
            <a:avLst/>
          </a:prstGeom>
          <a:noFill/>
          <a:ln/>
        </p:spPr>
        <p:txBody>
          <a:bodyPr wrap="square" lIns="0" tIns="0" rIns="0" bIns="0" rtlCol="0" anchor="ctr"/>
          <a:lstStyle/>
          <a:p>
            <a:pPr indent="0" marL="0">
              <a:buNone/>
            </a:pPr>
            <a:r>
              <a:rPr lang="en-US" sz="3000" b="1" dirty="0">
                <a:solidFill>
                  <a:schemeClr val="tx1"/>
                </a:solidFill>
              </a:rPr>
              <a:t>4 of 4</a:t>
            </a:r>
            <a:endParaRPr lang="en-US" sz="3000" dirty="0"/>
          </a:p>
        </p:txBody>
      </p:sp>
      <p:sp>
        <p:nvSpPr>
          <p:cNvPr id="26" name="Text 21"/>
          <p:cNvSpPr txBox="1"/>
          <p:nvPr/>
        </p:nvSpPr>
        <p:spPr>
          <a:xfrm>
            <a:off x="4612538" y="5449824"/>
            <a:ext cx="3058058" cy="274320"/>
          </a:xfrm>
          <a:prstGeom prst="rect">
            <a:avLst/>
          </a:prstGeom>
          <a:noFill/>
          <a:ln/>
        </p:spPr>
        <p:txBody>
          <a:bodyPr wrap="square" lIns="0" tIns="0" rIns="0" bIns="0" rtlCol="0" anchor="ctr"/>
          <a:lstStyle/>
          <a:p>
            <a:pPr indent="0" marL="0">
              <a:buNone/>
            </a:pPr>
            <a:r>
              <a:rPr lang="en-US" sz="1300" dirty="0">
                <a:solidFill>
                  <a:schemeClr val="tx2"/>
                </a:solidFill>
              </a:rPr>
              <a:t>Touchpoints automated</a:t>
            </a:r>
            <a:endParaRPr lang="en-US" sz="1300" dirty="0"/>
          </a:p>
        </p:txBody>
      </p:sp>
      <p:sp>
        <p:nvSpPr>
          <p:cNvPr id="27" name="Shape 22"/>
          <p:cNvSpPr/>
          <p:nvPr/>
        </p:nvSpPr>
        <p:spPr>
          <a:xfrm>
            <a:off x="8127797" y="4187952"/>
            <a:ext cx="3515258" cy="1700784"/>
          </a:xfrm>
          <a:prstGeom prst="roundRect">
            <a:avLst>
              <a:gd name="adj" fmla="val 7527"/>
            </a:avLst>
          </a:prstGeom>
          <a:solidFill>
            <a:schemeClr val="bg1"/>
          </a:solidFill>
          <a:ln/>
          <a:effectLst>
            <a:outerShdw sx="100000" sy="100000" kx="0" ky="0" algn="bl" rotWithShape="0" blurRad="203200" dist="38100" dir="5400000">
              <a:srgbClr val="0A1628">
                <a:alpha val="9000"/>
              </a:srgbClr>
            </a:outerShdw>
          </a:effectLst>
        </p:spPr>
      </p:sp>
      <p:sp>
        <p:nvSpPr>
          <p:cNvPr id="28" name="Shape 23"/>
          <p:cNvSpPr/>
          <p:nvPr/>
        </p:nvSpPr>
        <p:spPr>
          <a:xfrm>
            <a:off x="8402117" y="4416552"/>
            <a:ext cx="384048" cy="384048"/>
          </a:xfrm>
          <a:prstGeom prst="ellipse">
            <a:avLst/>
          </a:prstGeom>
          <a:solidFill>
            <a:schemeClr val="accent1">
              <a:alpha val="12000"/>
            </a:schemeClr>
          </a:solidFill>
          <a:ln/>
        </p:spPr>
      </p:sp>
      <p:pic>
        <p:nvPicPr>
          <p:cNvPr id="29" name="Image 3" descr="preencoded.png">    </p:cNvPr>
          <p:cNvPicPr>
            <a:picLocks noChangeAspect="1"/>
          </p:cNvPicPr>
          <p:nvPr/>
        </p:nvPicPr>
        <p:blipFill>
          <a:blip r:embed="rId4"/>
          <a:stretch>
            <a:fillRect/>
          </a:stretch>
        </p:blipFill>
        <p:spPr>
          <a:xfrm>
            <a:off x="8490448" y="4504883"/>
            <a:ext cx="207386" cy="207386"/>
          </a:xfrm>
          <a:prstGeom prst="rect">
            <a:avLst/>
          </a:prstGeom>
        </p:spPr>
      </p:pic>
      <p:sp>
        <p:nvSpPr>
          <p:cNvPr id="30" name="Text 24"/>
          <p:cNvSpPr txBox="1"/>
          <p:nvPr/>
        </p:nvSpPr>
        <p:spPr>
          <a:xfrm>
            <a:off x="8895893" y="4489704"/>
            <a:ext cx="2509418" cy="237744"/>
          </a:xfrm>
          <a:prstGeom prst="rect">
            <a:avLst/>
          </a:prstGeom>
          <a:noFill/>
          <a:ln/>
        </p:spPr>
        <p:txBody>
          <a:bodyPr wrap="square" lIns="0" tIns="0" rIns="0" bIns="0" rtlCol="0" anchor="ctr"/>
          <a:lstStyle/>
          <a:p>
            <a:pPr indent="0" marL="0">
              <a:buNone/>
            </a:pPr>
            <a:r>
              <a:rPr lang="en-US" sz="1100" b="1" spc="200" kern="0" dirty="0">
                <a:solidFill>
                  <a:schemeClr val="accent1"/>
                </a:solidFill>
              </a:rPr>
              <a:t>SECURITY</a:t>
            </a:r>
            <a:endParaRPr lang="en-US" sz="1100" dirty="0"/>
          </a:p>
        </p:txBody>
      </p:sp>
      <p:sp>
        <p:nvSpPr>
          <p:cNvPr id="31" name="Text 25"/>
          <p:cNvSpPr txBox="1"/>
          <p:nvPr/>
        </p:nvSpPr>
        <p:spPr>
          <a:xfrm>
            <a:off x="8402117" y="4901184"/>
            <a:ext cx="3058058" cy="502920"/>
          </a:xfrm>
          <a:prstGeom prst="rect">
            <a:avLst/>
          </a:prstGeom>
          <a:noFill/>
          <a:ln/>
        </p:spPr>
        <p:txBody>
          <a:bodyPr wrap="square" lIns="0" tIns="0" rIns="0" bIns="0" rtlCol="0" anchor="ctr"/>
          <a:lstStyle/>
          <a:p>
            <a:pPr indent="0" marL="0">
              <a:buNone/>
            </a:pPr>
            <a:r>
              <a:rPr lang="en-US" sz="3000" b="1" dirty="0">
                <a:solidFill>
                  <a:schemeClr val="tx1"/>
                </a:solidFill>
              </a:rPr>
              <a:t>1 view</a:t>
            </a:r>
            <a:endParaRPr lang="en-US" sz="3000" dirty="0"/>
          </a:p>
        </p:txBody>
      </p:sp>
      <p:sp>
        <p:nvSpPr>
          <p:cNvPr id="32" name="Text 26"/>
          <p:cNvSpPr txBox="1"/>
          <p:nvPr/>
        </p:nvSpPr>
        <p:spPr>
          <a:xfrm>
            <a:off x="8402117" y="5449824"/>
            <a:ext cx="3058058" cy="274320"/>
          </a:xfrm>
          <a:prstGeom prst="rect">
            <a:avLst/>
          </a:prstGeom>
          <a:noFill/>
          <a:ln/>
        </p:spPr>
        <p:txBody>
          <a:bodyPr wrap="square" lIns="0" tIns="0" rIns="0" bIns="0" rtlCol="0" anchor="ctr"/>
          <a:lstStyle/>
          <a:p>
            <a:pPr indent="0" marL="0">
              <a:buNone/>
            </a:pPr>
            <a:r>
              <a:rPr lang="en-US" sz="1300" dirty="0">
                <a:solidFill>
                  <a:schemeClr val="tx2"/>
                </a:solidFill>
              </a:rPr>
              <a:t>Every lane, clearance and incident</a:t>
            </a:r>
            <a:endParaRPr lang="en-US" sz="1300" dirty="0"/>
          </a:p>
        </p:txBody>
      </p:sp>
      <p:sp>
        <p:nvSpPr>
          <p:cNvPr id="33" name="Text 27"/>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tx2"/>
                </a:solidFill>
              </a:rPr>
              <a:t>Curb-to-gate time is a target, to be validated at the airport demonstration. ROI is anchored on officer hours and capacity gained without new terminal space.</a:t>
            </a:r>
            <a:endParaRPr lang="en-US" sz="10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Time to Market</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A clear buyer, model and path to scale</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Land one lane in a brownfield terminal, then expand as value is proven.</a:t>
            </a:r>
            <a:endParaRPr lang="en-US" sz="1500" dirty="0"/>
          </a:p>
        </p:txBody>
      </p:sp>
      <p:sp>
        <p:nvSpPr>
          <p:cNvPr id="5" name="Shape 3"/>
          <p:cNvSpPr/>
          <p:nvPr/>
        </p:nvSpPr>
        <p:spPr>
          <a:xfrm>
            <a:off x="548640" y="2057400"/>
            <a:ext cx="3515258" cy="3794760"/>
          </a:xfrm>
          <a:prstGeom prst="roundRect">
            <a:avLst>
              <a:gd name="adj" fmla="val 3642"/>
            </a:avLst>
          </a:prstGeom>
          <a:solidFill>
            <a:schemeClr val="bg1"/>
          </a:solidFill>
          <a:ln/>
          <a:effectLst>
            <a:outerShdw sx="100000" sy="100000" kx="0" ky="0" algn="bl" rotWithShape="0" blurRad="203200" dist="38100" dir="5400000">
              <a:srgbClr val="0A1628">
                <a:alpha val="9000"/>
              </a:srgbClr>
            </a:outerShdw>
          </a:effectLst>
        </p:spPr>
      </p:sp>
      <p:sp>
        <p:nvSpPr>
          <p:cNvPr id="6" name="Shape 4"/>
          <p:cNvSpPr/>
          <p:nvPr/>
        </p:nvSpPr>
        <p:spPr>
          <a:xfrm>
            <a:off x="822960" y="2331720"/>
            <a:ext cx="438912" cy="438912"/>
          </a:xfrm>
          <a:prstGeom prst="ellipse">
            <a:avLst/>
          </a:prstGeom>
          <a:solidFill>
            <a:schemeClr val="accent1">
              <a:alpha val="12000"/>
            </a:schemeClr>
          </a:solidFill>
          <a:ln/>
        </p:spPr>
      </p:sp>
      <p:pic>
        <p:nvPicPr>
          <p:cNvPr id="7" name="Image 0" descr="preencoded.png">    </p:cNvPr>
          <p:cNvPicPr>
            <a:picLocks noChangeAspect="1"/>
          </p:cNvPicPr>
          <p:nvPr/>
        </p:nvPicPr>
        <p:blipFill>
          <a:blip r:embed="rId1"/>
          <a:stretch>
            <a:fillRect/>
          </a:stretch>
        </p:blipFill>
        <p:spPr>
          <a:xfrm>
            <a:off x="923910" y="2432670"/>
            <a:ext cx="237012" cy="237012"/>
          </a:xfrm>
          <a:prstGeom prst="rect">
            <a:avLst/>
          </a:prstGeom>
        </p:spPr>
      </p:pic>
      <p:sp>
        <p:nvSpPr>
          <p:cNvPr id="8" name="Text 5"/>
          <p:cNvSpPr txBox="1"/>
          <p:nvPr/>
        </p:nvSpPr>
        <p:spPr>
          <a:xfrm>
            <a:off x="1389888" y="2331720"/>
            <a:ext cx="2509418" cy="438912"/>
          </a:xfrm>
          <a:prstGeom prst="rect">
            <a:avLst/>
          </a:prstGeom>
          <a:noFill/>
          <a:ln/>
        </p:spPr>
        <p:txBody>
          <a:bodyPr wrap="square" lIns="0" tIns="0" rIns="0" bIns="0" rtlCol="0" anchor="ctr"/>
          <a:lstStyle/>
          <a:p>
            <a:pPr indent="0" marL="0">
              <a:buNone/>
            </a:pPr>
            <a:r>
              <a:rPr lang="en-US" sz="1800" b="1" dirty="0">
                <a:solidFill>
                  <a:schemeClr val="tx1"/>
                </a:solidFill>
              </a:rPr>
              <a:t>Buyer ecosystem</a:t>
            </a:r>
            <a:endParaRPr lang="en-US" sz="1800" dirty="0"/>
          </a:p>
        </p:txBody>
      </p:sp>
      <p:sp>
        <p:nvSpPr>
          <p:cNvPr id="9" name="Shape 6"/>
          <p:cNvSpPr/>
          <p:nvPr/>
        </p:nvSpPr>
        <p:spPr>
          <a:xfrm>
            <a:off x="4338218" y="2057400"/>
            <a:ext cx="3515258" cy="3794760"/>
          </a:xfrm>
          <a:prstGeom prst="roundRect">
            <a:avLst>
              <a:gd name="adj" fmla="val 3642"/>
            </a:avLst>
          </a:prstGeom>
          <a:solidFill>
            <a:schemeClr val="bg1"/>
          </a:solidFill>
          <a:ln/>
          <a:effectLst>
            <a:outerShdw sx="100000" sy="100000" kx="0" ky="0" algn="bl" rotWithShape="0" blurRad="203200" dist="38100" dir="5400000">
              <a:srgbClr val="0A1628">
                <a:alpha val="9000"/>
              </a:srgbClr>
            </a:outerShdw>
          </a:effectLst>
        </p:spPr>
      </p:sp>
      <p:sp>
        <p:nvSpPr>
          <p:cNvPr id="10" name="Shape 7"/>
          <p:cNvSpPr/>
          <p:nvPr/>
        </p:nvSpPr>
        <p:spPr>
          <a:xfrm>
            <a:off x="4612538" y="2331720"/>
            <a:ext cx="438912" cy="438912"/>
          </a:xfrm>
          <a:prstGeom prst="ellipse">
            <a:avLst/>
          </a:prstGeom>
          <a:solidFill>
            <a:schemeClr val="accent1">
              <a:alpha val="12000"/>
            </a:schemeClr>
          </a:solidFill>
          <a:ln/>
        </p:spPr>
      </p:sp>
      <p:pic>
        <p:nvPicPr>
          <p:cNvPr id="11" name="Image 1" descr="preencoded.png">    </p:cNvPr>
          <p:cNvPicPr>
            <a:picLocks noChangeAspect="1"/>
          </p:cNvPicPr>
          <p:nvPr/>
        </p:nvPicPr>
        <p:blipFill>
          <a:blip r:embed="rId2"/>
          <a:stretch>
            <a:fillRect/>
          </a:stretch>
        </p:blipFill>
        <p:spPr>
          <a:xfrm>
            <a:off x="4713488" y="2432670"/>
            <a:ext cx="237012" cy="237012"/>
          </a:xfrm>
          <a:prstGeom prst="rect">
            <a:avLst/>
          </a:prstGeom>
        </p:spPr>
      </p:pic>
      <p:sp>
        <p:nvSpPr>
          <p:cNvPr id="12" name="Text 8"/>
          <p:cNvSpPr txBox="1"/>
          <p:nvPr/>
        </p:nvSpPr>
        <p:spPr>
          <a:xfrm>
            <a:off x="5179466" y="2331720"/>
            <a:ext cx="2509418" cy="438912"/>
          </a:xfrm>
          <a:prstGeom prst="rect">
            <a:avLst/>
          </a:prstGeom>
          <a:noFill/>
          <a:ln/>
        </p:spPr>
        <p:txBody>
          <a:bodyPr wrap="square" lIns="0" tIns="0" rIns="0" bIns="0" rtlCol="0" anchor="ctr"/>
          <a:lstStyle/>
          <a:p>
            <a:pPr indent="0" marL="0">
              <a:buNone/>
            </a:pPr>
            <a:r>
              <a:rPr lang="en-US" sz="1800" b="1" dirty="0">
                <a:solidFill>
                  <a:schemeClr val="tx1"/>
                </a:solidFill>
              </a:rPr>
              <a:t>Commercial model</a:t>
            </a:r>
            <a:endParaRPr lang="en-US" sz="1800" dirty="0"/>
          </a:p>
        </p:txBody>
      </p:sp>
      <p:sp>
        <p:nvSpPr>
          <p:cNvPr id="13" name="Shape 9"/>
          <p:cNvSpPr/>
          <p:nvPr/>
        </p:nvSpPr>
        <p:spPr>
          <a:xfrm>
            <a:off x="8127797" y="2057400"/>
            <a:ext cx="3515258" cy="3794760"/>
          </a:xfrm>
          <a:prstGeom prst="roundRect">
            <a:avLst>
              <a:gd name="adj" fmla="val 3642"/>
            </a:avLst>
          </a:prstGeom>
          <a:solidFill>
            <a:schemeClr val="bg1"/>
          </a:solidFill>
          <a:ln/>
          <a:effectLst>
            <a:outerShdw sx="100000" sy="100000" kx="0" ky="0" algn="bl" rotWithShape="0" blurRad="203200" dist="38100" dir="5400000">
              <a:srgbClr val="0A1628">
                <a:alpha val="9000"/>
              </a:srgbClr>
            </a:outerShdw>
          </a:effectLst>
        </p:spPr>
      </p:sp>
      <p:sp>
        <p:nvSpPr>
          <p:cNvPr id="14" name="Shape 10"/>
          <p:cNvSpPr/>
          <p:nvPr/>
        </p:nvSpPr>
        <p:spPr>
          <a:xfrm>
            <a:off x="8402117" y="2331720"/>
            <a:ext cx="438912" cy="438912"/>
          </a:xfrm>
          <a:prstGeom prst="ellipse">
            <a:avLst/>
          </a:prstGeom>
          <a:solidFill>
            <a:schemeClr val="accent1">
              <a:alpha val="12000"/>
            </a:schemeClr>
          </a:solidFill>
          <a:ln/>
        </p:spPr>
      </p:sp>
      <p:pic>
        <p:nvPicPr>
          <p:cNvPr id="15" name="Image 2" descr="preencoded.png">    </p:cNvPr>
          <p:cNvPicPr>
            <a:picLocks noChangeAspect="1"/>
          </p:cNvPicPr>
          <p:nvPr/>
        </p:nvPicPr>
        <p:blipFill>
          <a:blip r:embed="rId3"/>
          <a:stretch>
            <a:fillRect/>
          </a:stretch>
        </p:blipFill>
        <p:spPr>
          <a:xfrm>
            <a:off x="8503067" y="2432670"/>
            <a:ext cx="237012" cy="237012"/>
          </a:xfrm>
          <a:prstGeom prst="rect">
            <a:avLst/>
          </a:prstGeom>
        </p:spPr>
      </p:pic>
      <p:sp>
        <p:nvSpPr>
          <p:cNvPr id="16" name="Text 11"/>
          <p:cNvSpPr txBox="1"/>
          <p:nvPr/>
        </p:nvSpPr>
        <p:spPr>
          <a:xfrm>
            <a:off x="8969045" y="2331720"/>
            <a:ext cx="2509418" cy="438912"/>
          </a:xfrm>
          <a:prstGeom prst="rect">
            <a:avLst/>
          </a:prstGeom>
          <a:noFill/>
          <a:ln/>
        </p:spPr>
        <p:txBody>
          <a:bodyPr wrap="square" lIns="0" tIns="0" rIns="0" bIns="0" rtlCol="0" anchor="ctr"/>
          <a:lstStyle/>
          <a:p>
            <a:pPr indent="0" marL="0">
              <a:buNone/>
            </a:pPr>
            <a:r>
              <a:rPr lang="en-US" sz="1800" b="1" dirty="0">
                <a:solidFill>
                  <a:schemeClr val="tx1"/>
                </a:solidFill>
              </a:rPr>
              <a:t>How we scale</a:t>
            </a:r>
            <a:endParaRPr lang="en-US" sz="1800" dirty="0"/>
          </a:p>
        </p:txBody>
      </p:sp>
      <p:pic>
        <p:nvPicPr>
          <p:cNvPr id="17" name="Image 3" descr="preencoded.png">    </p:cNvPr>
          <p:cNvPicPr>
            <a:picLocks noChangeAspect="1"/>
          </p:cNvPicPr>
          <p:nvPr/>
        </p:nvPicPr>
        <p:blipFill>
          <a:blip r:embed="rId4"/>
          <a:stretch>
            <a:fillRect/>
          </a:stretch>
        </p:blipFill>
        <p:spPr>
          <a:xfrm>
            <a:off x="841248" y="3054096"/>
            <a:ext cx="256032" cy="256032"/>
          </a:xfrm>
          <a:prstGeom prst="rect">
            <a:avLst/>
          </a:prstGeom>
        </p:spPr>
      </p:pic>
      <p:sp>
        <p:nvSpPr>
          <p:cNvPr id="18" name="Text 12"/>
          <p:cNvSpPr txBox="1"/>
          <p:nvPr/>
        </p:nvSpPr>
        <p:spPr>
          <a:xfrm>
            <a:off x="1280160" y="3017520"/>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Primary buyer</a:t>
            </a:r>
            <a:endParaRPr lang="en-US" sz="1500" dirty="0"/>
          </a:p>
        </p:txBody>
      </p:sp>
      <p:sp>
        <p:nvSpPr>
          <p:cNvPr id="19" name="Text 13"/>
          <p:cNvSpPr txBox="1"/>
          <p:nvPr/>
        </p:nvSpPr>
        <p:spPr>
          <a:xfrm>
            <a:off x="1280160" y="3310128"/>
            <a:ext cx="2600858" cy="292608"/>
          </a:xfrm>
          <a:prstGeom prst="rect">
            <a:avLst/>
          </a:prstGeom>
          <a:noFill/>
          <a:ln/>
        </p:spPr>
        <p:txBody>
          <a:bodyPr wrap="square" lIns="0" tIns="0" rIns="0" bIns="0" rtlCol="0" anchor="ctr"/>
          <a:lstStyle/>
          <a:p>
            <a:pPr indent="0" marL="0">
              <a:buNone/>
            </a:pPr>
            <a:r>
              <a:rPr lang="en-US" sz="1300" dirty="0">
                <a:solidFill>
                  <a:schemeClr val="tx2"/>
                </a:solidFill>
              </a:rPr>
              <a:t>Tier-2 airports, ME &amp; SE Asia</a:t>
            </a:r>
            <a:endParaRPr lang="en-US" sz="1300" dirty="0"/>
          </a:p>
        </p:txBody>
      </p:sp>
      <p:pic>
        <p:nvPicPr>
          <p:cNvPr id="20" name="Image 4" descr="preencoded.png">    </p:cNvPr>
          <p:cNvPicPr>
            <a:picLocks noChangeAspect="1"/>
          </p:cNvPicPr>
          <p:nvPr/>
        </p:nvPicPr>
        <p:blipFill>
          <a:blip r:embed="rId5"/>
          <a:stretch>
            <a:fillRect/>
          </a:stretch>
        </p:blipFill>
        <p:spPr>
          <a:xfrm>
            <a:off x="841248" y="3767328"/>
            <a:ext cx="256032" cy="256032"/>
          </a:xfrm>
          <a:prstGeom prst="rect">
            <a:avLst/>
          </a:prstGeom>
        </p:spPr>
      </p:pic>
      <p:sp>
        <p:nvSpPr>
          <p:cNvPr id="21" name="Text 14"/>
          <p:cNvSpPr txBox="1"/>
          <p:nvPr/>
        </p:nvSpPr>
        <p:spPr>
          <a:xfrm>
            <a:off x="1280160" y="3730752"/>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Co-decides</a:t>
            </a:r>
            <a:endParaRPr lang="en-US" sz="1500" dirty="0"/>
          </a:p>
        </p:txBody>
      </p:sp>
      <p:sp>
        <p:nvSpPr>
          <p:cNvPr id="22" name="Text 15"/>
          <p:cNvSpPr txBox="1"/>
          <p:nvPr/>
        </p:nvSpPr>
        <p:spPr>
          <a:xfrm>
            <a:off x="1280160" y="4023360"/>
            <a:ext cx="2600858" cy="292608"/>
          </a:xfrm>
          <a:prstGeom prst="rect">
            <a:avLst/>
          </a:prstGeom>
          <a:noFill/>
          <a:ln/>
        </p:spPr>
        <p:txBody>
          <a:bodyPr wrap="square" lIns="0" tIns="0" rIns="0" bIns="0" rtlCol="0" anchor="ctr"/>
          <a:lstStyle/>
          <a:p>
            <a:pPr indent="0" marL="0">
              <a:buNone/>
            </a:pPr>
            <a:r>
              <a:rPr lang="en-US" sz="1300" dirty="0">
                <a:solidFill>
                  <a:schemeClr val="tx2"/>
                </a:solidFill>
              </a:rPr>
              <a:t>Immigration and border agencies</a:t>
            </a:r>
            <a:endParaRPr lang="en-US" sz="1300" dirty="0"/>
          </a:p>
        </p:txBody>
      </p:sp>
      <p:pic>
        <p:nvPicPr>
          <p:cNvPr id="23" name="Image 5" descr="preencoded.png">    </p:cNvPr>
          <p:cNvPicPr>
            <a:picLocks noChangeAspect="1"/>
          </p:cNvPicPr>
          <p:nvPr/>
        </p:nvPicPr>
        <p:blipFill>
          <a:blip r:embed="rId6"/>
          <a:stretch>
            <a:fillRect/>
          </a:stretch>
        </p:blipFill>
        <p:spPr>
          <a:xfrm>
            <a:off x="841248" y="4480560"/>
            <a:ext cx="256032" cy="256032"/>
          </a:xfrm>
          <a:prstGeom prst="rect">
            <a:avLst/>
          </a:prstGeom>
        </p:spPr>
      </p:pic>
      <p:sp>
        <p:nvSpPr>
          <p:cNvPr id="24" name="Text 16"/>
          <p:cNvSpPr txBox="1"/>
          <p:nvPr/>
        </p:nvSpPr>
        <p:spPr>
          <a:xfrm>
            <a:off x="1280160" y="4443984"/>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Enabler</a:t>
            </a:r>
            <a:endParaRPr lang="en-US" sz="1500" dirty="0"/>
          </a:p>
        </p:txBody>
      </p:sp>
      <p:sp>
        <p:nvSpPr>
          <p:cNvPr id="25" name="Text 17"/>
          <p:cNvSpPr txBox="1"/>
          <p:nvPr/>
        </p:nvSpPr>
        <p:spPr>
          <a:xfrm>
            <a:off x="1280160" y="4736592"/>
            <a:ext cx="2600858" cy="292608"/>
          </a:xfrm>
          <a:prstGeom prst="rect">
            <a:avLst/>
          </a:prstGeom>
          <a:noFill/>
          <a:ln/>
        </p:spPr>
        <p:txBody>
          <a:bodyPr wrap="square" lIns="0" tIns="0" rIns="0" bIns="0" rtlCol="0" anchor="ctr"/>
          <a:lstStyle/>
          <a:p>
            <a:pPr indent="0" marL="0">
              <a:buNone/>
            </a:pPr>
            <a:r>
              <a:rPr lang="en-US" sz="1300" dirty="0">
                <a:solidFill>
                  <a:schemeClr val="tx2"/>
                </a:solidFill>
              </a:rPr>
              <a:t>Airlines, via their own apps</a:t>
            </a:r>
            <a:endParaRPr lang="en-US" sz="1300" dirty="0"/>
          </a:p>
        </p:txBody>
      </p:sp>
      <p:pic>
        <p:nvPicPr>
          <p:cNvPr id="26" name="Image 6" descr="preencoded.png">    </p:cNvPr>
          <p:cNvPicPr>
            <a:picLocks noChangeAspect="1"/>
          </p:cNvPicPr>
          <p:nvPr/>
        </p:nvPicPr>
        <p:blipFill>
          <a:blip r:embed="rId7"/>
          <a:stretch>
            <a:fillRect/>
          </a:stretch>
        </p:blipFill>
        <p:spPr>
          <a:xfrm>
            <a:off x="841248" y="5193792"/>
            <a:ext cx="256032" cy="256032"/>
          </a:xfrm>
          <a:prstGeom prst="rect">
            <a:avLst/>
          </a:prstGeom>
        </p:spPr>
      </p:pic>
      <p:sp>
        <p:nvSpPr>
          <p:cNvPr id="27" name="Text 18"/>
          <p:cNvSpPr txBox="1"/>
          <p:nvPr/>
        </p:nvSpPr>
        <p:spPr>
          <a:xfrm>
            <a:off x="1280160" y="5157216"/>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End user</a:t>
            </a:r>
            <a:endParaRPr lang="en-US" sz="1500" dirty="0"/>
          </a:p>
        </p:txBody>
      </p:sp>
      <p:sp>
        <p:nvSpPr>
          <p:cNvPr id="28" name="Text 19"/>
          <p:cNvSpPr txBox="1"/>
          <p:nvPr/>
        </p:nvSpPr>
        <p:spPr>
          <a:xfrm>
            <a:off x="1280160" y="5449824"/>
            <a:ext cx="2600858" cy="292608"/>
          </a:xfrm>
          <a:prstGeom prst="rect">
            <a:avLst/>
          </a:prstGeom>
          <a:noFill/>
          <a:ln/>
        </p:spPr>
        <p:txBody>
          <a:bodyPr wrap="square" lIns="0" tIns="0" rIns="0" bIns="0" rtlCol="0" anchor="ctr"/>
          <a:lstStyle/>
          <a:p>
            <a:pPr indent="0" marL="0">
              <a:buNone/>
            </a:pPr>
            <a:r>
              <a:rPr lang="en-US" sz="1300" dirty="0">
                <a:solidFill>
                  <a:schemeClr val="tx2"/>
                </a:solidFill>
              </a:rPr>
              <a:t>Travellers, enrolled once in the app</a:t>
            </a:r>
            <a:endParaRPr lang="en-US" sz="1300" dirty="0"/>
          </a:p>
        </p:txBody>
      </p:sp>
      <p:pic>
        <p:nvPicPr>
          <p:cNvPr id="29" name="Image 7" descr="preencoded.png">    </p:cNvPr>
          <p:cNvPicPr>
            <a:picLocks noChangeAspect="1"/>
          </p:cNvPicPr>
          <p:nvPr/>
        </p:nvPicPr>
        <p:blipFill>
          <a:blip r:embed="rId8"/>
          <a:stretch>
            <a:fillRect/>
          </a:stretch>
        </p:blipFill>
        <p:spPr>
          <a:xfrm>
            <a:off x="4630826" y="3054096"/>
            <a:ext cx="256032" cy="256032"/>
          </a:xfrm>
          <a:prstGeom prst="rect">
            <a:avLst/>
          </a:prstGeom>
        </p:spPr>
      </p:pic>
      <p:sp>
        <p:nvSpPr>
          <p:cNvPr id="30" name="Text 20"/>
          <p:cNvSpPr txBox="1"/>
          <p:nvPr/>
        </p:nvSpPr>
        <p:spPr>
          <a:xfrm>
            <a:off x="5069738" y="3017520"/>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Lane hardware</a:t>
            </a:r>
            <a:endParaRPr lang="en-US" sz="1500" dirty="0"/>
          </a:p>
        </p:txBody>
      </p:sp>
      <p:sp>
        <p:nvSpPr>
          <p:cNvPr id="31" name="Text 21"/>
          <p:cNvSpPr txBox="1"/>
          <p:nvPr/>
        </p:nvSpPr>
        <p:spPr>
          <a:xfrm>
            <a:off x="5069738" y="3310128"/>
            <a:ext cx="2600858" cy="292608"/>
          </a:xfrm>
          <a:prstGeom prst="rect">
            <a:avLst/>
          </a:prstGeom>
          <a:noFill/>
          <a:ln/>
        </p:spPr>
        <p:txBody>
          <a:bodyPr wrap="square" lIns="0" tIns="0" rIns="0" bIns="0" rtlCol="0" anchor="ctr"/>
          <a:lstStyle/>
          <a:p>
            <a:pPr indent="0" marL="0">
              <a:buNone/>
            </a:pPr>
            <a:r>
              <a:rPr lang="en-US" sz="1300" dirty="0">
                <a:solidFill>
                  <a:schemeClr val="tx2"/>
                </a:solidFill>
              </a:rPr>
              <a:t>One-off: e-gate, reader, kiosk</a:t>
            </a:r>
            <a:endParaRPr lang="en-US" sz="1300" dirty="0"/>
          </a:p>
        </p:txBody>
      </p:sp>
      <p:pic>
        <p:nvPicPr>
          <p:cNvPr id="32" name="Image 8" descr="preencoded.png">    </p:cNvPr>
          <p:cNvPicPr>
            <a:picLocks noChangeAspect="1"/>
          </p:cNvPicPr>
          <p:nvPr/>
        </p:nvPicPr>
        <p:blipFill>
          <a:blip r:embed="rId9"/>
          <a:stretch>
            <a:fillRect/>
          </a:stretch>
        </p:blipFill>
        <p:spPr>
          <a:xfrm>
            <a:off x="4630826" y="3767328"/>
            <a:ext cx="256032" cy="256032"/>
          </a:xfrm>
          <a:prstGeom prst="rect">
            <a:avLst/>
          </a:prstGeom>
        </p:spPr>
      </p:pic>
      <p:sp>
        <p:nvSpPr>
          <p:cNvPr id="33" name="Text 22"/>
          <p:cNvSpPr txBox="1"/>
          <p:nvPr/>
        </p:nvSpPr>
        <p:spPr>
          <a:xfrm>
            <a:off x="5069738" y="3730752"/>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ISMP licence</a:t>
            </a:r>
            <a:endParaRPr lang="en-US" sz="1500" dirty="0"/>
          </a:p>
        </p:txBody>
      </p:sp>
      <p:sp>
        <p:nvSpPr>
          <p:cNvPr id="34" name="Text 23"/>
          <p:cNvSpPr txBox="1"/>
          <p:nvPr/>
        </p:nvSpPr>
        <p:spPr>
          <a:xfrm>
            <a:off x="5069738" y="4023360"/>
            <a:ext cx="2600858" cy="292608"/>
          </a:xfrm>
          <a:prstGeom prst="rect">
            <a:avLst/>
          </a:prstGeom>
          <a:noFill/>
          <a:ln/>
        </p:spPr>
        <p:txBody>
          <a:bodyPr wrap="square" lIns="0" tIns="0" rIns="0" bIns="0" rtlCol="0" anchor="ctr"/>
          <a:lstStyle/>
          <a:p>
            <a:pPr indent="0" marL="0">
              <a:buNone/>
            </a:pPr>
            <a:r>
              <a:rPr lang="en-US" sz="1300" dirty="0">
                <a:solidFill>
                  <a:schemeClr val="tx2"/>
                </a:solidFill>
              </a:rPr>
              <a:t>Recurring, by deployment scope</a:t>
            </a:r>
            <a:endParaRPr lang="en-US" sz="1300" dirty="0"/>
          </a:p>
        </p:txBody>
      </p:sp>
      <p:pic>
        <p:nvPicPr>
          <p:cNvPr id="35" name="Image 9" descr="preencoded.png">    </p:cNvPr>
          <p:cNvPicPr>
            <a:picLocks noChangeAspect="1"/>
          </p:cNvPicPr>
          <p:nvPr/>
        </p:nvPicPr>
        <p:blipFill>
          <a:blip r:embed="rId10"/>
          <a:stretch>
            <a:fillRect/>
          </a:stretch>
        </p:blipFill>
        <p:spPr>
          <a:xfrm>
            <a:off x="4630826" y="4480560"/>
            <a:ext cx="256032" cy="256032"/>
          </a:xfrm>
          <a:prstGeom prst="rect">
            <a:avLst/>
          </a:prstGeom>
        </p:spPr>
      </p:pic>
      <p:sp>
        <p:nvSpPr>
          <p:cNvPr id="36" name="Text 24"/>
          <p:cNvSpPr txBox="1"/>
          <p:nvPr/>
        </p:nvSpPr>
        <p:spPr>
          <a:xfrm>
            <a:off x="5069738" y="4443984"/>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Integration</a:t>
            </a:r>
            <a:endParaRPr lang="en-US" sz="1500" dirty="0"/>
          </a:p>
        </p:txBody>
      </p:sp>
      <p:sp>
        <p:nvSpPr>
          <p:cNvPr id="37" name="Text 25"/>
          <p:cNvSpPr txBox="1"/>
          <p:nvPr/>
        </p:nvSpPr>
        <p:spPr>
          <a:xfrm>
            <a:off x="5069738" y="4736592"/>
            <a:ext cx="2600858" cy="292608"/>
          </a:xfrm>
          <a:prstGeom prst="rect">
            <a:avLst/>
          </a:prstGeom>
          <a:noFill/>
          <a:ln/>
        </p:spPr>
        <p:txBody>
          <a:bodyPr wrap="square" lIns="0" tIns="0" rIns="0" bIns="0" rtlCol="0" anchor="ctr"/>
          <a:lstStyle/>
          <a:p>
            <a:pPr indent="0" marL="0">
              <a:buNone/>
            </a:pPr>
            <a:r>
              <a:rPr lang="en-US" sz="1300" dirty="0">
                <a:solidFill>
                  <a:schemeClr val="tx2"/>
                </a:solidFill>
              </a:rPr>
              <a:t>Project: configure and deploy</a:t>
            </a:r>
            <a:endParaRPr lang="en-US" sz="1300" dirty="0"/>
          </a:p>
        </p:txBody>
      </p:sp>
      <p:pic>
        <p:nvPicPr>
          <p:cNvPr id="38" name="Image 10" descr="preencoded.png">    </p:cNvPr>
          <p:cNvPicPr>
            <a:picLocks noChangeAspect="1"/>
          </p:cNvPicPr>
          <p:nvPr/>
        </p:nvPicPr>
        <p:blipFill>
          <a:blip r:embed="rId11"/>
          <a:stretch>
            <a:fillRect/>
          </a:stretch>
        </p:blipFill>
        <p:spPr>
          <a:xfrm>
            <a:off x="4630826" y="5193792"/>
            <a:ext cx="256032" cy="256032"/>
          </a:xfrm>
          <a:prstGeom prst="rect">
            <a:avLst/>
          </a:prstGeom>
        </p:spPr>
      </p:pic>
      <p:sp>
        <p:nvSpPr>
          <p:cNvPr id="39" name="Text 26"/>
          <p:cNvSpPr txBox="1"/>
          <p:nvPr/>
        </p:nvSpPr>
        <p:spPr>
          <a:xfrm>
            <a:off x="5069738" y="5157216"/>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Support</a:t>
            </a:r>
            <a:endParaRPr lang="en-US" sz="1500" dirty="0"/>
          </a:p>
        </p:txBody>
      </p:sp>
      <p:sp>
        <p:nvSpPr>
          <p:cNvPr id="40" name="Text 27"/>
          <p:cNvSpPr txBox="1"/>
          <p:nvPr/>
        </p:nvSpPr>
        <p:spPr>
          <a:xfrm>
            <a:off x="5069738" y="5449824"/>
            <a:ext cx="2600858" cy="292608"/>
          </a:xfrm>
          <a:prstGeom prst="rect">
            <a:avLst/>
          </a:prstGeom>
          <a:noFill/>
          <a:ln/>
        </p:spPr>
        <p:txBody>
          <a:bodyPr wrap="square" lIns="0" tIns="0" rIns="0" bIns="0" rtlCol="0" anchor="ctr"/>
          <a:lstStyle/>
          <a:p>
            <a:pPr indent="0" marL="0">
              <a:buNone/>
            </a:pPr>
            <a:r>
              <a:rPr lang="en-US" sz="1300" dirty="0">
                <a:solidFill>
                  <a:schemeClr val="tx2"/>
                </a:solidFill>
              </a:rPr>
              <a:t>Annual maintenance and SLA</a:t>
            </a:r>
            <a:endParaRPr lang="en-US" sz="1300" dirty="0"/>
          </a:p>
        </p:txBody>
      </p:sp>
      <p:sp>
        <p:nvSpPr>
          <p:cNvPr id="41" name="Shape 28"/>
          <p:cNvSpPr/>
          <p:nvPr/>
        </p:nvSpPr>
        <p:spPr>
          <a:xfrm>
            <a:off x="8548421" y="3246120"/>
            <a:ext cx="0" cy="2139696"/>
          </a:xfrm>
          <a:prstGeom prst="line">
            <a:avLst/>
          </a:prstGeom>
          <a:noFill/>
          <a:ln w="19050">
            <a:solidFill>
              <a:schemeClr val="accent5"/>
            </a:solidFill>
            <a:prstDash val="solid"/>
          </a:ln>
        </p:spPr>
      </p:sp>
      <p:sp>
        <p:nvSpPr>
          <p:cNvPr id="42" name="Shape 29"/>
          <p:cNvSpPr/>
          <p:nvPr/>
        </p:nvSpPr>
        <p:spPr>
          <a:xfrm>
            <a:off x="8402117" y="3044952"/>
            <a:ext cx="292608" cy="292608"/>
          </a:xfrm>
          <a:prstGeom prst="ellipse">
            <a:avLst/>
          </a:prstGeom>
          <a:solidFill>
            <a:schemeClr val="accent1"/>
          </a:solidFill>
          <a:ln/>
        </p:spPr>
      </p:sp>
      <p:sp>
        <p:nvSpPr>
          <p:cNvPr id="43" name="Text 30"/>
          <p:cNvSpPr txBox="1"/>
          <p:nvPr/>
        </p:nvSpPr>
        <p:spPr>
          <a:xfrm>
            <a:off x="8402117" y="3044952"/>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44" name="Text 31"/>
          <p:cNvSpPr txBox="1"/>
          <p:nvPr/>
        </p:nvSpPr>
        <p:spPr>
          <a:xfrm>
            <a:off x="8859317" y="3008376"/>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Prove</a:t>
            </a:r>
            <a:endParaRPr lang="en-US" sz="1500" dirty="0"/>
          </a:p>
        </p:txBody>
      </p:sp>
      <p:sp>
        <p:nvSpPr>
          <p:cNvPr id="45" name="Text 32"/>
          <p:cNvSpPr txBox="1"/>
          <p:nvPr/>
        </p:nvSpPr>
        <p:spPr>
          <a:xfrm>
            <a:off x="8859317" y="3300984"/>
            <a:ext cx="2600858" cy="292608"/>
          </a:xfrm>
          <a:prstGeom prst="rect">
            <a:avLst/>
          </a:prstGeom>
          <a:noFill/>
          <a:ln/>
        </p:spPr>
        <p:txBody>
          <a:bodyPr wrap="square" lIns="0" tIns="0" rIns="0" bIns="0" rtlCol="0" anchor="ctr"/>
          <a:lstStyle/>
          <a:p>
            <a:pPr indent="0" marL="0">
              <a:buNone/>
            </a:pPr>
            <a:r>
              <a:rPr lang="en-US" sz="1300" dirty="0">
                <a:solidFill>
                  <a:schemeClr val="tx2"/>
                </a:solidFill>
              </a:rPr>
              <a:t>One pilot lane</a:t>
            </a:r>
            <a:endParaRPr lang="en-US" sz="1300" dirty="0"/>
          </a:p>
        </p:txBody>
      </p:sp>
      <p:sp>
        <p:nvSpPr>
          <p:cNvPr id="46" name="Shape 33"/>
          <p:cNvSpPr/>
          <p:nvPr/>
        </p:nvSpPr>
        <p:spPr>
          <a:xfrm>
            <a:off x="8402117" y="3758184"/>
            <a:ext cx="292608" cy="292608"/>
          </a:xfrm>
          <a:prstGeom prst="ellipse">
            <a:avLst/>
          </a:prstGeom>
          <a:solidFill>
            <a:schemeClr val="accent6"/>
          </a:solidFill>
          <a:ln/>
        </p:spPr>
      </p:sp>
      <p:sp>
        <p:nvSpPr>
          <p:cNvPr id="47" name="Text 34"/>
          <p:cNvSpPr txBox="1"/>
          <p:nvPr/>
        </p:nvSpPr>
        <p:spPr>
          <a:xfrm>
            <a:off x="8402117" y="375818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48" name="Text 35"/>
          <p:cNvSpPr txBox="1"/>
          <p:nvPr/>
        </p:nvSpPr>
        <p:spPr>
          <a:xfrm>
            <a:off x="8859317" y="3721608"/>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Expand</a:t>
            </a:r>
            <a:endParaRPr lang="en-US" sz="1500" dirty="0"/>
          </a:p>
        </p:txBody>
      </p:sp>
      <p:sp>
        <p:nvSpPr>
          <p:cNvPr id="49" name="Text 36"/>
          <p:cNvSpPr txBox="1"/>
          <p:nvPr/>
        </p:nvSpPr>
        <p:spPr>
          <a:xfrm>
            <a:off x="8859317" y="4014216"/>
            <a:ext cx="2600858" cy="292608"/>
          </a:xfrm>
          <a:prstGeom prst="rect">
            <a:avLst/>
          </a:prstGeom>
          <a:noFill/>
          <a:ln/>
        </p:spPr>
        <p:txBody>
          <a:bodyPr wrap="square" lIns="0" tIns="0" rIns="0" bIns="0" rtlCol="0" anchor="ctr"/>
          <a:lstStyle/>
          <a:p>
            <a:pPr indent="0" marL="0">
              <a:buNone/>
            </a:pPr>
            <a:r>
              <a:rPr lang="en-US" sz="1300" dirty="0">
                <a:solidFill>
                  <a:schemeClr val="tx2"/>
                </a:solidFill>
              </a:rPr>
              <a:t>More lanes and enrolment</a:t>
            </a:r>
            <a:endParaRPr lang="en-US" sz="1300" dirty="0"/>
          </a:p>
        </p:txBody>
      </p:sp>
      <p:sp>
        <p:nvSpPr>
          <p:cNvPr id="50" name="Shape 37"/>
          <p:cNvSpPr/>
          <p:nvPr/>
        </p:nvSpPr>
        <p:spPr>
          <a:xfrm>
            <a:off x="8402117" y="4471416"/>
            <a:ext cx="292608" cy="292608"/>
          </a:xfrm>
          <a:prstGeom prst="ellipse">
            <a:avLst/>
          </a:prstGeom>
          <a:solidFill>
            <a:schemeClr val="accent6"/>
          </a:solidFill>
          <a:ln/>
        </p:spPr>
      </p:sp>
      <p:sp>
        <p:nvSpPr>
          <p:cNvPr id="51" name="Text 38"/>
          <p:cNvSpPr txBox="1"/>
          <p:nvPr/>
        </p:nvSpPr>
        <p:spPr>
          <a:xfrm>
            <a:off x="8402117" y="4471416"/>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52" name="Text 39"/>
          <p:cNvSpPr txBox="1"/>
          <p:nvPr/>
        </p:nvSpPr>
        <p:spPr>
          <a:xfrm>
            <a:off x="8859317" y="4434840"/>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Connect</a:t>
            </a:r>
            <a:endParaRPr lang="en-US" sz="1500" dirty="0"/>
          </a:p>
        </p:txBody>
      </p:sp>
      <p:sp>
        <p:nvSpPr>
          <p:cNvPr id="53" name="Text 40"/>
          <p:cNvSpPr txBox="1"/>
          <p:nvPr/>
        </p:nvSpPr>
        <p:spPr>
          <a:xfrm>
            <a:off x="8859317" y="4727448"/>
            <a:ext cx="2600858" cy="292608"/>
          </a:xfrm>
          <a:prstGeom prst="rect">
            <a:avLst/>
          </a:prstGeom>
          <a:noFill/>
          <a:ln/>
        </p:spPr>
        <p:txBody>
          <a:bodyPr wrap="square" lIns="0" tIns="0" rIns="0" bIns="0" rtlCol="0" anchor="ctr"/>
          <a:lstStyle/>
          <a:p>
            <a:pPr indent="0" marL="0">
              <a:buNone/>
            </a:pPr>
            <a:r>
              <a:rPr lang="en-US" sz="1300" dirty="0">
                <a:solidFill>
                  <a:schemeClr val="tx2"/>
                </a:solidFill>
              </a:rPr>
              <a:t>All touchpoints via ISMP</a:t>
            </a:r>
            <a:endParaRPr lang="en-US" sz="1300" dirty="0"/>
          </a:p>
        </p:txBody>
      </p:sp>
      <p:sp>
        <p:nvSpPr>
          <p:cNvPr id="54" name="Shape 41"/>
          <p:cNvSpPr/>
          <p:nvPr/>
        </p:nvSpPr>
        <p:spPr>
          <a:xfrm>
            <a:off x="8402117" y="5184648"/>
            <a:ext cx="292608" cy="292608"/>
          </a:xfrm>
          <a:prstGeom prst="ellipse">
            <a:avLst/>
          </a:prstGeom>
          <a:solidFill>
            <a:schemeClr val="accent6"/>
          </a:solidFill>
          <a:ln/>
        </p:spPr>
      </p:sp>
      <p:sp>
        <p:nvSpPr>
          <p:cNvPr id="55" name="Text 42"/>
          <p:cNvSpPr txBox="1"/>
          <p:nvPr/>
        </p:nvSpPr>
        <p:spPr>
          <a:xfrm>
            <a:off x="8402117" y="5184648"/>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56" name="Text 43"/>
          <p:cNvSpPr txBox="1"/>
          <p:nvPr/>
        </p:nvSpPr>
        <p:spPr>
          <a:xfrm>
            <a:off x="8859317" y="5148072"/>
            <a:ext cx="2600858" cy="292608"/>
          </a:xfrm>
          <a:prstGeom prst="rect">
            <a:avLst/>
          </a:prstGeom>
          <a:noFill/>
          <a:ln/>
        </p:spPr>
        <p:txBody>
          <a:bodyPr wrap="square" lIns="0" tIns="0" rIns="0" bIns="0" rtlCol="0" anchor="ctr"/>
          <a:lstStyle/>
          <a:p>
            <a:pPr indent="0" marL="0">
              <a:buNone/>
            </a:pPr>
            <a:r>
              <a:rPr lang="en-US" sz="1500" b="1" dirty="0">
                <a:solidFill>
                  <a:schemeClr val="tx1"/>
                </a:solidFill>
              </a:rPr>
              <a:t>Scale</a:t>
            </a:r>
            <a:endParaRPr lang="en-US" sz="1500" dirty="0"/>
          </a:p>
        </p:txBody>
      </p:sp>
      <p:sp>
        <p:nvSpPr>
          <p:cNvPr id="57" name="Text 44"/>
          <p:cNvSpPr txBox="1"/>
          <p:nvPr/>
        </p:nvSpPr>
        <p:spPr>
          <a:xfrm>
            <a:off x="8859317" y="5440680"/>
            <a:ext cx="2600858" cy="292608"/>
          </a:xfrm>
          <a:prstGeom prst="rect">
            <a:avLst/>
          </a:prstGeom>
          <a:noFill/>
          <a:ln/>
        </p:spPr>
        <p:txBody>
          <a:bodyPr wrap="square" lIns="0" tIns="0" rIns="0" bIns="0" rtlCol="0" anchor="ctr"/>
          <a:lstStyle/>
          <a:p>
            <a:pPr indent="0" marL="0">
              <a:buNone/>
            </a:pPr>
            <a:r>
              <a:rPr lang="en-US" sz="1300" dirty="0">
                <a:solidFill>
                  <a:schemeClr val="tx2"/>
                </a:solidFill>
              </a:rPr>
              <a:t>Terminals and portfolios</a:t>
            </a:r>
            <a:endParaRPr lang="en-US" sz="13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Collaboration &amp; Entry Barriers</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Built across BAs. Scaled through the Group.</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Cross-BA know-how and Group reach form a barrier that point-solution vendors cannot copy.</a:t>
            </a:r>
            <a:endParaRPr lang="en-US" sz="1500" dirty="0"/>
          </a:p>
        </p:txBody>
      </p:sp>
      <p:sp>
        <p:nvSpPr>
          <p:cNvPr id="5" name="Shape 3"/>
          <p:cNvSpPr/>
          <p:nvPr/>
        </p:nvSpPr>
        <p:spPr>
          <a:xfrm>
            <a:off x="822960" y="2240280"/>
            <a:ext cx="2011680" cy="2011680"/>
          </a:xfrm>
          <a:prstGeom prst="ellipse">
            <a:avLst/>
          </a:prstGeom>
          <a:solidFill>
            <a:schemeClr val="accent1">
              <a:alpha val="13000"/>
            </a:schemeClr>
          </a:solidFill>
          <a:ln w="12700">
            <a:solidFill>
              <a:schemeClr val="accent1">
                <a:alpha val="65000"/>
              </a:schemeClr>
            </a:solidFill>
            <a:prstDash val="solid"/>
          </a:ln>
        </p:spPr>
      </p:sp>
      <p:sp>
        <p:nvSpPr>
          <p:cNvPr id="6" name="Shape 4"/>
          <p:cNvSpPr/>
          <p:nvPr/>
        </p:nvSpPr>
        <p:spPr>
          <a:xfrm>
            <a:off x="2240280" y="2240280"/>
            <a:ext cx="2011680" cy="2011680"/>
          </a:xfrm>
          <a:prstGeom prst="ellipse">
            <a:avLst/>
          </a:prstGeom>
          <a:solidFill>
            <a:schemeClr val="accent2">
              <a:alpha val="13000"/>
            </a:schemeClr>
          </a:solidFill>
          <a:ln w="12700">
            <a:solidFill>
              <a:schemeClr val="accent2">
                <a:alpha val="65000"/>
              </a:schemeClr>
            </a:solidFill>
            <a:prstDash val="solid"/>
          </a:ln>
        </p:spPr>
      </p:sp>
      <p:sp>
        <p:nvSpPr>
          <p:cNvPr id="7" name="Shape 5"/>
          <p:cNvSpPr/>
          <p:nvPr/>
        </p:nvSpPr>
        <p:spPr>
          <a:xfrm>
            <a:off x="1536192" y="3429000"/>
            <a:ext cx="2011680" cy="2011680"/>
          </a:xfrm>
          <a:prstGeom prst="ellipse">
            <a:avLst/>
          </a:prstGeom>
          <a:solidFill>
            <a:schemeClr val="accent6">
              <a:alpha val="13000"/>
            </a:schemeClr>
          </a:solidFill>
          <a:ln w="12700">
            <a:solidFill>
              <a:schemeClr val="accent6">
                <a:alpha val="65000"/>
              </a:schemeClr>
            </a:solidFill>
            <a:prstDash val="solid"/>
          </a:ln>
        </p:spPr>
      </p:sp>
      <p:sp>
        <p:nvSpPr>
          <p:cNvPr id="8" name="Text 6"/>
          <p:cNvSpPr txBox="1"/>
          <p:nvPr/>
        </p:nvSpPr>
        <p:spPr>
          <a:xfrm>
            <a:off x="804672" y="2651760"/>
            <a:ext cx="1371600" cy="548640"/>
          </a:xfrm>
          <a:prstGeom prst="rect">
            <a:avLst/>
          </a:prstGeom>
          <a:noFill/>
          <a:ln/>
        </p:spPr>
        <p:txBody>
          <a:bodyPr wrap="square" lIns="0" tIns="0" rIns="0" bIns="0" rtlCol="0" anchor="ctr"/>
          <a:lstStyle/>
          <a:p>
            <a:pPr algn="ctr" indent="0" marL="0">
              <a:buNone/>
            </a:pPr>
            <a:r>
              <a:rPr lang="en-US" sz="1200" b="1" dirty="0">
                <a:solidFill>
                  <a:schemeClr val="tx1"/>
                </a:solidFill>
              </a:rPr>
              <a:t>Smart Security &amp; Automation</a:t>
            </a:r>
            <a:endParaRPr lang="en-US" sz="1200" dirty="0"/>
          </a:p>
        </p:txBody>
      </p:sp>
      <p:sp>
        <p:nvSpPr>
          <p:cNvPr id="9" name="Text 7"/>
          <p:cNvSpPr txBox="1"/>
          <p:nvPr/>
        </p:nvSpPr>
        <p:spPr>
          <a:xfrm>
            <a:off x="2907792" y="2651760"/>
            <a:ext cx="1371600" cy="548640"/>
          </a:xfrm>
          <a:prstGeom prst="rect">
            <a:avLst/>
          </a:prstGeom>
          <a:noFill/>
          <a:ln/>
        </p:spPr>
        <p:txBody>
          <a:bodyPr wrap="square" lIns="0" tIns="0" rIns="0" bIns="0" rtlCol="0" anchor="ctr"/>
          <a:lstStyle/>
          <a:p>
            <a:pPr algn="ctr" indent="0" marL="0">
              <a:buNone/>
            </a:pPr>
            <a:r>
              <a:rPr lang="en-US" sz="1200" b="1" dirty="0">
                <a:solidFill>
                  <a:schemeClr val="tx1"/>
                </a:solidFill>
              </a:rPr>
              <a:t>Smart Utilities &amp; Infrastructure</a:t>
            </a:r>
            <a:endParaRPr lang="en-US" sz="1200" dirty="0"/>
          </a:p>
        </p:txBody>
      </p:sp>
      <p:sp>
        <p:nvSpPr>
          <p:cNvPr id="10" name="Text 8"/>
          <p:cNvSpPr txBox="1"/>
          <p:nvPr/>
        </p:nvSpPr>
        <p:spPr>
          <a:xfrm>
            <a:off x="1901952" y="4892040"/>
            <a:ext cx="1280160" cy="347472"/>
          </a:xfrm>
          <a:prstGeom prst="rect">
            <a:avLst/>
          </a:prstGeom>
          <a:noFill/>
          <a:ln/>
        </p:spPr>
        <p:txBody>
          <a:bodyPr wrap="square" lIns="0" tIns="0" rIns="0" bIns="0" rtlCol="0" anchor="ctr"/>
          <a:lstStyle/>
          <a:p>
            <a:pPr algn="ctr" indent="0" marL="0">
              <a:buNone/>
            </a:pPr>
            <a:r>
              <a:rPr lang="en-US" sz="1200" b="1" dirty="0">
                <a:solidFill>
                  <a:schemeClr val="tx1"/>
                </a:solidFill>
              </a:rPr>
              <a:t>Urban Solutions</a:t>
            </a:r>
            <a:endParaRPr lang="en-US" sz="1200" dirty="0"/>
          </a:p>
        </p:txBody>
      </p:sp>
      <p:sp>
        <p:nvSpPr>
          <p:cNvPr id="11" name="Shape 9"/>
          <p:cNvSpPr/>
          <p:nvPr/>
        </p:nvSpPr>
        <p:spPr>
          <a:xfrm>
            <a:off x="2039112" y="3584448"/>
            <a:ext cx="1005840" cy="329184"/>
          </a:xfrm>
          <a:prstGeom prst="roundRect">
            <a:avLst>
              <a:gd name="adj" fmla="val 50000"/>
            </a:avLst>
          </a:prstGeom>
          <a:solidFill>
            <a:schemeClr val="accent6"/>
          </a:solidFill>
          <a:ln/>
        </p:spPr>
      </p:sp>
      <p:sp>
        <p:nvSpPr>
          <p:cNvPr id="12" name="Text 10"/>
          <p:cNvSpPr txBox="1"/>
          <p:nvPr/>
        </p:nvSpPr>
        <p:spPr>
          <a:xfrm>
            <a:off x="2039112" y="3584448"/>
            <a:ext cx="1005840" cy="329184"/>
          </a:xfrm>
          <a:prstGeom prst="rect">
            <a:avLst/>
          </a:prstGeom>
          <a:noFill/>
          <a:ln/>
        </p:spPr>
        <p:txBody>
          <a:bodyPr wrap="square" lIns="0" tIns="0" rIns="0" bIns="0" rtlCol="0" anchor="ctr"/>
          <a:lstStyle/>
          <a:p>
            <a:pPr algn="ctr" indent="0" marL="0">
              <a:buNone/>
            </a:pPr>
            <a:r>
              <a:rPr lang="en-US" sz="1200" b="1" dirty="0">
                <a:solidFill>
                  <a:schemeClr val="bg1"/>
                </a:solidFill>
              </a:rPr>
              <a:t>FastPass</a:t>
            </a:r>
            <a:endParaRPr lang="en-US" sz="1200" dirty="0"/>
          </a:p>
        </p:txBody>
      </p:sp>
      <p:sp>
        <p:nvSpPr>
          <p:cNvPr id="13" name="Text 11"/>
          <p:cNvSpPr txBox="1"/>
          <p:nvPr/>
        </p:nvSpPr>
        <p:spPr>
          <a:xfrm>
            <a:off x="548640" y="5577840"/>
            <a:ext cx="4023360" cy="411480"/>
          </a:xfrm>
          <a:prstGeom prst="rect">
            <a:avLst/>
          </a:prstGeom>
          <a:noFill/>
          <a:ln/>
        </p:spPr>
        <p:txBody>
          <a:bodyPr wrap="square" lIns="0" tIns="0" rIns="0" bIns="0" rtlCol="0" anchor="ctr"/>
          <a:lstStyle/>
          <a:p>
            <a:pPr algn="ctr" indent="0" marL="0">
              <a:buNone/>
            </a:pPr>
            <a:r>
              <a:rPr lang="en-US" sz="1200" dirty="0">
                <a:solidFill>
                  <a:schemeClr val="tx2"/>
                </a:solidFill>
              </a:rPr>
              <a:t>One product team, from biometrics to Sales</a:t>
            </a:r>
            <a:endParaRPr lang="en-US" sz="1200" dirty="0"/>
          </a:p>
        </p:txBody>
      </p:sp>
      <p:sp>
        <p:nvSpPr>
          <p:cNvPr id="14" name="Text 12"/>
          <p:cNvSpPr txBox="1"/>
          <p:nvPr/>
        </p:nvSpPr>
        <p:spPr>
          <a:xfrm>
            <a:off x="5074920" y="2057400"/>
            <a:ext cx="3657600" cy="237744"/>
          </a:xfrm>
          <a:prstGeom prst="rect">
            <a:avLst/>
          </a:prstGeom>
          <a:noFill/>
          <a:ln/>
        </p:spPr>
        <p:txBody>
          <a:bodyPr wrap="square" lIns="0" tIns="0" rIns="0" bIns="0" rtlCol="0" anchor="ctr"/>
          <a:lstStyle/>
          <a:p>
            <a:pPr indent="0" marL="0">
              <a:buNone/>
            </a:pPr>
            <a:r>
              <a:rPr lang="en-US" sz="1100" b="1" spc="200" kern="0" dirty="0">
                <a:solidFill>
                  <a:schemeClr val="accent1"/>
                </a:solidFill>
              </a:rPr>
              <a:t>ENTRY BARRIERS</a:t>
            </a:r>
            <a:endParaRPr lang="en-US" sz="1100" dirty="0"/>
          </a:p>
        </p:txBody>
      </p:sp>
      <p:sp>
        <p:nvSpPr>
          <p:cNvPr id="15" name="Shape 13"/>
          <p:cNvSpPr/>
          <p:nvPr/>
        </p:nvSpPr>
        <p:spPr>
          <a:xfrm>
            <a:off x="5074920" y="2377440"/>
            <a:ext cx="3146908" cy="731520"/>
          </a:xfrm>
          <a:prstGeom prst="roundRect">
            <a:avLst>
              <a:gd name="adj" fmla="val 17500"/>
            </a:avLst>
          </a:prstGeom>
          <a:solidFill>
            <a:schemeClr val="bg1"/>
          </a:solidFill>
          <a:ln/>
          <a:effectLst>
            <a:outerShdw sx="100000" sy="100000" kx="0" ky="0" algn="bl" rotWithShape="0" blurRad="203200" dist="38100" dir="5400000">
              <a:srgbClr val="0A1628">
                <a:alpha val="9000"/>
              </a:srgbClr>
            </a:outerShdw>
          </a:effectLst>
        </p:spPr>
      </p:sp>
      <p:sp>
        <p:nvSpPr>
          <p:cNvPr id="16" name="Shape 14"/>
          <p:cNvSpPr/>
          <p:nvPr/>
        </p:nvSpPr>
        <p:spPr>
          <a:xfrm>
            <a:off x="5257800" y="2532888"/>
            <a:ext cx="420624" cy="420624"/>
          </a:xfrm>
          <a:prstGeom prst="ellipse">
            <a:avLst/>
          </a:prstGeom>
          <a:solidFill>
            <a:schemeClr val="accent1">
              <a:alpha val="12000"/>
            </a:schemeClr>
          </a:solidFill>
          <a:ln/>
        </p:spPr>
      </p:sp>
      <p:pic>
        <p:nvPicPr>
          <p:cNvPr id="17" name="Image 0" descr="preencoded.png">    </p:cNvPr>
          <p:cNvPicPr>
            <a:picLocks noChangeAspect="1"/>
          </p:cNvPicPr>
          <p:nvPr/>
        </p:nvPicPr>
        <p:blipFill>
          <a:blip r:embed="rId1"/>
          <a:stretch>
            <a:fillRect/>
          </a:stretch>
        </p:blipFill>
        <p:spPr>
          <a:xfrm>
            <a:off x="5354544" y="2629632"/>
            <a:ext cx="227137" cy="227137"/>
          </a:xfrm>
          <a:prstGeom prst="rect">
            <a:avLst/>
          </a:prstGeom>
        </p:spPr>
      </p:pic>
      <p:sp>
        <p:nvSpPr>
          <p:cNvPr id="18" name="Text 15"/>
          <p:cNvSpPr txBox="1"/>
          <p:nvPr/>
        </p:nvSpPr>
        <p:spPr>
          <a:xfrm>
            <a:off x="5806440" y="2468880"/>
            <a:ext cx="2278228" cy="274320"/>
          </a:xfrm>
          <a:prstGeom prst="rect">
            <a:avLst/>
          </a:prstGeom>
          <a:noFill/>
          <a:ln/>
        </p:spPr>
        <p:txBody>
          <a:bodyPr wrap="square" lIns="0" tIns="0" rIns="0" bIns="0" rtlCol="0" anchor="ctr"/>
          <a:lstStyle/>
          <a:p>
            <a:pPr indent="0" marL="0">
              <a:buNone/>
            </a:pPr>
            <a:r>
              <a:rPr lang="en-US" sz="1500" b="1" dirty="0">
                <a:solidFill>
                  <a:schemeClr val="tx1"/>
                </a:solidFill>
              </a:rPr>
              <a:t>Owned IP</a:t>
            </a:r>
            <a:endParaRPr lang="en-US" sz="1500" dirty="0"/>
          </a:p>
        </p:txBody>
      </p:sp>
      <p:sp>
        <p:nvSpPr>
          <p:cNvPr id="19" name="Text 16"/>
          <p:cNvSpPr txBox="1"/>
          <p:nvPr/>
        </p:nvSpPr>
        <p:spPr>
          <a:xfrm>
            <a:off x="5806440" y="2743200"/>
            <a:ext cx="2278228" cy="256032"/>
          </a:xfrm>
          <a:prstGeom prst="rect">
            <a:avLst/>
          </a:prstGeom>
          <a:noFill/>
          <a:ln/>
        </p:spPr>
        <p:txBody>
          <a:bodyPr wrap="square" lIns="0" tIns="0" rIns="0" bIns="0" rtlCol="0" anchor="ctr"/>
          <a:lstStyle/>
          <a:p>
            <a:pPr indent="0" marL="0">
              <a:buNone/>
            </a:pPr>
            <a:r>
              <a:rPr lang="en-US" sz="1200" dirty="0">
                <a:solidFill>
                  <a:schemeClr val="tx2"/>
                </a:solidFill>
              </a:rPr>
              <a:t>App, lane logic and ISMP</a:t>
            </a:r>
            <a:endParaRPr lang="en-US" sz="1200" dirty="0"/>
          </a:p>
        </p:txBody>
      </p:sp>
      <p:sp>
        <p:nvSpPr>
          <p:cNvPr id="20" name="Shape 17"/>
          <p:cNvSpPr/>
          <p:nvPr/>
        </p:nvSpPr>
        <p:spPr>
          <a:xfrm>
            <a:off x="8496148" y="2377440"/>
            <a:ext cx="3146908" cy="731520"/>
          </a:xfrm>
          <a:prstGeom prst="roundRect">
            <a:avLst>
              <a:gd name="adj" fmla="val 17500"/>
            </a:avLst>
          </a:prstGeom>
          <a:solidFill>
            <a:schemeClr val="bg1"/>
          </a:solidFill>
          <a:ln/>
          <a:effectLst>
            <a:outerShdw sx="100000" sy="100000" kx="0" ky="0" algn="bl" rotWithShape="0" blurRad="203200" dist="38100" dir="5400000">
              <a:srgbClr val="0A1628">
                <a:alpha val="9000"/>
              </a:srgbClr>
            </a:outerShdw>
          </a:effectLst>
        </p:spPr>
      </p:sp>
      <p:sp>
        <p:nvSpPr>
          <p:cNvPr id="21" name="Shape 18"/>
          <p:cNvSpPr/>
          <p:nvPr/>
        </p:nvSpPr>
        <p:spPr>
          <a:xfrm>
            <a:off x="8679028" y="2532888"/>
            <a:ext cx="420624" cy="420624"/>
          </a:xfrm>
          <a:prstGeom prst="ellipse">
            <a:avLst/>
          </a:prstGeom>
          <a:solidFill>
            <a:schemeClr val="accent1">
              <a:alpha val="12000"/>
            </a:schemeClr>
          </a:solidFill>
          <a:ln/>
        </p:spPr>
      </p:sp>
      <p:pic>
        <p:nvPicPr>
          <p:cNvPr id="22" name="Image 1" descr="preencoded.png">    </p:cNvPr>
          <p:cNvPicPr>
            <a:picLocks noChangeAspect="1"/>
          </p:cNvPicPr>
          <p:nvPr/>
        </p:nvPicPr>
        <p:blipFill>
          <a:blip r:embed="rId2"/>
          <a:stretch>
            <a:fillRect/>
          </a:stretch>
        </p:blipFill>
        <p:spPr>
          <a:xfrm>
            <a:off x="8775771" y="2629632"/>
            <a:ext cx="227137" cy="227137"/>
          </a:xfrm>
          <a:prstGeom prst="rect">
            <a:avLst/>
          </a:prstGeom>
        </p:spPr>
      </p:pic>
      <p:sp>
        <p:nvSpPr>
          <p:cNvPr id="23" name="Text 19"/>
          <p:cNvSpPr txBox="1"/>
          <p:nvPr/>
        </p:nvSpPr>
        <p:spPr>
          <a:xfrm>
            <a:off x="9227668" y="2468880"/>
            <a:ext cx="2278228" cy="274320"/>
          </a:xfrm>
          <a:prstGeom prst="rect">
            <a:avLst/>
          </a:prstGeom>
          <a:noFill/>
          <a:ln/>
        </p:spPr>
        <p:txBody>
          <a:bodyPr wrap="square" lIns="0" tIns="0" rIns="0" bIns="0" rtlCol="0" anchor="ctr"/>
          <a:lstStyle/>
          <a:p>
            <a:pPr indent="0" marL="0">
              <a:buNone/>
            </a:pPr>
            <a:r>
              <a:rPr lang="en-US" sz="1500" b="1" dirty="0">
                <a:solidFill>
                  <a:schemeClr val="tx1"/>
                </a:solidFill>
              </a:rPr>
              <a:t>Deep know-how</a:t>
            </a:r>
            <a:endParaRPr lang="en-US" sz="1500" dirty="0"/>
          </a:p>
        </p:txBody>
      </p:sp>
      <p:sp>
        <p:nvSpPr>
          <p:cNvPr id="24" name="Text 20"/>
          <p:cNvSpPr txBox="1"/>
          <p:nvPr/>
        </p:nvSpPr>
        <p:spPr>
          <a:xfrm>
            <a:off x="9227668" y="2743200"/>
            <a:ext cx="2278228" cy="256032"/>
          </a:xfrm>
          <a:prstGeom prst="rect">
            <a:avLst/>
          </a:prstGeom>
          <a:noFill/>
          <a:ln/>
        </p:spPr>
        <p:txBody>
          <a:bodyPr wrap="square" lIns="0" tIns="0" rIns="0" bIns="0" rtlCol="0" anchor="ctr"/>
          <a:lstStyle/>
          <a:p>
            <a:pPr indent="0" marL="0">
              <a:buNone/>
            </a:pPr>
            <a:r>
              <a:rPr lang="en-US" sz="1200" dirty="0">
                <a:solidFill>
                  <a:schemeClr val="tx2"/>
                </a:solidFill>
              </a:rPr>
              <a:t>35+ years, mission-critical</a:t>
            </a:r>
            <a:endParaRPr lang="en-US" sz="1200" dirty="0"/>
          </a:p>
        </p:txBody>
      </p:sp>
      <p:sp>
        <p:nvSpPr>
          <p:cNvPr id="25" name="Shape 21"/>
          <p:cNvSpPr/>
          <p:nvPr/>
        </p:nvSpPr>
        <p:spPr>
          <a:xfrm>
            <a:off x="5074920" y="3246120"/>
            <a:ext cx="3146908" cy="731520"/>
          </a:xfrm>
          <a:prstGeom prst="roundRect">
            <a:avLst>
              <a:gd name="adj" fmla="val 17500"/>
            </a:avLst>
          </a:prstGeom>
          <a:solidFill>
            <a:schemeClr val="bg1"/>
          </a:solidFill>
          <a:ln/>
          <a:effectLst>
            <a:outerShdw sx="100000" sy="100000" kx="0" ky="0" algn="bl" rotWithShape="0" blurRad="203200" dist="38100" dir="5400000">
              <a:srgbClr val="0A1628">
                <a:alpha val="9000"/>
              </a:srgbClr>
            </a:outerShdw>
          </a:effectLst>
        </p:spPr>
      </p:sp>
      <p:sp>
        <p:nvSpPr>
          <p:cNvPr id="26" name="Shape 22"/>
          <p:cNvSpPr/>
          <p:nvPr/>
        </p:nvSpPr>
        <p:spPr>
          <a:xfrm>
            <a:off x="5257800" y="3401568"/>
            <a:ext cx="420624" cy="420624"/>
          </a:xfrm>
          <a:prstGeom prst="ellipse">
            <a:avLst/>
          </a:prstGeom>
          <a:solidFill>
            <a:schemeClr val="accent1">
              <a:alpha val="12000"/>
            </a:schemeClr>
          </a:solidFill>
          <a:ln/>
        </p:spPr>
      </p:sp>
      <p:pic>
        <p:nvPicPr>
          <p:cNvPr id="27" name="Image 2" descr="preencoded.png">    </p:cNvPr>
          <p:cNvPicPr>
            <a:picLocks noChangeAspect="1"/>
          </p:cNvPicPr>
          <p:nvPr/>
        </p:nvPicPr>
        <p:blipFill>
          <a:blip r:embed="rId3"/>
          <a:stretch>
            <a:fillRect/>
          </a:stretch>
        </p:blipFill>
        <p:spPr>
          <a:xfrm>
            <a:off x="5354544" y="3498312"/>
            <a:ext cx="227137" cy="227137"/>
          </a:xfrm>
          <a:prstGeom prst="rect">
            <a:avLst/>
          </a:prstGeom>
        </p:spPr>
      </p:pic>
      <p:sp>
        <p:nvSpPr>
          <p:cNvPr id="28" name="Text 23"/>
          <p:cNvSpPr txBox="1"/>
          <p:nvPr/>
        </p:nvSpPr>
        <p:spPr>
          <a:xfrm>
            <a:off x="5806440" y="3337560"/>
            <a:ext cx="2278228" cy="274320"/>
          </a:xfrm>
          <a:prstGeom prst="rect">
            <a:avLst/>
          </a:prstGeom>
          <a:noFill/>
          <a:ln/>
        </p:spPr>
        <p:txBody>
          <a:bodyPr wrap="square" lIns="0" tIns="0" rIns="0" bIns="0" rtlCol="0" anchor="ctr"/>
          <a:lstStyle/>
          <a:p>
            <a:pPr indent="0" marL="0">
              <a:buNone/>
            </a:pPr>
            <a:r>
              <a:rPr lang="en-US" sz="1500" b="1" dirty="0">
                <a:solidFill>
                  <a:schemeClr val="tx1"/>
                </a:solidFill>
              </a:rPr>
              <a:t>Specialised set-up</a:t>
            </a:r>
            <a:endParaRPr lang="en-US" sz="1500" dirty="0"/>
          </a:p>
        </p:txBody>
      </p:sp>
      <p:sp>
        <p:nvSpPr>
          <p:cNvPr id="29" name="Text 24"/>
          <p:cNvSpPr txBox="1"/>
          <p:nvPr/>
        </p:nvSpPr>
        <p:spPr>
          <a:xfrm>
            <a:off x="5806440" y="3611880"/>
            <a:ext cx="2278228" cy="256032"/>
          </a:xfrm>
          <a:prstGeom prst="rect">
            <a:avLst/>
          </a:prstGeom>
          <a:noFill/>
          <a:ln/>
        </p:spPr>
        <p:txBody>
          <a:bodyPr wrap="square" lIns="0" tIns="0" rIns="0" bIns="0" rtlCol="0" anchor="ctr"/>
          <a:lstStyle/>
          <a:p>
            <a:pPr indent="0" marL="0">
              <a:buNone/>
            </a:pPr>
            <a:r>
              <a:rPr lang="en-US" sz="1200" dirty="0">
                <a:solidFill>
                  <a:schemeClr val="tx2"/>
                </a:solidFill>
              </a:rPr>
              <a:t>Converged security operations</a:t>
            </a:r>
            <a:endParaRPr lang="en-US" sz="1200" dirty="0"/>
          </a:p>
        </p:txBody>
      </p:sp>
      <p:sp>
        <p:nvSpPr>
          <p:cNvPr id="30" name="Shape 25"/>
          <p:cNvSpPr/>
          <p:nvPr/>
        </p:nvSpPr>
        <p:spPr>
          <a:xfrm>
            <a:off x="8496148" y="3246120"/>
            <a:ext cx="3146908" cy="731520"/>
          </a:xfrm>
          <a:prstGeom prst="roundRect">
            <a:avLst>
              <a:gd name="adj" fmla="val 17500"/>
            </a:avLst>
          </a:prstGeom>
          <a:solidFill>
            <a:schemeClr val="bg1"/>
          </a:solidFill>
          <a:ln/>
          <a:effectLst>
            <a:outerShdw sx="100000" sy="100000" kx="0" ky="0" algn="bl" rotWithShape="0" blurRad="203200" dist="38100" dir="5400000">
              <a:srgbClr val="0A1628">
                <a:alpha val="9000"/>
              </a:srgbClr>
            </a:outerShdw>
          </a:effectLst>
        </p:spPr>
      </p:sp>
      <p:sp>
        <p:nvSpPr>
          <p:cNvPr id="31" name="Shape 26"/>
          <p:cNvSpPr/>
          <p:nvPr/>
        </p:nvSpPr>
        <p:spPr>
          <a:xfrm>
            <a:off x="8679028" y="3401568"/>
            <a:ext cx="420624" cy="420624"/>
          </a:xfrm>
          <a:prstGeom prst="ellipse">
            <a:avLst/>
          </a:prstGeom>
          <a:solidFill>
            <a:schemeClr val="accent1">
              <a:alpha val="12000"/>
            </a:schemeClr>
          </a:solidFill>
          <a:ln/>
        </p:spPr>
      </p:sp>
      <p:pic>
        <p:nvPicPr>
          <p:cNvPr id="32" name="Image 3" descr="preencoded.png">    </p:cNvPr>
          <p:cNvPicPr>
            <a:picLocks noChangeAspect="1"/>
          </p:cNvPicPr>
          <p:nvPr/>
        </p:nvPicPr>
        <p:blipFill>
          <a:blip r:embed="rId4"/>
          <a:stretch>
            <a:fillRect/>
          </a:stretch>
        </p:blipFill>
        <p:spPr>
          <a:xfrm>
            <a:off x="8775771" y="3498312"/>
            <a:ext cx="227137" cy="227137"/>
          </a:xfrm>
          <a:prstGeom prst="rect">
            <a:avLst/>
          </a:prstGeom>
        </p:spPr>
      </p:pic>
      <p:sp>
        <p:nvSpPr>
          <p:cNvPr id="33" name="Text 27"/>
          <p:cNvSpPr txBox="1"/>
          <p:nvPr/>
        </p:nvSpPr>
        <p:spPr>
          <a:xfrm>
            <a:off x="9227668" y="3337560"/>
            <a:ext cx="2278228" cy="274320"/>
          </a:xfrm>
          <a:prstGeom prst="rect">
            <a:avLst/>
          </a:prstGeom>
          <a:noFill/>
          <a:ln/>
        </p:spPr>
        <p:txBody>
          <a:bodyPr wrap="square" lIns="0" tIns="0" rIns="0" bIns="0" rtlCol="0" anchor="ctr"/>
          <a:lstStyle/>
          <a:p>
            <a:pPr indent="0" marL="0">
              <a:buNone/>
            </a:pPr>
            <a:r>
              <a:rPr lang="en-US" sz="1500" b="1" dirty="0">
                <a:solidFill>
                  <a:schemeClr val="tx1"/>
                </a:solidFill>
              </a:rPr>
              <a:t>Sales network</a:t>
            </a:r>
            <a:endParaRPr lang="en-US" sz="1500" dirty="0"/>
          </a:p>
        </p:txBody>
      </p:sp>
      <p:sp>
        <p:nvSpPr>
          <p:cNvPr id="34" name="Text 28"/>
          <p:cNvSpPr txBox="1"/>
          <p:nvPr/>
        </p:nvSpPr>
        <p:spPr>
          <a:xfrm>
            <a:off x="9227668" y="3611880"/>
            <a:ext cx="2278228" cy="256032"/>
          </a:xfrm>
          <a:prstGeom prst="rect">
            <a:avLst/>
          </a:prstGeom>
          <a:noFill/>
          <a:ln/>
        </p:spPr>
        <p:txBody>
          <a:bodyPr wrap="square" lIns="0" tIns="0" rIns="0" bIns="0" rtlCol="0" anchor="ctr"/>
          <a:lstStyle/>
          <a:p>
            <a:pPr indent="0" marL="0">
              <a:buNone/>
            </a:pPr>
            <a:r>
              <a:rPr lang="en-US" sz="1200" dirty="0">
                <a:solidFill>
                  <a:schemeClr val="tx2"/>
                </a:solidFill>
              </a:rPr>
              <a:t>Group reach in ME &amp; SE Asia</a:t>
            </a:r>
            <a:endParaRPr lang="en-US" sz="1200" dirty="0"/>
          </a:p>
        </p:txBody>
      </p:sp>
      <p:sp>
        <p:nvSpPr>
          <p:cNvPr id="35" name="Text 29"/>
          <p:cNvSpPr txBox="1"/>
          <p:nvPr/>
        </p:nvSpPr>
        <p:spPr>
          <a:xfrm>
            <a:off x="5074920" y="4224528"/>
            <a:ext cx="3657600" cy="237744"/>
          </a:xfrm>
          <a:prstGeom prst="rect">
            <a:avLst/>
          </a:prstGeom>
          <a:noFill/>
          <a:ln/>
        </p:spPr>
        <p:txBody>
          <a:bodyPr wrap="square" lIns="0" tIns="0" rIns="0" bIns="0" rtlCol="0" anchor="ctr"/>
          <a:lstStyle/>
          <a:p>
            <a:pPr indent="0" marL="0">
              <a:buNone/>
            </a:pPr>
            <a:r>
              <a:rPr lang="en-US" sz="1100" b="1" spc="200" kern="0" dirty="0">
                <a:solidFill>
                  <a:schemeClr val="accent1"/>
                </a:solidFill>
              </a:rPr>
              <a:t>SCALING FAST</a:t>
            </a:r>
            <a:endParaRPr lang="en-US" sz="1100" dirty="0"/>
          </a:p>
        </p:txBody>
      </p:sp>
      <p:pic>
        <p:nvPicPr>
          <p:cNvPr id="36" name="Image 4" descr="preencoded.png">    </p:cNvPr>
          <p:cNvPicPr>
            <a:picLocks noChangeAspect="1"/>
          </p:cNvPicPr>
          <p:nvPr/>
        </p:nvPicPr>
        <p:blipFill>
          <a:blip r:embed="rId5"/>
          <a:stretch>
            <a:fillRect/>
          </a:stretch>
        </p:blipFill>
        <p:spPr>
          <a:xfrm>
            <a:off x="5120640" y="4599432"/>
            <a:ext cx="256032" cy="256032"/>
          </a:xfrm>
          <a:prstGeom prst="rect">
            <a:avLst/>
          </a:prstGeom>
        </p:spPr>
      </p:pic>
      <p:sp>
        <p:nvSpPr>
          <p:cNvPr id="37" name="Text 30"/>
          <p:cNvSpPr txBox="1"/>
          <p:nvPr/>
        </p:nvSpPr>
        <p:spPr>
          <a:xfrm>
            <a:off x="5532120" y="4553712"/>
            <a:ext cx="6110935" cy="347472"/>
          </a:xfrm>
          <a:prstGeom prst="rect">
            <a:avLst/>
          </a:prstGeom>
          <a:noFill/>
          <a:ln/>
        </p:spPr>
        <p:txBody>
          <a:bodyPr wrap="square" lIns="0" tIns="0" rIns="0" bIns="0" rtlCol="0" anchor="ctr"/>
          <a:lstStyle/>
          <a:p>
            <a:pPr indent="0" marL="0">
              <a:buNone/>
            </a:pPr>
            <a:r>
              <a:rPr lang="en-US" sz="1400" dirty="0">
                <a:solidFill>
                  <a:schemeClr val="tx1"/>
                </a:solidFill>
              </a:rPr>
              <a:t>Cross-sell through Group BUs in other countries</a:t>
            </a:r>
            <a:endParaRPr lang="en-US" sz="1400" dirty="0"/>
          </a:p>
        </p:txBody>
      </p:sp>
      <p:pic>
        <p:nvPicPr>
          <p:cNvPr id="38" name="Image 5" descr="preencoded.png">    </p:cNvPr>
          <p:cNvPicPr>
            <a:picLocks noChangeAspect="1"/>
          </p:cNvPicPr>
          <p:nvPr/>
        </p:nvPicPr>
        <p:blipFill>
          <a:blip r:embed="rId6"/>
          <a:stretch>
            <a:fillRect/>
          </a:stretch>
        </p:blipFill>
        <p:spPr>
          <a:xfrm>
            <a:off x="5120640" y="5074920"/>
            <a:ext cx="256032" cy="256032"/>
          </a:xfrm>
          <a:prstGeom prst="rect">
            <a:avLst/>
          </a:prstGeom>
        </p:spPr>
      </p:pic>
      <p:sp>
        <p:nvSpPr>
          <p:cNvPr id="39" name="Text 31"/>
          <p:cNvSpPr txBox="1"/>
          <p:nvPr/>
        </p:nvSpPr>
        <p:spPr>
          <a:xfrm>
            <a:off x="5532120" y="5029200"/>
            <a:ext cx="6110935" cy="347472"/>
          </a:xfrm>
          <a:prstGeom prst="rect">
            <a:avLst/>
          </a:prstGeom>
          <a:noFill/>
          <a:ln/>
        </p:spPr>
        <p:txBody>
          <a:bodyPr wrap="square" lIns="0" tIns="0" rIns="0" bIns="0" rtlCol="0" anchor="ctr"/>
          <a:lstStyle/>
          <a:p>
            <a:pPr indent="0" marL="0">
              <a:buNone/>
            </a:pPr>
            <a:r>
              <a:rPr lang="en-US" sz="1400" dirty="0">
                <a:solidFill>
                  <a:schemeClr val="tx1"/>
                </a:solidFill>
              </a:rPr>
              <a:t>Regional sales and integration partners in ME &amp; SE Asia</a:t>
            </a:r>
            <a:endParaRPr lang="en-US" sz="1400" dirty="0"/>
          </a:p>
        </p:txBody>
      </p:sp>
      <p:pic>
        <p:nvPicPr>
          <p:cNvPr id="40" name="Image 6" descr="preencoded.png">    </p:cNvPr>
          <p:cNvPicPr>
            <a:picLocks noChangeAspect="1"/>
          </p:cNvPicPr>
          <p:nvPr/>
        </p:nvPicPr>
        <p:blipFill>
          <a:blip r:embed="rId7"/>
          <a:stretch>
            <a:fillRect/>
          </a:stretch>
        </p:blipFill>
        <p:spPr>
          <a:xfrm>
            <a:off x="5120640" y="5550408"/>
            <a:ext cx="256032" cy="256032"/>
          </a:xfrm>
          <a:prstGeom prst="rect">
            <a:avLst/>
          </a:prstGeom>
        </p:spPr>
      </p:pic>
      <p:sp>
        <p:nvSpPr>
          <p:cNvPr id="41" name="Text 32"/>
          <p:cNvSpPr txBox="1"/>
          <p:nvPr/>
        </p:nvSpPr>
        <p:spPr>
          <a:xfrm>
            <a:off x="5532120" y="5504688"/>
            <a:ext cx="6110935" cy="347472"/>
          </a:xfrm>
          <a:prstGeom prst="rect">
            <a:avLst/>
          </a:prstGeom>
          <a:noFill/>
          <a:ln/>
        </p:spPr>
        <p:txBody>
          <a:bodyPr wrap="square" lIns="0" tIns="0" rIns="0" bIns="0" rtlCol="0" anchor="ctr"/>
          <a:lstStyle/>
          <a:p>
            <a:pPr indent="0" marL="0">
              <a:buNone/>
            </a:pPr>
            <a:r>
              <a:rPr lang="en-US" sz="1400" dirty="0">
                <a:solidFill>
                  <a:schemeClr val="tx1"/>
                </a:solidFill>
              </a:rPr>
              <a:t>International needs built in: privacy, governance, manual fallback</a:t>
            </a:r>
            <a:endParaRPr lang="en-US" sz="14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Conclusion</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Ready to pilot, with a clear path to market</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Four reasons to back FastPass now.</a:t>
            </a:r>
            <a:endParaRPr lang="en-US" sz="1500" dirty="0"/>
          </a:p>
        </p:txBody>
      </p:sp>
      <p:sp>
        <p:nvSpPr>
          <p:cNvPr id="5" name="Shape 3"/>
          <p:cNvSpPr/>
          <p:nvPr/>
        </p:nvSpPr>
        <p:spPr>
          <a:xfrm>
            <a:off x="548640" y="2103120"/>
            <a:ext cx="475488" cy="475488"/>
          </a:xfrm>
          <a:prstGeom prst="ellipse">
            <a:avLst/>
          </a:prstGeom>
          <a:solidFill>
            <a:schemeClr val="accent1">
              <a:alpha val="12000"/>
            </a:schemeClr>
          </a:solidFill>
          <a:ln/>
        </p:spPr>
      </p:sp>
      <p:pic>
        <p:nvPicPr>
          <p:cNvPr id="6" name="Image 0" descr="preencoded.png">    </p:cNvPr>
          <p:cNvPicPr>
            <a:picLocks noChangeAspect="1"/>
          </p:cNvPicPr>
          <p:nvPr/>
        </p:nvPicPr>
        <p:blipFill>
          <a:blip r:embed="rId1"/>
          <a:stretch>
            <a:fillRect/>
          </a:stretch>
        </p:blipFill>
        <p:spPr>
          <a:xfrm>
            <a:off x="658002" y="2212482"/>
            <a:ext cx="256764" cy="256764"/>
          </a:xfrm>
          <a:prstGeom prst="rect">
            <a:avLst/>
          </a:prstGeom>
        </p:spPr>
      </p:pic>
      <p:sp>
        <p:nvSpPr>
          <p:cNvPr id="7" name="Text 4"/>
          <p:cNvSpPr txBox="1"/>
          <p:nvPr/>
        </p:nvSpPr>
        <p:spPr>
          <a:xfrm>
            <a:off x="1234440" y="2084832"/>
            <a:ext cx="5760720" cy="310896"/>
          </a:xfrm>
          <a:prstGeom prst="rect">
            <a:avLst/>
          </a:prstGeom>
          <a:noFill/>
          <a:ln/>
        </p:spPr>
        <p:txBody>
          <a:bodyPr wrap="square" lIns="0" tIns="0" rIns="0" bIns="0" rtlCol="0" anchor="ctr"/>
          <a:lstStyle/>
          <a:p>
            <a:pPr indent="0" marL="0">
              <a:buNone/>
            </a:pPr>
            <a:r>
              <a:rPr lang="en-US" sz="1800" b="1" dirty="0">
                <a:solidFill>
                  <a:schemeClr val="tx1"/>
                </a:solidFill>
              </a:rPr>
              <a:t>Clear operational need</a:t>
            </a:r>
            <a:endParaRPr lang="en-US" sz="1800" dirty="0"/>
          </a:p>
        </p:txBody>
      </p:sp>
      <p:sp>
        <p:nvSpPr>
          <p:cNvPr id="8" name="Text 5"/>
          <p:cNvSpPr txBox="1"/>
          <p:nvPr/>
        </p:nvSpPr>
        <p:spPr>
          <a:xfrm>
            <a:off x="1234440" y="2404872"/>
            <a:ext cx="5760720" cy="292608"/>
          </a:xfrm>
          <a:prstGeom prst="rect">
            <a:avLst/>
          </a:prstGeom>
          <a:noFill/>
          <a:ln/>
        </p:spPr>
        <p:txBody>
          <a:bodyPr wrap="square" lIns="0" tIns="0" rIns="0" bIns="0" rtlCol="0" anchor="ctr"/>
          <a:lstStyle/>
          <a:p>
            <a:pPr indent="0" marL="0">
              <a:buNone/>
            </a:pPr>
            <a:r>
              <a:rPr lang="en-US" sz="1400" dirty="0">
                <a:solidFill>
                  <a:schemeClr val="tx2"/>
                </a:solidFill>
              </a:rPr>
              <a:t>Demand is outgrowing terminals and staffing</a:t>
            </a:r>
            <a:endParaRPr lang="en-US" sz="1400" dirty="0"/>
          </a:p>
        </p:txBody>
      </p:sp>
      <p:sp>
        <p:nvSpPr>
          <p:cNvPr id="9" name="Shape 6"/>
          <p:cNvSpPr/>
          <p:nvPr/>
        </p:nvSpPr>
        <p:spPr>
          <a:xfrm>
            <a:off x="548640" y="2889504"/>
            <a:ext cx="475488" cy="475488"/>
          </a:xfrm>
          <a:prstGeom prst="ellipse">
            <a:avLst/>
          </a:prstGeom>
          <a:solidFill>
            <a:schemeClr val="accent1">
              <a:alpha val="12000"/>
            </a:schemeClr>
          </a:solidFill>
          <a:ln/>
        </p:spPr>
      </p:sp>
      <p:pic>
        <p:nvPicPr>
          <p:cNvPr id="10" name="Image 1" descr="preencoded.png">    </p:cNvPr>
          <p:cNvPicPr>
            <a:picLocks noChangeAspect="1"/>
          </p:cNvPicPr>
          <p:nvPr/>
        </p:nvPicPr>
        <p:blipFill>
          <a:blip r:embed="rId2"/>
          <a:stretch>
            <a:fillRect/>
          </a:stretch>
        </p:blipFill>
        <p:spPr>
          <a:xfrm>
            <a:off x="658002" y="2998866"/>
            <a:ext cx="256764" cy="256764"/>
          </a:xfrm>
          <a:prstGeom prst="rect">
            <a:avLst/>
          </a:prstGeom>
        </p:spPr>
      </p:pic>
      <p:sp>
        <p:nvSpPr>
          <p:cNvPr id="11" name="Text 7"/>
          <p:cNvSpPr txBox="1"/>
          <p:nvPr/>
        </p:nvSpPr>
        <p:spPr>
          <a:xfrm>
            <a:off x="1234440" y="2871216"/>
            <a:ext cx="5760720" cy="310896"/>
          </a:xfrm>
          <a:prstGeom prst="rect">
            <a:avLst/>
          </a:prstGeom>
          <a:noFill/>
          <a:ln/>
        </p:spPr>
        <p:txBody>
          <a:bodyPr wrap="square" lIns="0" tIns="0" rIns="0" bIns="0" rtlCol="0" anchor="ctr"/>
          <a:lstStyle/>
          <a:p>
            <a:pPr indent="0" marL="0">
              <a:buNone/>
            </a:pPr>
            <a:r>
              <a:rPr lang="en-US" sz="1800" b="1" dirty="0">
                <a:solidFill>
                  <a:schemeClr val="tx1"/>
                </a:solidFill>
              </a:rPr>
              <a:t>Focused market</a:t>
            </a:r>
            <a:endParaRPr lang="en-US" sz="1800" dirty="0"/>
          </a:p>
        </p:txBody>
      </p:sp>
      <p:sp>
        <p:nvSpPr>
          <p:cNvPr id="12" name="Text 8"/>
          <p:cNvSpPr txBox="1"/>
          <p:nvPr/>
        </p:nvSpPr>
        <p:spPr>
          <a:xfrm>
            <a:off x="1234440" y="3191256"/>
            <a:ext cx="5760720" cy="292608"/>
          </a:xfrm>
          <a:prstGeom prst="rect">
            <a:avLst/>
          </a:prstGeom>
          <a:noFill/>
          <a:ln/>
        </p:spPr>
        <p:txBody>
          <a:bodyPr wrap="square" lIns="0" tIns="0" rIns="0" bIns="0" rtlCol="0" anchor="ctr"/>
          <a:lstStyle/>
          <a:p>
            <a:pPr indent="0" marL="0">
              <a:buNone/>
            </a:pPr>
            <a:r>
              <a:rPr lang="en-US" sz="1400" dirty="0">
                <a:solidFill>
                  <a:schemeClr val="tx2"/>
                </a:solidFill>
              </a:rPr>
              <a:t>US$100–140M a year in ME and SE Asia</a:t>
            </a:r>
            <a:endParaRPr lang="en-US" sz="1400" dirty="0"/>
          </a:p>
        </p:txBody>
      </p:sp>
      <p:sp>
        <p:nvSpPr>
          <p:cNvPr id="13" name="Shape 9"/>
          <p:cNvSpPr/>
          <p:nvPr/>
        </p:nvSpPr>
        <p:spPr>
          <a:xfrm>
            <a:off x="548640" y="3675888"/>
            <a:ext cx="475488" cy="475488"/>
          </a:xfrm>
          <a:prstGeom prst="ellipse">
            <a:avLst/>
          </a:prstGeom>
          <a:solidFill>
            <a:schemeClr val="accent2">
              <a:alpha val="12000"/>
            </a:schemeClr>
          </a:solidFill>
          <a:ln/>
        </p:spPr>
      </p:sp>
      <p:pic>
        <p:nvPicPr>
          <p:cNvPr id="14" name="Image 2" descr="preencoded.png">    </p:cNvPr>
          <p:cNvPicPr>
            <a:picLocks noChangeAspect="1"/>
          </p:cNvPicPr>
          <p:nvPr/>
        </p:nvPicPr>
        <p:blipFill>
          <a:blip r:embed="rId3"/>
          <a:stretch>
            <a:fillRect/>
          </a:stretch>
        </p:blipFill>
        <p:spPr>
          <a:xfrm>
            <a:off x="658002" y="3785250"/>
            <a:ext cx="256764" cy="256764"/>
          </a:xfrm>
          <a:prstGeom prst="rect">
            <a:avLst/>
          </a:prstGeom>
        </p:spPr>
      </p:pic>
      <p:sp>
        <p:nvSpPr>
          <p:cNvPr id="15" name="Text 10"/>
          <p:cNvSpPr txBox="1"/>
          <p:nvPr/>
        </p:nvSpPr>
        <p:spPr>
          <a:xfrm>
            <a:off x="1234440" y="3657600"/>
            <a:ext cx="5760720" cy="310896"/>
          </a:xfrm>
          <a:prstGeom prst="rect">
            <a:avLst/>
          </a:prstGeom>
          <a:noFill/>
          <a:ln/>
        </p:spPr>
        <p:txBody>
          <a:bodyPr wrap="square" lIns="0" tIns="0" rIns="0" bIns="0" rtlCol="0" anchor="ctr"/>
          <a:lstStyle/>
          <a:p>
            <a:pPr indent="0" marL="0">
              <a:buNone/>
            </a:pPr>
            <a:r>
              <a:rPr lang="en-US" sz="1800" b="1" dirty="0">
                <a:solidFill>
                  <a:schemeClr val="tx1"/>
                </a:solidFill>
              </a:rPr>
              <a:t>Working product</a:t>
            </a:r>
            <a:endParaRPr lang="en-US" sz="1800" dirty="0"/>
          </a:p>
        </p:txBody>
      </p:sp>
      <p:sp>
        <p:nvSpPr>
          <p:cNvPr id="16" name="Text 11"/>
          <p:cNvSpPr txBox="1"/>
          <p:nvPr/>
        </p:nvSpPr>
        <p:spPr>
          <a:xfrm>
            <a:off x="1234440" y="3977640"/>
            <a:ext cx="5760720" cy="292608"/>
          </a:xfrm>
          <a:prstGeom prst="rect">
            <a:avLst/>
          </a:prstGeom>
          <a:noFill/>
          <a:ln/>
        </p:spPr>
        <p:txBody>
          <a:bodyPr wrap="square" lIns="0" tIns="0" rIns="0" bIns="0" rtlCol="0" anchor="ctr"/>
          <a:lstStyle/>
          <a:p>
            <a:pPr indent="0" marL="0">
              <a:buNone/>
            </a:pPr>
            <a:r>
              <a:rPr lang="en-US" sz="1400" dirty="0">
                <a:solidFill>
                  <a:schemeClr val="tx2"/>
                </a:solidFill>
              </a:rPr>
              <a:t>Integrated prototype, Singapore Airshow 2026</a:t>
            </a:r>
            <a:endParaRPr lang="en-US" sz="1400" dirty="0"/>
          </a:p>
        </p:txBody>
      </p:sp>
      <p:sp>
        <p:nvSpPr>
          <p:cNvPr id="17" name="Shape 12"/>
          <p:cNvSpPr/>
          <p:nvPr/>
        </p:nvSpPr>
        <p:spPr>
          <a:xfrm>
            <a:off x="548640" y="4462272"/>
            <a:ext cx="475488" cy="475488"/>
          </a:xfrm>
          <a:prstGeom prst="ellipse">
            <a:avLst/>
          </a:prstGeom>
          <a:solidFill>
            <a:schemeClr val="accent1">
              <a:alpha val="12000"/>
            </a:schemeClr>
          </a:solidFill>
          <a:ln/>
        </p:spPr>
      </p:sp>
      <p:pic>
        <p:nvPicPr>
          <p:cNvPr id="18" name="Image 3" descr="preencoded.png">    </p:cNvPr>
          <p:cNvPicPr>
            <a:picLocks noChangeAspect="1"/>
          </p:cNvPicPr>
          <p:nvPr/>
        </p:nvPicPr>
        <p:blipFill>
          <a:blip r:embed="rId4"/>
          <a:stretch>
            <a:fillRect/>
          </a:stretch>
        </p:blipFill>
        <p:spPr>
          <a:xfrm>
            <a:off x="658002" y="4571634"/>
            <a:ext cx="256764" cy="256764"/>
          </a:xfrm>
          <a:prstGeom prst="rect">
            <a:avLst/>
          </a:prstGeom>
        </p:spPr>
      </p:pic>
      <p:sp>
        <p:nvSpPr>
          <p:cNvPr id="19" name="Text 13"/>
          <p:cNvSpPr txBox="1"/>
          <p:nvPr/>
        </p:nvSpPr>
        <p:spPr>
          <a:xfrm>
            <a:off x="1234440" y="4443984"/>
            <a:ext cx="5760720" cy="310896"/>
          </a:xfrm>
          <a:prstGeom prst="rect">
            <a:avLst/>
          </a:prstGeom>
          <a:noFill/>
          <a:ln/>
        </p:spPr>
        <p:txBody>
          <a:bodyPr wrap="square" lIns="0" tIns="0" rIns="0" bIns="0" rtlCol="0" anchor="ctr"/>
          <a:lstStyle/>
          <a:p>
            <a:pPr indent="0" marL="0">
              <a:buNone/>
            </a:pPr>
            <a:r>
              <a:rPr lang="en-US" sz="1800" b="1" dirty="0">
                <a:solidFill>
                  <a:schemeClr val="tx1"/>
                </a:solidFill>
              </a:rPr>
              <a:t>Defensible edge</a:t>
            </a:r>
            <a:endParaRPr lang="en-US" sz="1800" dirty="0"/>
          </a:p>
        </p:txBody>
      </p:sp>
      <p:sp>
        <p:nvSpPr>
          <p:cNvPr id="20" name="Text 14"/>
          <p:cNvSpPr txBox="1"/>
          <p:nvPr/>
        </p:nvSpPr>
        <p:spPr>
          <a:xfrm>
            <a:off x="1234440" y="4764024"/>
            <a:ext cx="5760720" cy="292608"/>
          </a:xfrm>
          <a:prstGeom prst="rect">
            <a:avLst/>
          </a:prstGeom>
          <a:noFill/>
          <a:ln/>
        </p:spPr>
        <p:txBody>
          <a:bodyPr wrap="square" lIns="0" tIns="0" rIns="0" bIns="0" rtlCol="0" anchor="ctr"/>
          <a:lstStyle/>
          <a:p>
            <a:pPr indent="0" marL="0">
              <a:buNone/>
            </a:pPr>
            <a:r>
              <a:rPr lang="en-US" sz="1400" dirty="0">
                <a:solidFill>
                  <a:schemeClr val="tx2"/>
                </a:solidFill>
              </a:rPr>
              <a:t>Two-factor credential, converged security ops</a:t>
            </a:r>
            <a:endParaRPr lang="en-US" sz="1400" dirty="0"/>
          </a:p>
        </p:txBody>
      </p:sp>
      <p:sp>
        <p:nvSpPr>
          <p:cNvPr id="21" name="Shape 15"/>
          <p:cNvSpPr/>
          <p:nvPr/>
        </p:nvSpPr>
        <p:spPr>
          <a:xfrm>
            <a:off x="7178040" y="2029968"/>
            <a:ext cx="4465015" cy="3154680"/>
          </a:xfrm>
          <a:prstGeom prst="roundRect">
            <a:avLst>
              <a:gd name="adj" fmla="val 4058"/>
            </a:avLst>
          </a:prstGeom>
          <a:solidFill>
            <a:schemeClr val="bg1"/>
          </a:solidFill>
          <a:ln/>
          <a:effectLst>
            <a:outerShdw sx="100000" sy="100000" kx="0" ky="0" algn="bl" rotWithShape="0" blurRad="203200" dist="38100" dir="5400000">
              <a:srgbClr val="0A1628">
                <a:alpha val="9000"/>
              </a:srgbClr>
            </a:outerShdw>
          </a:effectLst>
        </p:spPr>
      </p:sp>
      <p:sp>
        <p:nvSpPr>
          <p:cNvPr id="22" name="Text 16"/>
          <p:cNvSpPr txBox="1"/>
          <p:nvPr/>
        </p:nvSpPr>
        <p:spPr>
          <a:xfrm>
            <a:off x="7498080" y="2157984"/>
            <a:ext cx="3824935" cy="329184"/>
          </a:xfrm>
          <a:prstGeom prst="rect">
            <a:avLst/>
          </a:prstGeom>
          <a:noFill/>
          <a:ln/>
        </p:spPr>
        <p:txBody>
          <a:bodyPr wrap="square" lIns="0" tIns="0" rIns="0" bIns="0" rtlCol="0" anchor="ctr"/>
          <a:lstStyle/>
          <a:p>
            <a:pPr indent="0" marL="0">
              <a:buNone/>
            </a:pPr>
            <a:r>
              <a:rPr lang="en-US" sz="1700" b="1" dirty="0">
                <a:solidFill>
                  <a:schemeClr val="tx1"/>
                </a:solidFill>
              </a:rPr>
              <a:t>Path to market</a:t>
            </a:r>
            <a:endParaRPr lang="en-US" sz="1700" dirty="0"/>
          </a:p>
        </p:txBody>
      </p:sp>
      <p:sp>
        <p:nvSpPr>
          <p:cNvPr id="23" name="Shape 17"/>
          <p:cNvSpPr/>
          <p:nvPr/>
        </p:nvSpPr>
        <p:spPr>
          <a:xfrm>
            <a:off x="7598664" y="2697480"/>
            <a:ext cx="0" cy="2011680"/>
          </a:xfrm>
          <a:prstGeom prst="line">
            <a:avLst/>
          </a:prstGeom>
          <a:noFill/>
          <a:ln w="19050">
            <a:solidFill>
              <a:schemeClr val="accent5"/>
            </a:solidFill>
            <a:prstDash val="solid"/>
          </a:ln>
        </p:spPr>
      </p:sp>
      <p:sp>
        <p:nvSpPr>
          <p:cNvPr id="24" name="Shape 18"/>
          <p:cNvSpPr/>
          <p:nvPr/>
        </p:nvSpPr>
        <p:spPr>
          <a:xfrm>
            <a:off x="7507224" y="2651760"/>
            <a:ext cx="182880" cy="182880"/>
          </a:xfrm>
          <a:prstGeom prst="ellipse">
            <a:avLst/>
          </a:prstGeom>
          <a:solidFill>
            <a:schemeClr val="accent2"/>
          </a:solidFill>
          <a:ln w="15875">
            <a:solidFill>
              <a:schemeClr val="accent2"/>
            </a:solidFill>
            <a:prstDash val="solid"/>
          </a:ln>
        </p:spPr>
      </p:sp>
      <p:sp>
        <p:nvSpPr>
          <p:cNvPr id="25" name="Text 19"/>
          <p:cNvSpPr txBox="1"/>
          <p:nvPr/>
        </p:nvSpPr>
        <p:spPr>
          <a:xfrm>
            <a:off x="7891272" y="2606040"/>
            <a:ext cx="3550615" cy="219456"/>
          </a:xfrm>
          <a:prstGeom prst="rect">
            <a:avLst/>
          </a:prstGeom>
          <a:noFill/>
          <a:ln/>
        </p:spPr>
        <p:txBody>
          <a:bodyPr wrap="square" lIns="0" tIns="0" rIns="0" bIns="0" rtlCol="0" anchor="ctr"/>
          <a:lstStyle/>
          <a:p>
            <a:pPr indent="0" marL="0">
              <a:buNone/>
            </a:pPr>
            <a:r>
              <a:rPr lang="en-US" sz="1100" b="1" spc="150" kern="0" dirty="0">
                <a:solidFill>
                  <a:schemeClr val="accent2"/>
                </a:solidFill>
              </a:rPr>
              <a:t>FEB 2026</a:t>
            </a:r>
            <a:endParaRPr lang="en-US" sz="1100" dirty="0"/>
          </a:p>
        </p:txBody>
      </p:sp>
      <p:sp>
        <p:nvSpPr>
          <p:cNvPr id="26" name="Text 20"/>
          <p:cNvSpPr txBox="1"/>
          <p:nvPr/>
        </p:nvSpPr>
        <p:spPr>
          <a:xfrm>
            <a:off x="7891272" y="2834640"/>
            <a:ext cx="3550615" cy="274320"/>
          </a:xfrm>
          <a:prstGeom prst="rect">
            <a:avLst/>
          </a:prstGeom>
          <a:noFill/>
          <a:ln/>
        </p:spPr>
        <p:txBody>
          <a:bodyPr wrap="square" lIns="0" tIns="0" rIns="0" bIns="0" rtlCol="0" anchor="ctr"/>
          <a:lstStyle/>
          <a:p>
            <a:pPr indent="0" marL="0">
              <a:buNone/>
            </a:pPr>
            <a:r>
              <a:rPr lang="en-US" sz="1300" dirty="0">
                <a:solidFill>
                  <a:schemeClr val="tx1"/>
                </a:solidFill>
              </a:rPr>
              <a:t>Prototype live at Singapore Airshow</a:t>
            </a:r>
            <a:endParaRPr lang="en-US" sz="1300" dirty="0"/>
          </a:p>
        </p:txBody>
      </p:sp>
      <p:sp>
        <p:nvSpPr>
          <p:cNvPr id="27" name="Shape 21"/>
          <p:cNvSpPr/>
          <p:nvPr/>
        </p:nvSpPr>
        <p:spPr>
          <a:xfrm>
            <a:off x="7507224" y="3154680"/>
            <a:ext cx="182880" cy="182880"/>
          </a:xfrm>
          <a:prstGeom prst="ellipse">
            <a:avLst/>
          </a:prstGeom>
          <a:solidFill>
            <a:schemeClr val="accent1"/>
          </a:solidFill>
          <a:ln w="15875">
            <a:solidFill>
              <a:schemeClr val="accent1"/>
            </a:solidFill>
            <a:prstDash val="solid"/>
          </a:ln>
        </p:spPr>
      </p:sp>
      <p:sp>
        <p:nvSpPr>
          <p:cNvPr id="28" name="Text 22"/>
          <p:cNvSpPr txBox="1"/>
          <p:nvPr/>
        </p:nvSpPr>
        <p:spPr>
          <a:xfrm>
            <a:off x="7891272" y="3108960"/>
            <a:ext cx="3550615" cy="219456"/>
          </a:xfrm>
          <a:prstGeom prst="rect">
            <a:avLst/>
          </a:prstGeom>
          <a:noFill/>
          <a:ln/>
        </p:spPr>
        <p:txBody>
          <a:bodyPr wrap="square" lIns="0" tIns="0" rIns="0" bIns="0" rtlCol="0" anchor="ctr"/>
          <a:lstStyle/>
          <a:p>
            <a:pPr indent="0" marL="0">
              <a:buNone/>
            </a:pPr>
            <a:r>
              <a:rPr lang="en-US" sz="1100" b="1" spc="150" kern="0" dirty="0">
                <a:solidFill>
                  <a:schemeClr val="accent1"/>
                </a:solidFill>
              </a:rPr>
              <a:t>OCT 2026</a:t>
            </a:r>
            <a:endParaRPr lang="en-US" sz="1100" dirty="0"/>
          </a:p>
        </p:txBody>
      </p:sp>
      <p:sp>
        <p:nvSpPr>
          <p:cNvPr id="29" name="Text 23"/>
          <p:cNvSpPr txBox="1"/>
          <p:nvPr/>
        </p:nvSpPr>
        <p:spPr>
          <a:xfrm>
            <a:off x="7891272" y="3337560"/>
            <a:ext cx="3550615" cy="274320"/>
          </a:xfrm>
          <a:prstGeom prst="rect">
            <a:avLst/>
          </a:prstGeom>
          <a:noFill/>
          <a:ln/>
        </p:spPr>
        <p:txBody>
          <a:bodyPr wrap="square" lIns="0" tIns="0" rIns="0" bIns="0" rtlCol="0" anchor="ctr"/>
          <a:lstStyle/>
          <a:p>
            <a:pPr indent="0" marL="0">
              <a:buNone/>
            </a:pPr>
            <a:r>
              <a:rPr lang="en-US" sz="1300" dirty="0">
                <a:solidFill>
                  <a:schemeClr val="tx1"/>
                </a:solidFill>
              </a:rPr>
              <a:t>InnoChamp 2026</a:t>
            </a:r>
            <a:endParaRPr lang="en-US" sz="1300" dirty="0"/>
          </a:p>
        </p:txBody>
      </p:sp>
      <p:sp>
        <p:nvSpPr>
          <p:cNvPr id="30" name="Shape 24"/>
          <p:cNvSpPr/>
          <p:nvPr/>
        </p:nvSpPr>
        <p:spPr>
          <a:xfrm>
            <a:off x="7507224" y="3657600"/>
            <a:ext cx="182880" cy="182880"/>
          </a:xfrm>
          <a:prstGeom prst="ellipse">
            <a:avLst/>
          </a:prstGeom>
          <a:solidFill>
            <a:schemeClr val="bg1"/>
          </a:solidFill>
          <a:ln w="15875">
            <a:solidFill>
              <a:schemeClr val="accent1"/>
            </a:solidFill>
            <a:prstDash val="solid"/>
          </a:ln>
        </p:spPr>
      </p:sp>
      <p:sp>
        <p:nvSpPr>
          <p:cNvPr id="31" name="Text 25"/>
          <p:cNvSpPr txBox="1"/>
          <p:nvPr/>
        </p:nvSpPr>
        <p:spPr>
          <a:xfrm>
            <a:off x="7891272" y="3611880"/>
            <a:ext cx="3550615" cy="219456"/>
          </a:xfrm>
          <a:prstGeom prst="rect">
            <a:avLst/>
          </a:prstGeom>
          <a:noFill/>
          <a:ln/>
        </p:spPr>
        <p:txBody>
          <a:bodyPr wrap="square" lIns="0" tIns="0" rIns="0" bIns="0" rtlCol="0" anchor="ctr"/>
          <a:lstStyle/>
          <a:p>
            <a:pPr indent="0" marL="0">
              <a:buNone/>
            </a:pPr>
            <a:r>
              <a:rPr lang="en-US" sz="1100" b="1" spc="150" kern="0" dirty="0">
                <a:solidFill>
                  <a:schemeClr val="accent1"/>
                </a:solidFill>
              </a:rPr>
              <a:t>Q4 2026</a:t>
            </a:r>
            <a:endParaRPr lang="en-US" sz="1100" dirty="0"/>
          </a:p>
        </p:txBody>
      </p:sp>
      <p:sp>
        <p:nvSpPr>
          <p:cNvPr id="32" name="Text 26"/>
          <p:cNvSpPr txBox="1"/>
          <p:nvPr/>
        </p:nvSpPr>
        <p:spPr>
          <a:xfrm>
            <a:off x="7891272" y="3840480"/>
            <a:ext cx="3550615" cy="274320"/>
          </a:xfrm>
          <a:prstGeom prst="rect">
            <a:avLst/>
          </a:prstGeom>
          <a:noFill/>
          <a:ln/>
        </p:spPr>
        <p:txBody>
          <a:bodyPr wrap="square" lIns="0" tIns="0" rIns="0" bIns="0" rtlCol="0" anchor="ctr"/>
          <a:lstStyle/>
          <a:p>
            <a:pPr indent="0" marL="0">
              <a:buNone/>
            </a:pPr>
            <a:r>
              <a:rPr lang="en-US" sz="1300" dirty="0">
                <a:solidFill>
                  <a:schemeClr val="tx1"/>
                </a:solidFill>
              </a:rPr>
              <a:t>Live demo with airport stakeholders</a:t>
            </a:r>
            <a:endParaRPr lang="en-US" sz="1300" dirty="0"/>
          </a:p>
        </p:txBody>
      </p:sp>
      <p:sp>
        <p:nvSpPr>
          <p:cNvPr id="33" name="Shape 27"/>
          <p:cNvSpPr/>
          <p:nvPr/>
        </p:nvSpPr>
        <p:spPr>
          <a:xfrm>
            <a:off x="7507224" y="4160520"/>
            <a:ext cx="182880" cy="182880"/>
          </a:xfrm>
          <a:prstGeom prst="ellipse">
            <a:avLst/>
          </a:prstGeom>
          <a:solidFill>
            <a:schemeClr val="bg1"/>
          </a:solidFill>
          <a:ln w="15875">
            <a:solidFill>
              <a:schemeClr val="accent1"/>
            </a:solidFill>
            <a:prstDash val="solid"/>
          </a:ln>
        </p:spPr>
      </p:sp>
      <p:sp>
        <p:nvSpPr>
          <p:cNvPr id="34" name="Text 28"/>
          <p:cNvSpPr txBox="1"/>
          <p:nvPr/>
        </p:nvSpPr>
        <p:spPr>
          <a:xfrm>
            <a:off x="7891272" y="4114800"/>
            <a:ext cx="3550615" cy="219456"/>
          </a:xfrm>
          <a:prstGeom prst="rect">
            <a:avLst/>
          </a:prstGeom>
          <a:noFill/>
          <a:ln/>
        </p:spPr>
        <p:txBody>
          <a:bodyPr wrap="square" lIns="0" tIns="0" rIns="0" bIns="0" rtlCol="0" anchor="ctr"/>
          <a:lstStyle/>
          <a:p>
            <a:pPr indent="0" marL="0">
              <a:buNone/>
            </a:pPr>
            <a:r>
              <a:rPr lang="en-US" sz="1100" b="1" spc="150" kern="0" dirty="0">
                <a:solidFill>
                  <a:schemeClr val="accent1"/>
                </a:solidFill>
              </a:rPr>
              <a:t>APR 2027</a:t>
            </a:r>
            <a:endParaRPr lang="en-US" sz="1100" dirty="0"/>
          </a:p>
        </p:txBody>
      </p:sp>
      <p:sp>
        <p:nvSpPr>
          <p:cNvPr id="35" name="Text 29"/>
          <p:cNvSpPr txBox="1"/>
          <p:nvPr/>
        </p:nvSpPr>
        <p:spPr>
          <a:xfrm>
            <a:off x="7891272" y="4343400"/>
            <a:ext cx="3550615" cy="274320"/>
          </a:xfrm>
          <a:prstGeom prst="rect">
            <a:avLst/>
          </a:prstGeom>
          <a:noFill/>
          <a:ln/>
        </p:spPr>
        <p:txBody>
          <a:bodyPr wrap="square" lIns="0" tIns="0" rIns="0" bIns="0" rtlCol="0" anchor="ctr"/>
          <a:lstStyle/>
          <a:p>
            <a:pPr indent="0" marL="0">
              <a:buNone/>
            </a:pPr>
            <a:r>
              <a:rPr lang="en-US" sz="1300" dirty="0">
                <a:solidFill>
                  <a:schemeClr val="tx1"/>
                </a:solidFill>
              </a:rPr>
              <a:t>Passenger Terminal World, Amsterdam</a:t>
            </a:r>
            <a:endParaRPr lang="en-US" sz="1300" dirty="0"/>
          </a:p>
        </p:txBody>
      </p:sp>
      <p:sp>
        <p:nvSpPr>
          <p:cNvPr id="36" name="Shape 30"/>
          <p:cNvSpPr/>
          <p:nvPr/>
        </p:nvSpPr>
        <p:spPr>
          <a:xfrm>
            <a:off x="7507224" y="4663440"/>
            <a:ext cx="182880" cy="182880"/>
          </a:xfrm>
          <a:prstGeom prst="ellipse">
            <a:avLst/>
          </a:prstGeom>
          <a:solidFill>
            <a:schemeClr val="bg1"/>
          </a:solidFill>
          <a:ln w="15875">
            <a:solidFill>
              <a:schemeClr val="accent1"/>
            </a:solidFill>
            <a:prstDash val="solid"/>
          </a:ln>
        </p:spPr>
      </p:sp>
      <p:sp>
        <p:nvSpPr>
          <p:cNvPr id="37" name="Text 31"/>
          <p:cNvSpPr txBox="1"/>
          <p:nvPr/>
        </p:nvSpPr>
        <p:spPr>
          <a:xfrm>
            <a:off x="7891272" y="4617720"/>
            <a:ext cx="3550615" cy="219456"/>
          </a:xfrm>
          <a:prstGeom prst="rect">
            <a:avLst/>
          </a:prstGeom>
          <a:noFill/>
          <a:ln/>
        </p:spPr>
        <p:txBody>
          <a:bodyPr wrap="square" lIns="0" tIns="0" rIns="0" bIns="0" rtlCol="0" anchor="ctr"/>
          <a:lstStyle/>
          <a:p>
            <a:pPr indent="0" marL="0">
              <a:buNone/>
            </a:pPr>
            <a:r>
              <a:rPr lang="en-US" sz="1100" b="1" spc="150" kern="0" dirty="0">
                <a:solidFill>
                  <a:schemeClr val="accent1"/>
                </a:solidFill>
              </a:rPr>
              <a:t>2027</a:t>
            </a:r>
            <a:endParaRPr lang="en-US" sz="1100" dirty="0"/>
          </a:p>
        </p:txBody>
      </p:sp>
      <p:sp>
        <p:nvSpPr>
          <p:cNvPr id="38" name="Text 32"/>
          <p:cNvSpPr txBox="1"/>
          <p:nvPr/>
        </p:nvSpPr>
        <p:spPr>
          <a:xfrm>
            <a:off x="7891272" y="4846320"/>
            <a:ext cx="3550615" cy="274320"/>
          </a:xfrm>
          <a:prstGeom prst="rect">
            <a:avLst/>
          </a:prstGeom>
          <a:noFill/>
          <a:ln/>
        </p:spPr>
        <p:txBody>
          <a:bodyPr wrap="square" lIns="0" tIns="0" rIns="0" bIns="0" rtlCol="0" anchor="ctr"/>
          <a:lstStyle/>
          <a:p>
            <a:pPr indent="0" marL="0">
              <a:buNone/>
            </a:pPr>
            <a:r>
              <a:rPr lang="en-US" sz="1300" dirty="0">
                <a:solidFill>
                  <a:schemeClr val="tx1"/>
                </a:solidFill>
              </a:rPr>
              <a:t>First customer pilot (target)</a:t>
            </a:r>
            <a:endParaRPr lang="en-US" sz="1300" dirty="0"/>
          </a:p>
        </p:txBody>
      </p:sp>
      <p:sp>
        <p:nvSpPr>
          <p:cNvPr id="39" name="Shape 33"/>
          <p:cNvSpPr/>
          <p:nvPr/>
        </p:nvSpPr>
        <p:spPr>
          <a:xfrm>
            <a:off x="548640" y="5394960"/>
            <a:ext cx="11094415" cy="658368"/>
          </a:xfrm>
          <a:prstGeom prst="roundRect">
            <a:avLst>
              <a:gd name="adj" fmla="val 19444"/>
            </a:avLst>
          </a:prstGeom>
          <a:solidFill>
            <a:schemeClr val="accent6"/>
          </a:solidFill>
          <a:ln/>
          <a:effectLst>
            <a:outerShdw sx="100000" sy="100000" kx="0" ky="0" algn="bl" rotWithShape="0" blurRad="203200" dist="38100" dir="5400000">
              <a:srgbClr val="0A1628">
                <a:alpha val="9000"/>
              </a:srgbClr>
            </a:outerShdw>
          </a:effectLst>
        </p:spPr>
      </p:sp>
      <p:sp>
        <p:nvSpPr>
          <p:cNvPr id="40" name="Text 34"/>
          <p:cNvSpPr txBox="1"/>
          <p:nvPr/>
        </p:nvSpPr>
        <p:spPr>
          <a:xfrm>
            <a:off x="868680" y="5605272"/>
            <a:ext cx="1188720" cy="237744"/>
          </a:xfrm>
          <a:prstGeom prst="rect">
            <a:avLst/>
          </a:prstGeom>
          <a:noFill/>
          <a:ln/>
        </p:spPr>
        <p:txBody>
          <a:bodyPr wrap="square" lIns="0" tIns="0" rIns="0" bIns="0" rtlCol="0" anchor="ctr"/>
          <a:lstStyle/>
          <a:p>
            <a:pPr indent="0" marL="0">
              <a:buNone/>
            </a:pPr>
            <a:r>
              <a:rPr lang="en-US" sz="1100" b="1" spc="200" kern="0" dirty="0">
                <a:solidFill>
                  <a:schemeClr val="accent5"/>
                </a:solidFill>
              </a:rPr>
              <a:t>OUR ASK</a:t>
            </a:r>
            <a:endParaRPr lang="en-US" sz="1100" dirty="0"/>
          </a:p>
        </p:txBody>
      </p:sp>
      <p:pic>
        <p:nvPicPr>
          <p:cNvPr id="41" name="Image 4" descr="preencoded.png">    </p:cNvPr>
          <p:cNvPicPr>
            <a:picLocks noChangeAspect="1"/>
          </p:cNvPicPr>
          <p:nvPr/>
        </p:nvPicPr>
        <p:blipFill>
          <a:blip r:embed="rId5"/>
          <a:stretch>
            <a:fillRect/>
          </a:stretch>
        </p:blipFill>
        <p:spPr>
          <a:xfrm>
            <a:off x="2103120" y="5586984"/>
            <a:ext cx="274320" cy="274320"/>
          </a:xfrm>
          <a:prstGeom prst="rect">
            <a:avLst/>
          </a:prstGeom>
        </p:spPr>
      </p:pic>
      <p:sp>
        <p:nvSpPr>
          <p:cNvPr id="42" name="Text 35"/>
          <p:cNvSpPr txBox="1"/>
          <p:nvPr/>
        </p:nvSpPr>
        <p:spPr>
          <a:xfrm>
            <a:off x="2487168" y="5394960"/>
            <a:ext cx="2926080" cy="658368"/>
          </a:xfrm>
          <a:prstGeom prst="rect">
            <a:avLst/>
          </a:prstGeom>
          <a:noFill/>
          <a:ln/>
        </p:spPr>
        <p:txBody>
          <a:bodyPr wrap="square" lIns="0" tIns="0" rIns="0" bIns="0" rtlCol="0" anchor="ctr"/>
          <a:lstStyle/>
          <a:p>
            <a:pPr indent="0" marL="0">
              <a:buNone/>
            </a:pPr>
            <a:r>
              <a:rPr lang="en-US" sz="1400" b="1" dirty="0">
                <a:solidFill>
                  <a:schemeClr val="bg1"/>
                </a:solidFill>
              </a:rPr>
              <a:t>Productisation funding</a:t>
            </a:r>
            <a:endParaRPr lang="en-US" sz="1400" dirty="0"/>
          </a:p>
        </p:txBody>
      </p:sp>
      <p:pic>
        <p:nvPicPr>
          <p:cNvPr id="43" name="Image 5" descr="preencoded.png">    </p:cNvPr>
          <p:cNvPicPr>
            <a:picLocks noChangeAspect="1"/>
          </p:cNvPicPr>
          <p:nvPr/>
        </p:nvPicPr>
        <p:blipFill>
          <a:blip r:embed="rId6"/>
          <a:stretch>
            <a:fillRect/>
          </a:stretch>
        </p:blipFill>
        <p:spPr>
          <a:xfrm>
            <a:off x="4846320" y="5586984"/>
            <a:ext cx="274320" cy="274320"/>
          </a:xfrm>
          <a:prstGeom prst="rect">
            <a:avLst/>
          </a:prstGeom>
        </p:spPr>
      </p:pic>
      <p:sp>
        <p:nvSpPr>
          <p:cNvPr id="44" name="Text 36"/>
          <p:cNvSpPr txBox="1"/>
          <p:nvPr/>
        </p:nvSpPr>
        <p:spPr>
          <a:xfrm>
            <a:off x="5230368" y="5394960"/>
            <a:ext cx="2926080" cy="658368"/>
          </a:xfrm>
          <a:prstGeom prst="rect">
            <a:avLst/>
          </a:prstGeom>
          <a:noFill/>
          <a:ln/>
        </p:spPr>
        <p:txBody>
          <a:bodyPr wrap="square" lIns="0" tIns="0" rIns="0" bIns="0" rtlCol="0" anchor="ctr"/>
          <a:lstStyle/>
          <a:p>
            <a:pPr indent="0" marL="0">
              <a:buNone/>
            </a:pPr>
            <a:r>
              <a:rPr lang="en-US" sz="1400" b="1" dirty="0">
                <a:solidFill>
                  <a:schemeClr val="bg1"/>
                </a:solidFill>
              </a:rPr>
              <a:t>Launch customer via Group Sales</a:t>
            </a:r>
            <a:endParaRPr lang="en-US" sz="1400" dirty="0"/>
          </a:p>
        </p:txBody>
      </p:sp>
      <p:pic>
        <p:nvPicPr>
          <p:cNvPr id="45" name="Image 6" descr="preencoded.png">    </p:cNvPr>
          <p:cNvPicPr>
            <a:picLocks noChangeAspect="1"/>
          </p:cNvPicPr>
          <p:nvPr/>
        </p:nvPicPr>
        <p:blipFill>
          <a:blip r:embed="rId7"/>
          <a:stretch>
            <a:fillRect/>
          </a:stretch>
        </p:blipFill>
        <p:spPr>
          <a:xfrm>
            <a:off x="8412480" y="5586984"/>
            <a:ext cx="274320" cy="274320"/>
          </a:xfrm>
          <a:prstGeom prst="rect">
            <a:avLst/>
          </a:prstGeom>
        </p:spPr>
      </p:pic>
      <p:sp>
        <p:nvSpPr>
          <p:cNvPr id="46" name="Text 37"/>
          <p:cNvSpPr txBox="1"/>
          <p:nvPr/>
        </p:nvSpPr>
        <p:spPr>
          <a:xfrm>
            <a:off x="8796528" y="5394960"/>
            <a:ext cx="2663647" cy="658368"/>
          </a:xfrm>
          <a:prstGeom prst="rect">
            <a:avLst/>
          </a:prstGeom>
          <a:noFill/>
          <a:ln/>
        </p:spPr>
        <p:txBody>
          <a:bodyPr wrap="square" lIns="0" tIns="0" rIns="0" bIns="0" rtlCol="0" anchor="ctr"/>
          <a:lstStyle/>
          <a:p>
            <a:pPr indent="0" marL="0">
              <a:buNone/>
            </a:pPr>
            <a:r>
              <a:rPr lang="en-US" sz="1400" b="1" dirty="0">
                <a:solidFill>
                  <a:schemeClr val="bg1"/>
                </a:solidFill>
              </a:rPr>
              <a:t>Showcase at PT World 2027</a:t>
            </a:r>
            <a:endParaRPr lang="en-US" sz="14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713232" y="2011680"/>
            <a:ext cx="8229600" cy="457200"/>
          </a:xfrm>
          <a:prstGeom prst="rect">
            <a:avLst/>
          </a:prstGeom>
          <a:noFill/>
          <a:ln/>
        </p:spPr>
        <p:txBody>
          <a:bodyPr wrap="square" lIns="0" tIns="0" rIns="0" bIns="0" rtlCol="0" anchor="ctr"/>
          <a:lstStyle/>
          <a:p>
            <a:pPr algn="l" indent="0" marL="0">
              <a:buNone/>
            </a:pPr>
            <a:r>
              <a:rPr lang="en-US" sz="2200" dirty="0">
                <a:solidFill>
                  <a:schemeClr val="bg1"/>
                </a:solidFill>
              </a:rPr>
              <a:t>AGIL® Secure FastPass</a:t>
            </a:r>
            <a:endParaRPr lang="en-US" sz="2200" dirty="0"/>
          </a:p>
        </p:txBody>
      </p:sp>
      <p:sp>
        <p:nvSpPr>
          <p:cNvPr id="3" name="Text 0"/>
          <p:cNvSpPr/>
          <p:nvPr>
            <p:ph idx="102" type="title" hasCustomPrompt="1"/>
          </p:nvPr>
        </p:nvSpPr>
        <p:spPr>
          <a:xfrm>
            <a:off x="713232" y="2514600"/>
            <a:ext cx="8686800" cy="914400"/>
          </a:xfrm>
          <a:prstGeom prst="rect">
            <a:avLst/>
          </a:prstGeom>
          <a:noFill/>
          <a:ln/>
        </p:spPr>
        <p:txBody>
          <a:bodyPr wrap="square" lIns="0" tIns="0" rIns="0" bIns="0" rtlCol="0" anchor="ctr"/>
          <a:lstStyle/>
          <a:p>
            <a:pPr algn="l" indent="0" marL="0">
              <a:buNone/>
            </a:pPr>
            <a:r>
              <a:rPr lang="en-US" sz="4800" b="1" dirty="0">
                <a:solidFill>
                  <a:schemeClr val="bg1"/>
                </a:solidFill>
              </a:rPr>
              <a:t>Thank you</a:t>
            </a:r>
            <a:endParaRPr lang="en-US" sz="4800" dirty="0"/>
          </a:p>
        </p:txBody>
      </p:sp>
      <p:sp>
        <p:nvSpPr>
          <p:cNvPr id="4" name="Text 0"/>
          <p:cNvSpPr/>
          <p:nvPr>
            <p:ph idx="103" type="body" hasCustomPrompt="1"/>
          </p:nvPr>
        </p:nvSpPr>
        <p:spPr>
          <a:xfrm>
            <a:off x="713232" y="3474720"/>
            <a:ext cx="8229600" cy="457200"/>
          </a:xfrm>
          <a:prstGeom prst="rect">
            <a:avLst/>
          </a:prstGeom>
          <a:noFill/>
          <a:ln/>
        </p:spPr>
        <p:txBody>
          <a:bodyPr wrap="square" lIns="0" tIns="0" rIns="0" bIns="0" rtlCol="0" anchor="ctr"/>
          <a:lstStyle/>
          <a:p>
            <a:pPr algn="l" indent="0" marL="0">
              <a:buNone/>
            </a:pPr>
            <a:r>
              <a:rPr lang="en-US" sz="2000" dirty="0">
                <a:solidFill>
                  <a:schemeClr val="bg1"/>
                </a:solidFill>
              </a:rPr>
              <a:t>Curb to gate on one verified identity.</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Appendix  ·  References</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External sources</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Public sources behind every market and industry figure. Checked 15 Oct 2026.</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566160"/>
                <a:gridCol w="6400800"/>
                <a:gridCol w="1127455"/>
              </a:tblGrid>
              <a:tr h="475488">
                <a:tc>
                  <a:txBody>
                    <a:bodyPr/>
                    <a:lstStyle/>
                    <a:p>
                      <a:pPr indent="0" marL="0">
                        <a:buNone/>
                      </a:pPr>
                      <a:r>
                        <a:rPr lang="en-US" sz="1100" b="1" dirty="0">
                          <a:solidFill>
                            <a:schemeClr val="bg1"/>
                          </a:solidFill>
                        </a:rPr>
                        <a:t>What the slide says</a:t>
                      </a:r>
                      <a:endParaRPr lang="en-US" sz="11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accent6"/>
                    </a:solidFill>
                  </a:tcPr>
                </a:tc>
                <a:tc>
                  <a:txBody>
                    <a:bodyPr/>
                    <a:lstStyle/>
                    <a:p>
                      <a:pPr indent="0" marL="0">
                        <a:buNone/>
                      </a:pPr>
                      <a:r>
                        <a:rPr lang="en-US" sz="1100" b="1" dirty="0">
                          <a:solidFill>
                            <a:schemeClr val="bg1"/>
                          </a:solidFill>
                        </a:rPr>
                        <a:t>Source</a:t>
                      </a:r>
                      <a:endParaRPr lang="en-US" sz="11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accent6"/>
                    </a:solidFill>
                  </a:tcPr>
                </a:tc>
                <a:tc>
                  <a:txBody>
                    <a:bodyPr/>
                    <a:lstStyle/>
                    <a:p>
                      <a:pPr indent="0" marL="0">
                        <a:buNone/>
                      </a:pPr>
                      <a:r>
                        <a:rPr lang="en-US" sz="1100" b="1" dirty="0">
                          <a:solidFill>
                            <a:schemeClr val="bg1"/>
                          </a:solidFill>
                        </a:rPr>
                        <a:t>Status</a:t>
                      </a:r>
                      <a:endParaRPr lang="en-US" sz="11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accent6"/>
                    </a:solidFill>
                  </a:tcPr>
                </a:tc>
              </a:tr>
              <a:tr h="475488">
                <a:tc>
                  <a:txBody>
                    <a:bodyPr/>
                    <a:lstStyle/>
                    <a:p>
                      <a:pPr indent="0" marL="0">
                        <a:buNone/>
                      </a:pPr>
                      <a:r>
                        <a:rPr lang="en-US" sz="1000" dirty="0">
                          <a:solidFill>
                            <a:schemeClr val="tx1"/>
                          </a:solidFill>
                        </a:rPr>
                        <a:t>Passengers double by 2040 (7.8 bn, +4.2% a year)</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IATA, Global Outlook for Air Transport, Dec 2023</a:t>
                      </a:r>
                      <a:endParaRPr lang="en-US" sz="1000" dirty="0"/>
                    </a:p>
                    <a:p>
                      <a:pPr indent="0" marL="0">
                        <a:buNone/>
                      </a:pPr>
                      <a:r>
                        <a:rPr lang="en-US" sz="800" dirty="0">
                          <a:solidFill>
                            <a:schemeClr val="tx2"/>
                          </a:solidFill>
                        </a:rPr>
                        <a:t>https://www.iata.org/en/iata-repository/publications/economic-reports/global-outlook-for-air-transport---december-2023---report/</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2"/>
                          </a:solidFill>
                        </a:rPr>
                        <a:t>Verified</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475488">
                <a:tc>
                  <a:txBody>
                    <a:bodyPr/>
                    <a:lstStyle/>
                    <a:p>
                      <a:pPr indent="0" marL="0">
                        <a:buNone/>
                      </a:pPr>
                      <a:r>
                        <a:rPr lang="en-US" sz="1000" dirty="0">
                          <a:solidFill>
                            <a:schemeClr val="tx1"/>
                          </a:solidFill>
                        </a:rPr>
                        <a:t>Changi T5: ground broken 2025, opens mid-2030s</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Singapore MOT, Update on Changi Airport T5</a:t>
                      </a:r>
                      <a:endParaRPr lang="en-US" sz="1000" dirty="0"/>
                    </a:p>
                    <a:p>
                      <a:pPr indent="0" marL="0">
                        <a:buNone/>
                      </a:pPr>
                      <a:r>
                        <a:rPr lang="en-US" sz="800" dirty="0">
                          <a:solidFill>
                            <a:schemeClr val="tx2"/>
                          </a:solidFill>
                        </a:rPr>
                        <a:t>https://www.mot.gov.sg/news-resources/newsroom/update-on-development-plans-for-changi-airport-terminal-5/</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2"/>
                          </a:solidFill>
                        </a:rPr>
                        <a:t>Verified</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475488">
                <a:tc>
                  <a:txBody>
                    <a:bodyPr/>
                    <a:lstStyle/>
                    <a:p>
                      <a:pPr indent="0" marL="0">
                        <a:buNone/>
                      </a:pPr>
                      <a:r>
                        <a:rPr lang="en-US" sz="1000" dirty="0">
                          <a:solidFill>
                            <a:schemeClr val="tx1"/>
                          </a:solidFill>
                        </a:rPr>
                        <a:t>ABC market US$2.56B → 5.03B (2025–30), 14.4% CAGR</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MarketsandMarkets press release, Jul 2025</a:t>
                      </a:r>
                      <a:endParaRPr lang="en-US" sz="1000" dirty="0"/>
                    </a:p>
                    <a:p>
                      <a:pPr indent="0" marL="0">
                        <a:buNone/>
                      </a:pPr>
                      <a:r>
                        <a:rPr lang="en-US" sz="800" dirty="0">
                          <a:solidFill>
                            <a:schemeClr val="tx2"/>
                          </a:solidFill>
                        </a:rPr>
                        <a:t>https://www.marketsandmarkets.com/PressReleases/automated-border-control.asp</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2"/>
                          </a:solidFill>
                        </a:rPr>
                        <a:t>Verified</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475488">
                <a:tc>
                  <a:txBody>
                    <a:bodyPr/>
                    <a:lstStyle/>
                    <a:p>
                      <a:pPr indent="0" marL="0">
                        <a:buNone/>
                      </a:pPr>
                      <a:r>
                        <a:rPr lang="en-US" sz="1000" dirty="0">
                          <a:solidFill>
                            <a:schemeClr val="tx1"/>
                          </a:solidFill>
                        </a:rPr>
                        <a:t>Airports ≈83% of the ABC market (83.1%, 2025)</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MarketsandMarkets, ABC market size insight</a:t>
                      </a:r>
                      <a:endParaRPr lang="en-US" sz="1000" dirty="0"/>
                    </a:p>
                    <a:p>
                      <a:pPr indent="0" marL="0">
                        <a:buNone/>
                      </a:pPr>
                      <a:r>
                        <a:rPr lang="en-US" sz="800" dirty="0">
                          <a:solidFill>
                            <a:schemeClr val="tx2"/>
                          </a:solidFill>
                        </a:rPr>
                        <a:t>https://www.marketsandmarkets.com/ResearchInsight/automated-border-control-market-size.asp</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2"/>
                          </a:solidFill>
                        </a:rPr>
                        <a:t>Verified</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475488">
                <a:tc>
                  <a:txBody>
                    <a:bodyPr/>
                    <a:lstStyle/>
                    <a:p>
                      <a:pPr indent="0" marL="0">
                        <a:buNone/>
                      </a:pPr>
                      <a:r>
                        <a:rPr lang="en-US" sz="1000" dirty="0">
                          <a:solidFill>
                            <a:schemeClr val="tx1"/>
                          </a:solidFill>
                        </a:rPr>
                        <a:t>7 in 10 airlines adopting biometric ID by 2026</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SITA, Air Transport IT Insights 2024</a:t>
                      </a:r>
                      <a:endParaRPr lang="en-US" sz="1000" dirty="0"/>
                    </a:p>
                    <a:p>
                      <a:pPr indent="0" marL="0">
                        <a:buNone/>
                      </a:pPr>
                      <a:r>
                        <a:rPr lang="en-US" sz="800" dirty="0">
                          <a:solidFill>
                            <a:schemeClr val="tx2"/>
                          </a:solidFill>
                        </a:rPr>
                        <a:t>https://www.sita.aero/resources/surveys-reports/air-transport-it-insights-2024/</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2"/>
                          </a:solidFill>
                        </a:rPr>
                        <a:t>Verified</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475488">
                <a:tc>
                  <a:txBody>
                    <a:bodyPr/>
                    <a:lstStyle/>
                    <a:p>
                      <a:pPr indent="0" marL="0">
                        <a:buNone/>
                      </a:pPr>
                      <a:r>
                        <a:rPr lang="en-US" sz="1000" dirty="0">
                          <a:solidFill>
                            <a:schemeClr val="tx1"/>
                          </a:solidFill>
                        </a:rPr>
                        <a:t>Asia-Pacific (≈4.8% a year) and Middle East lead growth</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SCMP on IATA 20-year outlook</a:t>
                      </a:r>
                      <a:endParaRPr lang="en-US" sz="1000" dirty="0"/>
                    </a:p>
                    <a:p>
                      <a:pPr indent="0" marL="0">
                        <a:buNone/>
                      </a:pPr>
                      <a:r>
                        <a:rPr lang="en-US" sz="800" dirty="0">
                          <a:solidFill>
                            <a:schemeClr val="tx2"/>
                          </a:solidFill>
                        </a:rPr>
                        <a:t>https://www.scmp.com/news/world/middle-east/article/3271055/global-airline-traffic-forecast-double-20-years-led-asia-middle-east</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2"/>
                          </a:solidFill>
                        </a:rPr>
                        <a:t>Secondary</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bl>
          </a:graphicData>
        </a:graphic>
      </p:graphicFrame>
      <p:sp>
        <p:nvSpPr>
          <p:cNvPr id="6" name="Text 3"/>
          <p:cNvSpPr txBox="1"/>
          <p:nvPr/>
        </p:nvSpPr>
        <p:spPr>
          <a:xfrm>
            <a:off x="548640" y="5852160"/>
            <a:ext cx="11094415" cy="274320"/>
          </a:xfrm>
          <a:prstGeom prst="rect">
            <a:avLst/>
          </a:prstGeom>
          <a:noFill/>
          <a:ln/>
        </p:spPr>
        <p:txBody>
          <a:bodyPr wrap="square" lIns="0" tIns="0" rIns="0" bIns="0" rtlCol="0" anchor="ctr"/>
          <a:lstStyle/>
          <a:p>
            <a:pPr indent="0" marL="0">
              <a:buNone/>
            </a:pPr>
            <a:r>
              <a:rPr lang="en-US" sz="1100" dirty="0">
                <a:solidFill>
                  <a:schemeClr val="accent3"/>
                </a:solidFill>
              </a:rPr>
              <a:t>Removed: “48% of airports plan cross-silo data sharing by 2027” — not found in SITA’s published reports.</a:t>
            </a:r>
            <a:endParaRPr lang="en-US" sz="11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Appendix  ·  References</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Internal evidence register</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Our own estimates and targets, with the evidence behind each one.</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4206240"/>
                <a:gridCol w="5303520"/>
                <a:gridCol w="1584655"/>
              </a:tblGrid>
              <a:tr h="347472">
                <a:tc>
                  <a:txBody>
                    <a:bodyPr/>
                    <a:lstStyle/>
                    <a:p>
                      <a:pPr indent="0" marL="0">
                        <a:buNone/>
                      </a:pPr>
                      <a:r>
                        <a:rPr lang="en-US" sz="1100" b="1" dirty="0">
                          <a:solidFill>
                            <a:schemeClr val="bg1"/>
                          </a:solidFill>
                        </a:rPr>
                        <a:t>Claim on slide</a:t>
                      </a:r>
                      <a:endParaRPr lang="en-US" sz="11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accent6"/>
                    </a:solidFill>
                  </a:tcPr>
                </a:tc>
                <a:tc>
                  <a:txBody>
                    <a:bodyPr/>
                    <a:lstStyle/>
                    <a:p>
                      <a:pPr indent="0" marL="0">
                        <a:buNone/>
                      </a:pPr>
                      <a:r>
                        <a:rPr lang="en-US" sz="1100" b="1" dirty="0">
                          <a:solidFill>
                            <a:schemeClr val="bg1"/>
                          </a:solidFill>
                        </a:rPr>
                        <a:t>Evidence / owner</a:t>
                      </a:r>
                      <a:endParaRPr lang="en-US" sz="11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accent6"/>
                    </a:solidFill>
                  </a:tcPr>
                </a:tc>
                <a:tc>
                  <a:txBody>
                    <a:bodyPr/>
                    <a:lstStyle/>
                    <a:p>
                      <a:pPr indent="0" marL="0">
                        <a:buNone/>
                      </a:pPr>
                      <a:r>
                        <a:rPr lang="en-US" sz="1100" b="1" dirty="0">
                          <a:solidFill>
                            <a:schemeClr val="bg1"/>
                          </a:solidFill>
                        </a:rPr>
                        <a:t>Status</a:t>
                      </a:r>
                      <a:endParaRPr lang="en-US" sz="11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accent6"/>
                    </a:solidFill>
                  </a:tcPr>
                </a:tc>
              </a:tr>
              <a:tr h="347472">
                <a:tc>
                  <a:txBody>
                    <a:bodyPr/>
                    <a:lstStyle/>
                    <a:p>
                      <a:pPr indent="0" marL="0">
                        <a:buNone/>
                      </a:pPr>
                      <a:r>
                        <a:rPr lang="en-US" sz="1000" dirty="0">
                          <a:solidFill>
                            <a:schemeClr val="tx1"/>
                          </a:solidFill>
                        </a:rPr>
                        <a:t>≥1 officer staffing every touchpoint</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Airport expert calls (Invent); lane staffing worksheet</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1"/>
                          </a:solidFill>
                        </a:rPr>
                        <a:t>Internal estimate</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347472">
                <a:tc>
                  <a:txBody>
                    <a:bodyPr/>
                    <a:lstStyle/>
                    <a:p>
                      <a:pPr indent="0" marL="0">
                        <a:buNone/>
                      </a:pPr>
                      <a:r>
                        <a:rPr lang="en-US" sz="1000" dirty="0">
                          <a:solidFill>
                            <a:schemeClr val="tx1"/>
                          </a:solidFill>
                        </a:rPr>
                        <a:t>ME + SEA ≈10–15%; FastPass addressable ≈25%</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URS analysis on MarketsandMarkets data</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1"/>
                          </a:solidFill>
                        </a:rPr>
                        <a:t>Internal estimate</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347472">
                <a:tc>
                  <a:txBody>
                    <a:bodyPr/>
                    <a:lstStyle/>
                    <a:p>
                      <a:pPr indent="0" marL="0">
                        <a:buNone/>
                      </a:pPr>
                      <a:r>
                        <a:rPr lang="en-US" sz="1000" dirty="0">
                          <a:solidFill>
                            <a:schemeClr val="tx1"/>
                          </a:solidFill>
                        </a:rPr>
                        <a:t>~78% of ME/SEA airport projects are brownfield</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URS market analysis (submission §7)</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1"/>
                          </a:solidFill>
                        </a:rPr>
                        <a:t>Internal estimate</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347472">
                <a:tc>
                  <a:txBody>
                    <a:bodyPr/>
                    <a:lstStyle/>
                    <a:p>
                      <a:pPr indent="0" marL="0">
                        <a:buNone/>
                      </a:pPr>
                      <a:r>
                        <a:rPr lang="en-US" sz="1000" dirty="0">
                          <a:solidFill>
                            <a:schemeClr val="tx1"/>
                          </a:solidFill>
                        </a:rPr>
                        <a:t>Curb to gate in 8–11 minutes</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Sales review 14 Oct; validate at airport demo</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1"/>
                          </a:solidFill>
                        </a:rPr>
                        <a:t>Target</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347472">
                <a:tc>
                  <a:txBody>
                    <a:bodyPr/>
                    <a:lstStyle/>
                    <a:p>
                      <a:pPr indent="0" marL="0">
                        <a:buNone/>
                      </a:pPr>
                      <a:r>
                        <a:rPr lang="en-US" sz="1000" dirty="0">
                          <a:solidFill>
                            <a:schemeClr val="tx1"/>
                          </a:solidFill>
                        </a:rPr>
                        <a:t>Integrated prototype at Singapore Airshow 2026</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Airshow demo records</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2"/>
                          </a:solidFill>
                        </a:rPr>
                        <a:t>Verified</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347472">
                <a:tc>
                  <a:txBody>
                    <a:bodyPr/>
                    <a:lstStyle/>
                    <a:p>
                      <a:pPr indent="0" marL="0">
                        <a:buNone/>
                      </a:pPr>
                      <a:r>
                        <a:rPr lang="en-US" sz="1000" dirty="0">
                          <a:solidFill>
                            <a:schemeClr val="tx1"/>
                          </a:solidFill>
                        </a:rPr>
                        <a:t>~50% less front-end effort (AI-assisted engineering)</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Engineering metrics (submission §6)</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1"/>
                          </a:solidFill>
                        </a:rPr>
                        <a:t>Internal measure</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347472">
                <a:tc>
                  <a:txBody>
                    <a:bodyPr/>
                    <a:lstStyle/>
                    <a:p>
                      <a:pPr indent="0" marL="0">
                        <a:buNone/>
                      </a:pPr>
                      <a:r>
                        <a:rPr lang="en-US" sz="1000" dirty="0">
                          <a:solidFill>
                            <a:schemeClr val="tx1"/>
                          </a:solidFill>
                        </a:rPr>
                        <a:t>35+ years of mission-critical delivery</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Corporate record</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2"/>
                          </a:solidFill>
                        </a:rPr>
                        <a:t>Verified</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347472">
                <a:tc>
                  <a:txBody>
                    <a:bodyPr/>
                    <a:lstStyle/>
                    <a:p>
                      <a:pPr indent="0" marL="0">
                        <a:buNone/>
                      </a:pPr>
                      <a:r>
                        <a:rPr lang="en-US" sz="1000" dirty="0">
                          <a:solidFill>
                            <a:schemeClr val="tx1"/>
                          </a:solidFill>
                        </a:rPr>
                        <a:t>Most walk-through lanes verify face only (1FA)</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PT Asia benchmarking; Idemia PaXpress brochure (12/2025)</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1"/>
                          </a:solidFill>
                        </a:rPr>
                        <a:t>Market observation</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347472">
                <a:tc>
                  <a:txBody>
                    <a:bodyPr/>
                    <a:lstStyle/>
                    <a:p>
                      <a:pPr indent="0" marL="0">
                        <a:buNone/>
                      </a:pPr>
                      <a:r>
                        <a:rPr lang="en-US" sz="1000" dirty="0">
                          <a:solidFill>
                            <a:schemeClr val="tx1"/>
                          </a:solidFill>
                        </a:rPr>
                        <a:t>Group reach in ME &amp; SE Asia; cross-sell via BUs</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Confirm countries and contacts with Group Sales</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3"/>
                          </a:solidFill>
                        </a:rPr>
                        <a:t>To confirm</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347472">
                <a:tc>
                  <a:txBody>
                    <a:bodyPr/>
                    <a:lstStyle/>
                    <a:p>
                      <a:pPr indent="0" marL="0">
                        <a:buNone/>
                      </a:pPr>
                      <a:r>
                        <a:rPr lang="en-US" sz="1000" dirty="0">
                          <a:solidFill>
                            <a:schemeClr val="tx1"/>
                          </a:solidFill>
                        </a:rPr>
                        <a:t>Target price points</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rPr>
                        <a:t>Pending Sales sync</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000" b="1" dirty="0">
                          <a:solidFill>
                            <a:schemeClr val="accent3"/>
                          </a:solidFill>
                        </a:rPr>
                        <a:t>Open</a:t>
                      </a:r>
                      <a:endParaRPr lang="en-US" sz="10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Appendix  ·  Q&amp;A</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Hard questions, short answers</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Agreed positions for the questions judges and Excos are most likely to ask.</a:t>
            </a:r>
            <a:endParaRPr lang="en-US" sz="1500" dirty="0"/>
          </a:p>
        </p:txBody>
      </p:sp>
      <p:sp>
        <p:nvSpPr>
          <p:cNvPr id="5" name="Shape 3"/>
          <p:cNvSpPr/>
          <p:nvPr/>
        </p:nvSpPr>
        <p:spPr>
          <a:xfrm>
            <a:off x="548640" y="2011680"/>
            <a:ext cx="5410048" cy="1188720"/>
          </a:xfrm>
          <a:prstGeom prst="roundRect">
            <a:avLst>
              <a:gd name="adj" fmla="val 10769"/>
            </a:avLst>
          </a:prstGeom>
          <a:solidFill>
            <a:schemeClr val="bg1"/>
          </a:solidFill>
          <a:ln/>
          <a:effectLst>
            <a:outerShdw sx="100000" sy="100000" kx="0" ky="0" algn="bl" rotWithShape="0" blurRad="203200" dist="38100" dir="5400000">
              <a:srgbClr val="0A1628">
                <a:alpha val="9000"/>
              </a:srgbClr>
            </a:outerShdw>
          </a:effectLst>
        </p:spPr>
      </p:sp>
      <p:sp>
        <p:nvSpPr>
          <p:cNvPr id="6" name="Shape 4"/>
          <p:cNvSpPr/>
          <p:nvPr/>
        </p:nvSpPr>
        <p:spPr>
          <a:xfrm>
            <a:off x="777240" y="2212848"/>
            <a:ext cx="420624" cy="420624"/>
          </a:xfrm>
          <a:prstGeom prst="ellipse">
            <a:avLst/>
          </a:prstGeom>
          <a:solidFill>
            <a:schemeClr val="accent1">
              <a:alpha val="12000"/>
            </a:schemeClr>
          </a:solidFill>
          <a:ln/>
        </p:spPr>
      </p:sp>
      <p:pic>
        <p:nvPicPr>
          <p:cNvPr id="7" name="Image 0" descr="preencoded.png">    </p:cNvPr>
          <p:cNvPicPr>
            <a:picLocks noChangeAspect="1"/>
          </p:cNvPicPr>
          <p:nvPr/>
        </p:nvPicPr>
        <p:blipFill>
          <a:blip r:embed="rId1"/>
          <a:stretch>
            <a:fillRect/>
          </a:stretch>
        </p:blipFill>
        <p:spPr>
          <a:xfrm>
            <a:off x="873984" y="2309592"/>
            <a:ext cx="227137" cy="227137"/>
          </a:xfrm>
          <a:prstGeom prst="rect">
            <a:avLst/>
          </a:prstGeom>
        </p:spPr>
      </p:pic>
      <p:sp>
        <p:nvSpPr>
          <p:cNvPr id="8" name="Text 5"/>
          <p:cNvSpPr txBox="1"/>
          <p:nvPr/>
        </p:nvSpPr>
        <p:spPr>
          <a:xfrm>
            <a:off x="1325880" y="2194560"/>
            <a:ext cx="4449928" cy="365760"/>
          </a:xfrm>
          <a:prstGeom prst="rect">
            <a:avLst/>
          </a:prstGeom>
          <a:noFill/>
          <a:ln/>
        </p:spPr>
        <p:txBody>
          <a:bodyPr wrap="square" lIns="0" tIns="0" rIns="0" bIns="0" rtlCol="0" anchor="ctr"/>
          <a:lstStyle/>
          <a:p>
            <a:pPr indent="0" marL="0">
              <a:buNone/>
            </a:pPr>
            <a:r>
              <a:rPr lang="en-US" sz="1500" b="1" dirty="0">
                <a:solidFill>
                  <a:schemeClr val="tx1"/>
                </a:solidFill>
              </a:rPr>
              <a:t>Where is biometric data stored?</a:t>
            </a:r>
            <a:endParaRPr lang="en-US" sz="1500" dirty="0"/>
          </a:p>
        </p:txBody>
      </p:sp>
      <p:sp>
        <p:nvSpPr>
          <p:cNvPr id="9" name="Text 6"/>
          <p:cNvSpPr txBox="1"/>
          <p:nvPr/>
        </p:nvSpPr>
        <p:spPr>
          <a:xfrm>
            <a:off x="1325880" y="2578608"/>
            <a:ext cx="4449928" cy="548640"/>
          </a:xfrm>
          <a:prstGeom prst="rect">
            <a:avLst/>
          </a:prstGeom>
          <a:noFill/>
          <a:ln/>
        </p:spPr>
        <p:txBody>
          <a:bodyPr wrap="square" lIns="0" tIns="0" rIns="0" bIns="0" rtlCol="0" anchor="t"/>
          <a:lstStyle/>
          <a:p>
            <a:pPr indent="0" marL="0">
              <a:buNone/>
            </a:pPr>
            <a:r>
              <a:rPr lang="en-US" sz="1300" dirty="0">
                <a:solidFill>
                  <a:schemeClr val="tx2"/>
                </a:solidFill>
              </a:rPr>
              <a:t>Encrypted on the traveller’s phone; shared just-in-time for the match. The airport keeps no biometric database.</a:t>
            </a:r>
            <a:endParaRPr lang="en-US" sz="1300" dirty="0"/>
          </a:p>
        </p:txBody>
      </p:sp>
      <p:sp>
        <p:nvSpPr>
          <p:cNvPr id="10" name="Shape 7"/>
          <p:cNvSpPr/>
          <p:nvPr/>
        </p:nvSpPr>
        <p:spPr>
          <a:xfrm>
            <a:off x="6233008" y="2011680"/>
            <a:ext cx="5410048" cy="1188720"/>
          </a:xfrm>
          <a:prstGeom prst="roundRect">
            <a:avLst>
              <a:gd name="adj" fmla="val 10769"/>
            </a:avLst>
          </a:prstGeom>
          <a:solidFill>
            <a:schemeClr val="bg1"/>
          </a:solidFill>
          <a:ln/>
          <a:effectLst>
            <a:outerShdw sx="100000" sy="100000" kx="0" ky="0" algn="bl" rotWithShape="0" blurRad="203200" dist="38100" dir="5400000">
              <a:srgbClr val="0A1628">
                <a:alpha val="9000"/>
              </a:srgbClr>
            </a:outerShdw>
          </a:effectLst>
        </p:spPr>
      </p:sp>
      <p:sp>
        <p:nvSpPr>
          <p:cNvPr id="11" name="Shape 8"/>
          <p:cNvSpPr/>
          <p:nvPr/>
        </p:nvSpPr>
        <p:spPr>
          <a:xfrm>
            <a:off x="6461608" y="2212848"/>
            <a:ext cx="420624" cy="420624"/>
          </a:xfrm>
          <a:prstGeom prst="ellipse">
            <a:avLst/>
          </a:prstGeom>
          <a:solidFill>
            <a:schemeClr val="accent1">
              <a:alpha val="12000"/>
            </a:schemeClr>
          </a:solidFill>
          <a:ln/>
        </p:spPr>
      </p:sp>
      <p:pic>
        <p:nvPicPr>
          <p:cNvPr id="12" name="Image 1" descr="preencoded.png">    </p:cNvPr>
          <p:cNvPicPr>
            <a:picLocks noChangeAspect="1"/>
          </p:cNvPicPr>
          <p:nvPr/>
        </p:nvPicPr>
        <p:blipFill>
          <a:blip r:embed="rId2"/>
          <a:stretch>
            <a:fillRect/>
          </a:stretch>
        </p:blipFill>
        <p:spPr>
          <a:xfrm>
            <a:off x="6558351" y="2309592"/>
            <a:ext cx="227137" cy="227137"/>
          </a:xfrm>
          <a:prstGeom prst="rect">
            <a:avLst/>
          </a:prstGeom>
        </p:spPr>
      </p:pic>
      <p:sp>
        <p:nvSpPr>
          <p:cNvPr id="13" name="Text 9"/>
          <p:cNvSpPr txBox="1"/>
          <p:nvPr/>
        </p:nvSpPr>
        <p:spPr>
          <a:xfrm>
            <a:off x="7010248" y="2194560"/>
            <a:ext cx="4449928" cy="365760"/>
          </a:xfrm>
          <a:prstGeom prst="rect">
            <a:avLst/>
          </a:prstGeom>
          <a:noFill/>
          <a:ln/>
        </p:spPr>
        <p:txBody>
          <a:bodyPr wrap="square" lIns="0" tIns="0" rIns="0" bIns="0" rtlCol="0" anchor="ctr"/>
          <a:lstStyle/>
          <a:p>
            <a:pPr indent="0" marL="0">
              <a:buNone/>
            </a:pPr>
            <a:r>
              <a:rPr lang="en-US" sz="1500" b="1" dirty="0">
                <a:solidFill>
                  <a:schemeClr val="tx1"/>
                </a:solidFill>
              </a:rPr>
              <a:t>Do you replace immigration?</a:t>
            </a:r>
            <a:endParaRPr lang="en-US" sz="1500" dirty="0"/>
          </a:p>
        </p:txBody>
      </p:sp>
      <p:sp>
        <p:nvSpPr>
          <p:cNvPr id="14" name="Text 10"/>
          <p:cNvSpPr txBox="1"/>
          <p:nvPr/>
        </p:nvSpPr>
        <p:spPr>
          <a:xfrm>
            <a:off x="7010248" y="2578608"/>
            <a:ext cx="4449928" cy="548640"/>
          </a:xfrm>
          <a:prstGeom prst="rect">
            <a:avLst/>
          </a:prstGeom>
          <a:noFill/>
          <a:ln/>
        </p:spPr>
        <p:txBody>
          <a:bodyPr wrap="square" lIns="0" tIns="0" rIns="0" bIns="0" rtlCol="0" anchor="t"/>
          <a:lstStyle/>
          <a:p>
            <a:pPr indent="0" marL="0">
              <a:buNone/>
            </a:pPr>
            <a:r>
              <a:rPr lang="en-US" sz="1300" dirty="0">
                <a:solidFill>
                  <a:schemeClr val="tx2"/>
                </a:solidFill>
              </a:rPr>
              <a:t>No. FastPass is modular and works alongside immigration, linking where local policy allows.</a:t>
            </a:r>
            <a:endParaRPr lang="en-US" sz="1300" dirty="0"/>
          </a:p>
        </p:txBody>
      </p:sp>
      <p:sp>
        <p:nvSpPr>
          <p:cNvPr id="15" name="Shape 11"/>
          <p:cNvSpPr/>
          <p:nvPr/>
        </p:nvSpPr>
        <p:spPr>
          <a:xfrm>
            <a:off x="548640" y="3337560"/>
            <a:ext cx="5410048" cy="1188720"/>
          </a:xfrm>
          <a:prstGeom prst="roundRect">
            <a:avLst>
              <a:gd name="adj" fmla="val 10769"/>
            </a:avLst>
          </a:prstGeom>
          <a:solidFill>
            <a:schemeClr val="bg1"/>
          </a:solidFill>
          <a:ln/>
          <a:effectLst>
            <a:outerShdw sx="100000" sy="100000" kx="0" ky="0" algn="bl" rotWithShape="0" blurRad="203200" dist="38100" dir="5400000">
              <a:srgbClr val="0A1628">
                <a:alpha val="9000"/>
              </a:srgbClr>
            </a:outerShdw>
          </a:effectLst>
        </p:spPr>
      </p:sp>
      <p:sp>
        <p:nvSpPr>
          <p:cNvPr id="16" name="Shape 12"/>
          <p:cNvSpPr/>
          <p:nvPr/>
        </p:nvSpPr>
        <p:spPr>
          <a:xfrm>
            <a:off x="777240" y="3538728"/>
            <a:ext cx="420624" cy="420624"/>
          </a:xfrm>
          <a:prstGeom prst="ellipse">
            <a:avLst/>
          </a:prstGeom>
          <a:solidFill>
            <a:schemeClr val="accent1">
              <a:alpha val="12000"/>
            </a:schemeClr>
          </a:solidFill>
          <a:ln/>
        </p:spPr>
      </p:sp>
      <p:pic>
        <p:nvPicPr>
          <p:cNvPr id="17" name="Image 2" descr="preencoded.png">    </p:cNvPr>
          <p:cNvPicPr>
            <a:picLocks noChangeAspect="1"/>
          </p:cNvPicPr>
          <p:nvPr/>
        </p:nvPicPr>
        <p:blipFill>
          <a:blip r:embed="rId3"/>
          <a:stretch>
            <a:fillRect/>
          </a:stretch>
        </p:blipFill>
        <p:spPr>
          <a:xfrm>
            <a:off x="873984" y="3635472"/>
            <a:ext cx="227137" cy="227137"/>
          </a:xfrm>
          <a:prstGeom prst="rect">
            <a:avLst/>
          </a:prstGeom>
        </p:spPr>
      </p:pic>
      <p:sp>
        <p:nvSpPr>
          <p:cNvPr id="18" name="Text 13"/>
          <p:cNvSpPr txBox="1"/>
          <p:nvPr/>
        </p:nvSpPr>
        <p:spPr>
          <a:xfrm>
            <a:off x="1325880" y="3520440"/>
            <a:ext cx="4449928" cy="365760"/>
          </a:xfrm>
          <a:prstGeom prst="rect">
            <a:avLst/>
          </a:prstGeom>
          <a:noFill/>
          <a:ln/>
        </p:spPr>
        <p:txBody>
          <a:bodyPr wrap="square" lIns="0" tIns="0" rIns="0" bIns="0" rtlCol="0" anchor="ctr"/>
          <a:lstStyle/>
          <a:p>
            <a:pPr indent="0" marL="0">
              <a:buNone/>
            </a:pPr>
            <a:r>
              <a:rPr lang="en-US" sz="1500" b="1" dirty="0">
                <a:solidFill>
                  <a:schemeClr val="tx1"/>
                </a:solidFill>
              </a:rPr>
              <a:t>Who owns the app?</a:t>
            </a:r>
            <a:endParaRPr lang="en-US" sz="1500" dirty="0"/>
          </a:p>
        </p:txBody>
      </p:sp>
      <p:sp>
        <p:nvSpPr>
          <p:cNvPr id="19" name="Text 14"/>
          <p:cNvSpPr txBox="1"/>
          <p:nvPr/>
        </p:nvSpPr>
        <p:spPr>
          <a:xfrm>
            <a:off x="1325880" y="3904488"/>
            <a:ext cx="4449928" cy="548640"/>
          </a:xfrm>
          <a:prstGeom prst="rect">
            <a:avLst/>
          </a:prstGeom>
          <a:noFill/>
          <a:ln/>
        </p:spPr>
        <p:txBody>
          <a:bodyPr wrap="square" lIns="0" tIns="0" rIns="0" bIns="0" rtlCol="0" anchor="t"/>
          <a:lstStyle/>
          <a:p>
            <a:pPr indent="0" marL="0">
              <a:buNone/>
            </a:pPr>
            <a:r>
              <a:rPr lang="en-US" sz="1300" dirty="0">
                <a:solidFill>
                  <a:schemeClr val="tx2"/>
                </a:solidFill>
              </a:rPr>
              <a:t>The airport or airline: FastPass ships as an SDK inside their app.</a:t>
            </a:r>
            <a:endParaRPr lang="en-US" sz="1300" dirty="0"/>
          </a:p>
        </p:txBody>
      </p:sp>
      <p:sp>
        <p:nvSpPr>
          <p:cNvPr id="20" name="Shape 15"/>
          <p:cNvSpPr/>
          <p:nvPr/>
        </p:nvSpPr>
        <p:spPr>
          <a:xfrm>
            <a:off x="6233008" y="3337560"/>
            <a:ext cx="5410048" cy="1188720"/>
          </a:xfrm>
          <a:prstGeom prst="roundRect">
            <a:avLst>
              <a:gd name="adj" fmla="val 10769"/>
            </a:avLst>
          </a:prstGeom>
          <a:solidFill>
            <a:schemeClr val="bg1"/>
          </a:solidFill>
          <a:ln/>
          <a:effectLst>
            <a:outerShdw sx="100000" sy="100000" kx="0" ky="0" algn="bl" rotWithShape="0" blurRad="203200" dist="38100" dir="5400000">
              <a:srgbClr val="0A1628">
                <a:alpha val="9000"/>
              </a:srgbClr>
            </a:outerShdw>
          </a:effectLst>
        </p:spPr>
      </p:sp>
      <p:sp>
        <p:nvSpPr>
          <p:cNvPr id="21" name="Shape 16"/>
          <p:cNvSpPr/>
          <p:nvPr/>
        </p:nvSpPr>
        <p:spPr>
          <a:xfrm>
            <a:off x="6461608" y="3538728"/>
            <a:ext cx="420624" cy="420624"/>
          </a:xfrm>
          <a:prstGeom prst="ellipse">
            <a:avLst/>
          </a:prstGeom>
          <a:solidFill>
            <a:schemeClr val="accent1">
              <a:alpha val="12000"/>
            </a:schemeClr>
          </a:solidFill>
          <a:ln/>
        </p:spPr>
      </p:sp>
      <p:pic>
        <p:nvPicPr>
          <p:cNvPr id="22" name="Image 3" descr="preencoded.png">    </p:cNvPr>
          <p:cNvPicPr>
            <a:picLocks noChangeAspect="1"/>
          </p:cNvPicPr>
          <p:nvPr/>
        </p:nvPicPr>
        <p:blipFill>
          <a:blip r:embed="rId4"/>
          <a:stretch>
            <a:fillRect/>
          </a:stretch>
        </p:blipFill>
        <p:spPr>
          <a:xfrm>
            <a:off x="6558351" y="3635472"/>
            <a:ext cx="227137" cy="227137"/>
          </a:xfrm>
          <a:prstGeom prst="rect">
            <a:avLst/>
          </a:prstGeom>
        </p:spPr>
      </p:pic>
      <p:sp>
        <p:nvSpPr>
          <p:cNvPr id="23" name="Text 17"/>
          <p:cNvSpPr txBox="1"/>
          <p:nvPr/>
        </p:nvSpPr>
        <p:spPr>
          <a:xfrm>
            <a:off x="7010248" y="3520440"/>
            <a:ext cx="4449928" cy="365760"/>
          </a:xfrm>
          <a:prstGeom prst="rect">
            <a:avLst/>
          </a:prstGeom>
          <a:noFill/>
          <a:ln/>
        </p:spPr>
        <p:txBody>
          <a:bodyPr wrap="square" lIns="0" tIns="0" rIns="0" bIns="0" rtlCol="0" anchor="ctr"/>
          <a:lstStyle/>
          <a:p>
            <a:pPr indent="0" marL="0">
              <a:buNone/>
            </a:pPr>
            <a:r>
              <a:rPr lang="en-US" sz="1500" b="1" dirty="0">
                <a:solidFill>
                  <a:schemeClr val="tx1"/>
                </a:solidFill>
              </a:rPr>
              <a:t>What if there is no internet?</a:t>
            </a:r>
            <a:endParaRPr lang="en-US" sz="1500" dirty="0"/>
          </a:p>
        </p:txBody>
      </p:sp>
      <p:sp>
        <p:nvSpPr>
          <p:cNvPr id="24" name="Text 18"/>
          <p:cNvSpPr txBox="1"/>
          <p:nvPr/>
        </p:nvSpPr>
        <p:spPr>
          <a:xfrm>
            <a:off x="7010248" y="3904488"/>
            <a:ext cx="4449928" cy="548640"/>
          </a:xfrm>
          <a:prstGeom prst="rect">
            <a:avLst/>
          </a:prstGeom>
          <a:noFill/>
          <a:ln/>
        </p:spPr>
        <p:txBody>
          <a:bodyPr wrap="square" lIns="0" tIns="0" rIns="0" bIns="0" rtlCol="0" anchor="t"/>
          <a:lstStyle/>
          <a:p>
            <a:pPr indent="0" marL="0">
              <a:buNone/>
            </a:pPr>
            <a:r>
              <a:rPr lang="en-US" sz="1300" dirty="0">
                <a:solidFill>
                  <a:schemeClr val="tx2"/>
                </a:solidFill>
              </a:rPr>
              <a:t>Credentials download in advance; offline clearance is the first productisation priority.</a:t>
            </a:r>
            <a:endParaRPr lang="en-US" sz="1300" dirty="0"/>
          </a:p>
        </p:txBody>
      </p:sp>
      <p:sp>
        <p:nvSpPr>
          <p:cNvPr id="25" name="Shape 19"/>
          <p:cNvSpPr/>
          <p:nvPr/>
        </p:nvSpPr>
        <p:spPr>
          <a:xfrm>
            <a:off x="548640" y="4663440"/>
            <a:ext cx="5410048" cy="1188720"/>
          </a:xfrm>
          <a:prstGeom prst="roundRect">
            <a:avLst>
              <a:gd name="adj" fmla="val 10769"/>
            </a:avLst>
          </a:prstGeom>
          <a:solidFill>
            <a:schemeClr val="bg1"/>
          </a:solidFill>
          <a:ln/>
          <a:effectLst>
            <a:outerShdw sx="100000" sy="100000" kx="0" ky="0" algn="bl" rotWithShape="0" blurRad="203200" dist="38100" dir="5400000">
              <a:srgbClr val="0A1628">
                <a:alpha val="9000"/>
              </a:srgbClr>
            </a:outerShdw>
          </a:effectLst>
        </p:spPr>
      </p:sp>
      <p:sp>
        <p:nvSpPr>
          <p:cNvPr id="26" name="Shape 20"/>
          <p:cNvSpPr/>
          <p:nvPr/>
        </p:nvSpPr>
        <p:spPr>
          <a:xfrm>
            <a:off x="777240" y="4864608"/>
            <a:ext cx="420624" cy="420624"/>
          </a:xfrm>
          <a:prstGeom prst="ellipse">
            <a:avLst/>
          </a:prstGeom>
          <a:solidFill>
            <a:schemeClr val="accent1">
              <a:alpha val="12000"/>
            </a:schemeClr>
          </a:solidFill>
          <a:ln/>
        </p:spPr>
      </p:sp>
      <p:pic>
        <p:nvPicPr>
          <p:cNvPr id="27" name="Image 4" descr="preencoded.png">    </p:cNvPr>
          <p:cNvPicPr>
            <a:picLocks noChangeAspect="1"/>
          </p:cNvPicPr>
          <p:nvPr/>
        </p:nvPicPr>
        <p:blipFill>
          <a:blip r:embed="rId5"/>
          <a:stretch>
            <a:fillRect/>
          </a:stretch>
        </p:blipFill>
        <p:spPr>
          <a:xfrm>
            <a:off x="873984" y="4961352"/>
            <a:ext cx="227137" cy="227137"/>
          </a:xfrm>
          <a:prstGeom prst="rect">
            <a:avLst/>
          </a:prstGeom>
        </p:spPr>
      </p:pic>
      <p:sp>
        <p:nvSpPr>
          <p:cNvPr id="28" name="Text 21"/>
          <p:cNvSpPr txBox="1"/>
          <p:nvPr/>
        </p:nvSpPr>
        <p:spPr>
          <a:xfrm>
            <a:off x="1325880" y="4846320"/>
            <a:ext cx="4449928" cy="365760"/>
          </a:xfrm>
          <a:prstGeom prst="rect">
            <a:avLst/>
          </a:prstGeom>
          <a:noFill/>
          <a:ln/>
        </p:spPr>
        <p:txBody>
          <a:bodyPr wrap="square" lIns="0" tIns="0" rIns="0" bIns="0" rtlCol="0" anchor="ctr"/>
          <a:lstStyle/>
          <a:p>
            <a:pPr indent="0" marL="0">
              <a:buNone/>
            </a:pPr>
            <a:r>
              <a:rPr lang="en-US" sz="1500" b="1" dirty="0">
                <a:solidFill>
                  <a:schemeClr val="tx1"/>
                </a:solidFill>
              </a:rPr>
              <a:t>What happens when a match fails?</a:t>
            </a:r>
            <a:endParaRPr lang="en-US" sz="1500" dirty="0"/>
          </a:p>
        </p:txBody>
      </p:sp>
      <p:sp>
        <p:nvSpPr>
          <p:cNvPr id="29" name="Text 22"/>
          <p:cNvSpPr txBox="1"/>
          <p:nvPr/>
        </p:nvSpPr>
        <p:spPr>
          <a:xfrm>
            <a:off x="1325880" y="5230368"/>
            <a:ext cx="4449928" cy="548640"/>
          </a:xfrm>
          <a:prstGeom prst="rect">
            <a:avLst/>
          </a:prstGeom>
          <a:noFill/>
          <a:ln/>
        </p:spPr>
        <p:txBody>
          <a:bodyPr wrap="square" lIns="0" tIns="0" rIns="0" bIns="0" rtlCol="0" anchor="t"/>
          <a:lstStyle/>
          <a:p>
            <a:pPr indent="0" marL="0">
              <a:buNone/>
            </a:pPr>
            <a:r>
              <a:rPr lang="en-US" sz="1300" dirty="0">
                <a:solidFill>
                  <a:schemeClr val="tx2"/>
                </a:solidFill>
              </a:rPr>
              <a:t>The lane closes, an officer is alerted, and manual counters stay open for exceptions.</a:t>
            </a:r>
            <a:endParaRPr lang="en-US" sz="1300" dirty="0"/>
          </a:p>
        </p:txBody>
      </p:sp>
      <p:sp>
        <p:nvSpPr>
          <p:cNvPr id="30" name="Shape 23"/>
          <p:cNvSpPr/>
          <p:nvPr/>
        </p:nvSpPr>
        <p:spPr>
          <a:xfrm>
            <a:off x="6233008" y="4663440"/>
            <a:ext cx="5410048" cy="1188720"/>
          </a:xfrm>
          <a:prstGeom prst="roundRect">
            <a:avLst>
              <a:gd name="adj" fmla="val 10769"/>
            </a:avLst>
          </a:prstGeom>
          <a:solidFill>
            <a:schemeClr val="bg1"/>
          </a:solidFill>
          <a:ln/>
          <a:effectLst>
            <a:outerShdw sx="100000" sy="100000" kx="0" ky="0" algn="bl" rotWithShape="0" blurRad="203200" dist="38100" dir="5400000">
              <a:srgbClr val="0A1628">
                <a:alpha val="9000"/>
              </a:srgbClr>
            </a:outerShdw>
          </a:effectLst>
        </p:spPr>
      </p:sp>
      <p:sp>
        <p:nvSpPr>
          <p:cNvPr id="31" name="Shape 24"/>
          <p:cNvSpPr/>
          <p:nvPr/>
        </p:nvSpPr>
        <p:spPr>
          <a:xfrm>
            <a:off x="6461608" y="4864608"/>
            <a:ext cx="420624" cy="420624"/>
          </a:xfrm>
          <a:prstGeom prst="ellipse">
            <a:avLst/>
          </a:prstGeom>
          <a:solidFill>
            <a:schemeClr val="accent1">
              <a:alpha val="12000"/>
            </a:schemeClr>
          </a:solidFill>
          <a:ln/>
        </p:spPr>
      </p:sp>
      <p:pic>
        <p:nvPicPr>
          <p:cNvPr id="32" name="Image 5" descr="preencoded.png">    </p:cNvPr>
          <p:cNvPicPr>
            <a:picLocks noChangeAspect="1"/>
          </p:cNvPicPr>
          <p:nvPr/>
        </p:nvPicPr>
        <p:blipFill>
          <a:blip r:embed="rId6"/>
          <a:stretch>
            <a:fillRect/>
          </a:stretch>
        </p:blipFill>
        <p:spPr>
          <a:xfrm>
            <a:off x="6558351" y="4961352"/>
            <a:ext cx="227137" cy="227137"/>
          </a:xfrm>
          <a:prstGeom prst="rect">
            <a:avLst/>
          </a:prstGeom>
        </p:spPr>
      </p:pic>
      <p:sp>
        <p:nvSpPr>
          <p:cNvPr id="33" name="Text 25"/>
          <p:cNvSpPr txBox="1"/>
          <p:nvPr/>
        </p:nvSpPr>
        <p:spPr>
          <a:xfrm>
            <a:off x="7010248" y="4846320"/>
            <a:ext cx="4449928" cy="365760"/>
          </a:xfrm>
          <a:prstGeom prst="rect">
            <a:avLst/>
          </a:prstGeom>
          <a:noFill/>
          <a:ln/>
        </p:spPr>
        <p:txBody>
          <a:bodyPr wrap="square" lIns="0" tIns="0" rIns="0" bIns="0" rtlCol="0" anchor="ctr"/>
          <a:lstStyle/>
          <a:p>
            <a:pPr indent="0" marL="0">
              <a:buNone/>
            </a:pPr>
            <a:r>
              <a:rPr lang="en-US" sz="1500" b="1" dirty="0">
                <a:solidFill>
                  <a:schemeClr val="tx1"/>
                </a:solidFill>
              </a:rPr>
              <a:t>How do you compare with Idemia?</a:t>
            </a:r>
            <a:endParaRPr lang="en-US" sz="1500" dirty="0"/>
          </a:p>
        </p:txBody>
      </p:sp>
      <p:sp>
        <p:nvSpPr>
          <p:cNvPr id="34" name="Text 26"/>
          <p:cNvSpPr txBox="1"/>
          <p:nvPr/>
        </p:nvSpPr>
        <p:spPr>
          <a:xfrm>
            <a:off x="7010248" y="5230368"/>
            <a:ext cx="4449928" cy="548640"/>
          </a:xfrm>
          <a:prstGeom prst="rect">
            <a:avLst/>
          </a:prstGeom>
          <a:noFill/>
          <a:ln/>
        </p:spPr>
        <p:txBody>
          <a:bodyPr wrap="square" lIns="0" tIns="0" rIns="0" bIns="0" rtlCol="0" anchor="t"/>
          <a:lstStyle/>
          <a:p>
            <a:pPr indent="0" marL="0">
              <a:buNone/>
            </a:pPr>
            <a:r>
              <a:rPr lang="en-US" sz="1300" dirty="0">
                <a:solidFill>
                  <a:schemeClr val="tx2"/>
                </a:solidFill>
              </a:rPr>
              <a:t>They lead on portfolio breadth; we lead on two-factor clearance and converged security ops.</a:t>
            </a:r>
            <a:endParaRPr lang="en-US" sz="13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2" type="body" hasCustomPrompt="1"/>
          </p:nvPr>
        </p:nvSpPr>
        <p:spPr>
          <a:xfrm>
            <a:off x="429768" y="566928"/>
            <a:ext cx="8686800" cy="292608"/>
          </a:xfrm>
          <a:prstGeom prst="rect">
            <a:avLst/>
          </a:prstGeom>
          <a:noFill/>
          <a:ln/>
        </p:spPr>
        <p:txBody>
          <a:bodyPr wrap="square" lIns="0" tIns="0" rIns="0" bIns="0" rtlCol="0" anchor="ctr"/>
          <a:lstStyle/>
          <a:p>
            <a:pPr algn="l" indent="0" marL="0">
              <a:buNone/>
            </a:pPr>
            <a:r>
              <a:rPr lang="en-US" sz="1400" dirty="0">
                <a:solidFill>
                  <a:schemeClr val="accent4"/>
                </a:solidFill>
              </a:rPr>
              <a:t>Appendix  ·  Benchmark</a:t>
            </a:r>
            <a:endParaRPr lang="en-US" sz="1400" dirty="0"/>
          </a:p>
        </p:txBody>
      </p:sp>
      <p:sp>
        <p:nvSpPr>
          <p:cNvPr id="3" name="Text 0"/>
          <p:cNvSpPr/>
          <p:nvPr>
            <p:ph idx="103" type="title" hasCustomPrompt="1"/>
          </p:nvPr>
        </p:nvSpPr>
        <p:spPr>
          <a:xfrm>
            <a:off x="411480" y="868680"/>
            <a:ext cx="9235440" cy="530352"/>
          </a:xfrm>
          <a:prstGeom prst="rect">
            <a:avLst/>
          </a:prstGeom>
          <a:noFill/>
          <a:ln/>
        </p:spPr>
        <p:txBody>
          <a:bodyPr wrap="square" lIns="0" tIns="0" rIns="0" bIns="0" rtlCol="0" anchor="ctr"/>
          <a:lstStyle/>
          <a:p>
            <a:pPr algn="l" indent="0" marL="0">
              <a:buNone/>
            </a:pPr>
            <a:r>
              <a:rPr lang="en-US" sz="3000" b="1" dirty="0">
                <a:solidFill>
                  <a:schemeClr val="tx1"/>
                </a:solidFill>
              </a:rPr>
              <a:t>How we compare with Idemia</a:t>
            </a:r>
            <a:endParaRPr lang="en-US" sz="3000" dirty="0"/>
          </a:p>
        </p:txBody>
      </p:sp>
      <p:sp>
        <p:nvSpPr>
          <p:cNvPr id="4" name="Text 0"/>
          <p:cNvSpPr/>
          <p:nvPr>
            <p:ph idx="104" type="body" hasCustomPrompt="1"/>
          </p:nvPr>
        </p:nvSpPr>
        <p:spPr>
          <a:xfrm>
            <a:off x="429768" y="1417320"/>
            <a:ext cx="10607040" cy="347472"/>
          </a:xfrm>
          <a:prstGeom prst="rect">
            <a:avLst/>
          </a:prstGeom>
          <a:noFill/>
          <a:ln/>
        </p:spPr>
        <p:txBody>
          <a:bodyPr wrap="square" lIns="0" tIns="0" rIns="0" bIns="0" rtlCol="0" anchor="ctr"/>
          <a:lstStyle/>
          <a:p>
            <a:pPr algn="l" indent="0" marL="0">
              <a:buNone/>
            </a:pPr>
            <a:r>
              <a:rPr lang="en-US" sz="1500" dirty="0">
                <a:solidFill>
                  <a:schemeClr val="tx2"/>
                </a:solidFill>
              </a:rPr>
              <a:t>Where Idemia PaXpress SmartLane is strong, and where FastPass differs (per Idemia brochure, 12/2025).</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4415" cy="914400"/>
        </p:xfrm>
        <a:graphic>
          <a:graphicData uri="http://schemas.openxmlformats.org/drawingml/2006/table">
            <a:tbl>
              <a:tblPr/>
              <a:tblGrid>
                <a:gridCol w="1920240"/>
                <a:gridCol w="4572000"/>
                <a:gridCol w="4602175"/>
              </a:tblGrid>
              <a:tr h="566928">
                <a:tc>
                  <a:txBody>
                    <a:bodyPr/>
                    <a:lstStyle/>
                    <a:p>
                      <a:pPr indent="0" marL="0">
                        <a:buNone/>
                      </a:pP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bg1"/>
                          </a:solidFill>
                        </a:rPr>
                        <a:t>AGIL® Secure FastPass</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bg1"/>
                          </a:solidFill>
                        </a:rPr>
                        <a:t>Idemia PaXpress SmartLane</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Verification</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Two factors: phone credential (BLE) + live face</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Facial recognition on the move with camera tracking</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566928">
                <a:tc>
                  <a:txBody>
                    <a:bodyPr/>
                    <a:lstStyle/>
                    <a:p>
                      <a:pPr indent="0" marL="0">
                        <a:buNone/>
                      </a:pPr>
                      <a:r>
                        <a:rPr lang="en-US" sz="1200" b="1" dirty="0">
                          <a:solidFill>
                            <a:schemeClr val="tx1"/>
                          </a:solidFill>
                        </a:rPr>
                        <a:t>Identity</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Credential encrypted on the traveller’s phone</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Digital ID via SDK or kiosk; Authorizer platform</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566928">
                <a:tc>
                  <a:txBody>
                    <a:bodyPr/>
                    <a:lstStyle/>
                    <a:p>
                      <a:pPr indent="0" marL="0">
                        <a:buNone/>
                      </a:pPr>
                      <a:r>
                        <a:rPr lang="en-US" sz="1200" b="1" dirty="0">
                          <a:solidFill>
                            <a:schemeClr val="tx1"/>
                          </a:solidFill>
                        </a:rPr>
                        <a:t>Operations</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Converged with CCTV, access, intrusion and incidents</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Supervision screens and tablets for exceptions</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566928">
                <a:tc>
                  <a:txBody>
                    <a:bodyPr/>
                    <a:lstStyle/>
                    <a:p>
                      <a:pPr indent="0" marL="0">
                        <a:buNone/>
                      </a:pPr>
                      <a:r>
                        <a:rPr lang="en-US" sz="1200" b="1" dirty="0">
                          <a:solidFill>
                            <a:schemeClr val="tx1"/>
                          </a:solidFill>
                        </a:rPr>
                        <a:t>Traveller feedback</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Pylon light and status TV; AI assistant on roadmap</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AI-powered guidance displays</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r h="566928">
                <a:tc>
                  <a:txBody>
                    <a:bodyPr/>
                    <a:lstStyle/>
                    <a:p>
                      <a:pPr indent="0" marL="0">
                        <a:buNone/>
                      </a:pPr>
                      <a:r>
                        <a:rPr lang="en-US" sz="1200" b="1" dirty="0">
                          <a:solidFill>
                            <a:schemeClr val="tx1"/>
                          </a:solidFill>
                        </a:rPr>
                        <a:t>Proof and scale</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Integrated prototype; pilot-ready</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bn+ travellers a year; 350+ ports</a:t>
                      </a:r>
                      <a:endParaRPr lang="en-US" sz="1200" dirty="0"/>
                    </a:p>
                  </a:txBody>
                  <a:tcPr marL="91440" marR="91440" marT="36576" marB="36576" anchor="ctr">
                    <a:lnL w="9525" cap="flat" cmpd="sng" algn="ctr">
                      <a:solidFill>
                        <a:srgbClr val="E1E6ED"/>
                      </a:solidFill>
                      <a:prstDash val="solid"/>
                      <a:round/>
                      <a:headEnd type="none" w="med" len="med"/>
                      <a:tailEnd type="none" w="med" len="med"/>
                    </a:lnL>
                    <a:lnR w="9525" cap="flat" cmpd="sng" algn="ctr">
                      <a:solidFill>
                        <a:srgbClr val="E1E6ED"/>
                      </a:solidFill>
                      <a:prstDash val="solid"/>
                      <a:round/>
                      <a:headEnd type="none" w="med" len="med"/>
                      <a:tailEnd type="none" w="med" len="med"/>
                    </a:lnR>
                    <a:lnT w="9525" cap="flat" cmpd="sng" algn="ctr">
                      <a:solidFill>
                        <a:srgbClr val="E1E6ED"/>
                      </a:solidFill>
                      <a:prstDash val="solid"/>
                      <a:round/>
                      <a:headEnd type="none" w="med" len="med"/>
                      <a:tailEnd type="none" w="med" len="med"/>
                    </a:lnT>
                    <a:lnB w="9525" cap="flat" cmpd="sng" algn="ctr">
                      <a:solidFill>
                        <a:srgbClr val="E1E6ED"/>
                      </a:solidFill>
                      <a:prstDash val="solid"/>
                      <a:round/>
                      <a:headEnd type="none" w="med" len="med"/>
                      <a:tailEnd type="none" w="med" len="med"/>
                    </a:lnB>
                    <a:solidFill>
                      <a:schemeClr val="bg1"/>
                    </a:solidFill>
                  </a:tcPr>
                </a:tc>
              </a:tr>
            </a:tbl>
          </a:graphicData>
        </a:graphic>
      </p:graphicFrame>
      <p:sp>
        <p:nvSpPr>
          <p:cNvPr id="6" name="Text 3"/>
          <p:cNvSpPr txBox="1"/>
          <p:nvPr/>
        </p:nvSpPr>
        <p:spPr>
          <a:xfrm>
            <a:off x="548640" y="5669280"/>
            <a:ext cx="11094415" cy="365760"/>
          </a:xfrm>
          <a:prstGeom prst="rect">
            <a:avLst/>
          </a:prstGeom>
          <a:noFill/>
          <a:ln/>
        </p:spPr>
        <p:txBody>
          <a:bodyPr wrap="square" lIns="0" tIns="0" rIns="0" bIns="0" rtlCol="0" anchor="ctr"/>
          <a:lstStyle/>
          <a:p>
            <a:pPr indent="0" marL="0">
              <a:buNone/>
            </a:pPr>
            <a:r>
              <a:rPr lang="en-US" sz="1400" b="1" dirty="0">
                <a:solidFill>
                  <a:schemeClr val="accent1"/>
                </a:solidFill>
              </a:rPr>
              <a:t>Compete on two-factor clearance and converged security operations at a modular entry price, not on portfolio breadth.</a:t>
            </a:r>
            <a:endParaRPr lang="en-US" sz="1400" dirty="0"/>
          </a:p>
        </p:txBody>
      </p:sp>
      <p:sp>
        <p:nvSpPr>
          <p:cNvPr id="25" name="Slide Number Placeholder 0"/>
          <p:cNvSpPr>
            <a:spLocks noGrp="1"/>
          </p:cNvSpPr>
          <p:nvPr>
            <p:ph type="sldNum" sz="quarter" idx="4294967295"/>
          </p:nvPr>
        </p:nvSpPr>
        <p:spPr>
          <a:xfrm>
            <a:off x="329184" y="6382512"/>
            <a:ext cx="329184"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FastPass ST Pearl">
  <a:themeElements>
    <a:clrScheme name="FastPass ST Pearl">
      <a:dk1>
        <a:srgbClr val="0B1526"/>
      </a:dk1>
      <a:lt1>
        <a:srgbClr val="FFFFFF"/>
      </a:lt1>
      <a:dk2>
        <a:srgbClr val="4A5870"/>
      </a:dk2>
      <a:lt2>
        <a:srgbClr val="F4F6F8"/>
      </a:lt2>
      <a:accent1>
        <a:srgbClr val="0B84AE"/>
      </a:accent1>
      <a:accent2>
        <a:srgbClr val="1E9E50"/>
      </a:accent2>
      <a:accent3>
        <a:srgbClr val="D97706"/>
      </a:accent3>
      <a:accent4>
        <a:srgbClr val="E3061A"/>
      </a:accent4>
      <a:accent5>
        <a:srgbClr val="E1E6ED"/>
      </a:accent5>
      <a:accent6>
        <a:srgbClr val="0B2545"/>
      </a:accent6>
      <a:hlink>
        <a:srgbClr val="0B84AE"/>
      </a:hlink>
      <a:folHlink>
        <a:srgbClr val="4A5870"/>
      </a:folHlink>
    </a:clrScheme>
    <a:fontScheme name="FastPass ST Pear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 Engineering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AGIL® Secure FastPass — InnoChamp 2026</dc:title>
  <dc:subject>PptxGenJS Presentation</dc:subject>
  <dc:creator>URS — Smart Security &amp; Automation</dc:creator>
  <cp:lastModifiedBy>URS — Smart Security &amp; Automation</cp:lastModifiedBy>
  <cp:revision>1</cp:revision>
  <dcterms:created xsi:type="dcterms:W3CDTF">2026-10-16T01:04:55Z</dcterms:created>
  <dcterms:modified xsi:type="dcterms:W3CDTF">2026-10-16T01:04:55Z</dcterms:modified>
</cp:coreProperties>
</file>