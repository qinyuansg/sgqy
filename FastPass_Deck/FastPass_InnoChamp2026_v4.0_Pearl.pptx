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itch" id="{5ab0ed74-a041-2b34-fff2-409cbd7b8d7b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Appendix" id="{9040d357-6f22-7523-5b70-7ea270a28caa}">
          <p14:sldIdLst>
            <p14:sldId id="267"/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[0:00–0:10]  AGIL® Secure FastPass — curb to gate on one verified identity. Two-factor, privacy-first, modular.
TIME PLAN (8-min slot): 1 Cover 0:10 · 2 Needs 0:45 · 3 Market 0:50 · 4 Journey 1:10 · 5 ISMP 0:35 · 6 Innovation 0:50 · 7 Impact 0:40 · 8 Go-to-market 0:50 · 9 Collaboration &amp; barriers 0:45 · 10 Ready &amp; ask 0:40 · 11 Close 0:05 ≈ 7:20.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[0:10–0:55]  The departure journey is fragmented: check-in, immigration, security screening and boarding each ask for identity again — the icons show the documents each stop needs.
• 4 identity checks per departure; each is a stop and a queue.
• At least one officer staffs every touchpoint, so capacity is tied to routine checks.
• Demand doubles by 2040 (IATA, Dec 2023: 7.8 bn passengers).
• New capacity takes a decade: Changi's Terminal 5 broke ground in 2025 and opens in the mid-2030s.
Change from draft: the "48% of airports by 2027" figure is replaced — it could not be traced to SITA's published reports.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[0:55–1:45]  Bottom-up sizing: automated border control US$2.56B (2025) → US$5.03B (2030), 14.4% a year (MarketsandMarkets); airports are ~83% of it; ME + SEA ~10–15%; FastPass can address about a quarter → US$500–700M over 2026–30, ≈ US$100–140M a year.
Demand signals: 7 in 10 airlines adopting biometric ID by 2026 (SITA 2024); ~78% of ME/SEA projects are brownfield — where an infrastructure-light lane wins.
Correction from draft: CAGR is 14.4% (MarketsandMarkets), not ~14.5%.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[1:45–2:55]  One slide, the whole journey. Follow the cyan line:
1 Enrol at home — passport + selfie in the FastPass Mobile App (or the airport/airline app via SDK); the credential stays encrypted on the phone.
2 Approach — BLE pairs the phone to the lane as the traveller walks up.
3 Walk through immigration — the Biometric E-Gate's FR pylon matches face to phone on the move; the status TV beside the pylon flashes the traveller's name and a green CLEARED.
4 Pre-screen — the Pre-Screening Profile Check reader confirms identity before bags reach X-ray.
5 Board — face + phone clears the Smart Boarding Kiosk; no passport, no boarding pass.
6 Oversee — AGIL® Secure ISMP sees every step; amber exceptions go to an officer's tablet.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[2:55–3:30]  Behind the journey is AGIL® Secure ISMP — one command environment: traveller transactions, lane and gate control, exception management, assistive AI, a 3D operational view and physical security (CCTV, access, intrusion).
The screen is the live product: passenger log with clear/fail status, traffic, and the departures map. [Swap in the incident-management / digital-twin screenshot from the airshow build if available.]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[3:30–4:20]  "The magic is the clearance method, not the turnstile" (CEO).
Two factors on the move — the phone credential via BLE plus the live face. Most walk-through lanes we benchmarked verify the face only.
• Privacy by design: passport and face template stay encrypted on the phone; the airport holds no biometric database.
• Plugs into existing apps: an SDK for airport and airline channels — the app is an enabler.
• Converged: every clearance sits beside CCTV, access control and incidents in ISMP.
• AI in the offering and the build: on-the-move facial recognition, assistive alert triage; AI-assisted engineering cut selected front-end effort ~50%.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[4:20–5:00]  Productivity and ROI (Market Potential &amp; Business Impact criterion).
Watch the loop: today's traveller stops at every checkpoint; the FastPass traveller glides through.
• Passengers: zero intentional stops; curb to gate in 8–11 minutes (target, validated at the airport demo).
• Operators: four touchpoints automated — officers move from routine checks to exceptions. The ROI case is officer hours plus capacity without new terminal space.
• Security: one view of every lane, clearance and incident in ISMP.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[5:00–5:50]  Who buys: Tier-2 international airports in the Middle East and Southeast Asia; immigration and border agencies co-decide; airlines enable adoption through their digital channels.
What they pay for: lane hardware (one-off), ISMP licence (recurring, by scope), integration (project), annual support and SLA. [Insert target price points after the Sales sync.]
How we scale: prove one pilot lane → expand lanes and enrolment → connect every touchpoint via ISMP → scale across terminals and portfolios. Reusing the live ISMP core keeps development fast.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[5:50–6:35]  MARKET POTENTIAL — "collaborative initiative across BAs" is 30% of that score — and ENTRY BARRIERS (strong IP, deep know-how, specialised set-up, strong sales network) plus "effort to scale fast".
Collaboration: one product team across Smart Security &amp; Automation, Smart Utilities &amp; Infrastructure and Urban Solutions — product, mobile, biometrics, e-gate, the ISMP platform team — with Group Sales engaged. [Confirm each BA's named contribution.]
Barriers: owned IP across the app, lane logic and ISMP; 35+ years of mission-critical delivery; a specialised set-up that converges clearance with security operations; the Group's sales reach in ME &amp; SE Asia.
Scaling fast: cross-sell through Group BUs in other countries; regional sales and integration partners; international requirements already built in (privacy rules, airport governance models, manual-lane fallback). [Name the countries/BUs with Group Sales before 22 Oct.]
If asked about Idemia: they lead on portfolio breadth; we lead on two-factor clearance and converged security operations.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[6:35–7:15]  Four reasons, in order: a clear operational need; a focused US$100–140M-a-year market; a working, integrated product shown at Singapore Airshow 2026; and a defensible edge — the two-factor credential converged with security operations.
Path: live demo with airport stakeholders this quarter → PT World Amsterdam in April → first customer pilot in 2027.
Our ask (CEO: "what do we need STMG to support — money, resource"): productisation funding for offline mode, redundancy and back-end integration [insert amount]; a launch customer through Group Sales; and the PT World 2027 showcase.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[7:15–7:20]  Thank you — happy to take questions. References and Q&amp;A backup follow.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ST_COVER-image-2.jpe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image" Target="../media/ST_CONTENT-image-3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_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gqy/b70fb111-7300-56ba-abe4-4b6e17d8c33e/scratchpad/assets/common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0" y="640080"/>
            <a:ext cx="2450592" cy="7315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713232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713232" y="2514600"/>
            <a:ext cx="86868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713232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_CONTENT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gqy/b70fb111-7300-56ba-abe4-4b6e17d8c33e/scratchpad/assets/v4/red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37160" cy="1673352"/>
          </a:xfrm>
          <a:prstGeom prst="rect">
            <a:avLst/>
          </a:prstGeom>
        </p:spPr>
      </p:pic>
      <p:pic>
        <p:nvPicPr>
          <p:cNvPr id="3" name="Image 1" descr="/tmp/claude-0/-home-user-sgqy/b70fb111-7300-56ba-abe4-4b6e17d8c33e/scratchpad/assets/common/logo_col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0928" y="384048"/>
            <a:ext cx="1920240" cy="5760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body" hasCustomPrompt="1"/>
          </p:nvPr>
        </p:nvSpPr>
        <p:spPr>
          <a:xfrm>
            <a:off x="429768" y="566928"/>
            <a:ext cx="86868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chemeClr val="accent4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5" name="Text 0"/>
          <p:cNvSpPr/>
          <p:nvPr>
            <p:ph idx="103" type="title" hasCustomPrompt="1"/>
          </p:nvPr>
        </p:nvSpPr>
        <p:spPr>
          <a:xfrm>
            <a:off x="411480" y="868680"/>
            <a:ext cx="9235440" cy="53035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429768" y="1417320"/>
            <a:ext cx="10607040" cy="34747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7" name="Text 0"/>
          <p:cNvSpPr/>
          <p:nvPr/>
        </p:nvSpPr>
        <p:spPr>
          <a:xfrm>
            <a:off x="694944" y="6382512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|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9184" y="6382512"/>
            <a:ext cx="329184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9184" y="6382512"/>
            <a:ext cx="329184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slideLayout" Target="../slideLayouts/slideLayout3.xml"/><Relationship Id="rId2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gif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slideLayout" Target="../slideLayouts/slideLayout3.xml"/><Relationship Id="rId1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iata.org/en/iata-repository/publications/economic-reports/global-outlook-for-air-transport---december-2023---report/" TargetMode="External"/><Relationship Id="rId2" Type="http://schemas.openxmlformats.org/officeDocument/2006/relationships/hyperlink" Target="https://www.mot.gov.sg/news-resources/newsroom/update-on-development-plans-for-changi-airport-terminal-5/" TargetMode="External"/><Relationship Id="rId3" Type="http://schemas.openxmlformats.org/officeDocument/2006/relationships/hyperlink" Target="https://www.marketsandmarkets.com/PressReleases/automated-border-control.asp" TargetMode="External"/><Relationship Id="rId4" Type="http://schemas.openxmlformats.org/officeDocument/2006/relationships/hyperlink" Target="https://www.marketsandmarkets.com/ResearchInsight/automated-border-control-market-size.asp" TargetMode="External"/><Relationship Id="rId5" Type="http://schemas.openxmlformats.org/officeDocument/2006/relationships/hyperlink" Target="https://www.sita.aero/resources/surveys-reports/air-transport-it-insights-2024/" TargetMode="External"/><Relationship Id="rId6" Type="http://schemas.openxmlformats.org/officeDocument/2006/relationships/hyperlink" Target="https://www.scmp.com/news/world/middle-east/article/3271055/global-airline-traffic-forecast-double-20-years-led-asia-middle-east" TargetMode="External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13232" y="2011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InnoChamp 2026  |  Product Category</a:t>
            </a:r>
            <a:endParaRPr lang="en-US" sz="2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713232" y="251460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AGIL® Secure FastPass</a:t>
            </a:r>
            <a:endParaRPr lang="en-US" sz="4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713232" y="3474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Curb to gate on one verified identity.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4160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bg1"/>
                </a:solidFill>
              </a:rPr>
              <a:t>TWO-FACTOR   ·   PRIVACY-FIRST   ·   MODULAR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544068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Smart Security &amp; Automation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Smart Utilities &amp; Infrastructure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Urban Solutions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429768" y="56692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Market Needs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411480" y="86868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More passengers. More checks. Limited capacity.</a:t>
            </a:r>
            <a:endParaRPr lang="en-US" sz="30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429768" y="1417320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Every departure is split into four identity checks — each a stop, a queue and a staffed desk.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005840" y="2606040"/>
            <a:ext cx="1014984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377440"/>
            <a:ext cx="457200" cy="45720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" y="2482596"/>
            <a:ext cx="246888" cy="24688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1183112" y="2377440"/>
            <a:ext cx="457200" cy="45720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8268" y="2482596"/>
            <a:ext cx="246888" cy="24688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911096" y="2368296"/>
            <a:ext cx="475488" cy="475488"/>
          </a:xfrm>
          <a:prstGeom prst="octagon">
            <a:avLst/>
          </a:prstGeom>
          <a:solidFill>
            <a:schemeClr val="accent3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2468880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960120" y="29535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Check-in</a:t>
            </a:r>
            <a:endParaRPr lang="en-US" sz="15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4520" y="3300984"/>
            <a:ext cx="219456" cy="219456"/>
          </a:xfrm>
          <a:prstGeom prst="rect">
            <a:avLst/>
          </a:prstGeom>
        </p:spPr>
      </p:pic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3704" y="3300984"/>
            <a:ext cx="219456" cy="219456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4544568" y="2368296"/>
            <a:ext cx="475488" cy="475488"/>
          </a:xfrm>
          <a:prstGeom prst="octagon">
            <a:avLst/>
          </a:prstGeom>
          <a:solidFill>
            <a:schemeClr val="accent3"/>
          </a:solidFill>
          <a:ln/>
        </p:spPr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5152" y="2468880"/>
            <a:ext cx="274320" cy="27432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3593592" y="29535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Immigration</a:t>
            </a:r>
            <a:endParaRPr lang="en-US" sz="150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07992" y="3300984"/>
            <a:ext cx="219456" cy="219456"/>
          </a:xfrm>
          <a:prstGeom prst="rect">
            <a:avLst/>
          </a:prstGeom>
        </p:spPr>
      </p:pic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37176" y="3300984"/>
            <a:ext cx="219456" cy="219456"/>
          </a:xfrm>
          <a:prstGeom prst="rect">
            <a:avLst/>
          </a:prstGeom>
        </p:spPr>
      </p:pic>
      <p:sp>
        <p:nvSpPr>
          <p:cNvPr id="20" name="Shape 10"/>
          <p:cNvSpPr/>
          <p:nvPr/>
        </p:nvSpPr>
        <p:spPr>
          <a:xfrm>
            <a:off x="7178040" y="2368296"/>
            <a:ext cx="475488" cy="475488"/>
          </a:xfrm>
          <a:prstGeom prst="octagon">
            <a:avLst/>
          </a:prstGeom>
          <a:solidFill>
            <a:schemeClr val="accent3"/>
          </a:solidFill>
          <a:ln/>
        </p:spPr>
      </p:sp>
      <p:pic>
        <p:nvPicPr>
          <p:cNvPr id="2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78624" y="2468880"/>
            <a:ext cx="274320" cy="274320"/>
          </a:xfrm>
          <a:prstGeom prst="rect">
            <a:avLst/>
          </a:prstGeom>
        </p:spPr>
      </p:pic>
      <p:sp>
        <p:nvSpPr>
          <p:cNvPr id="22" name="Text 11"/>
          <p:cNvSpPr txBox="1"/>
          <p:nvPr/>
        </p:nvSpPr>
        <p:spPr>
          <a:xfrm>
            <a:off x="6227064" y="29535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Security screening</a:t>
            </a:r>
            <a:endParaRPr lang="en-US" sz="1500" dirty="0"/>
          </a:p>
        </p:txBody>
      </p:sp>
      <p:pic>
        <p:nvPicPr>
          <p:cNvPr id="2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41464" y="3300984"/>
            <a:ext cx="219456" cy="219456"/>
          </a:xfrm>
          <a:prstGeom prst="rect">
            <a:avLst/>
          </a:prstGeom>
        </p:spPr>
      </p:pic>
      <p:pic>
        <p:nvPicPr>
          <p:cNvPr id="2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70648" y="3300984"/>
            <a:ext cx="219456" cy="219456"/>
          </a:xfrm>
          <a:prstGeom prst="rect">
            <a:avLst/>
          </a:prstGeom>
        </p:spPr>
      </p:pic>
      <p:sp>
        <p:nvSpPr>
          <p:cNvPr id="25" name="Shape 12"/>
          <p:cNvSpPr/>
          <p:nvPr/>
        </p:nvSpPr>
        <p:spPr>
          <a:xfrm>
            <a:off x="9811512" y="2368296"/>
            <a:ext cx="475488" cy="475488"/>
          </a:xfrm>
          <a:prstGeom prst="octagon">
            <a:avLst/>
          </a:prstGeom>
          <a:solidFill>
            <a:schemeClr val="accent3"/>
          </a:solidFill>
          <a:ln/>
        </p:spPr>
      </p:sp>
      <p:pic>
        <p:nvPicPr>
          <p:cNvPr id="2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12096" y="2468880"/>
            <a:ext cx="274320" cy="274320"/>
          </a:xfrm>
          <a:prstGeom prst="rect">
            <a:avLst/>
          </a:prstGeom>
        </p:spPr>
      </p:pic>
      <p:sp>
        <p:nvSpPr>
          <p:cNvPr id="27" name="Text 13"/>
          <p:cNvSpPr txBox="1"/>
          <p:nvPr/>
        </p:nvSpPr>
        <p:spPr>
          <a:xfrm>
            <a:off x="8860536" y="29535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Boarding gate</a:t>
            </a:r>
            <a:endParaRPr lang="en-US" sz="1500" dirty="0"/>
          </a:p>
        </p:txBody>
      </p:sp>
      <p:pic>
        <p:nvPicPr>
          <p:cNvPr id="2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74936" y="3300984"/>
            <a:ext cx="219456" cy="219456"/>
          </a:xfrm>
          <a:prstGeom prst="rect">
            <a:avLst/>
          </a:prstGeom>
        </p:spPr>
      </p:pic>
      <p:pic>
        <p:nvPicPr>
          <p:cNvPr id="29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104120" y="3300984"/>
            <a:ext cx="219456" cy="219456"/>
          </a:xfrm>
          <a:prstGeom prst="rect">
            <a:avLst/>
          </a:prstGeom>
        </p:spPr>
      </p:pic>
      <p:sp>
        <p:nvSpPr>
          <p:cNvPr id="30" name="Shape 14"/>
          <p:cNvSpPr/>
          <p:nvPr/>
        </p:nvSpPr>
        <p:spPr>
          <a:xfrm>
            <a:off x="548640" y="3931920"/>
            <a:ext cx="2567864" cy="1828800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38100" dir="5400000">
              <a:srgbClr val="0A1628">
                <a:alpha val="9000"/>
              </a:srgbClr>
            </a:outerShdw>
          </a:effectLst>
        </p:spPr>
      </p:sp>
      <p:sp>
        <p:nvSpPr>
          <p:cNvPr id="31" name="Text 15"/>
          <p:cNvSpPr txBox="1"/>
          <p:nvPr/>
        </p:nvSpPr>
        <p:spPr>
          <a:xfrm>
            <a:off x="822960" y="41605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4</a:t>
            </a:r>
            <a:endParaRPr lang="en-US" sz="4000" dirty="0"/>
          </a:p>
        </p:txBody>
      </p:sp>
      <p:sp>
        <p:nvSpPr>
          <p:cNvPr id="32" name="Shape 16"/>
          <p:cNvSpPr/>
          <p:nvPr/>
        </p:nvSpPr>
        <p:spPr>
          <a:xfrm>
            <a:off x="2421560" y="4206240"/>
            <a:ext cx="420624" cy="420624"/>
          </a:xfrm>
          <a:prstGeom prst="ellipse">
            <a:avLst/>
          </a:prstGeom>
          <a:solidFill>
            <a:schemeClr val="accent3">
              <a:alpha val="12000"/>
            </a:schemeClr>
          </a:solidFill>
          <a:ln/>
        </p:spPr>
      </p:sp>
      <p:pic>
        <p:nvPicPr>
          <p:cNvPr id="3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518303" y="4302984"/>
            <a:ext cx="227137" cy="227137"/>
          </a:xfrm>
          <a:prstGeom prst="rect">
            <a:avLst/>
          </a:prstGeom>
        </p:spPr>
      </p:pic>
      <p:sp>
        <p:nvSpPr>
          <p:cNvPr id="34" name="Text 17"/>
          <p:cNvSpPr txBox="1"/>
          <p:nvPr/>
        </p:nvSpPr>
        <p:spPr>
          <a:xfrm>
            <a:off x="822960" y="4956048"/>
            <a:ext cx="2019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identity checks per departure</a:t>
            </a:r>
            <a:endParaRPr lang="en-US" sz="1500" dirty="0"/>
          </a:p>
        </p:txBody>
      </p:sp>
      <p:sp>
        <p:nvSpPr>
          <p:cNvPr id="35" name="Shape 18"/>
          <p:cNvSpPr/>
          <p:nvPr/>
        </p:nvSpPr>
        <p:spPr>
          <a:xfrm>
            <a:off x="3390824" y="3931920"/>
            <a:ext cx="2567864" cy="1828800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38100" dir="5400000">
              <a:srgbClr val="0A1628">
                <a:alpha val="9000"/>
              </a:srgbClr>
            </a:outerShdw>
          </a:effectLst>
        </p:spPr>
      </p:sp>
      <p:sp>
        <p:nvSpPr>
          <p:cNvPr id="36" name="Text 19"/>
          <p:cNvSpPr txBox="1"/>
          <p:nvPr/>
        </p:nvSpPr>
        <p:spPr>
          <a:xfrm>
            <a:off x="3665144" y="41605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≥1</a:t>
            </a:r>
            <a:endParaRPr lang="en-US" sz="4000" dirty="0"/>
          </a:p>
        </p:txBody>
      </p:sp>
      <p:sp>
        <p:nvSpPr>
          <p:cNvPr id="37" name="Shape 20"/>
          <p:cNvSpPr/>
          <p:nvPr/>
        </p:nvSpPr>
        <p:spPr>
          <a:xfrm>
            <a:off x="5263744" y="4206240"/>
            <a:ext cx="420624" cy="420624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38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360487" y="4302984"/>
            <a:ext cx="227137" cy="227137"/>
          </a:xfrm>
          <a:prstGeom prst="rect">
            <a:avLst/>
          </a:prstGeom>
        </p:spPr>
      </p:pic>
      <p:sp>
        <p:nvSpPr>
          <p:cNvPr id="39" name="Text 21"/>
          <p:cNvSpPr txBox="1"/>
          <p:nvPr/>
        </p:nvSpPr>
        <p:spPr>
          <a:xfrm>
            <a:off x="3665144" y="4956048"/>
            <a:ext cx="2019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officer staffing every touchpoint</a:t>
            </a:r>
            <a:endParaRPr lang="en-US" sz="1500" dirty="0"/>
          </a:p>
        </p:txBody>
      </p:sp>
      <p:sp>
        <p:nvSpPr>
          <p:cNvPr id="40" name="Shape 22"/>
          <p:cNvSpPr/>
          <p:nvPr/>
        </p:nvSpPr>
        <p:spPr>
          <a:xfrm>
            <a:off x="6233008" y="3931920"/>
            <a:ext cx="2567864" cy="1828800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38100" dir="5400000">
              <a:srgbClr val="0A1628">
                <a:alpha val="9000"/>
              </a:srgbClr>
            </a:outerShdw>
          </a:effectLst>
        </p:spPr>
      </p:sp>
      <p:sp>
        <p:nvSpPr>
          <p:cNvPr id="41" name="Text 23"/>
          <p:cNvSpPr txBox="1"/>
          <p:nvPr/>
        </p:nvSpPr>
        <p:spPr>
          <a:xfrm>
            <a:off x="6507328" y="41605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2×</a:t>
            </a:r>
            <a:endParaRPr lang="en-US" sz="4000" dirty="0"/>
          </a:p>
        </p:txBody>
      </p:sp>
      <p:sp>
        <p:nvSpPr>
          <p:cNvPr id="42" name="Shape 24"/>
          <p:cNvSpPr/>
          <p:nvPr/>
        </p:nvSpPr>
        <p:spPr>
          <a:xfrm>
            <a:off x="8105927" y="4206240"/>
            <a:ext cx="420624" cy="420624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43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02671" y="4302984"/>
            <a:ext cx="227137" cy="227137"/>
          </a:xfrm>
          <a:prstGeom prst="rect">
            <a:avLst/>
          </a:prstGeom>
        </p:spPr>
      </p:pic>
      <p:sp>
        <p:nvSpPr>
          <p:cNvPr id="44" name="Text 25"/>
          <p:cNvSpPr txBox="1"/>
          <p:nvPr/>
        </p:nvSpPr>
        <p:spPr>
          <a:xfrm>
            <a:off x="6507328" y="4956048"/>
            <a:ext cx="2019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air travel demand by 2040</a:t>
            </a:r>
            <a:endParaRPr lang="en-US" sz="1500" dirty="0"/>
          </a:p>
        </p:txBody>
      </p:sp>
      <p:sp>
        <p:nvSpPr>
          <p:cNvPr id="45" name="Shape 26"/>
          <p:cNvSpPr/>
          <p:nvPr/>
        </p:nvSpPr>
        <p:spPr>
          <a:xfrm>
            <a:off x="9075191" y="3931920"/>
            <a:ext cx="2567864" cy="1828800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38100" dir="5400000">
              <a:srgbClr val="0A1628">
                <a:alpha val="9000"/>
              </a:srgbClr>
            </a:outerShdw>
          </a:effectLst>
        </p:spPr>
      </p:sp>
      <p:sp>
        <p:nvSpPr>
          <p:cNvPr id="46" name="Text 27"/>
          <p:cNvSpPr txBox="1"/>
          <p:nvPr/>
        </p:nvSpPr>
        <p:spPr>
          <a:xfrm>
            <a:off x="9349511" y="41605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2030s</a:t>
            </a:r>
            <a:endParaRPr lang="en-US" sz="4000" dirty="0"/>
          </a:p>
        </p:txBody>
      </p:sp>
      <p:sp>
        <p:nvSpPr>
          <p:cNvPr id="47" name="Shape 28"/>
          <p:cNvSpPr/>
          <p:nvPr/>
        </p:nvSpPr>
        <p:spPr>
          <a:xfrm>
            <a:off x="10948111" y="4206240"/>
            <a:ext cx="420624" cy="420624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48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044855" y="4302984"/>
            <a:ext cx="227137" cy="227137"/>
          </a:xfrm>
          <a:prstGeom prst="rect">
            <a:avLst/>
          </a:prstGeom>
        </p:spPr>
      </p:pic>
      <p:sp>
        <p:nvSpPr>
          <p:cNvPr id="49" name="Text 29"/>
          <p:cNvSpPr txBox="1"/>
          <p:nvPr/>
        </p:nvSpPr>
        <p:spPr>
          <a:xfrm>
            <a:off x="9349511" y="4956048"/>
            <a:ext cx="2019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before Changi’s next terminal opens</a:t>
            </a:r>
            <a:endParaRPr lang="en-US" sz="1500" dirty="0"/>
          </a:p>
        </p:txBody>
      </p:sp>
      <p:sp>
        <p:nvSpPr>
          <p:cNvPr id="50" name="Text 30"/>
          <p:cNvSpPr txBox="1"/>
          <p:nvPr/>
        </p:nvSpPr>
        <p:spPr>
          <a:xfrm>
            <a:off x="548640" y="6053328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Sources: IATA Global Outlook for Air Transport (Dec 2023); Singapore MOT, Changi T5 update (2025). Staffing per touchpoint: airport expert calls. See References.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9184" y="6382512"/>
            <a:ext cx="329184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429768" y="56692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Market Potential</a:t>
            </a:r>
            <a:endParaRPr lang="en-US" sz="14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411480" y="86868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 focused market in high-growth airport regions</a:t>
            </a:r>
            <a:endParaRPr lang="en-US" sz="30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429768" y="1417320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Brownfield airports in the Middle East and Southeast Asia, where growth outpaces capacity.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669280" cy="676656"/>
          </a:xfrm>
          <a:prstGeom prst="roundRect">
            <a:avLst>
              <a:gd name="adj" fmla="val 21622"/>
            </a:avLst>
          </a:prstGeom>
          <a:solidFill>
            <a:schemeClr val="accent1">
              <a:alpha val="16000"/>
            </a:scheme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103120"/>
            <a:ext cx="5669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US$5.0B</a:t>
            </a:r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 global ABC market by 2030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2907792"/>
            <a:ext cx="4937760" cy="676656"/>
          </a:xfrm>
          <a:prstGeom prst="roundRect">
            <a:avLst>
              <a:gd name="adj" fmla="val 21622"/>
            </a:avLst>
          </a:prstGeom>
          <a:solidFill>
            <a:schemeClr val="accent1">
              <a:alpha val="28000"/>
            </a:scheme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2907792"/>
            <a:ext cx="4937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≈83%</a:t>
            </a:r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 at airports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280160" y="3712464"/>
            <a:ext cx="4206240" cy="676656"/>
          </a:xfrm>
          <a:prstGeom prst="roundRect">
            <a:avLst>
              <a:gd name="adj" fmla="val 21622"/>
            </a:avLst>
          </a:prstGeom>
          <a:solidFill>
            <a:schemeClr val="accent1">
              <a:alpha val="46000"/>
            </a:scheme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280160" y="3712464"/>
            <a:ext cx="4206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10–15%</a:t>
            </a:r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 Middle East + SE Asia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600200" y="4517136"/>
            <a:ext cx="3566160" cy="676656"/>
          </a:xfrm>
          <a:prstGeom prst="roundRect">
            <a:avLst>
              <a:gd name="adj" fmla="val 21622"/>
            </a:avLst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600200" y="4517136"/>
            <a:ext cx="3566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≈25%</a:t>
            </a:r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  FastPass addressable share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358384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US$2.56B (2025) → US$5.03B (2030)  ·  14.4% CAGR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29400" y="2103120"/>
            <a:ext cx="5013655" cy="201168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/>
          <a:effectLst>
            <a:outerShdw sx="100000" sy="100000" kx="0" ky="0" algn="bl" rotWithShape="0" blurRad="203200" dist="38100" dir="5400000">
              <a:srgbClr val="0A1628">
                <a:alpha val="9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995160" y="2331720"/>
            <a:ext cx="42821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SERVICEABLE MARKET  ·  2026–30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995160" y="2633472"/>
            <a:ext cx="4282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US$500–700M</a:t>
            </a:r>
            <a:endParaRPr lang="en-US" sz="4400" dirty="0"/>
          </a:p>
        </p:txBody>
      </p:sp>
      <p:sp>
        <p:nvSpPr>
          <p:cNvPr id="17" name="Text 15"/>
          <p:cNvSpPr txBox="1"/>
          <p:nvPr/>
        </p:nvSpPr>
        <p:spPr>
          <a:xfrm>
            <a:off x="6995160" y="3401568"/>
            <a:ext cx="4282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≈ US$100–140M a year, hardware to services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629400" y="4343400"/>
            <a:ext cx="2369668" cy="1463040"/>
          </a:xfrm>
          <a:prstGeom prst="roundRect">
            <a:avLst>
              <a:gd name="adj" fmla="val 8750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38100" dir="5400000">
              <a:srgbClr val="0A1628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58000" y="4526280"/>
            <a:ext cx="384048" cy="384048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6331" y="4614611"/>
            <a:ext cx="207386" cy="207386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7360920" y="4526280"/>
            <a:ext cx="1455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7 in 10</a:t>
            </a:r>
            <a:endParaRPr lang="en-US" sz="2600" dirty="0"/>
          </a:p>
        </p:txBody>
      </p:sp>
      <p:sp>
        <p:nvSpPr>
          <p:cNvPr id="22" name="Text 19"/>
          <p:cNvSpPr txBox="1"/>
          <p:nvPr/>
        </p:nvSpPr>
        <p:spPr>
          <a:xfrm>
            <a:off x="6858000" y="5029200"/>
            <a:ext cx="19581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airlines adopting biometric ID by 2026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9273388" y="4343400"/>
            <a:ext cx="2369668" cy="1463040"/>
          </a:xfrm>
          <a:prstGeom prst="roundRect">
            <a:avLst>
              <a:gd name="adj" fmla="val 8750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38100" dir="5400000">
              <a:srgbClr val="0A1628">
                <a:alpha val="9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9501988" y="4526280"/>
            <a:ext cx="384048" cy="384048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0319" y="4614611"/>
            <a:ext cx="207386" cy="207386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10004908" y="4526280"/>
            <a:ext cx="1455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~78%</a:t>
            </a:r>
            <a:endParaRPr lang="en-US" sz="2600" dirty="0"/>
          </a:p>
        </p:txBody>
      </p:sp>
      <p:sp>
        <p:nvSpPr>
          <p:cNvPr id="27" name="Text 23"/>
          <p:cNvSpPr txBox="1"/>
          <p:nvPr/>
        </p:nvSpPr>
        <p:spPr>
          <a:xfrm>
            <a:off x="9501988" y="5029200"/>
            <a:ext cx="19581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of ME/SEA airport projects are brownfield</a:t>
            </a:r>
            <a:endParaRPr lang="en-US" sz="1400" dirty="0"/>
          </a:p>
        </p:txBody>
      </p:sp>
      <p:sp>
        <p:nvSpPr>
          <p:cNvPr id="28" name="Text 24"/>
          <p:cNvSpPr txBox="1"/>
          <p:nvPr/>
        </p:nvSpPr>
        <p:spPr>
          <a:xfrm>
            <a:off x="548640" y="6053328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Sources: MarketsandMarkets, Automated Border Control Market 2025–2030; SITA Air Transport IT Insights 2024. Regional and serviceable shares: URS estimate. See References.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9184" y="6382512"/>
            <a:ext cx="329184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urb-to-gate journey" descr="/tmp/claude-0/-home-user-sgqy/b70fb111-7300-56ba-abe4-4b6e17d8c33e/scratchpad/journey/sf_pear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2" type="body" hasCustomPrompt="1"/>
          </p:nvPr>
        </p:nvSpPr>
        <p:spPr>
          <a:xfrm>
            <a:off x="429768" y="56692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FastPass Solution</a:t>
            </a:r>
            <a:endParaRPr lang="en-US" sz="1400" dirty="0"/>
          </a:p>
        </p:txBody>
      </p:sp>
      <p:sp>
        <p:nvSpPr>
          <p:cNvPr id="4" name="Text 0"/>
          <p:cNvSpPr/>
          <p:nvPr>
            <p:ph idx="103" type="title" hasCustomPrompt="1"/>
          </p:nvPr>
        </p:nvSpPr>
        <p:spPr>
          <a:xfrm>
            <a:off x="411480" y="86868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One identity, from curb to gate</a:t>
            </a:r>
            <a:endParaRPr lang="en-US" sz="3000" dirty="0"/>
          </a:p>
        </p:txBody>
      </p:sp>
      <p:sp>
        <p:nvSpPr>
          <p:cNvPr id="5" name="Text 0"/>
          <p:cNvSpPr/>
          <p:nvPr>
            <p:ph idx="104" type="body" hasCustomPrompt="1"/>
          </p:nvPr>
        </p:nvSpPr>
        <p:spPr>
          <a:xfrm>
            <a:off x="429768" y="1417320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Six touchpoints. One verified credential. No stops for eligible travellers.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 flipV="1">
            <a:off x="1856232" y="2798064"/>
            <a:ext cx="521208" cy="2278685"/>
          </a:xfrm>
          <a:prstGeom prst="line">
            <a:avLst/>
          </a:prstGeom>
          <a:noFill/>
          <a:ln w="12700">
            <a:solidFill>
              <a:schemeClr val="accent1">
                <a:alpha val="85000"/>
              </a:scheme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 flipV="1">
            <a:off x="3000146" y="2798064"/>
            <a:ext cx="566014" cy="1707185"/>
          </a:xfrm>
          <a:prstGeom prst="line">
            <a:avLst/>
          </a:prstGeom>
          <a:noFill/>
          <a:ln w="12700">
            <a:solidFill>
              <a:schemeClr val="accent1">
                <a:alpha val="85000"/>
              </a:scheme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 flipV="1">
            <a:off x="4924958" y="2798064"/>
            <a:ext cx="561442" cy="744322"/>
          </a:xfrm>
          <a:prstGeom prst="line">
            <a:avLst/>
          </a:prstGeom>
          <a:noFill/>
          <a:ln w="12700">
            <a:solidFill>
              <a:schemeClr val="accent1">
                <a:alpha val="85000"/>
              </a:scheme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 flipV="1">
            <a:off x="6540703" y="2798064"/>
            <a:ext cx="1048817" cy="1280160"/>
          </a:xfrm>
          <a:prstGeom prst="line">
            <a:avLst/>
          </a:prstGeom>
          <a:noFill/>
          <a:ln w="12700">
            <a:solidFill>
              <a:schemeClr val="accent1">
                <a:alpha val="85000"/>
              </a:scheme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 flipV="1">
            <a:off x="8882482" y="2798064"/>
            <a:ext cx="993038" cy="2451506"/>
          </a:xfrm>
          <a:prstGeom prst="line">
            <a:avLst/>
          </a:prstGeom>
          <a:noFill/>
          <a:ln w="12700">
            <a:solidFill>
              <a:schemeClr val="accent1">
                <a:alpha val="85000"/>
              </a:scheme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216652" y="5598871"/>
            <a:ext cx="864108" cy="253289"/>
          </a:xfrm>
          <a:prstGeom prst="line">
            <a:avLst/>
          </a:prstGeom>
          <a:noFill/>
          <a:ln w="12700">
            <a:solidFill>
              <a:schemeClr val="accent1">
                <a:alpha val="85000"/>
              </a:scheme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019912" y="3672474"/>
            <a:ext cx="2504539" cy="137831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dash"/>
          </a:ln>
        </p:spPr>
      </p:sp>
      <p:sp>
        <p:nvSpPr>
          <p:cNvPr id="13" name="Shape 10"/>
          <p:cNvSpPr/>
          <p:nvPr/>
        </p:nvSpPr>
        <p:spPr>
          <a:xfrm>
            <a:off x="4483303" y="3769157"/>
            <a:ext cx="82296" cy="822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Shape 11"/>
          <p:cNvSpPr/>
          <p:nvPr/>
        </p:nvSpPr>
        <p:spPr>
          <a:xfrm>
            <a:off x="768096" y="2990088"/>
            <a:ext cx="1298448" cy="129844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  <a:effectLst>
            <a:outerShdw sx="100000" sy="100000" kx="0" ky="0" algn="bl" rotWithShape="0" blurRad="203200" dist="38100" dir="5400000">
              <a:srgbClr val="0A1628">
                <a:alpha val="9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905256" y="3273552"/>
            <a:ext cx="1024128" cy="603504"/>
          </a:xfrm>
          <a:prstGeom prst="roundRect">
            <a:avLst>
              <a:gd name="adj" fmla="val 9091"/>
            </a:avLst>
          </a:prstGeom>
          <a:solidFill>
            <a:srgbClr val="0E1B2D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87552" y="3355848"/>
            <a:ext cx="246888" cy="246888"/>
          </a:xfrm>
          <a:prstGeom prst="ellipse">
            <a:avLst/>
          </a:prstGeom>
          <a:solidFill>
            <a:srgbClr val="E7CDB4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280160" y="3337560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TAN M. L.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1280160" y="3493008"/>
            <a:ext cx="6217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AA8BC"/>
                </a:solidFill>
              </a:rPr>
              <a:t>SQ 322 · B12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987552" y="3675888"/>
            <a:ext cx="859536" cy="14630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987552" y="3675888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</a:rPr>
              <a:t>CLEARED</a:t>
            </a:r>
            <a:endParaRPr lang="en-US" sz="8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395020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chemeClr val="accent1"/>
                </a:solidFill>
              </a:rPr>
              <a:t>STATUS TV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548640" y="2011680"/>
            <a:ext cx="2057400" cy="786384"/>
          </a:xfrm>
          <a:prstGeom prst="roundRect">
            <a:avLst>
              <a:gd name="adj" fmla="val 16279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38100" dir="5400000">
              <a:srgbClr val="0A1628">
                <a:alpha val="9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85800" y="2112264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85800" y="21122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20848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Enrol at home</a:t>
            </a:r>
            <a:endParaRPr lang="en-US" sz="1400" dirty="0"/>
          </a:p>
        </p:txBody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468880"/>
            <a:ext cx="219456" cy="219456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1051560" y="243230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FastPass App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2743200" y="2011680"/>
            <a:ext cx="2057400" cy="786384"/>
          </a:xfrm>
          <a:prstGeom prst="roundRect">
            <a:avLst>
              <a:gd name="adj" fmla="val 16279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38100" dir="5400000">
              <a:srgbClr val="0A1628">
                <a:alpha val="9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2880360" y="2112264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2880360" y="21122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31" name="Text 27"/>
          <p:cNvSpPr txBox="1"/>
          <p:nvPr/>
        </p:nvSpPr>
        <p:spPr>
          <a:xfrm>
            <a:off x="3246120" y="20848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Approach</a:t>
            </a:r>
            <a:endParaRPr lang="en-US" sz="1400" dirty="0"/>
          </a:p>
        </p:txBody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7792" y="2468880"/>
            <a:ext cx="219456" cy="219456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3246120" y="243230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BLE lane pairing</a:t>
            </a:r>
            <a:endParaRPr lang="en-US" sz="1200" dirty="0"/>
          </a:p>
        </p:txBody>
      </p:sp>
      <p:sp>
        <p:nvSpPr>
          <p:cNvPr id="34" name="Shape 29"/>
          <p:cNvSpPr/>
          <p:nvPr/>
        </p:nvSpPr>
        <p:spPr>
          <a:xfrm>
            <a:off x="4937760" y="2011680"/>
            <a:ext cx="2057400" cy="786384"/>
          </a:xfrm>
          <a:prstGeom prst="roundRect">
            <a:avLst>
              <a:gd name="adj" fmla="val 16279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38100" dir="5400000">
              <a:srgbClr val="0A1628">
                <a:alpha val="9000"/>
              </a:srgbClr>
            </a:outerShdw>
          </a:effectLst>
        </p:spPr>
      </p:sp>
      <p:sp>
        <p:nvSpPr>
          <p:cNvPr id="35" name="Shape 30"/>
          <p:cNvSpPr/>
          <p:nvPr/>
        </p:nvSpPr>
        <p:spPr>
          <a:xfrm>
            <a:off x="5074920" y="2112264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6" name="Text 31"/>
          <p:cNvSpPr txBox="1"/>
          <p:nvPr/>
        </p:nvSpPr>
        <p:spPr>
          <a:xfrm>
            <a:off x="5074920" y="21122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37" name="Text 32"/>
          <p:cNvSpPr txBox="1"/>
          <p:nvPr/>
        </p:nvSpPr>
        <p:spPr>
          <a:xfrm>
            <a:off x="5440680" y="20848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Walk through</a:t>
            </a:r>
            <a:endParaRPr lang="en-US" sz="1400" dirty="0"/>
          </a:p>
        </p:txBody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2352" y="2468880"/>
            <a:ext cx="219456" cy="219456"/>
          </a:xfrm>
          <a:prstGeom prst="rect">
            <a:avLst/>
          </a:prstGeom>
        </p:spPr>
      </p:pic>
      <p:sp>
        <p:nvSpPr>
          <p:cNvPr id="39" name="Text 33"/>
          <p:cNvSpPr txBox="1"/>
          <p:nvPr/>
        </p:nvSpPr>
        <p:spPr>
          <a:xfrm>
            <a:off x="5440680" y="243230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Biometric E-Gate</a:t>
            </a:r>
            <a:endParaRPr lang="en-US" sz="1200" dirty="0"/>
          </a:p>
        </p:txBody>
      </p:sp>
      <p:sp>
        <p:nvSpPr>
          <p:cNvPr id="40" name="Shape 34"/>
          <p:cNvSpPr/>
          <p:nvPr/>
        </p:nvSpPr>
        <p:spPr>
          <a:xfrm>
            <a:off x="7132320" y="2011680"/>
            <a:ext cx="2057400" cy="786384"/>
          </a:xfrm>
          <a:prstGeom prst="roundRect">
            <a:avLst>
              <a:gd name="adj" fmla="val 16279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38100" dir="5400000">
              <a:srgbClr val="0A1628">
                <a:alpha val="9000"/>
              </a:srgbClr>
            </a:outerShdw>
          </a:effectLst>
        </p:spPr>
      </p:sp>
      <p:sp>
        <p:nvSpPr>
          <p:cNvPr id="41" name="Shape 35"/>
          <p:cNvSpPr/>
          <p:nvPr/>
        </p:nvSpPr>
        <p:spPr>
          <a:xfrm>
            <a:off x="7269480" y="2112264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2" name="Text 36"/>
          <p:cNvSpPr txBox="1"/>
          <p:nvPr/>
        </p:nvSpPr>
        <p:spPr>
          <a:xfrm>
            <a:off x="7269480" y="21122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43" name="Text 37"/>
          <p:cNvSpPr txBox="1"/>
          <p:nvPr/>
        </p:nvSpPr>
        <p:spPr>
          <a:xfrm>
            <a:off x="7635240" y="20848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Pre-screen</a:t>
            </a:r>
            <a:endParaRPr lang="en-US" sz="1400" dirty="0"/>
          </a:p>
        </p:txBody>
      </p:sp>
      <p:pic>
        <p:nvPicPr>
          <p:cNvPr id="4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6912" y="2468880"/>
            <a:ext cx="219456" cy="219456"/>
          </a:xfrm>
          <a:prstGeom prst="rect">
            <a:avLst/>
          </a:prstGeom>
        </p:spPr>
      </p:pic>
      <p:sp>
        <p:nvSpPr>
          <p:cNvPr id="45" name="Text 38"/>
          <p:cNvSpPr txBox="1"/>
          <p:nvPr/>
        </p:nvSpPr>
        <p:spPr>
          <a:xfrm>
            <a:off x="7635240" y="243230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Profile Check</a:t>
            </a:r>
            <a:endParaRPr lang="en-US" sz="1200" dirty="0"/>
          </a:p>
        </p:txBody>
      </p:sp>
      <p:sp>
        <p:nvSpPr>
          <p:cNvPr id="46" name="Shape 39"/>
          <p:cNvSpPr/>
          <p:nvPr/>
        </p:nvSpPr>
        <p:spPr>
          <a:xfrm>
            <a:off x="9326880" y="2011680"/>
            <a:ext cx="2316175" cy="786384"/>
          </a:xfrm>
          <a:prstGeom prst="roundRect">
            <a:avLst>
              <a:gd name="adj" fmla="val 16279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38100" dir="5400000">
              <a:srgbClr val="0A1628">
                <a:alpha val="9000"/>
              </a:srgbClr>
            </a:outerShdw>
          </a:effectLst>
        </p:spPr>
      </p:sp>
      <p:sp>
        <p:nvSpPr>
          <p:cNvPr id="47" name="Shape 40"/>
          <p:cNvSpPr/>
          <p:nvPr/>
        </p:nvSpPr>
        <p:spPr>
          <a:xfrm>
            <a:off x="9464040" y="2112264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8" name="Text 41"/>
          <p:cNvSpPr txBox="1"/>
          <p:nvPr/>
        </p:nvSpPr>
        <p:spPr>
          <a:xfrm>
            <a:off x="9464040" y="21122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49" name="Text 42"/>
          <p:cNvSpPr txBox="1"/>
          <p:nvPr/>
        </p:nvSpPr>
        <p:spPr>
          <a:xfrm>
            <a:off x="9829800" y="2084832"/>
            <a:ext cx="17218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Board</a:t>
            </a:r>
            <a:endParaRPr lang="en-US" sz="1400" dirty="0"/>
          </a:p>
        </p:txBody>
      </p:sp>
      <p:pic>
        <p:nvPicPr>
          <p:cNvPr id="5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91472" y="2468880"/>
            <a:ext cx="219456" cy="219456"/>
          </a:xfrm>
          <a:prstGeom prst="rect">
            <a:avLst/>
          </a:prstGeom>
        </p:spPr>
      </p:pic>
      <p:sp>
        <p:nvSpPr>
          <p:cNvPr id="51" name="Text 43"/>
          <p:cNvSpPr txBox="1"/>
          <p:nvPr/>
        </p:nvSpPr>
        <p:spPr>
          <a:xfrm>
            <a:off x="9829800" y="2432304"/>
            <a:ext cx="17218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Smart Boarding Kiosk</a:t>
            </a:r>
            <a:endParaRPr lang="en-US" sz="1200" dirty="0"/>
          </a:p>
        </p:txBody>
      </p:sp>
      <p:sp>
        <p:nvSpPr>
          <p:cNvPr id="52" name="Shape 44"/>
          <p:cNvSpPr/>
          <p:nvPr/>
        </p:nvSpPr>
        <p:spPr>
          <a:xfrm>
            <a:off x="6080760" y="5532120"/>
            <a:ext cx="2057400" cy="786384"/>
          </a:xfrm>
          <a:prstGeom prst="roundRect">
            <a:avLst>
              <a:gd name="adj" fmla="val 16279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38100" dir="5400000">
              <a:srgbClr val="0A1628">
                <a:alpha val="9000"/>
              </a:srgbClr>
            </a:outerShdw>
          </a:effectLst>
        </p:spPr>
      </p:sp>
      <p:sp>
        <p:nvSpPr>
          <p:cNvPr id="53" name="Shape 45"/>
          <p:cNvSpPr/>
          <p:nvPr/>
        </p:nvSpPr>
        <p:spPr>
          <a:xfrm>
            <a:off x="6217920" y="5632704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4" name="Text 46"/>
          <p:cNvSpPr txBox="1"/>
          <p:nvPr/>
        </p:nvSpPr>
        <p:spPr>
          <a:xfrm>
            <a:off x="6217920" y="56327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55" name="Text 47"/>
          <p:cNvSpPr txBox="1"/>
          <p:nvPr/>
        </p:nvSpPr>
        <p:spPr>
          <a:xfrm>
            <a:off x="6583680" y="560527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Oversee</a:t>
            </a:r>
            <a:endParaRPr lang="en-US" sz="1400" dirty="0"/>
          </a:p>
        </p:txBody>
      </p:sp>
      <p:pic>
        <p:nvPicPr>
          <p:cNvPr id="5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5352" y="5989320"/>
            <a:ext cx="219456" cy="219456"/>
          </a:xfrm>
          <a:prstGeom prst="rect">
            <a:avLst/>
          </a:prstGeom>
        </p:spPr>
      </p:pic>
      <p:sp>
        <p:nvSpPr>
          <p:cNvPr id="57" name="Text 48"/>
          <p:cNvSpPr txBox="1"/>
          <p:nvPr/>
        </p:nvSpPr>
        <p:spPr>
          <a:xfrm>
            <a:off x="6583680" y="595274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AGIL® Secure ISMP</a:t>
            </a:r>
            <a:endParaRPr lang="en-US" sz="1200" dirty="0"/>
          </a:p>
        </p:txBody>
      </p:sp>
      <p:sp>
        <p:nvSpPr>
          <p:cNvPr id="58" name="Shape 49"/>
          <p:cNvSpPr/>
          <p:nvPr/>
        </p:nvSpPr>
        <p:spPr>
          <a:xfrm>
            <a:off x="1609344" y="4829861"/>
            <a:ext cx="493776" cy="493776"/>
          </a:xfrm>
          <a:prstGeom prst="ellipse">
            <a:avLst/>
          </a:prstGeom>
          <a:solidFill>
            <a:schemeClr val="accent1">
              <a:alpha val="16000"/>
            </a:schemeClr>
          </a:solidFill>
          <a:ln/>
        </p:spPr>
      </p:sp>
      <p:sp>
        <p:nvSpPr>
          <p:cNvPr id="59" name="Shape 50"/>
          <p:cNvSpPr/>
          <p:nvPr/>
        </p:nvSpPr>
        <p:spPr>
          <a:xfrm>
            <a:off x="1709928" y="4930445"/>
            <a:ext cx="292608" cy="292608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bg1"/>
            </a:solidFill>
            <a:prstDash val="solid"/>
          </a:ln>
        </p:spPr>
      </p:sp>
      <p:sp>
        <p:nvSpPr>
          <p:cNvPr id="60" name="Text 51"/>
          <p:cNvSpPr txBox="1"/>
          <p:nvPr/>
        </p:nvSpPr>
        <p:spPr>
          <a:xfrm>
            <a:off x="1709928" y="4930445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61" name="Shape 52"/>
          <p:cNvSpPr/>
          <p:nvPr/>
        </p:nvSpPr>
        <p:spPr>
          <a:xfrm>
            <a:off x="2753258" y="4258361"/>
            <a:ext cx="493776" cy="493776"/>
          </a:xfrm>
          <a:prstGeom prst="ellipse">
            <a:avLst/>
          </a:prstGeom>
          <a:solidFill>
            <a:schemeClr val="accent1">
              <a:alpha val="16000"/>
            </a:schemeClr>
          </a:solidFill>
          <a:ln/>
        </p:spPr>
      </p:sp>
      <p:sp>
        <p:nvSpPr>
          <p:cNvPr id="62" name="Shape 53"/>
          <p:cNvSpPr/>
          <p:nvPr/>
        </p:nvSpPr>
        <p:spPr>
          <a:xfrm>
            <a:off x="2853842" y="4358945"/>
            <a:ext cx="292608" cy="292608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bg1"/>
            </a:solidFill>
            <a:prstDash val="solid"/>
          </a:ln>
        </p:spPr>
      </p:sp>
      <p:sp>
        <p:nvSpPr>
          <p:cNvPr id="63" name="Text 54"/>
          <p:cNvSpPr txBox="1"/>
          <p:nvPr/>
        </p:nvSpPr>
        <p:spPr>
          <a:xfrm>
            <a:off x="2853842" y="4358945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64" name="Shape 55"/>
          <p:cNvSpPr/>
          <p:nvPr/>
        </p:nvSpPr>
        <p:spPr>
          <a:xfrm>
            <a:off x="4678070" y="3295498"/>
            <a:ext cx="493776" cy="493776"/>
          </a:xfrm>
          <a:prstGeom prst="ellipse">
            <a:avLst/>
          </a:prstGeom>
          <a:solidFill>
            <a:schemeClr val="accent1">
              <a:alpha val="16000"/>
            </a:schemeClr>
          </a:solidFill>
          <a:ln/>
        </p:spPr>
      </p:sp>
      <p:sp>
        <p:nvSpPr>
          <p:cNvPr id="65" name="Shape 56"/>
          <p:cNvSpPr/>
          <p:nvPr/>
        </p:nvSpPr>
        <p:spPr>
          <a:xfrm>
            <a:off x="4778654" y="3396082"/>
            <a:ext cx="292608" cy="292608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bg1"/>
            </a:solidFill>
            <a:prstDash val="solid"/>
          </a:ln>
        </p:spPr>
      </p:sp>
      <p:sp>
        <p:nvSpPr>
          <p:cNvPr id="66" name="Text 57"/>
          <p:cNvSpPr txBox="1"/>
          <p:nvPr/>
        </p:nvSpPr>
        <p:spPr>
          <a:xfrm>
            <a:off x="4778654" y="339608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67" name="Shape 58"/>
          <p:cNvSpPr/>
          <p:nvPr/>
        </p:nvSpPr>
        <p:spPr>
          <a:xfrm>
            <a:off x="6293815" y="3831336"/>
            <a:ext cx="493776" cy="493776"/>
          </a:xfrm>
          <a:prstGeom prst="ellipse">
            <a:avLst/>
          </a:prstGeom>
          <a:solidFill>
            <a:schemeClr val="accent1">
              <a:alpha val="16000"/>
            </a:schemeClr>
          </a:solidFill>
          <a:ln/>
        </p:spPr>
      </p:sp>
      <p:sp>
        <p:nvSpPr>
          <p:cNvPr id="68" name="Shape 59"/>
          <p:cNvSpPr/>
          <p:nvPr/>
        </p:nvSpPr>
        <p:spPr>
          <a:xfrm>
            <a:off x="6394399" y="3931920"/>
            <a:ext cx="292608" cy="292608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bg1"/>
            </a:solidFill>
            <a:prstDash val="solid"/>
          </a:ln>
        </p:spPr>
      </p:sp>
      <p:sp>
        <p:nvSpPr>
          <p:cNvPr id="69" name="Text 60"/>
          <p:cNvSpPr txBox="1"/>
          <p:nvPr/>
        </p:nvSpPr>
        <p:spPr>
          <a:xfrm>
            <a:off x="6394399" y="3931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70" name="Shape 61"/>
          <p:cNvSpPr/>
          <p:nvPr/>
        </p:nvSpPr>
        <p:spPr>
          <a:xfrm>
            <a:off x="8635594" y="5002682"/>
            <a:ext cx="493776" cy="493776"/>
          </a:xfrm>
          <a:prstGeom prst="ellipse">
            <a:avLst/>
          </a:prstGeom>
          <a:solidFill>
            <a:schemeClr val="accent1">
              <a:alpha val="16000"/>
            </a:schemeClr>
          </a:solidFill>
          <a:ln/>
        </p:spPr>
      </p:sp>
      <p:sp>
        <p:nvSpPr>
          <p:cNvPr id="71" name="Shape 62"/>
          <p:cNvSpPr/>
          <p:nvPr/>
        </p:nvSpPr>
        <p:spPr>
          <a:xfrm>
            <a:off x="8736178" y="5103266"/>
            <a:ext cx="292608" cy="292608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bg1"/>
            </a:solidFill>
            <a:prstDash val="solid"/>
          </a:ln>
        </p:spPr>
      </p:sp>
      <p:sp>
        <p:nvSpPr>
          <p:cNvPr id="72" name="Text 63"/>
          <p:cNvSpPr txBox="1"/>
          <p:nvPr/>
        </p:nvSpPr>
        <p:spPr>
          <a:xfrm>
            <a:off x="8736178" y="510326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73" name="Shape 64"/>
          <p:cNvSpPr/>
          <p:nvPr/>
        </p:nvSpPr>
        <p:spPr>
          <a:xfrm>
            <a:off x="4969764" y="5351983"/>
            <a:ext cx="493776" cy="493776"/>
          </a:xfrm>
          <a:prstGeom prst="ellipse">
            <a:avLst/>
          </a:prstGeom>
          <a:solidFill>
            <a:schemeClr val="accent1">
              <a:alpha val="16000"/>
            </a:schemeClr>
          </a:solidFill>
          <a:ln/>
        </p:spPr>
      </p:sp>
      <p:sp>
        <p:nvSpPr>
          <p:cNvPr id="74" name="Shape 65"/>
          <p:cNvSpPr/>
          <p:nvPr/>
        </p:nvSpPr>
        <p:spPr>
          <a:xfrm>
            <a:off x="5070348" y="5452567"/>
            <a:ext cx="292608" cy="292608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bg1"/>
            </a:solidFill>
            <a:prstDash val="solid"/>
          </a:ln>
        </p:spPr>
      </p:sp>
      <p:sp>
        <p:nvSpPr>
          <p:cNvPr id="75" name="Text 66"/>
          <p:cNvSpPr txBox="1"/>
          <p:nvPr/>
        </p:nvSpPr>
        <p:spPr>
          <a:xfrm>
            <a:off x="5070348" y="5452567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9184" y="6382512"/>
            <a:ext cx="329184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429768" y="56692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FastPass Solution  ·  AGIL® Secure ISMP</a:t>
            </a:r>
            <a:endParaRPr lang="en-US" sz="14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411480" y="86868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One command environment for every touchpoint</a:t>
            </a:r>
            <a:endParaRPr lang="en-US" sz="30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429768" y="1417320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AGIL® Secure ISMP is the operational backbone behind FastPass.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86968" y="2624328"/>
            <a:ext cx="5029200" cy="2834640"/>
          </a:xfrm>
          <a:prstGeom prst="ellipse">
            <a:avLst/>
          </a:prstGeom>
          <a:solidFill>
            <a:schemeClr val="accent1">
              <a:alpha val="5000"/>
            </a:schemeClr>
          </a:solidFill>
          <a:ln/>
        </p:spPr>
      </p:sp>
      <p:sp>
        <p:nvSpPr>
          <p:cNvPr id="6" name="Shape 4"/>
          <p:cNvSpPr/>
          <p:nvPr/>
        </p:nvSpPr>
        <p:spPr>
          <a:xfrm>
            <a:off x="1344168" y="2852928"/>
            <a:ext cx="4114800" cy="2377440"/>
          </a:xfrm>
          <a:prstGeom prst="ellipse">
            <a:avLst/>
          </a:prstGeom>
          <a:ln w="12700">
            <a:solidFill>
              <a:schemeClr val="accent1">
                <a:alpha val="60000"/>
              </a:scheme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38528" y="3264408"/>
            <a:ext cx="2926080" cy="1554480"/>
          </a:xfrm>
          <a:prstGeom prst="ellipse">
            <a:avLst/>
          </a:prstGeom>
          <a:solidFill>
            <a:schemeClr val="accent1">
              <a:alpha val="9000"/>
            </a:schemeClr>
          </a:solidFill>
          <a:ln w="9525">
            <a:solidFill>
              <a:schemeClr val="accent1">
                <a:alpha val="35000"/>
              </a:scheme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2852928"/>
            <a:ext cx="914" cy="570586"/>
          </a:xfrm>
          <a:prstGeom prst="line">
            <a:avLst/>
          </a:prstGeom>
          <a:noFill/>
          <a:ln w="9525">
            <a:solidFill>
              <a:schemeClr val="accent1">
                <a:alpha val="75000"/>
              </a:schemeClr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 flipV="1">
            <a:off x="4328084" y="3447288"/>
            <a:ext cx="855245" cy="285293"/>
          </a:xfrm>
          <a:prstGeom prst="line">
            <a:avLst/>
          </a:prstGeom>
          <a:noFill/>
          <a:ln w="9525">
            <a:solidFill>
              <a:schemeClr val="accent1">
                <a:alpha val="75000"/>
              </a:schemeClr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4328084" y="4350715"/>
            <a:ext cx="855245" cy="285293"/>
          </a:xfrm>
          <a:prstGeom prst="line">
            <a:avLst/>
          </a:prstGeom>
          <a:noFill/>
          <a:ln w="9525">
            <a:solidFill>
              <a:schemeClr val="accent1">
                <a:alpha val="75000"/>
              </a:schemeClr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3401568" y="4659782"/>
            <a:ext cx="914" cy="570586"/>
          </a:xfrm>
          <a:prstGeom prst="line">
            <a:avLst/>
          </a:prstGeom>
          <a:noFill/>
          <a:ln w="9525">
            <a:solidFill>
              <a:schemeClr val="accent1">
                <a:alpha val="75000"/>
              </a:schemeClr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 flipV="1">
            <a:off x="1619807" y="4350715"/>
            <a:ext cx="855245" cy="285293"/>
          </a:xfrm>
          <a:prstGeom prst="line">
            <a:avLst/>
          </a:prstGeom>
          <a:noFill/>
          <a:ln w="9525">
            <a:solidFill>
              <a:schemeClr val="accent1">
                <a:alpha val="75000"/>
              </a:schemeClr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1619807" y="3447288"/>
            <a:ext cx="855245" cy="285293"/>
          </a:xfrm>
          <a:prstGeom prst="line">
            <a:avLst/>
          </a:prstGeom>
          <a:noFill/>
          <a:ln w="9525">
            <a:solidFill>
              <a:schemeClr val="accent1">
                <a:alpha val="75000"/>
              </a:schemeClr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2167128" y="3566160"/>
            <a:ext cx="2468880" cy="950976"/>
          </a:xfrm>
          <a:prstGeom prst="ellipse">
            <a:avLst/>
          </a:prstGeom>
          <a:solidFill>
            <a:schemeClr val="accent6"/>
          </a:solidFill>
          <a:ln w="15875">
            <a:solidFill>
              <a:schemeClr val="accent1"/>
            </a:solidFill>
            <a:prstDash val="solid"/>
          </a:ln>
          <a:effectLst>
            <a:outerShdw sx="100000" sy="100000" kx="0" ky="0" algn="bl" rotWithShape="0" blurRad="203200" dist="38100" dir="5400000">
              <a:srgbClr val="0A1628">
                <a:alpha val="9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2212848" y="376732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AGIL® Secure ISMP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2212848" y="407822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One command layer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163824" y="2615184"/>
            <a:ext cx="475488" cy="475488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  <a:effectLst>
            <a:outerShdw sx="100000" sy="100000" kx="0" ky="0" algn="bl" rotWithShape="0" blurRad="203200" dist="38100" dir="5400000">
              <a:srgbClr val="0A1628">
                <a:alpha val="9000"/>
              </a:srgbClr>
            </a:outerShdw>
          </a:effectLst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73552" y="2724912"/>
            <a:ext cx="256032" cy="256032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2441448" y="23042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Traveller transactions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945585" y="3209544"/>
            <a:ext cx="475488" cy="475488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  <a:effectLst>
            <a:outerShdw sx="100000" sy="100000" kx="0" ky="0" algn="bl" rotWithShape="0" blurRad="203200" dist="38100" dir="5400000">
              <a:srgbClr val="0A1628">
                <a:alpha val="9000"/>
              </a:srgbClr>
            </a:outerShdw>
          </a:effectLst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5313" y="3319272"/>
            <a:ext cx="256032" cy="256032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4223209" y="28986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Lane &amp; gate control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4945585" y="4398264"/>
            <a:ext cx="475488" cy="475488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  <a:effectLst>
            <a:outerShdw sx="100000" sy="100000" kx="0" ky="0" algn="bl" rotWithShape="0" blurRad="203200" dist="38100" dir="5400000">
              <a:srgbClr val="0A1628">
                <a:alpha val="9000"/>
              </a:srgbClr>
            </a:outerShdw>
          </a:effectLst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5313" y="4507992"/>
            <a:ext cx="256032" cy="256032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4223209" y="49103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Exception management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3163824" y="4992624"/>
            <a:ext cx="475488" cy="475488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  <a:effectLst>
            <a:outerShdw sx="100000" sy="100000" kx="0" ky="0" algn="bl" rotWithShape="0" blurRad="203200" dist="38100" dir="5400000">
              <a:srgbClr val="0A1628">
                <a:alpha val="9000"/>
              </a:srgbClr>
            </a:outerShdw>
          </a:effectLst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3552" y="5102352"/>
            <a:ext cx="256032" cy="256032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2441448" y="55046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Assistive AI</a:t>
            </a:r>
            <a:endParaRPr lang="en-US" sz="1300" dirty="0"/>
          </a:p>
        </p:txBody>
      </p:sp>
      <p:sp>
        <p:nvSpPr>
          <p:cNvPr id="29" name="Shape 23"/>
          <p:cNvSpPr/>
          <p:nvPr/>
        </p:nvSpPr>
        <p:spPr>
          <a:xfrm>
            <a:off x="1382063" y="4398264"/>
            <a:ext cx="475488" cy="475488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  <a:effectLst>
            <a:outerShdw sx="100000" sy="100000" kx="0" ky="0" algn="bl" rotWithShape="0" blurRad="203200" dist="38100" dir="5400000">
              <a:srgbClr val="0A1628">
                <a:alpha val="9000"/>
              </a:srgbClr>
            </a:outerShdw>
          </a:effectLst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1791" y="4507992"/>
            <a:ext cx="256032" cy="256032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659687" y="49103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3D operational view</a:t>
            </a:r>
            <a:endParaRPr lang="en-US" sz="1300" dirty="0"/>
          </a:p>
        </p:txBody>
      </p:sp>
      <p:sp>
        <p:nvSpPr>
          <p:cNvPr id="32" name="Shape 25"/>
          <p:cNvSpPr/>
          <p:nvPr/>
        </p:nvSpPr>
        <p:spPr>
          <a:xfrm>
            <a:off x="1382063" y="3209544"/>
            <a:ext cx="475488" cy="475488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  <a:effectLst>
            <a:outerShdw sx="100000" sy="100000" kx="0" ky="0" algn="bl" rotWithShape="0" blurRad="203200" dist="38100" dir="5400000">
              <a:srgbClr val="0A1628">
                <a:alpha val="9000"/>
              </a:srgbClr>
            </a:outerShdw>
          </a:effectLst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91791" y="3319272"/>
            <a:ext cx="256032" cy="256032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659687" y="28986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Physical security</a:t>
            </a:r>
            <a:endParaRPr lang="en-US" sz="1300" dirty="0"/>
          </a:p>
        </p:txBody>
      </p:sp>
      <p:pic>
        <p:nvPicPr>
          <p:cNvPr id="35" name="ISMP dashboard" descr="/tmp/claude-0/-home-user-sgqy/b70fb111-7300-56ba-abe4-4b6e17d8c33e/scratchpad/assets/v4/ismp_til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0" y="2103120"/>
            <a:ext cx="5148072" cy="3328416"/>
          </a:xfrm>
          <a:prstGeom prst="rect">
            <a:avLst/>
          </a:prstGeom>
        </p:spPr>
      </p:pic>
      <p:sp>
        <p:nvSpPr>
          <p:cNvPr id="36" name="Shape 27"/>
          <p:cNvSpPr/>
          <p:nvPr/>
        </p:nvSpPr>
        <p:spPr>
          <a:xfrm>
            <a:off x="6492240" y="5559552"/>
            <a:ext cx="1624584" cy="38404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38100" dir="5400000">
              <a:srgbClr val="0A1628">
                <a:alpha val="9000"/>
              </a:srgbClr>
            </a:outerShdw>
          </a:effectLst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38544" y="5641848"/>
            <a:ext cx="219456" cy="219456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6931152" y="5559552"/>
            <a:ext cx="1121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Passenger log</a:t>
            </a:r>
            <a:endParaRPr lang="en-US" sz="1200" dirty="0"/>
          </a:p>
        </p:txBody>
      </p:sp>
      <p:sp>
        <p:nvSpPr>
          <p:cNvPr id="39" name="Shape 29"/>
          <p:cNvSpPr/>
          <p:nvPr/>
        </p:nvSpPr>
        <p:spPr>
          <a:xfrm>
            <a:off x="8253984" y="5559552"/>
            <a:ext cx="1624584" cy="38404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38100" dir="5400000">
              <a:srgbClr val="0A1628">
                <a:alpha val="9000"/>
              </a:srgbClr>
            </a:outerShdw>
          </a:effectLst>
        </p:spPr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00288" y="5641848"/>
            <a:ext cx="219456" cy="219456"/>
          </a:xfrm>
          <a:prstGeom prst="rect">
            <a:avLst/>
          </a:prstGeom>
        </p:spPr>
      </p:pic>
      <p:sp>
        <p:nvSpPr>
          <p:cNvPr id="41" name="Text 30"/>
          <p:cNvSpPr txBox="1"/>
          <p:nvPr/>
        </p:nvSpPr>
        <p:spPr>
          <a:xfrm>
            <a:off x="8692896" y="5559552"/>
            <a:ext cx="1121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Flow by zone</a:t>
            </a:r>
            <a:endParaRPr lang="en-US" sz="1200" dirty="0"/>
          </a:p>
        </p:txBody>
      </p:sp>
      <p:sp>
        <p:nvSpPr>
          <p:cNvPr id="42" name="Shape 31"/>
          <p:cNvSpPr/>
          <p:nvPr/>
        </p:nvSpPr>
        <p:spPr>
          <a:xfrm>
            <a:off x="10015728" y="5559552"/>
            <a:ext cx="1624584" cy="38404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38100" dir="5400000">
              <a:srgbClr val="0A1628">
                <a:alpha val="9000"/>
              </a:srgbClr>
            </a:outerShdw>
          </a:effectLst>
        </p:spPr>
      </p:sp>
      <p:pic>
        <p:nvPicPr>
          <p:cNvPr id="4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62032" y="5641848"/>
            <a:ext cx="219456" cy="219456"/>
          </a:xfrm>
          <a:prstGeom prst="rect">
            <a:avLst/>
          </a:prstGeom>
        </p:spPr>
      </p:pic>
      <p:sp>
        <p:nvSpPr>
          <p:cNvPr id="44" name="Text 32"/>
          <p:cNvSpPr txBox="1"/>
          <p:nvPr/>
        </p:nvSpPr>
        <p:spPr>
          <a:xfrm>
            <a:off x="10454640" y="5559552"/>
            <a:ext cx="1121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Exceptions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9184" y="6382512"/>
            <a:ext cx="329184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429768" y="56692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Innovativeness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411480" y="86868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innovation is the credential, not the gate</a:t>
            </a:r>
            <a:endParaRPr lang="en-US" sz="30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429768" y="1417320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Two factors, on the move: the phone proves the credential, the face proves the person.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4846320" cy="384048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38100" dir="5400000">
              <a:srgbClr val="0A1628">
                <a:alpha val="9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230428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TWO FACTORS, ONE STRIDE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2743200"/>
            <a:ext cx="1024128" cy="1024128"/>
          </a:xfrm>
          <a:prstGeom prst="ellipse">
            <a:avLst/>
          </a:prstGeom>
          <a:solidFill>
            <a:schemeClr val="accent1">
              <a:alpha val="12000"/>
            </a:schemeClr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" y="3008376"/>
            <a:ext cx="493776" cy="49377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13232" y="3858768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Device credential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via BLE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938528" y="29992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+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2450592" y="2743200"/>
            <a:ext cx="1024128" cy="1024128"/>
          </a:xfrm>
          <a:prstGeom prst="ellipse">
            <a:avLst/>
          </a:prstGeom>
          <a:solidFill>
            <a:schemeClr val="accent1">
              <a:alpha val="12000"/>
            </a:schemeClr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5768" y="3008376"/>
            <a:ext cx="493776" cy="49377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249424" y="3858768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Live face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on the move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3474720" y="29992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=</a:t>
            </a:r>
            <a:endParaRPr lang="en-US" sz="2600" dirty="0"/>
          </a:p>
        </p:txBody>
      </p:sp>
      <p:sp>
        <p:nvSpPr>
          <p:cNvPr id="15" name="Shape 11"/>
          <p:cNvSpPr/>
          <p:nvPr/>
        </p:nvSpPr>
        <p:spPr>
          <a:xfrm>
            <a:off x="3986784" y="2743200"/>
            <a:ext cx="1024128" cy="1024128"/>
          </a:xfrm>
          <a:prstGeom prst="ellipse">
            <a:avLst/>
          </a:prstGeom>
          <a:solidFill>
            <a:schemeClr val="accent2">
              <a:alpha val="12000"/>
            </a:schemeClr>
          </a:solidFill>
          <a:ln w="15875">
            <a:solidFill>
              <a:schemeClr val="accent2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3008376"/>
            <a:ext cx="493776" cy="49377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785616" y="3858768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Cleared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lane stays open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68680" y="4617720"/>
            <a:ext cx="420624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818888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261872" y="47731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Typical walk-through 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face only (1FA)</a:t>
            </a:r>
            <a:endParaRPr lang="en-US" sz="13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276088"/>
            <a:ext cx="256032" cy="25603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261872" y="52303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FastPass  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face + phone (2FA), on the move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5760720" y="2194560"/>
            <a:ext cx="457200" cy="45720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65876" y="2299716"/>
            <a:ext cx="246888" cy="246888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6400800" y="217627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Privacy by design</a:t>
            </a:r>
            <a:endParaRPr lang="en-US" sz="1600" dirty="0"/>
          </a:p>
        </p:txBody>
      </p:sp>
      <p:sp>
        <p:nvSpPr>
          <p:cNvPr id="26" name="Text 18"/>
          <p:cNvSpPr txBox="1"/>
          <p:nvPr/>
        </p:nvSpPr>
        <p:spPr>
          <a:xfrm>
            <a:off x="6400800" y="2487168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Credentials stay encrypted on the phone</a:t>
            </a:r>
            <a:endParaRPr lang="en-US" sz="1400" dirty="0"/>
          </a:p>
        </p:txBody>
      </p:sp>
      <p:sp>
        <p:nvSpPr>
          <p:cNvPr id="27" name="Shape 19"/>
          <p:cNvSpPr/>
          <p:nvPr/>
        </p:nvSpPr>
        <p:spPr>
          <a:xfrm>
            <a:off x="5760720" y="3136392"/>
            <a:ext cx="457200" cy="45720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65876" y="3241548"/>
            <a:ext cx="246888" cy="246888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6400800" y="3118104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Plugs into existing apps</a:t>
            </a:r>
            <a:endParaRPr lang="en-US" sz="1600" dirty="0"/>
          </a:p>
        </p:txBody>
      </p:sp>
      <p:sp>
        <p:nvSpPr>
          <p:cNvPr id="30" name="Text 21"/>
          <p:cNvSpPr txBox="1"/>
          <p:nvPr/>
        </p:nvSpPr>
        <p:spPr>
          <a:xfrm>
            <a:off x="6400800" y="342900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SDK for airport and airline channels</a:t>
            </a:r>
            <a:endParaRPr lang="en-US" sz="1400" dirty="0"/>
          </a:p>
        </p:txBody>
      </p:sp>
      <p:sp>
        <p:nvSpPr>
          <p:cNvPr id="31" name="Shape 22"/>
          <p:cNvSpPr/>
          <p:nvPr/>
        </p:nvSpPr>
        <p:spPr>
          <a:xfrm>
            <a:off x="5760720" y="4078224"/>
            <a:ext cx="457200" cy="45720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65876" y="4183380"/>
            <a:ext cx="246888" cy="246888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6400800" y="4059936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Converged with security ops</a:t>
            </a:r>
            <a:endParaRPr lang="en-US" sz="1600" dirty="0"/>
          </a:p>
        </p:txBody>
      </p:sp>
      <p:sp>
        <p:nvSpPr>
          <p:cNvPr id="34" name="Text 24"/>
          <p:cNvSpPr txBox="1"/>
          <p:nvPr/>
        </p:nvSpPr>
        <p:spPr>
          <a:xfrm>
            <a:off x="6400800" y="437083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Clearances beside CCTV, access and incidents</a:t>
            </a:r>
            <a:endParaRPr lang="en-US" sz="1400" dirty="0"/>
          </a:p>
        </p:txBody>
      </p:sp>
      <p:sp>
        <p:nvSpPr>
          <p:cNvPr id="35" name="Shape 25"/>
          <p:cNvSpPr/>
          <p:nvPr/>
        </p:nvSpPr>
        <p:spPr>
          <a:xfrm>
            <a:off x="5760720" y="5020056"/>
            <a:ext cx="457200" cy="457200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65876" y="5125212"/>
            <a:ext cx="246888" cy="246888"/>
          </a:xfrm>
          <a:prstGeom prst="rect">
            <a:avLst/>
          </a:prstGeom>
        </p:spPr>
      </p:pic>
      <p:sp>
        <p:nvSpPr>
          <p:cNvPr id="37" name="Text 26"/>
          <p:cNvSpPr txBox="1"/>
          <p:nvPr/>
        </p:nvSpPr>
        <p:spPr>
          <a:xfrm>
            <a:off x="6400800" y="5001768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AI in the product and the build</a:t>
            </a:r>
            <a:endParaRPr lang="en-US" sz="1600" dirty="0"/>
          </a:p>
        </p:txBody>
      </p:sp>
      <p:sp>
        <p:nvSpPr>
          <p:cNvPr id="38" name="Text 27"/>
          <p:cNvSpPr txBox="1"/>
          <p:nvPr/>
        </p:nvSpPr>
        <p:spPr>
          <a:xfrm>
            <a:off x="6400800" y="5312664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On-the-move FR and alert triage; ~50% less front-end effort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9184" y="6382512"/>
            <a:ext cx="329184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429768" y="56692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Business Impact</a:t>
            </a:r>
            <a:endParaRPr lang="en-US" sz="14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411480" y="86868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Measurable impact for every stakeholder</a:t>
            </a:r>
            <a:endParaRPr lang="en-US" sz="30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429768" y="1417320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Today’s traveller stops four times. With FastPass, eligible travellers keep moving.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1094415" cy="1938528"/>
          </a:xfrm>
          <a:prstGeom prst="roundRect">
            <a:avLst>
              <a:gd name="adj" fmla="val 6604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38100" dir="5400000">
              <a:srgbClr val="0A1628">
                <a:alpha val="9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3900830" y="219456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Check-in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515661" y="219456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Immigration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130491" y="219456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Screening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745322" y="219456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Boarding</a:t>
            </a:r>
            <a:endParaRPr lang="en-US" sz="1100" dirty="0"/>
          </a:p>
        </p:txBody>
      </p:sp>
      <p:pic>
        <p:nvPicPr>
          <p:cNvPr id="10" name="Today vs FastPass loop" descr="/tmp/claude-0/-home-user-sgqy/b70fb111-7300-56ba-abe4-4b6e17d8c33e/scratchpad/assets/pearl/flow_compare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8920" y="2514600"/>
            <a:ext cx="8531352" cy="137160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822960" y="26517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Today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294436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4 stops · officer at each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327355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With FastPass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3566160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0 stops · exceptions only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4187952"/>
            <a:ext cx="3515258" cy="1700784"/>
          </a:xfrm>
          <a:prstGeom prst="roundRect">
            <a:avLst>
              <a:gd name="adj" fmla="val 7527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38100" dir="5400000">
              <a:srgbClr val="0A1628">
                <a:alpha val="9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2960" y="4416552"/>
            <a:ext cx="384048" cy="384048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291" y="4504883"/>
            <a:ext cx="207386" cy="20738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16736" y="4489704"/>
            <a:ext cx="250941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PASSENGERS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822960" y="4901184"/>
            <a:ext cx="3058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0 stops</a:t>
            </a:r>
            <a:endParaRPr lang="en-US" sz="3000" dirty="0"/>
          </a:p>
        </p:txBody>
      </p:sp>
      <p:sp>
        <p:nvSpPr>
          <p:cNvPr id="20" name="Text 16"/>
          <p:cNvSpPr txBox="1"/>
          <p:nvPr/>
        </p:nvSpPr>
        <p:spPr>
          <a:xfrm>
            <a:off x="822960" y="5449824"/>
            <a:ext cx="3058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Curb to gate in 8–11 min (target)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4338218" y="4187952"/>
            <a:ext cx="3515258" cy="1700784"/>
          </a:xfrm>
          <a:prstGeom prst="roundRect">
            <a:avLst>
              <a:gd name="adj" fmla="val 7527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38100" dir="5400000">
              <a:srgbClr val="0A1628">
                <a:alpha val="9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612538" y="4416552"/>
            <a:ext cx="384048" cy="384048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0869" y="4504883"/>
            <a:ext cx="207386" cy="207386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5106314" y="4489704"/>
            <a:ext cx="250941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OPERATORS</a:t>
            </a:r>
            <a:endParaRPr lang="en-US" sz="1100" dirty="0"/>
          </a:p>
        </p:txBody>
      </p:sp>
      <p:sp>
        <p:nvSpPr>
          <p:cNvPr id="25" name="Text 20"/>
          <p:cNvSpPr txBox="1"/>
          <p:nvPr/>
        </p:nvSpPr>
        <p:spPr>
          <a:xfrm>
            <a:off x="4612538" y="4901184"/>
            <a:ext cx="3058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4 of 4</a:t>
            </a:r>
            <a:endParaRPr lang="en-US" sz="3000" dirty="0"/>
          </a:p>
        </p:txBody>
      </p:sp>
      <p:sp>
        <p:nvSpPr>
          <p:cNvPr id="26" name="Text 21"/>
          <p:cNvSpPr txBox="1"/>
          <p:nvPr/>
        </p:nvSpPr>
        <p:spPr>
          <a:xfrm>
            <a:off x="4612538" y="5449824"/>
            <a:ext cx="3058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Touchpoints automated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8127797" y="4187952"/>
            <a:ext cx="3515258" cy="1700784"/>
          </a:xfrm>
          <a:prstGeom prst="roundRect">
            <a:avLst>
              <a:gd name="adj" fmla="val 7527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38100" dir="5400000">
              <a:srgbClr val="0A1628">
                <a:alpha val="9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8402117" y="4416552"/>
            <a:ext cx="384048" cy="384048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0448" y="4504883"/>
            <a:ext cx="207386" cy="207386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8895893" y="4489704"/>
            <a:ext cx="250941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SECURITY</a:t>
            </a:r>
            <a:endParaRPr lang="en-US" sz="1100" dirty="0"/>
          </a:p>
        </p:txBody>
      </p:sp>
      <p:sp>
        <p:nvSpPr>
          <p:cNvPr id="31" name="Text 25"/>
          <p:cNvSpPr txBox="1"/>
          <p:nvPr/>
        </p:nvSpPr>
        <p:spPr>
          <a:xfrm>
            <a:off x="8402117" y="4901184"/>
            <a:ext cx="3058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1 view</a:t>
            </a:r>
            <a:endParaRPr lang="en-US" sz="3000" dirty="0"/>
          </a:p>
        </p:txBody>
      </p:sp>
      <p:sp>
        <p:nvSpPr>
          <p:cNvPr id="32" name="Text 26"/>
          <p:cNvSpPr txBox="1"/>
          <p:nvPr/>
        </p:nvSpPr>
        <p:spPr>
          <a:xfrm>
            <a:off x="8402117" y="5449824"/>
            <a:ext cx="3058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Every lane, clearance and incident</a:t>
            </a:r>
            <a:endParaRPr lang="en-US" sz="1300" dirty="0"/>
          </a:p>
        </p:txBody>
      </p:sp>
      <p:sp>
        <p:nvSpPr>
          <p:cNvPr id="33" name="Text 27"/>
          <p:cNvSpPr txBox="1"/>
          <p:nvPr/>
        </p:nvSpPr>
        <p:spPr>
          <a:xfrm>
            <a:off x="548640" y="6053328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Curb-to-gate time is a target, to be validated at the airport demonstration. ROI is anchored on officer hours and capacity gained without new terminal space.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9184" y="6382512"/>
            <a:ext cx="329184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429768" y="56692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Time to Market</a:t>
            </a:r>
            <a:endParaRPr lang="en-US" sz="14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411480" y="86868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 clear buyer, model and path to scale</a:t>
            </a:r>
            <a:endParaRPr lang="en-US" sz="30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429768" y="1417320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Land one lane in a brownfield terminal, then expand as value is proven.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515258" cy="3794760"/>
          </a:xfrm>
          <a:prstGeom prst="roundRect">
            <a:avLst>
              <a:gd name="adj" fmla="val 3642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38100" dir="5400000">
              <a:srgbClr val="0A1628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331720"/>
            <a:ext cx="438912" cy="438912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910" y="2432670"/>
            <a:ext cx="237012" cy="23701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89888" y="2331720"/>
            <a:ext cx="25094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Buyer ecosystem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338218" y="2057400"/>
            <a:ext cx="3515258" cy="3794760"/>
          </a:xfrm>
          <a:prstGeom prst="roundRect">
            <a:avLst>
              <a:gd name="adj" fmla="val 3642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38100" dir="5400000">
              <a:srgbClr val="0A1628">
                <a:alpha val="9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12538" y="2331720"/>
            <a:ext cx="438912" cy="438912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3488" y="2432670"/>
            <a:ext cx="237012" cy="23701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179466" y="2331720"/>
            <a:ext cx="25094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Commercial model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8127797" y="2057400"/>
            <a:ext cx="3515258" cy="3794760"/>
          </a:xfrm>
          <a:prstGeom prst="roundRect">
            <a:avLst>
              <a:gd name="adj" fmla="val 3642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38100" dir="5400000">
              <a:srgbClr val="0A1628">
                <a:alpha val="9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402117" y="2331720"/>
            <a:ext cx="438912" cy="438912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067" y="2432670"/>
            <a:ext cx="237012" cy="23701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969045" y="2331720"/>
            <a:ext cx="25094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How we scale</a:t>
            </a:r>
            <a:endParaRPr lang="en-US" sz="18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3054096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280160" y="3017520"/>
            <a:ext cx="26008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Primary buyer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1280160" y="3310128"/>
            <a:ext cx="26008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Tier-2 airports, ME &amp; SE Asia</a:t>
            </a:r>
            <a:endParaRPr lang="en-US" sz="13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3767328"/>
            <a:ext cx="256032" cy="256032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280160" y="3730752"/>
            <a:ext cx="26008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Co-decides</a:t>
            </a:r>
            <a:endParaRPr lang="en-US" sz="1500" dirty="0"/>
          </a:p>
        </p:txBody>
      </p:sp>
      <p:sp>
        <p:nvSpPr>
          <p:cNvPr id="22" name="Text 15"/>
          <p:cNvSpPr txBox="1"/>
          <p:nvPr/>
        </p:nvSpPr>
        <p:spPr>
          <a:xfrm>
            <a:off x="1280160" y="4023360"/>
            <a:ext cx="26008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Immigration and border agencies</a:t>
            </a:r>
            <a:endParaRPr lang="en-US" sz="13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" y="4480560"/>
            <a:ext cx="256032" cy="256032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1280160" y="4443984"/>
            <a:ext cx="26008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Enabler</a:t>
            </a:r>
            <a:endParaRPr lang="en-US" sz="1500" dirty="0"/>
          </a:p>
        </p:txBody>
      </p:sp>
      <p:sp>
        <p:nvSpPr>
          <p:cNvPr id="25" name="Text 17"/>
          <p:cNvSpPr txBox="1"/>
          <p:nvPr/>
        </p:nvSpPr>
        <p:spPr>
          <a:xfrm>
            <a:off x="1280160" y="4736592"/>
            <a:ext cx="26008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Airlines, via their own apps</a:t>
            </a:r>
            <a:endParaRPr lang="en-US" sz="130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48" y="5193792"/>
            <a:ext cx="256032" cy="256032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1280160" y="5157216"/>
            <a:ext cx="26008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End user</a:t>
            </a:r>
            <a:endParaRPr lang="en-US" sz="1500" dirty="0"/>
          </a:p>
        </p:txBody>
      </p:sp>
      <p:sp>
        <p:nvSpPr>
          <p:cNvPr id="28" name="Text 19"/>
          <p:cNvSpPr txBox="1"/>
          <p:nvPr/>
        </p:nvSpPr>
        <p:spPr>
          <a:xfrm>
            <a:off x="1280160" y="5449824"/>
            <a:ext cx="26008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Travellers, enrolled once in the app</a:t>
            </a:r>
            <a:endParaRPr lang="en-US" sz="130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30826" y="3054096"/>
            <a:ext cx="256032" cy="256032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5069738" y="3017520"/>
            <a:ext cx="26008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Lane hardware</a:t>
            </a:r>
            <a:endParaRPr lang="en-US" sz="1500" dirty="0"/>
          </a:p>
        </p:txBody>
      </p:sp>
      <p:sp>
        <p:nvSpPr>
          <p:cNvPr id="31" name="Text 21"/>
          <p:cNvSpPr txBox="1"/>
          <p:nvPr/>
        </p:nvSpPr>
        <p:spPr>
          <a:xfrm>
            <a:off x="5069738" y="3310128"/>
            <a:ext cx="26008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One-off: e-gate, reader, kiosk</a:t>
            </a:r>
            <a:endParaRPr lang="en-US" sz="1300" dirty="0"/>
          </a:p>
        </p:txBody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30826" y="3767328"/>
            <a:ext cx="256032" cy="256032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5069738" y="3730752"/>
            <a:ext cx="26008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ISMP licence</a:t>
            </a:r>
            <a:endParaRPr lang="en-US" sz="1500" dirty="0"/>
          </a:p>
        </p:txBody>
      </p:sp>
      <p:sp>
        <p:nvSpPr>
          <p:cNvPr id="34" name="Text 23"/>
          <p:cNvSpPr txBox="1"/>
          <p:nvPr/>
        </p:nvSpPr>
        <p:spPr>
          <a:xfrm>
            <a:off x="5069738" y="4023360"/>
            <a:ext cx="26008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Recurring, by deployment scope</a:t>
            </a:r>
            <a:endParaRPr lang="en-US" sz="1300" dirty="0"/>
          </a:p>
        </p:txBody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30826" y="4480560"/>
            <a:ext cx="256032" cy="256032"/>
          </a:xfrm>
          <a:prstGeom prst="rect">
            <a:avLst/>
          </a:prstGeom>
        </p:spPr>
      </p:pic>
      <p:sp>
        <p:nvSpPr>
          <p:cNvPr id="36" name="Text 24"/>
          <p:cNvSpPr txBox="1"/>
          <p:nvPr/>
        </p:nvSpPr>
        <p:spPr>
          <a:xfrm>
            <a:off x="5069738" y="4443984"/>
            <a:ext cx="26008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Integration</a:t>
            </a:r>
            <a:endParaRPr lang="en-US" sz="1500" dirty="0"/>
          </a:p>
        </p:txBody>
      </p:sp>
      <p:sp>
        <p:nvSpPr>
          <p:cNvPr id="37" name="Text 25"/>
          <p:cNvSpPr txBox="1"/>
          <p:nvPr/>
        </p:nvSpPr>
        <p:spPr>
          <a:xfrm>
            <a:off x="5069738" y="4736592"/>
            <a:ext cx="26008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Project: configure and deploy</a:t>
            </a:r>
            <a:endParaRPr lang="en-US" sz="1300" dirty="0"/>
          </a:p>
        </p:txBody>
      </p:sp>
      <p:pic>
        <p:nvPicPr>
          <p:cNvPr id="3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30826" y="5193792"/>
            <a:ext cx="256032" cy="256032"/>
          </a:xfrm>
          <a:prstGeom prst="rect">
            <a:avLst/>
          </a:prstGeom>
        </p:spPr>
      </p:pic>
      <p:sp>
        <p:nvSpPr>
          <p:cNvPr id="39" name="Text 26"/>
          <p:cNvSpPr txBox="1"/>
          <p:nvPr/>
        </p:nvSpPr>
        <p:spPr>
          <a:xfrm>
            <a:off x="5069738" y="5157216"/>
            <a:ext cx="26008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Support</a:t>
            </a:r>
            <a:endParaRPr lang="en-US" sz="1500" dirty="0"/>
          </a:p>
        </p:txBody>
      </p:sp>
      <p:sp>
        <p:nvSpPr>
          <p:cNvPr id="40" name="Text 27"/>
          <p:cNvSpPr txBox="1"/>
          <p:nvPr/>
        </p:nvSpPr>
        <p:spPr>
          <a:xfrm>
            <a:off x="5069738" y="5449824"/>
            <a:ext cx="26008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Annual maintenance and SLA</a:t>
            </a:r>
            <a:endParaRPr lang="en-US" sz="1300" dirty="0"/>
          </a:p>
        </p:txBody>
      </p:sp>
      <p:sp>
        <p:nvSpPr>
          <p:cNvPr id="41" name="Shape 28"/>
          <p:cNvSpPr/>
          <p:nvPr/>
        </p:nvSpPr>
        <p:spPr>
          <a:xfrm>
            <a:off x="8548421" y="3246120"/>
            <a:ext cx="0" cy="2139696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42" name="Shape 29"/>
          <p:cNvSpPr/>
          <p:nvPr/>
        </p:nvSpPr>
        <p:spPr>
          <a:xfrm>
            <a:off x="8402117" y="3044952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3" name="Text 30"/>
          <p:cNvSpPr txBox="1"/>
          <p:nvPr/>
        </p:nvSpPr>
        <p:spPr>
          <a:xfrm>
            <a:off x="8402117" y="3044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44" name="Text 31"/>
          <p:cNvSpPr txBox="1"/>
          <p:nvPr/>
        </p:nvSpPr>
        <p:spPr>
          <a:xfrm>
            <a:off x="8859317" y="3008376"/>
            <a:ext cx="26008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Prove</a:t>
            </a:r>
            <a:endParaRPr lang="en-US" sz="1500" dirty="0"/>
          </a:p>
        </p:txBody>
      </p:sp>
      <p:sp>
        <p:nvSpPr>
          <p:cNvPr id="45" name="Text 32"/>
          <p:cNvSpPr txBox="1"/>
          <p:nvPr/>
        </p:nvSpPr>
        <p:spPr>
          <a:xfrm>
            <a:off x="8859317" y="3300984"/>
            <a:ext cx="26008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One pilot lane</a:t>
            </a:r>
            <a:endParaRPr lang="en-US" sz="1300" dirty="0"/>
          </a:p>
        </p:txBody>
      </p:sp>
      <p:sp>
        <p:nvSpPr>
          <p:cNvPr id="46" name="Shape 33"/>
          <p:cNvSpPr/>
          <p:nvPr/>
        </p:nvSpPr>
        <p:spPr>
          <a:xfrm>
            <a:off x="8402117" y="3758184"/>
            <a:ext cx="292608" cy="292608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47" name="Text 34"/>
          <p:cNvSpPr txBox="1"/>
          <p:nvPr/>
        </p:nvSpPr>
        <p:spPr>
          <a:xfrm>
            <a:off x="8402117" y="37581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48" name="Text 35"/>
          <p:cNvSpPr txBox="1"/>
          <p:nvPr/>
        </p:nvSpPr>
        <p:spPr>
          <a:xfrm>
            <a:off x="8859317" y="3721608"/>
            <a:ext cx="26008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Expand</a:t>
            </a:r>
            <a:endParaRPr lang="en-US" sz="1500" dirty="0"/>
          </a:p>
        </p:txBody>
      </p:sp>
      <p:sp>
        <p:nvSpPr>
          <p:cNvPr id="49" name="Text 36"/>
          <p:cNvSpPr txBox="1"/>
          <p:nvPr/>
        </p:nvSpPr>
        <p:spPr>
          <a:xfrm>
            <a:off x="8859317" y="4014216"/>
            <a:ext cx="26008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More lanes and enrolment</a:t>
            </a:r>
            <a:endParaRPr lang="en-US" sz="1300" dirty="0"/>
          </a:p>
        </p:txBody>
      </p:sp>
      <p:sp>
        <p:nvSpPr>
          <p:cNvPr id="50" name="Shape 37"/>
          <p:cNvSpPr/>
          <p:nvPr/>
        </p:nvSpPr>
        <p:spPr>
          <a:xfrm>
            <a:off x="8402117" y="4471416"/>
            <a:ext cx="292608" cy="292608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51" name="Text 38"/>
          <p:cNvSpPr txBox="1"/>
          <p:nvPr/>
        </p:nvSpPr>
        <p:spPr>
          <a:xfrm>
            <a:off x="8402117" y="44714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52" name="Text 39"/>
          <p:cNvSpPr txBox="1"/>
          <p:nvPr/>
        </p:nvSpPr>
        <p:spPr>
          <a:xfrm>
            <a:off x="8859317" y="4434840"/>
            <a:ext cx="26008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Connect</a:t>
            </a:r>
            <a:endParaRPr lang="en-US" sz="1500" dirty="0"/>
          </a:p>
        </p:txBody>
      </p:sp>
      <p:sp>
        <p:nvSpPr>
          <p:cNvPr id="53" name="Text 40"/>
          <p:cNvSpPr txBox="1"/>
          <p:nvPr/>
        </p:nvSpPr>
        <p:spPr>
          <a:xfrm>
            <a:off x="8859317" y="4727448"/>
            <a:ext cx="26008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All touchpoints via ISMP</a:t>
            </a:r>
            <a:endParaRPr lang="en-US" sz="1300" dirty="0"/>
          </a:p>
        </p:txBody>
      </p:sp>
      <p:sp>
        <p:nvSpPr>
          <p:cNvPr id="54" name="Shape 41"/>
          <p:cNvSpPr/>
          <p:nvPr/>
        </p:nvSpPr>
        <p:spPr>
          <a:xfrm>
            <a:off x="8402117" y="5184648"/>
            <a:ext cx="292608" cy="292608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55" name="Text 42"/>
          <p:cNvSpPr txBox="1"/>
          <p:nvPr/>
        </p:nvSpPr>
        <p:spPr>
          <a:xfrm>
            <a:off x="8402117" y="51846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56" name="Text 43"/>
          <p:cNvSpPr txBox="1"/>
          <p:nvPr/>
        </p:nvSpPr>
        <p:spPr>
          <a:xfrm>
            <a:off x="8859317" y="5148072"/>
            <a:ext cx="26008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Scale</a:t>
            </a:r>
            <a:endParaRPr lang="en-US" sz="1500" dirty="0"/>
          </a:p>
        </p:txBody>
      </p:sp>
      <p:sp>
        <p:nvSpPr>
          <p:cNvPr id="57" name="Text 44"/>
          <p:cNvSpPr txBox="1"/>
          <p:nvPr/>
        </p:nvSpPr>
        <p:spPr>
          <a:xfrm>
            <a:off x="8859317" y="5440680"/>
            <a:ext cx="26008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Terminals and portfolios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9184" y="6382512"/>
            <a:ext cx="329184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429768" y="56692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Collaboration &amp; Entry Barriers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411480" y="86868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Built across BAs. Scaled through the Group.</a:t>
            </a:r>
            <a:endParaRPr lang="en-US" sz="30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429768" y="1417320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Cross-BA know-how and Group reach form a barrier that point-solution vendors cannot copy.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240280"/>
            <a:ext cx="2011680" cy="2011680"/>
          </a:xfrm>
          <a:prstGeom prst="ellipse">
            <a:avLst/>
          </a:prstGeom>
          <a:solidFill>
            <a:schemeClr val="accent1">
              <a:alpha val="13000"/>
            </a:schemeClr>
          </a:solidFill>
          <a:ln w="12700">
            <a:solidFill>
              <a:schemeClr val="accent1">
                <a:alpha val="65000"/>
              </a:scheme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40280" y="2240280"/>
            <a:ext cx="2011680" cy="2011680"/>
          </a:xfrm>
          <a:prstGeom prst="ellipse">
            <a:avLst/>
          </a:prstGeom>
          <a:solidFill>
            <a:schemeClr val="accent2">
              <a:alpha val="13000"/>
            </a:schemeClr>
          </a:solidFill>
          <a:ln w="12700">
            <a:solidFill>
              <a:schemeClr val="accent2">
                <a:alpha val="65000"/>
              </a:scheme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36192" y="3429000"/>
            <a:ext cx="2011680" cy="2011680"/>
          </a:xfrm>
          <a:prstGeom prst="ellipse">
            <a:avLst/>
          </a:prstGeom>
          <a:solidFill>
            <a:schemeClr val="accent6">
              <a:alpha val="13000"/>
            </a:schemeClr>
          </a:solidFill>
          <a:ln w="12700">
            <a:solidFill>
              <a:schemeClr val="accent6">
                <a:alpha val="65000"/>
              </a:scheme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4672" y="26517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Smart Security &amp; Automation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907792" y="26517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Smart Utilities &amp; Infrastructure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901952" y="48920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Urban Solutions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039112" y="3584448"/>
            <a:ext cx="1005840" cy="329184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039112" y="358444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FastPass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5778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One product team, from biometrics to Sales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074920" y="20574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ENTRY BARRIERS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74920" y="2377440"/>
            <a:ext cx="3146908" cy="731520"/>
          </a:xfrm>
          <a:prstGeom prst="roundRect">
            <a:avLst>
              <a:gd name="adj" fmla="val 175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38100" dir="5400000">
              <a:srgbClr val="0A1628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257800" y="2532888"/>
            <a:ext cx="420624" cy="420624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54544" y="2629632"/>
            <a:ext cx="227137" cy="227137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5806440" y="2468880"/>
            <a:ext cx="22782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Owned IP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5806440" y="2743200"/>
            <a:ext cx="22782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App, lane logic and ISMP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496148" y="2377440"/>
            <a:ext cx="3146908" cy="731520"/>
          </a:xfrm>
          <a:prstGeom prst="roundRect">
            <a:avLst>
              <a:gd name="adj" fmla="val 175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38100" dir="5400000">
              <a:srgbClr val="0A1628">
                <a:alpha val="9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679028" y="2532888"/>
            <a:ext cx="420624" cy="420624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5771" y="2629632"/>
            <a:ext cx="227137" cy="227137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9227668" y="2468880"/>
            <a:ext cx="22782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Deep know-how</a:t>
            </a:r>
            <a:endParaRPr lang="en-US" sz="1500" dirty="0"/>
          </a:p>
        </p:txBody>
      </p:sp>
      <p:sp>
        <p:nvSpPr>
          <p:cNvPr id="24" name="Text 20"/>
          <p:cNvSpPr txBox="1"/>
          <p:nvPr/>
        </p:nvSpPr>
        <p:spPr>
          <a:xfrm>
            <a:off x="9227668" y="2743200"/>
            <a:ext cx="22782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35+ years, mission-critical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5074920" y="3246120"/>
            <a:ext cx="3146908" cy="731520"/>
          </a:xfrm>
          <a:prstGeom prst="roundRect">
            <a:avLst>
              <a:gd name="adj" fmla="val 175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38100" dir="5400000">
              <a:srgbClr val="0A1628">
                <a:alpha val="9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5257800" y="3401568"/>
            <a:ext cx="420624" cy="420624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4544" y="3498312"/>
            <a:ext cx="227137" cy="227137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5806440" y="3337560"/>
            <a:ext cx="22782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Specialised set-up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5806440" y="3611880"/>
            <a:ext cx="22782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Converged security operations</a:t>
            </a: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8496148" y="3246120"/>
            <a:ext cx="3146908" cy="731520"/>
          </a:xfrm>
          <a:prstGeom prst="roundRect">
            <a:avLst>
              <a:gd name="adj" fmla="val 175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38100" dir="5400000">
              <a:srgbClr val="0A1628">
                <a:alpha val="9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8679028" y="3401568"/>
            <a:ext cx="420624" cy="420624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5771" y="3498312"/>
            <a:ext cx="227137" cy="227137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9227668" y="3337560"/>
            <a:ext cx="22782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Sales network</a:t>
            </a:r>
            <a:endParaRPr lang="en-US" sz="1500" dirty="0"/>
          </a:p>
        </p:txBody>
      </p:sp>
      <p:sp>
        <p:nvSpPr>
          <p:cNvPr id="34" name="Text 28"/>
          <p:cNvSpPr txBox="1"/>
          <p:nvPr/>
        </p:nvSpPr>
        <p:spPr>
          <a:xfrm>
            <a:off x="9227668" y="3611880"/>
            <a:ext cx="22782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Group reach in ME &amp; SE Asia</a:t>
            </a:r>
            <a:endParaRPr lang="en-US" sz="1200" dirty="0"/>
          </a:p>
        </p:txBody>
      </p:sp>
      <p:sp>
        <p:nvSpPr>
          <p:cNvPr id="35" name="Text 29"/>
          <p:cNvSpPr txBox="1"/>
          <p:nvPr/>
        </p:nvSpPr>
        <p:spPr>
          <a:xfrm>
            <a:off x="5074920" y="422452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SCALING FAST</a:t>
            </a:r>
            <a:endParaRPr lang="en-US" sz="1100" dirty="0"/>
          </a:p>
        </p:txBody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4599432"/>
            <a:ext cx="256032" cy="256032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5532120" y="4553712"/>
            <a:ext cx="61109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Cross-sell through Group BUs in other countries</a:t>
            </a:r>
            <a:endParaRPr lang="en-US" sz="1400" dirty="0"/>
          </a:p>
        </p:txBody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0" y="5074920"/>
            <a:ext cx="256032" cy="256032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5532120" y="5029200"/>
            <a:ext cx="61109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Regional sales and integration partners in ME &amp; SE Asia</a:t>
            </a:r>
            <a:endParaRPr lang="en-US" sz="1400" dirty="0"/>
          </a:p>
        </p:txBody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0640" y="5550408"/>
            <a:ext cx="256032" cy="256032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5532120" y="5504688"/>
            <a:ext cx="61109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International needs built in: privacy, governance, manual fallback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9184" y="6382512"/>
            <a:ext cx="329184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429768" y="56692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Conclusion</a:t>
            </a:r>
            <a:endParaRPr lang="en-US" sz="14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411480" y="86868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Ready to pilot, with a clear path to market</a:t>
            </a:r>
            <a:endParaRPr lang="en-US" sz="30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429768" y="1417320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Four reasons to back FastPass now.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475488" cy="475488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002" y="2212482"/>
            <a:ext cx="256764" cy="25676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34440" y="2084832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Clear operational need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234440" y="2404872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Demand is outgrowing terminals and staffing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2889504"/>
            <a:ext cx="475488" cy="475488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002" y="2998866"/>
            <a:ext cx="256764" cy="25676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34440" y="2871216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Focused market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1234440" y="3191256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US$100–140M a year in ME and SE Asia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48640" y="3675888"/>
            <a:ext cx="475488" cy="475488"/>
          </a:xfrm>
          <a:prstGeom prst="ellipse">
            <a:avLst/>
          </a:prstGeom>
          <a:solidFill>
            <a:schemeClr val="accent2">
              <a:alpha val="12000"/>
            </a:schemeClr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002" y="3785250"/>
            <a:ext cx="256764" cy="25676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34440" y="3657600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Working product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1234440" y="397764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Integrated prototype, Singapore Airshow 2026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4462272"/>
            <a:ext cx="475488" cy="475488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002" y="4571634"/>
            <a:ext cx="256764" cy="25676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234440" y="4443984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Defensible edge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1234440" y="4764024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Two-factor credential, converged security ops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7178040" y="2029968"/>
            <a:ext cx="4465015" cy="3154680"/>
          </a:xfrm>
          <a:prstGeom prst="roundRect">
            <a:avLst>
              <a:gd name="adj" fmla="val 4058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38100" dir="5400000">
              <a:srgbClr val="0A1628">
                <a:alpha val="9000"/>
              </a:srgbClr>
            </a:outerShdw>
          </a:effectLst>
        </p:spPr>
      </p:sp>
      <p:sp>
        <p:nvSpPr>
          <p:cNvPr id="22" name="Text 16"/>
          <p:cNvSpPr txBox="1"/>
          <p:nvPr/>
        </p:nvSpPr>
        <p:spPr>
          <a:xfrm>
            <a:off x="7498080" y="2157984"/>
            <a:ext cx="38249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Path to market</a:t>
            </a:r>
            <a:endParaRPr lang="en-US" sz="1700" dirty="0"/>
          </a:p>
        </p:txBody>
      </p:sp>
      <p:sp>
        <p:nvSpPr>
          <p:cNvPr id="23" name="Shape 17"/>
          <p:cNvSpPr/>
          <p:nvPr/>
        </p:nvSpPr>
        <p:spPr>
          <a:xfrm>
            <a:off x="7598664" y="2697480"/>
            <a:ext cx="0" cy="201168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7507224" y="2651760"/>
            <a:ext cx="182880" cy="182880"/>
          </a:xfrm>
          <a:prstGeom prst="ellipse">
            <a:avLst/>
          </a:prstGeom>
          <a:solidFill>
            <a:schemeClr val="accent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7891272" y="2606040"/>
            <a:ext cx="35506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2"/>
                </a:solidFill>
              </a:rPr>
              <a:t>FEB 2026</a:t>
            </a:r>
            <a:endParaRPr lang="en-US" sz="1100" dirty="0"/>
          </a:p>
        </p:txBody>
      </p:sp>
      <p:sp>
        <p:nvSpPr>
          <p:cNvPr id="26" name="Text 20"/>
          <p:cNvSpPr txBox="1"/>
          <p:nvPr/>
        </p:nvSpPr>
        <p:spPr>
          <a:xfrm>
            <a:off x="7891272" y="2834640"/>
            <a:ext cx="3550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Prototype live at Singapore Airshow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7507224" y="3154680"/>
            <a:ext cx="182880" cy="182880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7891272" y="3108960"/>
            <a:ext cx="35506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OCT 2026</a:t>
            </a:r>
            <a:endParaRPr lang="en-US" sz="1100" dirty="0"/>
          </a:p>
        </p:txBody>
      </p:sp>
      <p:sp>
        <p:nvSpPr>
          <p:cNvPr id="29" name="Text 23"/>
          <p:cNvSpPr txBox="1"/>
          <p:nvPr/>
        </p:nvSpPr>
        <p:spPr>
          <a:xfrm>
            <a:off x="7891272" y="3337560"/>
            <a:ext cx="3550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InnoChamp 2026</a:t>
            </a:r>
            <a:endParaRPr lang="en-US" sz="1300" dirty="0"/>
          </a:p>
        </p:txBody>
      </p:sp>
      <p:sp>
        <p:nvSpPr>
          <p:cNvPr id="30" name="Shape 24"/>
          <p:cNvSpPr/>
          <p:nvPr/>
        </p:nvSpPr>
        <p:spPr>
          <a:xfrm>
            <a:off x="7507224" y="3657600"/>
            <a:ext cx="182880" cy="18288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7891272" y="3611880"/>
            <a:ext cx="35506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Q4 2026</a:t>
            </a:r>
            <a:endParaRPr lang="en-US" sz="1100" dirty="0"/>
          </a:p>
        </p:txBody>
      </p:sp>
      <p:sp>
        <p:nvSpPr>
          <p:cNvPr id="32" name="Text 26"/>
          <p:cNvSpPr txBox="1"/>
          <p:nvPr/>
        </p:nvSpPr>
        <p:spPr>
          <a:xfrm>
            <a:off x="7891272" y="3840480"/>
            <a:ext cx="3550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Live demo with airport stakeholders</a:t>
            </a:r>
            <a:endParaRPr lang="en-US" sz="1300" dirty="0"/>
          </a:p>
        </p:txBody>
      </p:sp>
      <p:sp>
        <p:nvSpPr>
          <p:cNvPr id="33" name="Shape 27"/>
          <p:cNvSpPr/>
          <p:nvPr/>
        </p:nvSpPr>
        <p:spPr>
          <a:xfrm>
            <a:off x="7507224" y="4160520"/>
            <a:ext cx="182880" cy="18288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7891272" y="4114800"/>
            <a:ext cx="35506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APR 2027</a:t>
            </a:r>
            <a:endParaRPr lang="en-US" sz="1100" dirty="0"/>
          </a:p>
        </p:txBody>
      </p:sp>
      <p:sp>
        <p:nvSpPr>
          <p:cNvPr id="35" name="Text 29"/>
          <p:cNvSpPr txBox="1"/>
          <p:nvPr/>
        </p:nvSpPr>
        <p:spPr>
          <a:xfrm>
            <a:off x="7891272" y="4343400"/>
            <a:ext cx="3550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Passenger Terminal World, Amsterdam</a:t>
            </a:r>
            <a:endParaRPr lang="en-US" sz="1300" dirty="0"/>
          </a:p>
        </p:txBody>
      </p:sp>
      <p:sp>
        <p:nvSpPr>
          <p:cNvPr id="36" name="Shape 30"/>
          <p:cNvSpPr/>
          <p:nvPr/>
        </p:nvSpPr>
        <p:spPr>
          <a:xfrm>
            <a:off x="7507224" y="4663440"/>
            <a:ext cx="182880" cy="18288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7891272" y="4617720"/>
            <a:ext cx="35506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2027</a:t>
            </a:r>
            <a:endParaRPr lang="en-US" sz="1100" dirty="0"/>
          </a:p>
        </p:txBody>
      </p:sp>
      <p:sp>
        <p:nvSpPr>
          <p:cNvPr id="38" name="Text 32"/>
          <p:cNvSpPr txBox="1"/>
          <p:nvPr/>
        </p:nvSpPr>
        <p:spPr>
          <a:xfrm>
            <a:off x="7891272" y="4846320"/>
            <a:ext cx="3550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First customer pilot (target)</a:t>
            </a:r>
            <a:endParaRPr lang="en-US" sz="1300" dirty="0"/>
          </a:p>
        </p:txBody>
      </p:sp>
      <p:sp>
        <p:nvSpPr>
          <p:cNvPr id="39" name="Shape 33"/>
          <p:cNvSpPr/>
          <p:nvPr/>
        </p:nvSpPr>
        <p:spPr>
          <a:xfrm>
            <a:off x="548640" y="5394960"/>
            <a:ext cx="11094415" cy="658368"/>
          </a:xfrm>
          <a:prstGeom prst="roundRect">
            <a:avLst>
              <a:gd name="adj" fmla="val 19444"/>
            </a:avLst>
          </a:prstGeom>
          <a:solidFill>
            <a:schemeClr val="accent6"/>
          </a:solidFill>
          <a:ln/>
          <a:effectLst>
            <a:outerShdw sx="100000" sy="100000" kx="0" ky="0" algn="bl" rotWithShape="0" blurRad="203200" dist="38100" dir="5400000">
              <a:srgbClr val="0A1628">
                <a:alpha val="9000"/>
              </a:srgbClr>
            </a:outerShdw>
          </a:effectLst>
        </p:spPr>
      </p:sp>
      <p:sp>
        <p:nvSpPr>
          <p:cNvPr id="40" name="Text 34"/>
          <p:cNvSpPr txBox="1"/>
          <p:nvPr/>
        </p:nvSpPr>
        <p:spPr>
          <a:xfrm>
            <a:off x="868680" y="560527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OUR ASK</a:t>
            </a:r>
            <a:endParaRPr lang="en-US" sz="1100" dirty="0"/>
          </a:p>
        </p:txBody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3120" y="5586984"/>
            <a:ext cx="274320" cy="274320"/>
          </a:xfrm>
          <a:prstGeom prst="rect">
            <a:avLst/>
          </a:prstGeom>
        </p:spPr>
      </p:pic>
      <p:sp>
        <p:nvSpPr>
          <p:cNvPr id="42" name="Text 35"/>
          <p:cNvSpPr txBox="1"/>
          <p:nvPr/>
        </p:nvSpPr>
        <p:spPr>
          <a:xfrm>
            <a:off x="2487168" y="539496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Productisation funding</a:t>
            </a:r>
            <a:endParaRPr lang="en-US" sz="1400" dirty="0"/>
          </a:p>
        </p:txBody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5586984"/>
            <a:ext cx="274320" cy="274320"/>
          </a:xfrm>
          <a:prstGeom prst="rect">
            <a:avLst/>
          </a:prstGeom>
        </p:spPr>
      </p:pic>
      <p:sp>
        <p:nvSpPr>
          <p:cNvPr id="44" name="Text 36"/>
          <p:cNvSpPr txBox="1"/>
          <p:nvPr/>
        </p:nvSpPr>
        <p:spPr>
          <a:xfrm>
            <a:off x="5230368" y="539496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Launch customer via Group Sales</a:t>
            </a:r>
            <a:endParaRPr lang="en-US" sz="1400" dirty="0"/>
          </a:p>
        </p:txBody>
      </p:sp>
      <p:pic>
        <p:nvPicPr>
          <p:cNvPr id="4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480" y="5586984"/>
            <a:ext cx="274320" cy="274320"/>
          </a:xfrm>
          <a:prstGeom prst="rect">
            <a:avLst/>
          </a:prstGeom>
        </p:spPr>
      </p:pic>
      <p:sp>
        <p:nvSpPr>
          <p:cNvPr id="46" name="Text 37"/>
          <p:cNvSpPr txBox="1"/>
          <p:nvPr/>
        </p:nvSpPr>
        <p:spPr>
          <a:xfrm>
            <a:off x="8796528" y="5394960"/>
            <a:ext cx="266364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Showcase at PT World 2027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9184" y="6382512"/>
            <a:ext cx="329184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13232" y="2011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AGIL® Secure FastPass</a:t>
            </a:r>
            <a:endParaRPr lang="en-US" sz="2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713232" y="251460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Thank you</a:t>
            </a:r>
            <a:endParaRPr lang="en-US" sz="4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713232" y="3474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Curb to gate on one verified identity.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429768" y="56692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Appendix  ·  References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411480" y="86868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External sources</a:t>
            </a:r>
            <a:endParaRPr lang="en-US" sz="30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429768" y="1417320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Public sources behind every market and industry figure. Checked 15 Oct 2026.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94415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6400800"/>
                <a:gridCol w="1127455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What the slide says</a:t>
                      </a:r>
                      <a:endParaRPr lang="en-US" sz="11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Source</a:t>
                      </a:r>
                      <a:endParaRPr lang="en-US" sz="11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Status</a:t>
                      </a:r>
                      <a:endParaRPr lang="en-US" sz="11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Passengers double by 2040 (7.8 bn, +4.2% a year)</a:t>
                      </a:r>
                      <a:endParaRPr lang="en-US" sz="10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u="sng" dirty="0">
                          <a:solidFill>
                            <a:schemeClr val="accent1"/>
                          </a:solidFill>
                          <a:hlinkClick r:id="rId1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IATA, Global Outlook for Air Transport, Dec 2023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https://www.iata.org/en/iata-repository/publications/economic-reports/global-outlook-for-air-transport---december-2023---report/</a:t>
                      </a:r>
                      <a:endParaRPr lang="en-US" sz="10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2"/>
                          </a:solidFill>
                        </a:rPr>
                        <a:t>Verified</a:t>
                      </a:r>
                      <a:endParaRPr lang="en-US" sz="10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Changi T5: ground broken 2025, opens mid-2030s</a:t>
                      </a:r>
                      <a:endParaRPr lang="en-US" sz="10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u="sng" dirty="0">
                          <a:solidFill>
                            <a:schemeClr val="accent1"/>
                          </a:solidFill>
                          <a:hlinkClick r:id="rId2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Singapore MOT, Update on Changi Airport T5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https://www.mot.gov.sg/news-resources/newsroom/update-on-development-plans-for-changi-airport-terminal-5/</a:t>
                      </a:r>
                      <a:endParaRPr lang="en-US" sz="10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2"/>
                          </a:solidFill>
                        </a:rPr>
                        <a:t>Verified</a:t>
                      </a:r>
                      <a:endParaRPr lang="en-US" sz="10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ABC market US$2.56B → 5.03B (2025–30), 14.4% CAGR</a:t>
                      </a:r>
                      <a:endParaRPr lang="en-US" sz="10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u="sng" dirty="0">
                          <a:solidFill>
                            <a:schemeClr val="accent1"/>
                          </a:solidFill>
                          <a:hlinkClick r:id="rId3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MarketsandMarkets press release, Jul 2025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https://www.marketsandmarkets.com/PressReleases/automated-border-control.asp</a:t>
                      </a:r>
                      <a:endParaRPr lang="en-US" sz="10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2"/>
                          </a:solidFill>
                        </a:rPr>
                        <a:t>Verified</a:t>
                      </a:r>
                      <a:endParaRPr lang="en-US" sz="10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Airports ≈83% of the ABC market (83.1%, 2025)</a:t>
                      </a:r>
                      <a:endParaRPr lang="en-US" sz="10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u="sng" dirty="0">
                          <a:solidFill>
                            <a:schemeClr val="accent1"/>
                          </a:solidFill>
                          <a:hlinkClick r:id="rId4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MarketsandMarkets, ABC market size insight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https://www.marketsandmarkets.com/ResearchInsight/automated-border-control-market-size.asp</a:t>
                      </a:r>
                      <a:endParaRPr lang="en-US" sz="10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2"/>
                          </a:solidFill>
                        </a:rPr>
                        <a:t>Verified</a:t>
                      </a:r>
                      <a:endParaRPr lang="en-US" sz="10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7 in 10 airlines adopting biometric ID by 2026</a:t>
                      </a:r>
                      <a:endParaRPr lang="en-US" sz="10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u="sng" dirty="0">
                          <a:solidFill>
                            <a:schemeClr val="accent1"/>
                          </a:solidFill>
                          <a:hlinkClick r:id="rId5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SITA, Air Transport IT Insights 2024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https://www.sita.aero/resources/surveys-reports/air-transport-it-insights-2024/</a:t>
                      </a:r>
                      <a:endParaRPr lang="en-US" sz="10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2"/>
                          </a:solidFill>
                        </a:rPr>
                        <a:t>Verified</a:t>
                      </a:r>
                      <a:endParaRPr lang="en-US" sz="10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Asia-Pacific (≈4.8% a year) and Middle East lead growth</a:t>
                      </a:r>
                      <a:endParaRPr lang="en-US" sz="10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u="sng" dirty="0">
                          <a:solidFill>
                            <a:schemeClr val="accent1"/>
                          </a:solidFill>
                          <a:hlinkClick r:id="rId6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SCMP on IATA 20-year outlook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chemeClr val="tx2"/>
                          </a:solidFill>
                        </a:rPr>
                        <a:t>https://www.scmp.com/news/world/middle-east/article/3271055/global-airline-traffic-forecast-double-20-years-led-asia-middle-east</a:t>
                      </a:r>
                      <a:endParaRPr lang="en-US" sz="10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2"/>
                          </a:solidFill>
                        </a:rPr>
                        <a:t>Secondary</a:t>
                      </a:r>
                      <a:endParaRPr lang="en-US" sz="10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8521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Removed: “48% of airports plan cross-silo data sharing by 2027” — not found in SITA’s published reports.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9184" y="6382512"/>
            <a:ext cx="329184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429768" y="56692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Appendix  ·  References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411480" y="86868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Internal evidence register</a:t>
            </a:r>
            <a:endParaRPr lang="en-US" sz="30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429768" y="1417320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Our own estimates and targets, with the evidence behind each one.</a:t>
            </a:r>
            <a:endParaRPr lang="en-US" sz="15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94415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5303520"/>
                <a:gridCol w="1584655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Claim on slide</a:t>
                      </a:r>
                      <a:endParaRPr lang="en-US" sz="11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Evidence / owner</a:t>
                      </a:r>
                      <a:endParaRPr lang="en-US" sz="11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Status</a:t>
                      </a:r>
                      <a:endParaRPr lang="en-US" sz="11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≥1 officer staffing every touchpoint</a:t>
                      </a:r>
                      <a:endParaRPr lang="en-US" sz="10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Airport expert calls (Invent); lane staffing worksheet</a:t>
                      </a:r>
                      <a:endParaRPr lang="en-US" sz="10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1"/>
                          </a:solidFill>
                        </a:rPr>
                        <a:t>Internal estimate</a:t>
                      </a:r>
                      <a:endParaRPr lang="en-US" sz="10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ME + SEA ≈10–15%; FastPass addressable ≈25%</a:t>
                      </a:r>
                      <a:endParaRPr lang="en-US" sz="10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URS analysis on MarketsandMarkets data</a:t>
                      </a:r>
                      <a:endParaRPr lang="en-US" sz="10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1"/>
                          </a:solidFill>
                        </a:rPr>
                        <a:t>Internal estimate</a:t>
                      </a:r>
                      <a:endParaRPr lang="en-US" sz="10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~78% of ME/SEA airport projects are brownfield</a:t>
                      </a:r>
                      <a:endParaRPr lang="en-US" sz="10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URS market analysis (submission §7)</a:t>
                      </a:r>
                      <a:endParaRPr lang="en-US" sz="10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1"/>
                          </a:solidFill>
                        </a:rPr>
                        <a:t>Internal estimate</a:t>
                      </a:r>
                      <a:endParaRPr lang="en-US" sz="10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Curb to gate in 8–11 minutes</a:t>
                      </a:r>
                      <a:endParaRPr lang="en-US" sz="10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Sales review 14 Oct; validate at airport demo</a:t>
                      </a:r>
                      <a:endParaRPr lang="en-US" sz="10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1"/>
                          </a:solidFill>
                        </a:rPr>
                        <a:t>Target</a:t>
                      </a:r>
                      <a:endParaRPr lang="en-US" sz="10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Integrated prototype at Singapore Airshow 2026</a:t>
                      </a:r>
                      <a:endParaRPr lang="en-US" sz="10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Airshow demo records</a:t>
                      </a:r>
                      <a:endParaRPr lang="en-US" sz="10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2"/>
                          </a:solidFill>
                        </a:rPr>
                        <a:t>Verified</a:t>
                      </a:r>
                      <a:endParaRPr lang="en-US" sz="10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~50% less front-end effort (AI-assisted engineering)</a:t>
                      </a:r>
                      <a:endParaRPr lang="en-US" sz="10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Engineering metrics (submission §6)</a:t>
                      </a:r>
                      <a:endParaRPr lang="en-US" sz="10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1"/>
                          </a:solidFill>
                        </a:rPr>
                        <a:t>Internal measure</a:t>
                      </a:r>
                      <a:endParaRPr lang="en-US" sz="10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35+ years of mission-critical delivery</a:t>
                      </a:r>
                      <a:endParaRPr lang="en-US" sz="10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Corporate record</a:t>
                      </a:r>
                      <a:endParaRPr lang="en-US" sz="10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2"/>
                          </a:solidFill>
                        </a:rPr>
                        <a:t>Verified</a:t>
                      </a:r>
                      <a:endParaRPr lang="en-US" sz="10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Most walk-through lanes verify face only (1FA)</a:t>
                      </a:r>
                      <a:endParaRPr lang="en-US" sz="10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PT Asia benchmarking; Idemia PaXpress brochure (12/2025)</a:t>
                      </a:r>
                      <a:endParaRPr lang="en-US" sz="10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1"/>
                          </a:solidFill>
                        </a:rPr>
                        <a:t>Market observation</a:t>
                      </a:r>
                      <a:endParaRPr lang="en-US" sz="10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Group reach in ME &amp; SE Asia; cross-sell via BUs</a:t>
                      </a:r>
                      <a:endParaRPr lang="en-US" sz="10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Confirm countries and contacts with Group Sales</a:t>
                      </a:r>
                      <a:endParaRPr lang="en-US" sz="10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3"/>
                          </a:solidFill>
                        </a:rPr>
                        <a:t>To confirm</a:t>
                      </a:r>
                      <a:endParaRPr lang="en-US" sz="10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Target price points</a:t>
                      </a:r>
                      <a:endParaRPr lang="en-US" sz="10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Pending Sales sync</a:t>
                      </a:r>
                      <a:endParaRPr lang="en-US" sz="10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3"/>
                          </a:solidFill>
                        </a:rPr>
                        <a:t>Open</a:t>
                      </a:r>
                      <a:endParaRPr lang="en-US" sz="10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9184" y="6382512"/>
            <a:ext cx="329184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429768" y="56692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Appendix  ·  Q&amp;A</a:t>
            </a:r>
            <a:endParaRPr lang="en-US" sz="14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411480" y="86868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Hard questions, short answers</a:t>
            </a:r>
            <a:endParaRPr lang="en-US" sz="30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429768" y="1417320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Agreed positions for the questions judges and Excos are most likely to ask.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410048" cy="1188720"/>
          </a:xfrm>
          <a:prstGeom prst="roundRect">
            <a:avLst>
              <a:gd name="adj" fmla="val 10769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38100" dir="5400000">
              <a:srgbClr val="0A1628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212848"/>
            <a:ext cx="420624" cy="420624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984" y="2309592"/>
            <a:ext cx="227137" cy="22713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25880" y="2194560"/>
            <a:ext cx="444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Where is biometric data stored?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325880" y="2578608"/>
            <a:ext cx="4449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Encrypted on the traveller’s phone; shared just-in-time for the match. The airport keeps no biometric database.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33008" y="2011680"/>
            <a:ext cx="5410048" cy="1188720"/>
          </a:xfrm>
          <a:prstGeom prst="roundRect">
            <a:avLst>
              <a:gd name="adj" fmla="val 10769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38100" dir="5400000">
              <a:srgbClr val="0A1628">
                <a:alpha val="9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61608" y="2212848"/>
            <a:ext cx="420624" cy="420624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8351" y="2309592"/>
            <a:ext cx="227137" cy="22713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010248" y="2194560"/>
            <a:ext cx="444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Do you replace immigration?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7010248" y="2578608"/>
            <a:ext cx="4449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No. FastPass is modular and works alongside immigration, linking where local policy allows.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48640" y="3337560"/>
            <a:ext cx="5410048" cy="1188720"/>
          </a:xfrm>
          <a:prstGeom prst="roundRect">
            <a:avLst>
              <a:gd name="adj" fmla="val 10769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38100" dir="5400000">
              <a:srgbClr val="0A1628">
                <a:alpha val="9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77240" y="3538728"/>
            <a:ext cx="420624" cy="420624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984" y="3635472"/>
            <a:ext cx="227137" cy="22713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325880" y="3520440"/>
            <a:ext cx="444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Who owns the app?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1325880" y="3904488"/>
            <a:ext cx="4449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The airport or airline: FastPass ships as an SDK inside their app.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233008" y="3337560"/>
            <a:ext cx="5410048" cy="1188720"/>
          </a:xfrm>
          <a:prstGeom prst="roundRect">
            <a:avLst>
              <a:gd name="adj" fmla="val 10769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38100" dir="5400000">
              <a:srgbClr val="0A1628">
                <a:alpha val="9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61608" y="3538728"/>
            <a:ext cx="420624" cy="420624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8351" y="3635472"/>
            <a:ext cx="227137" cy="227137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010248" y="3520440"/>
            <a:ext cx="444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What if there is no internet?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7010248" y="3904488"/>
            <a:ext cx="4449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Credentials download in advance; offline clearance is the first productisation priority.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548640" y="4663440"/>
            <a:ext cx="5410048" cy="1188720"/>
          </a:xfrm>
          <a:prstGeom prst="roundRect">
            <a:avLst>
              <a:gd name="adj" fmla="val 10769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38100" dir="5400000">
              <a:srgbClr val="0A1628">
                <a:alpha val="9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777240" y="4864608"/>
            <a:ext cx="420624" cy="420624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984" y="4961352"/>
            <a:ext cx="227137" cy="227137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325880" y="4846320"/>
            <a:ext cx="444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What happens when a match fails?</a:t>
            </a:r>
            <a:endParaRPr lang="en-US" sz="1500" dirty="0"/>
          </a:p>
        </p:txBody>
      </p:sp>
      <p:sp>
        <p:nvSpPr>
          <p:cNvPr id="29" name="Text 22"/>
          <p:cNvSpPr txBox="1"/>
          <p:nvPr/>
        </p:nvSpPr>
        <p:spPr>
          <a:xfrm>
            <a:off x="1325880" y="5230368"/>
            <a:ext cx="4449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The lane closes, an officer is alerted, and manual counters stay open for exceptions.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6233008" y="4663440"/>
            <a:ext cx="5410048" cy="1188720"/>
          </a:xfrm>
          <a:prstGeom prst="roundRect">
            <a:avLst>
              <a:gd name="adj" fmla="val 10769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38100" dir="5400000">
              <a:srgbClr val="0A1628">
                <a:alpha val="9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461608" y="4864608"/>
            <a:ext cx="420624" cy="420624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8351" y="4961352"/>
            <a:ext cx="227137" cy="227137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7010248" y="4846320"/>
            <a:ext cx="444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How do you compare with Idemia?</a:t>
            </a:r>
            <a:endParaRPr lang="en-US" sz="1500" dirty="0"/>
          </a:p>
        </p:txBody>
      </p:sp>
      <p:sp>
        <p:nvSpPr>
          <p:cNvPr id="34" name="Text 26"/>
          <p:cNvSpPr txBox="1"/>
          <p:nvPr/>
        </p:nvSpPr>
        <p:spPr>
          <a:xfrm>
            <a:off x="7010248" y="5230368"/>
            <a:ext cx="4449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They lead on portfolio breadth; we lead on two-factor clearance and converged security ops.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9184" y="6382512"/>
            <a:ext cx="329184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429768" y="56692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Appendix  ·  Benchmark</a:t>
            </a:r>
            <a:endParaRPr lang="en-US" sz="14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411480" y="86868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How we compare with Idemia</a:t>
            </a:r>
            <a:endParaRPr lang="en-US" sz="30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429768" y="1417320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Where Idemia PaXpress SmartLane is strong, and where FastPass differs (per Idemia brochure, 12/2025).</a:t>
            </a:r>
            <a:endParaRPr lang="en-US" sz="15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94415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4572000"/>
                <a:gridCol w="4602175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AGIL® Secure FastPass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Idemia PaXpress SmartLane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Verification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Two factors: phone credential (BLE) + live face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Facial recognition on the move with camera tracking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Identity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Credential encrypted on the traveller’s phone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Digital ID via SDK or kiosk; Authorizer platform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Operations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Converged with CCTV, access, intrusion and incidents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Supervision screens and tablets for exceptions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Traveller feedback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Pylon light and status TV; AI assistant on roadmap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AI-powered guidance displays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Proof and scale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Integrated prototype; pilot-ready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1.5 bn+ travellers a year; 350+ ports</a:t>
                      </a:r>
                      <a:endParaRPr lang="en-US" sz="1200" dirty="0"/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6692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Compete on two-factor clearance and converged security operations at a modular entry price, not on portfolio breadth.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9184" y="6382512"/>
            <a:ext cx="329184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stPass ST Pearl">
  <a:themeElements>
    <a:clrScheme name="FastPass ST Pearl">
      <a:dk1>
        <a:srgbClr val="0B1526"/>
      </a:dk1>
      <a:lt1>
        <a:srgbClr val="FFFFFF"/>
      </a:lt1>
      <a:dk2>
        <a:srgbClr val="4A5870"/>
      </a:dk2>
      <a:lt2>
        <a:srgbClr val="F4F6F8"/>
      </a:lt2>
      <a:accent1>
        <a:srgbClr val="0B84AE"/>
      </a:accent1>
      <a:accent2>
        <a:srgbClr val="1E9E50"/>
      </a:accent2>
      <a:accent3>
        <a:srgbClr val="D97706"/>
      </a:accent3>
      <a:accent4>
        <a:srgbClr val="E3061A"/>
      </a:accent4>
      <a:accent5>
        <a:srgbClr val="E1E6ED"/>
      </a:accent5>
      <a:accent6>
        <a:srgbClr val="0B2545"/>
      </a:accent6>
      <a:hlink>
        <a:srgbClr val="0B84AE"/>
      </a:hlink>
      <a:folHlink>
        <a:srgbClr val="4A5870"/>
      </a:folHlink>
    </a:clrScheme>
    <a:fontScheme name="FastPass ST Pear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ST Engineering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AGIL® Secure FastPass — InnoChamp 2026</dc:title>
  <dc:subject>PptxGenJS Presentation</dc:subject>
  <dc:creator>URS — Smart Security &amp; Automation</dc:creator>
  <cp:lastModifiedBy>URS — Smart Security &amp; Automation</cp:lastModifiedBy>
  <cp:revision>1</cp:revision>
  <dcterms:created xsi:type="dcterms:W3CDTF">2026-10-15T15:05:06Z</dcterms:created>
  <dcterms:modified xsi:type="dcterms:W3CDTF">2026-10-15T15:05:06Z</dcterms:modified>
</cp:coreProperties>
</file>