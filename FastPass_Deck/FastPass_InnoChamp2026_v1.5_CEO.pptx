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handoutMasterIdLst>
    <p:handoutMasterId r:id="rId31"/>
  </p:handoutMasterIdLst>
  <p:sldIdLst>
    <p:sldId id="551" r:id="rId5"/>
    <p:sldId id="571" r:id="rId6"/>
    <p:sldId id="572" r:id="rId7"/>
    <p:sldId id="596" r:id="rId38"/>
    <p:sldId id="570" r:id="rId9"/>
    <p:sldId id="578" r:id="rId10"/>
    <p:sldId id="597" r:id="rId39"/>
    <p:sldId id="589" r:id="rId11"/>
    <p:sldId id="575" r:id="rId12"/>
    <p:sldId id="590" r:id="rId13"/>
    <p:sldId id="577" r:id="rId14"/>
    <p:sldId id="586" r:id="rId15"/>
    <p:sldId id="569" r:id="rId16"/>
    <p:sldId id="568" r:id="rId17"/>
    <p:sldId id="580" r:id="rId18"/>
    <p:sldId id="598" r:id="rId40"/>
    <p:sldId id="599" r:id="rId41"/>
    <p:sldId id="600" r:id="rId42"/>
    <p:sldId id="593" r:id="rId21"/>
    <p:sldId id="587" r:id="rId22"/>
    <p:sldId id="595" r:id="rId23"/>
    <p:sldId id="579" r:id="rId24"/>
    <p:sldId id="581" r:id="rId25"/>
    <p:sldId id="582" r:id="rId26"/>
    <p:sldId id="583" r:id="rId27"/>
    <p:sldId id="584" r:id="rId28"/>
    <p:sldId id="5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057655-18B3-2CF7-3345-F40D95C5FCED}" name="Tan Yingyi" initials="YT" userId="S::yingyi@stengg.com::f7bc8c44-56ed-4e68-91d9-1c995133b8e0" providerId="AD"/>
  <p188:author id="{59770F96-C082-2080-39E3-85FEC9A9E93E}" name="Zhang Qinyuan" initials="QZ" userId="S::qinyuan.zhang@stengg.com::377aa130-2eff-480e-939a-bc644c7da80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C4D0"/>
    <a:srgbClr val="0000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6333F-C34E-EBD9-E3DB-E1E784382542}" v="32" dt="2026-10-18T02:53:27.293"/>
    <p1510:client id="{AE008423-E7AD-4F63-9C06-E70B1B2A5C09}" v="181" dt="2026-10-16T08:38:10.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86199" autoAdjust="0"/>
  </p:normalViewPr>
  <p:slideViewPr>
    <p:cSldViewPr snapToGrid="0">
      <p:cViewPr varScale="1">
        <p:scale>
          <a:sx n="95" d="100"/>
          <a:sy n="95" d="100"/>
        </p:scale>
        <p:origin x="1200"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59EDD3-291C-45FC-C893-EF7FCF019A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F6EA241D-EAE3-60C0-E6C5-42EB154A94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13935D-AD2E-4E45-9F10-EE2611B3B8D1}" type="datetimeFigureOut">
              <a:rPr lang="en-SG" smtClean="0"/>
              <a:t>18/10/2026</a:t>
            </a:fld>
            <a:endParaRPr lang="en-SG"/>
          </a:p>
        </p:txBody>
      </p:sp>
      <p:sp>
        <p:nvSpPr>
          <p:cNvPr id="4" name="Footer Placeholder 3">
            <a:extLst>
              <a:ext uri="{FF2B5EF4-FFF2-40B4-BE49-F238E27FC236}">
                <a16:creationId xmlns:a16="http://schemas.microsoft.com/office/drawing/2014/main" id="{41C560BA-040E-B009-AF38-ED3324EDB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267B00-12F8-8763-FB64-518FB91AE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FBD81B-A0DF-40C2-A45D-AEB8D2153280}" type="slidenum">
              <a:rPr lang="en-SG" smtClean="0"/>
              <a:t>‹#›</a:t>
            </a:fld>
            <a:endParaRPr lang="en-SG"/>
          </a:p>
        </p:txBody>
      </p:sp>
    </p:spTree>
    <p:extLst>
      <p:ext uri="{BB962C8B-B14F-4D97-AF65-F5344CB8AC3E}">
        <p14:creationId xmlns:p14="http://schemas.microsoft.com/office/powerpoint/2010/main" val="3631801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B7C30B-32FA-4F85-87F2-0EDBBAA5BFD5}" type="datetimeFigureOut">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AD9013-D3CF-4749-A6CE-301E3BD661CF}" type="slidenum">
              <a:t>‹#›</a:t>
            </a:fld>
            <a:endParaRPr lang="en-US"/>
          </a:p>
        </p:txBody>
      </p:sp>
    </p:spTree>
    <p:extLst>
      <p:ext uri="{BB962C8B-B14F-4D97-AF65-F5344CB8AC3E}">
        <p14:creationId xmlns:p14="http://schemas.microsoft.com/office/powerpoint/2010/main" val="303504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5834E-B86D-ADA0-7EC2-B3FD7A616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F37FC-A310-0947-48BB-59D13D3ADBB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9572E72-B6CF-0122-F136-9FD36F95EBF4}"/>
              </a:ext>
            </a:extLst>
          </p:cNvPr>
          <p:cNvSpPr>
            <a:spLocks noGrp="1"/>
          </p:cNvSpPr>
          <p:nvPr>
            <p:ph type="body" idx="1"/>
          </p:nvPr>
        </p:nvSpPr>
        <p:spPr/>
        <p:txBody>
          <a:bodyPr/>
          <a:lstStyle/>
          <a:p>
            <a:r>
              <a:t>[0:00–0:15] Good morning. I'm [Name]. With colleagues across Smart Security &amp; Automation, Smart Utilities &amp; Infrastructure and Urban Solutions, we built AGIL Secure FastPass: a mobile-first, biometric solution for fast, contactless and secure journeys, from kerb to gate.</a:t>
            </a:r>
          </a:p>
        </p:txBody>
      </p:sp>
      <p:sp>
        <p:nvSpPr>
          <p:cNvPr id="4" name="Slide Number Placeholder 3">
            <a:extLst>
              <a:ext uri="{FF2B5EF4-FFF2-40B4-BE49-F238E27FC236}">
                <a16:creationId xmlns:a16="http://schemas.microsoft.com/office/drawing/2014/main" id="{C98A9A31-AD9A-90B5-C4F8-A7CF4971287A}"/>
              </a:ext>
            </a:extLst>
          </p:cNvPr>
          <p:cNvSpPr>
            <a:spLocks noGrp="1"/>
          </p:cNvSpPr>
          <p:nvPr>
            <p:ph type="sldNum" sz="quarter" idx="5"/>
          </p:nvPr>
        </p:nvSpPr>
        <p:spPr/>
        <p:txBody>
          <a:bodyPr/>
          <a:lstStyle/>
          <a:p>
            <a:fld id="{75489B62-ABBA-47E3-9D4E-598A69D0A2FE}" type="slidenum">
              <a:rPr lang="en-US" smtClean="0"/>
              <a:t>1</a:t>
            </a:fld>
            <a:endParaRPr lang="en-US"/>
          </a:p>
        </p:txBody>
      </p:sp>
    </p:spTree>
    <p:extLst>
      <p:ext uri="{BB962C8B-B14F-4D97-AF65-F5344CB8AC3E}">
        <p14:creationId xmlns:p14="http://schemas.microsoft.com/office/powerpoint/2010/main" val="2793143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EA1DE-EBF8-28F6-D53D-D9DBC1EE9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CBC38-EA44-1901-7373-E88F6D52AB80}"/>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91C1BDA-2E88-2D7E-074D-E677233EAF97}"/>
              </a:ext>
            </a:extLst>
          </p:cNvPr>
          <p:cNvSpPr>
            <a:spLocks noGrp="1"/>
          </p:cNvSpPr>
          <p:nvPr>
            <p:ph type="body" idx="1"/>
          </p:nvPr>
        </p:nvSpPr>
        <p:spPr/>
        <p:txBody>
          <a:bodyPr/>
          <a:lstStyle/>
          <a:p>
            <a:r>
              <a:t>[0:15–0:55] Think about your last flight. Passport at check-in. Again at immigration. Again at security. Again at the gate. Four checks, four stops, four queues, and at least two staff at every one.</a:t>
            </a:r>
          </a:p>
          <a:p>
            <a:r>
              <a:t>The pressure keeps growing: demand doubles by 2040. And half of airports say they will break their data silos by 2027. Airports must balance speed, capacity and security with the terminals and staff they already have.</a:t>
            </a:r>
          </a:p>
        </p:txBody>
      </p:sp>
      <p:sp>
        <p:nvSpPr>
          <p:cNvPr id="4" name="Slide Number Placeholder 3">
            <a:extLst>
              <a:ext uri="{FF2B5EF4-FFF2-40B4-BE49-F238E27FC236}">
                <a16:creationId xmlns:a16="http://schemas.microsoft.com/office/drawing/2014/main" id="{53D311D0-7147-E5E4-BEDF-357F10C2C3B6}"/>
              </a:ext>
            </a:extLst>
          </p:cNvPr>
          <p:cNvSpPr>
            <a:spLocks noGrp="1"/>
          </p:cNvSpPr>
          <p:nvPr>
            <p:ph type="sldNum" sz="quarter" idx="5"/>
          </p:nvPr>
        </p:nvSpPr>
        <p:spPr/>
        <p:txBody>
          <a:bodyPr/>
          <a:lstStyle/>
          <a:p>
            <a:fld id="{6B03AB48-88C9-410C-89FD-FA6EC4AE6944}" type="slidenum">
              <a:rPr lang="en-SG" smtClean="0"/>
              <a:t>2</a:t>
            </a:fld>
            <a:endParaRPr lang="en-SG"/>
          </a:p>
        </p:txBody>
      </p:sp>
    </p:spTree>
    <p:extLst>
      <p:ext uri="{BB962C8B-B14F-4D97-AF65-F5344CB8AC3E}">
        <p14:creationId xmlns:p14="http://schemas.microsoft.com/office/powerpoint/2010/main" val="2482157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EC12C-180F-2C49-24E2-69A871C4B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36CBF-983B-8067-20A8-43B741F2D4C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4090EAE-B3A0-6369-BD5C-924152252C88}"/>
              </a:ext>
            </a:extLst>
          </p:cNvPr>
          <p:cNvSpPr>
            <a:spLocks noGrp="1"/>
          </p:cNvSpPr>
          <p:nvPr>
            <p:ph type="body" idx="1"/>
          </p:nvPr>
        </p:nvSpPr>
        <p:spPr/>
        <p:txBody>
          <a:bodyPr/>
          <a:lstStyle/>
          <a:p>
            <a:r>
              <a:t>[0:55–1:45] This is a large, growing market. Automated border control reaches about US$5 billion by 2030, growing about 14% a year; most of it is at airports.</a:t>
            </a:r>
          </a:p>
          <a:p>
            <a:r>
              <a:t>We focus on the Middle East and Southeast Asia, where traffic grows fastest: a serviceable market of US$500–700 million over five years, about 100–140 million a year.</a:t>
            </a:r>
          </a:p>
          <a:p>
            <a:r>
              <a:t>The timing is right: 7 in 10 airlines are adopting biometric ID by 2026, and almost 80% of airport projects in these regions upgrade existing terminals. That is exactly where FastPass fits.</a:t>
            </a:r>
          </a:p>
        </p:txBody>
      </p:sp>
      <p:sp>
        <p:nvSpPr>
          <p:cNvPr id="4" name="Slide Number Placeholder 3">
            <a:extLst>
              <a:ext uri="{FF2B5EF4-FFF2-40B4-BE49-F238E27FC236}">
                <a16:creationId xmlns:a16="http://schemas.microsoft.com/office/drawing/2014/main" id="{5945D15F-9F19-5433-5E53-C6D4518EE657}"/>
              </a:ext>
            </a:extLst>
          </p:cNvPr>
          <p:cNvSpPr>
            <a:spLocks noGrp="1"/>
          </p:cNvSpPr>
          <p:nvPr>
            <p:ph type="sldNum" sz="quarter" idx="5"/>
          </p:nvPr>
        </p:nvSpPr>
        <p:spPr/>
        <p:txBody>
          <a:bodyPr/>
          <a:lstStyle/>
          <a:p>
            <a:fld id="{6B03AB48-88C9-410C-89FD-FA6EC4AE6944}" type="slidenum">
              <a:rPr lang="en-SG" smtClean="0"/>
              <a:t>3</a:t>
            </a:fld>
            <a:endParaRPr lang="en-SG"/>
          </a:p>
        </p:txBody>
      </p:sp>
    </p:spTree>
    <p:extLst>
      <p:ext uri="{BB962C8B-B14F-4D97-AF65-F5344CB8AC3E}">
        <p14:creationId xmlns:p14="http://schemas.microsoft.com/office/powerpoint/2010/main" val="1451691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31C5C-4133-7160-E99A-35B4745B5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C1D51-0B88-3B92-5AF2-EF503CF3DB3E}"/>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A15A9E4-15A1-D31D-5A8D-268C954D94BC}"/>
              </a:ext>
            </a:extLst>
          </p:cNvPr>
          <p:cNvSpPr>
            <a:spLocks noGrp="1"/>
          </p:cNvSpPr>
          <p:nvPr>
            <p:ph type="body" idx="1"/>
          </p:nvPr>
        </p:nvSpPr>
        <p:spPr/>
        <p:txBody>
          <a:bodyPr/>
          <a:lstStyle/>
          <a:p>
            <a:r>
              <a:t>[2:45–3:15] That command layer is AGIL Secure ISMP, our existing platform: traveller transactions, lane and gate control, exception management, assistive AI, a 3D operational view and physical security in one environment. On the right is the live product: the passenger log, flow by zone, exceptions flagged for action.</a:t>
            </a:r>
          </a:p>
        </p:txBody>
      </p:sp>
      <p:sp>
        <p:nvSpPr>
          <p:cNvPr id="4" name="Slide Number Placeholder 3">
            <a:extLst>
              <a:ext uri="{FF2B5EF4-FFF2-40B4-BE49-F238E27FC236}">
                <a16:creationId xmlns:a16="http://schemas.microsoft.com/office/drawing/2014/main" id="{EDDCD73A-EE80-78BD-4908-97A532F7D946}"/>
              </a:ext>
            </a:extLst>
          </p:cNvPr>
          <p:cNvSpPr>
            <a:spLocks noGrp="1"/>
          </p:cNvSpPr>
          <p:nvPr>
            <p:ph type="sldNum" sz="quarter" idx="5"/>
          </p:nvPr>
        </p:nvSpPr>
        <p:spPr/>
        <p:txBody>
          <a:bodyPr/>
          <a:lstStyle/>
          <a:p>
            <a:fld id="{6B03AB48-88C9-410C-89FD-FA6EC4AE6944}" type="slidenum">
              <a:rPr lang="en-SG" smtClean="0"/>
              <a:t>5</a:t>
            </a:fld>
            <a:endParaRPr lang="en-SG"/>
          </a:p>
        </p:txBody>
      </p:sp>
    </p:spTree>
    <p:extLst>
      <p:ext uri="{BB962C8B-B14F-4D97-AF65-F5344CB8AC3E}">
        <p14:creationId xmlns:p14="http://schemas.microsoft.com/office/powerpoint/2010/main" val="3552188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3DEAC-A144-DC9B-CA57-38F2816DC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0E8FF-BD42-5F14-E8E7-F927A2C2C13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2FDC44E-FF97-18F1-B54A-24A90AAC5D34}"/>
              </a:ext>
            </a:extLst>
          </p:cNvPr>
          <p:cNvSpPr>
            <a:spLocks noGrp="1"/>
          </p:cNvSpPr>
          <p:nvPr>
            <p:ph type="body" idx="1"/>
          </p:nvPr>
        </p:nvSpPr>
        <p:spPr/>
        <p:txBody>
          <a:bodyPr/>
          <a:lstStyle/>
          <a:p>
            <a:r>
              <a:t>[3:15–4:00] So where is the innovation? Not another gate. The credential.</a:t>
            </a:r>
          </a:p>
          <a:p>
            <a:r>
              <a:t>Most walk-through lanes check one thing: your face. FastPass checks two things at once, while you walk: the phone proves the credential, the face proves the person.</a:t>
            </a:r>
          </a:p>
          <a:p>
            <a:r>
              <a:t>It is built differently too: data stays encrypted on the phone; it plugs into the apps airports and airlines already have; it is converged with security operations; and AI runs in the product, for face matching, luggage threat detection and alert triage.</a:t>
            </a:r>
          </a:p>
        </p:txBody>
      </p:sp>
      <p:sp>
        <p:nvSpPr>
          <p:cNvPr id="4" name="Slide Number Placeholder 3">
            <a:extLst>
              <a:ext uri="{FF2B5EF4-FFF2-40B4-BE49-F238E27FC236}">
                <a16:creationId xmlns:a16="http://schemas.microsoft.com/office/drawing/2014/main" id="{B26CEACD-F0F0-346F-386A-D7B2F8233F2F}"/>
              </a:ext>
            </a:extLst>
          </p:cNvPr>
          <p:cNvSpPr>
            <a:spLocks noGrp="1"/>
          </p:cNvSpPr>
          <p:nvPr>
            <p:ph type="sldNum" sz="quarter" idx="5"/>
          </p:nvPr>
        </p:nvSpPr>
        <p:spPr/>
        <p:txBody>
          <a:bodyPr/>
          <a:lstStyle/>
          <a:p>
            <a:fld id="{6B03AB48-88C9-410C-89FD-FA6EC4AE6944}" type="slidenum">
              <a:rPr lang="en-SG" smtClean="0"/>
              <a:t>6</a:t>
            </a:fld>
            <a:endParaRPr lang="en-SG"/>
          </a:p>
        </p:txBody>
      </p:sp>
    </p:spTree>
    <p:extLst>
      <p:ext uri="{BB962C8B-B14F-4D97-AF65-F5344CB8AC3E}">
        <p14:creationId xmlns:p14="http://schemas.microsoft.com/office/powerpoint/2010/main" val="2933567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F21F7-FED7-D041-B0D0-2824B37C1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5F7F2-E8AE-7043-79AD-A4800403A29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55CA928-A9F8-EB1D-8038-7B96B4E7410B}"/>
              </a:ext>
            </a:extLst>
          </p:cNvPr>
          <p:cNvSpPr>
            <a:spLocks noGrp="1"/>
          </p:cNvSpPr>
          <p:nvPr>
            <p:ph type="body" idx="1"/>
          </p:nvPr>
        </p:nvSpPr>
        <p:spPr/>
        <p:txBody>
          <a:bodyPr/>
          <a:lstStyle/>
          <a:p>
            <a:r>
              <a:t>[4:35–5:20] Who buys: Tier-2 international airports in the Middle East and Southeast Asia; immigration agencies co-decide; airlines enable adoption through their own apps.</a:t>
            </a:r>
          </a:p>
          <a:p>
            <a:r>
              <a:t>What they pay for: lane hardware once, the ISMP licence recurring, integration as a project, and annual support.</a:t>
            </a:r>
          </a:p>
          <a:p>
            <a:r>
              <a:t>How we scale: prove one pilot lane, expand lanes and enrolment, connect every touchpoint through ISMP, then scale across terminals and portfolios. Because ISMP already runs, we move fast.</a:t>
            </a:r>
          </a:p>
        </p:txBody>
      </p:sp>
      <p:sp>
        <p:nvSpPr>
          <p:cNvPr id="4" name="Slide Number Placeholder 3">
            <a:extLst>
              <a:ext uri="{FF2B5EF4-FFF2-40B4-BE49-F238E27FC236}">
                <a16:creationId xmlns:a16="http://schemas.microsoft.com/office/drawing/2014/main" id="{E24AC5EB-5E1B-6031-4A8E-679819252EEE}"/>
              </a:ext>
            </a:extLst>
          </p:cNvPr>
          <p:cNvSpPr>
            <a:spLocks noGrp="1"/>
          </p:cNvSpPr>
          <p:nvPr>
            <p:ph type="sldNum" sz="quarter" idx="5"/>
          </p:nvPr>
        </p:nvSpPr>
        <p:spPr/>
        <p:txBody>
          <a:bodyPr/>
          <a:lstStyle/>
          <a:p>
            <a:fld id="{6B03AB48-88C9-410C-89FD-FA6EC4AE6944}" type="slidenum">
              <a:rPr lang="en-SG" smtClean="0"/>
              <a:t>7</a:t>
            </a:fld>
            <a:endParaRPr lang="en-SG"/>
          </a:p>
        </p:txBody>
      </p:sp>
    </p:spTree>
    <p:extLst>
      <p:ext uri="{BB962C8B-B14F-4D97-AF65-F5344CB8AC3E}">
        <p14:creationId xmlns:p14="http://schemas.microsoft.com/office/powerpoint/2010/main" val="651065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51CF4-9178-E374-E5BD-6A788E2C7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62506-4591-4673-D8EA-2FFF4B26F09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DDE7AA8-AEC5-E18A-7608-99BE6EFCD99B}"/>
              </a:ext>
            </a:extLst>
          </p:cNvPr>
          <p:cNvSpPr>
            <a:spLocks noGrp="1"/>
          </p:cNvSpPr>
          <p:nvPr>
            <p:ph type="body" idx="1"/>
          </p:nvPr>
        </p:nvSpPr>
        <p:spPr/>
        <p:txBody>
          <a:bodyPr/>
          <a:lstStyle/>
          <a:p>
            <a:r>
              <a:t>[5:20–6:05] FastPass is built across business areas as one product team.</a:t>
            </a:r>
          </a:p>
          <a:p>
            <a:r>
              <a:t>That is also what makes it hard to copy: it is integrated with security operations, modular and infrastructure-light, and delivered by a team with 35 years of government-grade, mission-critical systems.</a:t>
            </a:r>
          </a:p>
          <a:p>
            <a:r>
              <a:t>To scale fast we cross-sell through Group business units in other countries, work with regional sales and integration partners, and we have built in international needs: privacy, governance and manual fallback.</a:t>
            </a:r>
          </a:p>
        </p:txBody>
      </p:sp>
      <p:sp>
        <p:nvSpPr>
          <p:cNvPr id="4" name="Slide Number Placeholder 3">
            <a:extLst>
              <a:ext uri="{FF2B5EF4-FFF2-40B4-BE49-F238E27FC236}">
                <a16:creationId xmlns:a16="http://schemas.microsoft.com/office/drawing/2014/main" id="{D16CDE3C-820D-D578-789D-A669F7C7A224}"/>
              </a:ext>
            </a:extLst>
          </p:cNvPr>
          <p:cNvSpPr>
            <a:spLocks noGrp="1"/>
          </p:cNvSpPr>
          <p:nvPr>
            <p:ph type="sldNum" sz="quarter" idx="5"/>
          </p:nvPr>
        </p:nvSpPr>
        <p:spPr/>
        <p:txBody>
          <a:bodyPr/>
          <a:lstStyle/>
          <a:p>
            <a:fld id="{6B03AB48-88C9-410C-89FD-FA6EC4AE6944}" type="slidenum">
              <a:rPr lang="en-SG" smtClean="0"/>
              <a:t>8</a:t>
            </a:fld>
            <a:endParaRPr lang="en-SG"/>
          </a:p>
        </p:txBody>
      </p:sp>
    </p:spTree>
    <p:extLst>
      <p:ext uri="{BB962C8B-B14F-4D97-AF65-F5344CB8AC3E}">
        <p14:creationId xmlns:p14="http://schemas.microsoft.com/office/powerpoint/2010/main" val="1243419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E5F49-8A1D-C571-96D5-39FCBEC3D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13077F-3CB0-14A6-8EC4-35F4A3596A9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3D611F3-653D-BA5B-6372-8ED3EC40D627}"/>
              </a:ext>
            </a:extLst>
          </p:cNvPr>
          <p:cNvSpPr>
            <a:spLocks noGrp="1"/>
          </p:cNvSpPr>
          <p:nvPr>
            <p:ph type="body" idx="1"/>
          </p:nvPr>
        </p:nvSpPr>
        <p:spPr/>
        <p:txBody>
          <a:bodyPr/>
          <a:lstStyle/>
          <a:p>
            <a:r>
              <a:t>[6:05–6:50] Four reasons to back FastPass now: a clear need, a focused market, a working product shown live at the Singapore Airshow, and a defensible edge.</a:t>
            </a:r>
          </a:p>
          <a:p>
            <a:r>
              <a:t>Next: a live demo with airport stakeholders this quarter, Passenger Terminal World in Amsterdam in April, and our first customer pilot in 2027.</a:t>
            </a:r>
          </a:p>
          <a:p>
            <a:r>
              <a:t>Our ask: productisation funding of [amount] for offline mode, redundancy and back-end integration; a launch customer through Group Sales; and the PT World 2027 showcase.</a:t>
            </a:r>
          </a:p>
        </p:txBody>
      </p:sp>
      <p:sp>
        <p:nvSpPr>
          <p:cNvPr id="4" name="Slide Number Placeholder 3">
            <a:extLst>
              <a:ext uri="{FF2B5EF4-FFF2-40B4-BE49-F238E27FC236}">
                <a16:creationId xmlns:a16="http://schemas.microsoft.com/office/drawing/2014/main" id="{86DEEA1F-7609-69D7-E8CE-945EEF446F34}"/>
              </a:ext>
            </a:extLst>
          </p:cNvPr>
          <p:cNvSpPr>
            <a:spLocks noGrp="1"/>
          </p:cNvSpPr>
          <p:nvPr>
            <p:ph type="sldNum" sz="quarter" idx="5"/>
          </p:nvPr>
        </p:nvSpPr>
        <p:spPr/>
        <p:txBody>
          <a:bodyPr/>
          <a:lstStyle/>
          <a:p>
            <a:fld id="{6B03AB48-88C9-410C-89FD-FA6EC4AE6944}" type="slidenum">
              <a:rPr lang="en-SG" smtClean="0"/>
              <a:t>9</a:t>
            </a:fld>
            <a:endParaRPr lang="en-SG"/>
          </a:p>
        </p:txBody>
      </p:sp>
    </p:spTree>
    <p:extLst>
      <p:ext uri="{BB962C8B-B14F-4D97-AF65-F5344CB8AC3E}">
        <p14:creationId xmlns:p14="http://schemas.microsoft.com/office/powerpoint/2010/main" val="3939299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734C8-CB53-9210-13B5-D0F9B0E20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1D202-2A9F-D23C-1562-405C1C3183CB}"/>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CA06C88-B989-CC60-F5E7-9C35DF354EBA}"/>
              </a:ext>
            </a:extLst>
          </p:cNvPr>
          <p:cNvSpPr>
            <a:spLocks noGrp="1"/>
          </p:cNvSpPr>
          <p:nvPr>
            <p:ph type="body" idx="1"/>
          </p:nvPr>
        </p:nvSpPr>
        <p:spPr/>
        <p:txBody>
          <a:bodyPr/>
          <a:lstStyle/>
          <a:p>
            <a:r>
              <a:t>[6:50–7:00] One identity, from kerb to gate. Move travellers faster, smarter and more securely, at scale. Thank you; happy to take questions.</a:t>
            </a:r>
          </a:p>
        </p:txBody>
      </p:sp>
      <p:sp>
        <p:nvSpPr>
          <p:cNvPr id="4" name="Slide Number Placeholder 3">
            <a:extLst>
              <a:ext uri="{FF2B5EF4-FFF2-40B4-BE49-F238E27FC236}">
                <a16:creationId xmlns:a16="http://schemas.microsoft.com/office/drawing/2014/main" id="{CBE847BB-5E6C-CE00-B131-48BC67337A9B}"/>
              </a:ext>
            </a:extLst>
          </p:cNvPr>
          <p:cNvSpPr>
            <a:spLocks noGrp="1"/>
          </p:cNvSpPr>
          <p:nvPr>
            <p:ph type="sldNum" sz="quarter" idx="5"/>
          </p:nvPr>
        </p:nvSpPr>
        <p:spPr/>
        <p:txBody>
          <a:bodyPr/>
          <a:lstStyle/>
          <a:p>
            <a:fld id="{75489B62-ABBA-47E3-9D4E-598A69D0A2FE}" type="slidenum">
              <a:rPr lang="en-US" smtClean="0"/>
              <a:t>10</a:t>
            </a:fld>
            <a:endParaRPr lang="en-US"/>
          </a:p>
        </p:txBody>
      </p:sp>
    </p:spTree>
    <p:extLst>
      <p:ext uri="{BB962C8B-B14F-4D97-AF65-F5344CB8AC3E}">
        <p14:creationId xmlns:p14="http://schemas.microsoft.com/office/powerpoint/2010/main" val="1664210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D697-F0BA-7320-FDAC-67702E4E3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EA8A6-50B4-9AC8-174C-D9DCDFA14E0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D3E0A2A-E67A-5F5B-5E83-5A3E76C1D1C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0C4075A-D705-22C0-C0FA-36E3B45BBC4F}"/>
              </a:ext>
            </a:extLst>
          </p:cNvPr>
          <p:cNvSpPr>
            <a:spLocks noGrp="1"/>
          </p:cNvSpPr>
          <p:nvPr>
            <p:ph type="sldNum" sz="quarter" idx="5"/>
          </p:nvPr>
        </p:nvSpPr>
        <p:spPr/>
        <p:txBody>
          <a:bodyPr/>
          <a:lstStyle/>
          <a:p>
            <a:fld id="{75489B62-ABBA-47E3-9D4E-598A69D0A2FE}" type="slidenum">
              <a:rPr lang="en-US" smtClean="0"/>
              <a:t>11</a:t>
            </a:fld>
            <a:endParaRPr lang="en-US"/>
          </a:p>
        </p:txBody>
      </p:sp>
    </p:spTree>
    <p:extLst>
      <p:ext uri="{BB962C8B-B14F-4D97-AF65-F5344CB8AC3E}">
        <p14:creationId xmlns:p14="http://schemas.microsoft.com/office/powerpoint/2010/main" val="3828019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691BD-457F-CB73-C3EE-C97CACF16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DAB63-3DD7-7226-B428-EC17C116575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52FEF885-6FEF-E0DC-4719-B4530E320CDB}"/>
              </a:ext>
            </a:extLst>
          </p:cNvPr>
          <p:cNvSpPr>
            <a:spLocks noGrp="1"/>
          </p:cNvSpPr>
          <p:nvPr>
            <p:ph type="body" idx="1"/>
          </p:nvPr>
        </p:nvSpPr>
        <p:spPr/>
        <p:txBody>
          <a:bodyPr/>
          <a:lstStyle/>
          <a:p>
            <a:r>
              <a:rPr lang="en-US" dirty="0"/>
              <a:t>Middle east &amp; SEA</a:t>
            </a:r>
          </a:p>
        </p:txBody>
      </p:sp>
      <p:sp>
        <p:nvSpPr>
          <p:cNvPr id="4" name="Slide Number Placeholder 3">
            <a:extLst>
              <a:ext uri="{FF2B5EF4-FFF2-40B4-BE49-F238E27FC236}">
                <a16:creationId xmlns:a16="http://schemas.microsoft.com/office/drawing/2014/main" id="{9B532881-1272-E265-217E-48E99123DB70}"/>
              </a:ext>
            </a:extLst>
          </p:cNvPr>
          <p:cNvSpPr>
            <a:spLocks noGrp="1"/>
          </p:cNvSpPr>
          <p:nvPr>
            <p:ph type="sldNum" sz="quarter" idx="5"/>
          </p:nvPr>
        </p:nvSpPr>
        <p:spPr/>
        <p:txBody>
          <a:bodyPr/>
          <a:lstStyle/>
          <a:p>
            <a:fld id="{6B03AB48-88C9-410C-89FD-FA6EC4AE6944}" type="slidenum">
              <a:rPr lang="en-SG" smtClean="0"/>
              <a:t>12</a:t>
            </a:fld>
            <a:endParaRPr lang="en-SG"/>
          </a:p>
        </p:txBody>
      </p:sp>
    </p:spTree>
    <p:extLst>
      <p:ext uri="{BB962C8B-B14F-4D97-AF65-F5344CB8AC3E}">
        <p14:creationId xmlns:p14="http://schemas.microsoft.com/office/powerpoint/2010/main" val="1653453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F31D4-E822-B6D6-608D-882B987BF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9F97C-ED2C-BEF1-EA83-5251E0B1C9E4}"/>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9906F1B-6718-F3D0-4483-1BE84932BC04}"/>
              </a:ext>
            </a:extLst>
          </p:cNvPr>
          <p:cNvSpPr>
            <a:spLocks noGrp="1"/>
          </p:cNvSpPr>
          <p:nvPr>
            <p:ph type="body" idx="1"/>
          </p:nvPr>
        </p:nvSpPr>
        <p:spPr/>
        <p:txBody>
          <a:bodyPr/>
          <a:lstStyle/>
          <a:p>
            <a:r>
              <a:rPr lang="en-US" dirty="0"/>
              <a:t>Middle east &amp; SEA</a:t>
            </a:r>
          </a:p>
        </p:txBody>
      </p:sp>
      <p:sp>
        <p:nvSpPr>
          <p:cNvPr id="4" name="Slide Number Placeholder 3">
            <a:extLst>
              <a:ext uri="{FF2B5EF4-FFF2-40B4-BE49-F238E27FC236}">
                <a16:creationId xmlns:a16="http://schemas.microsoft.com/office/drawing/2014/main" id="{226FE2E6-147D-94E2-C316-D1168ABFCADD}"/>
              </a:ext>
            </a:extLst>
          </p:cNvPr>
          <p:cNvSpPr>
            <a:spLocks noGrp="1"/>
          </p:cNvSpPr>
          <p:nvPr>
            <p:ph type="sldNum" sz="quarter" idx="5"/>
          </p:nvPr>
        </p:nvSpPr>
        <p:spPr/>
        <p:txBody>
          <a:bodyPr/>
          <a:lstStyle/>
          <a:p>
            <a:fld id="{6B03AB48-88C9-410C-89FD-FA6EC4AE6944}" type="slidenum">
              <a:rPr lang="en-SG" smtClean="0"/>
              <a:t>13</a:t>
            </a:fld>
            <a:endParaRPr lang="en-SG"/>
          </a:p>
        </p:txBody>
      </p:sp>
    </p:spTree>
    <p:extLst>
      <p:ext uri="{BB962C8B-B14F-4D97-AF65-F5344CB8AC3E}">
        <p14:creationId xmlns:p14="http://schemas.microsoft.com/office/powerpoint/2010/main" val="267087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ED262-D80E-773D-05BA-02A32A9AC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F5DBD-91A6-9AC5-F6C3-465BE3D60F6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5AC2340-6B8C-9468-0629-15C77B6D3196}"/>
              </a:ext>
            </a:extLst>
          </p:cNvPr>
          <p:cNvSpPr>
            <a:spLocks noGrp="1"/>
          </p:cNvSpPr>
          <p:nvPr>
            <p:ph type="body" idx="1"/>
          </p:nvPr>
        </p:nvSpPr>
        <p:spPr/>
        <p:txBody>
          <a:bodyPr/>
          <a:lstStyle/>
          <a:p>
            <a:endParaRPr lang="en-SG" dirty="0">
              <a:ea typeface="Calibri"/>
              <a:cs typeface="Calibri"/>
            </a:endParaRPr>
          </a:p>
        </p:txBody>
      </p:sp>
      <p:sp>
        <p:nvSpPr>
          <p:cNvPr id="4" name="Slide Number Placeholder 3">
            <a:extLst>
              <a:ext uri="{FF2B5EF4-FFF2-40B4-BE49-F238E27FC236}">
                <a16:creationId xmlns:a16="http://schemas.microsoft.com/office/drawing/2014/main" id="{50FD72FF-6733-2B2B-5494-A89DE813051E}"/>
              </a:ext>
            </a:extLst>
          </p:cNvPr>
          <p:cNvSpPr>
            <a:spLocks noGrp="1"/>
          </p:cNvSpPr>
          <p:nvPr>
            <p:ph type="sldNum" sz="quarter" idx="5"/>
          </p:nvPr>
        </p:nvSpPr>
        <p:spPr/>
        <p:txBody>
          <a:bodyPr/>
          <a:lstStyle/>
          <a:p>
            <a:fld id="{6B03AB48-88C9-410C-89FD-FA6EC4AE6944}" type="slidenum">
              <a:rPr lang="en-SG" smtClean="0"/>
              <a:t>14</a:t>
            </a:fld>
            <a:endParaRPr lang="en-SG"/>
          </a:p>
        </p:txBody>
      </p:sp>
    </p:spTree>
    <p:extLst>
      <p:ext uri="{BB962C8B-B14F-4D97-AF65-F5344CB8AC3E}">
        <p14:creationId xmlns:p14="http://schemas.microsoft.com/office/powerpoint/2010/main" val="2059069192"/>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[4:00–4:35] What changes for each stakeholder?</a:t>
            </a:r>
          </a:p>
          <a:p>
            <a:r>
              <a:t>Travellers: zero stops; our target is kerb to gate in 8 to 11 minutes. A faster, frictionless, passport-free journey.</a:t>
            </a:r>
          </a:p>
          <a:p>
            <a:r>
              <a:t>Airports and airlines: all four identity touchpoints automated, so throughput grows without added manpower, with less human error.</a:t>
            </a:r>
          </a:p>
          <a:p>
            <a:r>
              <a:t>Immigration and security: one view of every lane, clearance and incident, and officers focused on exceptions. That is the ROI: officer hours and capacity, without new terminal space.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[1:45–2:45] So how does it work? Follow the numbers.</a:t>
            </a:r>
          </a:p>
          <a:p>
            <a:r>
              <a:t>One. Before travel, the traveller enrols once in the FastPass app: a passport scan and a selfie. The credential stays encrypted on the phone.</a:t>
            </a:r>
          </a:p>
          <a:p>
            <a:r>
              <a:t>Two. At immigration, the lane pairs with the phone by Bluetooth as they walk up, the camera matches the face to the phone without stopping, and the status TV shows a green Cleared.</a:t>
            </a:r>
          </a:p>
          <a:p>
            <a:r>
              <a:t>Three. Before screening, the Nova Plus reader confirms it is the same person, and AI scanning flags threats in the bags.</a:t>
            </a:r>
          </a:p>
          <a:p>
            <a:r>
              <a:t>Four. At the gate, the boarding kiosk clears them by face. No passport, no boarding pass.</a:t>
            </a:r>
          </a:p>
          <a:p>
            <a:r>
              <a:t>Five. Behind every step, AGIL Secure ISMP sees the whole journey. All components are integrated to support whole-of-airport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79B19-6391-4F86-3E0B-0DBBDE44C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F2292-FC49-B4DE-0E6C-1B54C0F1C95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ED97472B-ECF0-9365-9EF2-F026CBD0A6F8}"/>
              </a:ext>
            </a:extLst>
          </p:cNvPr>
          <p:cNvSpPr>
            <a:spLocks noGrp="1"/>
          </p:cNvSpPr>
          <p:nvPr>
            <p:ph type="body" idx="1"/>
          </p:nvPr>
        </p:nvSpPr>
        <p:spPr/>
        <p:txBody>
          <a:bodyPr/>
          <a:lstStyle/>
          <a:p>
            <a:r>
              <a:rPr lang="en-US" dirty="0"/>
              <a:t>Middle east &amp; SEA</a:t>
            </a:r>
          </a:p>
        </p:txBody>
      </p:sp>
      <p:sp>
        <p:nvSpPr>
          <p:cNvPr id="4" name="Slide Number Placeholder 3">
            <a:extLst>
              <a:ext uri="{FF2B5EF4-FFF2-40B4-BE49-F238E27FC236}">
                <a16:creationId xmlns:a16="http://schemas.microsoft.com/office/drawing/2014/main" id="{C96B0E93-20DE-260C-3C3C-B6BB1352265A}"/>
              </a:ext>
            </a:extLst>
          </p:cNvPr>
          <p:cNvSpPr>
            <a:spLocks noGrp="1"/>
          </p:cNvSpPr>
          <p:nvPr>
            <p:ph type="sldNum" sz="quarter" idx="5"/>
          </p:nvPr>
        </p:nvSpPr>
        <p:spPr/>
        <p:txBody>
          <a:bodyPr/>
          <a:lstStyle/>
          <a:p>
            <a:fld id="{6B03AB48-88C9-410C-89FD-FA6EC4AE6944}" type="slidenum">
              <a:rPr lang="en-SG" smtClean="0"/>
              <a:t>17</a:t>
            </a:fld>
            <a:endParaRPr lang="en-SG"/>
          </a:p>
        </p:txBody>
      </p:sp>
    </p:spTree>
    <p:extLst>
      <p:ext uri="{BB962C8B-B14F-4D97-AF65-F5344CB8AC3E}">
        <p14:creationId xmlns:p14="http://schemas.microsoft.com/office/powerpoint/2010/main" val="2316603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399BD-BB82-7C73-7C56-0E5116EF0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E1BCC-704D-701B-B3B7-DFAC953D3F9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9779420-F483-ABBF-CAA3-DDC0D6B6A1F7}"/>
              </a:ext>
            </a:extLst>
          </p:cNvPr>
          <p:cNvSpPr>
            <a:spLocks noGrp="1"/>
          </p:cNvSpPr>
          <p:nvPr>
            <p:ph type="body" idx="1"/>
          </p:nvPr>
        </p:nvSpPr>
        <p:spPr/>
        <p:txBody>
          <a:bodyPr/>
          <a:lstStyle/>
          <a:p>
            <a:r>
              <a:rPr lang="en-US" dirty="0"/>
              <a:t>Middle east &amp; SEA</a:t>
            </a:r>
          </a:p>
        </p:txBody>
      </p:sp>
      <p:sp>
        <p:nvSpPr>
          <p:cNvPr id="4" name="Slide Number Placeholder 3">
            <a:extLst>
              <a:ext uri="{FF2B5EF4-FFF2-40B4-BE49-F238E27FC236}">
                <a16:creationId xmlns:a16="http://schemas.microsoft.com/office/drawing/2014/main" id="{FB6587A8-A8D1-0A8C-C075-D102F34F3D1E}"/>
              </a:ext>
            </a:extLst>
          </p:cNvPr>
          <p:cNvSpPr>
            <a:spLocks noGrp="1"/>
          </p:cNvSpPr>
          <p:nvPr>
            <p:ph type="sldNum" sz="quarter" idx="5"/>
          </p:nvPr>
        </p:nvSpPr>
        <p:spPr/>
        <p:txBody>
          <a:bodyPr/>
          <a:lstStyle/>
          <a:p>
            <a:fld id="{6B03AB48-88C9-410C-89FD-FA6EC4AE6944}" type="slidenum">
              <a:rPr lang="en-SG" smtClean="0"/>
              <a:t>18</a:t>
            </a:fld>
            <a:endParaRPr lang="en-SG"/>
          </a:p>
        </p:txBody>
      </p:sp>
    </p:spTree>
    <p:extLst>
      <p:ext uri="{BB962C8B-B14F-4D97-AF65-F5344CB8AC3E}">
        <p14:creationId xmlns:p14="http://schemas.microsoft.com/office/powerpoint/2010/main" val="4098355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14644-1E0E-5ABB-DD79-D728B8934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94B47-6224-A07B-426C-53798D800A2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695741E1-0D39-0F30-1858-03ED4C97AA3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A951E48E-A76E-6356-F779-6E48B67C0066}"/>
              </a:ext>
            </a:extLst>
          </p:cNvPr>
          <p:cNvSpPr>
            <a:spLocks noGrp="1"/>
          </p:cNvSpPr>
          <p:nvPr>
            <p:ph type="sldNum" sz="quarter" idx="5"/>
          </p:nvPr>
        </p:nvSpPr>
        <p:spPr/>
        <p:txBody>
          <a:bodyPr/>
          <a:lstStyle/>
          <a:p>
            <a:fld id="{75489B62-ABBA-47E3-9D4E-598A69D0A2FE}" type="slidenum">
              <a:rPr lang="en-US" smtClean="0"/>
              <a:t>19</a:t>
            </a:fld>
            <a:endParaRPr lang="en-US"/>
          </a:p>
        </p:txBody>
      </p:sp>
    </p:spTree>
    <p:extLst>
      <p:ext uri="{BB962C8B-B14F-4D97-AF65-F5344CB8AC3E}">
        <p14:creationId xmlns:p14="http://schemas.microsoft.com/office/powerpoint/2010/main" val="3835225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9042-8391-5184-923B-8C75EF902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1AB31-53FB-D6E5-ED0A-566D7730B3D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B3CE6A0-DD51-8C8A-8B86-502DE79CFA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191582-6D79-EC1E-AEF2-6387C37522F4}"/>
              </a:ext>
            </a:extLst>
          </p:cNvPr>
          <p:cNvSpPr>
            <a:spLocks noGrp="1"/>
          </p:cNvSpPr>
          <p:nvPr>
            <p:ph type="sldNum" sz="quarter" idx="5"/>
          </p:nvPr>
        </p:nvSpPr>
        <p:spPr/>
        <p:txBody>
          <a:bodyPr/>
          <a:lstStyle/>
          <a:p>
            <a:fld id="{6B03AB48-88C9-410C-89FD-FA6EC4AE6944}" type="slidenum">
              <a:rPr lang="en-SG" smtClean="0"/>
              <a:t>20</a:t>
            </a:fld>
            <a:endParaRPr lang="en-SG"/>
          </a:p>
        </p:txBody>
      </p:sp>
    </p:spTree>
    <p:extLst>
      <p:ext uri="{BB962C8B-B14F-4D97-AF65-F5344CB8AC3E}">
        <p14:creationId xmlns:p14="http://schemas.microsoft.com/office/powerpoint/2010/main" val="6054675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BC1B-262F-5C96-BFB9-B23DBBD84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5E5B5-7439-9E04-1921-CD3F6D10D40E}"/>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C43FF887-AD53-BDBE-230D-D5D71D753935}"/>
              </a:ext>
            </a:extLst>
          </p:cNvPr>
          <p:cNvSpPr>
            <a:spLocks noGrp="1"/>
          </p:cNvSpPr>
          <p:nvPr>
            <p:ph type="body" idx="1"/>
          </p:nvPr>
        </p:nvSpPr>
        <p:spPr/>
        <p:txBody>
          <a:bodyPr/>
          <a:lstStyle/>
          <a:p>
            <a:endParaRPr lang="en-SG">
              <a:ea typeface="Calibri"/>
              <a:cs typeface="Calibri"/>
            </a:endParaRPr>
          </a:p>
        </p:txBody>
      </p:sp>
      <p:sp>
        <p:nvSpPr>
          <p:cNvPr id="4" name="Slide Number Placeholder 3">
            <a:extLst>
              <a:ext uri="{FF2B5EF4-FFF2-40B4-BE49-F238E27FC236}">
                <a16:creationId xmlns:a16="http://schemas.microsoft.com/office/drawing/2014/main" id="{4F78DF2F-DF23-3767-C720-4B39D46F482A}"/>
              </a:ext>
            </a:extLst>
          </p:cNvPr>
          <p:cNvSpPr>
            <a:spLocks noGrp="1"/>
          </p:cNvSpPr>
          <p:nvPr>
            <p:ph type="sldNum" sz="quarter" idx="5"/>
          </p:nvPr>
        </p:nvSpPr>
        <p:spPr/>
        <p:txBody>
          <a:bodyPr/>
          <a:lstStyle/>
          <a:p>
            <a:fld id="{6B03AB48-88C9-410C-89FD-FA6EC4AE6944}" type="slidenum">
              <a:rPr lang="en-SG" smtClean="0"/>
              <a:t>21</a:t>
            </a:fld>
            <a:endParaRPr lang="en-SG"/>
          </a:p>
        </p:txBody>
      </p:sp>
    </p:spTree>
    <p:extLst>
      <p:ext uri="{BB962C8B-B14F-4D97-AF65-F5344CB8AC3E}">
        <p14:creationId xmlns:p14="http://schemas.microsoft.com/office/powerpoint/2010/main" val="2885874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8E8C4-6199-54E6-EAE7-89D40DDE3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74C16-A66C-CE3C-641B-091DF43D29AF}"/>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945B22D-2E01-7CA3-33F3-35050C3EE2AB}"/>
              </a:ext>
            </a:extLst>
          </p:cNvPr>
          <p:cNvSpPr>
            <a:spLocks noGrp="1"/>
          </p:cNvSpPr>
          <p:nvPr>
            <p:ph type="body" idx="1"/>
          </p:nvPr>
        </p:nvSpPr>
        <p:spPr/>
        <p:txBody>
          <a:bodyPr/>
          <a:lstStyle/>
          <a:p>
            <a:endParaRPr lang="en-SG" dirty="0">
              <a:ea typeface="Calibri"/>
              <a:cs typeface="Calibri"/>
            </a:endParaRPr>
          </a:p>
        </p:txBody>
      </p:sp>
      <p:sp>
        <p:nvSpPr>
          <p:cNvPr id="4" name="Slide Number Placeholder 3">
            <a:extLst>
              <a:ext uri="{FF2B5EF4-FFF2-40B4-BE49-F238E27FC236}">
                <a16:creationId xmlns:a16="http://schemas.microsoft.com/office/drawing/2014/main" id="{7B1DDA55-217A-5F63-28A1-0C51FF97E4CB}"/>
              </a:ext>
            </a:extLst>
          </p:cNvPr>
          <p:cNvSpPr>
            <a:spLocks noGrp="1"/>
          </p:cNvSpPr>
          <p:nvPr>
            <p:ph type="sldNum" sz="quarter" idx="5"/>
          </p:nvPr>
        </p:nvSpPr>
        <p:spPr/>
        <p:txBody>
          <a:bodyPr/>
          <a:lstStyle/>
          <a:p>
            <a:fld id="{6B03AB48-88C9-410C-89FD-FA6EC4AE6944}" type="slidenum">
              <a:rPr lang="en-SG" smtClean="0"/>
              <a:t>22</a:t>
            </a:fld>
            <a:endParaRPr lang="en-SG"/>
          </a:p>
        </p:txBody>
      </p:sp>
    </p:spTree>
    <p:extLst>
      <p:ext uri="{BB962C8B-B14F-4D97-AF65-F5344CB8AC3E}">
        <p14:creationId xmlns:p14="http://schemas.microsoft.com/office/powerpoint/2010/main" val="3317679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9A175-B297-BAAA-4F7E-AE01A322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6436B-B68A-4305-37F4-EF48BFF78B99}"/>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5C04819-B515-E8D3-094F-78EA214BC2C8}"/>
              </a:ext>
            </a:extLst>
          </p:cNvPr>
          <p:cNvSpPr>
            <a:spLocks noGrp="1"/>
          </p:cNvSpPr>
          <p:nvPr>
            <p:ph type="body" idx="1"/>
          </p:nvPr>
        </p:nvSpPr>
        <p:spPr/>
        <p:txBody>
          <a:bodyPr/>
          <a:lstStyle/>
          <a:p>
            <a:endParaRPr lang="en-SG">
              <a:ea typeface="Calibri"/>
              <a:cs typeface="Calibri"/>
            </a:endParaRPr>
          </a:p>
        </p:txBody>
      </p:sp>
      <p:sp>
        <p:nvSpPr>
          <p:cNvPr id="4" name="Slide Number Placeholder 3">
            <a:extLst>
              <a:ext uri="{FF2B5EF4-FFF2-40B4-BE49-F238E27FC236}">
                <a16:creationId xmlns:a16="http://schemas.microsoft.com/office/drawing/2014/main" id="{7FA630D1-1859-7180-3D9D-5F481DB5CD7B}"/>
              </a:ext>
            </a:extLst>
          </p:cNvPr>
          <p:cNvSpPr>
            <a:spLocks noGrp="1"/>
          </p:cNvSpPr>
          <p:nvPr>
            <p:ph type="sldNum" sz="quarter" idx="5"/>
          </p:nvPr>
        </p:nvSpPr>
        <p:spPr/>
        <p:txBody>
          <a:bodyPr/>
          <a:lstStyle/>
          <a:p>
            <a:fld id="{6B03AB48-88C9-410C-89FD-FA6EC4AE6944}" type="slidenum">
              <a:rPr lang="en-SG" smtClean="0"/>
              <a:t>23</a:t>
            </a:fld>
            <a:endParaRPr lang="en-SG"/>
          </a:p>
        </p:txBody>
      </p:sp>
    </p:spTree>
    <p:extLst>
      <p:ext uri="{BB962C8B-B14F-4D97-AF65-F5344CB8AC3E}">
        <p14:creationId xmlns:p14="http://schemas.microsoft.com/office/powerpoint/2010/main" val="3201769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29C6-83AF-8EAA-F094-75F0DD39D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F591E-3BCC-418A-E74C-66065E1D2CA5}"/>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750E94F-5023-5240-4D56-439AAF0F8239}"/>
              </a:ext>
            </a:extLst>
          </p:cNvPr>
          <p:cNvSpPr>
            <a:spLocks noGrp="1"/>
          </p:cNvSpPr>
          <p:nvPr>
            <p:ph type="body" idx="1"/>
          </p:nvPr>
        </p:nvSpPr>
        <p:spPr/>
        <p:txBody>
          <a:bodyPr/>
          <a:lstStyle/>
          <a:p>
            <a:endParaRPr lang="en-SG">
              <a:ea typeface="Calibri"/>
              <a:cs typeface="Calibri"/>
            </a:endParaRPr>
          </a:p>
        </p:txBody>
      </p:sp>
      <p:sp>
        <p:nvSpPr>
          <p:cNvPr id="4" name="Slide Number Placeholder 3">
            <a:extLst>
              <a:ext uri="{FF2B5EF4-FFF2-40B4-BE49-F238E27FC236}">
                <a16:creationId xmlns:a16="http://schemas.microsoft.com/office/drawing/2014/main" id="{FBA4DF49-5B42-6806-D0AD-F0CDBC81EACC}"/>
              </a:ext>
            </a:extLst>
          </p:cNvPr>
          <p:cNvSpPr>
            <a:spLocks noGrp="1"/>
          </p:cNvSpPr>
          <p:nvPr>
            <p:ph type="sldNum" sz="quarter" idx="5"/>
          </p:nvPr>
        </p:nvSpPr>
        <p:spPr/>
        <p:txBody>
          <a:bodyPr/>
          <a:lstStyle/>
          <a:p>
            <a:fld id="{6B03AB48-88C9-410C-89FD-FA6EC4AE6944}" type="slidenum">
              <a:rPr lang="en-SG" smtClean="0"/>
              <a:t>24</a:t>
            </a:fld>
            <a:endParaRPr lang="en-SG"/>
          </a:p>
        </p:txBody>
      </p:sp>
    </p:spTree>
    <p:extLst>
      <p:ext uri="{BB962C8B-B14F-4D97-AF65-F5344CB8AC3E}">
        <p14:creationId xmlns:p14="http://schemas.microsoft.com/office/powerpoint/2010/main" val="827356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9DD2B-E90B-152A-8BA2-8EB801A4E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4A721-4A38-4403-C094-B337DF13F9FF}"/>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997D0CC-D799-B873-FFC3-AA9EEF4865D0}"/>
              </a:ext>
            </a:extLst>
          </p:cNvPr>
          <p:cNvSpPr>
            <a:spLocks noGrp="1"/>
          </p:cNvSpPr>
          <p:nvPr>
            <p:ph type="body" idx="1"/>
          </p:nvPr>
        </p:nvSpPr>
        <p:spPr/>
        <p:txBody>
          <a:bodyPr/>
          <a:lstStyle/>
          <a:p>
            <a:endParaRPr lang="en-SG">
              <a:ea typeface="Calibri"/>
              <a:cs typeface="Calibri"/>
            </a:endParaRPr>
          </a:p>
        </p:txBody>
      </p:sp>
      <p:sp>
        <p:nvSpPr>
          <p:cNvPr id="4" name="Slide Number Placeholder 3">
            <a:extLst>
              <a:ext uri="{FF2B5EF4-FFF2-40B4-BE49-F238E27FC236}">
                <a16:creationId xmlns:a16="http://schemas.microsoft.com/office/drawing/2014/main" id="{963101AA-32B7-B0CC-7ED5-3677CB4012D9}"/>
              </a:ext>
            </a:extLst>
          </p:cNvPr>
          <p:cNvSpPr>
            <a:spLocks noGrp="1"/>
          </p:cNvSpPr>
          <p:nvPr>
            <p:ph type="sldNum" sz="quarter" idx="5"/>
          </p:nvPr>
        </p:nvSpPr>
        <p:spPr/>
        <p:txBody>
          <a:bodyPr/>
          <a:lstStyle/>
          <a:p>
            <a:fld id="{6B03AB48-88C9-410C-89FD-FA6EC4AE6944}" type="slidenum">
              <a:rPr lang="en-SG" smtClean="0"/>
              <a:t>25</a:t>
            </a:fld>
            <a:endParaRPr lang="en-SG"/>
          </a:p>
        </p:txBody>
      </p:sp>
    </p:spTree>
    <p:extLst>
      <p:ext uri="{BB962C8B-B14F-4D97-AF65-F5344CB8AC3E}">
        <p14:creationId xmlns:p14="http://schemas.microsoft.com/office/powerpoint/2010/main" val="2280017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69637" y="373412"/>
            <a:ext cx="3077240" cy="924165"/>
          </a:xfrm>
          <a:prstGeom prst="rect">
            <a:avLst/>
          </a:prstGeom>
        </p:spPr>
      </p:pic>
      <p:sp>
        <p:nvSpPr>
          <p:cNvPr id="4" name="Title 1"/>
          <p:cNvSpPr>
            <a:spLocks noGrp="1"/>
          </p:cNvSpPr>
          <p:nvPr>
            <p:ph type="ctrTitle" hasCustomPrompt="1"/>
          </p:nvPr>
        </p:nvSpPr>
        <p:spPr>
          <a:xfrm>
            <a:off x="619759" y="2666273"/>
            <a:ext cx="9482183" cy="1354217"/>
          </a:xfrm>
        </p:spPr>
        <p:txBody>
          <a:bodyPr wrap="square" anchor="t" anchorCtr="0">
            <a:spAutoFit/>
          </a:bodyPr>
          <a:lstStyle>
            <a:lvl1pPr algn="l">
              <a:lnSpc>
                <a:spcPct val="100000"/>
              </a:lnSpc>
              <a:defRPr sz="4000" baseline="0">
                <a:solidFill>
                  <a:schemeClr val="bg1"/>
                </a:solidFill>
              </a:defRPr>
            </a:lvl1pPr>
          </a:lstStyle>
          <a:p>
            <a:r>
              <a:rPr lang="en-US"/>
              <a:t>This is over slide option 1, </a:t>
            </a:r>
            <a:br>
              <a:rPr lang="en-US"/>
            </a:br>
            <a:r>
              <a:rPr lang="en-US"/>
              <a:t>title font is Arial Black in 30pt </a:t>
            </a:r>
          </a:p>
        </p:txBody>
      </p:sp>
      <p:sp>
        <p:nvSpPr>
          <p:cNvPr id="5" name="Subtitle 2"/>
          <p:cNvSpPr>
            <a:spLocks noGrp="1"/>
          </p:cNvSpPr>
          <p:nvPr>
            <p:ph type="subTitle" idx="1" hasCustomPrompt="1"/>
          </p:nvPr>
        </p:nvSpPr>
        <p:spPr>
          <a:xfrm>
            <a:off x="619760" y="4067747"/>
            <a:ext cx="9699897" cy="461665"/>
          </a:xfrm>
        </p:spPr>
        <p:txBody>
          <a:bodyPr wrap="square">
            <a:spAutoFit/>
          </a:bodyPr>
          <a:lstStyle>
            <a:lvl1pPr marL="0" indent="0" algn="l">
              <a:lnSpc>
                <a:spcPct val="100000"/>
              </a:lnSpc>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 date or presenter’s name, use font Arial in 18pt</a:t>
            </a:r>
          </a:p>
        </p:txBody>
      </p:sp>
      <p:sp>
        <p:nvSpPr>
          <p:cNvPr id="14" name="Text Placeholder 13"/>
          <p:cNvSpPr>
            <a:spLocks noGrp="1"/>
          </p:cNvSpPr>
          <p:nvPr>
            <p:ph type="body" sz="quarter" idx="10" hasCustomPrompt="1"/>
          </p:nvPr>
        </p:nvSpPr>
        <p:spPr>
          <a:xfrm>
            <a:off x="619760" y="6248400"/>
            <a:ext cx="7339875" cy="276935"/>
          </a:xfrm>
        </p:spPr>
        <p:txBody>
          <a:bodyPr wrap="square">
            <a:spAutoFit/>
          </a:bodyPr>
          <a:lstStyle>
            <a:lvl1pPr marL="0" indent="0">
              <a:buNone/>
              <a:defRPr sz="1333">
                <a:solidFill>
                  <a:schemeClr val="bg1"/>
                </a:solidFill>
              </a:defRPr>
            </a:lvl1pPr>
          </a:lstStyle>
          <a:p>
            <a:pPr lvl="0"/>
            <a:r>
              <a:rPr lang="en-US"/>
              <a:t>Remember to classify your document – use font Arial in 10pt </a:t>
            </a:r>
          </a:p>
        </p:txBody>
      </p:sp>
    </p:spTree>
    <p:extLst>
      <p:ext uri="{BB962C8B-B14F-4D97-AF65-F5344CB8AC3E}">
        <p14:creationId xmlns:p14="http://schemas.microsoft.com/office/powerpoint/2010/main" val="3227731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40.gif"/><Relationship Id="rId6" Type="http://schemas.openxmlformats.org/officeDocument/2006/relationships/image" Target="../media/image25.png"/><Relationship Id="rId7" Type="http://schemas.openxmlformats.org/officeDocument/2006/relationships/image" Target="../media/image32.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17.png"/><Relationship Id="rId10" Type="http://schemas.openxmlformats.org/officeDocument/2006/relationships/image" Target="../media/image25.png"/><Relationship Id="rId11" Type="http://schemas.openxmlformats.org/officeDocument/2006/relationships/image" Target="../media/image37.png"/><Relationship Id="rId12" Type="http://schemas.openxmlformats.org/officeDocument/2006/relationships/image" Target="../media/image49.png"/><Relationship Id="rId13" Type="http://schemas.openxmlformats.org/officeDocument/2006/relationships/image" Target="../media/image50.png"/><Relationship Id="rId14" Type="http://schemas.openxmlformats.org/officeDocument/2006/relationships/image" Target="../media/image5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2.png"/><Relationship Id="rId6" Type="http://schemas.openxmlformats.org/officeDocument/2006/relationships/image" Target="../media/image43.png"/><Relationship Id="rId7" Type="http://schemas.openxmlformats.org/officeDocument/2006/relationships/image" Target="../media/image53.png"/><Relationship Id="rId8" Type="http://schemas.openxmlformats.org/officeDocument/2006/relationships/image" Target="../media/image11.png"/><Relationship Id="rId9" Type="http://schemas.openxmlformats.org/officeDocument/2006/relationships/image" Target="../media/image5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41.png"/><Relationship Id="rId8" Type="http://schemas.openxmlformats.org/officeDocument/2006/relationships/image" Target="../media/image52.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60.png"/><Relationship Id="rId6" Type="http://schemas.openxmlformats.org/officeDocument/2006/relationships/image" Target="../media/image25.png"/><Relationship Id="rId7" Type="http://schemas.openxmlformats.org/officeDocument/2006/relationships/image" Target="../media/image31.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jpe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71.png"/><Relationship Id="rId11" Type="http://schemas.openxmlformats.org/officeDocument/2006/relationships/image" Target="../media/image73.png"/><Relationship Id="rId12" Type="http://schemas.openxmlformats.org/officeDocument/2006/relationships/image" Target="../media/image8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73.png"/><Relationship Id="rId6" Type="http://schemas.openxmlformats.org/officeDocument/2006/relationships/image" Target="../media/image99.png"/><Relationship Id="rId7" Type="http://schemas.openxmlformats.org/officeDocument/2006/relationships/image" Target="../media/image1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image" Target="../media/image104.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52.png"/><Relationship Id="rId8" Type="http://schemas.openxmlformats.org/officeDocument/2006/relationships/image" Target="../media/image45.png"/><Relationship Id="rId9" Type="http://schemas.openxmlformats.org/officeDocument/2006/relationships/image" Target="../media/image10.png"/><Relationship Id="rId10" Type="http://schemas.openxmlformats.org/officeDocument/2006/relationships/image" Target="../media/image36.png"/><Relationship Id="rId11" Type="http://schemas.openxmlformats.org/officeDocument/2006/relationships/image" Target="../media/image43.png"/><Relationship Id="rId12" Type="http://schemas.openxmlformats.org/officeDocument/2006/relationships/image" Target="../media/image48.png"/><Relationship Id="rId13" Type="http://schemas.openxmlformats.org/officeDocument/2006/relationships/image" Target="../media/image44.png"/><Relationship Id="rId14" Type="http://schemas.openxmlformats.org/officeDocument/2006/relationships/image" Target="../media/image9.png"/><Relationship Id="rId15" Type="http://schemas.openxmlformats.org/officeDocument/2006/relationships/image" Target="../media/image32.png"/><Relationship Id="rId16"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hyperlink" Target="https://www.iata.org/en/iata-repository/publications/economic-reports/global-outlook-for-air-transport---december-2023---report/" TargetMode="External"/><Relationship Id="rId5" Type="http://schemas.openxmlformats.org/officeDocument/2006/relationships/hyperlink" Target="https://www.sita.aero/resources/surveys-reports/air-transport-it-insights-2025/airports/" TargetMode="External"/><Relationship Id="rId6" Type="http://schemas.openxmlformats.org/officeDocument/2006/relationships/hyperlink" Target="https://www.sita.aero/resources/surveys-reports/air-transport-it-insights-2024/" TargetMode="External"/><Relationship Id="rId7" Type="http://schemas.openxmlformats.org/officeDocument/2006/relationships/hyperlink" Target="https://www.marketsandmarkets.com/PressReleases/automated-border-control.asp" TargetMode="External"/><Relationship Id="rId8" Type="http://schemas.openxmlformats.org/officeDocument/2006/relationships/hyperlink" Target="https://www.marketsandmarkets.com/ResearchInsight/automated-border-control-market-size.asp" TargetMode="External"/><Relationship Id="rId9" Type="http://schemas.openxmlformats.org/officeDocument/2006/relationships/hyperlink" Target="https://centreforaviation.com/news/aci-world-forecasts-global-passenger-traffic-to-reach-99bn-in-2025-up-48-131372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42.png"/><Relationship Id="rId5" Type="http://schemas.openxmlformats.org/officeDocument/2006/relationships/image" Target="../media/image48.png"/><Relationship Id="rId6" Type="http://schemas.openxmlformats.org/officeDocument/2006/relationships/image" Target="../media/image25.png"/><Relationship Id="rId7" Type="http://schemas.openxmlformats.org/officeDocument/2006/relationships/image" Target="../media/image75.png"/><Relationship Id="rId8" Type="http://schemas.openxmlformats.org/officeDocument/2006/relationships/image" Target="../media/image35.png"/><Relationship Id="rId9"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76.png"/><Relationship Id="rId5" Type="http://schemas.openxmlformats.org/officeDocument/2006/relationships/image" Target="../media/image10.png"/><Relationship Id="rId6" Type="http://schemas.openxmlformats.org/officeDocument/2006/relationships/image" Target="../media/image50.png"/><Relationship Id="rId7" Type="http://schemas.openxmlformats.org/officeDocument/2006/relationships/image" Target="../media/image108.png"/><Relationship Id="rId8" Type="http://schemas.openxmlformats.org/officeDocument/2006/relationships/image" Target="../media/image54.png"/><Relationship Id="rId9"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90580-4DFE-58B0-7C06-EA4F7EE9B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4445B-A89E-C8DD-CF7C-23173FCB246A}"/>
              </a:ext>
            </a:extLst>
          </p:cNvPr>
          <p:cNvSpPr>
            <a:spLocks noGrp="1"/>
          </p:cNvSpPr>
          <p:nvPr>
            <p:ph type="ctrTitle"/>
          </p:nvPr>
        </p:nvSpPr>
        <p:spPr>
          <a:xfrm>
            <a:off x="623688" y="2093901"/>
            <a:ext cx="8039012" cy="584775"/>
          </a:xfrm>
        </p:spPr>
        <p:txBody>
          <a:bodyPr/>
          <a:lstStyle/>
          <a:p>
            <a:r>
              <a:rPr lang="en-US" sz="3200" dirty="0">
                <a:ea typeface="MS PGothic"/>
                <a:cs typeface="+mj-lt"/>
              </a:rPr>
              <a:t>InnoChamp 2026 | Product Category</a:t>
            </a:r>
            <a:endParaRPr lang="en-US" dirty="0"/>
          </a:p>
        </p:txBody>
      </p:sp>
      <p:sp>
        <p:nvSpPr>
          <p:cNvPr id="3" name="TextBox 2">
            <a:extLst>
              <a:ext uri="{FF2B5EF4-FFF2-40B4-BE49-F238E27FC236}">
                <a16:creationId xmlns:a16="http://schemas.microsoft.com/office/drawing/2014/main" id="{5F550B38-7EDA-6FCA-4822-EDFB05A26CE5}"/>
              </a:ext>
            </a:extLst>
          </p:cNvPr>
          <p:cNvSpPr txBox="1"/>
          <p:nvPr/>
        </p:nvSpPr>
        <p:spPr>
          <a:xfrm>
            <a:off x="623688" y="2758782"/>
            <a:ext cx="511874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dirty="0">
                <a:solidFill>
                  <a:schemeClr val="bg1">
                    <a:lumMod val="85000"/>
                  </a:schemeClr>
                </a:solidFill>
                <a:latin typeface="+mj-lt"/>
              </a:rPr>
              <a:t>AGIL® Secure FastPass</a:t>
            </a:r>
            <a:endParaRPr lang="en-US" sz="2800" dirty="0">
              <a:solidFill>
                <a:schemeClr val="bg1">
                  <a:lumMod val="85000"/>
                </a:schemeClr>
              </a:solidFill>
            </a:endParaRPr>
          </a:p>
        </p:txBody>
      </p:sp>
      <p:sp>
        <p:nvSpPr>
          <p:cNvPr id="8" name="TextBox 7">
            <a:extLst>
              <a:ext uri="{FF2B5EF4-FFF2-40B4-BE49-F238E27FC236}">
                <a16:creationId xmlns:a16="http://schemas.microsoft.com/office/drawing/2014/main" id="{A8F486DB-5707-1394-DE5A-A3ADBC2B43C4}"/>
              </a:ext>
            </a:extLst>
          </p:cNvPr>
          <p:cNvSpPr txBox="1"/>
          <p:nvPr/>
        </p:nvSpPr>
        <p:spPr>
          <a:xfrm>
            <a:off x="623688" y="5514450"/>
            <a:ext cx="3260123" cy="923330"/>
          </a:xfrm>
          <a:prstGeom prst="rect">
            <a:avLst/>
          </a:prstGeom>
          <a:noFill/>
        </p:spPr>
        <p:txBody>
          <a:bodyPr wrap="none" rtlCol="0">
            <a:spAutoFit/>
          </a:bodyPr>
          <a:lstStyle/>
          <a:p>
            <a:r>
              <a:rPr lang="en-SG" dirty="0">
                <a:solidFill>
                  <a:schemeClr val="bg1"/>
                </a:solidFill>
              </a:rPr>
              <a:t>Smart Security &amp; Automation,</a:t>
            </a:r>
          </a:p>
          <a:p>
            <a:r>
              <a:rPr lang="en-SG" dirty="0">
                <a:solidFill>
                  <a:schemeClr val="bg1"/>
                </a:solidFill>
              </a:rPr>
              <a:t>Smart Utilities &amp; Infrastructure,</a:t>
            </a:r>
          </a:p>
          <a:p>
            <a:r>
              <a:rPr lang="en-SG" dirty="0">
                <a:solidFill>
                  <a:schemeClr val="bg1"/>
                </a:solidFill>
              </a:rPr>
              <a:t>Urban Solutions</a:t>
            </a:r>
          </a:p>
        </p:txBody>
      </p:sp>
      <p:sp>
        <p:nvSpPr>
          <p:cNvPr id="3" name="TextBox 2">
            <a:extLst>
              <a:ext uri="{FF2B5EF4-FFF2-40B4-BE49-F238E27FC236}">
                <a16:creationId xmlns:a16="http://schemas.microsoft.com/office/drawing/2014/main" id="{5F550B38-7EDA-6FCA-4822-EDFB05A26CE5}"/>
              </a:ext>
            </a:extLst>
          </p:cNvPr>
          <p:cNvSpPr txBox="1"/>
          <p:nvPr/>
        </p:nvSpPr>
        <p:spPr>
          <a:xfrm>
            <a:off x="621792" y="3401568"/>
            <a:ext cx="8778240" cy="4114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0" i="0" dirty="0">
                <a:solidFill>
                  <a:schemeClr val="bg1">
                    <a:lumMod val="85000"/>
                  </a:schemeClr>
                </a:solidFill>
                <a:latin typeface="+mj-lt"/>
              </a:rPr>
              <a:t>Smart, secure, seamless airport journeys</a:t>
            </a:r>
            <a:endParaRPr lang="en-US" sz="2800" dirty="0">
              <a:solidFill>
                <a:schemeClr val="bg1">
                  <a:lumMod val="85000"/>
                </a:schemeClr>
              </a:solidFill>
            </a:endParaRPr>
          </a:p>
        </p:txBody>
      </p:sp>
      <p:sp>
        <p:nvSpPr>
          <p:cNvPr id="3" name="TextBox 2">
            <a:extLst>
              <a:ext uri="{FF2B5EF4-FFF2-40B4-BE49-F238E27FC236}">
                <a16:creationId xmlns:a16="http://schemas.microsoft.com/office/drawing/2014/main" id="{5F550B38-7EDA-6FCA-4822-EDFB05A26CE5}"/>
              </a:ext>
            </a:extLst>
          </p:cNvPr>
          <p:cNvSpPr txBox="1"/>
          <p:nvPr/>
        </p:nvSpPr>
        <p:spPr>
          <a:xfrm>
            <a:off x="621792" y="3858768"/>
            <a:ext cx="8778240" cy="7315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0" i="0" dirty="0">
                <a:solidFill>
                  <a:schemeClr val="bg1">
                    <a:lumMod val="85000"/>
                  </a:schemeClr>
                </a:solidFill>
                <a:latin typeface="+mj-lt"/>
              </a:rPr>
              <a:t>A mobile-first, biometric solution for fast, contactless and secure journeys, from kerb to gate</a:t>
            </a:r>
            <a:endParaRPr lang="en-US" sz="2800" dirty="0">
              <a:solidFill>
                <a:schemeClr val="bg1">
                  <a:lumMod val="85000"/>
                </a:schemeClr>
              </a:solidFill>
            </a:endParaRPr>
          </a:p>
        </p:txBody>
      </p:sp>
    </p:spTree>
    <p:extLst>
      <p:ext uri="{BB962C8B-B14F-4D97-AF65-F5344CB8AC3E}">
        <p14:creationId xmlns:p14="http://schemas.microsoft.com/office/powerpoint/2010/main" val="365468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73F26-8DCC-7974-B4CD-3C53F107EA56}"/>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1D506B18-803E-12CF-79FE-F9995BF782F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E4676011-4B03-3A3E-CCBF-AC1F42A1E752}"/>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F03D601A-8483-31F9-3556-55BE7DA0EA0F}"/>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68B66D4F-FD1E-FBF7-F1D8-F931D8BEECF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FB7FB867-26A9-AA6B-4EE3-949EBA6DDBA1}"/>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FE5C578C-DFFD-B003-915D-E14B73033554}"/>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2</a:t>
            </a:fld>
            <a:r>
              <a:rPr lang="en-US" sz="1200">
                <a:latin typeface="+mj-lt"/>
              </a:rPr>
              <a:t>   | </a:t>
            </a:r>
          </a:p>
        </p:txBody>
      </p:sp>
      <p:sp>
        <p:nvSpPr>
          <p:cNvPr id="11" name="Title 4">
            <a:extLst>
              <a:ext uri="{FF2B5EF4-FFF2-40B4-BE49-F238E27FC236}">
                <a16:creationId xmlns:a16="http://schemas.microsoft.com/office/drawing/2014/main" id="{68F4EED3-6DE2-FF26-01E9-16CAE15C2FAB}"/>
              </a:ext>
            </a:extLst>
          </p:cNvPr>
          <p:cNvSpPr txBox="1">
            <a:spLocks/>
          </p:cNvSpPr>
          <p:nvPr/>
        </p:nvSpPr>
        <p:spPr>
          <a:xfrm>
            <a:off x="295399" y="877944"/>
            <a:ext cx="10556103"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More passengers. More checks. Limited capacity.</a:t>
            </a:r>
          </a:p>
        </p:txBody>
      </p:sp>
      <p:sp>
        <p:nvSpPr>
          <p:cNvPr id="12" name="TextBox 25">
            <a:extLst>
              <a:ext uri="{FF2B5EF4-FFF2-40B4-BE49-F238E27FC236}">
                <a16:creationId xmlns:a16="http://schemas.microsoft.com/office/drawing/2014/main" id="{2F20133F-9398-2A9B-696B-C47DBA3A11A2}"/>
              </a:ext>
            </a:extLst>
          </p:cNvPr>
          <p:cNvSpPr txBox="1"/>
          <p:nvPr/>
        </p:nvSpPr>
        <p:spPr>
          <a:xfrm>
            <a:off x="343779" y="563652"/>
            <a:ext cx="1338700"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Market Needs</a:t>
            </a:r>
          </a:p>
        </p:txBody>
      </p:sp>
      <p:sp>
        <p:nvSpPr>
          <p:cNvPr id="28" name="Text 2">
            <a:extLst>
              <a:ext uri="{FF2B5EF4-FFF2-40B4-BE49-F238E27FC236}">
                <a16:creationId xmlns:a16="http://schemas.microsoft.com/office/drawing/2014/main" id="{3B2B0691-86C8-B28F-9AAB-2864BDAEDFED}"/>
              </a:ext>
            </a:extLst>
          </p:cNvPr>
          <p:cNvSpPr/>
          <p:nvPr/>
        </p:nvSpPr>
        <p:spPr>
          <a:xfrm>
            <a:off x="419590" y="1379846"/>
            <a:ext cx="11368060" cy="576193"/>
          </a:xfrm>
          <a:prstGeom prst="rect">
            <a:avLst/>
          </a:prstGeom>
          <a:noFill/>
          <a:ln/>
        </p:spPr>
        <p:txBody>
          <a:bodyPr wrap="square" lIns="0" tIns="0" rIns="0" bIns="0" rtlCol="0" anchor="ctr"/>
          <a:lstStyle/>
          <a:p>
            <a:pPr marL="0" indent="0">
              <a:lnSpc>
                <a:spcPct val="130000"/>
              </a:lnSpc>
              <a:buNone/>
            </a:pPr>
            <a:r>
              <a:rPr lang="en-US" sz="1400" dirty="0">
                <a:solidFill>
                  <a:srgbClr val="40597E"/>
                </a:solidFill>
                <a:latin typeface="+mj-lt"/>
                <a:ea typeface="Arial" pitchFamily="34" charset="-122"/>
                <a:cs typeface="Arial" panose="020B0604020202020204" pitchFamily="34" charset="0"/>
              </a:rPr>
              <a:t>Every departure is split into four identity checks. Airports must balance speed, capacity and security as volumes rise.</a:t>
            </a:r>
          </a:p>
        </p:txBody>
      </p:sp>
      <p:sp>
        <p:nvSpPr>
          <p:cNvPr id="113" name="Shape 3">
            <a:extLst>
              <a:ext uri="{FF2B5EF4-FFF2-40B4-BE49-F238E27FC236}">
                <a16:creationId xmlns:a16="http://schemas.microsoft.com/office/drawing/2014/main" id="{9B2F4DD0-02DF-E573-528C-06474B637F8D}"/>
              </a:ext>
            </a:extLst>
          </p:cNvPr>
          <p:cNvSpPr/>
          <p:nvPr/>
        </p:nvSpPr>
        <p:spPr>
          <a:xfrm>
            <a:off x="1051560" y="2542032"/>
            <a:ext cx="10104120" cy="0"/>
          </a:xfrm>
          <a:prstGeom prst="line">
            <a:avLst/>
          </a:prstGeom>
          <a:noFill/>
          <a:ln w="25400">
            <a:solidFill>
              <a:srgbClr val="E1E6ED"/>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4" name="Shape 4">
            <a:extLst>
              <a:ext uri="{FF2B5EF4-FFF2-40B4-BE49-F238E27FC236}">
                <a16:creationId xmlns:a16="http://schemas.microsoft.com/office/drawing/2014/main" id="{C050DA67-7133-B8B8-FB25-B8BD86651EBD}"/>
              </a:ext>
            </a:extLst>
          </p:cNvPr>
          <p:cNvSpPr/>
          <p:nvPr/>
        </p:nvSpPr>
        <p:spPr>
          <a:xfrm>
            <a:off x="548640" y="2313432"/>
            <a:ext cx="457200" cy="457200"/>
          </a:xfrm>
          <a:prstGeom prst="ellipse">
            <a:avLst/>
          </a:prstGeom>
          <a:solidFill>
            <a:srgbClr val="7D8899">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15" name="Image 0" descr="preencoded.png">
            <a:extLst>
              <a:ext uri="{FF2B5EF4-FFF2-40B4-BE49-F238E27FC236}">
                <a16:creationId xmlns:a16="http://schemas.microsoft.com/office/drawing/2014/main" id="{32FC1A3D-DB94-0B88-DA7F-288A29D3E4FC}"/>
              </a:ext>
            </a:extLst>
          </p:cNvPr>
          <p:cNvPicPr>
            <a:picLocks noChangeAspect="1"/>
          </p:cNvPicPr>
          <p:nvPr/>
        </p:nvPicPr>
        <p:blipFill>
          <a:blip r:embed="rId5"/>
          <a:stretch>
            <a:fillRect/>
          </a:stretch>
        </p:blipFill>
        <p:spPr>
          <a:xfrm>
            <a:off x="653796" y="2418588"/>
            <a:ext cx="246888" cy="246888"/>
          </a:xfrm>
          <a:prstGeom prst="rect">
            <a:avLst/>
          </a:prstGeom>
        </p:spPr>
      </p:pic>
      <p:sp>
        <p:nvSpPr>
          <p:cNvPr id="116" name="Shape 5">
            <a:extLst>
              <a:ext uri="{FF2B5EF4-FFF2-40B4-BE49-F238E27FC236}">
                <a16:creationId xmlns:a16="http://schemas.microsoft.com/office/drawing/2014/main" id="{8E8DFB93-6903-DCDD-1997-4CE1A750C67E}"/>
              </a:ext>
            </a:extLst>
          </p:cNvPr>
          <p:cNvSpPr/>
          <p:nvPr/>
        </p:nvSpPr>
        <p:spPr>
          <a:xfrm>
            <a:off x="11185855" y="2313432"/>
            <a:ext cx="457200" cy="457200"/>
          </a:xfrm>
          <a:prstGeom prst="ellipse">
            <a:avLst/>
          </a:prstGeom>
          <a:solidFill>
            <a:srgbClr val="7D8899">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17" name="Image 1" descr="preencoded.png">
            <a:extLst>
              <a:ext uri="{FF2B5EF4-FFF2-40B4-BE49-F238E27FC236}">
                <a16:creationId xmlns:a16="http://schemas.microsoft.com/office/drawing/2014/main" id="{5958D803-B91B-92C2-EDA9-9CD913FEB6DE}"/>
              </a:ext>
            </a:extLst>
          </p:cNvPr>
          <p:cNvPicPr>
            <a:picLocks noChangeAspect="1"/>
          </p:cNvPicPr>
          <p:nvPr/>
        </p:nvPicPr>
        <p:blipFill>
          <a:blip r:embed="rId6"/>
          <a:stretch>
            <a:fillRect/>
          </a:stretch>
        </p:blipFill>
        <p:spPr>
          <a:xfrm>
            <a:off x="11291011" y="2418588"/>
            <a:ext cx="246888" cy="246888"/>
          </a:xfrm>
          <a:prstGeom prst="rect">
            <a:avLst/>
          </a:prstGeom>
        </p:spPr>
      </p:pic>
      <p:sp>
        <p:nvSpPr>
          <p:cNvPr id="118" name="Shape 6">
            <a:extLst>
              <a:ext uri="{FF2B5EF4-FFF2-40B4-BE49-F238E27FC236}">
                <a16:creationId xmlns:a16="http://schemas.microsoft.com/office/drawing/2014/main" id="{490AA68F-FAA3-0371-2115-FA0F1843414C}"/>
              </a:ext>
            </a:extLst>
          </p:cNvPr>
          <p:cNvSpPr/>
          <p:nvPr/>
        </p:nvSpPr>
        <p:spPr>
          <a:xfrm>
            <a:off x="1911096" y="2304288"/>
            <a:ext cx="475488" cy="475488"/>
          </a:xfrm>
          <a:prstGeom prst="octagon">
            <a:avLst/>
          </a:prstGeom>
          <a:solidFill>
            <a:srgbClr val="D97706"/>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19" name="Image 2" descr="preencoded.png">
            <a:extLst>
              <a:ext uri="{FF2B5EF4-FFF2-40B4-BE49-F238E27FC236}">
                <a16:creationId xmlns:a16="http://schemas.microsoft.com/office/drawing/2014/main" id="{320C3DD9-F33C-9B73-8336-3C75B3C8908C}"/>
              </a:ext>
            </a:extLst>
          </p:cNvPr>
          <p:cNvPicPr>
            <a:picLocks noChangeAspect="1"/>
          </p:cNvPicPr>
          <p:nvPr/>
        </p:nvPicPr>
        <p:blipFill>
          <a:blip r:embed="rId7"/>
          <a:stretch>
            <a:fillRect/>
          </a:stretch>
        </p:blipFill>
        <p:spPr>
          <a:xfrm>
            <a:off x="2011680" y="2404872"/>
            <a:ext cx="274320" cy="274320"/>
          </a:xfrm>
          <a:prstGeom prst="rect">
            <a:avLst/>
          </a:prstGeom>
        </p:spPr>
      </p:pic>
      <p:sp>
        <p:nvSpPr>
          <p:cNvPr id="120" name="Text 7">
            <a:extLst>
              <a:ext uri="{FF2B5EF4-FFF2-40B4-BE49-F238E27FC236}">
                <a16:creationId xmlns:a16="http://schemas.microsoft.com/office/drawing/2014/main" id="{F3DAE8B8-8036-75F6-50F3-E4824C48E973}"/>
              </a:ext>
            </a:extLst>
          </p:cNvPr>
          <p:cNvSpPr txBox="1"/>
          <p:nvPr/>
        </p:nvSpPr>
        <p:spPr>
          <a:xfrm>
            <a:off x="960120" y="2889504"/>
            <a:ext cx="2377440" cy="274320"/>
          </a:xfrm>
          <a:prstGeom prst="rect">
            <a:avLst/>
          </a:prstGeom>
          <a:noFill/>
          <a:ln/>
        </p:spPr>
        <p:txBody>
          <a:bodyPr wrap="square" lIns="0" tIns="0" rIns="0" bIns="0" rtlCol="0" anchor="t"/>
          <a:lstStyle/>
          <a:p>
            <a:pPr algn="ctr"/>
            <a:r>
              <a:rPr lang="en-US" sz="1500" b="1" dirty="0">
                <a:solidFill>
                  <a:srgbClr val="0A1628"/>
                </a:solidFill>
                <a:latin typeface="+mj-lt"/>
              </a:rPr>
              <a:t>Check-in</a:t>
            </a:r>
            <a:endParaRPr lang="en-US" sz="1500" dirty="0">
              <a:solidFill>
                <a:srgbClr val="0A1628"/>
              </a:solidFill>
              <a:latin typeface="+mj-lt"/>
            </a:endParaRPr>
          </a:p>
        </p:txBody>
      </p:sp>
      <p:sp>
        <p:nvSpPr>
          <p:cNvPr id="122" name="Shape 9">
            <a:extLst>
              <a:ext uri="{FF2B5EF4-FFF2-40B4-BE49-F238E27FC236}">
                <a16:creationId xmlns:a16="http://schemas.microsoft.com/office/drawing/2014/main" id="{727086DA-646D-B69F-C3C5-2B9B1F32FC9F}"/>
              </a:ext>
            </a:extLst>
          </p:cNvPr>
          <p:cNvSpPr/>
          <p:nvPr/>
        </p:nvSpPr>
        <p:spPr>
          <a:xfrm>
            <a:off x="4544568" y="2304288"/>
            <a:ext cx="475488" cy="475488"/>
          </a:xfrm>
          <a:prstGeom prst="octagon">
            <a:avLst/>
          </a:prstGeom>
          <a:solidFill>
            <a:srgbClr val="D97706"/>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23" name="Image 3" descr="preencoded.png">
            <a:extLst>
              <a:ext uri="{FF2B5EF4-FFF2-40B4-BE49-F238E27FC236}">
                <a16:creationId xmlns:a16="http://schemas.microsoft.com/office/drawing/2014/main" id="{43E221A3-387C-A4DF-5A5E-3FBA7A9F0599}"/>
              </a:ext>
            </a:extLst>
          </p:cNvPr>
          <p:cNvPicPr>
            <a:picLocks noChangeAspect="1"/>
          </p:cNvPicPr>
          <p:nvPr/>
        </p:nvPicPr>
        <p:blipFill>
          <a:blip r:embed="rId7"/>
          <a:stretch>
            <a:fillRect/>
          </a:stretch>
        </p:blipFill>
        <p:spPr>
          <a:xfrm>
            <a:off x="4645152" y="2404872"/>
            <a:ext cx="274320" cy="274320"/>
          </a:xfrm>
          <a:prstGeom prst="rect">
            <a:avLst/>
          </a:prstGeom>
        </p:spPr>
      </p:pic>
      <p:sp>
        <p:nvSpPr>
          <p:cNvPr id="124" name="Text 10">
            <a:extLst>
              <a:ext uri="{FF2B5EF4-FFF2-40B4-BE49-F238E27FC236}">
                <a16:creationId xmlns:a16="http://schemas.microsoft.com/office/drawing/2014/main" id="{852AFDB3-66A9-8B0C-3F6F-AEA1D7503F18}"/>
              </a:ext>
            </a:extLst>
          </p:cNvPr>
          <p:cNvSpPr txBox="1"/>
          <p:nvPr/>
        </p:nvSpPr>
        <p:spPr>
          <a:xfrm>
            <a:off x="3593592" y="2889504"/>
            <a:ext cx="2377440" cy="274320"/>
          </a:xfrm>
          <a:prstGeom prst="rect">
            <a:avLst/>
          </a:prstGeom>
          <a:noFill/>
          <a:ln/>
        </p:spPr>
        <p:txBody>
          <a:bodyPr wrap="square" lIns="0" tIns="0" rIns="0" bIns="0" rtlCol="0" anchor="t"/>
          <a:lstStyle/>
          <a:p>
            <a:pPr algn="ctr"/>
            <a:r>
              <a:rPr lang="en-US" sz="1500" b="1" dirty="0">
                <a:solidFill>
                  <a:srgbClr val="0A1628"/>
                </a:solidFill>
                <a:latin typeface="+mj-lt"/>
              </a:rPr>
              <a:t>Immigration</a:t>
            </a:r>
            <a:endParaRPr lang="en-US" sz="1500" dirty="0">
              <a:solidFill>
                <a:srgbClr val="0A1628"/>
              </a:solidFill>
              <a:latin typeface="+mj-lt"/>
            </a:endParaRPr>
          </a:p>
        </p:txBody>
      </p:sp>
      <p:sp>
        <p:nvSpPr>
          <p:cNvPr id="126" name="Shape 12">
            <a:extLst>
              <a:ext uri="{FF2B5EF4-FFF2-40B4-BE49-F238E27FC236}">
                <a16:creationId xmlns:a16="http://schemas.microsoft.com/office/drawing/2014/main" id="{81FA92D1-E4CE-2E8D-9CB7-F0AFFF3F29AA}"/>
              </a:ext>
            </a:extLst>
          </p:cNvPr>
          <p:cNvSpPr/>
          <p:nvPr/>
        </p:nvSpPr>
        <p:spPr>
          <a:xfrm>
            <a:off x="7178040" y="2304288"/>
            <a:ext cx="475488" cy="475488"/>
          </a:xfrm>
          <a:prstGeom prst="octagon">
            <a:avLst/>
          </a:prstGeom>
          <a:solidFill>
            <a:srgbClr val="D97706"/>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27" name="Image 4" descr="preencoded.png">
            <a:extLst>
              <a:ext uri="{FF2B5EF4-FFF2-40B4-BE49-F238E27FC236}">
                <a16:creationId xmlns:a16="http://schemas.microsoft.com/office/drawing/2014/main" id="{77610084-893E-81E8-A52E-03BDCF2ED469}"/>
              </a:ext>
            </a:extLst>
          </p:cNvPr>
          <p:cNvPicPr>
            <a:picLocks noChangeAspect="1"/>
          </p:cNvPicPr>
          <p:nvPr/>
        </p:nvPicPr>
        <p:blipFill>
          <a:blip r:embed="rId7"/>
          <a:stretch>
            <a:fillRect/>
          </a:stretch>
        </p:blipFill>
        <p:spPr>
          <a:xfrm>
            <a:off x="7278624" y="2404872"/>
            <a:ext cx="274320" cy="274320"/>
          </a:xfrm>
          <a:prstGeom prst="rect">
            <a:avLst/>
          </a:prstGeom>
        </p:spPr>
      </p:pic>
      <p:sp>
        <p:nvSpPr>
          <p:cNvPr id="128" name="Text 13">
            <a:extLst>
              <a:ext uri="{FF2B5EF4-FFF2-40B4-BE49-F238E27FC236}">
                <a16:creationId xmlns:a16="http://schemas.microsoft.com/office/drawing/2014/main" id="{5F86C85D-6D93-EF35-2D5D-4423582AC3F9}"/>
              </a:ext>
            </a:extLst>
          </p:cNvPr>
          <p:cNvSpPr txBox="1"/>
          <p:nvPr/>
        </p:nvSpPr>
        <p:spPr>
          <a:xfrm>
            <a:off x="6227064" y="2889504"/>
            <a:ext cx="2377440" cy="274320"/>
          </a:xfrm>
          <a:prstGeom prst="rect">
            <a:avLst/>
          </a:prstGeom>
          <a:noFill/>
          <a:ln/>
        </p:spPr>
        <p:txBody>
          <a:bodyPr wrap="square" lIns="0" tIns="0" rIns="0" bIns="0" rtlCol="0" anchor="t"/>
          <a:lstStyle/>
          <a:p>
            <a:pPr algn="ctr"/>
            <a:r>
              <a:rPr lang="en-US" sz="1500" b="1" dirty="0">
                <a:solidFill>
                  <a:srgbClr val="0A1628"/>
                </a:solidFill>
                <a:latin typeface="+mj-lt"/>
              </a:rPr>
              <a:t>Security screening</a:t>
            </a:r>
            <a:endParaRPr lang="en-US" sz="1500" dirty="0">
              <a:solidFill>
                <a:srgbClr val="0A1628"/>
              </a:solidFill>
              <a:latin typeface="+mj-lt"/>
            </a:endParaRPr>
          </a:p>
        </p:txBody>
      </p:sp>
      <p:sp>
        <p:nvSpPr>
          <p:cNvPr id="130" name="Shape 15">
            <a:extLst>
              <a:ext uri="{FF2B5EF4-FFF2-40B4-BE49-F238E27FC236}">
                <a16:creationId xmlns:a16="http://schemas.microsoft.com/office/drawing/2014/main" id="{432B0DCC-C9E8-D510-D20A-9535BA2E4610}"/>
              </a:ext>
            </a:extLst>
          </p:cNvPr>
          <p:cNvSpPr/>
          <p:nvPr/>
        </p:nvSpPr>
        <p:spPr>
          <a:xfrm>
            <a:off x="9811512" y="2304288"/>
            <a:ext cx="475488" cy="475488"/>
          </a:xfrm>
          <a:prstGeom prst="octagon">
            <a:avLst/>
          </a:prstGeom>
          <a:solidFill>
            <a:srgbClr val="D97706"/>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31" name="Image 5" descr="preencoded.png">
            <a:extLst>
              <a:ext uri="{FF2B5EF4-FFF2-40B4-BE49-F238E27FC236}">
                <a16:creationId xmlns:a16="http://schemas.microsoft.com/office/drawing/2014/main" id="{22BE7F83-AC54-7A11-A2FC-FF9465FA9282}"/>
              </a:ext>
            </a:extLst>
          </p:cNvPr>
          <p:cNvPicPr>
            <a:picLocks noChangeAspect="1"/>
          </p:cNvPicPr>
          <p:nvPr/>
        </p:nvPicPr>
        <p:blipFill>
          <a:blip r:embed="rId7"/>
          <a:stretch>
            <a:fillRect/>
          </a:stretch>
        </p:blipFill>
        <p:spPr>
          <a:xfrm>
            <a:off x="9912096" y="2404872"/>
            <a:ext cx="274320" cy="274320"/>
          </a:xfrm>
          <a:prstGeom prst="rect">
            <a:avLst/>
          </a:prstGeom>
        </p:spPr>
      </p:pic>
      <p:sp>
        <p:nvSpPr>
          <p:cNvPr id="132" name="Text 16">
            <a:extLst>
              <a:ext uri="{FF2B5EF4-FFF2-40B4-BE49-F238E27FC236}">
                <a16:creationId xmlns:a16="http://schemas.microsoft.com/office/drawing/2014/main" id="{F6119B8C-2813-929B-3205-CEE2ADB876F0}"/>
              </a:ext>
            </a:extLst>
          </p:cNvPr>
          <p:cNvSpPr txBox="1"/>
          <p:nvPr/>
        </p:nvSpPr>
        <p:spPr>
          <a:xfrm>
            <a:off x="8860536" y="2889504"/>
            <a:ext cx="2377440" cy="274320"/>
          </a:xfrm>
          <a:prstGeom prst="rect">
            <a:avLst/>
          </a:prstGeom>
          <a:noFill/>
          <a:ln/>
        </p:spPr>
        <p:txBody>
          <a:bodyPr wrap="square" lIns="0" tIns="0" rIns="0" bIns="0" rtlCol="0" anchor="t"/>
          <a:lstStyle/>
          <a:p>
            <a:pPr algn="ctr"/>
            <a:r>
              <a:rPr lang="en-US" sz="1500" b="1" dirty="0">
                <a:solidFill>
                  <a:srgbClr val="0A1628"/>
                </a:solidFill>
                <a:latin typeface="+mj-lt"/>
              </a:rPr>
              <a:t>Boarding gate</a:t>
            </a:r>
            <a:endParaRPr lang="en-US" sz="1500" dirty="0">
              <a:solidFill>
                <a:srgbClr val="0A1628"/>
              </a:solidFill>
              <a:latin typeface="+mj-lt"/>
            </a:endParaRPr>
          </a:p>
        </p:txBody>
      </p:sp>
      <p:sp>
        <p:nvSpPr>
          <p:cNvPr id="134" name="Shape 18">
            <a:extLst>
              <a:ext uri="{FF2B5EF4-FFF2-40B4-BE49-F238E27FC236}">
                <a16:creationId xmlns:a16="http://schemas.microsoft.com/office/drawing/2014/main" id="{38EDDA54-FD85-D6DC-3322-6415F140E840}"/>
              </a:ext>
            </a:extLst>
          </p:cNvPr>
          <p:cNvSpPr/>
          <p:nvPr/>
        </p:nvSpPr>
        <p:spPr>
          <a:xfrm>
            <a:off x="548640" y="3749040"/>
            <a:ext cx="2567864" cy="2212848"/>
          </a:xfrm>
          <a:prstGeom prst="roundRect">
            <a:avLst>
              <a:gd name="adj" fmla="val 6612"/>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35" name="Text 19">
            <a:extLst>
              <a:ext uri="{FF2B5EF4-FFF2-40B4-BE49-F238E27FC236}">
                <a16:creationId xmlns:a16="http://schemas.microsoft.com/office/drawing/2014/main" id="{9E43A9D9-D0A2-5CEA-3237-924686137D54}"/>
              </a:ext>
            </a:extLst>
          </p:cNvPr>
          <p:cNvSpPr txBox="1"/>
          <p:nvPr/>
        </p:nvSpPr>
        <p:spPr>
          <a:xfrm>
            <a:off x="822960" y="3968496"/>
            <a:ext cx="1645920" cy="731520"/>
          </a:xfrm>
          <a:prstGeom prst="rect">
            <a:avLst/>
          </a:prstGeom>
          <a:noFill/>
          <a:ln/>
        </p:spPr>
        <p:txBody>
          <a:bodyPr wrap="square" lIns="0" tIns="0" rIns="0" bIns="0" rtlCol="0" anchor="ctr"/>
          <a:lstStyle/>
          <a:p>
            <a:r>
              <a:rPr lang="en-US" sz="4400" b="1">
                <a:solidFill>
                  <a:srgbClr val="0A1628"/>
                </a:solidFill>
                <a:latin typeface="+mj-lt"/>
              </a:rPr>
              <a:t>~ 4</a:t>
            </a:r>
            <a:endParaRPr lang="en-US" sz="4400">
              <a:solidFill>
                <a:srgbClr val="0A1628"/>
              </a:solidFill>
              <a:latin typeface="+mj-lt"/>
            </a:endParaRPr>
          </a:p>
        </p:txBody>
      </p:sp>
      <p:sp>
        <p:nvSpPr>
          <p:cNvPr id="136" name="Shape 20">
            <a:extLst>
              <a:ext uri="{FF2B5EF4-FFF2-40B4-BE49-F238E27FC236}">
                <a16:creationId xmlns:a16="http://schemas.microsoft.com/office/drawing/2014/main" id="{F63C7F6A-2F0A-D48E-78C3-A9EF409A50B5}"/>
              </a:ext>
            </a:extLst>
          </p:cNvPr>
          <p:cNvSpPr/>
          <p:nvPr/>
        </p:nvSpPr>
        <p:spPr>
          <a:xfrm>
            <a:off x="2421560" y="4059936"/>
            <a:ext cx="420624" cy="420624"/>
          </a:xfrm>
          <a:prstGeom prst="ellipse">
            <a:avLst/>
          </a:prstGeom>
          <a:solidFill>
            <a:srgbClr val="D97706">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37" name="Image 6" descr="preencoded.png">
            <a:extLst>
              <a:ext uri="{FF2B5EF4-FFF2-40B4-BE49-F238E27FC236}">
                <a16:creationId xmlns:a16="http://schemas.microsoft.com/office/drawing/2014/main" id="{DDF09E6E-E15E-6627-0DF6-D28751BE3213}"/>
              </a:ext>
            </a:extLst>
          </p:cNvPr>
          <p:cNvPicPr>
            <a:picLocks noChangeAspect="1"/>
          </p:cNvPicPr>
          <p:nvPr/>
        </p:nvPicPr>
        <p:blipFill>
          <a:blip r:embed="rId8"/>
          <a:stretch>
            <a:fillRect/>
          </a:stretch>
        </p:blipFill>
        <p:spPr>
          <a:xfrm>
            <a:off x="2518303" y="4156680"/>
            <a:ext cx="227137" cy="227137"/>
          </a:xfrm>
          <a:prstGeom prst="rect">
            <a:avLst/>
          </a:prstGeom>
        </p:spPr>
      </p:pic>
      <p:sp>
        <p:nvSpPr>
          <p:cNvPr id="138" name="Text 21">
            <a:extLst>
              <a:ext uri="{FF2B5EF4-FFF2-40B4-BE49-F238E27FC236}">
                <a16:creationId xmlns:a16="http://schemas.microsoft.com/office/drawing/2014/main" id="{1F0C087C-5F09-3C21-B0DE-9235BC10950F}"/>
              </a:ext>
            </a:extLst>
          </p:cNvPr>
          <p:cNvSpPr txBox="1"/>
          <p:nvPr/>
        </p:nvSpPr>
        <p:spPr>
          <a:xfrm>
            <a:off x="822960" y="4754880"/>
            <a:ext cx="2019224" cy="502920"/>
          </a:xfrm>
          <a:prstGeom prst="rect">
            <a:avLst/>
          </a:prstGeom>
          <a:noFill/>
          <a:ln/>
        </p:spPr>
        <p:txBody>
          <a:bodyPr wrap="square" lIns="0" tIns="0" rIns="0" bIns="0" rtlCol="0" anchor="t"/>
          <a:lstStyle/>
          <a:p>
            <a:r>
              <a:rPr lang="en-US" sz="1500" b="1" dirty="0">
                <a:solidFill>
                  <a:srgbClr val="0A1628"/>
                </a:solidFill>
                <a:latin typeface="+mj-lt"/>
              </a:rPr>
              <a:t>identity touchpoints per departure</a:t>
            </a:r>
            <a:endParaRPr lang="en-US" sz="1500" dirty="0">
              <a:solidFill>
                <a:srgbClr val="0A1628"/>
              </a:solidFill>
              <a:latin typeface="+mj-lt"/>
            </a:endParaRPr>
          </a:p>
        </p:txBody>
      </p:sp>
      <p:sp>
        <p:nvSpPr>
          <p:cNvPr id="140" name="Shape 23">
            <a:extLst>
              <a:ext uri="{FF2B5EF4-FFF2-40B4-BE49-F238E27FC236}">
                <a16:creationId xmlns:a16="http://schemas.microsoft.com/office/drawing/2014/main" id="{9F9450C4-76BC-C4C1-2DD0-7AE5BB543A4C}"/>
              </a:ext>
            </a:extLst>
          </p:cNvPr>
          <p:cNvSpPr/>
          <p:nvPr/>
        </p:nvSpPr>
        <p:spPr>
          <a:xfrm>
            <a:off x="3390824" y="3749040"/>
            <a:ext cx="2567864" cy="2212848"/>
          </a:xfrm>
          <a:prstGeom prst="roundRect">
            <a:avLst>
              <a:gd name="adj" fmla="val 6612"/>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41" name="Text 24">
            <a:extLst>
              <a:ext uri="{FF2B5EF4-FFF2-40B4-BE49-F238E27FC236}">
                <a16:creationId xmlns:a16="http://schemas.microsoft.com/office/drawing/2014/main" id="{D06C84BB-CDB9-D076-411B-BB4AAED87114}"/>
              </a:ext>
            </a:extLst>
          </p:cNvPr>
          <p:cNvSpPr txBox="1"/>
          <p:nvPr/>
        </p:nvSpPr>
        <p:spPr>
          <a:xfrm>
            <a:off x="3665144" y="3968496"/>
            <a:ext cx="1645920" cy="731520"/>
          </a:xfrm>
          <a:prstGeom prst="rect">
            <a:avLst/>
          </a:prstGeom>
          <a:noFill/>
          <a:ln/>
        </p:spPr>
        <p:txBody>
          <a:bodyPr wrap="square" lIns="0" tIns="0" rIns="0" bIns="0" rtlCol="0" anchor="ctr"/>
          <a:lstStyle/>
          <a:p>
            <a:r>
              <a:rPr lang="en-SG" sz="4400" dirty="0">
                <a:latin typeface="+mj-lt"/>
              </a:rPr>
              <a:t>≥</a:t>
            </a:r>
            <a:r>
              <a:rPr lang="en-US" sz="4400" b="1" dirty="0">
                <a:solidFill>
                  <a:srgbClr val="0A1628"/>
                </a:solidFill>
                <a:latin typeface="+mj-lt"/>
              </a:rPr>
              <a:t>2</a:t>
            </a:r>
            <a:endParaRPr lang="en-US" sz="4400" dirty="0">
              <a:solidFill>
                <a:srgbClr val="0A1628"/>
              </a:solidFill>
              <a:latin typeface="+mj-lt"/>
            </a:endParaRPr>
          </a:p>
        </p:txBody>
      </p:sp>
      <p:sp>
        <p:nvSpPr>
          <p:cNvPr id="142" name="Shape 25">
            <a:extLst>
              <a:ext uri="{FF2B5EF4-FFF2-40B4-BE49-F238E27FC236}">
                <a16:creationId xmlns:a16="http://schemas.microsoft.com/office/drawing/2014/main" id="{B32A05DB-3760-0920-9ABE-1346E5B431A2}"/>
              </a:ext>
            </a:extLst>
          </p:cNvPr>
          <p:cNvSpPr/>
          <p:nvPr/>
        </p:nvSpPr>
        <p:spPr>
          <a:xfrm>
            <a:off x="5263744" y="4059936"/>
            <a:ext cx="420624" cy="420624"/>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43" name="Image 7" descr="preencoded.png">
            <a:extLst>
              <a:ext uri="{FF2B5EF4-FFF2-40B4-BE49-F238E27FC236}">
                <a16:creationId xmlns:a16="http://schemas.microsoft.com/office/drawing/2014/main" id="{315A87CC-3851-A765-6228-1D0C76519DB8}"/>
              </a:ext>
            </a:extLst>
          </p:cNvPr>
          <p:cNvPicPr>
            <a:picLocks noChangeAspect="1"/>
          </p:cNvPicPr>
          <p:nvPr/>
        </p:nvPicPr>
        <p:blipFill>
          <a:blip r:embed="rId9"/>
          <a:stretch>
            <a:fillRect/>
          </a:stretch>
        </p:blipFill>
        <p:spPr>
          <a:xfrm>
            <a:off x="5360487" y="4156680"/>
            <a:ext cx="227137" cy="227137"/>
          </a:xfrm>
          <a:prstGeom prst="rect">
            <a:avLst/>
          </a:prstGeom>
        </p:spPr>
      </p:pic>
      <p:sp>
        <p:nvSpPr>
          <p:cNvPr id="144" name="Text 26">
            <a:extLst>
              <a:ext uri="{FF2B5EF4-FFF2-40B4-BE49-F238E27FC236}">
                <a16:creationId xmlns:a16="http://schemas.microsoft.com/office/drawing/2014/main" id="{7465A4A1-9479-E9C1-35B1-A9368E02E891}"/>
              </a:ext>
            </a:extLst>
          </p:cNvPr>
          <p:cNvSpPr txBox="1"/>
          <p:nvPr/>
        </p:nvSpPr>
        <p:spPr>
          <a:xfrm>
            <a:off x="3665144" y="4754880"/>
            <a:ext cx="2293544" cy="502920"/>
          </a:xfrm>
          <a:prstGeom prst="rect">
            <a:avLst/>
          </a:prstGeom>
          <a:noFill/>
          <a:ln/>
        </p:spPr>
        <p:txBody>
          <a:bodyPr wrap="square" lIns="0" tIns="0" rIns="0" bIns="0" rtlCol="0" anchor="t"/>
          <a:lstStyle/>
          <a:p>
            <a:r>
              <a:rPr lang="en-US" sz="1500" b="1" dirty="0">
                <a:solidFill>
                  <a:srgbClr val="0A1628"/>
                </a:solidFill>
                <a:latin typeface="+mj-lt"/>
              </a:rPr>
              <a:t>officer or staff member per touchpoint</a:t>
            </a:r>
            <a:endParaRPr lang="en-US" sz="1500" dirty="0">
              <a:solidFill>
                <a:srgbClr val="0A1628"/>
              </a:solidFill>
              <a:latin typeface="+mj-lt"/>
            </a:endParaRPr>
          </a:p>
        </p:txBody>
      </p:sp>
      <p:sp>
        <p:nvSpPr>
          <p:cNvPr id="146" name="Shape 28">
            <a:extLst>
              <a:ext uri="{FF2B5EF4-FFF2-40B4-BE49-F238E27FC236}">
                <a16:creationId xmlns:a16="http://schemas.microsoft.com/office/drawing/2014/main" id="{B242716E-3363-C70C-AD2B-156133A45180}"/>
              </a:ext>
            </a:extLst>
          </p:cNvPr>
          <p:cNvSpPr/>
          <p:nvPr/>
        </p:nvSpPr>
        <p:spPr>
          <a:xfrm>
            <a:off x="6233008" y="3749040"/>
            <a:ext cx="2567864" cy="2212848"/>
          </a:xfrm>
          <a:prstGeom prst="roundRect">
            <a:avLst>
              <a:gd name="adj" fmla="val 6612"/>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47" name="Text 29">
            <a:extLst>
              <a:ext uri="{FF2B5EF4-FFF2-40B4-BE49-F238E27FC236}">
                <a16:creationId xmlns:a16="http://schemas.microsoft.com/office/drawing/2014/main" id="{E3BE1BD7-AA8E-EF64-41BD-ED7B990465D1}"/>
              </a:ext>
            </a:extLst>
          </p:cNvPr>
          <p:cNvSpPr txBox="1"/>
          <p:nvPr/>
        </p:nvSpPr>
        <p:spPr>
          <a:xfrm>
            <a:off x="6507328" y="3968496"/>
            <a:ext cx="1645920" cy="731520"/>
          </a:xfrm>
          <a:prstGeom prst="rect">
            <a:avLst/>
          </a:prstGeom>
          <a:noFill/>
          <a:ln/>
        </p:spPr>
        <p:txBody>
          <a:bodyPr wrap="square" lIns="0" tIns="0" rIns="0" bIns="0" rtlCol="0" anchor="ctr"/>
          <a:lstStyle/>
          <a:p>
            <a:r>
              <a:rPr lang="en-US" sz="4400" b="1" dirty="0">
                <a:solidFill>
                  <a:srgbClr val="0A1628"/>
                </a:solidFill>
                <a:latin typeface="+mj-lt"/>
              </a:rPr>
              <a:t>2×</a:t>
            </a:r>
            <a:endParaRPr lang="en-US" sz="4400" dirty="0">
              <a:solidFill>
                <a:srgbClr val="0A1628"/>
              </a:solidFill>
              <a:latin typeface="+mj-lt"/>
            </a:endParaRPr>
          </a:p>
        </p:txBody>
      </p:sp>
      <p:sp>
        <p:nvSpPr>
          <p:cNvPr id="148" name="Shape 30">
            <a:extLst>
              <a:ext uri="{FF2B5EF4-FFF2-40B4-BE49-F238E27FC236}">
                <a16:creationId xmlns:a16="http://schemas.microsoft.com/office/drawing/2014/main" id="{7528D980-5B6E-6D2F-FAF1-611CC752DFEB}"/>
              </a:ext>
            </a:extLst>
          </p:cNvPr>
          <p:cNvSpPr/>
          <p:nvPr/>
        </p:nvSpPr>
        <p:spPr>
          <a:xfrm>
            <a:off x="8105927" y="4059936"/>
            <a:ext cx="420624" cy="420624"/>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49" name="Image 8" descr="preencoded.png">
            <a:extLst>
              <a:ext uri="{FF2B5EF4-FFF2-40B4-BE49-F238E27FC236}">
                <a16:creationId xmlns:a16="http://schemas.microsoft.com/office/drawing/2014/main" id="{0F7AAD02-8D5B-D7E7-AC96-A11482F7BE43}"/>
              </a:ext>
            </a:extLst>
          </p:cNvPr>
          <p:cNvPicPr>
            <a:picLocks noChangeAspect="1"/>
          </p:cNvPicPr>
          <p:nvPr/>
        </p:nvPicPr>
        <p:blipFill>
          <a:blip r:embed="rId10"/>
          <a:stretch>
            <a:fillRect/>
          </a:stretch>
        </p:blipFill>
        <p:spPr>
          <a:xfrm>
            <a:off x="8202671" y="4156680"/>
            <a:ext cx="227137" cy="227137"/>
          </a:xfrm>
          <a:prstGeom prst="rect">
            <a:avLst/>
          </a:prstGeom>
        </p:spPr>
      </p:pic>
      <p:sp>
        <p:nvSpPr>
          <p:cNvPr id="150" name="Text 31">
            <a:extLst>
              <a:ext uri="{FF2B5EF4-FFF2-40B4-BE49-F238E27FC236}">
                <a16:creationId xmlns:a16="http://schemas.microsoft.com/office/drawing/2014/main" id="{73B646A5-363D-A650-3FA6-D185AE68FBCD}"/>
              </a:ext>
            </a:extLst>
          </p:cNvPr>
          <p:cNvSpPr txBox="1"/>
          <p:nvPr/>
        </p:nvSpPr>
        <p:spPr>
          <a:xfrm>
            <a:off x="6507328" y="4754880"/>
            <a:ext cx="2019224" cy="502920"/>
          </a:xfrm>
          <a:prstGeom prst="rect">
            <a:avLst/>
          </a:prstGeom>
          <a:noFill/>
          <a:ln/>
        </p:spPr>
        <p:txBody>
          <a:bodyPr wrap="square" lIns="0" tIns="0" rIns="0" bIns="0" rtlCol="0" anchor="t"/>
          <a:lstStyle/>
          <a:p>
            <a:r>
              <a:rPr lang="en-US" sz="1500" b="1" dirty="0">
                <a:solidFill>
                  <a:srgbClr val="0A1628"/>
                </a:solidFill>
                <a:latin typeface="+mj-lt"/>
              </a:rPr>
              <a:t>air travel demand by 2040</a:t>
            </a:r>
            <a:endParaRPr lang="en-US" sz="1500" dirty="0">
              <a:solidFill>
                <a:srgbClr val="0A1628"/>
              </a:solidFill>
              <a:latin typeface="+mj-lt"/>
            </a:endParaRPr>
          </a:p>
        </p:txBody>
      </p:sp>
      <p:sp>
        <p:nvSpPr>
          <p:cNvPr id="152" name="Shape 33">
            <a:extLst>
              <a:ext uri="{FF2B5EF4-FFF2-40B4-BE49-F238E27FC236}">
                <a16:creationId xmlns:a16="http://schemas.microsoft.com/office/drawing/2014/main" id="{6FB3BDEF-55E7-747F-2D38-C4ED6DDC52B7}"/>
              </a:ext>
            </a:extLst>
          </p:cNvPr>
          <p:cNvSpPr/>
          <p:nvPr/>
        </p:nvSpPr>
        <p:spPr>
          <a:xfrm>
            <a:off x="9075191" y="3749040"/>
            <a:ext cx="2567864" cy="2212848"/>
          </a:xfrm>
          <a:prstGeom prst="roundRect">
            <a:avLst>
              <a:gd name="adj" fmla="val 6612"/>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53" name="Text 34">
            <a:extLst>
              <a:ext uri="{FF2B5EF4-FFF2-40B4-BE49-F238E27FC236}">
                <a16:creationId xmlns:a16="http://schemas.microsoft.com/office/drawing/2014/main" id="{DA837CAC-D0DF-F459-14D7-2D9BB6F0E158}"/>
              </a:ext>
            </a:extLst>
          </p:cNvPr>
          <p:cNvSpPr txBox="1"/>
          <p:nvPr/>
        </p:nvSpPr>
        <p:spPr>
          <a:xfrm>
            <a:off x="9349511" y="3968496"/>
            <a:ext cx="1645920" cy="731520"/>
          </a:xfrm>
          <a:prstGeom prst="rect">
            <a:avLst/>
          </a:prstGeom>
          <a:noFill/>
          <a:ln/>
        </p:spPr>
        <p:txBody>
          <a:bodyPr wrap="square" lIns="0" tIns="0" rIns="0" bIns="0" rtlCol="0" anchor="ctr"/>
          <a:lstStyle/>
          <a:p>
            <a:r>
              <a:rPr lang="en-US" sz="4400" b="1" dirty="0">
                <a:solidFill>
                  <a:srgbClr val="0A1628"/>
                </a:solidFill>
                <a:latin typeface="+mj-lt"/>
              </a:rPr>
              <a:t>48%</a:t>
            </a:r>
            <a:endParaRPr lang="en-US" sz="4400" dirty="0">
              <a:solidFill>
                <a:srgbClr val="0A1628"/>
              </a:solidFill>
              <a:latin typeface="+mj-lt"/>
            </a:endParaRPr>
          </a:p>
        </p:txBody>
      </p:sp>
      <p:sp>
        <p:nvSpPr>
          <p:cNvPr id="154" name="Shape 35">
            <a:extLst>
              <a:ext uri="{FF2B5EF4-FFF2-40B4-BE49-F238E27FC236}">
                <a16:creationId xmlns:a16="http://schemas.microsoft.com/office/drawing/2014/main" id="{CF6D84A3-9C2C-9E17-AAEF-D74411B5F773}"/>
              </a:ext>
            </a:extLst>
          </p:cNvPr>
          <p:cNvSpPr/>
          <p:nvPr/>
        </p:nvSpPr>
        <p:spPr>
          <a:xfrm>
            <a:off x="10948111" y="4059936"/>
            <a:ext cx="420624" cy="420624"/>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55" name="Image 9" descr="preencoded.png">
            <a:extLst>
              <a:ext uri="{FF2B5EF4-FFF2-40B4-BE49-F238E27FC236}">
                <a16:creationId xmlns:a16="http://schemas.microsoft.com/office/drawing/2014/main" id="{CFC732E5-55A9-E618-2D94-35B6EA017374}"/>
              </a:ext>
            </a:extLst>
          </p:cNvPr>
          <p:cNvPicPr>
            <a:picLocks noChangeAspect="1"/>
          </p:cNvPicPr>
          <p:nvPr/>
        </p:nvPicPr>
        <p:blipFill>
          <a:blip r:embed="rId11"/>
          <a:stretch>
            <a:fillRect/>
          </a:stretch>
        </p:blipFill>
        <p:spPr>
          <a:xfrm>
            <a:off x="11044855" y="4156680"/>
            <a:ext cx="227137" cy="227137"/>
          </a:xfrm>
          <a:prstGeom prst="rect">
            <a:avLst/>
          </a:prstGeom>
        </p:spPr>
      </p:pic>
      <p:sp>
        <p:nvSpPr>
          <p:cNvPr id="156" name="Text 36">
            <a:extLst>
              <a:ext uri="{FF2B5EF4-FFF2-40B4-BE49-F238E27FC236}">
                <a16:creationId xmlns:a16="http://schemas.microsoft.com/office/drawing/2014/main" id="{C452909A-5437-2196-63E4-72C97FADBE4E}"/>
              </a:ext>
            </a:extLst>
          </p:cNvPr>
          <p:cNvSpPr txBox="1"/>
          <p:nvPr/>
        </p:nvSpPr>
        <p:spPr>
          <a:xfrm>
            <a:off x="9349511" y="4754880"/>
            <a:ext cx="2019224" cy="502920"/>
          </a:xfrm>
          <a:prstGeom prst="rect">
            <a:avLst/>
          </a:prstGeom>
          <a:noFill/>
          <a:ln/>
        </p:spPr>
        <p:txBody>
          <a:bodyPr wrap="square" lIns="0" tIns="0" rIns="0" bIns="0" rtlCol="0" anchor="t"/>
          <a:lstStyle/>
          <a:p>
            <a:r>
              <a:rPr lang="en-US" sz="1500" b="1" dirty="0">
                <a:solidFill>
                  <a:srgbClr val="0A1628"/>
                </a:solidFill>
                <a:latin typeface="+mj-lt"/>
              </a:rPr>
              <a:t>of airports plan cross-silo data sharing by 2027</a:t>
            </a:r>
            <a:endParaRPr lang="en-US" sz="1500" dirty="0">
              <a:solidFill>
                <a:srgbClr val="0A1628"/>
              </a:solidFill>
              <a:latin typeface="+mj-lt"/>
            </a:endParaRPr>
          </a:p>
        </p:txBody>
      </p:sp>
      <p:sp>
        <p:nvSpPr>
          <p:cNvPr id="158" name="Text 38">
            <a:extLst>
              <a:ext uri="{FF2B5EF4-FFF2-40B4-BE49-F238E27FC236}">
                <a16:creationId xmlns:a16="http://schemas.microsoft.com/office/drawing/2014/main" id="{10D128E7-6EB7-9EC8-24FD-BE108AEB5F62}"/>
              </a:ext>
            </a:extLst>
          </p:cNvPr>
          <p:cNvSpPr txBox="1"/>
          <p:nvPr/>
        </p:nvSpPr>
        <p:spPr>
          <a:xfrm>
            <a:off x="548640" y="6089904"/>
            <a:ext cx="11094415" cy="237744"/>
          </a:xfrm>
          <a:prstGeom prst="rect">
            <a:avLst/>
          </a:prstGeom>
          <a:noFill/>
          <a:ln/>
        </p:spPr>
        <p:txBody>
          <a:bodyPr wrap="square" lIns="0" tIns="0" rIns="0" bIns="0" rtlCol="0" anchor="ctr"/>
          <a:lstStyle/>
          <a:p>
            <a:r>
              <a:rPr lang="en-US" sz="1000" dirty="0">
                <a:solidFill>
                  <a:srgbClr val="7D8899"/>
                </a:solidFill>
                <a:latin typeface="+mj-lt"/>
              </a:rPr>
              <a:t>Sources: IATA Global Outlook for Air Transport (Dec 2023); SITA Air Transport IT Insights 2024 &amp; 2025. </a:t>
            </a:r>
            <a:endParaRPr lang="en-US" sz="1000" dirty="0">
              <a:solidFill>
                <a:srgbClr val="0A1628"/>
              </a:solidFill>
              <a:latin typeface="+mj-lt"/>
            </a:endParaRPr>
          </a:p>
        </p:txBody>
      </p:sp>
      <p:pic>
        <p:nvPicPr>
          <p:cNvPr id="160" name="Image 3" descr="preencoded.png">
            <a:extLst>
              <a:ext uri="{FF2B5EF4-FFF2-40B4-BE49-F238E27FC236}">
                <a16:creationId xmlns:a16="http://schemas.microsoft.com/office/drawing/2014/main" id="{13A67E27-BC60-CCB8-0EF1-FD220A71AEE7}"/>
              </a:ext>
            </a:extLst>
          </p:cNvPr>
          <p:cNvPicPr>
            <a:picLocks noChangeAspect="1"/>
          </p:cNvPicPr>
          <p:nvPr/>
        </p:nvPicPr>
        <p:blipFill>
          <a:blip r:embed="rId12"/>
          <a:stretch>
            <a:fillRect/>
          </a:stretch>
        </p:blipFill>
        <p:spPr>
          <a:xfrm>
            <a:off x="1874520" y="3162088"/>
            <a:ext cx="219456" cy="219456"/>
          </a:xfrm>
          <a:prstGeom prst="rect">
            <a:avLst/>
          </a:prstGeom>
        </p:spPr>
      </p:pic>
      <p:pic>
        <p:nvPicPr>
          <p:cNvPr id="162" name="Image 4" descr="preencoded.png">
            <a:extLst>
              <a:ext uri="{FF2B5EF4-FFF2-40B4-BE49-F238E27FC236}">
                <a16:creationId xmlns:a16="http://schemas.microsoft.com/office/drawing/2014/main" id="{DFBFD0C7-A12C-4F80-4AA8-48760B08D663}"/>
              </a:ext>
            </a:extLst>
          </p:cNvPr>
          <p:cNvPicPr>
            <a:picLocks noChangeAspect="1"/>
          </p:cNvPicPr>
          <p:nvPr/>
        </p:nvPicPr>
        <p:blipFill>
          <a:blip r:embed="rId13"/>
          <a:stretch>
            <a:fillRect/>
          </a:stretch>
        </p:blipFill>
        <p:spPr>
          <a:xfrm>
            <a:off x="2203704" y="3162088"/>
            <a:ext cx="219456" cy="219456"/>
          </a:xfrm>
          <a:prstGeom prst="rect">
            <a:avLst/>
          </a:prstGeom>
        </p:spPr>
      </p:pic>
      <p:pic>
        <p:nvPicPr>
          <p:cNvPr id="164" name="Image 6" descr="preencoded.png">
            <a:extLst>
              <a:ext uri="{FF2B5EF4-FFF2-40B4-BE49-F238E27FC236}">
                <a16:creationId xmlns:a16="http://schemas.microsoft.com/office/drawing/2014/main" id="{B899F753-05E3-76F8-44B6-F77E68DE96D5}"/>
              </a:ext>
            </a:extLst>
          </p:cNvPr>
          <p:cNvPicPr>
            <a:picLocks noChangeAspect="1"/>
          </p:cNvPicPr>
          <p:nvPr/>
        </p:nvPicPr>
        <p:blipFill>
          <a:blip r:embed="rId14"/>
          <a:stretch>
            <a:fillRect/>
          </a:stretch>
        </p:blipFill>
        <p:spPr>
          <a:xfrm>
            <a:off x="4507992" y="3162088"/>
            <a:ext cx="219456" cy="219456"/>
          </a:xfrm>
          <a:prstGeom prst="rect">
            <a:avLst/>
          </a:prstGeom>
        </p:spPr>
      </p:pic>
      <p:pic>
        <p:nvPicPr>
          <p:cNvPr id="166" name="Image 7" descr="preencoded.png">
            <a:extLst>
              <a:ext uri="{FF2B5EF4-FFF2-40B4-BE49-F238E27FC236}">
                <a16:creationId xmlns:a16="http://schemas.microsoft.com/office/drawing/2014/main" id="{3B093D14-E2C0-4FAA-0C6C-13760D5406E1}"/>
              </a:ext>
            </a:extLst>
          </p:cNvPr>
          <p:cNvPicPr>
            <a:picLocks noChangeAspect="1"/>
          </p:cNvPicPr>
          <p:nvPr/>
        </p:nvPicPr>
        <p:blipFill>
          <a:blip r:embed="rId15"/>
          <a:stretch>
            <a:fillRect/>
          </a:stretch>
        </p:blipFill>
        <p:spPr>
          <a:xfrm>
            <a:off x="4837176" y="3162088"/>
            <a:ext cx="219456" cy="219456"/>
          </a:xfrm>
          <a:prstGeom prst="rect">
            <a:avLst/>
          </a:prstGeom>
        </p:spPr>
      </p:pic>
      <p:pic>
        <p:nvPicPr>
          <p:cNvPr id="168" name="Image 9" descr="preencoded.png">
            <a:extLst>
              <a:ext uri="{FF2B5EF4-FFF2-40B4-BE49-F238E27FC236}">
                <a16:creationId xmlns:a16="http://schemas.microsoft.com/office/drawing/2014/main" id="{9AB3EA72-23D2-3AC0-7DC7-F928B2C5D583}"/>
              </a:ext>
            </a:extLst>
          </p:cNvPr>
          <p:cNvPicPr>
            <a:picLocks noChangeAspect="1"/>
          </p:cNvPicPr>
          <p:nvPr/>
        </p:nvPicPr>
        <p:blipFill>
          <a:blip r:embed="rId13"/>
          <a:stretch>
            <a:fillRect/>
          </a:stretch>
        </p:blipFill>
        <p:spPr>
          <a:xfrm>
            <a:off x="7141464" y="3162088"/>
            <a:ext cx="219456" cy="219456"/>
          </a:xfrm>
          <a:prstGeom prst="rect">
            <a:avLst/>
          </a:prstGeom>
        </p:spPr>
      </p:pic>
      <p:pic>
        <p:nvPicPr>
          <p:cNvPr id="170" name="Image 10" descr="preencoded.png">
            <a:extLst>
              <a:ext uri="{FF2B5EF4-FFF2-40B4-BE49-F238E27FC236}">
                <a16:creationId xmlns:a16="http://schemas.microsoft.com/office/drawing/2014/main" id="{081F75C4-9E90-BCB6-C5B5-27CA512E5F55}"/>
              </a:ext>
            </a:extLst>
          </p:cNvPr>
          <p:cNvPicPr>
            <a:picLocks noChangeAspect="1"/>
          </p:cNvPicPr>
          <p:nvPr/>
        </p:nvPicPr>
        <p:blipFill>
          <a:blip r:embed="rId16"/>
          <a:stretch>
            <a:fillRect/>
          </a:stretch>
        </p:blipFill>
        <p:spPr>
          <a:xfrm>
            <a:off x="7470648" y="3162088"/>
            <a:ext cx="219456" cy="219456"/>
          </a:xfrm>
          <a:prstGeom prst="rect">
            <a:avLst/>
          </a:prstGeom>
        </p:spPr>
      </p:pic>
      <p:pic>
        <p:nvPicPr>
          <p:cNvPr id="172" name="Image 12" descr="preencoded.png">
            <a:extLst>
              <a:ext uri="{FF2B5EF4-FFF2-40B4-BE49-F238E27FC236}">
                <a16:creationId xmlns:a16="http://schemas.microsoft.com/office/drawing/2014/main" id="{33292B52-3A9F-E58F-FE67-768E048895F8}"/>
              </a:ext>
            </a:extLst>
          </p:cNvPr>
          <p:cNvPicPr>
            <a:picLocks noChangeAspect="1"/>
          </p:cNvPicPr>
          <p:nvPr/>
        </p:nvPicPr>
        <p:blipFill>
          <a:blip r:embed="rId14"/>
          <a:stretch>
            <a:fillRect/>
          </a:stretch>
        </p:blipFill>
        <p:spPr>
          <a:xfrm>
            <a:off x="9774936" y="3162088"/>
            <a:ext cx="219456" cy="219456"/>
          </a:xfrm>
          <a:prstGeom prst="rect">
            <a:avLst/>
          </a:prstGeom>
        </p:spPr>
      </p:pic>
      <p:pic>
        <p:nvPicPr>
          <p:cNvPr id="174" name="Image 13" descr="preencoded.png">
            <a:extLst>
              <a:ext uri="{FF2B5EF4-FFF2-40B4-BE49-F238E27FC236}">
                <a16:creationId xmlns:a16="http://schemas.microsoft.com/office/drawing/2014/main" id="{DEE59EF3-FD86-4C8D-8321-0E1AE89BAC23}"/>
              </a:ext>
            </a:extLst>
          </p:cNvPr>
          <p:cNvPicPr>
            <a:picLocks noChangeAspect="1"/>
          </p:cNvPicPr>
          <p:nvPr/>
        </p:nvPicPr>
        <p:blipFill>
          <a:blip r:embed="rId13"/>
          <a:stretch>
            <a:fillRect/>
          </a:stretch>
        </p:blipFill>
        <p:spPr>
          <a:xfrm>
            <a:off x="10104120" y="3162088"/>
            <a:ext cx="219456" cy="219456"/>
          </a:xfrm>
          <a:prstGeom prst="rect">
            <a:avLst/>
          </a:prstGeom>
        </p:spPr>
      </p:pic>
    </p:spTree>
    <p:extLst>
      <p:ext uri="{BB962C8B-B14F-4D97-AF65-F5344CB8AC3E}">
        <p14:creationId xmlns:p14="http://schemas.microsoft.com/office/powerpoint/2010/main" val="333922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3A3D-545D-0CD9-AB04-1402AEF81BA1}"/>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FE65ED44-8DB6-2EDB-4B82-1C229A16857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470E9D31-D6F7-78B8-9431-3883A953BBF5}"/>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C8DDC2E7-0D46-BEDA-B896-5B1FCC7901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4EC15D4-BE5A-757F-6B02-21351CCBF4D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79BB7842-812C-2F3E-B647-1A88F1D3999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D71C6F89-DFED-26E4-3ABC-C9625EF18DBF}"/>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3</a:t>
            </a:fld>
            <a:r>
              <a:rPr lang="en-US" sz="1200">
                <a:latin typeface="+mj-lt"/>
              </a:rPr>
              <a:t>   | </a:t>
            </a:r>
          </a:p>
        </p:txBody>
      </p:sp>
      <p:sp>
        <p:nvSpPr>
          <p:cNvPr id="11" name="Title 4">
            <a:extLst>
              <a:ext uri="{FF2B5EF4-FFF2-40B4-BE49-F238E27FC236}">
                <a16:creationId xmlns:a16="http://schemas.microsoft.com/office/drawing/2014/main" id="{08F212A0-0828-8963-EA3E-E0EDF089EC8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A focused market in high-growth airport regions</a:t>
            </a:r>
          </a:p>
        </p:txBody>
      </p:sp>
      <p:sp>
        <p:nvSpPr>
          <p:cNvPr id="12" name="TextBox 25">
            <a:extLst>
              <a:ext uri="{FF2B5EF4-FFF2-40B4-BE49-F238E27FC236}">
                <a16:creationId xmlns:a16="http://schemas.microsoft.com/office/drawing/2014/main" id="{7C05267D-674B-7BAD-3DAC-A5B6FDCA3332}"/>
              </a:ext>
            </a:extLst>
          </p:cNvPr>
          <p:cNvSpPr txBox="1"/>
          <p:nvPr/>
        </p:nvSpPr>
        <p:spPr>
          <a:xfrm>
            <a:off x="343779" y="563652"/>
            <a:ext cx="1531958"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Market Potential</a:t>
            </a:r>
          </a:p>
        </p:txBody>
      </p:sp>
      <p:sp>
        <p:nvSpPr>
          <p:cNvPr id="28" name="Text 2">
            <a:extLst>
              <a:ext uri="{FF2B5EF4-FFF2-40B4-BE49-F238E27FC236}">
                <a16:creationId xmlns:a16="http://schemas.microsoft.com/office/drawing/2014/main" id="{BE58A662-E22B-C1CC-9FBC-E7CEEE803934}"/>
              </a:ext>
            </a:extLst>
          </p:cNvPr>
          <p:cNvSpPr/>
          <p:nvPr/>
        </p:nvSpPr>
        <p:spPr>
          <a:xfrm>
            <a:off x="398363" y="1399096"/>
            <a:ext cx="11368060" cy="338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srgbClr val="4F5B6D"/>
                </a:solidFill>
                <a:effectLst/>
                <a:uLnTx/>
                <a:uFillTx/>
                <a:latin typeface="+mj-lt"/>
                <a:ea typeface="+mn-ea"/>
                <a:cs typeface="+mn-cs"/>
              </a:rPr>
              <a:t>Brownfield airports in the Middle East and Southeast Asia, where growth outpaces capacity.</a:t>
            </a:r>
          </a:p>
        </p:txBody>
      </p:sp>
      <p:sp>
        <p:nvSpPr>
          <p:cNvPr id="2" name="Shape 3">
            <a:extLst>
              <a:ext uri="{FF2B5EF4-FFF2-40B4-BE49-F238E27FC236}">
                <a16:creationId xmlns:a16="http://schemas.microsoft.com/office/drawing/2014/main" id="{6AC5AB40-2C11-70A6-90D0-EEE4CE2AFAA6}"/>
              </a:ext>
            </a:extLst>
          </p:cNvPr>
          <p:cNvSpPr/>
          <p:nvPr/>
        </p:nvSpPr>
        <p:spPr>
          <a:xfrm>
            <a:off x="548640" y="2176272"/>
            <a:ext cx="5760720" cy="731520"/>
          </a:xfrm>
          <a:prstGeom prst="roundRect">
            <a:avLst>
              <a:gd name="adj" fmla="val 20000"/>
            </a:avLst>
          </a:prstGeom>
          <a:solidFill>
            <a:srgbClr val="0B84AE">
              <a:alpha val="18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4" name="Text 4">
            <a:extLst>
              <a:ext uri="{FF2B5EF4-FFF2-40B4-BE49-F238E27FC236}">
                <a16:creationId xmlns:a16="http://schemas.microsoft.com/office/drawing/2014/main" id="{7F976638-C59C-B9DE-D6E9-693646C42A98}"/>
              </a:ext>
            </a:extLst>
          </p:cNvPr>
          <p:cNvSpPr txBox="1"/>
          <p:nvPr/>
        </p:nvSpPr>
        <p:spPr>
          <a:xfrm>
            <a:off x="548640" y="2176272"/>
            <a:ext cx="5760720" cy="731520"/>
          </a:xfrm>
          <a:prstGeom prst="rect">
            <a:avLst/>
          </a:prstGeom>
          <a:noFill/>
          <a:ln/>
        </p:spPr>
        <p:txBody>
          <a:bodyPr wrap="square" lIns="0" tIns="0" rIns="0" bIns="0" rtlCol="0" anchor="ctr"/>
          <a:lstStyle/>
          <a:p>
            <a:pPr algn="ctr"/>
            <a:r>
              <a:rPr lang="en-US" sz="2200" b="1" dirty="0">
                <a:solidFill>
                  <a:srgbClr val="0A1628"/>
                </a:solidFill>
                <a:latin typeface="+mj-lt"/>
              </a:rPr>
              <a:t>US$5.0B</a:t>
            </a:r>
            <a:r>
              <a:rPr lang="en-US" sz="1500" dirty="0">
                <a:solidFill>
                  <a:srgbClr val="0A1628"/>
                </a:solidFill>
                <a:latin typeface="+mj-lt"/>
              </a:rPr>
              <a:t>  global ABC market by 2030</a:t>
            </a:r>
            <a:endParaRPr lang="en-US" sz="1400" dirty="0">
              <a:solidFill>
                <a:srgbClr val="0A1628"/>
              </a:solidFill>
              <a:latin typeface="+mj-lt"/>
            </a:endParaRPr>
          </a:p>
        </p:txBody>
      </p:sp>
      <p:sp>
        <p:nvSpPr>
          <p:cNvPr id="8" name="Shape 5">
            <a:extLst>
              <a:ext uri="{FF2B5EF4-FFF2-40B4-BE49-F238E27FC236}">
                <a16:creationId xmlns:a16="http://schemas.microsoft.com/office/drawing/2014/main" id="{B55A9202-3F77-804C-A4A1-C5304F385913}"/>
              </a:ext>
            </a:extLst>
          </p:cNvPr>
          <p:cNvSpPr/>
          <p:nvPr/>
        </p:nvSpPr>
        <p:spPr>
          <a:xfrm>
            <a:off x="1028700" y="3072384"/>
            <a:ext cx="4800600" cy="731520"/>
          </a:xfrm>
          <a:prstGeom prst="roundRect">
            <a:avLst>
              <a:gd name="adj" fmla="val 20000"/>
            </a:avLst>
          </a:prstGeom>
          <a:solidFill>
            <a:srgbClr val="0B84AE">
              <a:alpha val="30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 name="Text 6">
            <a:extLst>
              <a:ext uri="{FF2B5EF4-FFF2-40B4-BE49-F238E27FC236}">
                <a16:creationId xmlns:a16="http://schemas.microsoft.com/office/drawing/2014/main" id="{BA6B416C-3839-BFF6-FAA8-0BF73FE5C087}"/>
              </a:ext>
            </a:extLst>
          </p:cNvPr>
          <p:cNvSpPr txBox="1"/>
          <p:nvPr/>
        </p:nvSpPr>
        <p:spPr>
          <a:xfrm>
            <a:off x="1028700" y="3072384"/>
            <a:ext cx="4800600" cy="731520"/>
          </a:xfrm>
          <a:prstGeom prst="rect">
            <a:avLst/>
          </a:prstGeom>
          <a:noFill/>
          <a:ln/>
        </p:spPr>
        <p:txBody>
          <a:bodyPr wrap="square" lIns="0" tIns="0" rIns="0" bIns="0" rtlCol="0" anchor="ctr"/>
          <a:lstStyle/>
          <a:p>
            <a:pPr algn="ctr"/>
            <a:r>
              <a:rPr lang="en-US" sz="2200" b="1" dirty="0">
                <a:solidFill>
                  <a:srgbClr val="0A1628"/>
                </a:solidFill>
                <a:latin typeface="+mj-lt"/>
              </a:rPr>
              <a:t>≈83%</a:t>
            </a:r>
            <a:r>
              <a:rPr lang="en-US" sz="1500" dirty="0">
                <a:solidFill>
                  <a:srgbClr val="0A1628"/>
                </a:solidFill>
                <a:latin typeface="+mj-lt"/>
              </a:rPr>
              <a:t>  of it at airports</a:t>
            </a:r>
            <a:endParaRPr lang="en-US" sz="1400" dirty="0">
              <a:solidFill>
                <a:srgbClr val="0A1628"/>
              </a:solidFill>
              <a:latin typeface="+mj-lt"/>
            </a:endParaRPr>
          </a:p>
        </p:txBody>
      </p:sp>
      <p:sp>
        <p:nvSpPr>
          <p:cNvPr id="13" name="Shape 7">
            <a:extLst>
              <a:ext uri="{FF2B5EF4-FFF2-40B4-BE49-F238E27FC236}">
                <a16:creationId xmlns:a16="http://schemas.microsoft.com/office/drawing/2014/main" id="{F5173520-1E25-01F4-3893-8AB1049B8344}"/>
              </a:ext>
            </a:extLst>
          </p:cNvPr>
          <p:cNvSpPr/>
          <p:nvPr/>
        </p:nvSpPr>
        <p:spPr>
          <a:xfrm>
            <a:off x="1508760" y="3968496"/>
            <a:ext cx="3840480" cy="731520"/>
          </a:xfrm>
          <a:prstGeom prst="roundRect">
            <a:avLst>
              <a:gd name="adj" fmla="val 20000"/>
            </a:avLst>
          </a:prstGeom>
          <a:solidFill>
            <a:srgbClr val="0B84AE">
              <a:alpha val="48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4" name="Text 8">
            <a:extLst>
              <a:ext uri="{FF2B5EF4-FFF2-40B4-BE49-F238E27FC236}">
                <a16:creationId xmlns:a16="http://schemas.microsoft.com/office/drawing/2014/main" id="{9ADAD57D-CFD1-CAFB-81F5-2675554CA033}"/>
              </a:ext>
            </a:extLst>
          </p:cNvPr>
          <p:cNvSpPr txBox="1"/>
          <p:nvPr/>
        </p:nvSpPr>
        <p:spPr>
          <a:xfrm>
            <a:off x="1508760" y="3968496"/>
            <a:ext cx="3840480" cy="731520"/>
          </a:xfrm>
          <a:prstGeom prst="rect">
            <a:avLst/>
          </a:prstGeom>
          <a:noFill/>
          <a:ln/>
        </p:spPr>
        <p:txBody>
          <a:bodyPr wrap="square" lIns="0" tIns="0" rIns="0" bIns="0" rtlCol="0" anchor="ctr"/>
          <a:lstStyle/>
          <a:p>
            <a:pPr algn="ctr"/>
            <a:r>
              <a:rPr lang="en-US" sz="2200" b="1" dirty="0">
                <a:solidFill>
                  <a:srgbClr val="0A1628"/>
                </a:solidFill>
                <a:latin typeface="+mj-lt"/>
              </a:rPr>
              <a:t>10–15%</a:t>
            </a:r>
            <a:r>
              <a:rPr lang="en-US" sz="1500" dirty="0">
                <a:solidFill>
                  <a:srgbClr val="0A1628"/>
                </a:solidFill>
                <a:latin typeface="+mj-lt"/>
              </a:rPr>
              <a:t>  Middle East + SE Asia</a:t>
            </a:r>
            <a:endParaRPr lang="en-US" sz="1400" dirty="0">
              <a:solidFill>
                <a:srgbClr val="0A1628"/>
              </a:solidFill>
              <a:latin typeface="+mj-lt"/>
            </a:endParaRPr>
          </a:p>
        </p:txBody>
      </p:sp>
      <p:sp>
        <p:nvSpPr>
          <p:cNvPr id="15" name="Shape 9">
            <a:extLst>
              <a:ext uri="{FF2B5EF4-FFF2-40B4-BE49-F238E27FC236}">
                <a16:creationId xmlns:a16="http://schemas.microsoft.com/office/drawing/2014/main" id="{559FD57F-9972-4AF4-4782-9F0B2AB6D3DC}"/>
              </a:ext>
            </a:extLst>
          </p:cNvPr>
          <p:cNvSpPr/>
          <p:nvPr/>
        </p:nvSpPr>
        <p:spPr>
          <a:xfrm>
            <a:off x="1988820" y="4864608"/>
            <a:ext cx="2880360" cy="731520"/>
          </a:xfrm>
          <a:prstGeom prst="roundRect">
            <a:avLst>
              <a:gd name="adj" fmla="val 20000"/>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6" name="Text 10">
            <a:extLst>
              <a:ext uri="{FF2B5EF4-FFF2-40B4-BE49-F238E27FC236}">
                <a16:creationId xmlns:a16="http://schemas.microsoft.com/office/drawing/2014/main" id="{2CBB4854-8192-A17E-C11E-D4A97712D0FC}"/>
              </a:ext>
            </a:extLst>
          </p:cNvPr>
          <p:cNvSpPr txBox="1"/>
          <p:nvPr/>
        </p:nvSpPr>
        <p:spPr>
          <a:xfrm>
            <a:off x="1988820" y="4864608"/>
            <a:ext cx="2880360" cy="731520"/>
          </a:xfrm>
          <a:prstGeom prst="rect">
            <a:avLst/>
          </a:prstGeom>
          <a:noFill/>
          <a:ln/>
        </p:spPr>
        <p:txBody>
          <a:bodyPr wrap="square" lIns="0" tIns="0" rIns="0" bIns="0" rtlCol="0" anchor="ctr"/>
          <a:lstStyle/>
          <a:p>
            <a:pPr algn="ctr"/>
            <a:r>
              <a:rPr lang="en-US" sz="2200" b="1" dirty="0">
                <a:solidFill>
                  <a:srgbClr val="FFFFFF"/>
                </a:solidFill>
                <a:latin typeface="+mj-lt"/>
              </a:rPr>
              <a:t>≈25%</a:t>
            </a:r>
            <a:r>
              <a:rPr lang="en-US" sz="1500" dirty="0">
                <a:solidFill>
                  <a:srgbClr val="FFFFFF"/>
                </a:solidFill>
                <a:latin typeface="+mj-lt"/>
              </a:rPr>
              <a:t>  FastPass addressable share</a:t>
            </a:r>
            <a:endParaRPr lang="en-US" sz="1400" dirty="0">
              <a:solidFill>
                <a:srgbClr val="0A1628"/>
              </a:solidFill>
              <a:latin typeface="+mj-lt"/>
            </a:endParaRPr>
          </a:p>
        </p:txBody>
      </p:sp>
      <p:sp>
        <p:nvSpPr>
          <p:cNvPr id="17" name="Text 11">
            <a:extLst>
              <a:ext uri="{FF2B5EF4-FFF2-40B4-BE49-F238E27FC236}">
                <a16:creationId xmlns:a16="http://schemas.microsoft.com/office/drawing/2014/main" id="{10B20C6E-6B0E-A635-20EB-D5537109CCF7}"/>
              </a:ext>
            </a:extLst>
          </p:cNvPr>
          <p:cNvSpPr txBox="1"/>
          <p:nvPr/>
        </p:nvSpPr>
        <p:spPr>
          <a:xfrm>
            <a:off x="548640" y="5742432"/>
            <a:ext cx="5760720" cy="256032"/>
          </a:xfrm>
          <a:prstGeom prst="rect">
            <a:avLst/>
          </a:prstGeom>
          <a:noFill/>
          <a:ln/>
        </p:spPr>
        <p:txBody>
          <a:bodyPr wrap="square" lIns="0" tIns="0" rIns="0" bIns="0" rtlCol="0" anchor="t"/>
          <a:lstStyle/>
          <a:p>
            <a:pPr algn="ctr"/>
            <a:r>
              <a:rPr lang="en-US" sz="1200" dirty="0">
                <a:solidFill>
                  <a:srgbClr val="4F5B6D"/>
                </a:solidFill>
                <a:latin typeface="+mj-lt"/>
              </a:rPr>
              <a:t>Global market grows from US$2.56B (2025): ~14.5% CAGR</a:t>
            </a:r>
            <a:endParaRPr lang="en-US" sz="1200" dirty="0">
              <a:solidFill>
                <a:srgbClr val="0A1628"/>
              </a:solidFill>
              <a:latin typeface="+mj-lt"/>
            </a:endParaRPr>
          </a:p>
        </p:txBody>
      </p:sp>
      <p:sp>
        <p:nvSpPr>
          <p:cNvPr id="18" name="Shape 12">
            <a:extLst>
              <a:ext uri="{FF2B5EF4-FFF2-40B4-BE49-F238E27FC236}">
                <a16:creationId xmlns:a16="http://schemas.microsoft.com/office/drawing/2014/main" id="{86403B57-E9D5-5CED-00B9-A17C45F4D2C8}"/>
              </a:ext>
            </a:extLst>
          </p:cNvPr>
          <p:cNvSpPr/>
          <p:nvPr/>
        </p:nvSpPr>
        <p:spPr>
          <a:xfrm>
            <a:off x="6675120" y="2176272"/>
            <a:ext cx="4967935" cy="2194560"/>
          </a:xfrm>
          <a:prstGeom prst="roundRect">
            <a:avLst>
              <a:gd name="adj" fmla="val 7500"/>
            </a:avLst>
          </a:prstGeom>
          <a:solidFill>
            <a:srgbClr val="0B2545"/>
          </a:solidFill>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9" name="Text 13">
            <a:extLst>
              <a:ext uri="{FF2B5EF4-FFF2-40B4-BE49-F238E27FC236}">
                <a16:creationId xmlns:a16="http://schemas.microsoft.com/office/drawing/2014/main" id="{BD0D6744-A0B4-7960-10B1-B2E15467FC21}"/>
              </a:ext>
            </a:extLst>
          </p:cNvPr>
          <p:cNvSpPr txBox="1"/>
          <p:nvPr/>
        </p:nvSpPr>
        <p:spPr>
          <a:xfrm>
            <a:off x="7040880" y="2423160"/>
            <a:ext cx="4236415" cy="274320"/>
          </a:xfrm>
          <a:prstGeom prst="rect">
            <a:avLst/>
          </a:prstGeom>
          <a:noFill/>
          <a:ln/>
        </p:spPr>
        <p:txBody>
          <a:bodyPr wrap="square" lIns="0" tIns="0" rIns="0" bIns="0" rtlCol="0" anchor="ctr"/>
          <a:lstStyle/>
          <a:p>
            <a:r>
              <a:rPr lang="en-US" sz="1100" b="1" kern="0" spc="200" dirty="0">
                <a:solidFill>
                  <a:srgbClr val="E1E6ED"/>
                </a:solidFill>
                <a:latin typeface="+mj-lt"/>
              </a:rPr>
              <a:t>SERVICEABLE MARKET  ·  2026–2030</a:t>
            </a:r>
            <a:endParaRPr lang="en-US" sz="1100" dirty="0">
              <a:solidFill>
                <a:srgbClr val="0A1628"/>
              </a:solidFill>
              <a:latin typeface="+mj-lt"/>
            </a:endParaRPr>
          </a:p>
        </p:txBody>
      </p:sp>
      <p:sp>
        <p:nvSpPr>
          <p:cNvPr id="20" name="Text 14">
            <a:extLst>
              <a:ext uri="{FF2B5EF4-FFF2-40B4-BE49-F238E27FC236}">
                <a16:creationId xmlns:a16="http://schemas.microsoft.com/office/drawing/2014/main" id="{87091466-0F5A-2135-B017-7B8EA3857F08}"/>
              </a:ext>
            </a:extLst>
          </p:cNvPr>
          <p:cNvSpPr txBox="1"/>
          <p:nvPr/>
        </p:nvSpPr>
        <p:spPr>
          <a:xfrm>
            <a:off x="7040880" y="2743200"/>
            <a:ext cx="4236415" cy="777240"/>
          </a:xfrm>
          <a:prstGeom prst="rect">
            <a:avLst/>
          </a:prstGeom>
          <a:noFill/>
          <a:ln/>
        </p:spPr>
        <p:txBody>
          <a:bodyPr wrap="square" lIns="0" tIns="0" rIns="0" bIns="0" rtlCol="0" anchor="ctr"/>
          <a:lstStyle/>
          <a:p>
            <a:r>
              <a:rPr lang="en-US" sz="4000" b="1" dirty="0">
                <a:solidFill>
                  <a:srgbClr val="F6F7F9"/>
                </a:solidFill>
                <a:latin typeface="+mj-lt"/>
              </a:rPr>
              <a:t>US$500–700M</a:t>
            </a:r>
            <a:endParaRPr lang="en-US" sz="4600" dirty="0">
              <a:solidFill>
                <a:srgbClr val="0A1628"/>
              </a:solidFill>
              <a:latin typeface="+mj-lt"/>
            </a:endParaRPr>
          </a:p>
        </p:txBody>
      </p:sp>
      <p:sp>
        <p:nvSpPr>
          <p:cNvPr id="21" name="Text 15">
            <a:extLst>
              <a:ext uri="{FF2B5EF4-FFF2-40B4-BE49-F238E27FC236}">
                <a16:creationId xmlns:a16="http://schemas.microsoft.com/office/drawing/2014/main" id="{4728FC4E-1D64-5578-CE7A-DFAC2E7786CD}"/>
              </a:ext>
            </a:extLst>
          </p:cNvPr>
          <p:cNvSpPr txBox="1"/>
          <p:nvPr/>
        </p:nvSpPr>
        <p:spPr>
          <a:xfrm>
            <a:off x="7040880" y="3566160"/>
            <a:ext cx="4236415" cy="329184"/>
          </a:xfrm>
          <a:prstGeom prst="rect">
            <a:avLst/>
          </a:prstGeom>
          <a:noFill/>
          <a:ln/>
        </p:spPr>
        <p:txBody>
          <a:bodyPr wrap="square" lIns="0" tIns="0" rIns="0" bIns="0" rtlCol="0" anchor="ctr"/>
          <a:lstStyle/>
          <a:p>
            <a:r>
              <a:rPr lang="en-US" dirty="0">
                <a:solidFill>
                  <a:srgbClr val="F6F7F9"/>
                </a:solidFill>
                <a:latin typeface="+mj-lt"/>
              </a:rPr>
              <a:t>≈ US$100–140M a year, hardware to services</a:t>
            </a:r>
          </a:p>
        </p:txBody>
      </p:sp>
      <p:sp>
        <p:nvSpPr>
          <p:cNvPr id="30" name="Text 23">
            <a:extLst>
              <a:ext uri="{FF2B5EF4-FFF2-40B4-BE49-F238E27FC236}">
                <a16:creationId xmlns:a16="http://schemas.microsoft.com/office/drawing/2014/main" id="{6A25046E-489A-CCE0-009E-9E7CC304B6C4}"/>
              </a:ext>
            </a:extLst>
          </p:cNvPr>
          <p:cNvSpPr txBox="1"/>
          <p:nvPr/>
        </p:nvSpPr>
        <p:spPr>
          <a:xfrm>
            <a:off x="548640" y="6089904"/>
            <a:ext cx="11094415" cy="237744"/>
          </a:xfrm>
          <a:prstGeom prst="rect">
            <a:avLst/>
          </a:prstGeom>
          <a:noFill/>
          <a:ln/>
        </p:spPr>
        <p:txBody>
          <a:bodyPr wrap="square" lIns="0" tIns="0" rIns="0" bIns="0" rtlCol="0" anchor="ctr"/>
          <a:lstStyle/>
          <a:p>
            <a:r>
              <a:rPr lang="en-US" sz="1000" dirty="0">
                <a:solidFill>
                  <a:srgbClr val="7D8899"/>
                </a:solidFill>
                <a:latin typeface="+mj-lt"/>
              </a:rPr>
              <a:t>Sources: MarketsandMarkets, Automated Border Control Market 2025–2030; SITA Air Transport IT Insights 2024. Regional and serviceable shares: URS estimate</a:t>
            </a:r>
            <a:endParaRPr lang="en-US" sz="1000" dirty="0">
              <a:solidFill>
                <a:srgbClr val="0A1628"/>
              </a:solidFill>
              <a:latin typeface="+mj-lt"/>
            </a:endParaRPr>
          </a:p>
        </p:txBody>
      </p:sp>
      <p:sp>
        <p:nvSpPr>
          <p:cNvPr id="32" name="Shape 16">
            <a:extLst>
              <a:ext uri="{FF2B5EF4-FFF2-40B4-BE49-F238E27FC236}">
                <a16:creationId xmlns:a16="http://schemas.microsoft.com/office/drawing/2014/main" id="{49A25D47-A920-567A-56C3-F788953DC1AB}"/>
              </a:ext>
            </a:extLst>
          </p:cNvPr>
          <p:cNvSpPr/>
          <p:nvPr/>
        </p:nvSpPr>
        <p:spPr>
          <a:xfrm>
            <a:off x="6629400" y="4529666"/>
            <a:ext cx="2369668" cy="1463040"/>
          </a:xfrm>
          <a:prstGeom prst="roundRect">
            <a:avLst>
              <a:gd name="adj" fmla="val 8750"/>
            </a:avLst>
          </a:prstGeom>
          <a:solidFill>
            <a:schemeClr val="bg1"/>
          </a:solidFill>
          <a:ln/>
          <a:effectLst>
            <a:outerShdw blurRad="203200" dist="38100" dir="5400000" algn="bl" rotWithShape="0">
              <a:srgbClr val="0A1628">
                <a:alpha val="9000"/>
              </a:srgbClr>
            </a:outerShdw>
          </a:effectLst>
        </p:spPr>
        <p:txBody>
          <a:bodyPr/>
          <a:lstStyle/>
          <a:p>
            <a:endParaRPr lang="en-SG"/>
          </a:p>
        </p:txBody>
      </p:sp>
      <p:sp>
        <p:nvSpPr>
          <p:cNvPr id="34" name="Shape 17">
            <a:extLst>
              <a:ext uri="{FF2B5EF4-FFF2-40B4-BE49-F238E27FC236}">
                <a16:creationId xmlns:a16="http://schemas.microsoft.com/office/drawing/2014/main" id="{B7F9B623-8C11-E28B-CF4C-0371F1B1D199}"/>
              </a:ext>
            </a:extLst>
          </p:cNvPr>
          <p:cNvSpPr/>
          <p:nvPr/>
        </p:nvSpPr>
        <p:spPr>
          <a:xfrm>
            <a:off x="6858000" y="4712546"/>
            <a:ext cx="384048" cy="384048"/>
          </a:xfrm>
          <a:prstGeom prst="ellipse">
            <a:avLst/>
          </a:prstGeom>
          <a:solidFill>
            <a:schemeClr val="accent1">
              <a:alpha val="12000"/>
            </a:schemeClr>
          </a:solidFill>
          <a:ln/>
        </p:spPr>
        <p:txBody>
          <a:bodyPr/>
          <a:lstStyle/>
          <a:p>
            <a:endParaRPr lang="en-SG"/>
          </a:p>
        </p:txBody>
      </p:sp>
      <p:pic>
        <p:nvPicPr>
          <p:cNvPr id="36" name="Image 0" descr="preencoded.png">
            <a:extLst>
              <a:ext uri="{FF2B5EF4-FFF2-40B4-BE49-F238E27FC236}">
                <a16:creationId xmlns:a16="http://schemas.microsoft.com/office/drawing/2014/main" id="{FADDA780-DADB-9546-23D7-50ED19B3EE6C}"/>
              </a:ext>
            </a:extLst>
          </p:cNvPr>
          <p:cNvPicPr>
            <a:picLocks noChangeAspect="1"/>
          </p:cNvPicPr>
          <p:nvPr/>
        </p:nvPicPr>
        <p:blipFill>
          <a:blip r:embed="rId5"/>
          <a:stretch>
            <a:fillRect/>
          </a:stretch>
        </p:blipFill>
        <p:spPr>
          <a:xfrm>
            <a:off x="6946331" y="4800877"/>
            <a:ext cx="207386" cy="207386"/>
          </a:xfrm>
          <a:prstGeom prst="rect">
            <a:avLst/>
          </a:prstGeom>
        </p:spPr>
      </p:pic>
      <p:sp>
        <p:nvSpPr>
          <p:cNvPr id="39" name="Text 18">
            <a:extLst>
              <a:ext uri="{FF2B5EF4-FFF2-40B4-BE49-F238E27FC236}">
                <a16:creationId xmlns:a16="http://schemas.microsoft.com/office/drawing/2014/main" id="{8039D9DB-145C-B7A3-CFCC-546C8421328B}"/>
              </a:ext>
            </a:extLst>
          </p:cNvPr>
          <p:cNvSpPr txBox="1"/>
          <p:nvPr/>
        </p:nvSpPr>
        <p:spPr>
          <a:xfrm>
            <a:off x="7360920" y="4712546"/>
            <a:ext cx="1455268" cy="384048"/>
          </a:xfrm>
          <a:prstGeom prst="rect">
            <a:avLst/>
          </a:prstGeom>
          <a:noFill/>
          <a:ln/>
        </p:spPr>
        <p:txBody>
          <a:bodyPr wrap="square" lIns="0" tIns="0" rIns="0" bIns="0" rtlCol="0" anchor="ctr"/>
          <a:lstStyle/>
          <a:p>
            <a:pPr marL="0" indent="0">
              <a:buNone/>
            </a:pPr>
            <a:r>
              <a:rPr lang="en-US" sz="2600" b="1" dirty="0">
                <a:solidFill>
                  <a:schemeClr val="accent1"/>
                </a:solidFill>
              </a:rPr>
              <a:t>7 in 10</a:t>
            </a:r>
            <a:endParaRPr lang="en-US" sz="2600" dirty="0"/>
          </a:p>
        </p:txBody>
      </p:sp>
      <p:sp>
        <p:nvSpPr>
          <p:cNvPr id="41" name="Text 19">
            <a:extLst>
              <a:ext uri="{FF2B5EF4-FFF2-40B4-BE49-F238E27FC236}">
                <a16:creationId xmlns:a16="http://schemas.microsoft.com/office/drawing/2014/main" id="{205D7298-AD0A-EA45-2B16-F45807952B93}"/>
              </a:ext>
            </a:extLst>
          </p:cNvPr>
          <p:cNvSpPr txBox="1"/>
          <p:nvPr/>
        </p:nvSpPr>
        <p:spPr>
          <a:xfrm>
            <a:off x="6858000" y="5215466"/>
            <a:ext cx="1958188" cy="640080"/>
          </a:xfrm>
          <a:prstGeom prst="rect">
            <a:avLst/>
          </a:prstGeom>
          <a:noFill/>
          <a:ln/>
        </p:spPr>
        <p:txBody>
          <a:bodyPr wrap="square" lIns="0" tIns="0" rIns="0" bIns="0" rtlCol="0" anchor="t"/>
          <a:lstStyle/>
          <a:p>
            <a:pPr marL="0" indent="0">
              <a:buNone/>
            </a:pPr>
            <a:r>
              <a:rPr lang="en-US" sz="1400" dirty="0">
                <a:solidFill>
                  <a:schemeClr val="tx2"/>
                </a:solidFill>
              </a:rPr>
              <a:t>airlines adopting biometric ID by 2026</a:t>
            </a:r>
            <a:endParaRPr lang="en-US" sz="1400" dirty="0"/>
          </a:p>
        </p:txBody>
      </p:sp>
      <p:sp>
        <p:nvSpPr>
          <p:cNvPr id="43" name="Shape 20">
            <a:extLst>
              <a:ext uri="{FF2B5EF4-FFF2-40B4-BE49-F238E27FC236}">
                <a16:creationId xmlns:a16="http://schemas.microsoft.com/office/drawing/2014/main" id="{360CEFBF-C61D-5100-06CD-C7075E1D5571}"/>
              </a:ext>
            </a:extLst>
          </p:cNvPr>
          <p:cNvSpPr/>
          <p:nvPr/>
        </p:nvSpPr>
        <p:spPr>
          <a:xfrm>
            <a:off x="9273388" y="4529666"/>
            <a:ext cx="2369668" cy="1463040"/>
          </a:xfrm>
          <a:prstGeom prst="roundRect">
            <a:avLst>
              <a:gd name="adj" fmla="val 8750"/>
            </a:avLst>
          </a:prstGeom>
          <a:solidFill>
            <a:schemeClr val="bg1"/>
          </a:solidFill>
          <a:ln/>
          <a:effectLst>
            <a:outerShdw blurRad="203200" dist="38100" dir="5400000" algn="bl" rotWithShape="0">
              <a:srgbClr val="0A1628">
                <a:alpha val="9000"/>
              </a:srgbClr>
            </a:outerShdw>
          </a:effectLst>
        </p:spPr>
        <p:txBody>
          <a:bodyPr/>
          <a:lstStyle/>
          <a:p>
            <a:endParaRPr lang="en-SG"/>
          </a:p>
        </p:txBody>
      </p:sp>
      <p:sp>
        <p:nvSpPr>
          <p:cNvPr id="45" name="Shape 21">
            <a:extLst>
              <a:ext uri="{FF2B5EF4-FFF2-40B4-BE49-F238E27FC236}">
                <a16:creationId xmlns:a16="http://schemas.microsoft.com/office/drawing/2014/main" id="{6A92DB3C-C13E-565E-D91B-E8350B21D52A}"/>
              </a:ext>
            </a:extLst>
          </p:cNvPr>
          <p:cNvSpPr/>
          <p:nvPr/>
        </p:nvSpPr>
        <p:spPr>
          <a:xfrm>
            <a:off x="9501988" y="4712546"/>
            <a:ext cx="384048" cy="384048"/>
          </a:xfrm>
          <a:prstGeom prst="ellipse">
            <a:avLst/>
          </a:prstGeom>
          <a:solidFill>
            <a:schemeClr val="accent1">
              <a:alpha val="12000"/>
            </a:schemeClr>
          </a:solidFill>
          <a:ln/>
        </p:spPr>
        <p:txBody>
          <a:bodyPr/>
          <a:lstStyle/>
          <a:p>
            <a:endParaRPr lang="en-SG"/>
          </a:p>
        </p:txBody>
      </p:sp>
      <p:pic>
        <p:nvPicPr>
          <p:cNvPr id="47" name="Image 1" descr="preencoded.png">
            <a:extLst>
              <a:ext uri="{FF2B5EF4-FFF2-40B4-BE49-F238E27FC236}">
                <a16:creationId xmlns:a16="http://schemas.microsoft.com/office/drawing/2014/main" id="{D608A691-5655-0365-20C7-6F508D261FA6}"/>
              </a:ext>
            </a:extLst>
          </p:cNvPr>
          <p:cNvPicPr>
            <a:picLocks noChangeAspect="1"/>
          </p:cNvPicPr>
          <p:nvPr/>
        </p:nvPicPr>
        <p:blipFill>
          <a:blip r:embed="rId6"/>
          <a:stretch>
            <a:fillRect/>
          </a:stretch>
        </p:blipFill>
        <p:spPr>
          <a:xfrm>
            <a:off x="9590319" y="4800877"/>
            <a:ext cx="207386" cy="207386"/>
          </a:xfrm>
          <a:prstGeom prst="rect">
            <a:avLst/>
          </a:prstGeom>
        </p:spPr>
      </p:pic>
      <p:sp>
        <p:nvSpPr>
          <p:cNvPr id="49" name="Text 22">
            <a:extLst>
              <a:ext uri="{FF2B5EF4-FFF2-40B4-BE49-F238E27FC236}">
                <a16:creationId xmlns:a16="http://schemas.microsoft.com/office/drawing/2014/main" id="{8B470D3F-EFBD-7524-404A-52CE493A18E0}"/>
              </a:ext>
            </a:extLst>
          </p:cNvPr>
          <p:cNvSpPr txBox="1"/>
          <p:nvPr/>
        </p:nvSpPr>
        <p:spPr>
          <a:xfrm>
            <a:off x="10004908" y="4712546"/>
            <a:ext cx="1455268" cy="384048"/>
          </a:xfrm>
          <a:prstGeom prst="rect">
            <a:avLst/>
          </a:prstGeom>
          <a:noFill/>
          <a:ln/>
        </p:spPr>
        <p:txBody>
          <a:bodyPr wrap="square" lIns="0" tIns="0" rIns="0" bIns="0" rtlCol="0" anchor="ctr"/>
          <a:lstStyle/>
          <a:p>
            <a:pPr marL="0" indent="0">
              <a:buNone/>
            </a:pPr>
            <a:r>
              <a:rPr lang="en-US" sz="2600" b="1" dirty="0">
                <a:solidFill>
                  <a:schemeClr val="accent1"/>
                </a:solidFill>
              </a:rPr>
              <a:t>~78%</a:t>
            </a:r>
            <a:endParaRPr lang="en-US" sz="2600" dirty="0"/>
          </a:p>
        </p:txBody>
      </p:sp>
      <p:sp>
        <p:nvSpPr>
          <p:cNvPr id="51" name="Text 23">
            <a:extLst>
              <a:ext uri="{FF2B5EF4-FFF2-40B4-BE49-F238E27FC236}">
                <a16:creationId xmlns:a16="http://schemas.microsoft.com/office/drawing/2014/main" id="{13C47863-DA81-0393-A42A-F440C1D82E89}"/>
              </a:ext>
            </a:extLst>
          </p:cNvPr>
          <p:cNvSpPr txBox="1"/>
          <p:nvPr/>
        </p:nvSpPr>
        <p:spPr>
          <a:xfrm>
            <a:off x="9501988" y="5215466"/>
            <a:ext cx="1958188" cy="640080"/>
          </a:xfrm>
          <a:prstGeom prst="rect">
            <a:avLst/>
          </a:prstGeom>
          <a:noFill/>
          <a:ln/>
        </p:spPr>
        <p:txBody>
          <a:bodyPr wrap="square" lIns="0" tIns="0" rIns="0" bIns="0" rtlCol="0" anchor="t"/>
          <a:lstStyle/>
          <a:p>
            <a:pPr marL="0" indent="0">
              <a:buNone/>
            </a:pPr>
            <a:r>
              <a:rPr lang="en-US" sz="1400" dirty="0">
                <a:solidFill>
                  <a:schemeClr val="tx2"/>
                </a:solidFill>
              </a:rPr>
              <a:t>of ME/SEA airport projects are brownfield</a:t>
            </a:r>
            <a:endParaRPr lang="en-US" sz="1400" dirty="0"/>
          </a:p>
        </p:txBody>
      </p:sp>
    </p:spTree>
    <p:extLst>
      <p:ext uri="{BB962C8B-B14F-4D97-AF65-F5344CB8AC3E}">
        <p14:creationId xmlns:p14="http://schemas.microsoft.com/office/powerpoint/2010/main" val="1368664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9D22A-F71F-5499-C84E-D6FD4141D10A}"/>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D322C1EE-F3FA-ED9A-7BBF-ED8CE9DAEE8F}"/>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EB2D204E-6351-C822-7AF1-A528ABF8A6B9}"/>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0DE4D024-C32D-930D-3B3A-BCBD61952499}"/>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B34FA110-9F75-F303-49F9-CD934102C26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442B39AA-0F5F-F411-ECFF-0172712A0FC2}"/>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90AF0540-3671-2622-7C87-207E0374D39E}"/>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5</a:t>
            </a:fld>
            <a:r>
              <a:rPr lang="en-US" sz="1200">
                <a:latin typeface="+mj-lt"/>
              </a:rPr>
              <a:t>   | </a:t>
            </a:r>
          </a:p>
        </p:txBody>
      </p:sp>
      <p:sp>
        <p:nvSpPr>
          <p:cNvPr id="11" name="Title 4">
            <a:extLst>
              <a:ext uri="{FF2B5EF4-FFF2-40B4-BE49-F238E27FC236}">
                <a16:creationId xmlns:a16="http://schemas.microsoft.com/office/drawing/2014/main" id="{DB61449D-32CA-64E2-47FE-3F36BFDA675D}"/>
              </a:ext>
            </a:extLst>
          </p:cNvPr>
          <p:cNvSpPr txBox="1">
            <a:spLocks/>
          </p:cNvSpPr>
          <p:nvPr/>
        </p:nvSpPr>
        <p:spPr>
          <a:xfrm>
            <a:off x="295399" y="862117"/>
            <a:ext cx="12768717" cy="5529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ea typeface="Arial" pitchFamily="34" charset="-122"/>
                <a:cs typeface="Arial" pitchFamily="34" charset="-120"/>
              </a:rPr>
              <a:t>One command environment across every FastPass touchpoint</a:t>
            </a:r>
          </a:p>
        </p:txBody>
      </p:sp>
      <p:sp>
        <p:nvSpPr>
          <p:cNvPr id="12" name="TextBox 25">
            <a:extLst>
              <a:ext uri="{FF2B5EF4-FFF2-40B4-BE49-F238E27FC236}">
                <a16:creationId xmlns:a16="http://schemas.microsoft.com/office/drawing/2014/main" id="{2DA0F4D6-0A96-C68B-B47C-A4340BFD8389}"/>
              </a:ext>
            </a:extLst>
          </p:cNvPr>
          <p:cNvSpPr txBox="1"/>
          <p:nvPr/>
        </p:nvSpPr>
        <p:spPr>
          <a:xfrm>
            <a:off x="343779" y="563652"/>
            <a:ext cx="3391441"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FastPass Solution - AGIL® Secure ISMP</a:t>
            </a:r>
          </a:p>
        </p:txBody>
      </p:sp>
      <p:sp>
        <p:nvSpPr>
          <p:cNvPr id="2" name="Text 1">
            <a:extLst>
              <a:ext uri="{FF2B5EF4-FFF2-40B4-BE49-F238E27FC236}">
                <a16:creationId xmlns:a16="http://schemas.microsoft.com/office/drawing/2014/main" id="{24B40DA3-82F7-453D-03C0-CF0A34075FFA}"/>
              </a:ext>
            </a:extLst>
          </p:cNvPr>
          <p:cNvSpPr txBox="1">
            <a:spLocks/>
          </p:cNvSpPr>
          <p:nvPr/>
        </p:nvSpPr>
        <p:spPr>
          <a:xfrm>
            <a:off x="415290" y="1361987"/>
            <a:ext cx="9736416" cy="384048"/>
          </a:xfrm>
          <a:prstGeom prst="rect">
            <a:avLst/>
          </a:prstGeom>
          <a:noFill/>
          <a:ln/>
        </p:spPr>
        <p:txBody>
          <a:bodyPr vert="horz" wrap="square" lIns="0" tIns="0" rIns="0" bIns="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tx2"/>
                </a:solidFill>
                <a:latin typeface="+mj-lt"/>
              </a:rPr>
              <a:t>AGIL® Secure ISMP is the operational backbone behind FastPass: unified command and control for whole-of-airport operations.</a:t>
            </a:r>
          </a:p>
        </p:txBody>
      </p:sp>
      <p:sp>
        <p:nvSpPr>
          <p:cNvPr id="487" name="Shape 3">
            <a:extLst>
              <a:ext uri="{FF2B5EF4-FFF2-40B4-BE49-F238E27FC236}">
                <a16:creationId xmlns:a16="http://schemas.microsoft.com/office/drawing/2014/main" id="{7BB43281-CC27-7B19-6F4A-95C77250B5CC}"/>
              </a:ext>
            </a:extLst>
          </p:cNvPr>
          <p:cNvSpPr/>
          <p:nvPr/>
        </p:nvSpPr>
        <p:spPr>
          <a:xfrm>
            <a:off x="256565" y="2622235"/>
            <a:ext cx="5029200" cy="2834640"/>
          </a:xfrm>
          <a:prstGeom prst="ellipse">
            <a:avLst/>
          </a:prstGeom>
          <a:solidFill>
            <a:srgbClr val="0B84AE">
              <a:alpha val="5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88" name="Shape 4">
            <a:extLst>
              <a:ext uri="{FF2B5EF4-FFF2-40B4-BE49-F238E27FC236}">
                <a16:creationId xmlns:a16="http://schemas.microsoft.com/office/drawing/2014/main" id="{634275DA-4F09-4922-3F55-C3B57143FE9F}"/>
              </a:ext>
            </a:extLst>
          </p:cNvPr>
          <p:cNvSpPr/>
          <p:nvPr/>
        </p:nvSpPr>
        <p:spPr>
          <a:xfrm>
            <a:off x="713765" y="2850835"/>
            <a:ext cx="4114800" cy="2377440"/>
          </a:xfrm>
          <a:prstGeom prst="ellipse">
            <a:avLst/>
          </a:prstGeom>
          <a:ln w="12700">
            <a:solidFill>
              <a:srgbClr val="0B84AE">
                <a:alpha val="60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89" name="Shape 5">
            <a:extLst>
              <a:ext uri="{FF2B5EF4-FFF2-40B4-BE49-F238E27FC236}">
                <a16:creationId xmlns:a16="http://schemas.microsoft.com/office/drawing/2014/main" id="{6B0B3248-255B-BF35-A1C5-4443CCCDE073}"/>
              </a:ext>
            </a:extLst>
          </p:cNvPr>
          <p:cNvSpPr/>
          <p:nvPr/>
        </p:nvSpPr>
        <p:spPr>
          <a:xfrm>
            <a:off x="1308125" y="3262315"/>
            <a:ext cx="2926080" cy="1554480"/>
          </a:xfrm>
          <a:prstGeom prst="ellipse">
            <a:avLst/>
          </a:prstGeom>
          <a:solidFill>
            <a:srgbClr val="0B84AE">
              <a:alpha val="9000"/>
            </a:srgbClr>
          </a:solidFill>
          <a:ln w="9525">
            <a:solidFill>
              <a:srgbClr val="0B84AE">
                <a:alpha val="3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0" name="Shape 6">
            <a:extLst>
              <a:ext uri="{FF2B5EF4-FFF2-40B4-BE49-F238E27FC236}">
                <a16:creationId xmlns:a16="http://schemas.microsoft.com/office/drawing/2014/main" id="{19AD6831-121E-7346-20C4-C33B15BABB08}"/>
              </a:ext>
            </a:extLst>
          </p:cNvPr>
          <p:cNvSpPr/>
          <p:nvPr/>
        </p:nvSpPr>
        <p:spPr>
          <a:xfrm>
            <a:off x="2771165" y="2850835"/>
            <a:ext cx="914" cy="570586"/>
          </a:xfrm>
          <a:prstGeom prst="line">
            <a:avLst/>
          </a:prstGeom>
          <a:noFill/>
          <a:ln w="9525">
            <a:solidFill>
              <a:srgbClr val="0B84AE">
                <a:alpha val="75000"/>
              </a:srgbClr>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1" name="Shape 7">
            <a:extLst>
              <a:ext uri="{FF2B5EF4-FFF2-40B4-BE49-F238E27FC236}">
                <a16:creationId xmlns:a16="http://schemas.microsoft.com/office/drawing/2014/main" id="{790D180D-0D1E-9475-0CCB-F19ED20FA211}"/>
              </a:ext>
            </a:extLst>
          </p:cNvPr>
          <p:cNvSpPr/>
          <p:nvPr/>
        </p:nvSpPr>
        <p:spPr>
          <a:xfrm flipV="1">
            <a:off x="3697681" y="3445195"/>
            <a:ext cx="855245" cy="285293"/>
          </a:xfrm>
          <a:prstGeom prst="line">
            <a:avLst/>
          </a:prstGeom>
          <a:noFill/>
          <a:ln w="9525">
            <a:solidFill>
              <a:srgbClr val="0B84AE">
                <a:alpha val="75000"/>
              </a:srgbClr>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2" name="Shape 8">
            <a:extLst>
              <a:ext uri="{FF2B5EF4-FFF2-40B4-BE49-F238E27FC236}">
                <a16:creationId xmlns:a16="http://schemas.microsoft.com/office/drawing/2014/main" id="{208D9DBC-C41D-029B-E8C6-E05BB8D81923}"/>
              </a:ext>
            </a:extLst>
          </p:cNvPr>
          <p:cNvSpPr/>
          <p:nvPr/>
        </p:nvSpPr>
        <p:spPr>
          <a:xfrm>
            <a:off x="3697681" y="4348622"/>
            <a:ext cx="855245" cy="285293"/>
          </a:xfrm>
          <a:prstGeom prst="line">
            <a:avLst/>
          </a:prstGeom>
          <a:noFill/>
          <a:ln w="9525">
            <a:solidFill>
              <a:srgbClr val="0B84AE">
                <a:alpha val="75000"/>
              </a:srgbClr>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3" name="Shape 9">
            <a:extLst>
              <a:ext uri="{FF2B5EF4-FFF2-40B4-BE49-F238E27FC236}">
                <a16:creationId xmlns:a16="http://schemas.microsoft.com/office/drawing/2014/main" id="{D44F0072-AFE3-8A41-6DB0-8E2450F2FEB6}"/>
              </a:ext>
            </a:extLst>
          </p:cNvPr>
          <p:cNvSpPr/>
          <p:nvPr/>
        </p:nvSpPr>
        <p:spPr>
          <a:xfrm>
            <a:off x="2771165" y="4657689"/>
            <a:ext cx="914" cy="570586"/>
          </a:xfrm>
          <a:prstGeom prst="line">
            <a:avLst/>
          </a:prstGeom>
          <a:noFill/>
          <a:ln w="9525">
            <a:solidFill>
              <a:srgbClr val="0B84AE">
                <a:alpha val="75000"/>
              </a:srgbClr>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4" name="Shape 10">
            <a:extLst>
              <a:ext uri="{FF2B5EF4-FFF2-40B4-BE49-F238E27FC236}">
                <a16:creationId xmlns:a16="http://schemas.microsoft.com/office/drawing/2014/main" id="{6193AE11-57A6-A655-CAF6-FBE9E5D842E3}"/>
              </a:ext>
            </a:extLst>
          </p:cNvPr>
          <p:cNvSpPr/>
          <p:nvPr/>
        </p:nvSpPr>
        <p:spPr>
          <a:xfrm flipV="1">
            <a:off x="989404" y="4348622"/>
            <a:ext cx="855245" cy="285293"/>
          </a:xfrm>
          <a:prstGeom prst="line">
            <a:avLst/>
          </a:prstGeom>
          <a:noFill/>
          <a:ln w="9525">
            <a:solidFill>
              <a:srgbClr val="0B84AE">
                <a:alpha val="75000"/>
              </a:srgbClr>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5" name="Shape 11">
            <a:extLst>
              <a:ext uri="{FF2B5EF4-FFF2-40B4-BE49-F238E27FC236}">
                <a16:creationId xmlns:a16="http://schemas.microsoft.com/office/drawing/2014/main" id="{26FF523F-8B9A-FEF6-78CC-4B9E40D5DB84}"/>
              </a:ext>
            </a:extLst>
          </p:cNvPr>
          <p:cNvSpPr/>
          <p:nvPr/>
        </p:nvSpPr>
        <p:spPr>
          <a:xfrm>
            <a:off x="989404" y="3445195"/>
            <a:ext cx="855245" cy="285293"/>
          </a:xfrm>
          <a:prstGeom prst="line">
            <a:avLst/>
          </a:prstGeom>
          <a:noFill/>
          <a:ln w="9525">
            <a:solidFill>
              <a:srgbClr val="0B84AE">
                <a:alpha val="75000"/>
              </a:srgbClr>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6" name="Shape 12">
            <a:extLst>
              <a:ext uri="{FF2B5EF4-FFF2-40B4-BE49-F238E27FC236}">
                <a16:creationId xmlns:a16="http://schemas.microsoft.com/office/drawing/2014/main" id="{D76C3998-5A2E-3738-A3AB-BC06F4D092D5}"/>
              </a:ext>
            </a:extLst>
          </p:cNvPr>
          <p:cNvSpPr/>
          <p:nvPr/>
        </p:nvSpPr>
        <p:spPr>
          <a:xfrm>
            <a:off x="1536725" y="3564067"/>
            <a:ext cx="2468880" cy="950976"/>
          </a:xfrm>
          <a:prstGeom prst="ellipse">
            <a:avLst/>
          </a:prstGeom>
          <a:solidFill>
            <a:srgbClr val="0B2545"/>
          </a:solidFill>
          <a:ln w="15875">
            <a:solidFill>
              <a:srgbClr val="0B84AE"/>
            </a:solidFill>
            <a:prstDash val="solid"/>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sp>
        <p:nvSpPr>
          <p:cNvPr id="497" name="Text 13">
            <a:extLst>
              <a:ext uri="{FF2B5EF4-FFF2-40B4-BE49-F238E27FC236}">
                <a16:creationId xmlns:a16="http://schemas.microsoft.com/office/drawing/2014/main" id="{9CC2AC52-07B0-8E1F-9147-4AB2D924060F}"/>
              </a:ext>
            </a:extLst>
          </p:cNvPr>
          <p:cNvSpPr txBox="1"/>
          <p:nvPr/>
        </p:nvSpPr>
        <p:spPr>
          <a:xfrm>
            <a:off x="1582445" y="3765235"/>
            <a:ext cx="2377440" cy="310896"/>
          </a:xfrm>
          <a:prstGeom prst="rect">
            <a:avLst/>
          </a:prstGeom>
          <a:noFill/>
          <a:ln/>
        </p:spPr>
        <p:txBody>
          <a:bodyPr wrap="square" lIns="0" tIns="0" rIns="0" bIns="0" rtlCol="0" anchor="ctr"/>
          <a:lstStyle/>
          <a:p>
            <a:pPr algn="ctr"/>
            <a:r>
              <a:rPr lang="en-US" sz="1600" b="1" dirty="0">
                <a:solidFill>
                  <a:srgbClr val="FFFFFF"/>
                </a:solidFill>
                <a:latin typeface="Arial"/>
              </a:rPr>
              <a:t>AGIL® Secure ISMP</a:t>
            </a:r>
            <a:endParaRPr lang="en-US" sz="1600" dirty="0">
              <a:solidFill>
                <a:srgbClr val="0B1526"/>
              </a:solidFill>
              <a:latin typeface="Arial"/>
            </a:endParaRPr>
          </a:p>
        </p:txBody>
      </p:sp>
      <p:sp>
        <p:nvSpPr>
          <p:cNvPr id="498" name="Text 14">
            <a:extLst>
              <a:ext uri="{FF2B5EF4-FFF2-40B4-BE49-F238E27FC236}">
                <a16:creationId xmlns:a16="http://schemas.microsoft.com/office/drawing/2014/main" id="{D564010B-A810-D005-A0C0-8483E69C9090}"/>
              </a:ext>
            </a:extLst>
          </p:cNvPr>
          <p:cNvSpPr txBox="1"/>
          <p:nvPr/>
        </p:nvSpPr>
        <p:spPr>
          <a:xfrm>
            <a:off x="1582445" y="4076131"/>
            <a:ext cx="2377440" cy="237744"/>
          </a:xfrm>
          <a:prstGeom prst="rect">
            <a:avLst/>
          </a:prstGeom>
          <a:noFill/>
          <a:ln/>
        </p:spPr>
        <p:txBody>
          <a:bodyPr wrap="square" lIns="0" tIns="0" rIns="0" bIns="0" rtlCol="0" anchor="ctr"/>
          <a:lstStyle/>
          <a:p>
            <a:pPr algn="ctr"/>
            <a:r>
              <a:rPr lang="en-US" sz="1100" dirty="0">
                <a:solidFill>
                  <a:srgbClr val="E1E6ED"/>
                </a:solidFill>
                <a:latin typeface="Arial"/>
              </a:rPr>
              <a:t>One command layer</a:t>
            </a:r>
            <a:endParaRPr lang="en-US" sz="1100" dirty="0">
              <a:solidFill>
                <a:srgbClr val="0B1526"/>
              </a:solidFill>
              <a:latin typeface="Arial"/>
            </a:endParaRPr>
          </a:p>
        </p:txBody>
      </p:sp>
      <p:sp>
        <p:nvSpPr>
          <p:cNvPr id="499" name="Shape 15">
            <a:extLst>
              <a:ext uri="{FF2B5EF4-FFF2-40B4-BE49-F238E27FC236}">
                <a16:creationId xmlns:a16="http://schemas.microsoft.com/office/drawing/2014/main" id="{B54B2587-F7F1-5216-ED4F-F6D7D1B05B0B}"/>
              </a:ext>
            </a:extLst>
          </p:cNvPr>
          <p:cNvSpPr/>
          <p:nvPr/>
        </p:nvSpPr>
        <p:spPr>
          <a:xfrm>
            <a:off x="2533421" y="2613091"/>
            <a:ext cx="475488" cy="475488"/>
          </a:xfrm>
          <a:prstGeom prst="ellipse">
            <a:avLst/>
          </a:prstGeom>
          <a:solidFill>
            <a:srgbClr val="FFFFFF"/>
          </a:solidFill>
          <a:ln w="15875">
            <a:solidFill>
              <a:srgbClr val="0B84AE"/>
            </a:solidFill>
            <a:prstDash val="solid"/>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pic>
        <p:nvPicPr>
          <p:cNvPr id="500" name="Image 0" descr="preencoded.png">
            <a:extLst>
              <a:ext uri="{FF2B5EF4-FFF2-40B4-BE49-F238E27FC236}">
                <a16:creationId xmlns:a16="http://schemas.microsoft.com/office/drawing/2014/main" id="{A0581B3B-9C7A-0DB0-C297-F6F94B8E0A54}"/>
              </a:ext>
            </a:extLst>
          </p:cNvPr>
          <p:cNvPicPr>
            <a:picLocks noChangeAspect="1"/>
          </p:cNvPicPr>
          <p:nvPr/>
        </p:nvPicPr>
        <p:blipFill>
          <a:blip r:embed="rId5"/>
          <a:stretch>
            <a:fillRect/>
          </a:stretch>
        </p:blipFill>
        <p:spPr>
          <a:xfrm>
            <a:off x="2643149" y="2722819"/>
            <a:ext cx="256032" cy="256032"/>
          </a:xfrm>
          <a:prstGeom prst="rect">
            <a:avLst/>
          </a:prstGeom>
        </p:spPr>
      </p:pic>
      <p:sp>
        <p:nvSpPr>
          <p:cNvPr id="501" name="Text 16">
            <a:extLst>
              <a:ext uri="{FF2B5EF4-FFF2-40B4-BE49-F238E27FC236}">
                <a16:creationId xmlns:a16="http://schemas.microsoft.com/office/drawing/2014/main" id="{9B33FD80-831F-D973-0A6F-319EB1302C08}"/>
              </a:ext>
            </a:extLst>
          </p:cNvPr>
          <p:cNvSpPr txBox="1"/>
          <p:nvPr/>
        </p:nvSpPr>
        <p:spPr>
          <a:xfrm>
            <a:off x="1811045" y="2302195"/>
            <a:ext cx="1920240" cy="274320"/>
          </a:xfrm>
          <a:prstGeom prst="rect">
            <a:avLst/>
          </a:prstGeom>
          <a:noFill/>
          <a:ln/>
        </p:spPr>
        <p:txBody>
          <a:bodyPr wrap="square" lIns="0" tIns="0" rIns="0" bIns="0" rtlCol="0" anchor="ctr"/>
          <a:lstStyle/>
          <a:p>
            <a:pPr algn="ctr"/>
            <a:r>
              <a:rPr lang="en-US" sz="1300" b="1" dirty="0">
                <a:solidFill>
                  <a:srgbClr val="0B1526"/>
                </a:solidFill>
                <a:latin typeface="Arial"/>
              </a:rPr>
              <a:t>Traveller transactions</a:t>
            </a:r>
            <a:endParaRPr lang="en-US" sz="1300" dirty="0">
              <a:solidFill>
                <a:srgbClr val="0B1526"/>
              </a:solidFill>
              <a:latin typeface="Arial"/>
            </a:endParaRPr>
          </a:p>
        </p:txBody>
      </p:sp>
      <p:sp>
        <p:nvSpPr>
          <p:cNvPr id="502" name="Shape 17">
            <a:extLst>
              <a:ext uri="{FF2B5EF4-FFF2-40B4-BE49-F238E27FC236}">
                <a16:creationId xmlns:a16="http://schemas.microsoft.com/office/drawing/2014/main" id="{E638910E-E531-2B18-5F04-1788F6A49679}"/>
              </a:ext>
            </a:extLst>
          </p:cNvPr>
          <p:cNvSpPr/>
          <p:nvPr/>
        </p:nvSpPr>
        <p:spPr>
          <a:xfrm>
            <a:off x="4315182" y="3207451"/>
            <a:ext cx="475488" cy="475488"/>
          </a:xfrm>
          <a:prstGeom prst="ellipse">
            <a:avLst/>
          </a:prstGeom>
          <a:solidFill>
            <a:srgbClr val="FFFFFF"/>
          </a:solidFill>
          <a:ln w="15875">
            <a:solidFill>
              <a:srgbClr val="0B84AE"/>
            </a:solidFill>
            <a:prstDash val="solid"/>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pic>
        <p:nvPicPr>
          <p:cNvPr id="503" name="Image 1" descr="preencoded.png">
            <a:extLst>
              <a:ext uri="{FF2B5EF4-FFF2-40B4-BE49-F238E27FC236}">
                <a16:creationId xmlns:a16="http://schemas.microsoft.com/office/drawing/2014/main" id="{103309F8-6071-A4BE-8E17-2EAE346657F6}"/>
              </a:ext>
            </a:extLst>
          </p:cNvPr>
          <p:cNvPicPr>
            <a:picLocks noChangeAspect="1"/>
          </p:cNvPicPr>
          <p:nvPr/>
        </p:nvPicPr>
        <p:blipFill>
          <a:blip r:embed="rId6"/>
          <a:stretch>
            <a:fillRect/>
          </a:stretch>
        </p:blipFill>
        <p:spPr>
          <a:xfrm>
            <a:off x="4424910" y="3317179"/>
            <a:ext cx="256032" cy="256032"/>
          </a:xfrm>
          <a:prstGeom prst="rect">
            <a:avLst/>
          </a:prstGeom>
        </p:spPr>
      </p:pic>
      <p:sp>
        <p:nvSpPr>
          <p:cNvPr id="504" name="Text 18">
            <a:extLst>
              <a:ext uri="{FF2B5EF4-FFF2-40B4-BE49-F238E27FC236}">
                <a16:creationId xmlns:a16="http://schemas.microsoft.com/office/drawing/2014/main" id="{33BADAC4-8864-F042-AB23-A1D4D9BC3AB9}"/>
              </a:ext>
            </a:extLst>
          </p:cNvPr>
          <p:cNvSpPr txBox="1"/>
          <p:nvPr/>
        </p:nvSpPr>
        <p:spPr>
          <a:xfrm>
            <a:off x="3592806" y="2896555"/>
            <a:ext cx="1920240" cy="274320"/>
          </a:xfrm>
          <a:prstGeom prst="rect">
            <a:avLst/>
          </a:prstGeom>
          <a:noFill/>
          <a:ln/>
        </p:spPr>
        <p:txBody>
          <a:bodyPr wrap="square" lIns="0" tIns="0" rIns="0" bIns="0" rtlCol="0" anchor="ctr"/>
          <a:lstStyle/>
          <a:p>
            <a:pPr algn="ctr"/>
            <a:r>
              <a:rPr lang="en-US" sz="1300" b="1" dirty="0">
                <a:solidFill>
                  <a:srgbClr val="0B1526"/>
                </a:solidFill>
                <a:latin typeface="Arial"/>
              </a:rPr>
              <a:t>Lane &amp; gate control</a:t>
            </a:r>
            <a:endParaRPr lang="en-US" sz="1300" dirty="0">
              <a:solidFill>
                <a:srgbClr val="0B1526"/>
              </a:solidFill>
              <a:latin typeface="Arial"/>
            </a:endParaRPr>
          </a:p>
        </p:txBody>
      </p:sp>
      <p:sp>
        <p:nvSpPr>
          <p:cNvPr id="505" name="Shape 19">
            <a:extLst>
              <a:ext uri="{FF2B5EF4-FFF2-40B4-BE49-F238E27FC236}">
                <a16:creationId xmlns:a16="http://schemas.microsoft.com/office/drawing/2014/main" id="{B3B09E64-874F-C8DA-AC3C-EDFC363DE601}"/>
              </a:ext>
            </a:extLst>
          </p:cNvPr>
          <p:cNvSpPr/>
          <p:nvPr/>
        </p:nvSpPr>
        <p:spPr>
          <a:xfrm>
            <a:off x="4315182" y="4396171"/>
            <a:ext cx="475488" cy="475488"/>
          </a:xfrm>
          <a:prstGeom prst="ellipse">
            <a:avLst/>
          </a:prstGeom>
          <a:solidFill>
            <a:srgbClr val="FFFFFF"/>
          </a:solidFill>
          <a:ln w="15875">
            <a:solidFill>
              <a:srgbClr val="0B84AE"/>
            </a:solidFill>
            <a:prstDash val="solid"/>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pic>
        <p:nvPicPr>
          <p:cNvPr id="506" name="Image 2" descr="preencoded.png">
            <a:extLst>
              <a:ext uri="{FF2B5EF4-FFF2-40B4-BE49-F238E27FC236}">
                <a16:creationId xmlns:a16="http://schemas.microsoft.com/office/drawing/2014/main" id="{5115B452-9669-9038-6D98-84CFE0ECB5E2}"/>
              </a:ext>
            </a:extLst>
          </p:cNvPr>
          <p:cNvPicPr>
            <a:picLocks noChangeAspect="1"/>
          </p:cNvPicPr>
          <p:nvPr/>
        </p:nvPicPr>
        <p:blipFill>
          <a:blip r:embed="rId7"/>
          <a:stretch>
            <a:fillRect/>
          </a:stretch>
        </p:blipFill>
        <p:spPr>
          <a:xfrm>
            <a:off x="4424910" y="4505899"/>
            <a:ext cx="256032" cy="256032"/>
          </a:xfrm>
          <a:prstGeom prst="rect">
            <a:avLst/>
          </a:prstGeom>
        </p:spPr>
      </p:pic>
      <p:sp>
        <p:nvSpPr>
          <p:cNvPr id="507" name="Text 20">
            <a:extLst>
              <a:ext uri="{FF2B5EF4-FFF2-40B4-BE49-F238E27FC236}">
                <a16:creationId xmlns:a16="http://schemas.microsoft.com/office/drawing/2014/main" id="{486583E9-CEF9-0748-A1B4-84F9B8655817}"/>
              </a:ext>
            </a:extLst>
          </p:cNvPr>
          <p:cNvSpPr txBox="1"/>
          <p:nvPr/>
        </p:nvSpPr>
        <p:spPr>
          <a:xfrm>
            <a:off x="3592806" y="4908235"/>
            <a:ext cx="1920240" cy="274320"/>
          </a:xfrm>
          <a:prstGeom prst="rect">
            <a:avLst/>
          </a:prstGeom>
          <a:noFill/>
          <a:ln/>
        </p:spPr>
        <p:txBody>
          <a:bodyPr wrap="square" lIns="0" tIns="0" rIns="0" bIns="0" rtlCol="0" anchor="ctr"/>
          <a:lstStyle/>
          <a:p>
            <a:pPr algn="ctr"/>
            <a:r>
              <a:rPr lang="en-US" sz="1300" b="1" dirty="0">
                <a:solidFill>
                  <a:srgbClr val="0B1526"/>
                </a:solidFill>
                <a:latin typeface="Arial"/>
              </a:rPr>
              <a:t>Exception management</a:t>
            </a:r>
            <a:endParaRPr lang="en-US" sz="1300" dirty="0">
              <a:solidFill>
                <a:srgbClr val="0B1526"/>
              </a:solidFill>
              <a:latin typeface="Arial"/>
            </a:endParaRPr>
          </a:p>
        </p:txBody>
      </p:sp>
      <p:sp>
        <p:nvSpPr>
          <p:cNvPr id="508" name="Shape 21">
            <a:extLst>
              <a:ext uri="{FF2B5EF4-FFF2-40B4-BE49-F238E27FC236}">
                <a16:creationId xmlns:a16="http://schemas.microsoft.com/office/drawing/2014/main" id="{220AAC2F-1BA0-FD6E-9C2D-41EBD5F467BD}"/>
              </a:ext>
            </a:extLst>
          </p:cNvPr>
          <p:cNvSpPr/>
          <p:nvPr/>
        </p:nvSpPr>
        <p:spPr>
          <a:xfrm>
            <a:off x="2533421" y="4990531"/>
            <a:ext cx="475488" cy="475488"/>
          </a:xfrm>
          <a:prstGeom prst="ellipse">
            <a:avLst/>
          </a:prstGeom>
          <a:solidFill>
            <a:srgbClr val="FFFFFF"/>
          </a:solidFill>
          <a:ln w="15875">
            <a:solidFill>
              <a:srgbClr val="0B84AE"/>
            </a:solidFill>
            <a:prstDash val="solid"/>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pic>
        <p:nvPicPr>
          <p:cNvPr id="509" name="Image 3" descr="preencoded.png">
            <a:extLst>
              <a:ext uri="{FF2B5EF4-FFF2-40B4-BE49-F238E27FC236}">
                <a16:creationId xmlns:a16="http://schemas.microsoft.com/office/drawing/2014/main" id="{B29E0441-41AC-54E2-8E28-892E40AE24CD}"/>
              </a:ext>
            </a:extLst>
          </p:cNvPr>
          <p:cNvPicPr>
            <a:picLocks noChangeAspect="1"/>
          </p:cNvPicPr>
          <p:nvPr/>
        </p:nvPicPr>
        <p:blipFill>
          <a:blip r:embed="rId8"/>
          <a:stretch>
            <a:fillRect/>
          </a:stretch>
        </p:blipFill>
        <p:spPr>
          <a:xfrm>
            <a:off x="2643149" y="5100259"/>
            <a:ext cx="256032" cy="256032"/>
          </a:xfrm>
          <a:prstGeom prst="rect">
            <a:avLst/>
          </a:prstGeom>
        </p:spPr>
      </p:pic>
      <p:sp>
        <p:nvSpPr>
          <p:cNvPr id="510" name="Text 22">
            <a:extLst>
              <a:ext uri="{FF2B5EF4-FFF2-40B4-BE49-F238E27FC236}">
                <a16:creationId xmlns:a16="http://schemas.microsoft.com/office/drawing/2014/main" id="{67A3449F-0C0C-B3F9-60D1-536AE515B466}"/>
              </a:ext>
            </a:extLst>
          </p:cNvPr>
          <p:cNvSpPr txBox="1"/>
          <p:nvPr/>
        </p:nvSpPr>
        <p:spPr>
          <a:xfrm>
            <a:off x="1811045" y="5502595"/>
            <a:ext cx="1920240" cy="274320"/>
          </a:xfrm>
          <a:prstGeom prst="rect">
            <a:avLst/>
          </a:prstGeom>
          <a:noFill/>
          <a:ln/>
        </p:spPr>
        <p:txBody>
          <a:bodyPr wrap="square" lIns="0" tIns="0" rIns="0" bIns="0" rtlCol="0" anchor="ctr"/>
          <a:lstStyle/>
          <a:p>
            <a:pPr algn="ctr"/>
            <a:r>
              <a:rPr lang="en-US" sz="1300" b="1" dirty="0">
                <a:solidFill>
                  <a:srgbClr val="0B1526"/>
                </a:solidFill>
                <a:latin typeface="Arial"/>
              </a:rPr>
              <a:t>Assistive AI</a:t>
            </a:r>
            <a:endParaRPr lang="en-US" sz="1300" dirty="0">
              <a:solidFill>
                <a:srgbClr val="0B1526"/>
              </a:solidFill>
              <a:latin typeface="Arial"/>
            </a:endParaRPr>
          </a:p>
        </p:txBody>
      </p:sp>
      <p:sp>
        <p:nvSpPr>
          <p:cNvPr id="511" name="Shape 23">
            <a:extLst>
              <a:ext uri="{FF2B5EF4-FFF2-40B4-BE49-F238E27FC236}">
                <a16:creationId xmlns:a16="http://schemas.microsoft.com/office/drawing/2014/main" id="{BF266BC3-6D07-080C-993B-703B40C587A4}"/>
              </a:ext>
            </a:extLst>
          </p:cNvPr>
          <p:cNvSpPr/>
          <p:nvPr/>
        </p:nvSpPr>
        <p:spPr>
          <a:xfrm>
            <a:off x="751660" y="4396171"/>
            <a:ext cx="475488" cy="475488"/>
          </a:xfrm>
          <a:prstGeom prst="ellipse">
            <a:avLst/>
          </a:prstGeom>
          <a:solidFill>
            <a:srgbClr val="FFFFFF"/>
          </a:solidFill>
          <a:ln w="15875">
            <a:solidFill>
              <a:srgbClr val="0B84AE"/>
            </a:solidFill>
            <a:prstDash val="solid"/>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pic>
        <p:nvPicPr>
          <p:cNvPr id="512" name="Image 4" descr="preencoded.png">
            <a:extLst>
              <a:ext uri="{FF2B5EF4-FFF2-40B4-BE49-F238E27FC236}">
                <a16:creationId xmlns:a16="http://schemas.microsoft.com/office/drawing/2014/main" id="{50AB36F3-4C94-A61C-E9E5-8E2AD2316E27}"/>
              </a:ext>
            </a:extLst>
          </p:cNvPr>
          <p:cNvPicPr>
            <a:picLocks noChangeAspect="1"/>
          </p:cNvPicPr>
          <p:nvPr/>
        </p:nvPicPr>
        <p:blipFill>
          <a:blip r:embed="rId9"/>
          <a:stretch>
            <a:fillRect/>
          </a:stretch>
        </p:blipFill>
        <p:spPr>
          <a:xfrm>
            <a:off x="861388" y="4505899"/>
            <a:ext cx="256032" cy="256032"/>
          </a:xfrm>
          <a:prstGeom prst="rect">
            <a:avLst/>
          </a:prstGeom>
        </p:spPr>
      </p:pic>
      <p:sp>
        <p:nvSpPr>
          <p:cNvPr id="513" name="Text 24">
            <a:extLst>
              <a:ext uri="{FF2B5EF4-FFF2-40B4-BE49-F238E27FC236}">
                <a16:creationId xmlns:a16="http://schemas.microsoft.com/office/drawing/2014/main" id="{5BD2C971-4DAF-A880-DCF3-7F5D668D66AA}"/>
              </a:ext>
            </a:extLst>
          </p:cNvPr>
          <p:cNvSpPr txBox="1"/>
          <p:nvPr/>
        </p:nvSpPr>
        <p:spPr>
          <a:xfrm>
            <a:off x="29284" y="4908235"/>
            <a:ext cx="1920240" cy="274320"/>
          </a:xfrm>
          <a:prstGeom prst="rect">
            <a:avLst/>
          </a:prstGeom>
          <a:noFill/>
          <a:ln/>
        </p:spPr>
        <p:txBody>
          <a:bodyPr wrap="square" lIns="0" tIns="0" rIns="0" bIns="0" rtlCol="0" anchor="ctr"/>
          <a:lstStyle/>
          <a:p>
            <a:pPr algn="ctr"/>
            <a:r>
              <a:rPr lang="en-US" sz="1300" b="1" dirty="0">
                <a:solidFill>
                  <a:srgbClr val="0B1526"/>
                </a:solidFill>
                <a:latin typeface="Arial"/>
              </a:rPr>
              <a:t>3D operational view</a:t>
            </a:r>
            <a:endParaRPr lang="en-US" sz="1300" dirty="0">
              <a:solidFill>
                <a:srgbClr val="0B1526"/>
              </a:solidFill>
              <a:latin typeface="Arial"/>
            </a:endParaRPr>
          </a:p>
        </p:txBody>
      </p:sp>
      <p:sp>
        <p:nvSpPr>
          <p:cNvPr id="514" name="Shape 25">
            <a:extLst>
              <a:ext uri="{FF2B5EF4-FFF2-40B4-BE49-F238E27FC236}">
                <a16:creationId xmlns:a16="http://schemas.microsoft.com/office/drawing/2014/main" id="{348A98A6-C61B-078B-9D49-78DFFC62BB55}"/>
              </a:ext>
            </a:extLst>
          </p:cNvPr>
          <p:cNvSpPr/>
          <p:nvPr/>
        </p:nvSpPr>
        <p:spPr>
          <a:xfrm>
            <a:off x="751660" y="3207451"/>
            <a:ext cx="475488" cy="475488"/>
          </a:xfrm>
          <a:prstGeom prst="ellipse">
            <a:avLst/>
          </a:prstGeom>
          <a:solidFill>
            <a:srgbClr val="FFFFFF"/>
          </a:solidFill>
          <a:ln w="15875">
            <a:solidFill>
              <a:srgbClr val="0B84AE"/>
            </a:solidFill>
            <a:prstDash val="solid"/>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Arial"/>
            </a:endParaRPr>
          </a:p>
        </p:txBody>
      </p:sp>
      <p:pic>
        <p:nvPicPr>
          <p:cNvPr id="515" name="Image 5" descr="preencoded.png">
            <a:extLst>
              <a:ext uri="{FF2B5EF4-FFF2-40B4-BE49-F238E27FC236}">
                <a16:creationId xmlns:a16="http://schemas.microsoft.com/office/drawing/2014/main" id="{7D5F58E0-8C5B-A215-C547-90C25B364672}"/>
              </a:ext>
            </a:extLst>
          </p:cNvPr>
          <p:cNvPicPr>
            <a:picLocks noChangeAspect="1"/>
          </p:cNvPicPr>
          <p:nvPr/>
        </p:nvPicPr>
        <p:blipFill>
          <a:blip r:embed="rId10"/>
          <a:stretch>
            <a:fillRect/>
          </a:stretch>
        </p:blipFill>
        <p:spPr>
          <a:xfrm>
            <a:off x="861388" y="3317179"/>
            <a:ext cx="256032" cy="256032"/>
          </a:xfrm>
          <a:prstGeom prst="rect">
            <a:avLst/>
          </a:prstGeom>
        </p:spPr>
      </p:pic>
      <p:sp>
        <p:nvSpPr>
          <p:cNvPr id="516" name="Text 26">
            <a:extLst>
              <a:ext uri="{FF2B5EF4-FFF2-40B4-BE49-F238E27FC236}">
                <a16:creationId xmlns:a16="http://schemas.microsoft.com/office/drawing/2014/main" id="{9DAB5A5C-379B-F976-C38B-FF26A8999918}"/>
              </a:ext>
            </a:extLst>
          </p:cNvPr>
          <p:cNvSpPr txBox="1"/>
          <p:nvPr/>
        </p:nvSpPr>
        <p:spPr>
          <a:xfrm>
            <a:off x="29284" y="2896555"/>
            <a:ext cx="1920240" cy="274320"/>
          </a:xfrm>
          <a:prstGeom prst="rect">
            <a:avLst/>
          </a:prstGeom>
          <a:noFill/>
          <a:ln/>
        </p:spPr>
        <p:txBody>
          <a:bodyPr wrap="square" lIns="0" tIns="0" rIns="0" bIns="0" rtlCol="0" anchor="ctr"/>
          <a:lstStyle/>
          <a:p>
            <a:pPr algn="ctr"/>
            <a:r>
              <a:rPr lang="en-US" sz="1300" b="1" dirty="0">
                <a:solidFill>
                  <a:srgbClr val="0B1526"/>
                </a:solidFill>
                <a:latin typeface="Arial"/>
              </a:rPr>
              <a:t>Physical security</a:t>
            </a:r>
            <a:endParaRPr lang="en-US" sz="1300" dirty="0">
              <a:solidFill>
                <a:srgbClr val="0B1526"/>
              </a:solidFill>
              <a:latin typeface="Arial"/>
            </a:endParaRPr>
          </a:p>
        </p:txBody>
      </p:sp>
      <p:pic>
        <p:nvPicPr>
          <p:cNvPr id="17" name="Picture 16">
            <a:extLst>
              <a:ext uri="{FF2B5EF4-FFF2-40B4-BE49-F238E27FC236}">
                <a16:creationId xmlns:a16="http://schemas.microsoft.com/office/drawing/2014/main" id="{4E3154E3-4EEB-E3DC-6150-B65439E5C5F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075809" y="2373860"/>
            <a:ext cx="5715000" cy="32146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61069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0C4C1-8C7D-0493-E82E-4A8A33DD5E70}"/>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A630A78B-F108-95B9-2DAA-18DD902F6BD7}"/>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8CA53844-D215-D5AF-ABE6-05740E9F1D54}"/>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28D4B28F-56E0-52B1-D683-E4E94EB3E293}"/>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14DA0122-443A-7BEF-8949-8209EF0F4CB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1751A802-5CD8-CA61-B0E7-BEAC81C40542}"/>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8ABBBFB6-CB45-250F-FEA8-6FE32565B3A7}"/>
              </a:ext>
            </a:extLst>
          </p:cNvPr>
          <p:cNvSpPr txBox="1">
            <a:spLocks/>
          </p:cNvSpPr>
          <p:nvPr/>
        </p:nvSpPr>
        <p:spPr>
          <a:xfrm>
            <a:off x="262905" y="6434564"/>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6</a:t>
            </a:fld>
            <a:r>
              <a:rPr lang="en-US" sz="1200" dirty="0">
                <a:latin typeface="+mj-lt"/>
              </a:rPr>
              <a:t>   | </a:t>
            </a:r>
          </a:p>
        </p:txBody>
      </p:sp>
      <p:sp>
        <p:nvSpPr>
          <p:cNvPr id="11" name="Title 4">
            <a:extLst>
              <a:ext uri="{FF2B5EF4-FFF2-40B4-BE49-F238E27FC236}">
                <a16:creationId xmlns:a16="http://schemas.microsoft.com/office/drawing/2014/main" id="{31B6A934-7F02-100E-6B1E-99B228BA18B3}"/>
              </a:ext>
            </a:extLst>
          </p:cNvPr>
          <p:cNvSpPr txBox="1">
            <a:spLocks/>
          </p:cNvSpPr>
          <p:nvPr/>
        </p:nvSpPr>
        <p:spPr>
          <a:xfrm>
            <a:off x="295399" y="862117"/>
            <a:ext cx="12768717" cy="5529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ea typeface="Arial" pitchFamily="34" charset="-122"/>
                <a:cs typeface="Arial" pitchFamily="34" charset="-120"/>
              </a:rPr>
              <a:t>The innovation is the verified credential, not another gate.</a:t>
            </a:r>
            <a:endParaRPr lang="en-US" sz="2650" dirty="0">
              <a:solidFill>
                <a:schemeClr val="tx1"/>
              </a:solidFill>
              <a:latin typeface="+mj-lt"/>
            </a:endParaRPr>
          </a:p>
        </p:txBody>
      </p:sp>
      <p:sp>
        <p:nvSpPr>
          <p:cNvPr id="12" name="TextBox 25">
            <a:extLst>
              <a:ext uri="{FF2B5EF4-FFF2-40B4-BE49-F238E27FC236}">
                <a16:creationId xmlns:a16="http://schemas.microsoft.com/office/drawing/2014/main" id="{F37283A6-A444-6F28-2D24-B94621B9FEF8}"/>
              </a:ext>
            </a:extLst>
          </p:cNvPr>
          <p:cNvSpPr txBox="1"/>
          <p:nvPr/>
        </p:nvSpPr>
        <p:spPr>
          <a:xfrm>
            <a:off x="343779" y="563652"/>
            <a:ext cx="1418915"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Innovativeness</a:t>
            </a:r>
          </a:p>
        </p:txBody>
      </p:sp>
      <p:pic>
        <p:nvPicPr>
          <p:cNvPr id="14" name="Today vs FastPass loop" descr="/tmp/claude-0/-home-user-sgqy/b70fb111-7300-56ba-abe4-4b6e17d8c33e/scratchpad/assets/pearl/flow_compare.gif">
            <a:extLst>
              <a:ext uri="{FF2B5EF4-FFF2-40B4-BE49-F238E27FC236}">
                <a16:creationId xmlns:a16="http://schemas.microsoft.com/office/drawing/2014/main" id="{80340758-75B4-80BC-8328-03C4562064BB}"/>
              </a:ext>
            </a:extLst>
          </p:cNvPr>
          <p:cNvPicPr>
            <a:picLocks noChangeAspect="1"/>
          </p:cNvPicPr>
          <p:nvPr/>
        </p:nvPicPr>
        <p:blipFill>
          <a:blip r:embed="rId5"/>
          <a:srcRect t="19203" b="12844"/>
          <a:stretch>
            <a:fillRect/>
          </a:stretch>
        </p:blipFill>
        <p:spPr>
          <a:xfrm>
            <a:off x="2939758" y="1918599"/>
            <a:ext cx="8531352" cy="932047"/>
          </a:xfrm>
          <a:prstGeom prst="rect">
            <a:avLst/>
          </a:prstGeom>
        </p:spPr>
      </p:pic>
      <p:sp>
        <p:nvSpPr>
          <p:cNvPr id="15" name="Text 8">
            <a:extLst>
              <a:ext uri="{FF2B5EF4-FFF2-40B4-BE49-F238E27FC236}">
                <a16:creationId xmlns:a16="http://schemas.microsoft.com/office/drawing/2014/main" id="{3799091F-FA2E-07B5-3F02-F829868227EC}"/>
              </a:ext>
            </a:extLst>
          </p:cNvPr>
          <p:cNvSpPr txBox="1"/>
          <p:nvPr/>
        </p:nvSpPr>
        <p:spPr>
          <a:xfrm>
            <a:off x="889821" y="1689984"/>
            <a:ext cx="1828800" cy="292608"/>
          </a:xfrm>
          <a:prstGeom prst="rect">
            <a:avLst/>
          </a:prstGeom>
          <a:noFill/>
          <a:ln/>
        </p:spPr>
        <p:txBody>
          <a:bodyPr wrap="square" lIns="0" tIns="0" rIns="0" bIns="0" rtlCol="0" anchor="ctr"/>
          <a:lstStyle/>
          <a:p>
            <a:r>
              <a:rPr lang="en-US" sz="1700" b="1" dirty="0">
                <a:solidFill>
                  <a:srgbClr val="0A1628"/>
                </a:solidFill>
                <a:latin typeface="+mj-lt"/>
              </a:rPr>
              <a:t>Today</a:t>
            </a:r>
            <a:endParaRPr lang="en-US" sz="1700" dirty="0">
              <a:solidFill>
                <a:srgbClr val="0A1628"/>
              </a:solidFill>
              <a:latin typeface="+mj-lt"/>
            </a:endParaRPr>
          </a:p>
        </p:txBody>
      </p:sp>
      <p:sp>
        <p:nvSpPr>
          <p:cNvPr id="16" name="Text 9">
            <a:extLst>
              <a:ext uri="{FF2B5EF4-FFF2-40B4-BE49-F238E27FC236}">
                <a16:creationId xmlns:a16="http://schemas.microsoft.com/office/drawing/2014/main" id="{002E93BF-9C60-2FEE-9FC6-F1BC79971DE6}"/>
              </a:ext>
            </a:extLst>
          </p:cNvPr>
          <p:cNvSpPr txBox="1"/>
          <p:nvPr/>
        </p:nvSpPr>
        <p:spPr>
          <a:xfrm>
            <a:off x="889821" y="2075839"/>
            <a:ext cx="2077312" cy="237744"/>
          </a:xfrm>
          <a:prstGeom prst="rect">
            <a:avLst/>
          </a:prstGeom>
          <a:noFill/>
          <a:ln/>
        </p:spPr>
        <p:txBody>
          <a:bodyPr wrap="square" lIns="0" tIns="0" rIns="0" bIns="0" rtlCol="0" anchor="ctr"/>
          <a:lstStyle/>
          <a:p>
            <a:r>
              <a:rPr lang="en-US" sz="1200" dirty="0">
                <a:solidFill>
                  <a:srgbClr val="D97706"/>
                </a:solidFill>
                <a:latin typeface="+mj-lt"/>
              </a:rPr>
              <a:t>4 stops · an officer at each</a:t>
            </a:r>
            <a:endParaRPr lang="en-US" sz="1200" dirty="0">
              <a:solidFill>
                <a:srgbClr val="0A1628"/>
              </a:solidFill>
              <a:latin typeface="+mj-lt"/>
            </a:endParaRPr>
          </a:p>
        </p:txBody>
      </p:sp>
      <p:sp>
        <p:nvSpPr>
          <p:cNvPr id="17" name="Text 10">
            <a:extLst>
              <a:ext uri="{FF2B5EF4-FFF2-40B4-BE49-F238E27FC236}">
                <a16:creationId xmlns:a16="http://schemas.microsoft.com/office/drawing/2014/main" id="{79A3692A-727B-CACA-02B7-5240AD0BA251}"/>
              </a:ext>
            </a:extLst>
          </p:cNvPr>
          <p:cNvSpPr txBox="1"/>
          <p:nvPr/>
        </p:nvSpPr>
        <p:spPr>
          <a:xfrm>
            <a:off x="889821" y="2470340"/>
            <a:ext cx="1920240" cy="292608"/>
          </a:xfrm>
          <a:prstGeom prst="rect">
            <a:avLst/>
          </a:prstGeom>
          <a:noFill/>
          <a:ln/>
        </p:spPr>
        <p:txBody>
          <a:bodyPr wrap="square" lIns="0" tIns="0" rIns="0" bIns="0" rtlCol="0" anchor="ctr"/>
          <a:lstStyle/>
          <a:p>
            <a:r>
              <a:rPr lang="en-US" sz="1700" b="1" dirty="0">
                <a:solidFill>
                  <a:srgbClr val="0B84AE"/>
                </a:solidFill>
                <a:latin typeface="+mj-lt"/>
              </a:rPr>
              <a:t>With FastPass</a:t>
            </a:r>
            <a:endParaRPr lang="en-US" sz="1700" dirty="0">
              <a:solidFill>
                <a:srgbClr val="0A1628"/>
              </a:solidFill>
              <a:latin typeface="+mj-lt"/>
            </a:endParaRPr>
          </a:p>
        </p:txBody>
      </p:sp>
      <p:sp>
        <p:nvSpPr>
          <p:cNvPr id="18" name="Text 11">
            <a:extLst>
              <a:ext uri="{FF2B5EF4-FFF2-40B4-BE49-F238E27FC236}">
                <a16:creationId xmlns:a16="http://schemas.microsoft.com/office/drawing/2014/main" id="{8A4238AD-3D46-5F49-04D6-6109B7B22E76}"/>
              </a:ext>
            </a:extLst>
          </p:cNvPr>
          <p:cNvSpPr txBox="1"/>
          <p:nvPr/>
        </p:nvSpPr>
        <p:spPr>
          <a:xfrm>
            <a:off x="881509" y="2918396"/>
            <a:ext cx="1965960" cy="237744"/>
          </a:xfrm>
          <a:prstGeom prst="rect">
            <a:avLst/>
          </a:prstGeom>
          <a:noFill/>
          <a:ln/>
        </p:spPr>
        <p:txBody>
          <a:bodyPr wrap="square" lIns="0" tIns="0" rIns="0" bIns="0" rtlCol="0" anchor="ctr"/>
          <a:lstStyle/>
          <a:p>
            <a:r>
              <a:rPr lang="en-US" sz="1200" dirty="0">
                <a:solidFill>
                  <a:srgbClr val="1E9E50"/>
                </a:solidFill>
                <a:latin typeface="+mj-lt"/>
              </a:rPr>
              <a:t>0 stops · officers on exceptions only</a:t>
            </a:r>
            <a:endParaRPr lang="en-US" sz="1200" dirty="0">
              <a:solidFill>
                <a:srgbClr val="0A1628"/>
              </a:solidFill>
              <a:latin typeface="+mj-lt"/>
            </a:endParaRPr>
          </a:p>
        </p:txBody>
      </p:sp>
      <p:sp>
        <p:nvSpPr>
          <p:cNvPr id="22" name="Shape 5">
            <a:extLst>
              <a:ext uri="{FF2B5EF4-FFF2-40B4-BE49-F238E27FC236}">
                <a16:creationId xmlns:a16="http://schemas.microsoft.com/office/drawing/2014/main" id="{7BD8DD7E-7383-2260-B6CE-62C37F67F226}"/>
              </a:ext>
            </a:extLst>
          </p:cNvPr>
          <p:cNvSpPr/>
          <p:nvPr/>
        </p:nvSpPr>
        <p:spPr>
          <a:xfrm>
            <a:off x="620570" y="3935686"/>
            <a:ext cx="1051560" cy="1051560"/>
          </a:xfrm>
          <a:prstGeom prst="ellipse">
            <a:avLst/>
          </a:prstGeom>
          <a:solidFill>
            <a:srgbClr val="0B84AE">
              <a:alpha val="12000"/>
            </a:srgbClr>
          </a:solidFill>
          <a:ln w="15875">
            <a:solidFill>
              <a:srgbClr val="0B84A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23" name="Image 0" descr="preencoded.png">
            <a:extLst>
              <a:ext uri="{FF2B5EF4-FFF2-40B4-BE49-F238E27FC236}">
                <a16:creationId xmlns:a16="http://schemas.microsoft.com/office/drawing/2014/main" id="{540C5DEA-7490-CE01-DE3D-6EF28EE787A2}"/>
              </a:ext>
            </a:extLst>
          </p:cNvPr>
          <p:cNvPicPr>
            <a:picLocks noChangeAspect="1"/>
          </p:cNvPicPr>
          <p:nvPr/>
        </p:nvPicPr>
        <p:blipFill>
          <a:blip r:embed="rId6"/>
          <a:stretch>
            <a:fillRect/>
          </a:stretch>
        </p:blipFill>
        <p:spPr>
          <a:xfrm>
            <a:off x="894890" y="4210006"/>
            <a:ext cx="502920" cy="502920"/>
          </a:xfrm>
          <a:prstGeom prst="rect">
            <a:avLst/>
          </a:prstGeom>
        </p:spPr>
      </p:pic>
      <p:sp>
        <p:nvSpPr>
          <p:cNvPr id="24" name="Text 6">
            <a:extLst>
              <a:ext uri="{FF2B5EF4-FFF2-40B4-BE49-F238E27FC236}">
                <a16:creationId xmlns:a16="http://schemas.microsoft.com/office/drawing/2014/main" id="{F66BCA2B-077F-6060-FBC9-572A2A78A3AA}"/>
              </a:ext>
            </a:extLst>
          </p:cNvPr>
          <p:cNvSpPr txBox="1"/>
          <p:nvPr/>
        </p:nvSpPr>
        <p:spPr>
          <a:xfrm>
            <a:off x="437690" y="5078686"/>
            <a:ext cx="1417320" cy="502920"/>
          </a:xfrm>
          <a:prstGeom prst="rect">
            <a:avLst/>
          </a:prstGeom>
          <a:noFill/>
          <a:ln/>
        </p:spPr>
        <p:txBody>
          <a:bodyPr wrap="square" lIns="0" tIns="0" rIns="0" bIns="0" rtlCol="0" anchor="t"/>
          <a:lstStyle/>
          <a:p>
            <a:pPr algn="ctr"/>
            <a:r>
              <a:rPr lang="en-US" sz="1200" b="1" dirty="0">
                <a:solidFill>
                  <a:srgbClr val="0A1628"/>
                </a:solidFill>
                <a:latin typeface="+mj-lt"/>
              </a:rPr>
              <a:t>Device credential</a:t>
            </a:r>
            <a:endParaRPr lang="en-US" sz="1200" dirty="0">
              <a:solidFill>
                <a:srgbClr val="0A1628"/>
              </a:solidFill>
              <a:latin typeface="+mj-lt"/>
            </a:endParaRPr>
          </a:p>
          <a:p>
            <a:pPr algn="ctr"/>
            <a:r>
              <a:rPr lang="en-US" sz="1200" dirty="0">
                <a:solidFill>
                  <a:srgbClr val="4F5B6D"/>
                </a:solidFill>
                <a:latin typeface="+mj-lt"/>
              </a:rPr>
              <a:t>via BLE</a:t>
            </a:r>
            <a:endParaRPr lang="en-US" sz="1200" dirty="0">
              <a:solidFill>
                <a:srgbClr val="0A1628"/>
              </a:solidFill>
              <a:latin typeface="+mj-lt"/>
            </a:endParaRPr>
          </a:p>
        </p:txBody>
      </p:sp>
      <p:sp>
        <p:nvSpPr>
          <p:cNvPr id="25" name="Text 7">
            <a:extLst>
              <a:ext uri="{FF2B5EF4-FFF2-40B4-BE49-F238E27FC236}">
                <a16:creationId xmlns:a16="http://schemas.microsoft.com/office/drawing/2014/main" id="{7F858411-8924-6FAB-AD04-70784A40BC4D}"/>
              </a:ext>
            </a:extLst>
          </p:cNvPr>
          <p:cNvSpPr txBox="1"/>
          <p:nvPr/>
        </p:nvSpPr>
        <p:spPr>
          <a:xfrm>
            <a:off x="1672130" y="4210006"/>
            <a:ext cx="457200" cy="502920"/>
          </a:xfrm>
          <a:prstGeom prst="rect">
            <a:avLst/>
          </a:prstGeom>
          <a:noFill/>
          <a:ln/>
        </p:spPr>
        <p:txBody>
          <a:bodyPr wrap="square" lIns="0" tIns="0" rIns="0" bIns="0" rtlCol="0" anchor="ctr"/>
          <a:lstStyle/>
          <a:p>
            <a:pPr algn="ctr"/>
            <a:r>
              <a:rPr lang="en-US" sz="2600" b="1" dirty="0">
                <a:solidFill>
                  <a:srgbClr val="7D8899"/>
                </a:solidFill>
                <a:latin typeface="+mj-lt"/>
              </a:rPr>
              <a:t>+</a:t>
            </a:r>
            <a:endParaRPr lang="en-US" sz="2600" dirty="0">
              <a:solidFill>
                <a:srgbClr val="0A1628"/>
              </a:solidFill>
              <a:latin typeface="+mj-lt"/>
            </a:endParaRPr>
          </a:p>
        </p:txBody>
      </p:sp>
      <p:sp>
        <p:nvSpPr>
          <p:cNvPr id="26" name="Shape 8">
            <a:extLst>
              <a:ext uri="{FF2B5EF4-FFF2-40B4-BE49-F238E27FC236}">
                <a16:creationId xmlns:a16="http://schemas.microsoft.com/office/drawing/2014/main" id="{5A8C0B66-A393-93B4-7E62-805DC74C6FDD}"/>
              </a:ext>
            </a:extLst>
          </p:cNvPr>
          <p:cNvSpPr/>
          <p:nvPr/>
        </p:nvSpPr>
        <p:spPr>
          <a:xfrm>
            <a:off x="2129330" y="3935686"/>
            <a:ext cx="1051560" cy="1051560"/>
          </a:xfrm>
          <a:prstGeom prst="ellipse">
            <a:avLst/>
          </a:prstGeom>
          <a:solidFill>
            <a:srgbClr val="0B84AE">
              <a:alpha val="12000"/>
            </a:srgbClr>
          </a:solidFill>
          <a:ln w="15875">
            <a:solidFill>
              <a:srgbClr val="0B84A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28" name="Image 1" descr="preencoded.png">
            <a:extLst>
              <a:ext uri="{FF2B5EF4-FFF2-40B4-BE49-F238E27FC236}">
                <a16:creationId xmlns:a16="http://schemas.microsoft.com/office/drawing/2014/main" id="{E77E09BC-CD96-D4C5-FEEC-1BDBB18BC5B2}"/>
              </a:ext>
            </a:extLst>
          </p:cNvPr>
          <p:cNvPicPr>
            <a:picLocks noChangeAspect="1"/>
          </p:cNvPicPr>
          <p:nvPr/>
        </p:nvPicPr>
        <p:blipFill>
          <a:blip r:embed="rId7"/>
          <a:stretch>
            <a:fillRect/>
          </a:stretch>
        </p:blipFill>
        <p:spPr>
          <a:xfrm>
            <a:off x="2403650" y="4210006"/>
            <a:ext cx="502920" cy="502920"/>
          </a:xfrm>
          <a:prstGeom prst="rect">
            <a:avLst/>
          </a:prstGeom>
        </p:spPr>
      </p:pic>
      <p:sp>
        <p:nvSpPr>
          <p:cNvPr id="29" name="Text 9">
            <a:extLst>
              <a:ext uri="{FF2B5EF4-FFF2-40B4-BE49-F238E27FC236}">
                <a16:creationId xmlns:a16="http://schemas.microsoft.com/office/drawing/2014/main" id="{F4023903-944F-598C-B665-50DCA9E4620D}"/>
              </a:ext>
            </a:extLst>
          </p:cNvPr>
          <p:cNvSpPr txBox="1"/>
          <p:nvPr/>
        </p:nvSpPr>
        <p:spPr>
          <a:xfrm>
            <a:off x="1946450" y="5078686"/>
            <a:ext cx="1417320" cy="502920"/>
          </a:xfrm>
          <a:prstGeom prst="rect">
            <a:avLst/>
          </a:prstGeom>
          <a:noFill/>
          <a:ln/>
        </p:spPr>
        <p:txBody>
          <a:bodyPr wrap="square" lIns="0" tIns="0" rIns="0" bIns="0" rtlCol="0" anchor="t"/>
          <a:lstStyle/>
          <a:p>
            <a:pPr algn="ctr"/>
            <a:r>
              <a:rPr lang="en-US" sz="1200" b="1" dirty="0">
                <a:solidFill>
                  <a:srgbClr val="0A1628"/>
                </a:solidFill>
                <a:latin typeface="+mj-lt"/>
              </a:rPr>
              <a:t>Live face</a:t>
            </a:r>
            <a:endParaRPr lang="en-US" sz="1200" dirty="0">
              <a:solidFill>
                <a:srgbClr val="0A1628"/>
              </a:solidFill>
              <a:latin typeface="+mj-lt"/>
            </a:endParaRPr>
          </a:p>
          <a:p>
            <a:pPr algn="ctr"/>
            <a:r>
              <a:rPr lang="en-US" sz="1200" dirty="0">
                <a:solidFill>
                  <a:srgbClr val="4F5B6D"/>
                </a:solidFill>
                <a:latin typeface="+mj-lt"/>
              </a:rPr>
              <a:t>on the move</a:t>
            </a:r>
            <a:endParaRPr lang="en-US" sz="1200" dirty="0">
              <a:solidFill>
                <a:srgbClr val="0A1628"/>
              </a:solidFill>
              <a:latin typeface="+mj-lt"/>
            </a:endParaRPr>
          </a:p>
        </p:txBody>
      </p:sp>
      <p:sp>
        <p:nvSpPr>
          <p:cNvPr id="30" name="Text 10">
            <a:extLst>
              <a:ext uri="{FF2B5EF4-FFF2-40B4-BE49-F238E27FC236}">
                <a16:creationId xmlns:a16="http://schemas.microsoft.com/office/drawing/2014/main" id="{F235DEDE-4A0F-0959-E12A-71AE858EFFE6}"/>
              </a:ext>
            </a:extLst>
          </p:cNvPr>
          <p:cNvSpPr txBox="1"/>
          <p:nvPr/>
        </p:nvSpPr>
        <p:spPr>
          <a:xfrm>
            <a:off x="3180890" y="4210006"/>
            <a:ext cx="457200" cy="502920"/>
          </a:xfrm>
          <a:prstGeom prst="rect">
            <a:avLst/>
          </a:prstGeom>
          <a:noFill/>
          <a:ln/>
        </p:spPr>
        <p:txBody>
          <a:bodyPr wrap="square" lIns="0" tIns="0" rIns="0" bIns="0" rtlCol="0" anchor="ctr"/>
          <a:lstStyle/>
          <a:p>
            <a:pPr algn="ctr"/>
            <a:r>
              <a:rPr lang="en-US" sz="2600" b="1" dirty="0">
                <a:solidFill>
                  <a:srgbClr val="7D8899"/>
                </a:solidFill>
                <a:latin typeface="+mj-lt"/>
              </a:rPr>
              <a:t>=</a:t>
            </a:r>
            <a:endParaRPr lang="en-US" sz="2600" dirty="0">
              <a:solidFill>
                <a:srgbClr val="0A1628"/>
              </a:solidFill>
              <a:latin typeface="+mj-lt"/>
            </a:endParaRPr>
          </a:p>
        </p:txBody>
      </p:sp>
      <p:sp>
        <p:nvSpPr>
          <p:cNvPr id="31" name="Shape 11">
            <a:extLst>
              <a:ext uri="{FF2B5EF4-FFF2-40B4-BE49-F238E27FC236}">
                <a16:creationId xmlns:a16="http://schemas.microsoft.com/office/drawing/2014/main" id="{30CD36E7-E80E-2A84-81F2-0C416237492C}"/>
              </a:ext>
            </a:extLst>
          </p:cNvPr>
          <p:cNvSpPr/>
          <p:nvPr/>
        </p:nvSpPr>
        <p:spPr>
          <a:xfrm>
            <a:off x="3638090" y="3935686"/>
            <a:ext cx="1051560" cy="1051560"/>
          </a:xfrm>
          <a:prstGeom prst="ellipse">
            <a:avLst/>
          </a:prstGeom>
          <a:solidFill>
            <a:srgbClr val="1E9E50">
              <a:alpha val="12000"/>
            </a:srgbClr>
          </a:solidFill>
          <a:ln w="15875">
            <a:solidFill>
              <a:srgbClr val="1E9E5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32" name="Image 2" descr="preencoded.png">
            <a:extLst>
              <a:ext uri="{FF2B5EF4-FFF2-40B4-BE49-F238E27FC236}">
                <a16:creationId xmlns:a16="http://schemas.microsoft.com/office/drawing/2014/main" id="{0190610A-888F-6E51-52CF-CCE0FA99AE0C}"/>
              </a:ext>
            </a:extLst>
          </p:cNvPr>
          <p:cNvPicPr>
            <a:picLocks noChangeAspect="1"/>
          </p:cNvPicPr>
          <p:nvPr/>
        </p:nvPicPr>
        <p:blipFill>
          <a:blip r:embed="rId8"/>
          <a:stretch>
            <a:fillRect/>
          </a:stretch>
        </p:blipFill>
        <p:spPr>
          <a:xfrm>
            <a:off x="3912410" y="4210006"/>
            <a:ext cx="502920" cy="502920"/>
          </a:xfrm>
          <a:prstGeom prst="rect">
            <a:avLst/>
          </a:prstGeom>
        </p:spPr>
      </p:pic>
      <p:sp>
        <p:nvSpPr>
          <p:cNvPr id="33" name="Text 12">
            <a:extLst>
              <a:ext uri="{FF2B5EF4-FFF2-40B4-BE49-F238E27FC236}">
                <a16:creationId xmlns:a16="http://schemas.microsoft.com/office/drawing/2014/main" id="{F622CB87-E681-5E09-4D5C-442713AF9B60}"/>
              </a:ext>
            </a:extLst>
          </p:cNvPr>
          <p:cNvSpPr txBox="1"/>
          <p:nvPr/>
        </p:nvSpPr>
        <p:spPr>
          <a:xfrm>
            <a:off x="3455210" y="5078686"/>
            <a:ext cx="1417320" cy="502920"/>
          </a:xfrm>
          <a:prstGeom prst="rect">
            <a:avLst/>
          </a:prstGeom>
          <a:noFill/>
          <a:ln/>
        </p:spPr>
        <p:txBody>
          <a:bodyPr wrap="square" lIns="0" tIns="0" rIns="0" bIns="0" rtlCol="0" anchor="t"/>
          <a:lstStyle/>
          <a:p>
            <a:pPr algn="ctr"/>
            <a:r>
              <a:rPr lang="en-US" sz="1200" b="1" dirty="0">
                <a:solidFill>
                  <a:srgbClr val="0A1628"/>
                </a:solidFill>
                <a:latin typeface="+mj-lt"/>
              </a:rPr>
              <a:t>Cleared</a:t>
            </a:r>
            <a:endParaRPr lang="en-US" sz="1200" dirty="0">
              <a:solidFill>
                <a:srgbClr val="0A1628"/>
              </a:solidFill>
              <a:latin typeface="+mj-lt"/>
            </a:endParaRPr>
          </a:p>
          <a:p>
            <a:pPr algn="ctr"/>
            <a:r>
              <a:rPr lang="en-US" sz="1200" dirty="0">
                <a:solidFill>
                  <a:srgbClr val="4F5B6D"/>
                </a:solidFill>
                <a:latin typeface="+mj-lt"/>
              </a:rPr>
              <a:t>lane stays open</a:t>
            </a:r>
            <a:endParaRPr lang="en-US" sz="1200" dirty="0">
              <a:solidFill>
                <a:srgbClr val="0A1628"/>
              </a:solidFill>
              <a:latin typeface="+mj-lt"/>
            </a:endParaRPr>
          </a:p>
        </p:txBody>
      </p:sp>
      <p:sp>
        <p:nvSpPr>
          <p:cNvPr id="34" name="Shape 13">
            <a:extLst>
              <a:ext uri="{FF2B5EF4-FFF2-40B4-BE49-F238E27FC236}">
                <a16:creationId xmlns:a16="http://schemas.microsoft.com/office/drawing/2014/main" id="{E6C8D29E-A55F-B8D7-57AA-E254595492E2}"/>
              </a:ext>
            </a:extLst>
          </p:cNvPr>
          <p:cNvSpPr/>
          <p:nvPr/>
        </p:nvSpPr>
        <p:spPr>
          <a:xfrm>
            <a:off x="620570" y="5837638"/>
            <a:ext cx="4160520" cy="0"/>
          </a:xfrm>
          <a:prstGeom prst="line">
            <a:avLst/>
          </a:prstGeom>
          <a:noFill/>
          <a:ln w="9525">
            <a:solidFill>
              <a:srgbClr val="E1E6ED"/>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45" name="Shape 16">
            <a:extLst>
              <a:ext uri="{FF2B5EF4-FFF2-40B4-BE49-F238E27FC236}">
                <a16:creationId xmlns:a16="http://schemas.microsoft.com/office/drawing/2014/main" id="{AA6CF03E-96AF-0B99-DA51-AE07B15A56C5}"/>
              </a:ext>
            </a:extLst>
          </p:cNvPr>
          <p:cNvSpPr/>
          <p:nvPr/>
        </p:nvSpPr>
        <p:spPr>
          <a:xfrm>
            <a:off x="5573230" y="3319989"/>
            <a:ext cx="457200" cy="457200"/>
          </a:xfrm>
          <a:prstGeom prst="ellipse">
            <a:avLst/>
          </a:prstGeom>
          <a:solidFill>
            <a:schemeClr val="accent1">
              <a:alpha val="12000"/>
            </a:schemeClr>
          </a:solidFill>
          <a:ln/>
        </p:spPr>
        <p:txBody>
          <a:bodyPr/>
          <a:lstStyle/>
          <a:p>
            <a:endParaRPr lang="en-SG">
              <a:latin typeface="+mj-lt"/>
            </a:endParaRPr>
          </a:p>
        </p:txBody>
      </p:sp>
      <p:pic>
        <p:nvPicPr>
          <p:cNvPr id="47" name="Image 5" descr="preencoded.png">
            <a:extLst>
              <a:ext uri="{FF2B5EF4-FFF2-40B4-BE49-F238E27FC236}">
                <a16:creationId xmlns:a16="http://schemas.microsoft.com/office/drawing/2014/main" id="{4416CDE8-897C-7FAB-5898-8BA69F325F52}"/>
              </a:ext>
            </a:extLst>
          </p:cNvPr>
          <p:cNvPicPr>
            <a:picLocks noChangeAspect="1"/>
          </p:cNvPicPr>
          <p:nvPr/>
        </p:nvPicPr>
        <p:blipFill>
          <a:blip r:embed="rId9"/>
          <a:stretch>
            <a:fillRect/>
          </a:stretch>
        </p:blipFill>
        <p:spPr>
          <a:xfrm>
            <a:off x="5678386" y="3425145"/>
            <a:ext cx="246888" cy="246888"/>
          </a:xfrm>
          <a:prstGeom prst="rect">
            <a:avLst/>
          </a:prstGeom>
        </p:spPr>
      </p:pic>
      <p:sp>
        <p:nvSpPr>
          <p:cNvPr id="49" name="Text 17">
            <a:extLst>
              <a:ext uri="{FF2B5EF4-FFF2-40B4-BE49-F238E27FC236}">
                <a16:creationId xmlns:a16="http://schemas.microsoft.com/office/drawing/2014/main" id="{C6D19E2C-F27D-4159-86E0-C64A5E30CBC6}"/>
              </a:ext>
            </a:extLst>
          </p:cNvPr>
          <p:cNvSpPr txBox="1"/>
          <p:nvPr/>
        </p:nvSpPr>
        <p:spPr>
          <a:xfrm>
            <a:off x="6213310" y="3301701"/>
            <a:ext cx="5257800" cy="292608"/>
          </a:xfrm>
          <a:prstGeom prst="rect">
            <a:avLst/>
          </a:prstGeom>
          <a:noFill/>
          <a:ln/>
        </p:spPr>
        <p:txBody>
          <a:bodyPr wrap="square" lIns="0" tIns="0" rIns="0" bIns="0" rtlCol="0" anchor="ctr"/>
          <a:lstStyle/>
          <a:p>
            <a:pPr marL="0" indent="0">
              <a:buNone/>
            </a:pPr>
            <a:r>
              <a:rPr lang="en-US" sz="1600" b="1" dirty="0">
                <a:solidFill>
                  <a:schemeClr val="tx1"/>
                </a:solidFill>
                <a:latin typeface="+mj-lt"/>
              </a:rPr>
              <a:t>Privacy by design</a:t>
            </a:r>
            <a:endParaRPr lang="en-US" sz="1600" dirty="0">
              <a:latin typeface="+mj-lt"/>
            </a:endParaRPr>
          </a:p>
        </p:txBody>
      </p:sp>
      <p:sp>
        <p:nvSpPr>
          <p:cNvPr id="51" name="Text 18">
            <a:extLst>
              <a:ext uri="{FF2B5EF4-FFF2-40B4-BE49-F238E27FC236}">
                <a16:creationId xmlns:a16="http://schemas.microsoft.com/office/drawing/2014/main" id="{09301A4C-254C-4020-56D3-DF8A3BEAA723}"/>
              </a:ext>
            </a:extLst>
          </p:cNvPr>
          <p:cNvSpPr txBox="1"/>
          <p:nvPr/>
        </p:nvSpPr>
        <p:spPr>
          <a:xfrm>
            <a:off x="6213310" y="3612597"/>
            <a:ext cx="5257800" cy="502920"/>
          </a:xfrm>
          <a:prstGeom prst="rect">
            <a:avLst/>
          </a:prstGeom>
          <a:noFill/>
          <a:ln/>
        </p:spPr>
        <p:txBody>
          <a:bodyPr wrap="square" lIns="0" tIns="0" rIns="0" bIns="0" rtlCol="0" anchor="t"/>
          <a:lstStyle/>
          <a:p>
            <a:pPr marL="0" indent="0">
              <a:buNone/>
            </a:pPr>
            <a:r>
              <a:rPr lang="en-US" sz="1400" dirty="0">
                <a:solidFill>
                  <a:schemeClr val="tx2"/>
                </a:solidFill>
                <a:latin typeface="+mj-lt"/>
              </a:rPr>
              <a:t>Credentials stay encrypted on the phone </a:t>
            </a:r>
            <a:endParaRPr lang="en-US" sz="1400" dirty="0">
              <a:latin typeface="+mj-lt"/>
            </a:endParaRPr>
          </a:p>
        </p:txBody>
      </p:sp>
      <p:sp>
        <p:nvSpPr>
          <p:cNvPr id="53" name="Shape 19">
            <a:extLst>
              <a:ext uri="{FF2B5EF4-FFF2-40B4-BE49-F238E27FC236}">
                <a16:creationId xmlns:a16="http://schemas.microsoft.com/office/drawing/2014/main" id="{0C794E48-316E-B4B6-4EDC-792157C53E4B}"/>
              </a:ext>
            </a:extLst>
          </p:cNvPr>
          <p:cNvSpPr/>
          <p:nvPr/>
        </p:nvSpPr>
        <p:spPr>
          <a:xfrm>
            <a:off x="5573230" y="4015382"/>
            <a:ext cx="457200" cy="457200"/>
          </a:xfrm>
          <a:prstGeom prst="ellipse">
            <a:avLst/>
          </a:prstGeom>
          <a:solidFill>
            <a:schemeClr val="accent1">
              <a:alpha val="12000"/>
            </a:schemeClr>
          </a:solidFill>
          <a:ln/>
        </p:spPr>
        <p:txBody>
          <a:bodyPr/>
          <a:lstStyle/>
          <a:p>
            <a:endParaRPr lang="en-SG">
              <a:latin typeface="+mj-lt"/>
            </a:endParaRPr>
          </a:p>
        </p:txBody>
      </p:sp>
      <p:pic>
        <p:nvPicPr>
          <p:cNvPr id="55" name="Image 6" descr="preencoded.png">
            <a:extLst>
              <a:ext uri="{FF2B5EF4-FFF2-40B4-BE49-F238E27FC236}">
                <a16:creationId xmlns:a16="http://schemas.microsoft.com/office/drawing/2014/main" id="{D17A5934-178B-A560-F637-8B8F09770F6D}"/>
              </a:ext>
            </a:extLst>
          </p:cNvPr>
          <p:cNvPicPr>
            <a:picLocks noChangeAspect="1"/>
          </p:cNvPicPr>
          <p:nvPr/>
        </p:nvPicPr>
        <p:blipFill>
          <a:blip r:embed="rId10"/>
          <a:stretch>
            <a:fillRect/>
          </a:stretch>
        </p:blipFill>
        <p:spPr>
          <a:xfrm>
            <a:off x="5678386" y="4120538"/>
            <a:ext cx="246888" cy="246888"/>
          </a:xfrm>
          <a:prstGeom prst="rect">
            <a:avLst/>
          </a:prstGeom>
        </p:spPr>
      </p:pic>
      <p:sp>
        <p:nvSpPr>
          <p:cNvPr id="57" name="Text 20">
            <a:extLst>
              <a:ext uri="{FF2B5EF4-FFF2-40B4-BE49-F238E27FC236}">
                <a16:creationId xmlns:a16="http://schemas.microsoft.com/office/drawing/2014/main" id="{E47CCDD9-36F7-FB86-F755-0B7145D73058}"/>
              </a:ext>
            </a:extLst>
          </p:cNvPr>
          <p:cNvSpPr txBox="1"/>
          <p:nvPr/>
        </p:nvSpPr>
        <p:spPr>
          <a:xfrm>
            <a:off x="6213310" y="3997094"/>
            <a:ext cx="5257800" cy="292608"/>
          </a:xfrm>
          <a:prstGeom prst="rect">
            <a:avLst/>
          </a:prstGeom>
          <a:noFill/>
          <a:ln/>
        </p:spPr>
        <p:txBody>
          <a:bodyPr wrap="square" lIns="0" tIns="0" rIns="0" bIns="0" rtlCol="0" anchor="ctr"/>
          <a:lstStyle/>
          <a:p>
            <a:pPr marL="0" indent="0">
              <a:buNone/>
            </a:pPr>
            <a:r>
              <a:rPr lang="en-US" sz="1600" b="1" dirty="0">
                <a:solidFill>
                  <a:schemeClr val="tx1"/>
                </a:solidFill>
                <a:latin typeface="+mj-lt"/>
              </a:rPr>
              <a:t>Plugs into airline and airport apps</a:t>
            </a:r>
            <a:endParaRPr lang="en-US" sz="1600" dirty="0">
              <a:latin typeface="+mj-lt"/>
            </a:endParaRPr>
          </a:p>
        </p:txBody>
      </p:sp>
      <p:sp>
        <p:nvSpPr>
          <p:cNvPr id="59" name="Text 21">
            <a:extLst>
              <a:ext uri="{FF2B5EF4-FFF2-40B4-BE49-F238E27FC236}">
                <a16:creationId xmlns:a16="http://schemas.microsoft.com/office/drawing/2014/main" id="{3B7EFEA4-DEE6-3888-B713-778180B31E23}"/>
              </a:ext>
            </a:extLst>
          </p:cNvPr>
          <p:cNvSpPr txBox="1"/>
          <p:nvPr/>
        </p:nvSpPr>
        <p:spPr>
          <a:xfrm>
            <a:off x="6213310" y="4307990"/>
            <a:ext cx="5257800" cy="502920"/>
          </a:xfrm>
          <a:prstGeom prst="rect">
            <a:avLst/>
          </a:prstGeom>
          <a:noFill/>
          <a:ln/>
        </p:spPr>
        <p:txBody>
          <a:bodyPr wrap="square" lIns="0" tIns="0" rIns="0" bIns="0" rtlCol="0" anchor="t"/>
          <a:lstStyle/>
          <a:p>
            <a:pPr marL="0" indent="0">
              <a:buNone/>
            </a:pPr>
            <a:r>
              <a:rPr lang="en-US" sz="1400" dirty="0">
                <a:solidFill>
                  <a:schemeClr val="tx2"/>
                </a:solidFill>
                <a:latin typeface="+mj-lt"/>
              </a:rPr>
              <a:t>Ships as an SDK inside the channels travellers already use</a:t>
            </a:r>
            <a:endParaRPr lang="en-US" sz="1400" dirty="0">
              <a:latin typeface="+mj-lt"/>
            </a:endParaRPr>
          </a:p>
        </p:txBody>
      </p:sp>
      <p:sp>
        <p:nvSpPr>
          <p:cNvPr id="61" name="Shape 22">
            <a:extLst>
              <a:ext uri="{FF2B5EF4-FFF2-40B4-BE49-F238E27FC236}">
                <a16:creationId xmlns:a16="http://schemas.microsoft.com/office/drawing/2014/main" id="{0786FF16-711A-CFC5-CEE5-5C63B30B48A1}"/>
              </a:ext>
            </a:extLst>
          </p:cNvPr>
          <p:cNvSpPr/>
          <p:nvPr/>
        </p:nvSpPr>
        <p:spPr>
          <a:xfrm>
            <a:off x="5573230" y="4755475"/>
            <a:ext cx="457200" cy="457200"/>
          </a:xfrm>
          <a:prstGeom prst="ellipse">
            <a:avLst/>
          </a:prstGeom>
          <a:solidFill>
            <a:schemeClr val="accent1">
              <a:alpha val="12000"/>
            </a:schemeClr>
          </a:solidFill>
          <a:ln/>
        </p:spPr>
        <p:txBody>
          <a:bodyPr/>
          <a:lstStyle/>
          <a:p>
            <a:endParaRPr lang="en-SG">
              <a:latin typeface="+mj-lt"/>
            </a:endParaRPr>
          </a:p>
        </p:txBody>
      </p:sp>
      <p:pic>
        <p:nvPicPr>
          <p:cNvPr id="63" name="Image 7" descr="preencoded.png">
            <a:extLst>
              <a:ext uri="{FF2B5EF4-FFF2-40B4-BE49-F238E27FC236}">
                <a16:creationId xmlns:a16="http://schemas.microsoft.com/office/drawing/2014/main" id="{48AA6EE6-93AA-D522-23E3-627F017B4DAB}"/>
              </a:ext>
            </a:extLst>
          </p:cNvPr>
          <p:cNvPicPr>
            <a:picLocks noChangeAspect="1"/>
          </p:cNvPicPr>
          <p:nvPr/>
        </p:nvPicPr>
        <p:blipFill>
          <a:blip r:embed="rId11"/>
          <a:stretch>
            <a:fillRect/>
          </a:stretch>
        </p:blipFill>
        <p:spPr>
          <a:xfrm>
            <a:off x="5678386" y="4860631"/>
            <a:ext cx="246888" cy="246888"/>
          </a:xfrm>
          <a:prstGeom prst="rect">
            <a:avLst/>
          </a:prstGeom>
        </p:spPr>
      </p:pic>
      <p:sp>
        <p:nvSpPr>
          <p:cNvPr id="65" name="Text 23">
            <a:extLst>
              <a:ext uri="{FF2B5EF4-FFF2-40B4-BE49-F238E27FC236}">
                <a16:creationId xmlns:a16="http://schemas.microsoft.com/office/drawing/2014/main" id="{4329A564-6449-1CF6-24CB-E48E2EFFEFA1}"/>
              </a:ext>
            </a:extLst>
          </p:cNvPr>
          <p:cNvSpPr txBox="1"/>
          <p:nvPr/>
        </p:nvSpPr>
        <p:spPr>
          <a:xfrm>
            <a:off x="6213310" y="4737187"/>
            <a:ext cx="5257800" cy="292608"/>
          </a:xfrm>
          <a:prstGeom prst="rect">
            <a:avLst/>
          </a:prstGeom>
          <a:noFill/>
          <a:ln/>
        </p:spPr>
        <p:txBody>
          <a:bodyPr wrap="square" lIns="0" tIns="0" rIns="0" bIns="0" rtlCol="0" anchor="ctr"/>
          <a:lstStyle/>
          <a:p>
            <a:pPr marL="0" indent="0">
              <a:buNone/>
            </a:pPr>
            <a:r>
              <a:rPr lang="en-US" sz="1600" b="1" dirty="0">
                <a:solidFill>
                  <a:schemeClr val="tx1"/>
                </a:solidFill>
                <a:latin typeface="+mj-lt"/>
              </a:rPr>
              <a:t>Converged with security ops</a:t>
            </a:r>
            <a:endParaRPr lang="en-US" sz="1600" dirty="0">
              <a:latin typeface="+mj-lt"/>
            </a:endParaRPr>
          </a:p>
        </p:txBody>
      </p:sp>
      <p:sp>
        <p:nvSpPr>
          <p:cNvPr id="67" name="Text 24">
            <a:extLst>
              <a:ext uri="{FF2B5EF4-FFF2-40B4-BE49-F238E27FC236}">
                <a16:creationId xmlns:a16="http://schemas.microsoft.com/office/drawing/2014/main" id="{AB318C44-DB2A-2739-D9E1-CCE221E8B979}"/>
              </a:ext>
            </a:extLst>
          </p:cNvPr>
          <p:cNvSpPr txBox="1"/>
          <p:nvPr/>
        </p:nvSpPr>
        <p:spPr>
          <a:xfrm>
            <a:off x="6213310" y="5048083"/>
            <a:ext cx="5257800" cy="502920"/>
          </a:xfrm>
          <a:prstGeom prst="rect">
            <a:avLst/>
          </a:prstGeom>
          <a:noFill/>
          <a:ln/>
        </p:spPr>
        <p:txBody>
          <a:bodyPr wrap="square" lIns="0" tIns="0" rIns="0" bIns="0" rtlCol="0" anchor="t"/>
          <a:lstStyle/>
          <a:p>
            <a:pPr marL="0" indent="0">
              <a:buNone/>
            </a:pPr>
            <a:r>
              <a:rPr lang="en-US" sz="1400" dirty="0">
                <a:solidFill>
                  <a:schemeClr val="tx2"/>
                </a:solidFill>
                <a:latin typeface="+mj-lt"/>
              </a:rPr>
              <a:t>Clearance events sit beside CCTV, access control and incident data in ISMP.</a:t>
            </a:r>
            <a:endParaRPr lang="en-US" sz="1400" dirty="0">
              <a:latin typeface="+mj-lt"/>
            </a:endParaRPr>
          </a:p>
        </p:txBody>
      </p:sp>
      <p:sp>
        <p:nvSpPr>
          <p:cNvPr id="69" name="Shape 25">
            <a:extLst>
              <a:ext uri="{FF2B5EF4-FFF2-40B4-BE49-F238E27FC236}">
                <a16:creationId xmlns:a16="http://schemas.microsoft.com/office/drawing/2014/main" id="{F44F9EAC-715F-2EC6-7495-53786F4A1A88}"/>
              </a:ext>
            </a:extLst>
          </p:cNvPr>
          <p:cNvSpPr/>
          <p:nvPr/>
        </p:nvSpPr>
        <p:spPr>
          <a:xfrm>
            <a:off x="5573230" y="5585084"/>
            <a:ext cx="457200" cy="457200"/>
          </a:xfrm>
          <a:prstGeom prst="ellipse">
            <a:avLst/>
          </a:prstGeom>
          <a:solidFill>
            <a:schemeClr val="accent1">
              <a:alpha val="12000"/>
            </a:schemeClr>
          </a:solidFill>
          <a:ln/>
        </p:spPr>
        <p:txBody>
          <a:bodyPr/>
          <a:lstStyle/>
          <a:p>
            <a:endParaRPr lang="en-SG">
              <a:latin typeface="+mj-lt"/>
            </a:endParaRPr>
          </a:p>
        </p:txBody>
      </p:sp>
      <p:pic>
        <p:nvPicPr>
          <p:cNvPr id="71" name="Image 8" descr="preencoded.png">
            <a:extLst>
              <a:ext uri="{FF2B5EF4-FFF2-40B4-BE49-F238E27FC236}">
                <a16:creationId xmlns:a16="http://schemas.microsoft.com/office/drawing/2014/main" id="{67D9C5EE-A63A-0B51-CBE6-3592E067EC3E}"/>
              </a:ext>
            </a:extLst>
          </p:cNvPr>
          <p:cNvPicPr>
            <a:picLocks noChangeAspect="1"/>
          </p:cNvPicPr>
          <p:nvPr/>
        </p:nvPicPr>
        <p:blipFill>
          <a:blip r:embed="rId12"/>
          <a:stretch>
            <a:fillRect/>
          </a:stretch>
        </p:blipFill>
        <p:spPr>
          <a:xfrm>
            <a:off x="5678386" y="5690240"/>
            <a:ext cx="246888" cy="246888"/>
          </a:xfrm>
          <a:prstGeom prst="rect">
            <a:avLst/>
          </a:prstGeom>
        </p:spPr>
      </p:pic>
      <p:sp>
        <p:nvSpPr>
          <p:cNvPr id="73" name="Text 26">
            <a:extLst>
              <a:ext uri="{FF2B5EF4-FFF2-40B4-BE49-F238E27FC236}">
                <a16:creationId xmlns:a16="http://schemas.microsoft.com/office/drawing/2014/main" id="{567EB2DE-70B2-D486-1C27-50936910E0D5}"/>
              </a:ext>
            </a:extLst>
          </p:cNvPr>
          <p:cNvSpPr txBox="1"/>
          <p:nvPr/>
        </p:nvSpPr>
        <p:spPr>
          <a:xfrm>
            <a:off x="6213310" y="5566796"/>
            <a:ext cx="5257800" cy="292608"/>
          </a:xfrm>
          <a:prstGeom prst="rect">
            <a:avLst/>
          </a:prstGeom>
          <a:noFill/>
          <a:ln/>
        </p:spPr>
        <p:txBody>
          <a:bodyPr wrap="square" lIns="0" tIns="0" rIns="0" bIns="0" rtlCol="0" anchor="ctr"/>
          <a:lstStyle/>
          <a:p>
            <a:pPr marL="0" indent="0">
              <a:buNone/>
            </a:pPr>
            <a:r>
              <a:rPr lang="en-US" sz="1600" b="1" dirty="0">
                <a:solidFill>
                  <a:schemeClr val="tx1"/>
                </a:solidFill>
                <a:latin typeface="+mj-lt"/>
              </a:rPr>
              <a:t>AI-assisted verification and operations</a:t>
            </a:r>
            <a:endParaRPr lang="en-US" sz="1600" dirty="0">
              <a:latin typeface="+mj-lt"/>
            </a:endParaRPr>
          </a:p>
        </p:txBody>
      </p:sp>
      <p:sp>
        <p:nvSpPr>
          <p:cNvPr id="75" name="Text 27">
            <a:extLst>
              <a:ext uri="{FF2B5EF4-FFF2-40B4-BE49-F238E27FC236}">
                <a16:creationId xmlns:a16="http://schemas.microsoft.com/office/drawing/2014/main" id="{BB5CA51D-1917-EF86-B9A9-41BFA25986B7}"/>
              </a:ext>
            </a:extLst>
          </p:cNvPr>
          <p:cNvSpPr txBox="1"/>
          <p:nvPr/>
        </p:nvSpPr>
        <p:spPr>
          <a:xfrm>
            <a:off x="6213310" y="5877692"/>
            <a:ext cx="5257800" cy="502920"/>
          </a:xfrm>
          <a:prstGeom prst="rect">
            <a:avLst/>
          </a:prstGeom>
          <a:noFill/>
          <a:ln/>
        </p:spPr>
        <p:txBody>
          <a:bodyPr wrap="square" lIns="0" tIns="0" rIns="0" bIns="0" rtlCol="0" anchor="t"/>
          <a:lstStyle/>
          <a:p>
            <a:pPr marL="0" indent="0">
              <a:buNone/>
            </a:pPr>
            <a:r>
              <a:rPr lang="en-US" sz="1400" dirty="0">
                <a:solidFill>
                  <a:schemeClr val="tx2"/>
                </a:solidFill>
                <a:latin typeface="+mj-lt"/>
              </a:rPr>
              <a:t>Face matching on the move, AI-powered luggage threat detection, and assistive AI that helps operators triage alerts.</a:t>
            </a:r>
            <a:endParaRPr lang="en-US" sz="1400" dirty="0">
              <a:latin typeface="+mj-lt"/>
            </a:endParaRPr>
          </a:p>
        </p:txBody>
      </p:sp>
      <p:sp>
        <p:nvSpPr>
          <p:cNvPr id="4" name="Text 4">
            <a:extLst>
              <a:ext uri="{FF2B5EF4-FFF2-40B4-BE49-F238E27FC236}">
                <a16:creationId xmlns:a16="http://schemas.microsoft.com/office/drawing/2014/main" id="{1B26632F-1081-CA58-1D08-EC5A3162B492}"/>
              </a:ext>
            </a:extLst>
          </p:cNvPr>
          <p:cNvSpPr txBox="1"/>
          <p:nvPr/>
        </p:nvSpPr>
        <p:spPr>
          <a:xfrm>
            <a:off x="4051668" y="1642906"/>
            <a:ext cx="1463040" cy="237744"/>
          </a:xfrm>
          <a:prstGeom prst="rect">
            <a:avLst/>
          </a:prstGeom>
          <a:noFill/>
          <a:ln/>
        </p:spPr>
        <p:txBody>
          <a:bodyPr wrap="square" lIns="0" tIns="0" rIns="0" bIns="0" rtlCol="0" anchor="ctr"/>
          <a:lstStyle/>
          <a:p>
            <a:pPr algn="ctr"/>
            <a:r>
              <a:rPr lang="en-US" sz="1100" b="1" kern="0" spc="100" dirty="0">
                <a:solidFill>
                  <a:srgbClr val="7D8899"/>
                </a:solidFill>
                <a:latin typeface="+mj-lt"/>
              </a:rPr>
              <a:t>Check-in</a:t>
            </a:r>
            <a:endParaRPr lang="en-US" sz="1100" dirty="0">
              <a:solidFill>
                <a:srgbClr val="0A1628"/>
              </a:solidFill>
              <a:latin typeface="+mj-lt"/>
            </a:endParaRPr>
          </a:p>
        </p:txBody>
      </p:sp>
      <p:sp>
        <p:nvSpPr>
          <p:cNvPr id="8" name="Text 5">
            <a:extLst>
              <a:ext uri="{FF2B5EF4-FFF2-40B4-BE49-F238E27FC236}">
                <a16:creationId xmlns:a16="http://schemas.microsoft.com/office/drawing/2014/main" id="{0D4A3252-F320-0D85-2E82-B7CB3AB965FD}"/>
              </a:ext>
            </a:extLst>
          </p:cNvPr>
          <p:cNvSpPr txBox="1"/>
          <p:nvPr/>
        </p:nvSpPr>
        <p:spPr>
          <a:xfrm>
            <a:off x="5666499" y="1642906"/>
            <a:ext cx="1463040" cy="237744"/>
          </a:xfrm>
          <a:prstGeom prst="rect">
            <a:avLst/>
          </a:prstGeom>
          <a:noFill/>
          <a:ln/>
        </p:spPr>
        <p:txBody>
          <a:bodyPr wrap="square" lIns="0" tIns="0" rIns="0" bIns="0" rtlCol="0" anchor="ctr"/>
          <a:lstStyle/>
          <a:p>
            <a:pPr algn="ctr"/>
            <a:r>
              <a:rPr lang="en-US" sz="1100" b="1" kern="0" spc="100" dirty="0">
                <a:solidFill>
                  <a:srgbClr val="7D8899"/>
                </a:solidFill>
                <a:latin typeface="+mj-lt"/>
              </a:rPr>
              <a:t>Immigration</a:t>
            </a:r>
            <a:endParaRPr lang="en-US" sz="1100" dirty="0">
              <a:solidFill>
                <a:srgbClr val="0A1628"/>
              </a:solidFill>
              <a:latin typeface="+mj-lt"/>
            </a:endParaRPr>
          </a:p>
        </p:txBody>
      </p:sp>
      <p:sp>
        <p:nvSpPr>
          <p:cNvPr id="10" name="Text 6">
            <a:extLst>
              <a:ext uri="{FF2B5EF4-FFF2-40B4-BE49-F238E27FC236}">
                <a16:creationId xmlns:a16="http://schemas.microsoft.com/office/drawing/2014/main" id="{357A80E6-0A83-79F9-64D5-48280252E1EC}"/>
              </a:ext>
            </a:extLst>
          </p:cNvPr>
          <p:cNvSpPr txBox="1"/>
          <p:nvPr/>
        </p:nvSpPr>
        <p:spPr>
          <a:xfrm>
            <a:off x="7281329" y="1642906"/>
            <a:ext cx="1463040" cy="237744"/>
          </a:xfrm>
          <a:prstGeom prst="rect">
            <a:avLst/>
          </a:prstGeom>
          <a:noFill/>
          <a:ln/>
        </p:spPr>
        <p:txBody>
          <a:bodyPr wrap="square" lIns="0" tIns="0" rIns="0" bIns="0" rtlCol="0" anchor="ctr"/>
          <a:lstStyle/>
          <a:p>
            <a:pPr algn="ctr"/>
            <a:r>
              <a:rPr lang="en-US" sz="1100" b="1" kern="0" spc="100" dirty="0">
                <a:solidFill>
                  <a:srgbClr val="7D8899"/>
                </a:solidFill>
                <a:latin typeface="+mj-lt"/>
              </a:rPr>
              <a:t>Screening</a:t>
            </a:r>
            <a:endParaRPr lang="en-US" sz="1100" dirty="0">
              <a:solidFill>
                <a:srgbClr val="0A1628"/>
              </a:solidFill>
              <a:latin typeface="+mj-lt"/>
            </a:endParaRPr>
          </a:p>
        </p:txBody>
      </p:sp>
      <p:sp>
        <p:nvSpPr>
          <p:cNvPr id="13" name="Text 7">
            <a:extLst>
              <a:ext uri="{FF2B5EF4-FFF2-40B4-BE49-F238E27FC236}">
                <a16:creationId xmlns:a16="http://schemas.microsoft.com/office/drawing/2014/main" id="{11B4DF12-0AD9-4C56-154F-11420E4E4A52}"/>
              </a:ext>
            </a:extLst>
          </p:cNvPr>
          <p:cNvSpPr txBox="1"/>
          <p:nvPr/>
        </p:nvSpPr>
        <p:spPr>
          <a:xfrm>
            <a:off x="8896160" y="1642906"/>
            <a:ext cx="1463040" cy="237744"/>
          </a:xfrm>
          <a:prstGeom prst="rect">
            <a:avLst/>
          </a:prstGeom>
          <a:noFill/>
          <a:ln/>
        </p:spPr>
        <p:txBody>
          <a:bodyPr wrap="square" lIns="0" tIns="0" rIns="0" bIns="0" rtlCol="0" anchor="ctr"/>
          <a:lstStyle/>
          <a:p>
            <a:pPr algn="ctr"/>
            <a:r>
              <a:rPr lang="en-US" sz="1100" b="1" kern="0" spc="100" dirty="0">
                <a:solidFill>
                  <a:srgbClr val="7D8899"/>
                </a:solidFill>
                <a:latin typeface="+mj-lt"/>
              </a:rPr>
              <a:t>Boarding</a:t>
            </a:r>
            <a:endParaRPr lang="en-US" sz="1100" dirty="0">
              <a:solidFill>
                <a:srgbClr val="0A1628"/>
              </a:solidFill>
              <a:latin typeface="+mj-lt"/>
            </a:endParaRPr>
          </a:p>
        </p:txBody>
      </p:sp>
    </p:spTree>
    <p:extLst>
      <p:ext uri="{BB962C8B-B14F-4D97-AF65-F5344CB8AC3E}">
        <p14:creationId xmlns:p14="http://schemas.microsoft.com/office/powerpoint/2010/main" val="2560934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DA5CE-FC68-EDDA-EF95-67C2EE714801}"/>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B3966312-21C8-5821-5217-5FFFCAF0D67A}"/>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3163E381-E0C7-DDF2-F55E-BF07EF174104}"/>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A5F60CA7-121A-EAE6-134F-C6C7AD3B3198}"/>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3FB91C96-76C5-0AF3-B6D7-7A5F9932DE2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B87274D6-B365-4CC0-90AF-690BBE858E1B}"/>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384762AB-DD24-7BA0-78CA-853DF0C0405E}"/>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7</a:t>
            </a:fld>
            <a:r>
              <a:rPr lang="en-US" sz="1200">
                <a:latin typeface="+mj-lt"/>
              </a:rPr>
              <a:t>   | </a:t>
            </a:r>
          </a:p>
        </p:txBody>
      </p:sp>
      <p:sp>
        <p:nvSpPr>
          <p:cNvPr id="11" name="Title 4">
            <a:extLst>
              <a:ext uri="{FF2B5EF4-FFF2-40B4-BE49-F238E27FC236}">
                <a16:creationId xmlns:a16="http://schemas.microsoft.com/office/drawing/2014/main" id="{BCBB341F-7821-B449-2FEE-CE786263EE17}"/>
              </a:ext>
            </a:extLst>
          </p:cNvPr>
          <p:cNvSpPr txBox="1">
            <a:spLocks/>
          </p:cNvSpPr>
          <p:nvPr/>
        </p:nvSpPr>
        <p:spPr>
          <a:xfrm>
            <a:off x="295399" y="862117"/>
            <a:ext cx="12768717" cy="5529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ea typeface="Arial" pitchFamily="34" charset="-122"/>
                <a:cs typeface="Arial" pitchFamily="34" charset="-120"/>
              </a:rPr>
              <a:t>A clear buyer, commercial model and path to scale</a:t>
            </a:r>
            <a:endParaRPr lang="en-US" sz="2650" dirty="0">
              <a:solidFill>
                <a:schemeClr val="tx1"/>
              </a:solidFill>
              <a:latin typeface="+mj-lt"/>
            </a:endParaRPr>
          </a:p>
        </p:txBody>
      </p:sp>
      <p:sp>
        <p:nvSpPr>
          <p:cNvPr id="12" name="TextBox 25">
            <a:extLst>
              <a:ext uri="{FF2B5EF4-FFF2-40B4-BE49-F238E27FC236}">
                <a16:creationId xmlns:a16="http://schemas.microsoft.com/office/drawing/2014/main" id="{09138A8F-820E-FBAE-B6AC-91FFBABF6AC9}"/>
              </a:ext>
            </a:extLst>
          </p:cNvPr>
          <p:cNvSpPr txBox="1"/>
          <p:nvPr/>
        </p:nvSpPr>
        <p:spPr>
          <a:xfrm>
            <a:off x="343779" y="563652"/>
            <a:ext cx="1409810"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Time to Market</a:t>
            </a:r>
          </a:p>
        </p:txBody>
      </p:sp>
      <p:sp>
        <p:nvSpPr>
          <p:cNvPr id="163" name="Text 1">
            <a:extLst>
              <a:ext uri="{FF2B5EF4-FFF2-40B4-BE49-F238E27FC236}">
                <a16:creationId xmlns:a16="http://schemas.microsoft.com/office/drawing/2014/main" id="{49CF4933-DD70-F940-78B2-815A2B0081C5}"/>
              </a:ext>
            </a:extLst>
          </p:cNvPr>
          <p:cNvSpPr txBox="1">
            <a:spLocks/>
          </p:cNvSpPr>
          <p:nvPr/>
        </p:nvSpPr>
        <p:spPr>
          <a:xfrm>
            <a:off x="548640" y="1444752"/>
            <a:ext cx="10789920" cy="384048"/>
          </a:xfrm>
          <a:prstGeom prst="rect">
            <a:avLst/>
          </a:prstGeom>
          <a:noFill/>
          <a:ln/>
        </p:spPr>
        <p:txBody>
          <a:bodyPr wrap="square" lIns="0" tIns="0" rIns="0" bIns="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a:solidFill>
                  <a:schemeClr val="tx2"/>
                </a:solidFill>
                <a:latin typeface="+mj-lt"/>
              </a:rPr>
              <a:t>Land with one lane in a brownfield terminal, then expand across touchpoints as value is proven.</a:t>
            </a:r>
            <a:endParaRPr lang="en-US" sz="1600" dirty="0">
              <a:latin typeface="+mj-lt"/>
            </a:endParaRPr>
          </a:p>
        </p:txBody>
      </p:sp>
      <p:sp>
        <p:nvSpPr>
          <p:cNvPr id="4" name="Shape 3">
            <a:extLst>
              <a:ext uri="{FF2B5EF4-FFF2-40B4-BE49-F238E27FC236}">
                <a16:creationId xmlns:a16="http://schemas.microsoft.com/office/drawing/2014/main" id="{6E4B38E4-CB42-A109-2707-1F285A851302}"/>
              </a:ext>
            </a:extLst>
          </p:cNvPr>
          <p:cNvSpPr/>
          <p:nvPr/>
        </p:nvSpPr>
        <p:spPr>
          <a:xfrm>
            <a:off x="548640" y="2057400"/>
            <a:ext cx="3515258" cy="3794760"/>
          </a:xfrm>
          <a:prstGeom prst="roundRect">
            <a:avLst>
              <a:gd name="adj" fmla="val 3642"/>
            </a:avLst>
          </a:prstGeom>
          <a:solidFill>
            <a:schemeClr val="bg1"/>
          </a:solidFill>
          <a:ln/>
          <a:effectLst>
            <a:outerShdw blurRad="203200" dist="38100" dir="5400000" algn="bl" rotWithShape="0">
              <a:srgbClr val="0A1628">
                <a:alpha val="9000"/>
              </a:srgbClr>
            </a:outerShdw>
          </a:effectLst>
        </p:spPr>
        <p:txBody>
          <a:bodyPr/>
          <a:lstStyle/>
          <a:p>
            <a:endParaRPr lang="en-SG"/>
          </a:p>
        </p:txBody>
      </p:sp>
      <p:sp>
        <p:nvSpPr>
          <p:cNvPr id="10" name="Shape 4">
            <a:extLst>
              <a:ext uri="{FF2B5EF4-FFF2-40B4-BE49-F238E27FC236}">
                <a16:creationId xmlns:a16="http://schemas.microsoft.com/office/drawing/2014/main" id="{5DA61D9B-E574-557E-E46E-BFCED9D23622}"/>
              </a:ext>
            </a:extLst>
          </p:cNvPr>
          <p:cNvSpPr/>
          <p:nvPr/>
        </p:nvSpPr>
        <p:spPr>
          <a:xfrm>
            <a:off x="822960" y="2331720"/>
            <a:ext cx="438912" cy="438912"/>
          </a:xfrm>
          <a:prstGeom prst="ellipse">
            <a:avLst/>
          </a:prstGeom>
          <a:solidFill>
            <a:schemeClr val="accent1">
              <a:alpha val="12000"/>
            </a:schemeClr>
          </a:solidFill>
          <a:ln/>
        </p:spPr>
        <p:txBody>
          <a:bodyPr/>
          <a:lstStyle/>
          <a:p>
            <a:endParaRPr lang="en-SG"/>
          </a:p>
        </p:txBody>
      </p:sp>
      <p:pic>
        <p:nvPicPr>
          <p:cNvPr id="14" name="Image 0" descr="preencoded.png">
            <a:extLst>
              <a:ext uri="{FF2B5EF4-FFF2-40B4-BE49-F238E27FC236}">
                <a16:creationId xmlns:a16="http://schemas.microsoft.com/office/drawing/2014/main" id="{9C2CD781-95E3-2B3B-3A9B-A5B10BB27C20}"/>
              </a:ext>
            </a:extLst>
          </p:cNvPr>
          <p:cNvPicPr>
            <a:picLocks noChangeAspect="1"/>
          </p:cNvPicPr>
          <p:nvPr/>
        </p:nvPicPr>
        <p:blipFill>
          <a:blip r:embed="rId5"/>
          <a:stretch>
            <a:fillRect/>
          </a:stretch>
        </p:blipFill>
        <p:spPr>
          <a:xfrm>
            <a:off x="923910" y="2432670"/>
            <a:ext cx="237012" cy="237012"/>
          </a:xfrm>
          <a:prstGeom prst="rect">
            <a:avLst/>
          </a:prstGeom>
        </p:spPr>
      </p:pic>
      <p:sp>
        <p:nvSpPr>
          <p:cNvPr id="16" name="Text 5">
            <a:extLst>
              <a:ext uri="{FF2B5EF4-FFF2-40B4-BE49-F238E27FC236}">
                <a16:creationId xmlns:a16="http://schemas.microsoft.com/office/drawing/2014/main" id="{314835CD-A5C4-9A44-F611-A9D6DE12F6CA}"/>
              </a:ext>
            </a:extLst>
          </p:cNvPr>
          <p:cNvSpPr txBox="1"/>
          <p:nvPr/>
        </p:nvSpPr>
        <p:spPr>
          <a:xfrm>
            <a:off x="1389888" y="2331720"/>
            <a:ext cx="2509418" cy="438912"/>
          </a:xfrm>
          <a:prstGeom prst="rect">
            <a:avLst/>
          </a:prstGeom>
          <a:noFill/>
          <a:ln/>
        </p:spPr>
        <p:txBody>
          <a:bodyPr wrap="square" lIns="0" tIns="0" rIns="0" bIns="0" rtlCol="0" anchor="ctr"/>
          <a:lstStyle/>
          <a:p>
            <a:pPr marL="0" indent="0">
              <a:buNone/>
            </a:pPr>
            <a:r>
              <a:rPr lang="en-US" sz="1800" b="1" dirty="0">
                <a:solidFill>
                  <a:schemeClr val="tx1"/>
                </a:solidFill>
              </a:rPr>
              <a:t>Buyer ecosystem</a:t>
            </a:r>
            <a:endParaRPr lang="en-US" sz="1800" dirty="0"/>
          </a:p>
        </p:txBody>
      </p:sp>
      <p:sp>
        <p:nvSpPr>
          <p:cNvPr id="18" name="Shape 6">
            <a:extLst>
              <a:ext uri="{FF2B5EF4-FFF2-40B4-BE49-F238E27FC236}">
                <a16:creationId xmlns:a16="http://schemas.microsoft.com/office/drawing/2014/main" id="{4CF8C7F5-B22F-C2A2-6552-B4DBCF54262A}"/>
              </a:ext>
            </a:extLst>
          </p:cNvPr>
          <p:cNvSpPr/>
          <p:nvPr/>
        </p:nvSpPr>
        <p:spPr>
          <a:xfrm>
            <a:off x="4338218" y="2057400"/>
            <a:ext cx="3515258" cy="3794760"/>
          </a:xfrm>
          <a:prstGeom prst="roundRect">
            <a:avLst>
              <a:gd name="adj" fmla="val 3642"/>
            </a:avLst>
          </a:prstGeom>
          <a:solidFill>
            <a:schemeClr val="bg1"/>
          </a:solidFill>
          <a:ln/>
          <a:effectLst>
            <a:outerShdw blurRad="203200" dist="38100" dir="5400000" algn="bl" rotWithShape="0">
              <a:srgbClr val="0A1628">
                <a:alpha val="9000"/>
              </a:srgbClr>
            </a:outerShdw>
          </a:effectLst>
        </p:spPr>
        <p:txBody>
          <a:bodyPr/>
          <a:lstStyle/>
          <a:p>
            <a:endParaRPr lang="en-SG"/>
          </a:p>
        </p:txBody>
      </p:sp>
      <p:sp>
        <p:nvSpPr>
          <p:cNvPr id="20" name="Shape 7">
            <a:extLst>
              <a:ext uri="{FF2B5EF4-FFF2-40B4-BE49-F238E27FC236}">
                <a16:creationId xmlns:a16="http://schemas.microsoft.com/office/drawing/2014/main" id="{1FDB8DE1-1C31-2E8E-21D0-12819FB5398E}"/>
              </a:ext>
            </a:extLst>
          </p:cNvPr>
          <p:cNvSpPr/>
          <p:nvPr/>
        </p:nvSpPr>
        <p:spPr>
          <a:xfrm>
            <a:off x="4612538" y="2331720"/>
            <a:ext cx="438912" cy="438912"/>
          </a:xfrm>
          <a:prstGeom prst="ellipse">
            <a:avLst/>
          </a:prstGeom>
          <a:solidFill>
            <a:schemeClr val="accent1">
              <a:alpha val="12000"/>
            </a:schemeClr>
          </a:solidFill>
          <a:ln/>
        </p:spPr>
        <p:txBody>
          <a:bodyPr/>
          <a:lstStyle/>
          <a:p>
            <a:endParaRPr lang="en-SG"/>
          </a:p>
        </p:txBody>
      </p:sp>
      <p:pic>
        <p:nvPicPr>
          <p:cNvPr id="22" name="Image 1" descr="preencoded.png">
            <a:extLst>
              <a:ext uri="{FF2B5EF4-FFF2-40B4-BE49-F238E27FC236}">
                <a16:creationId xmlns:a16="http://schemas.microsoft.com/office/drawing/2014/main" id="{FD5A78C8-261D-ABBE-E644-6F3ABAE8372E}"/>
              </a:ext>
            </a:extLst>
          </p:cNvPr>
          <p:cNvPicPr>
            <a:picLocks noChangeAspect="1"/>
          </p:cNvPicPr>
          <p:nvPr/>
        </p:nvPicPr>
        <p:blipFill>
          <a:blip r:embed="rId6"/>
          <a:stretch>
            <a:fillRect/>
          </a:stretch>
        </p:blipFill>
        <p:spPr>
          <a:xfrm>
            <a:off x="4713488" y="2432670"/>
            <a:ext cx="237012" cy="237012"/>
          </a:xfrm>
          <a:prstGeom prst="rect">
            <a:avLst/>
          </a:prstGeom>
        </p:spPr>
      </p:pic>
      <p:sp>
        <p:nvSpPr>
          <p:cNvPr id="24" name="Text 8">
            <a:extLst>
              <a:ext uri="{FF2B5EF4-FFF2-40B4-BE49-F238E27FC236}">
                <a16:creationId xmlns:a16="http://schemas.microsoft.com/office/drawing/2014/main" id="{85562211-A997-711A-BE1E-C3F46F928C8E}"/>
              </a:ext>
            </a:extLst>
          </p:cNvPr>
          <p:cNvSpPr txBox="1"/>
          <p:nvPr/>
        </p:nvSpPr>
        <p:spPr>
          <a:xfrm>
            <a:off x="5179466" y="2331720"/>
            <a:ext cx="2509418" cy="438912"/>
          </a:xfrm>
          <a:prstGeom prst="rect">
            <a:avLst/>
          </a:prstGeom>
          <a:noFill/>
          <a:ln/>
        </p:spPr>
        <p:txBody>
          <a:bodyPr wrap="square" lIns="0" tIns="0" rIns="0" bIns="0" rtlCol="0" anchor="ctr"/>
          <a:lstStyle/>
          <a:p>
            <a:pPr marL="0" indent="0">
              <a:buNone/>
            </a:pPr>
            <a:r>
              <a:rPr lang="en-US" sz="1800" b="1" dirty="0">
                <a:solidFill>
                  <a:schemeClr val="tx1"/>
                </a:solidFill>
              </a:rPr>
              <a:t>Commercial model</a:t>
            </a:r>
            <a:endParaRPr lang="en-US" sz="1800" dirty="0"/>
          </a:p>
        </p:txBody>
      </p:sp>
      <p:sp>
        <p:nvSpPr>
          <p:cNvPr id="26" name="Shape 9">
            <a:extLst>
              <a:ext uri="{FF2B5EF4-FFF2-40B4-BE49-F238E27FC236}">
                <a16:creationId xmlns:a16="http://schemas.microsoft.com/office/drawing/2014/main" id="{E9476E01-5153-8B09-62AD-7BB31EC22D19}"/>
              </a:ext>
            </a:extLst>
          </p:cNvPr>
          <p:cNvSpPr/>
          <p:nvPr/>
        </p:nvSpPr>
        <p:spPr>
          <a:xfrm>
            <a:off x="8127797" y="2057400"/>
            <a:ext cx="3515258" cy="3794760"/>
          </a:xfrm>
          <a:prstGeom prst="roundRect">
            <a:avLst>
              <a:gd name="adj" fmla="val 3642"/>
            </a:avLst>
          </a:prstGeom>
          <a:solidFill>
            <a:schemeClr val="bg1"/>
          </a:solidFill>
          <a:ln/>
          <a:effectLst>
            <a:outerShdw blurRad="203200" dist="38100" dir="5400000" algn="bl" rotWithShape="0">
              <a:srgbClr val="0A1628">
                <a:alpha val="9000"/>
              </a:srgbClr>
            </a:outerShdw>
          </a:effectLst>
        </p:spPr>
        <p:txBody>
          <a:bodyPr/>
          <a:lstStyle/>
          <a:p>
            <a:endParaRPr lang="en-SG"/>
          </a:p>
        </p:txBody>
      </p:sp>
      <p:sp>
        <p:nvSpPr>
          <p:cNvPr id="28" name="Shape 10">
            <a:extLst>
              <a:ext uri="{FF2B5EF4-FFF2-40B4-BE49-F238E27FC236}">
                <a16:creationId xmlns:a16="http://schemas.microsoft.com/office/drawing/2014/main" id="{AE4ADF0E-3BD8-899C-8A0C-446DA53ED4C9}"/>
              </a:ext>
            </a:extLst>
          </p:cNvPr>
          <p:cNvSpPr/>
          <p:nvPr/>
        </p:nvSpPr>
        <p:spPr>
          <a:xfrm>
            <a:off x="8402117" y="2331720"/>
            <a:ext cx="438912" cy="438912"/>
          </a:xfrm>
          <a:prstGeom prst="ellipse">
            <a:avLst/>
          </a:prstGeom>
          <a:solidFill>
            <a:schemeClr val="accent1">
              <a:alpha val="12000"/>
            </a:schemeClr>
          </a:solidFill>
          <a:ln/>
        </p:spPr>
        <p:txBody>
          <a:bodyPr/>
          <a:lstStyle/>
          <a:p>
            <a:endParaRPr lang="en-SG"/>
          </a:p>
        </p:txBody>
      </p:sp>
      <p:pic>
        <p:nvPicPr>
          <p:cNvPr id="30" name="Image 2" descr="preencoded.png">
            <a:extLst>
              <a:ext uri="{FF2B5EF4-FFF2-40B4-BE49-F238E27FC236}">
                <a16:creationId xmlns:a16="http://schemas.microsoft.com/office/drawing/2014/main" id="{6DE94AB8-3366-0BFD-9298-726869F62519}"/>
              </a:ext>
            </a:extLst>
          </p:cNvPr>
          <p:cNvPicPr>
            <a:picLocks noChangeAspect="1"/>
          </p:cNvPicPr>
          <p:nvPr/>
        </p:nvPicPr>
        <p:blipFill>
          <a:blip r:embed="rId7"/>
          <a:stretch>
            <a:fillRect/>
          </a:stretch>
        </p:blipFill>
        <p:spPr>
          <a:xfrm>
            <a:off x="8503067" y="2432670"/>
            <a:ext cx="237012" cy="237012"/>
          </a:xfrm>
          <a:prstGeom prst="rect">
            <a:avLst/>
          </a:prstGeom>
        </p:spPr>
      </p:pic>
      <p:sp>
        <p:nvSpPr>
          <p:cNvPr id="32" name="Text 11">
            <a:extLst>
              <a:ext uri="{FF2B5EF4-FFF2-40B4-BE49-F238E27FC236}">
                <a16:creationId xmlns:a16="http://schemas.microsoft.com/office/drawing/2014/main" id="{29A0F2B1-ACD1-2674-F7DE-7346FA0C9EDD}"/>
              </a:ext>
            </a:extLst>
          </p:cNvPr>
          <p:cNvSpPr txBox="1"/>
          <p:nvPr/>
        </p:nvSpPr>
        <p:spPr>
          <a:xfrm>
            <a:off x="8969045" y="2331720"/>
            <a:ext cx="2509418" cy="438912"/>
          </a:xfrm>
          <a:prstGeom prst="rect">
            <a:avLst/>
          </a:prstGeom>
          <a:noFill/>
          <a:ln/>
        </p:spPr>
        <p:txBody>
          <a:bodyPr wrap="square" lIns="0" tIns="0" rIns="0" bIns="0" rtlCol="0" anchor="ctr"/>
          <a:lstStyle/>
          <a:p>
            <a:pPr marL="0" indent="0">
              <a:buNone/>
            </a:pPr>
            <a:r>
              <a:rPr lang="en-US" sz="1800" b="1" dirty="0">
                <a:solidFill>
                  <a:schemeClr val="tx1"/>
                </a:solidFill>
              </a:rPr>
              <a:t>How we scale</a:t>
            </a:r>
            <a:endParaRPr lang="en-US" sz="1800" dirty="0"/>
          </a:p>
        </p:txBody>
      </p:sp>
      <p:pic>
        <p:nvPicPr>
          <p:cNvPr id="34" name="Image 3" descr="preencoded.png">
            <a:extLst>
              <a:ext uri="{FF2B5EF4-FFF2-40B4-BE49-F238E27FC236}">
                <a16:creationId xmlns:a16="http://schemas.microsoft.com/office/drawing/2014/main" id="{92F240B1-F9DF-B0A4-BF93-04B5FDB07C88}"/>
              </a:ext>
            </a:extLst>
          </p:cNvPr>
          <p:cNvPicPr>
            <a:picLocks noChangeAspect="1"/>
          </p:cNvPicPr>
          <p:nvPr/>
        </p:nvPicPr>
        <p:blipFill>
          <a:blip r:embed="rId5"/>
          <a:stretch>
            <a:fillRect/>
          </a:stretch>
        </p:blipFill>
        <p:spPr>
          <a:xfrm>
            <a:off x="841248" y="3054096"/>
            <a:ext cx="256032" cy="256032"/>
          </a:xfrm>
          <a:prstGeom prst="rect">
            <a:avLst/>
          </a:prstGeom>
        </p:spPr>
      </p:pic>
      <p:sp>
        <p:nvSpPr>
          <p:cNvPr id="36" name="Text 12">
            <a:extLst>
              <a:ext uri="{FF2B5EF4-FFF2-40B4-BE49-F238E27FC236}">
                <a16:creationId xmlns:a16="http://schemas.microsoft.com/office/drawing/2014/main" id="{0C44A6EC-3CA2-1C4B-D9B9-7AB7386F73DD}"/>
              </a:ext>
            </a:extLst>
          </p:cNvPr>
          <p:cNvSpPr txBox="1"/>
          <p:nvPr/>
        </p:nvSpPr>
        <p:spPr>
          <a:xfrm>
            <a:off x="1280160" y="3017520"/>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Primary buyer</a:t>
            </a:r>
            <a:endParaRPr lang="en-US" sz="1500" dirty="0"/>
          </a:p>
        </p:txBody>
      </p:sp>
      <p:sp>
        <p:nvSpPr>
          <p:cNvPr id="39" name="Text 13">
            <a:extLst>
              <a:ext uri="{FF2B5EF4-FFF2-40B4-BE49-F238E27FC236}">
                <a16:creationId xmlns:a16="http://schemas.microsoft.com/office/drawing/2014/main" id="{E6880D30-D15A-00FA-31D6-AD182B50B67F}"/>
              </a:ext>
            </a:extLst>
          </p:cNvPr>
          <p:cNvSpPr txBox="1"/>
          <p:nvPr/>
        </p:nvSpPr>
        <p:spPr>
          <a:xfrm>
            <a:off x="1280160" y="3310128"/>
            <a:ext cx="2600858" cy="292608"/>
          </a:xfrm>
          <a:prstGeom prst="rect">
            <a:avLst/>
          </a:prstGeom>
          <a:noFill/>
          <a:ln/>
        </p:spPr>
        <p:txBody>
          <a:bodyPr wrap="square" lIns="0" tIns="0" rIns="0" bIns="0" rtlCol="0" anchor="ctr"/>
          <a:lstStyle/>
          <a:p>
            <a:pPr marL="0" indent="0">
              <a:buNone/>
            </a:pPr>
            <a:r>
              <a:rPr lang="en-US" sz="1300" dirty="0">
                <a:solidFill>
                  <a:schemeClr val="tx2"/>
                </a:solidFill>
              </a:rPr>
              <a:t>Tier-2 international airports in the Middle East and SE Asia</a:t>
            </a:r>
          </a:p>
        </p:txBody>
      </p:sp>
      <p:pic>
        <p:nvPicPr>
          <p:cNvPr id="41" name="Image 4" descr="preencoded.png">
            <a:extLst>
              <a:ext uri="{FF2B5EF4-FFF2-40B4-BE49-F238E27FC236}">
                <a16:creationId xmlns:a16="http://schemas.microsoft.com/office/drawing/2014/main" id="{68EFDCC7-DF06-E3E2-E6E7-FA5820E142AF}"/>
              </a:ext>
            </a:extLst>
          </p:cNvPr>
          <p:cNvPicPr>
            <a:picLocks noChangeAspect="1"/>
          </p:cNvPicPr>
          <p:nvPr/>
        </p:nvPicPr>
        <p:blipFill>
          <a:blip r:embed="rId8"/>
          <a:stretch>
            <a:fillRect/>
          </a:stretch>
        </p:blipFill>
        <p:spPr>
          <a:xfrm>
            <a:off x="841248" y="3767328"/>
            <a:ext cx="256032" cy="256032"/>
          </a:xfrm>
          <a:prstGeom prst="rect">
            <a:avLst/>
          </a:prstGeom>
        </p:spPr>
      </p:pic>
      <p:sp>
        <p:nvSpPr>
          <p:cNvPr id="43" name="Text 14">
            <a:extLst>
              <a:ext uri="{FF2B5EF4-FFF2-40B4-BE49-F238E27FC236}">
                <a16:creationId xmlns:a16="http://schemas.microsoft.com/office/drawing/2014/main" id="{D728C56B-5DBA-D043-2330-36B242AE36B3}"/>
              </a:ext>
            </a:extLst>
          </p:cNvPr>
          <p:cNvSpPr txBox="1"/>
          <p:nvPr/>
        </p:nvSpPr>
        <p:spPr>
          <a:xfrm>
            <a:off x="1280160" y="3730752"/>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Co-decides</a:t>
            </a:r>
            <a:endParaRPr lang="en-US" sz="1500" dirty="0"/>
          </a:p>
        </p:txBody>
      </p:sp>
      <p:sp>
        <p:nvSpPr>
          <p:cNvPr id="45" name="Text 15">
            <a:extLst>
              <a:ext uri="{FF2B5EF4-FFF2-40B4-BE49-F238E27FC236}">
                <a16:creationId xmlns:a16="http://schemas.microsoft.com/office/drawing/2014/main" id="{3930AA13-403F-DBF5-D21B-AB4D76442F0B}"/>
              </a:ext>
            </a:extLst>
          </p:cNvPr>
          <p:cNvSpPr txBox="1"/>
          <p:nvPr/>
        </p:nvSpPr>
        <p:spPr>
          <a:xfrm>
            <a:off x="1280160" y="4023360"/>
            <a:ext cx="2600858" cy="292608"/>
          </a:xfrm>
          <a:prstGeom prst="rect">
            <a:avLst/>
          </a:prstGeom>
          <a:noFill/>
          <a:ln/>
        </p:spPr>
        <p:txBody>
          <a:bodyPr wrap="square" lIns="0" tIns="0" rIns="0" bIns="0" rtlCol="0" anchor="ctr"/>
          <a:lstStyle/>
          <a:p>
            <a:pPr marL="0" indent="0">
              <a:buNone/>
            </a:pPr>
            <a:r>
              <a:rPr lang="en-US" sz="1300" dirty="0">
                <a:solidFill>
                  <a:schemeClr val="tx2"/>
                </a:solidFill>
              </a:rPr>
              <a:t>Immigration and border agencies</a:t>
            </a:r>
            <a:endParaRPr lang="en-US" sz="1300" dirty="0"/>
          </a:p>
        </p:txBody>
      </p:sp>
      <p:pic>
        <p:nvPicPr>
          <p:cNvPr id="47" name="Image 5" descr="preencoded.png">
            <a:extLst>
              <a:ext uri="{FF2B5EF4-FFF2-40B4-BE49-F238E27FC236}">
                <a16:creationId xmlns:a16="http://schemas.microsoft.com/office/drawing/2014/main" id="{2FBAB27C-D8C6-8897-2963-2B0CB16CBD25}"/>
              </a:ext>
            </a:extLst>
          </p:cNvPr>
          <p:cNvPicPr>
            <a:picLocks noChangeAspect="1"/>
          </p:cNvPicPr>
          <p:nvPr/>
        </p:nvPicPr>
        <p:blipFill>
          <a:blip r:embed="rId9"/>
          <a:stretch>
            <a:fillRect/>
          </a:stretch>
        </p:blipFill>
        <p:spPr>
          <a:xfrm>
            <a:off x="841248" y="4480560"/>
            <a:ext cx="256032" cy="256032"/>
          </a:xfrm>
          <a:prstGeom prst="rect">
            <a:avLst/>
          </a:prstGeom>
        </p:spPr>
      </p:pic>
      <p:sp>
        <p:nvSpPr>
          <p:cNvPr id="49" name="Text 16">
            <a:extLst>
              <a:ext uri="{FF2B5EF4-FFF2-40B4-BE49-F238E27FC236}">
                <a16:creationId xmlns:a16="http://schemas.microsoft.com/office/drawing/2014/main" id="{C7D68889-9A0A-A5BC-081E-9FD140AEE9E7}"/>
              </a:ext>
            </a:extLst>
          </p:cNvPr>
          <p:cNvSpPr txBox="1"/>
          <p:nvPr/>
        </p:nvSpPr>
        <p:spPr>
          <a:xfrm>
            <a:off x="1280160" y="4443984"/>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Enabler</a:t>
            </a:r>
            <a:endParaRPr lang="en-US" sz="1500" dirty="0"/>
          </a:p>
        </p:txBody>
      </p:sp>
      <p:sp>
        <p:nvSpPr>
          <p:cNvPr id="51" name="Text 17">
            <a:extLst>
              <a:ext uri="{FF2B5EF4-FFF2-40B4-BE49-F238E27FC236}">
                <a16:creationId xmlns:a16="http://schemas.microsoft.com/office/drawing/2014/main" id="{3A00DA42-B8C9-FDE4-2368-AEB08184BB2A}"/>
              </a:ext>
            </a:extLst>
          </p:cNvPr>
          <p:cNvSpPr txBox="1"/>
          <p:nvPr/>
        </p:nvSpPr>
        <p:spPr>
          <a:xfrm>
            <a:off x="1280160" y="4736592"/>
            <a:ext cx="2600858" cy="292608"/>
          </a:xfrm>
          <a:prstGeom prst="rect">
            <a:avLst/>
          </a:prstGeom>
          <a:noFill/>
          <a:ln/>
        </p:spPr>
        <p:txBody>
          <a:bodyPr wrap="square" lIns="0" tIns="0" rIns="0" bIns="0" rtlCol="0" anchor="ctr"/>
          <a:lstStyle/>
          <a:p>
            <a:pPr marL="0" indent="0">
              <a:buNone/>
            </a:pPr>
            <a:r>
              <a:rPr lang="en-US" sz="1300" dirty="0">
                <a:solidFill>
                  <a:schemeClr val="tx2"/>
                </a:solidFill>
              </a:rPr>
              <a:t>Airlines via their own existing digital channels</a:t>
            </a:r>
          </a:p>
        </p:txBody>
      </p:sp>
      <p:pic>
        <p:nvPicPr>
          <p:cNvPr id="53" name="Image 6" descr="preencoded.png">
            <a:extLst>
              <a:ext uri="{FF2B5EF4-FFF2-40B4-BE49-F238E27FC236}">
                <a16:creationId xmlns:a16="http://schemas.microsoft.com/office/drawing/2014/main" id="{1306367C-A561-428C-18A6-01AB89A351F0}"/>
              </a:ext>
            </a:extLst>
          </p:cNvPr>
          <p:cNvPicPr>
            <a:picLocks noChangeAspect="1"/>
          </p:cNvPicPr>
          <p:nvPr/>
        </p:nvPicPr>
        <p:blipFill>
          <a:blip r:embed="rId10"/>
          <a:stretch>
            <a:fillRect/>
          </a:stretch>
        </p:blipFill>
        <p:spPr>
          <a:xfrm>
            <a:off x="841248" y="5193792"/>
            <a:ext cx="256032" cy="256032"/>
          </a:xfrm>
          <a:prstGeom prst="rect">
            <a:avLst/>
          </a:prstGeom>
        </p:spPr>
      </p:pic>
      <p:sp>
        <p:nvSpPr>
          <p:cNvPr id="55" name="Text 18">
            <a:extLst>
              <a:ext uri="{FF2B5EF4-FFF2-40B4-BE49-F238E27FC236}">
                <a16:creationId xmlns:a16="http://schemas.microsoft.com/office/drawing/2014/main" id="{000F3D50-D497-3590-B909-AEC3E356464D}"/>
              </a:ext>
            </a:extLst>
          </p:cNvPr>
          <p:cNvSpPr txBox="1"/>
          <p:nvPr/>
        </p:nvSpPr>
        <p:spPr>
          <a:xfrm>
            <a:off x="1280160" y="5157216"/>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End user</a:t>
            </a:r>
            <a:endParaRPr lang="en-US" sz="1500" dirty="0"/>
          </a:p>
        </p:txBody>
      </p:sp>
      <p:sp>
        <p:nvSpPr>
          <p:cNvPr id="57" name="Text 19">
            <a:extLst>
              <a:ext uri="{FF2B5EF4-FFF2-40B4-BE49-F238E27FC236}">
                <a16:creationId xmlns:a16="http://schemas.microsoft.com/office/drawing/2014/main" id="{D83061F2-121C-06A3-0B6F-1B6D7F307579}"/>
              </a:ext>
            </a:extLst>
          </p:cNvPr>
          <p:cNvSpPr txBox="1"/>
          <p:nvPr/>
        </p:nvSpPr>
        <p:spPr>
          <a:xfrm>
            <a:off x="1280160" y="5449824"/>
            <a:ext cx="2600858" cy="292608"/>
          </a:xfrm>
          <a:prstGeom prst="rect">
            <a:avLst/>
          </a:prstGeom>
          <a:noFill/>
          <a:ln/>
        </p:spPr>
        <p:txBody>
          <a:bodyPr wrap="square" lIns="0" tIns="0" rIns="0" bIns="0" rtlCol="0" anchor="ctr"/>
          <a:lstStyle/>
          <a:p>
            <a:pPr marL="0" indent="0">
              <a:buNone/>
            </a:pPr>
            <a:r>
              <a:rPr lang="en-US" sz="1300" dirty="0">
                <a:solidFill>
                  <a:schemeClr val="tx2"/>
                </a:solidFill>
              </a:rPr>
              <a:t>Travellers, enrolled once in the app</a:t>
            </a:r>
            <a:endParaRPr lang="en-US" sz="1300" dirty="0"/>
          </a:p>
        </p:txBody>
      </p:sp>
      <p:pic>
        <p:nvPicPr>
          <p:cNvPr id="59" name="Image 7" descr="preencoded.png">
            <a:extLst>
              <a:ext uri="{FF2B5EF4-FFF2-40B4-BE49-F238E27FC236}">
                <a16:creationId xmlns:a16="http://schemas.microsoft.com/office/drawing/2014/main" id="{89D7006B-6A71-C8AE-EE30-AC1092353577}"/>
              </a:ext>
            </a:extLst>
          </p:cNvPr>
          <p:cNvPicPr>
            <a:picLocks noChangeAspect="1"/>
          </p:cNvPicPr>
          <p:nvPr/>
        </p:nvPicPr>
        <p:blipFill>
          <a:blip r:embed="rId11"/>
          <a:stretch>
            <a:fillRect/>
          </a:stretch>
        </p:blipFill>
        <p:spPr>
          <a:xfrm>
            <a:off x="4630826" y="3054096"/>
            <a:ext cx="256032" cy="256032"/>
          </a:xfrm>
          <a:prstGeom prst="rect">
            <a:avLst/>
          </a:prstGeom>
        </p:spPr>
      </p:pic>
      <p:sp>
        <p:nvSpPr>
          <p:cNvPr id="61" name="Text 20">
            <a:extLst>
              <a:ext uri="{FF2B5EF4-FFF2-40B4-BE49-F238E27FC236}">
                <a16:creationId xmlns:a16="http://schemas.microsoft.com/office/drawing/2014/main" id="{54CDFCA5-005C-2361-E393-984D13509E6F}"/>
              </a:ext>
            </a:extLst>
          </p:cNvPr>
          <p:cNvSpPr txBox="1"/>
          <p:nvPr/>
        </p:nvSpPr>
        <p:spPr>
          <a:xfrm>
            <a:off x="5069738" y="3017520"/>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Lane hardware</a:t>
            </a:r>
            <a:endParaRPr lang="en-US" sz="1500" dirty="0"/>
          </a:p>
        </p:txBody>
      </p:sp>
      <p:sp>
        <p:nvSpPr>
          <p:cNvPr id="63" name="Text 21">
            <a:extLst>
              <a:ext uri="{FF2B5EF4-FFF2-40B4-BE49-F238E27FC236}">
                <a16:creationId xmlns:a16="http://schemas.microsoft.com/office/drawing/2014/main" id="{B6A572F2-4F20-B4E3-8D2E-4623DB06D819}"/>
              </a:ext>
            </a:extLst>
          </p:cNvPr>
          <p:cNvSpPr txBox="1"/>
          <p:nvPr/>
        </p:nvSpPr>
        <p:spPr>
          <a:xfrm>
            <a:off x="5069738" y="3310128"/>
            <a:ext cx="2600858" cy="292608"/>
          </a:xfrm>
          <a:prstGeom prst="rect">
            <a:avLst/>
          </a:prstGeom>
          <a:noFill/>
          <a:ln/>
        </p:spPr>
        <p:txBody>
          <a:bodyPr wrap="square" lIns="0" tIns="0" rIns="0" bIns="0" rtlCol="0" anchor="ctr"/>
          <a:lstStyle/>
          <a:p>
            <a:pPr marL="0" indent="0">
              <a:buNone/>
            </a:pPr>
            <a:r>
              <a:rPr lang="en-US" sz="1300" dirty="0">
                <a:solidFill>
                  <a:schemeClr val="tx2"/>
                </a:solidFill>
              </a:rPr>
              <a:t>One-off: e-gate, reader, kiosk</a:t>
            </a:r>
            <a:endParaRPr lang="en-US" sz="1300" dirty="0"/>
          </a:p>
        </p:txBody>
      </p:sp>
      <p:pic>
        <p:nvPicPr>
          <p:cNvPr id="65" name="Image 8" descr="preencoded.png">
            <a:extLst>
              <a:ext uri="{FF2B5EF4-FFF2-40B4-BE49-F238E27FC236}">
                <a16:creationId xmlns:a16="http://schemas.microsoft.com/office/drawing/2014/main" id="{C3823D0C-85D3-389E-01F0-9B66500D635B}"/>
              </a:ext>
            </a:extLst>
          </p:cNvPr>
          <p:cNvPicPr>
            <a:picLocks noChangeAspect="1"/>
          </p:cNvPicPr>
          <p:nvPr/>
        </p:nvPicPr>
        <p:blipFill>
          <a:blip r:embed="rId12"/>
          <a:stretch>
            <a:fillRect/>
          </a:stretch>
        </p:blipFill>
        <p:spPr>
          <a:xfrm>
            <a:off x="4630826" y="3767328"/>
            <a:ext cx="256032" cy="256032"/>
          </a:xfrm>
          <a:prstGeom prst="rect">
            <a:avLst/>
          </a:prstGeom>
        </p:spPr>
      </p:pic>
      <p:sp>
        <p:nvSpPr>
          <p:cNvPr id="67" name="Text 22">
            <a:extLst>
              <a:ext uri="{FF2B5EF4-FFF2-40B4-BE49-F238E27FC236}">
                <a16:creationId xmlns:a16="http://schemas.microsoft.com/office/drawing/2014/main" id="{69C4E6BA-39D7-E2A1-EAF6-9C129463E8C8}"/>
              </a:ext>
            </a:extLst>
          </p:cNvPr>
          <p:cNvSpPr txBox="1"/>
          <p:nvPr/>
        </p:nvSpPr>
        <p:spPr>
          <a:xfrm>
            <a:off x="5069738" y="3730752"/>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ISMP licence</a:t>
            </a:r>
            <a:endParaRPr lang="en-US" sz="1500" dirty="0"/>
          </a:p>
        </p:txBody>
      </p:sp>
      <p:sp>
        <p:nvSpPr>
          <p:cNvPr id="69" name="Text 23">
            <a:extLst>
              <a:ext uri="{FF2B5EF4-FFF2-40B4-BE49-F238E27FC236}">
                <a16:creationId xmlns:a16="http://schemas.microsoft.com/office/drawing/2014/main" id="{C4D2618C-CFA4-A517-6F0F-66C1565C1063}"/>
              </a:ext>
            </a:extLst>
          </p:cNvPr>
          <p:cNvSpPr txBox="1"/>
          <p:nvPr/>
        </p:nvSpPr>
        <p:spPr>
          <a:xfrm>
            <a:off x="5069738" y="4023360"/>
            <a:ext cx="2600858" cy="292608"/>
          </a:xfrm>
          <a:prstGeom prst="rect">
            <a:avLst/>
          </a:prstGeom>
          <a:noFill/>
          <a:ln/>
        </p:spPr>
        <p:txBody>
          <a:bodyPr wrap="square" lIns="0" tIns="0" rIns="0" bIns="0" rtlCol="0" anchor="ctr"/>
          <a:lstStyle/>
          <a:p>
            <a:pPr marL="0" indent="0">
              <a:buNone/>
            </a:pPr>
            <a:r>
              <a:rPr lang="en-US" sz="1300" dirty="0">
                <a:solidFill>
                  <a:schemeClr val="tx2"/>
                </a:solidFill>
              </a:rPr>
              <a:t>Recurring, by deployment scope</a:t>
            </a:r>
            <a:endParaRPr lang="en-US" sz="1300" dirty="0"/>
          </a:p>
        </p:txBody>
      </p:sp>
      <p:pic>
        <p:nvPicPr>
          <p:cNvPr id="71" name="Image 9" descr="preencoded.png">
            <a:extLst>
              <a:ext uri="{FF2B5EF4-FFF2-40B4-BE49-F238E27FC236}">
                <a16:creationId xmlns:a16="http://schemas.microsoft.com/office/drawing/2014/main" id="{352E1AFB-070C-06A2-F0C1-93BACCCBCB08}"/>
              </a:ext>
            </a:extLst>
          </p:cNvPr>
          <p:cNvPicPr>
            <a:picLocks noChangeAspect="1"/>
          </p:cNvPicPr>
          <p:nvPr/>
        </p:nvPicPr>
        <p:blipFill>
          <a:blip r:embed="rId13"/>
          <a:stretch>
            <a:fillRect/>
          </a:stretch>
        </p:blipFill>
        <p:spPr>
          <a:xfrm>
            <a:off x="4630826" y="4480560"/>
            <a:ext cx="256032" cy="256032"/>
          </a:xfrm>
          <a:prstGeom prst="rect">
            <a:avLst/>
          </a:prstGeom>
        </p:spPr>
      </p:pic>
      <p:sp>
        <p:nvSpPr>
          <p:cNvPr id="73" name="Text 24">
            <a:extLst>
              <a:ext uri="{FF2B5EF4-FFF2-40B4-BE49-F238E27FC236}">
                <a16:creationId xmlns:a16="http://schemas.microsoft.com/office/drawing/2014/main" id="{4EFA33C7-29D4-9720-BA37-90806107A6A6}"/>
              </a:ext>
            </a:extLst>
          </p:cNvPr>
          <p:cNvSpPr txBox="1"/>
          <p:nvPr/>
        </p:nvSpPr>
        <p:spPr>
          <a:xfrm>
            <a:off x="5069738" y="4443984"/>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Integration</a:t>
            </a:r>
            <a:endParaRPr lang="en-US" sz="1500" dirty="0"/>
          </a:p>
        </p:txBody>
      </p:sp>
      <p:sp>
        <p:nvSpPr>
          <p:cNvPr id="75" name="Text 25">
            <a:extLst>
              <a:ext uri="{FF2B5EF4-FFF2-40B4-BE49-F238E27FC236}">
                <a16:creationId xmlns:a16="http://schemas.microsoft.com/office/drawing/2014/main" id="{D0BC568F-3CB5-32EE-3422-1CD6EC071748}"/>
              </a:ext>
            </a:extLst>
          </p:cNvPr>
          <p:cNvSpPr txBox="1"/>
          <p:nvPr/>
        </p:nvSpPr>
        <p:spPr>
          <a:xfrm>
            <a:off x="5069738" y="4736592"/>
            <a:ext cx="2600858" cy="292608"/>
          </a:xfrm>
          <a:prstGeom prst="rect">
            <a:avLst/>
          </a:prstGeom>
          <a:noFill/>
          <a:ln/>
        </p:spPr>
        <p:txBody>
          <a:bodyPr wrap="square" lIns="0" tIns="0" rIns="0" bIns="0" rtlCol="0" anchor="ctr"/>
          <a:lstStyle/>
          <a:p>
            <a:pPr marL="0" indent="0">
              <a:buNone/>
            </a:pPr>
            <a:r>
              <a:rPr lang="en-US" sz="1300" dirty="0">
                <a:solidFill>
                  <a:schemeClr val="tx2"/>
                </a:solidFill>
              </a:rPr>
              <a:t>Project: configure and deploy</a:t>
            </a:r>
            <a:endParaRPr lang="en-US" sz="1300" dirty="0"/>
          </a:p>
        </p:txBody>
      </p:sp>
      <p:pic>
        <p:nvPicPr>
          <p:cNvPr id="77" name="Image 10" descr="preencoded.png">
            <a:extLst>
              <a:ext uri="{FF2B5EF4-FFF2-40B4-BE49-F238E27FC236}">
                <a16:creationId xmlns:a16="http://schemas.microsoft.com/office/drawing/2014/main" id="{228F5325-C47D-A85C-CEED-A1D736C6CDAE}"/>
              </a:ext>
            </a:extLst>
          </p:cNvPr>
          <p:cNvPicPr>
            <a:picLocks noChangeAspect="1"/>
          </p:cNvPicPr>
          <p:nvPr/>
        </p:nvPicPr>
        <p:blipFill>
          <a:blip r:embed="rId14"/>
          <a:stretch>
            <a:fillRect/>
          </a:stretch>
        </p:blipFill>
        <p:spPr>
          <a:xfrm>
            <a:off x="4630826" y="5193792"/>
            <a:ext cx="256032" cy="256032"/>
          </a:xfrm>
          <a:prstGeom prst="rect">
            <a:avLst/>
          </a:prstGeom>
        </p:spPr>
      </p:pic>
      <p:sp>
        <p:nvSpPr>
          <p:cNvPr id="79" name="Text 26">
            <a:extLst>
              <a:ext uri="{FF2B5EF4-FFF2-40B4-BE49-F238E27FC236}">
                <a16:creationId xmlns:a16="http://schemas.microsoft.com/office/drawing/2014/main" id="{9DA28497-80BF-DF53-8C18-F040395E4274}"/>
              </a:ext>
            </a:extLst>
          </p:cNvPr>
          <p:cNvSpPr txBox="1"/>
          <p:nvPr/>
        </p:nvSpPr>
        <p:spPr>
          <a:xfrm>
            <a:off x="5069738" y="5157216"/>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Support</a:t>
            </a:r>
            <a:endParaRPr lang="en-US" sz="1500" dirty="0"/>
          </a:p>
        </p:txBody>
      </p:sp>
      <p:sp>
        <p:nvSpPr>
          <p:cNvPr id="81" name="Text 27">
            <a:extLst>
              <a:ext uri="{FF2B5EF4-FFF2-40B4-BE49-F238E27FC236}">
                <a16:creationId xmlns:a16="http://schemas.microsoft.com/office/drawing/2014/main" id="{8FD4A4D6-6F44-C66F-6707-31B68BD56431}"/>
              </a:ext>
            </a:extLst>
          </p:cNvPr>
          <p:cNvSpPr txBox="1"/>
          <p:nvPr/>
        </p:nvSpPr>
        <p:spPr>
          <a:xfrm>
            <a:off x="5069738" y="5449824"/>
            <a:ext cx="2600858" cy="292608"/>
          </a:xfrm>
          <a:prstGeom prst="rect">
            <a:avLst/>
          </a:prstGeom>
          <a:noFill/>
          <a:ln/>
        </p:spPr>
        <p:txBody>
          <a:bodyPr wrap="square" lIns="0" tIns="0" rIns="0" bIns="0" rtlCol="0" anchor="ctr"/>
          <a:lstStyle/>
          <a:p>
            <a:pPr marL="0" indent="0">
              <a:buNone/>
            </a:pPr>
            <a:r>
              <a:rPr lang="en-US" sz="1300" dirty="0">
                <a:solidFill>
                  <a:schemeClr val="tx2"/>
                </a:solidFill>
              </a:rPr>
              <a:t>Annual maintenance and SLA</a:t>
            </a:r>
            <a:endParaRPr lang="en-US" sz="1300" dirty="0"/>
          </a:p>
        </p:txBody>
      </p:sp>
      <p:sp>
        <p:nvSpPr>
          <p:cNvPr id="83" name="Shape 28">
            <a:extLst>
              <a:ext uri="{FF2B5EF4-FFF2-40B4-BE49-F238E27FC236}">
                <a16:creationId xmlns:a16="http://schemas.microsoft.com/office/drawing/2014/main" id="{41671B16-5478-9813-C1A7-D69E28B2BB19}"/>
              </a:ext>
            </a:extLst>
          </p:cNvPr>
          <p:cNvSpPr/>
          <p:nvPr/>
        </p:nvSpPr>
        <p:spPr>
          <a:xfrm>
            <a:off x="8548421" y="3246120"/>
            <a:ext cx="0" cy="2139696"/>
          </a:xfrm>
          <a:prstGeom prst="line">
            <a:avLst/>
          </a:prstGeom>
          <a:noFill/>
          <a:ln w="19050">
            <a:solidFill>
              <a:schemeClr val="accent5"/>
            </a:solidFill>
            <a:prstDash val="solid"/>
          </a:ln>
        </p:spPr>
        <p:txBody>
          <a:bodyPr/>
          <a:lstStyle/>
          <a:p>
            <a:endParaRPr lang="en-SG"/>
          </a:p>
        </p:txBody>
      </p:sp>
      <p:sp>
        <p:nvSpPr>
          <p:cNvPr id="85" name="Shape 29">
            <a:extLst>
              <a:ext uri="{FF2B5EF4-FFF2-40B4-BE49-F238E27FC236}">
                <a16:creationId xmlns:a16="http://schemas.microsoft.com/office/drawing/2014/main" id="{F6E929FF-5761-E622-8BFA-D4569FE27AA3}"/>
              </a:ext>
            </a:extLst>
          </p:cNvPr>
          <p:cNvSpPr/>
          <p:nvPr/>
        </p:nvSpPr>
        <p:spPr>
          <a:xfrm>
            <a:off x="8402117" y="3044952"/>
            <a:ext cx="292608" cy="292608"/>
          </a:xfrm>
          <a:prstGeom prst="ellipse">
            <a:avLst/>
          </a:prstGeom>
          <a:solidFill>
            <a:schemeClr val="accent1"/>
          </a:solidFill>
          <a:ln/>
        </p:spPr>
        <p:txBody>
          <a:bodyPr/>
          <a:lstStyle/>
          <a:p>
            <a:endParaRPr lang="en-SG"/>
          </a:p>
        </p:txBody>
      </p:sp>
      <p:sp>
        <p:nvSpPr>
          <p:cNvPr id="87" name="Text 30">
            <a:extLst>
              <a:ext uri="{FF2B5EF4-FFF2-40B4-BE49-F238E27FC236}">
                <a16:creationId xmlns:a16="http://schemas.microsoft.com/office/drawing/2014/main" id="{66C07E45-128A-2D01-0188-9069DC039567}"/>
              </a:ext>
            </a:extLst>
          </p:cNvPr>
          <p:cNvSpPr txBox="1"/>
          <p:nvPr/>
        </p:nvSpPr>
        <p:spPr>
          <a:xfrm>
            <a:off x="8402117" y="3044952"/>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89" name="Text 31">
            <a:extLst>
              <a:ext uri="{FF2B5EF4-FFF2-40B4-BE49-F238E27FC236}">
                <a16:creationId xmlns:a16="http://schemas.microsoft.com/office/drawing/2014/main" id="{2F9261CC-8BA8-D09D-C85C-0D02A5270602}"/>
              </a:ext>
            </a:extLst>
          </p:cNvPr>
          <p:cNvSpPr txBox="1"/>
          <p:nvPr/>
        </p:nvSpPr>
        <p:spPr>
          <a:xfrm>
            <a:off x="8859317" y="3008376"/>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Prove</a:t>
            </a:r>
            <a:endParaRPr lang="en-US" sz="1500" dirty="0"/>
          </a:p>
        </p:txBody>
      </p:sp>
      <p:sp>
        <p:nvSpPr>
          <p:cNvPr id="91" name="Text 32">
            <a:extLst>
              <a:ext uri="{FF2B5EF4-FFF2-40B4-BE49-F238E27FC236}">
                <a16:creationId xmlns:a16="http://schemas.microsoft.com/office/drawing/2014/main" id="{6AEC799A-090B-95DA-1690-60B08B0B13B7}"/>
              </a:ext>
            </a:extLst>
          </p:cNvPr>
          <p:cNvSpPr txBox="1"/>
          <p:nvPr/>
        </p:nvSpPr>
        <p:spPr>
          <a:xfrm>
            <a:off x="8859317" y="3320034"/>
            <a:ext cx="2600858" cy="292608"/>
          </a:xfrm>
          <a:prstGeom prst="rect">
            <a:avLst/>
          </a:prstGeom>
          <a:noFill/>
          <a:ln/>
        </p:spPr>
        <p:txBody>
          <a:bodyPr wrap="square" lIns="0" tIns="0" rIns="0" bIns="0" rtlCol="0" anchor="ctr"/>
          <a:lstStyle/>
          <a:p>
            <a:pPr marL="0" indent="0">
              <a:buNone/>
            </a:pPr>
            <a:r>
              <a:rPr lang="en-US" sz="1300" dirty="0">
                <a:solidFill>
                  <a:schemeClr val="tx2"/>
                </a:solidFill>
              </a:rPr>
              <a:t>Deploy and validate a single pilot lane</a:t>
            </a:r>
          </a:p>
        </p:txBody>
      </p:sp>
      <p:sp>
        <p:nvSpPr>
          <p:cNvPr id="93" name="Shape 33">
            <a:extLst>
              <a:ext uri="{FF2B5EF4-FFF2-40B4-BE49-F238E27FC236}">
                <a16:creationId xmlns:a16="http://schemas.microsoft.com/office/drawing/2014/main" id="{D26DBEE4-6FC1-19C9-2E8C-F09497826A1A}"/>
              </a:ext>
            </a:extLst>
          </p:cNvPr>
          <p:cNvSpPr/>
          <p:nvPr/>
        </p:nvSpPr>
        <p:spPr>
          <a:xfrm>
            <a:off x="8402117" y="3758184"/>
            <a:ext cx="292608" cy="292608"/>
          </a:xfrm>
          <a:prstGeom prst="ellipse">
            <a:avLst/>
          </a:prstGeom>
          <a:solidFill>
            <a:schemeClr val="accent6"/>
          </a:solidFill>
          <a:ln/>
        </p:spPr>
        <p:txBody>
          <a:bodyPr/>
          <a:lstStyle/>
          <a:p>
            <a:endParaRPr lang="en-SG"/>
          </a:p>
        </p:txBody>
      </p:sp>
      <p:sp>
        <p:nvSpPr>
          <p:cNvPr id="95" name="Text 34">
            <a:extLst>
              <a:ext uri="{FF2B5EF4-FFF2-40B4-BE49-F238E27FC236}">
                <a16:creationId xmlns:a16="http://schemas.microsoft.com/office/drawing/2014/main" id="{EAA43CF1-554C-E29F-DC51-6E17C32D9328}"/>
              </a:ext>
            </a:extLst>
          </p:cNvPr>
          <p:cNvSpPr txBox="1"/>
          <p:nvPr/>
        </p:nvSpPr>
        <p:spPr>
          <a:xfrm>
            <a:off x="8402117" y="3758184"/>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97" name="Text 35">
            <a:extLst>
              <a:ext uri="{FF2B5EF4-FFF2-40B4-BE49-F238E27FC236}">
                <a16:creationId xmlns:a16="http://schemas.microsoft.com/office/drawing/2014/main" id="{8CD1B92F-A6F9-4D55-6A0A-B328F3D22600}"/>
              </a:ext>
            </a:extLst>
          </p:cNvPr>
          <p:cNvSpPr txBox="1"/>
          <p:nvPr/>
        </p:nvSpPr>
        <p:spPr>
          <a:xfrm>
            <a:off x="8859317" y="3721608"/>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Expand</a:t>
            </a:r>
            <a:endParaRPr lang="en-US" sz="1500" dirty="0"/>
          </a:p>
        </p:txBody>
      </p:sp>
      <p:sp>
        <p:nvSpPr>
          <p:cNvPr id="99" name="Text 36">
            <a:extLst>
              <a:ext uri="{FF2B5EF4-FFF2-40B4-BE49-F238E27FC236}">
                <a16:creationId xmlns:a16="http://schemas.microsoft.com/office/drawing/2014/main" id="{6AAF06C9-8A68-117C-EDF4-30170CA2DA12}"/>
              </a:ext>
            </a:extLst>
          </p:cNvPr>
          <p:cNvSpPr txBox="1"/>
          <p:nvPr/>
        </p:nvSpPr>
        <p:spPr>
          <a:xfrm>
            <a:off x="8859317" y="4014216"/>
            <a:ext cx="2600858" cy="292608"/>
          </a:xfrm>
          <a:prstGeom prst="rect">
            <a:avLst/>
          </a:prstGeom>
          <a:noFill/>
          <a:ln/>
        </p:spPr>
        <p:txBody>
          <a:bodyPr wrap="square" lIns="0" tIns="0" rIns="0" bIns="0" rtlCol="0" anchor="ctr"/>
          <a:lstStyle/>
          <a:p>
            <a:pPr marL="0" indent="0">
              <a:buNone/>
            </a:pPr>
            <a:r>
              <a:rPr lang="en-US" sz="1300" dirty="0">
                <a:solidFill>
                  <a:schemeClr val="tx2"/>
                </a:solidFill>
              </a:rPr>
              <a:t>More lanes and enrolment capacity</a:t>
            </a:r>
          </a:p>
        </p:txBody>
      </p:sp>
      <p:sp>
        <p:nvSpPr>
          <p:cNvPr id="101" name="Shape 37">
            <a:extLst>
              <a:ext uri="{FF2B5EF4-FFF2-40B4-BE49-F238E27FC236}">
                <a16:creationId xmlns:a16="http://schemas.microsoft.com/office/drawing/2014/main" id="{0A49D32E-D7D8-22DC-61BF-ADA9DA77C1E0}"/>
              </a:ext>
            </a:extLst>
          </p:cNvPr>
          <p:cNvSpPr/>
          <p:nvPr/>
        </p:nvSpPr>
        <p:spPr>
          <a:xfrm>
            <a:off x="8402117" y="4471416"/>
            <a:ext cx="292608" cy="292608"/>
          </a:xfrm>
          <a:prstGeom prst="ellipse">
            <a:avLst/>
          </a:prstGeom>
          <a:solidFill>
            <a:schemeClr val="accent6"/>
          </a:solidFill>
          <a:ln/>
        </p:spPr>
        <p:txBody>
          <a:bodyPr/>
          <a:lstStyle/>
          <a:p>
            <a:endParaRPr lang="en-SG"/>
          </a:p>
        </p:txBody>
      </p:sp>
      <p:sp>
        <p:nvSpPr>
          <p:cNvPr id="103" name="Text 38">
            <a:extLst>
              <a:ext uri="{FF2B5EF4-FFF2-40B4-BE49-F238E27FC236}">
                <a16:creationId xmlns:a16="http://schemas.microsoft.com/office/drawing/2014/main" id="{F8C5AD62-5199-5C25-C5F8-D70BCFC771A0}"/>
              </a:ext>
            </a:extLst>
          </p:cNvPr>
          <p:cNvSpPr txBox="1"/>
          <p:nvPr/>
        </p:nvSpPr>
        <p:spPr>
          <a:xfrm>
            <a:off x="8402117" y="4471416"/>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05" name="Text 39">
            <a:extLst>
              <a:ext uri="{FF2B5EF4-FFF2-40B4-BE49-F238E27FC236}">
                <a16:creationId xmlns:a16="http://schemas.microsoft.com/office/drawing/2014/main" id="{E0F778D7-15CF-A50E-1349-13D67E77ED6A}"/>
              </a:ext>
            </a:extLst>
          </p:cNvPr>
          <p:cNvSpPr txBox="1"/>
          <p:nvPr/>
        </p:nvSpPr>
        <p:spPr>
          <a:xfrm>
            <a:off x="8859317" y="4434840"/>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Connect</a:t>
            </a:r>
            <a:endParaRPr lang="en-US" sz="1500" dirty="0"/>
          </a:p>
        </p:txBody>
      </p:sp>
      <p:sp>
        <p:nvSpPr>
          <p:cNvPr id="107" name="Text 40">
            <a:extLst>
              <a:ext uri="{FF2B5EF4-FFF2-40B4-BE49-F238E27FC236}">
                <a16:creationId xmlns:a16="http://schemas.microsoft.com/office/drawing/2014/main" id="{1E031D72-C820-0054-C991-620271E71C96}"/>
              </a:ext>
            </a:extLst>
          </p:cNvPr>
          <p:cNvSpPr txBox="1"/>
          <p:nvPr/>
        </p:nvSpPr>
        <p:spPr>
          <a:xfrm>
            <a:off x="8859317" y="4727448"/>
            <a:ext cx="2600858" cy="292608"/>
          </a:xfrm>
          <a:prstGeom prst="rect">
            <a:avLst/>
          </a:prstGeom>
          <a:noFill/>
          <a:ln/>
        </p:spPr>
        <p:txBody>
          <a:bodyPr wrap="square" lIns="0" tIns="0" rIns="0" bIns="0" rtlCol="0" anchor="ctr"/>
          <a:lstStyle/>
          <a:p>
            <a:pPr marL="0" indent="0">
              <a:buNone/>
            </a:pPr>
            <a:r>
              <a:rPr lang="en-US" sz="1300" dirty="0">
                <a:solidFill>
                  <a:schemeClr val="tx2"/>
                </a:solidFill>
              </a:rPr>
              <a:t>Integrate configured touchpoints through AGIL® Secure ISMP</a:t>
            </a:r>
          </a:p>
        </p:txBody>
      </p:sp>
      <p:sp>
        <p:nvSpPr>
          <p:cNvPr id="109" name="Shape 41">
            <a:extLst>
              <a:ext uri="{FF2B5EF4-FFF2-40B4-BE49-F238E27FC236}">
                <a16:creationId xmlns:a16="http://schemas.microsoft.com/office/drawing/2014/main" id="{736C73FE-6922-4034-3D23-2ABA707E7087}"/>
              </a:ext>
            </a:extLst>
          </p:cNvPr>
          <p:cNvSpPr/>
          <p:nvPr/>
        </p:nvSpPr>
        <p:spPr>
          <a:xfrm>
            <a:off x="8402117" y="5184648"/>
            <a:ext cx="292608" cy="292608"/>
          </a:xfrm>
          <a:prstGeom prst="ellipse">
            <a:avLst/>
          </a:prstGeom>
          <a:solidFill>
            <a:schemeClr val="accent6"/>
          </a:solidFill>
          <a:ln/>
        </p:spPr>
        <p:txBody>
          <a:bodyPr/>
          <a:lstStyle/>
          <a:p>
            <a:endParaRPr lang="en-SG"/>
          </a:p>
        </p:txBody>
      </p:sp>
      <p:sp>
        <p:nvSpPr>
          <p:cNvPr id="111" name="Text 42">
            <a:extLst>
              <a:ext uri="{FF2B5EF4-FFF2-40B4-BE49-F238E27FC236}">
                <a16:creationId xmlns:a16="http://schemas.microsoft.com/office/drawing/2014/main" id="{84B23049-D0D0-8075-530C-954D4EE898D2}"/>
              </a:ext>
            </a:extLst>
          </p:cNvPr>
          <p:cNvSpPr txBox="1"/>
          <p:nvPr/>
        </p:nvSpPr>
        <p:spPr>
          <a:xfrm>
            <a:off x="8402117" y="5184648"/>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13" name="Text 43">
            <a:extLst>
              <a:ext uri="{FF2B5EF4-FFF2-40B4-BE49-F238E27FC236}">
                <a16:creationId xmlns:a16="http://schemas.microsoft.com/office/drawing/2014/main" id="{8DCF2A5F-7894-C14B-5192-0E05195A94C9}"/>
              </a:ext>
            </a:extLst>
          </p:cNvPr>
          <p:cNvSpPr txBox="1"/>
          <p:nvPr/>
        </p:nvSpPr>
        <p:spPr>
          <a:xfrm>
            <a:off x="8859317" y="5148072"/>
            <a:ext cx="2600858" cy="292608"/>
          </a:xfrm>
          <a:prstGeom prst="rect">
            <a:avLst/>
          </a:prstGeom>
          <a:noFill/>
          <a:ln/>
        </p:spPr>
        <p:txBody>
          <a:bodyPr wrap="square" lIns="0" tIns="0" rIns="0" bIns="0" rtlCol="0" anchor="ctr"/>
          <a:lstStyle/>
          <a:p>
            <a:pPr marL="0" indent="0">
              <a:buNone/>
            </a:pPr>
            <a:r>
              <a:rPr lang="en-US" sz="1500" b="1" dirty="0">
                <a:solidFill>
                  <a:schemeClr val="tx1"/>
                </a:solidFill>
              </a:rPr>
              <a:t>Scale</a:t>
            </a:r>
            <a:endParaRPr lang="en-US" sz="1500" dirty="0"/>
          </a:p>
        </p:txBody>
      </p:sp>
      <p:sp>
        <p:nvSpPr>
          <p:cNvPr id="145" name="Text 44">
            <a:extLst>
              <a:ext uri="{FF2B5EF4-FFF2-40B4-BE49-F238E27FC236}">
                <a16:creationId xmlns:a16="http://schemas.microsoft.com/office/drawing/2014/main" id="{E505C469-02F5-A02B-6523-FE52546554B8}"/>
              </a:ext>
            </a:extLst>
          </p:cNvPr>
          <p:cNvSpPr txBox="1"/>
          <p:nvPr/>
        </p:nvSpPr>
        <p:spPr>
          <a:xfrm>
            <a:off x="8859317" y="5440680"/>
            <a:ext cx="2600858" cy="292608"/>
          </a:xfrm>
          <a:prstGeom prst="rect">
            <a:avLst/>
          </a:prstGeom>
          <a:noFill/>
          <a:ln/>
        </p:spPr>
        <p:txBody>
          <a:bodyPr wrap="square" lIns="0" tIns="0" rIns="0" bIns="0" rtlCol="0" anchor="ctr"/>
          <a:lstStyle/>
          <a:p>
            <a:pPr marL="0" indent="0">
              <a:buNone/>
            </a:pPr>
            <a:r>
              <a:rPr lang="en-US" sz="1300" dirty="0">
                <a:solidFill>
                  <a:schemeClr val="tx2"/>
                </a:solidFill>
              </a:rPr>
              <a:t>Extend across terminals and airport portfolios</a:t>
            </a:r>
          </a:p>
        </p:txBody>
      </p:sp>
    </p:spTree>
    <p:extLst>
      <p:ext uri="{BB962C8B-B14F-4D97-AF65-F5344CB8AC3E}">
        <p14:creationId xmlns:p14="http://schemas.microsoft.com/office/powerpoint/2010/main" val="4266816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D396-896B-B2AF-4302-1714DD29F27F}"/>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30951C01-6179-1DF2-5F5A-8E45F1F34A9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4BE79488-FF54-B096-7B08-AF4DCAF7C591}"/>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0A226CBF-EF45-6316-A6B9-4FFCE68D4571}"/>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B2E4672B-60CB-F397-ABE3-ED0557FBA2F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F6D7251E-7761-F4D2-BF60-40D4C5F45DF9}"/>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186330C6-FA0E-7BE4-2BAA-85B79529460C}"/>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8</a:t>
            </a:fld>
            <a:r>
              <a:rPr lang="en-US" sz="1200">
                <a:latin typeface="+mj-lt"/>
              </a:rPr>
              <a:t>   | </a:t>
            </a:r>
          </a:p>
        </p:txBody>
      </p:sp>
      <p:sp>
        <p:nvSpPr>
          <p:cNvPr id="11" name="Title 4">
            <a:extLst>
              <a:ext uri="{FF2B5EF4-FFF2-40B4-BE49-F238E27FC236}">
                <a16:creationId xmlns:a16="http://schemas.microsoft.com/office/drawing/2014/main" id="{99138308-7B33-D8F7-6D6E-2312A8B884B8}"/>
              </a:ext>
            </a:extLst>
          </p:cNvPr>
          <p:cNvSpPr txBox="1">
            <a:spLocks/>
          </p:cNvSpPr>
          <p:nvPr/>
        </p:nvSpPr>
        <p:spPr>
          <a:xfrm>
            <a:off x="295399" y="862117"/>
            <a:ext cx="12768717" cy="5529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ea typeface="Arial" pitchFamily="34" charset="-122"/>
                <a:cs typeface="Arial" pitchFamily="34" charset="-120"/>
              </a:rPr>
              <a:t>Why FastPass is differentiated, and how its advantage scales</a:t>
            </a:r>
            <a:endParaRPr lang="en-US" sz="2650" dirty="0">
              <a:solidFill>
                <a:schemeClr val="tx1"/>
              </a:solidFill>
              <a:latin typeface="+mj-lt"/>
            </a:endParaRPr>
          </a:p>
        </p:txBody>
      </p:sp>
      <p:sp>
        <p:nvSpPr>
          <p:cNvPr id="12" name="TextBox 25">
            <a:extLst>
              <a:ext uri="{FF2B5EF4-FFF2-40B4-BE49-F238E27FC236}">
                <a16:creationId xmlns:a16="http://schemas.microsoft.com/office/drawing/2014/main" id="{E1E6EDB3-2DF7-D95C-B368-9ED3B126FC59}"/>
              </a:ext>
            </a:extLst>
          </p:cNvPr>
          <p:cNvSpPr txBox="1"/>
          <p:nvPr/>
        </p:nvSpPr>
        <p:spPr>
          <a:xfrm>
            <a:off x="343779" y="563652"/>
            <a:ext cx="2801536"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Collaboration and entry barriers</a:t>
            </a:r>
          </a:p>
        </p:txBody>
      </p:sp>
      <p:sp>
        <p:nvSpPr>
          <p:cNvPr id="128" name="Shape 4">
            <a:extLst>
              <a:ext uri="{FF2B5EF4-FFF2-40B4-BE49-F238E27FC236}">
                <a16:creationId xmlns:a16="http://schemas.microsoft.com/office/drawing/2014/main" id="{E877073B-D887-AC42-4F75-8309FB9F1FB8}"/>
              </a:ext>
            </a:extLst>
          </p:cNvPr>
          <p:cNvSpPr/>
          <p:nvPr/>
        </p:nvSpPr>
        <p:spPr>
          <a:xfrm>
            <a:off x="5723900" y="2916727"/>
            <a:ext cx="438912" cy="438912"/>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29" name="Image 0" descr="preencoded.png">
            <a:extLst>
              <a:ext uri="{FF2B5EF4-FFF2-40B4-BE49-F238E27FC236}">
                <a16:creationId xmlns:a16="http://schemas.microsoft.com/office/drawing/2014/main" id="{E882889A-C5DA-C88F-60D8-B4B895A05B22}"/>
              </a:ext>
            </a:extLst>
          </p:cNvPr>
          <p:cNvPicPr>
            <a:picLocks noChangeAspect="1"/>
          </p:cNvPicPr>
          <p:nvPr/>
        </p:nvPicPr>
        <p:blipFill>
          <a:blip r:embed="rId5"/>
          <a:stretch>
            <a:fillRect/>
          </a:stretch>
        </p:blipFill>
        <p:spPr>
          <a:xfrm>
            <a:off x="5824850" y="3017677"/>
            <a:ext cx="237012" cy="237012"/>
          </a:xfrm>
          <a:prstGeom prst="rect">
            <a:avLst/>
          </a:prstGeom>
        </p:spPr>
      </p:pic>
      <p:sp>
        <p:nvSpPr>
          <p:cNvPr id="130" name="Text 5">
            <a:extLst>
              <a:ext uri="{FF2B5EF4-FFF2-40B4-BE49-F238E27FC236}">
                <a16:creationId xmlns:a16="http://schemas.microsoft.com/office/drawing/2014/main" id="{2F9B4327-04C0-2980-009F-4F651A1E0A8D}"/>
              </a:ext>
            </a:extLst>
          </p:cNvPr>
          <p:cNvSpPr txBox="1"/>
          <p:nvPr/>
        </p:nvSpPr>
        <p:spPr>
          <a:xfrm>
            <a:off x="6345692" y="2898439"/>
            <a:ext cx="4526280" cy="274320"/>
          </a:xfrm>
          <a:prstGeom prst="rect">
            <a:avLst/>
          </a:prstGeom>
          <a:noFill/>
          <a:ln/>
        </p:spPr>
        <p:txBody>
          <a:bodyPr wrap="square" lIns="0" tIns="0" rIns="0" bIns="0" rtlCol="0" anchor="ctr"/>
          <a:lstStyle/>
          <a:p>
            <a:r>
              <a:rPr lang="en-US" sz="1600" b="1" dirty="0">
                <a:solidFill>
                  <a:srgbClr val="0A1628"/>
                </a:solidFill>
                <a:latin typeface="+mj-lt"/>
              </a:rPr>
              <a:t>Integrated with security operations</a:t>
            </a:r>
            <a:endParaRPr lang="en-US" sz="1600" dirty="0">
              <a:solidFill>
                <a:srgbClr val="0A1628"/>
              </a:solidFill>
              <a:latin typeface="+mj-lt"/>
            </a:endParaRPr>
          </a:p>
        </p:txBody>
      </p:sp>
      <p:sp>
        <p:nvSpPr>
          <p:cNvPr id="131" name="Text 6">
            <a:extLst>
              <a:ext uri="{FF2B5EF4-FFF2-40B4-BE49-F238E27FC236}">
                <a16:creationId xmlns:a16="http://schemas.microsoft.com/office/drawing/2014/main" id="{711B348F-5670-8D62-55E2-AFC34E5F68A2}"/>
              </a:ext>
            </a:extLst>
          </p:cNvPr>
          <p:cNvSpPr txBox="1"/>
          <p:nvPr/>
        </p:nvSpPr>
        <p:spPr>
          <a:xfrm>
            <a:off x="6345691" y="3191047"/>
            <a:ext cx="5470855" cy="457200"/>
          </a:xfrm>
          <a:prstGeom prst="rect">
            <a:avLst/>
          </a:prstGeom>
          <a:noFill/>
          <a:ln/>
        </p:spPr>
        <p:txBody>
          <a:bodyPr wrap="square" lIns="0" tIns="0" rIns="0" bIns="0" rtlCol="0" anchor="t"/>
          <a:lstStyle/>
          <a:p>
            <a:r>
              <a:rPr lang="en-US" sz="1400" dirty="0">
                <a:solidFill>
                  <a:srgbClr val="4F5B6D"/>
                </a:solidFill>
                <a:latin typeface="+mj-lt"/>
              </a:rPr>
              <a:t>Traveller-clearance events are unified with video, access control and incident management through AGIL® Secure ISMP.</a:t>
            </a:r>
            <a:endParaRPr lang="en-US" sz="1400" dirty="0">
              <a:solidFill>
                <a:srgbClr val="0A1628"/>
              </a:solidFill>
              <a:latin typeface="+mj-lt"/>
            </a:endParaRPr>
          </a:p>
        </p:txBody>
      </p:sp>
      <p:sp>
        <p:nvSpPr>
          <p:cNvPr id="136" name="Shape 10">
            <a:extLst>
              <a:ext uri="{FF2B5EF4-FFF2-40B4-BE49-F238E27FC236}">
                <a16:creationId xmlns:a16="http://schemas.microsoft.com/office/drawing/2014/main" id="{9FC13F3D-9DC3-BAE6-FF8D-D1033F1D59AE}"/>
              </a:ext>
            </a:extLst>
          </p:cNvPr>
          <p:cNvSpPr/>
          <p:nvPr/>
        </p:nvSpPr>
        <p:spPr>
          <a:xfrm>
            <a:off x="5723900" y="3870050"/>
            <a:ext cx="438912" cy="438912"/>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37" name="Image 2" descr="preencoded.png">
            <a:extLst>
              <a:ext uri="{FF2B5EF4-FFF2-40B4-BE49-F238E27FC236}">
                <a16:creationId xmlns:a16="http://schemas.microsoft.com/office/drawing/2014/main" id="{154F51AE-FCFC-A30F-E878-1591749C250B}"/>
              </a:ext>
            </a:extLst>
          </p:cNvPr>
          <p:cNvPicPr>
            <a:picLocks noChangeAspect="1"/>
          </p:cNvPicPr>
          <p:nvPr/>
        </p:nvPicPr>
        <p:blipFill>
          <a:blip r:embed="rId6"/>
          <a:stretch>
            <a:fillRect/>
          </a:stretch>
        </p:blipFill>
        <p:spPr>
          <a:xfrm>
            <a:off x="5824850" y="3971000"/>
            <a:ext cx="237012" cy="237012"/>
          </a:xfrm>
          <a:prstGeom prst="rect">
            <a:avLst/>
          </a:prstGeom>
        </p:spPr>
      </p:pic>
      <p:sp>
        <p:nvSpPr>
          <p:cNvPr id="138" name="Text 11">
            <a:extLst>
              <a:ext uri="{FF2B5EF4-FFF2-40B4-BE49-F238E27FC236}">
                <a16:creationId xmlns:a16="http://schemas.microsoft.com/office/drawing/2014/main" id="{CEF5566F-B93C-0405-B1E9-F723C0A84BAF}"/>
              </a:ext>
            </a:extLst>
          </p:cNvPr>
          <p:cNvSpPr txBox="1"/>
          <p:nvPr/>
        </p:nvSpPr>
        <p:spPr>
          <a:xfrm>
            <a:off x="6345692" y="3851762"/>
            <a:ext cx="4526280" cy="274320"/>
          </a:xfrm>
          <a:prstGeom prst="rect">
            <a:avLst/>
          </a:prstGeom>
          <a:noFill/>
          <a:ln/>
        </p:spPr>
        <p:txBody>
          <a:bodyPr wrap="square" lIns="0" tIns="0" rIns="0" bIns="0" rtlCol="0" anchor="ctr"/>
          <a:lstStyle/>
          <a:p>
            <a:r>
              <a:rPr lang="en-US" sz="1600" b="1" dirty="0">
                <a:solidFill>
                  <a:srgbClr val="0A1628"/>
                </a:solidFill>
                <a:latin typeface="+mj-lt"/>
              </a:rPr>
              <a:t>Modular and infrastructure-light</a:t>
            </a:r>
            <a:endParaRPr lang="en-US" sz="1600" dirty="0">
              <a:solidFill>
                <a:srgbClr val="0A1628"/>
              </a:solidFill>
              <a:latin typeface="+mj-lt"/>
            </a:endParaRPr>
          </a:p>
        </p:txBody>
      </p:sp>
      <p:sp>
        <p:nvSpPr>
          <p:cNvPr id="139" name="Text 12">
            <a:extLst>
              <a:ext uri="{FF2B5EF4-FFF2-40B4-BE49-F238E27FC236}">
                <a16:creationId xmlns:a16="http://schemas.microsoft.com/office/drawing/2014/main" id="{D981A0A1-67A4-C9C0-077A-F9BBE7120074}"/>
              </a:ext>
            </a:extLst>
          </p:cNvPr>
          <p:cNvSpPr txBox="1"/>
          <p:nvPr/>
        </p:nvSpPr>
        <p:spPr>
          <a:xfrm>
            <a:off x="6345692" y="4144370"/>
            <a:ext cx="5369176" cy="457200"/>
          </a:xfrm>
          <a:prstGeom prst="rect">
            <a:avLst/>
          </a:prstGeom>
          <a:noFill/>
          <a:ln/>
        </p:spPr>
        <p:txBody>
          <a:bodyPr wrap="square" lIns="0" tIns="0" rIns="0" bIns="0" rtlCol="0" anchor="t"/>
          <a:lstStyle/>
          <a:p>
            <a:r>
              <a:rPr lang="en-US" sz="1400" dirty="0">
                <a:solidFill>
                  <a:srgbClr val="4F5B6D"/>
                </a:solidFill>
                <a:latin typeface="+mj-lt"/>
              </a:rPr>
              <a:t>Airports can start with a single lane, integrate through open interfaces and scale with minimal civil works.</a:t>
            </a:r>
            <a:endParaRPr lang="en-US" sz="1400" dirty="0">
              <a:solidFill>
                <a:srgbClr val="0A1628"/>
              </a:solidFill>
              <a:latin typeface="+mj-lt"/>
            </a:endParaRPr>
          </a:p>
        </p:txBody>
      </p:sp>
      <p:sp>
        <p:nvSpPr>
          <p:cNvPr id="140" name="Shape 13">
            <a:extLst>
              <a:ext uri="{FF2B5EF4-FFF2-40B4-BE49-F238E27FC236}">
                <a16:creationId xmlns:a16="http://schemas.microsoft.com/office/drawing/2014/main" id="{9A1179A7-7A0C-00C8-D396-904977829EB0}"/>
              </a:ext>
            </a:extLst>
          </p:cNvPr>
          <p:cNvSpPr/>
          <p:nvPr/>
        </p:nvSpPr>
        <p:spPr>
          <a:xfrm>
            <a:off x="5723900" y="4766162"/>
            <a:ext cx="438912" cy="438912"/>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pic>
        <p:nvPicPr>
          <p:cNvPr id="141" name="Image 3" descr="preencoded.png">
            <a:extLst>
              <a:ext uri="{FF2B5EF4-FFF2-40B4-BE49-F238E27FC236}">
                <a16:creationId xmlns:a16="http://schemas.microsoft.com/office/drawing/2014/main" id="{6D57C303-771E-63E7-B8DD-419BAAAC79EA}"/>
              </a:ext>
            </a:extLst>
          </p:cNvPr>
          <p:cNvPicPr>
            <a:picLocks noChangeAspect="1"/>
          </p:cNvPicPr>
          <p:nvPr/>
        </p:nvPicPr>
        <p:blipFill>
          <a:blip r:embed="rId7"/>
          <a:stretch>
            <a:fillRect/>
          </a:stretch>
        </p:blipFill>
        <p:spPr>
          <a:xfrm>
            <a:off x="5824850" y="4867112"/>
            <a:ext cx="237012" cy="237012"/>
          </a:xfrm>
          <a:prstGeom prst="rect">
            <a:avLst/>
          </a:prstGeom>
        </p:spPr>
      </p:pic>
      <p:sp>
        <p:nvSpPr>
          <p:cNvPr id="142" name="Text 14">
            <a:extLst>
              <a:ext uri="{FF2B5EF4-FFF2-40B4-BE49-F238E27FC236}">
                <a16:creationId xmlns:a16="http://schemas.microsoft.com/office/drawing/2014/main" id="{30DE9FB7-0E0F-D5E8-283E-3D196597BAC7}"/>
              </a:ext>
            </a:extLst>
          </p:cNvPr>
          <p:cNvSpPr txBox="1"/>
          <p:nvPr/>
        </p:nvSpPr>
        <p:spPr>
          <a:xfrm>
            <a:off x="6345692" y="4747874"/>
            <a:ext cx="4526280" cy="274320"/>
          </a:xfrm>
          <a:prstGeom prst="rect">
            <a:avLst/>
          </a:prstGeom>
          <a:noFill/>
          <a:ln/>
        </p:spPr>
        <p:txBody>
          <a:bodyPr wrap="square" lIns="0" tIns="0" rIns="0" bIns="0" rtlCol="0" anchor="ctr"/>
          <a:lstStyle/>
          <a:p>
            <a:r>
              <a:rPr lang="en-US" sz="1600" b="1" dirty="0">
                <a:solidFill>
                  <a:srgbClr val="0A1628"/>
                </a:solidFill>
                <a:latin typeface="+mj-lt"/>
              </a:rPr>
              <a:t>Government-grade delivery</a:t>
            </a:r>
            <a:endParaRPr lang="en-US" sz="1600" dirty="0">
              <a:solidFill>
                <a:srgbClr val="0A1628"/>
              </a:solidFill>
              <a:latin typeface="+mj-lt"/>
            </a:endParaRPr>
          </a:p>
        </p:txBody>
      </p:sp>
      <p:sp>
        <p:nvSpPr>
          <p:cNvPr id="143" name="Text 15">
            <a:extLst>
              <a:ext uri="{FF2B5EF4-FFF2-40B4-BE49-F238E27FC236}">
                <a16:creationId xmlns:a16="http://schemas.microsoft.com/office/drawing/2014/main" id="{70282CC1-DA9E-5576-937A-DA0FD2524537}"/>
              </a:ext>
            </a:extLst>
          </p:cNvPr>
          <p:cNvSpPr txBox="1"/>
          <p:nvPr/>
        </p:nvSpPr>
        <p:spPr>
          <a:xfrm>
            <a:off x="6345692" y="5040482"/>
            <a:ext cx="5242902" cy="457200"/>
          </a:xfrm>
          <a:prstGeom prst="rect">
            <a:avLst/>
          </a:prstGeom>
          <a:noFill/>
          <a:ln/>
        </p:spPr>
        <p:txBody>
          <a:bodyPr wrap="square" lIns="0" tIns="0" rIns="0" bIns="0" rtlCol="0" anchor="t"/>
          <a:lstStyle/>
          <a:p>
            <a:r>
              <a:rPr lang="en-US" sz="1400" dirty="0">
                <a:solidFill>
                  <a:srgbClr val="4F5B6D"/>
                </a:solidFill>
                <a:latin typeface="+mj-lt"/>
              </a:rPr>
              <a:t>Over 35 years of experience delivering secure, mission-critical systems, backed by cybersecurity and airport-domain expertise.</a:t>
            </a:r>
            <a:endParaRPr lang="en-US" sz="1400" dirty="0">
              <a:solidFill>
                <a:srgbClr val="0A1628"/>
              </a:solidFill>
              <a:latin typeface="+mj-lt"/>
            </a:endParaRPr>
          </a:p>
        </p:txBody>
      </p:sp>
      <p:sp>
        <p:nvSpPr>
          <p:cNvPr id="164" name="Text 1">
            <a:extLst>
              <a:ext uri="{FF2B5EF4-FFF2-40B4-BE49-F238E27FC236}">
                <a16:creationId xmlns:a16="http://schemas.microsoft.com/office/drawing/2014/main" id="{50359CC4-713E-9F3C-495D-A74CE2B669A9}"/>
              </a:ext>
            </a:extLst>
          </p:cNvPr>
          <p:cNvSpPr txBox="1">
            <a:spLocks/>
          </p:cNvSpPr>
          <p:nvPr/>
        </p:nvSpPr>
        <p:spPr>
          <a:xfrm>
            <a:off x="425351" y="1442039"/>
            <a:ext cx="10789920" cy="384048"/>
          </a:xfrm>
          <a:prstGeom prst="rect">
            <a:avLst/>
          </a:prstGeom>
          <a:noFill/>
          <a:ln/>
        </p:spPr>
        <p:txBody>
          <a:bodyPr wrap="square" lIns="0" tIns="0" rIns="0" bIns="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tx2"/>
                </a:solidFill>
                <a:latin typeface="+mj-lt"/>
              </a:rPr>
              <a:t>Cross-BA know-how and Group reach create a unique competitive edge.</a:t>
            </a:r>
          </a:p>
        </p:txBody>
      </p:sp>
      <p:sp>
        <p:nvSpPr>
          <p:cNvPr id="166" name="Text 16">
            <a:extLst>
              <a:ext uri="{FF2B5EF4-FFF2-40B4-BE49-F238E27FC236}">
                <a16:creationId xmlns:a16="http://schemas.microsoft.com/office/drawing/2014/main" id="{51BAB8CE-AF86-1EE5-2590-97C9C2FF502B}"/>
              </a:ext>
            </a:extLst>
          </p:cNvPr>
          <p:cNvSpPr txBox="1"/>
          <p:nvPr/>
        </p:nvSpPr>
        <p:spPr>
          <a:xfrm>
            <a:off x="5780214" y="2519342"/>
            <a:ext cx="5470855" cy="256032"/>
          </a:xfrm>
          <a:prstGeom prst="rect">
            <a:avLst/>
          </a:prstGeom>
          <a:noFill/>
          <a:ln/>
        </p:spPr>
        <p:txBody>
          <a:bodyPr wrap="square" lIns="0" tIns="0" rIns="0" bIns="0" rtlCol="0" anchor="ctr"/>
          <a:lstStyle/>
          <a:p>
            <a:r>
              <a:rPr lang="en-US" sz="1100" b="1" kern="0" spc="200" dirty="0">
                <a:solidFill>
                  <a:srgbClr val="0B84AE"/>
                </a:solidFill>
                <a:latin typeface="+mj-lt"/>
              </a:rPr>
              <a:t>OUR DIFFERENTIATION &amp; ENTRY BARRIERS  </a:t>
            </a:r>
            <a:endParaRPr lang="en-US" sz="1100" dirty="0">
              <a:solidFill>
                <a:srgbClr val="0A1628"/>
              </a:solidFill>
              <a:latin typeface="+mj-lt"/>
            </a:endParaRPr>
          </a:p>
        </p:txBody>
      </p:sp>
      <p:sp>
        <p:nvSpPr>
          <p:cNvPr id="168" name="Text 12">
            <a:extLst>
              <a:ext uri="{FF2B5EF4-FFF2-40B4-BE49-F238E27FC236}">
                <a16:creationId xmlns:a16="http://schemas.microsoft.com/office/drawing/2014/main" id="{BBCB199E-F905-727E-EFB8-6711A0ED8896}"/>
              </a:ext>
            </a:extLst>
          </p:cNvPr>
          <p:cNvSpPr txBox="1"/>
          <p:nvPr/>
        </p:nvSpPr>
        <p:spPr>
          <a:xfrm>
            <a:off x="5452404" y="1707228"/>
            <a:ext cx="3657600" cy="237744"/>
          </a:xfrm>
          <a:prstGeom prst="rect">
            <a:avLst/>
          </a:prstGeom>
          <a:noFill/>
          <a:ln/>
        </p:spPr>
        <p:txBody>
          <a:bodyPr wrap="square" lIns="0" tIns="0" rIns="0" bIns="0" rtlCol="0" anchor="ctr"/>
          <a:lstStyle/>
          <a:p>
            <a:pPr marL="0" indent="0">
              <a:buNone/>
            </a:pPr>
            <a:endParaRPr lang="en-US" sz="1100" dirty="0">
              <a:latin typeface="+mj-lt"/>
            </a:endParaRPr>
          </a:p>
        </p:txBody>
      </p:sp>
      <p:sp>
        <p:nvSpPr>
          <p:cNvPr id="221" name="Shape 3"/>
          <p:cNvSpPr/>
          <p:nvPr/>
        </p:nvSpPr>
        <p:spPr>
          <a:xfrm>
            <a:off x="613242" y="1972471"/>
            <a:ext cx="2011680" cy="2011680"/>
          </a:xfrm>
          <a:prstGeom prst="ellipse">
            <a:avLst/>
          </a:prstGeom>
          <a:solidFill>
            <a:srgbClr val="0B84AE">
              <a:alpha val="13000"/>
            </a:srgbClr>
          </a:solidFill>
          <a:ln w="12700">
            <a:solidFill>
              <a:srgbClr val="0B84AE">
                <a:alpha val="6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222" name="Shape 4"/>
          <p:cNvSpPr/>
          <p:nvPr/>
        </p:nvSpPr>
        <p:spPr>
          <a:xfrm>
            <a:off x="2030562" y="1972471"/>
            <a:ext cx="2011680" cy="2011680"/>
          </a:xfrm>
          <a:prstGeom prst="ellipse">
            <a:avLst/>
          </a:prstGeom>
          <a:solidFill>
            <a:srgbClr val="1E9E50">
              <a:alpha val="13000"/>
            </a:srgbClr>
          </a:solidFill>
          <a:ln w="12700">
            <a:solidFill>
              <a:srgbClr val="1E9E50">
                <a:alpha val="6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223" name="Text 6"/>
          <p:cNvSpPr txBox="1"/>
          <p:nvPr/>
        </p:nvSpPr>
        <p:spPr>
          <a:xfrm>
            <a:off x="611889" y="2468616"/>
            <a:ext cx="1371600" cy="548640"/>
          </a:xfrm>
          <a:prstGeom prst="rect">
            <a:avLst/>
          </a:prstGeom>
          <a:noFill/>
          <a:ln/>
        </p:spPr>
        <p:txBody>
          <a:bodyPr wrap="square" lIns="0" tIns="0" rIns="0" bIns="0" rtlCol="0" anchor="ctr"/>
          <a:lstStyle/>
          <a:p>
            <a:pPr algn="ctr"/>
            <a:r>
              <a:rPr lang="en-US" sz="1200" b="1" dirty="0">
                <a:solidFill>
                  <a:srgbClr val="0B1526"/>
                </a:solidFill>
                <a:latin typeface="+mj-lt"/>
              </a:rPr>
              <a:t>Urban Solutions</a:t>
            </a:r>
            <a:endParaRPr lang="en-US" sz="1200" dirty="0">
              <a:solidFill>
                <a:srgbClr val="0B1526"/>
              </a:solidFill>
              <a:latin typeface="+mj-lt"/>
            </a:endParaRPr>
          </a:p>
        </p:txBody>
      </p:sp>
      <p:sp>
        <p:nvSpPr>
          <p:cNvPr id="224" name="Text 7"/>
          <p:cNvSpPr txBox="1"/>
          <p:nvPr/>
        </p:nvSpPr>
        <p:spPr>
          <a:xfrm>
            <a:off x="2871810" y="2536182"/>
            <a:ext cx="1353312" cy="609656"/>
          </a:xfrm>
          <a:prstGeom prst="rect">
            <a:avLst/>
          </a:prstGeom>
          <a:noFill/>
          <a:ln/>
        </p:spPr>
        <p:txBody>
          <a:bodyPr wrap="square" lIns="0" tIns="0" rIns="0" bIns="0" rtlCol="0" anchor="ctr"/>
          <a:lstStyle/>
          <a:p>
            <a:pPr algn="ctr"/>
            <a:r>
              <a:rPr lang="en-US" sz="1200" b="1" dirty="0">
                <a:solidFill>
                  <a:srgbClr val="0B1526"/>
                </a:solidFill>
                <a:latin typeface="+mj-lt"/>
              </a:rPr>
              <a:t>STEV</a:t>
            </a:r>
          </a:p>
          <a:p>
            <a:pPr algn="ctr"/>
            <a:r>
              <a:rPr lang="en-US" sz="1200" b="1" dirty="0">
                <a:solidFill>
                  <a:srgbClr val="0B1526"/>
                </a:solidFill>
                <a:latin typeface="+mj-lt"/>
              </a:rPr>
              <a:t>(Venture Building)</a:t>
            </a:r>
            <a:endParaRPr lang="en-US" sz="1200" dirty="0">
              <a:solidFill>
                <a:srgbClr val="0B1526"/>
              </a:solidFill>
              <a:latin typeface="+mj-lt"/>
            </a:endParaRPr>
          </a:p>
        </p:txBody>
      </p:sp>
      <p:sp>
        <p:nvSpPr>
          <p:cNvPr id="225" name="Shape 9"/>
          <p:cNvSpPr/>
          <p:nvPr/>
        </p:nvSpPr>
        <p:spPr>
          <a:xfrm>
            <a:off x="1829394" y="2808638"/>
            <a:ext cx="1005840" cy="329184"/>
          </a:xfrm>
          <a:prstGeom prst="roundRect">
            <a:avLst>
              <a:gd name="adj" fmla="val 50000"/>
            </a:avLst>
          </a:prstGeom>
          <a:solidFill>
            <a:srgbClr val="0B2545"/>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226" name="Text 10"/>
          <p:cNvSpPr txBox="1"/>
          <p:nvPr/>
        </p:nvSpPr>
        <p:spPr>
          <a:xfrm>
            <a:off x="1829394" y="2791705"/>
            <a:ext cx="1005840" cy="329184"/>
          </a:xfrm>
          <a:prstGeom prst="rect">
            <a:avLst/>
          </a:prstGeom>
          <a:noFill/>
          <a:ln/>
        </p:spPr>
        <p:txBody>
          <a:bodyPr wrap="square" lIns="0" tIns="0" rIns="0" bIns="0" rtlCol="0" anchor="ctr"/>
          <a:lstStyle/>
          <a:p>
            <a:pPr algn="ctr"/>
            <a:r>
              <a:rPr lang="en-US" sz="1200" b="1" dirty="0">
                <a:solidFill>
                  <a:srgbClr val="FFFFFF"/>
                </a:solidFill>
                <a:latin typeface="+mj-lt"/>
              </a:rPr>
              <a:t>FastPass</a:t>
            </a:r>
            <a:endParaRPr lang="en-US" sz="1200" dirty="0">
              <a:solidFill>
                <a:srgbClr val="0B1526"/>
              </a:solidFill>
              <a:latin typeface="+mj-lt"/>
            </a:endParaRPr>
          </a:p>
        </p:txBody>
      </p:sp>
      <p:sp>
        <p:nvSpPr>
          <p:cNvPr id="228" name="Text 29">
            <a:extLst>
              <a:ext uri="{FF2B5EF4-FFF2-40B4-BE49-F238E27FC236}">
                <a16:creationId xmlns:a16="http://schemas.microsoft.com/office/drawing/2014/main" id="{72AF9C9F-8C37-5E11-EF25-3A8AC766682D}"/>
              </a:ext>
            </a:extLst>
          </p:cNvPr>
          <p:cNvSpPr txBox="1"/>
          <p:nvPr/>
        </p:nvSpPr>
        <p:spPr>
          <a:xfrm>
            <a:off x="639915" y="4236373"/>
            <a:ext cx="3657600" cy="237744"/>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mj-lt"/>
              </a:rPr>
              <a:t>SCALING FAST</a:t>
            </a:r>
            <a:endParaRPr lang="en-US" sz="1100" dirty="0">
              <a:latin typeface="+mj-lt"/>
            </a:endParaRPr>
          </a:p>
        </p:txBody>
      </p:sp>
      <p:pic>
        <p:nvPicPr>
          <p:cNvPr id="230" name="Image 4" descr="preencoded.png">
            <a:extLst>
              <a:ext uri="{FF2B5EF4-FFF2-40B4-BE49-F238E27FC236}">
                <a16:creationId xmlns:a16="http://schemas.microsoft.com/office/drawing/2014/main" id="{E0332827-BB52-B9A0-48B6-FE499825505E}"/>
              </a:ext>
            </a:extLst>
          </p:cNvPr>
          <p:cNvPicPr>
            <a:picLocks noChangeAspect="1"/>
          </p:cNvPicPr>
          <p:nvPr/>
        </p:nvPicPr>
        <p:blipFill>
          <a:blip r:embed="rId8"/>
          <a:stretch>
            <a:fillRect/>
          </a:stretch>
        </p:blipFill>
        <p:spPr>
          <a:xfrm>
            <a:off x="685635" y="4611277"/>
            <a:ext cx="256032" cy="256032"/>
          </a:xfrm>
          <a:prstGeom prst="rect">
            <a:avLst/>
          </a:prstGeom>
        </p:spPr>
      </p:pic>
      <p:sp>
        <p:nvSpPr>
          <p:cNvPr id="232" name="Text 30">
            <a:extLst>
              <a:ext uri="{FF2B5EF4-FFF2-40B4-BE49-F238E27FC236}">
                <a16:creationId xmlns:a16="http://schemas.microsoft.com/office/drawing/2014/main" id="{7016CC7E-F53C-7EF2-7562-A6A9689201DD}"/>
              </a:ext>
            </a:extLst>
          </p:cNvPr>
          <p:cNvSpPr txBox="1"/>
          <p:nvPr/>
        </p:nvSpPr>
        <p:spPr>
          <a:xfrm>
            <a:off x="1097115" y="4565557"/>
            <a:ext cx="6110935" cy="347472"/>
          </a:xfrm>
          <a:prstGeom prst="rect">
            <a:avLst/>
          </a:prstGeom>
          <a:noFill/>
          <a:ln/>
        </p:spPr>
        <p:txBody>
          <a:bodyPr wrap="square" lIns="0" tIns="0" rIns="0" bIns="0" rtlCol="0" anchor="ctr"/>
          <a:lstStyle/>
          <a:p>
            <a:pPr marL="0" indent="0">
              <a:buNone/>
            </a:pPr>
            <a:r>
              <a:rPr lang="en-US" sz="1400" dirty="0">
                <a:solidFill>
                  <a:schemeClr val="tx1"/>
                </a:solidFill>
                <a:latin typeface="+mj-lt"/>
              </a:rPr>
              <a:t>Cross-market access through Group business units</a:t>
            </a:r>
            <a:endParaRPr lang="en-US" sz="1400" dirty="0">
              <a:latin typeface="+mj-lt"/>
            </a:endParaRPr>
          </a:p>
        </p:txBody>
      </p:sp>
      <p:pic>
        <p:nvPicPr>
          <p:cNvPr id="234" name="Image 5" descr="preencoded.png">
            <a:extLst>
              <a:ext uri="{FF2B5EF4-FFF2-40B4-BE49-F238E27FC236}">
                <a16:creationId xmlns:a16="http://schemas.microsoft.com/office/drawing/2014/main" id="{F7B3AED6-B600-C3E4-1A84-C6364AE2C2B5}"/>
              </a:ext>
            </a:extLst>
          </p:cNvPr>
          <p:cNvPicPr>
            <a:picLocks noChangeAspect="1"/>
          </p:cNvPicPr>
          <p:nvPr/>
        </p:nvPicPr>
        <p:blipFill>
          <a:blip r:embed="rId9"/>
          <a:stretch>
            <a:fillRect/>
          </a:stretch>
        </p:blipFill>
        <p:spPr>
          <a:xfrm>
            <a:off x="685635" y="5086765"/>
            <a:ext cx="256032" cy="256032"/>
          </a:xfrm>
          <a:prstGeom prst="rect">
            <a:avLst/>
          </a:prstGeom>
        </p:spPr>
      </p:pic>
      <p:sp>
        <p:nvSpPr>
          <p:cNvPr id="236" name="Text 31">
            <a:extLst>
              <a:ext uri="{FF2B5EF4-FFF2-40B4-BE49-F238E27FC236}">
                <a16:creationId xmlns:a16="http://schemas.microsoft.com/office/drawing/2014/main" id="{55CF2AE7-0221-22AD-32EF-33BD786D4701}"/>
              </a:ext>
            </a:extLst>
          </p:cNvPr>
          <p:cNvSpPr txBox="1"/>
          <p:nvPr/>
        </p:nvSpPr>
        <p:spPr>
          <a:xfrm>
            <a:off x="1097116" y="5041045"/>
            <a:ext cx="3877040" cy="475488"/>
          </a:xfrm>
          <a:prstGeom prst="rect">
            <a:avLst/>
          </a:prstGeom>
          <a:noFill/>
          <a:ln/>
        </p:spPr>
        <p:txBody>
          <a:bodyPr wrap="square" lIns="0" tIns="0" rIns="0" bIns="0" rtlCol="0" anchor="ctr"/>
          <a:lstStyle/>
          <a:p>
            <a:pPr marL="0" indent="0">
              <a:buNone/>
            </a:pPr>
            <a:r>
              <a:rPr lang="en-US" sz="1400" dirty="0">
                <a:solidFill>
                  <a:schemeClr val="tx1"/>
                </a:solidFill>
                <a:latin typeface="+mj-lt"/>
              </a:rPr>
              <a:t>Regional sales and integration partners in ME and SE Asia</a:t>
            </a:r>
            <a:endParaRPr lang="en-US" sz="1400" dirty="0">
              <a:latin typeface="+mj-lt"/>
            </a:endParaRPr>
          </a:p>
        </p:txBody>
      </p:sp>
      <p:pic>
        <p:nvPicPr>
          <p:cNvPr id="238" name="Image 6" descr="preencoded.png">
            <a:extLst>
              <a:ext uri="{FF2B5EF4-FFF2-40B4-BE49-F238E27FC236}">
                <a16:creationId xmlns:a16="http://schemas.microsoft.com/office/drawing/2014/main" id="{9380B348-EC1F-B4DA-57BF-FC51CB7E4799}"/>
              </a:ext>
            </a:extLst>
          </p:cNvPr>
          <p:cNvPicPr>
            <a:picLocks noChangeAspect="1"/>
          </p:cNvPicPr>
          <p:nvPr/>
        </p:nvPicPr>
        <p:blipFill>
          <a:blip r:embed="rId5"/>
          <a:stretch>
            <a:fillRect/>
          </a:stretch>
        </p:blipFill>
        <p:spPr>
          <a:xfrm>
            <a:off x="685635" y="5562253"/>
            <a:ext cx="256032" cy="256032"/>
          </a:xfrm>
          <a:prstGeom prst="rect">
            <a:avLst/>
          </a:prstGeom>
        </p:spPr>
      </p:pic>
      <p:sp>
        <p:nvSpPr>
          <p:cNvPr id="240" name="Text 32">
            <a:extLst>
              <a:ext uri="{FF2B5EF4-FFF2-40B4-BE49-F238E27FC236}">
                <a16:creationId xmlns:a16="http://schemas.microsoft.com/office/drawing/2014/main" id="{14E5FA82-71BF-3CFA-B80B-2331C4CD0791}"/>
              </a:ext>
            </a:extLst>
          </p:cNvPr>
          <p:cNvSpPr txBox="1"/>
          <p:nvPr/>
        </p:nvSpPr>
        <p:spPr>
          <a:xfrm>
            <a:off x="1097115" y="5553109"/>
            <a:ext cx="3877041" cy="423326"/>
          </a:xfrm>
          <a:prstGeom prst="rect">
            <a:avLst/>
          </a:prstGeom>
          <a:noFill/>
          <a:ln/>
        </p:spPr>
        <p:txBody>
          <a:bodyPr wrap="square" lIns="0" tIns="0" rIns="0" bIns="0" rtlCol="0" anchor="ctr"/>
          <a:lstStyle/>
          <a:p>
            <a:pPr marL="0" indent="0">
              <a:buNone/>
            </a:pPr>
            <a:r>
              <a:rPr lang="en-US" sz="1400" dirty="0">
                <a:solidFill>
                  <a:schemeClr val="tx1"/>
                </a:solidFill>
                <a:latin typeface="+mj-lt"/>
              </a:rPr>
              <a:t>Built for international deployment: privacy, governance, manual fallback</a:t>
            </a:r>
            <a:endParaRPr lang="en-US" sz="1400" dirty="0">
              <a:latin typeface="+mj-lt"/>
            </a:endParaRPr>
          </a:p>
        </p:txBody>
      </p:sp>
    </p:spTree>
    <p:extLst>
      <p:ext uri="{BB962C8B-B14F-4D97-AF65-F5344CB8AC3E}">
        <p14:creationId xmlns:p14="http://schemas.microsoft.com/office/powerpoint/2010/main" val="326503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0D0DC-1783-36DE-C89C-46C136298443}"/>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A7C174A9-0972-83F2-E778-3070BBA8A47D}"/>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B433510C-C917-9579-8C05-52E3C2A012A5}"/>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20D4CA07-4550-1B89-E462-1A5728932603}"/>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902C3A8C-2FC0-C4C0-8E95-199D40B7C78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6FBE6C5E-F095-3795-353D-64F8F8DC20EB}"/>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50996DBF-8794-AD77-7FDC-DB1A3D73960B}"/>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9</a:t>
            </a:fld>
            <a:r>
              <a:rPr lang="en-US" sz="1200">
                <a:latin typeface="+mj-lt"/>
              </a:rPr>
              <a:t>   | </a:t>
            </a:r>
          </a:p>
        </p:txBody>
      </p:sp>
      <p:sp>
        <p:nvSpPr>
          <p:cNvPr id="11" name="Title 4">
            <a:extLst>
              <a:ext uri="{FF2B5EF4-FFF2-40B4-BE49-F238E27FC236}">
                <a16:creationId xmlns:a16="http://schemas.microsoft.com/office/drawing/2014/main" id="{13A430FA-FAED-2738-D02C-48A150768647}"/>
              </a:ext>
            </a:extLst>
          </p:cNvPr>
          <p:cNvSpPr txBox="1">
            <a:spLocks/>
          </p:cNvSpPr>
          <p:nvPr/>
        </p:nvSpPr>
        <p:spPr>
          <a:xfrm>
            <a:off x="295399" y="862117"/>
            <a:ext cx="12768717" cy="5529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ea typeface="Arial" pitchFamily="34" charset="-122"/>
                <a:cs typeface="Arial" pitchFamily="34" charset="-120"/>
              </a:rPr>
              <a:t>Conclusion and path to market</a:t>
            </a:r>
            <a:endParaRPr lang="en-US" sz="2650" dirty="0">
              <a:solidFill>
                <a:schemeClr val="tx1"/>
              </a:solidFill>
              <a:latin typeface="+mj-lt"/>
            </a:endParaRPr>
          </a:p>
        </p:txBody>
      </p:sp>
      <p:sp>
        <p:nvSpPr>
          <p:cNvPr id="12" name="TextBox 25">
            <a:extLst>
              <a:ext uri="{FF2B5EF4-FFF2-40B4-BE49-F238E27FC236}">
                <a16:creationId xmlns:a16="http://schemas.microsoft.com/office/drawing/2014/main" id="{93BB4CF9-7A35-9B4F-C0D5-36757F0DB687}"/>
              </a:ext>
            </a:extLst>
          </p:cNvPr>
          <p:cNvSpPr txBox="1"/>
          <p:nvPr/>
        </p:nvSpPr>
        <p:spPr>
          <a:xfrm>
            <a:off x="343779" y="563652"/>
            <a:ext cx="1132041"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Conclusion</a:t>
            </a:r>
          </a:p>
        </p:txBody>
      </p:sp>
      <p:sp>
        <p:nvSpPr>
          <p:cNvPr id="35" name="Text 1">
            <a:extLst>
              <a:ext uri="{FF2B5EF4-FFF2-40B4-BE49-F238E27FC236}">
                <a16:creationId xmlns:a16="http://schemas.microsoft.com/office/drawing/2014/main" id="{DA9DB629-E155-6754-60CA-E306266D20A7}"/>
              </a:ext>
            </a:extLst>
          </p:cNvPr>
          <p:cNvSpPr txBox="1">
            <a:spLocks/>
          </p:cNvSpPr>
          <p:nvPr/>
        </p:nvSpPr>
        <p:spPr>
          <a:xfrm>
            <a:off x="450791" y="1414607"/>
            <a:ext cx="10789920" cy="384048"/>
          </a:xfrm>
          <a:prstGeom prst="rect">
            <a:avLst/>
          </a:prstGeom>
          <a:noFill/>
          <a:ln/>
        </p:spPr>
        <p:txBody>
          <a:bodyPr wrap="square" lIns="0" tIns="0" rIns="0" bIns="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tx2"/>
                </a:solidFill>
                <a:latin typeface="+mj-lt"/>
              </a:rPr>
              <a:t>FastPass brings together a clear operational need, a focused market and a differentiated product architecture, with a phased path towards customer deployment.</a:t>
            </a:r>
            <a:endParaRPr lang="en-US" sz="1600" dirty="0">
              <a:latin typeface="+mj-lt"/>
            </a:endParaRPr>
          </a:p>
        </p:txBody>
      </p:sp>
      <p:sp>
        <p:nvSpPr>
          <p:cNvPr id="125" name="Shape 3"/>
          <p:cNvSpPr/>
          <p:nvPr/>
        </p:nvSpPr>
        <p:spPr>
          <a:xfrm>
            <a:off x="548640" y="2103120"/>
            <a:ext cx="475488" cy="475488"/>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pic>
        <p:nvPicPr>
          <p:cNvPr id="126" name="Image 0" descr="preencoded.png"/>
          <p:cNvPicPr>
            <a:picLocks noChangeAspect="1"/>
          </p:cNvPicPr>
          <p:nvPr/>
        </p:nvPicPr>
        <p:blipFill>
          <a:blip r:embed="rId5"/>
          <a:stretch>
            <a:fillRect/>
          </a:stretch>
        </p:blipFill>
        <p:spPr>
          <a:xfrm>
            <a:off x="658002" y="2212482"/>
            <a:ext cx="256764" cy="256764"/>
          </a:xfrm>
          <a:prstGeom prst="rect">
            <a:avLst/>
          </a:prstGeom>
        </p:spPr>
      </p:pic>
      <p:sp>
        <p:nvSpPr>
          <p:cNvPr id="127" name="Text 4"/>
          <p:cNvSpPr txBox="1"/>
          <p:nvPr/>
        </p:nvSpPr>
        <p:spPr>
          <a:xfrm>
            <a:off x="1234440" y="2084832"/>
            <a:ext cx="5760720" cy="310896"/>
          </a:xfrm>
          <a:prstGeom prst="rect">
            <a:avLst/>
          </a:prstGeom>
          <a:noFill/>
          <a:ln/>
        </p:spPr>
        <p:txBody>
          <a:bodyPr wrap="square" lIns="0" tIns="0" rIns="0" bIns="0" rtlCol="0" anchor="ctr"/>
          <a:lstStyle/>
          <a:p>
            <a:r>
              <a:rPr lang="en-US" b="1" dirty="0">
                <a:solidFill>
                  <a:srgbClr val="0B1526"/>
                </a:solidFill>
                <a:latin typeface="+mj-lt"/>
              </a:rPr>
              <a:t>Clear operational need</a:t>
            </a:r>
            <a:endParaRPr lang="en-US" dirty="0">
              <a:solidFill>
                <a:srgbClr val="0B1526"/>
              </a:solidFill>
              <a:latin typeface="+mj-lt"/>
            </a:endParaRPr>
          </a:p>
        </p:txBody>
      </p:sp>
      <p:sp>
        <p:nvSpPr>
          <p:cNvPr id="128" name="Text 5"/>
          <p:cNvSpPr txBox="1"/>
          <p:nvPr/>
        </p:nvSpPr>
        <p:spPr>
          <a:xfrm>
            <a:off x="1234440" y="2404872"/>
            <a:ext cx="5760720" cy="292608"/>
          </a:xfrm>
          <a:prstGeom prst="rect">
            <a:avLst/>
          </a:prstGeom>
          <a:noFill/>
          <a:ln/>
        </p:spPr>
        <p:txBody>
          <a:bodyPr wrap="square" lIns="0" tIns="0" rIns="0" bIns="0" rtlCol="0" anchor="ctr"/>
          <a:lstStyle/>
          <a:p>
            <a:r>
              <a:rPr lang="en-US" sz="1400">
                <a:solidFill>
                  <a:srgbClr val="4A5870"/>
                </a:solidFill>
                <a:latin typeface="+mj-lt"/>
              </a:rPr>
              <a:t>Demand and customer expectations are outgrowing terminals and staffing</a:t>
            </a:r>
            <a:endParaRPr lang="en-US" sz="1400">
              <a:solidFill>
                <a:srgbClr val="0B1526"/>
              </a:solidFill>
              <a:latin typeface="+mj-lt"/>
            </a:endParaRPr>
          </a:p>
        </p:txBody>
      </p:sp>
      <p:sp>
        <p:nvSpPr>
          <p:cNvPr id="129" name="Shape 6"/>
          <p:cNvSpPr/>
          <p:nvPr/>
        </p:nvSpPr>
        <p:spPr>
          <a:xfrm>
            <a:off x="548640" y="2889504"/>
            <a:ext cx="475488" cy="475488"/>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pic>
        <p:nvPicPr>
          <p:cNvPr id="130" name="Image 1" descr="preencoded.png"/>
          <p:cNvPicPr>
            <a:picLocks noChangeAspect="1"/>
          </p:cNvPicPr>
          <p:nvPr/>
        </p:nvPicPr>
        <p:blipFill>
          <a:blip r:embed="rId6"/>
          <a:stretch>
            <a:fillRect/>
          </a:stretch>
        </p:blipFill>
        <p:spPr>
          <a:xfrm>
            <a:off x="658002" y="2998866"/>
            <a:ext cx="256764" cy="256764"/>
          </a:xfrm>
          <a:prstGeom prst="rect">
            <a:avLst/>
          </a:prstGeom>
        </p:spPr>
      </p:pic>
      <p:sp>
        <p:nvSpPr>
          <p:cNvPr id="131" name="Text 7"/>
          <p:cNvSpPr txBox="1"/>
          <p:nvPr/>
        </p:nvSpPr>
        <p:spPr>
          <a:xfrm>
            <a:off x="1234440" y="2871216"/>
            <a:ext cx="5760720" cy="310896"/>
          </a:xfrm>
          <a:prstGeom prst="rect">
            <a:avLst/>
          </a:prstGeom>
          <a:noFill/>
          <a:ln/>
        </p:spPr>
        <p:txBody>
          <a:bodyPr wrap="square" lIns="0" tIns="0" rIns="0" bIns="0" rtlCol="0" anchor="ctr"/>
          <a:lstStyle/>
          <a:p>
            <a:r>
              <a:rPr lang="en-US" b="1" dirty="0">
                <a:solidFill>
                  <a:srgbClr val="0B1526"/>
                </a:solidFill>
                <a:latin typeface="+mj-lt"/>
              </a:rPr>
              <a:t>Focused market opportunity</a:t>
            </a:r>
          </a:p>
        </p:txBody>
      </p:sp>
      <p:sp>
        <p:nvSpPr>
          <p:cNvPr id="132" name="Text 8"/>
          <p:cNvSpPr txBox="1"/>
          <p:nvPr/>
        </p:nvSpPr>
        <p:spPr>
          <a:xfrm>
            <a:off x="1234440" y="3191256"/>
            <a:ext cx="5760720" cy="292608"/>
          </a:xfrm>
          <a:prstGeom prst="rect">
            <a:avLst/>
          </a:prstGeom>
          <a:noFill/>
          <a:ln/>
        </p:spPr>
        <p:txBody>
          <a:bodyPr wrap="square" lIns="0" tIns="0" rIns="0" bIns="0" rtlCol="0" anchor="ctr"/>
          <a:lstStyle/>
          <a:p>
            <a:r>
              <a:rPr lang="en-US" sz="1400" dirty="0">
                <a:solidFill>
                  <a:srgbClr val="4A5870"/>
                </a:solidFill>
                <a:latin typeface="+mj-lt"/>
              </a:rPr>
              <a:t>US$100–140M a year in ME and SE Asia</a:t>
            </a:r>
            <a:endParaRPr lang="en-US" sz="1400" dirty="0">
              <a:solidFill>
                <a:srgbClr val="0B1526"/>
              </a:solidFill>
              <a:latin typeface="+mj-lt"/>
            </a:endParaRPr>
          </a:p>
        </p:txBody>
      </p:sp>
      <p:sp>
        <p:nvSpPr>
          <p:cNvPr id="133" name="Shape 9"/>
          <p:cNvSpPr/>
          <p:nvPr/>
        </p:nvSpPr>
        <p:spPr>
          <a:xfrm>
            <a:off x="548640" y="3675888"/>
            <a:ext cx="475488" cy="475488"/>
          </a:xfrm>
          <a:prstGeom prst="ellipse">
            <a:avLst/>
          </a:prstGeom>
          <a:solidFill>
            <a:srgbClr val="1E9E50">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pic>
        <p:nvPicPr>
          <p:cNvPr id="134" name="Image 2" descr="preencoded.png"/>
          <p:cNvPicPr>
            <a:picLocks noChangeAspect="1"/>
          </p:cNvPicPr>
          <p:nvPr/>
        </p:nvPicPr>
        <p:blipFill>
          <a:blip r:embed="rId7"/>
          <a:stretch>
            <a:fillRect/>
          </a:stretch>
        </p:blipFill>
        <p:spPr>
          <a:xfrm>
            <a:off x="658002" y="3785250"/>
            <a:ext cx="256764" cy="256764"/>
          </a:xfrm>
          <a:prstGeom prst="rect">
            <a:avLst/>
          </a:prstGeom>
        </p:spPr>
      </p:pic>
      <p:sp>
        <p:nvSpPr>
          <p:cNvPr id="135" name="Text 10"/>
          <p:cNvSpPr txBox="1"/>
          <p:nvPr/>
        </p:nvSpPr>
        <p:spPr>
          <a:xfrm>
            <a:off x="1234440" y="3657600"/>
            <a:ext cx="5760720" cy="310896"/>
          </a:xfrm>
          <a:prstGeom prst="rect">
            <a:avLst/>
          </a:prstGeom>
          <a:noFill/>
          <a:ln/>
        </p:spPr>
        <p:txBody>
          <a:bodyPr wrap="square" lIns="0" tIns="0" rIns="0" bIns="0" rtlCol="0" anchor="ctr"/>
          <a:lstStyle/>
          <a:p>
            <a:r>
              <a:rPr lang="en-US" b="1" dirty="0">
                <a:solidFill>
                  <a:srgbClr val="0B1526"/>
                </a:solidFill>
                <a:latin typeface="+mj-lt"/>
              </a:rPr>
              <a:t>Working product foundation</a:t>
            </a:r>
          </a:p>
        </p:txBody>
      </p:sp>
      <p:sp>
        <p:nvSpPr>
          <p:cNvPr id="136" name="Text 11"/>
          <p:cNvSpPr txBox="1"/>
          <p:nvPr/>
        </p:nvSpPr>
        <p:spPr>
          <a:xfrm>
            <a:off x="1234440" y="3977640"/>
            <a:ext cx="5760720" cy="292608"/>
          </a:xfrm>
          <a:prstGeom prst="rect">
            <a:avLst/>
          </a:prstGeom>
          <a:noFill/>
          <a:ln/>
        </p:spPr>
        <p:txBody>
          <a:bodyPr wrap="square" lIns="0" tIns="0" rIns="0" bIns="0" rtlCol="0" anchor="ctr"/>
          <a:lstStyle/>
          <a:p>
            <a:r>
              <a:rPr lang="en-US" sz="1400" dirty="0">
                <a:solidFill>
                  <a:srgbClr val="4A5870"/>
                </a:solidFill>
                <a:latin typeface="+mj-lt"/>
              </a:rPr>
              <a:t>Integrated prototype, Singapore Airshow 2026</a:t>
            </a:r>
            <a:endParaRPr lang="en-US" sz="1400" dirty="0">
              <a:solidFill>
                <a:srgbClr val="0B1526"/>
              </a:solidFill>
              <a:latin typeface="+mj-lt"/>
            </a:endParaRPr>
          </a:p>
        </p:txBody>
      </p:sp>
      <p:sp>
        <p:nvSpPr>
          <p:cNvPr id="137" name="Shape 12"/>
          <p:cNvSpPr/>
          <p:nvPr/>
        </p:nvSpPr>
        <p:spPr>
          <a:xfrm>
            <a:off x="548640" y="4462272"/>
            <a:ext cx="475488" cy="475488"/>
          </a:xfrm>
          <a:prstGeom prst="ellipse">
            <a:avLst/>
          </a:prstGeom>
          <a:solidFill>
            <a:srgbClr val="0B84AE">
              <a:alpha val="12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pic>
        <p:nvPicPr>
          <p:cNvPr id="138" name="Image 3" descr="preencoded.png"/>
          <p:cNvPicPr>
            <a:picLocks noChangeAspect="1"/>
          </p:cNvPicPr>
          <p:nvPr/>
        </p:nvPicPr>
        <p:blipFill>
          <a:blip r:embed="rId8"/>
          <a:stretch>
            <a:fillRect/>
          </a:stretch>
        </p:blipFill>
        <p:spPr>
          <a:xfrm>
            <a:off x="658002" y="4571634"/>
            <a:ext cx="256764" cy="256764"/>
          </a:xfrm>
          <a:prstGeom prst="rect">
            <a:avLst/>
          </a:prstGeom>
        </p:spPr>
      </p:pic>
      <p:sp>
        <p:nvSpPr>
          <p:cNvPr id="139" name="Text 13"/>
          <p:cNvSpPr txBox="1"/>
          <p:nvPr/>
        </p:nvSpPr>
        <p:spPr>
          <a:xfrm>
            <a:off x="1234440" y="4443984"/>
            <a:ext cx="5760720" cy="310896"/>
          </a:xfrm>
          <a:prstGeom prst="rect">
            <a:avLst/>
          </a:prstGeom>
          <a:noFill/>
          <a:ln/>
        </p:spPr>
        <p:txBody>
          <a:bodyPr wrap="square" lIns="0" tIns="0" rIns="0" bIns="0" rtlCol="0" anchor="ctr"/>
          <a:lstStyle/>
          <a:p>
            <a:r>
              <a:rPr lang="en-US" b="1" dirty="0">
                <a:solidFill>
                  <a:srgbClr val="0B1526"/>
                </a:solidFill>
                <a:latin typeface="+mj-lt"/>
              </a:rPr>
              <a:t>Defensible differentiation</a:t>
            </a:r>
          </a:p>
        </p:txBody>
      </p:sp>
      <p:sp>
        <p:nvSpPr>
          <p:cNvPr id="140" name="Text 14"/>
          <p:cNvSpPr txBox="1"/>
          <p:nvPr/>
        </p:nvSpPr>
        <p:spPr>
          <a:xfrm>
            <a:off x="1234440" y="4764024"/>
            <a:ext cx="5760720" cy="292608"/>
          </a:xfrm>
          <a:prstGeom prst="rect">
            <a:avLst/>
          </a:prstGeom>
          <a:noFill/>
          <a:ln/>
        </p:spPr>
        <p:txBody>
          <a:bodyPr wrap="square" lIns="0" tIns="0" rIns="0" bIns="0" rtlCol="0" anchor="ctr"/>
          <a:lstStyle/>
          <a:p>
            <a:r>
              <a:rPr lang="en-US" sz="1400" dirty="0">
                <a:solidFill>
                  <a:srgbClr val="4A5870"/>
                </a:solidFill>
                <a:latin typeface="+mj-lt"/>
              </a:rPr>
              <a:t>Two-factor credential, converged security ops</a:t>
            </a:r>
            <a:endParaRPr lang="en-US" sz="1400" dirty="0">
              <a:solidFill>
                <a:srgbClr val="0B1526"/>
              </a:solidFill>
              <a:latin typeface="+mj-lt"/>
            </a:endParaRPr>
          </a:p>
        </p:txBody>
      </p:sp>
      <p:sp>
        <p:nvSpPr>
          <p:cNvPr id="141" name="Shape 15"/>
          <p:cNvSpPr/>
          <p:nvPr/>
        </p:nvSpPr>
        <p:spPr>
          <a:xfrm>
            <a:off x="7178040" y="2029968"/>
            <a:ext cx="4465015" cy="3154680"/>
          </a:xfrm>
          <a:prstGeom prst="roundRect">
            <a:avLst>
              <a:gd name="adj" fmla="val 4058"/>
            </a:avLst>
          </a:prstGeom>
          <a:solidFill>
            <a:srgbClr val="FFFFFF"/>
          </a:solidFill>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142" name="Text 16"/>
          <p:cNvSpPr txBox="1"/>
          <p:nvPr/>
        </p:nvSpPr>
        <p:spPr>
          <a:xfrm>
            <a:off x="7498080" y="2157984"/>
            <a:ext cx="3824935" cy="329184"/>
          </a:xfrm>
          <a:prstGeom prst="rect">
            <a:avLst/>
          </a:prstGeom>
          <a:noFill/>
          <a:ln/>
        </p:spPr>
        <p:txBody>
          <a:bodyPr wrap="square" lIns="0" tIns="0" rIns="0" bIns="0" rtlCol="0" anchor="ctr"/>
          <a:lstStyle/>
          <a:p>
            <a:r>
              <a:rPr lang="en-US" sz="1700" b="1" dirty="0">
                <a:solidFill>
                  <a:srgbClr val="0B1526"/>
                </a:solidFill>
                <a:latin typeface="+mj-lt"/>
              </a:rPr>
              <a:t>Path to market</a:t>
            </a:r>
            <a:endParaRPr lang="en-US" sz="1700" dirty="0">
              <a:solidFill>
                <a:srgbClr val="0B1526"/>
              </a:solidFill>
              <a:latin typeface="+mj-lt"/>
            </a:endParaRPr>
          </a:p>
        </p:txBody>
      </p:sp>
      <p:sp>
        <p:nvSpPr>
          <p:cNvPr id="143" name="Shape 17"/>
          <p:cNvSpPr/>
          <p:nvPr/>
        </p:nvSpPr>
        <p:spPr>
          <a:xfrm>
            <a:off x="7598664" y="2697480"/>
            <a:ext cx="0" cy="2011680"/>
          </a:xfrm>
          <a:prstGeom prst="line">
            <a:avLst/>
          </a:prstGeom>
          <a:noFill/>
          <a:ln w="19050">
            <a:solidFill>
              <a:srgbClr val="E1E6ED"/>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144" name="Shape 18"/>
          <p:cNvSpPr/>
          <p:nvPr/>
        </p:nvSpPr>
        <p:spPr>
          <a:xfrm>
            <a:off x="7507224" y="2651760"/>
            <a:ext cx="182880" cy="182880"/>
          </a:xfrm>
          <a:prstGeom prst="ellipse">
            <a:avLst/>
          </a:prstGeom>
          <a:solidFill>
            <a:srgbClr val="1E9E50"/>
          </a:solidFill>
          <a:ln w="15875">
            <a:solidFill>
              <a:srgbClr val="1E9E50"/>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145" name="Text 19"/>
          <p:cNvSpPr txBox="1"/>
          <p:nvPr/>
        </p:nvSpPr>
        <p:spPr>
          <a:xfrm>
            <a:off x="7891272" y="2606040"/>
            <a:ext cx="3550615" cy="219456"/>
          </a:xfrm>
          <a:prstGeom prst="rect">
            <a:avLst/>
          </a:prstGeom>
          <a:noFill/>
          <a:ln/>
        </p:spPr>
        <p:txBody>
          <a:bodyPr wrap="square" lIns="0" tIns="0" rIns="0" bIns="0" rtlCol="0" anchor="ctr"/>
          <a:lstStyle/>
          <a:p>
            <a:r>
              <a:rPr lang="en-US" sz="1100" b="1" kern="0" spc="150" dirty="0">
                <a:solidFill>
                  <a:srgbClr val="1E9E50"/>
                </a:solidFill>
                <a:latin typeface="+mj-lt"/>
              </a:rPr>
              <a:t>FEB 2026</a:t>
            </a:r>
            <a:endParaRPr lang="en-US" sz="1100" dirty="0">
              <a:solidFill>
                <a:srgbClr val="0B1526"/>
              </a:solidFill>
              <a:latin typeface="+mj-lt"/>
            </a:endParaRPr>
          </a:p>
        </p:txBody>
      </p:sp>
      <p:sp>
        <p:nvSpPr>
          <p:cNvPr id="146" name="Text 20"/>
          <p:cNvSpPr txBox="1"/>
          <p:nvPr/>
        </p:nvSpPr>
        <p:spPr>
          <a:xfrm>
            <a:off x="7891272" y="2834640"/>
            <a:ext cx="3550615" cy="274320"/>
          </a:xfrm>
          <a:prstGeom prst="rect">
            <a:avLst/>
          </a:prstGeom>
          <a:noFill/>
          <a:ln/>
        </p:spPr>
        <p:txBody>
          <a:bodyPr wrap="square" lIns="0" tIns="0" rIns="0" bIns="0" rtlCol="0" anchor="ctr"/>
          <a:lstStyle/>
          <a:p>
            <a:r>
              <a:rPr lang="en-US" sz="1300" dirty="0">
                <a:solidFill>
                  <a:srgbClr val="0B1526"/>
                </a:solidFill>
                <a:latin typeface="+mj-lt"/>
              </a:rPr>
              <a:t>Prototype live at Singapore Airshow</a:t>
            </a:r>
          </a:p>
        </p:txBody>
      </p:sp>
      <p:sp>
        <p:nvSpPr>
          <p:cNvPr id="147" name="Shape 21"/>
          <p:cNvSpPr/>
          <p:nvPr/>
        </p:nvSpPr>
        <p:spPr>
          <a:xfrm>
            <a:off x="7507224" y="3154680"/>
            <a:ext cx="182880" cy="182880"/>
          </a:xfrm>
          <a:prstGeom prst="ellipse">
            <a:avLst/>
          </a:prstGeom>
          <a:solidFill>
            <a:srgbClr val="0B84AE"/>
          </a:solidFill>
          <a:ln w="15875">
            <a:solidFill>
              <a:srgbClr val="0B84A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dirty="0">
              <a:ln>
                <a:noFill/>
              </a:ln>
              <a:solidFill>
                <a:srgbClr val="0B1526"/>
              </a:solidFill>
              <a:effectLst/>
              <a:uLnTx/>
              <a:uFillTx/>
              <a:latin typeface="+mj-lt"/>
            </a:endParaRPr>
          </a:p>
        </p:txBody>
      </p:sp>
      <p:sp>
        <p:nvSpPr>
          <p:cNvPr id="148" name="Text 22"/>
          <p:cNvSpPr txBox="1"/>
          <p:nvPr/>
        </p:nvSpPr>
        <p:spPr>
          <a:xfrm>
            <a:off x="7891272" y="3108960"/>
            <a:ext cx="3550615" cy="219456"/>
          </a:xfrm>
          <a:prstGeom prst="rect">
            <a:avLst/>
          </a:prstGeom>
          <a:noFill/>
          <a:ln/>
        </p:spPr>
        <p:txBody>
          <a:bodyPr wrap="square" lIns="0" tIns="0" rIns="0" bIns="0" rtlCol="0" anchor="ctr"/>
          <a:lstStyle/>
          <a:p>
            <a:r>
              <a:rPr lang="en-US" sz="1100" b="1" kern="0" spc="150" dirty="0">
                <a:solidFill>
                  <a:srgbClr val="0B84AE"/>
                </a:solidFill>
                <a:latin typeface="+mj-lt"/>
              </a:rPr>
              <a:t>OCT 2026</a:t>
            </a:r>
            <a:endParaRPr lang="en-US" sz="1100" dirty="0">
              <a:solidFill>
                <a:srgbClr val="0B1526"/>
              </a:solidFill>
              <a:latin typeface="+mj-lt"/>
            </a:endParaRPr>
          </a:p>
        </p:txBody>
      </p:sp>
      <p:sp>
        <p:nvSpPr>
          <p:cNvPr id="149" name="Text 23"/>
          <p:cNvSpPr txBox="1"/>
          <p:nvPr/>
        </p:nvSpPr>
        <p:spPr>
          <a:xfrm>
            <a:off x="7891272" y="3337560"/>
            <a:ext cx="3550615" cy="274320"/>
          </a:xfrm>
          <a:prstGeom prst="rect">
            <a:avLst/>
          </a:prstGeom>
          <a:noFill/>
          <a:ln/>
        </p:spPr>
        <p:txBody>
          <a:bodyPr wrap="square" lIns="0" tIns="0" rIns="0" bIns="0" rtlCol="0" anchor="ctr"/>
          <a:lstStyle/>
          <a:p>
            <a:r>
              <a:rPr lang="en-US" sz="1300" dirty="0">
                <a:solidFill>
                  <a:srgbClr val="0B1526"/>
                </a:solidFill>
                <a:latin typeface="+mj-lt"/>
              </a:rPr>
              <a:t>InnoChamp 2026</a:t>
            </a:r>
          </a:p>
        </p:txBody>
      </p:sp>
      <p:sp>
        <p:nvSpPr>
          <p:cNvPr id="150" name="Shape 24"/>
          <p:cNvSpPr/>
          <p:nvPr/>
        </p:nvSpPr>
        <p:spPr>
          <a:xfrm>
            <a:off x="7507224" y="3657600"/>
            <a:ext cx="182880" cy="182880"/>
          </a:xfrm>
          <a:prstGeom prst="ellipse">
            <a:avLst/>
          </a:prstGeom>
          <a:solidFill>
            <a:srgbClr val="FFFFFF"/>
          </a:solidFill>
          <a:ln w="15875">
            <a:solidFill>
              <a:srgbClr val="0B84A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151" name="Text 25"/>
          <p:cNvSpPr txBox="1"/>
          <p:nvPr/>
        </p:nvSpPr>
        <p:spPr>
          <a:xfrm>
            <a:off x="7891272" y="3611880"/>
            <a:ext cx="3550615" cy="219456"/>
          </a:xfrm>
          <a:prstGeom prst="rect">
            <a:avLst/>
          </a:prstGeom>
          <a:noFill/>
          <a:ln/>
        </p:spPr>
        <p:txBody>
          <a:bodyPr wrap="square" lIns="0" tIns="0" rIns="0" bIns="0" rtlCol="0" anchor="ctr"/>
          <a:lstStyle/>
          <a:p>
            <a:r>
              <a:rPr lang="en-US" sz="1100" b="1" kern="0" spc="150" dirty="0">
                <a:solidFill>
                  <a:srgbClr val="0B84AE"/>
                </a:solidFill>
                <a:latin typeface="+mj-lt"/>
              </a:rPr>
              <a:t>Q4 2026</a:t>
            </a:r>
            <a:endParaRPr lang="en-US" sz="1100" dirty="0">
              <a:solidFill>
                <a:srgbClr val="0B1526"/>
              </a:solidFill>
              <a:latin typeface="+mj-lt"/>
            </a:endParaRPr>
          </a:p>
        </p:txBody>
      </p:sp>
      <p:sp>
        <p:nvSpPr>
          <p:cNvPr id="152" name="Text 26"/>
          <p:cNvSpPr txBox="1"/>
          <p:nvPr/>
        </p:nvSpPr>
        <p:spPr>
          <a:xfrm>
            <a:off x="7891272" y="3840480"/>
            <a:ext cx="3550615" cy="274320"/>
          </a:xfrm>
          <a:prstGeom prst="rect">
            <a:avLst/>
          </a:prstGeom>
          <a:noFill/>
          <a:ln/>
        </p:spPr>
        <p:txBody>
          <a:bodyPr wrap="square" lIns="0" tIns="0" rIns="0" bIns="0" rtlCol="0" anchor="ctr"/>
          <a:lstStyle/>
          <a:p>
            <a:r>
              <a:rPr lang="en-US" sz="1300" dirty="0">
                <a:solidFill>
                  <a:srgbClr val="0B1526"/>
                </a:solidFill>
                <a:latin typeface="+mj-lt"/>
              </a:rPr>
              <a:t>Live demo with airport stakeholders</a:t>
            </a:r>
          </a:p>
        </p:txBody>
      </p:sp>
      <p:sp>
        <p:nvSpPr>
          <p:cNvPr id="153" name="Shape 27"/>
          <p:cNvSpPr/>
          <p:nvPr/>
        </p:nvSpPr>
        <p:spPr>
          <a:xfrm>
            <a:off x="7507224" y="4160520"/>
            <a:ext cx="182880" cy="182880"/>
          </a:xfrm>
          <a:prstGeom prst="ellipse">
            <a:avLst/>
          </a:prstGeom>
          <a:solidFill>
            <a:srgbClr val="FFFFFF"/>
          </a:solidFill>
          <a:ln w="15875">
            <a:solidFill>
              <a:srgbClr val="0B84A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154" name="Text 28"/>
          <p:cNvSpPr txBox="1"/>
          <p:nvPr/>
        </p:nvSpPr>
        <p:spPr>
          <a:xfrm>
            <a:off x="7891272" y="4114800"/>
            <a:ext cx="3550615" cy="219456"/>
          </a:xfrm>
          <a:prstGeom prst="rect">
            <a:avLst/>
          </a:prstGeom>
          <a:noFill/>
          <a:ln/>
        </p:spPr>
        <p:txBody>
          <a:bodyPr wrap="square" lIns="0" tIns="0" rIns="0" bIns="0" rtlCol="0" anchor="ctr"/>
          <a:lstStyle/>
          <a:p>
            <a:r>
              <a:rPr lang="en-US" sz="1100" b="1" kern="0" spc="150" dirty="0">
                <a:solidFill>
                  <a:srgbClr val="0B84AE"/>
                </a:solidFill>
                <a:latin typeface="+mj-lt"/>
              </a:rPr>
              <a:t>APR 2027</a:t>
            </a:r>
            <a:endParaRPr lang="en-US" sz="1100" dirty="0">
              <a:solidFill>
                <a:srgbClr val="0B1526"/>
              </a:solidFill>
              <a:latin typeface="+mj-lt"/>
            </a:endParaRPr>
          </a:p>
        </p:txBody>
      </p:sp>
      <p:sp>
        <p:nvSpPr>
          <p:cNvPr id="155" name="Text 29"/>
          <p:cNvSpPr txBox="1"/>
          <p:nvPr/>
        </p:nvSpPr>
        <p:spPr>
          <a:xfrm>
            <a:off x="7891272" y="4343400"/>
            <a:ext cx="3550615" cy="274320"/>
          </a:xfrm>
          <a:prstGeom prst="rect">
            <a:avLst/>
          </a:prstGeom>
          <a:noFill/>
          <a:ln/>
        </p:spPr>
        <p:txBody>
          <a:bodyPr wrap="square" lIns="0" tIns="0" rIns="0" bIns="0" rtlCol="0" anchor="ctr"/>
          <a:lstStyle/>
          <a:p>
            <a:r>
              <a:rPr lang="en-US" sz="1300" dirty="0">
                <a:solidFill>
                  <a:srgbClr val="0B1526"/>
                </a:solidFill>
                <a:latin typeface="+mj-lt"/>
              </a:rPr>
              <a:t>Passenger Terminal World, Amsterdam</a:t>
            </a:r>
          </a:p>
        </p:txBody>
      </p:sp>
      <p:sp>
        <p:nvSpPr>
          <p:cNvPr id="156" name="Shape 30"/>
          <p:cNvSpPr/>
          <p:nvPr/>
        </p:nvSpPr>
        <p:spPr>
          <a:xfrm>
            <a:off x="7507224" y="4663440"/>
            <a:ext cx="182880" cy="182880"/>
          </a:xfrm>
          <a:prstGeom prst="ellipse">
            <a:avLst/>
          </a:prstGeom>
          <a:solidFill>
            <a:srgbClr val="FFFFFF"/>
          </a:solidFill>
          <a:ln w="15875">
            <a:solidFill>
              <a:srgbClr val="0B84A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157" name="Text 31"/>
          <p:cNvSpPr txBox="1"/>
          <p:nvPr/>
        </p:nvSpPr>
        <p:spPr>
          <a:xfrm>
            <a:off x="7891272" y="4617720"/>
            <a:ext cx="3550615" cy="219456"/>
          </a:xfrm>
          <a:prstGeom prst="rect">
            <a:avLst/>
          </a:prstGeom>
          <a:noFill/>
          <a:ln/>
        </p:spPr>
        <p:txBody>
          <a:bodyPr wrap="square" lIns="0" tIns="0" rIns="0" bIns="0" rtlCol="0" anchor="ctr"/>
          <a:lstStyle/>
          <a:p>
            <a:r>
              <a:rPr lang="en-US" sz="1100" b="1" kern="0" spc="150" dirty="0">
                <a:solidFill>
                  <a:srgbClr val="0B84AE"/>
                </a:solidFill>
                <a:latin typeface="+mj-lt"/>
              </a:rPr>
              <a:t>2027</a:t>
            </a:r>
            <a:endParaRPr lang="en-US" sz="1100" dirty="0">
              <a:solidFill>
                <a:srgbClr val="0B1526"/>
              </a:solidFill>
              <a:latin typeface="+mj-lt"/>
            </a:endParaRPr>
          </a:p>
        </p:txBody>
      </p:sp>
      <p:sp>
        <p:nvSpPr>
          <p:cNvPr id="158" name="Text 32"/>
          <p:cNvSpPr txBox="1"/>
          <p:nvPr/>
        </p:nvSpPr>
        <p:spPr>
          <a:xfrm>
            <a:off x="7891272" y="4846320"/>
            <a:ext cx="3550615" cy="274320"/>
          </a:xfrm>
          <a:prstGeom prst="rect">
            <a:avLst/>
          </a:prstGeom>
          <a:noFill/>
          <a:ln/>
        </p:spPr>
        <p:txBody>
          <a:bodyPr wrap="square" lIns="0" tIns="0" rIns="0" bIns="0" rtlCol="0" anchor="ctr"/>
          <a:lstStyle/>
          <a:p>
            <a:r>
              <a:rPr lang="en-US" sz="1300" dirty="0">
                <a:solidFill>
                  <a:srgbClr val="0B1526"/>
                </a:solidFill>
                <a:latin typeface="+mj-lt"/>
              </a:rPr>
              <a:t>First customer pilot (target)</a:t>
            </a:r>
          </a:p>
        </p:txBody>
      </p:sp>
      <p:sp>
        <p:nvSpPr>
          <p:cNvPr id="159" name="Shape 33"/>
          <p:cNvSpPr/>
          <p:nvPr/>
        </p:nvSpPr>
        <p:spPr>
          <a:xfrm>
            <a:off x="548640" y="5394960"/>
            <a:ext cx="11094415" cy="658368"/>
          </a:xfrm>
          <a:prstGeom prst="roundRect">
            <a:avLst>
              <a:gd name="adj" fmla="val 19444"/>
            </a:avLst>
          </a:prstGeom>
          <a:solidFill>
            <a:srgbClr val="0B2545"/>
          </a:solidFill>
          <a:ln/>
          <a:effectLst>
            <a:outerShdw blurRad="203200" dist="38100" dir="5400000" algn="bl" rotWithShape="0">
              <a:srgbClr val="0A1628">
                <a:alpha val="9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B1526"/>
              </a:solidFill>
              <a:effectLst/>
              <a:uLnTx/>
              <a:uFillTx/>
              <a:latin typeface="+mj-lt"/>
            </a:endParaRPr>
          </a:p>
        </p:txBody>
      </p:sp>
      <p:sp>
        <p:nvSpPr>
          <p:cNvPr id="160" name="Text 34"/>
          <p:cNvSpPr txBox="1"/>
          <p:nvPr/>
        </p:nvSpPr>
        <p:spPr>
          <a:xfrm>
            <a:off x="748104" y="5605272"/>
            <a:ext cx="1362456" cy="256032"/>
          </a:xfrm>
          <a:prstGeom prst="rect">
            <a:avLst/>
          </a:prstGeom>
          <a:noFill/>
          <a:ln/>
        </p:spPr>
        <p:txBody>
          <a:bodyPr wrap="square" lIns="0" tIns="0" rIns="0" bIns="0" rtlCol="0" anchor="ctr"/>
          <a:lstStyle/>
          <a:p>
            <a:r>
              <a:rPr lang="en-US" sz="1100" b="1" kern="0" spc="200" dirty="0">
                <a:solidFill>
                  <a:srgbClr val="E1E6ED"/>
                </a:solidFill>
                <a:latin typeface="+mj-lt"/>
              </a:rPr>
              <a:t>OUR ASK</a:t>
            </a:r>
            <a:endParaRPr lang="en-US" sz="1100" dirty="0">
              <a:solidFill>
                <a:srgbClr val="0B1526"/>
              </a:solidFill>
              <a:latin typeface="+mj-lt"/>
            </a:endParaRPr>
          </a:p>
        </p:txBody>
      </p:sp>
      <p:pic>
        <p:nvPicPr>
          <p:cNvPr id="161" name="Image 4" descr="preencoded.png"/>
          <p:cNvPicPr>
            <a:picLocks noChangeAspect="1"/>
          </p:cNvPicPr>
          <p:nvPr/>
        </p:nvPicPr>
        <p:blipFill>
          <a:blip r:embed="rId9"/>
          <a:stretch>
            <a:fillRect/>
          </a:stretch>
        </p:blipFill>
        <p:spPr>
          <a:xfrm>
            <a:off x="2103120" y="5586984"/>
            <a:ext cx="274320" cy="274320"/>
          </a:xfrm>
          <a:prstGeom prst="rect">
            <a:avLst/>
          </a:prstGeom>
        </p:spPr>
      </p:pic>
      <p:sp>
        <p:nvSpPr>
          <p:cNvPr id="162" name="Text 35"/>
          <p:cNvSpPr txBox="1"/>
          <p:nvPr/>
        </p:nvSpPr>
        <p:spPr>
          <a:xfrm>
            <a:off x="2487168" y="5394960"/>
            <a:ext cx="2926080" cy="658368"/>
          </a:xfrm>
          <a:prstGeom prst="rect">
            <a:avLst/>
          </a:prstGeom>
          <a:noFill/>
          <a:ln/>
        </p:spPr>
        <p:txBody>
          <a:bodyPr wrap="square" lIns="0" tIns="0" rIns="0" bIns="0" rtlCol="0" anchor="ctr"/>
          <a:lstStyle/>
          <a:p>
            <a:r>
              <a:rPr lang="en-US" sz="1400" b="1" dirty="0">
                <a:solidFill>
                  <a:srgbClr val="FFFFFF"/>
                </a:solidFill>
                <a:latin typeface="+mj-lt"/>
              </a:rPr>
              <a:t>Productisation funding</a:t>
            </a:r>
            <a:endParaRPr lang="en-US" sz="1400" dirty="0">
              <a:solidFill>
                <a:srgbClr val="0B1526"/>
              </a:solidFill>
              <a:latin typeface="+mj-lt"/>
            </a:endParaRPr>
          </a:p>
        </p:txBody>
      </p:sp>
      <p:pic>
        <p:nvPicPr>
          <p:cNvPr id="163" name="Image 5" descr="preencoded.png"/>
          <p:cNvPicPr>
            <a:picLocks noChangeAspect="1"/>
          </p:cNvPicPr>
          <p:nvPr/>
        </p:nvPicPr>
        <p:blipFill>
          <a:blip r:embed="rId10"/>
          <a:stretch>
            <a:fillRect/>
          </a:stretch>
        </p:blipFill>
        <p:spPr>
          <a:xfrm>
            <a:off x="4846320" y="5586984"/>
            <a:ext cx="274320" cy="274320"/>
          </a:xfrm>
          <a:prstGeom prst="rect">
            <a:avLst/>
          </a:prstGeom>
        </p:spPr>
      </p:pic>
      <p:sp>
        <p:nvSpPr>
          <p:cNvPr id="164" name="Text 36"/>
          <p:cNvSpPr txBox="1"/>
          <p:nvPr/>
        </p:nvSpPr>
        <p:spPr>
          <a:xfrm>
            <a:off x="5230368" y="5394960"/>
            <a:ext cx="2926080" cy="658368"/>
          </a:xfrm>
          <a:prstGeom prst="rect">
            <a:avLst/>
          </a:prstGeom>
          <a:noFill/>
          <a:ln/>
        </p:spPr>
        <p:txBody>
          <a:bodyPr wrap="square" lIns="0" tIns="0" rIns="0" bIns="0" rtlCol="0" anchor="ctr"/>
          <a:lstStyle/>
          <a:p>
            <a:r>
              <a:rPr lang="en-US" sz="1400" b="1" dirty="0">
                <a:solidFill>
                  <a:srgbClr val="FFFFFF"/>
                </a:solidFill>
                <a:latin typeface="+mj-lt"/>
              </a:rPr>
              <a:t>Launch customer via Group Sales</a:t>
            </a:r>
            <a:endParaRPr lang="en-US" sz="1400" dirty="0">
              <a:solidFill>
                <a:srgbClr val="0B1526"/>
              </a:solidFill>
              <a:latin typeface="+mj-lt"/>
            </a:endParaRPr>
          </a:p>
        </p:txBody>
      </p:sp>
      <p:pic>
        <p:nvPicPr>
          <p:cNvPr id="165" name="Image 6" descr="preencoded.png"/>
          <p:cNvPicPr>
            <a:picLocks noChangeAspect="1"/>
          </p:cNvPicPr>
          <p:nvPr/>
        </p:nvPicPr>
        <p:blipFill>
          <a:blip r:embed="rId11"/>
          <a:stretch>
            <a:fillRect/>
          </a:stretch>
        </p:blipFill>
        <p:spPr>
          <a:xfrm>
            <a:off x="8412480" y="5586984"/>
            <a:ext cx="274320" cy="274320"/>
          </a:xfrm>
          <a:prstGeom prst="rect">
            <a:avLst/>
          </a:prstGeom>
        </p:spPr>
      </p:pic>
      <p:sp>
        <p:nvSpPr>
          <p:cNvPr id="166" name="Text 37"/>
          <p:cNvSpPr txBox="1"/>
          <p:nvPr/>
        </p:nvSpPr>
        <p:spPr>
          <a:xfrm>
            <a:off x="8796528" y="5394960"/>
            <a:ext cx="2663647" cy="658368"/>
          </a:xfrm>
          <a:prstGeom prst="rect">
            <a:avLst/>
          </a:prstGeom>
          <a:noFill/>
          <a:ln/>
        </p:spPr>
        <p:txBody>
          <a:bodyPr wrap="square" lIns="0" tIns="0" rIns="0" bIns="0" rtlCol="0" anchor="ctr"/>
          <a:lstStyle/>
          <a:p>
            <a:r>
              <a:rPr lang="en-US" sz="1400" b="1" dirty="0">
                <a:solidFill>
                  <a:srgbClr val="FFFFFF"/>
                </a:solidFill>
                <a:latin typeface="+mj-lt"/>
              </a:rPr>
              <a:t>Showcase at PT World 2027</a:t>
            </a:r>
            <a:endParaRPr lang="en-US" sz="1400" dirty="0">
              <a:solidFill>
                <a:srgbClr val="0B1526"/>
              </a:solidFill>
              <a:latin typeface="+mj-lt"/>
            </a:endParaRPr>
          </a:p>
        </p:txBody>
      </p:sp>
    </p:spTree>
    <p:extLst>
      <p:ext uri="{BB962C8B-B14F-4D97-AF65-F5344CB8AC3E}">
        <p14:creationId xmlns:p14="http://schemas.microsoft.com/office/powerpoint/2010/main" val="1024643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E14D0-21C8-D5AF-AC90-8EF346C03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12F13-C8A8-C832-B1AF-CD43B7C6BE9E}"/>
              </a:ext>
            </a:extLst>
          </p:cNvPr>
          <p:cNvSpPr>
            <a:spLocks noGrp="1"/>
          </p:cNvSpPr>
          <p:nvPr>
            <p:ph type="ctrTitle"/>
          </p:nvPr>
        </p:nvSpPr>
        <p:spPr>
          <a:xfrm>
            <a:off x="623688" y="3546555"/>
            <a:ext cx="8039012" cy="584775"/>
          </a:xfrm>
        </p:spPr>
        <p:txBody>
          <a:bodyPr/>
          <a:lstStyle/>
          <a:p>
            <a:r>
              <a:rPr lang="en-US" sz="3200" dirty="0">
                <a:ea typeface="MS PGothic"/>
                <a:cs typeface="+mj-lt"/>
              </a:rPr>
              <a:t>Thank You</a:t>
            </a:r>
            <a:endParaRPr lang="en-US" dirty="0"/>
          </a:p>
        </p:txBody>
      </p:sp>
      <p:sp>
        <p:nvSpPr>
          <p:cNvPr id="4" name="TextBox 3">
            <a:extLst>
              <a:ext uri="{FF2B5EF4-FFF2-40B4-BE49-F238E27FC236}">
                <a16:creationId xmlns:a16="http://schemas.microsoft.com/office/drawing/2014/main" id="{299D7C39-AE46-1287-A96E-D401E2339EA6}"/>
              </a:ext>
            </a:extLst>
          </p:cNvPr>
          <p:cNvSpPr txBox="1"/>
          <p:nvPr/>
        </p:nvSpPr>
        <p:spPr>
          <a:xfrm>
            <a:off x="623688" y="1829483"/>
            <a:ext cx="1123608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dirty="0">
                <a:solidFill>
                  <a:schemeClr val="bg1">
                    <a:lumMod val="85000"/>
                  </a:schemeClr>
                </a:solidFill>
                <a:latin typeface="+mj-lt"/>
              </a:rPr>
              <a:t>AGIL® Secure FastPass </a:t>
            </a:r>
          </a:p>
          <a:p>
            <a:endParaRPr lang="en-US" b="1" i="1" dirty="0">
              <a:solidFill>
                <a:schemeClr val="bg1">
                  <a:lumMod val="85000"/>
                </a:schemeClr>
              </a:solidFill>
              <a:latin typeface="+mj-lt"/>
            </a:endParaRPr>
          </a:p>
          <a:p>
            <a:r>
              <a:rPr lang="en-US" b="1" i="1" dirty="0">
                <a:solidFill>
                  <a:schemeClr val="bg1">
                    <a:lumMod val="85000"/>
                  </a:schemeClr>
                </a:solidFill>
                <a:latin typeface="+mj-lt"/>
              </a:rPr>
              <a:t>Move travellers faster, smarter and more securely, at scale.</a:t>
            </a:r>
          </a:p>
        </p:txBody>
      </p:sp>
    </p:spTree>
    <p:extLst>
      <p:ext uri="{BB962C8B-B14F-4D97-AF65-F5344CB8AC3E}">
        <p14:creationId xmlns:p14="http://schemas.microsoft.com/office/powerpoint/2010/main" val="2265066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CBD16-BF70-C587-7A90-A7760B770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E2942-63AD-C133-99D2-66A5B0F8B95D}"/>
              </a:ext>
            </a:extLst>
          </p:cNvPr>
          <p:cNvSpPr>
            <a:spLocks noGrp="1"/>
          </p:cNvSpPr>
          <p:nvPr>
            <p:ph type="ctrTitle"/>
          </p:nvPr>
        </p:nvSpPr>
        <p:spPr>
          <a:xfrm>
            <a:off x="605027" y="2174955"/>
            <a:ext cx="8039012" cy="584775"/>
          </a:xfrm>
        </p:spPr>
        <p:txBody>
          <a:bodyPr/>
          <a:lstStyle/>
          <a:p>
            <a:r>
              <a:rPr lang="en-US" sz="3200" dirty="0">
                <a:ea typeface="MS PGothic"/>
                <a:cs typeface="+mj-lt"/>
              </a:rPr>
              <a:t>Appendix</a:t>
            </a:r>
            <a:endParaRPr lang="en-US" dirty="0"/>
          </a:p>
        </p:txBody>
      </p:sp>
    </p:spTree>
    <p:extLst>
      <p:ext uri="{BB962C8B-B14F-4D97-AF65-F5344CB8AC3E}">
        <p14:creationId xmlns:p14="http://schemas.microsoft.com/office/powerpoint/2010/main" val="125593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C68D4-5DB9-3BA4-AD64-1DF3A4C06AFA}"/>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9F69EEDB-A355-F611-34E5-79489C1958E7}"/>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3244FEC6-587D-C5D3-E406-BD25FED849AC}"/>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1FD4DC26-83CA-1002-4C78-5321B84BCC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E047CEF6-1CA9-6B75-F099-DAC831C0CD6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D9110C6A-C2CE-9307-FEE3-BD16AA18AFDF}"/>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312BECB7-3326-8609-F9AF-AECB79DC1F73}"/>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12</a:t>
            </a:fld>
            <a:r>
              <a:rPr lang="en-US" sz="1200">
                <a:latin typeface="+mj-lt"/>
              </a:rPr>
              <a:t>   | </a:t>
            </a:r>
          </a:p>
        </p:txBody>
      </p:sp>
      <p:sp>
        <p:nvSpPr>
          <p:cNvPr id="11" name="Title 4">
            <a:extLst>
              <a:ext uri="{FF2B5EF4-FFF2-40B4-BE49-F238E27FC236}">
                <a16:creationId xmlns:a16="http://schemas.microsoft.com/office/drawing/2014/main" id="{7D4D5631-96AF-6624-23BE-3C8B1678E506}"/>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Enrol once. Keep moving through immigration.</a:t>
            </a:r>
          </a:p>
        </p:txBody>
      </p:sp>
      <p:sp>
        <p:nvSpPr>
          <p:cNvPr id="12" name="TextBox 25">
            <a:extLst>
              <a:ext uri="{FF2B5EF4-FFF2-40B4-BE49-F238E27FC236}">
                <a16:creationId xmlns:a16="http://schemas.microsoft.com/office/drawing/2014/main" id="{24047FAF-4876-6679-6489-06A362D071FE}"/>
              </a:ext>
            </a:extLst>
          </p:cNvPr>
          <p:cNvSpPr txBox="1"/>
          <p:nvPr/>
        </p:nvSpPr>
        <p:spPr>
          <a:xfrm>
            <a:off x="343779" y="563652"/>
            <a:ext cx="3930691"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FastPass Solution – Enrolment to immigration</a:t>
            </a:r>
          </a:p>
        </p:txBody>
      </p:sp>
      <p:sp>
        <p:nvSpPr>
          <p:cNvPr id="2" name="Text 1">
            <a:extLst>
              <a:ext uri="{FF2B5EF4-FFF2-40B4-BE49-F238E27FC236}">
                <a16:creationId xmlns:a16="http://schemas.microsoft.com/office/drawing/2014/main" id="{7BAA7FD2-37BA-EA34-95B7-59A7981143B1}"/>
              </a:ext>
            </a:extLst>
          </p:cNvPr>
          <p:cNvSpPr txBox="1">
            <a:spLocks/>
          </p:cNvSpPr>
          <p:nvPr/>
        </p:nvSpPr>
        <p:spPr>
          <a:xfrm>
            <a:off x="434055" y="1408176"/>
            <a:ext cx="7315200" cy="384048"/>
          </a:xfrm>
          <a:prstGeom prst="rect">
            <a:avLst/>
          </a:prstGeom>
          <a:noFill/>
          <a:ln/>
        </p:spPr>
        <p:txBody>
          <a:bodyPr wrap="square" lIns="0" tIns="0" rIns="0" bIns="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tx2"/>
                </a:solidFill>
                <a:latin typeface="+mj-lt"/>
              </a:rPr>
              <a:t>Create the credential on the phone once, then walk through without stopping.</a:t>
            </a:r>
            <a:endParaRPr lang="en-US" sz="1600" dirty="0">
              <a:latin typeface="+mj-lt"/>
            </a:endParaRPr>
          </a:p>
        </p:txBody>
      </p:sp>
      <p:pic>
        <p:nvPicPr>
          <p:cNvPr id="91" name="Journey scene 1">
            <a:extLst>
              <a:ext uri="{FF2B5EF4-FFF2-40B4-BE49-F238E27FC236}">
                <a16:creationId xmlns:a16="http://schemas.microsoft.com/office/drawing/2014/main" id="{08B82FF4-8595-1C05-CC7B-2247D1D55E79}"/>
              </a:ext>
            </a:extLst>
          </p:cNvPr>
          <p:cNvPicPr>
            <a:picLocks noChangeAspect="1"/>
          </p:cNvPicPr>
          <p:nvPr/>
        </p:nvPicPr>
        <p:blipFill>
          <a:blip r:embed="rId5"/>
          <a:srcRect l="4119" t="18666" r="9071" b="12802"/>
          <a:stretch>
            <a:fillRect/>
          </a:stretch>
        </p:blipFill>
        <p:spPr>
          <a:xfrm>
            <a:off x="502161" y="1280160"/>
            <a:ext cx="10583656" cy="4699896"/>
          </a:xfrm>
          <a:prstGeom prst="rect">
            <a:avLst/>
          </a:prstGeom>
        </p:spPr>
      </p:pic>
      <p:sp>
        <p:nvSpPr>
          <p:cNvPr id="92" name="Shape 3">
            <a:extLst>
              <a:ext uri="{FF2B5EF4-FFF2-40B4-BE49-F238E27FC236}">
                <a16:creationId xmlns:a16="http://schemas.microsoft.com/office/drawing/2014/main" id="{50F4B7B2-4AE0-9ED9-BE61-012B8D9F2412}"/>
              </a:ext>
            </a:extLst>
          </p:cNvPr>
          <p:cNvSpPr/>
          <p:nvPr/>
        </p:nvSpPr>
        <p:spPr>
          <a:xfrm>
            <a:off x="2331720" y="3401568"/>
            <a:ext cx="566928" cy="1650492"/>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93" name="Shape 4">
            <a:extLst>
              <a:ext uri="{FF2B5EF4-FFF2-40B4-BE49-F238E27FC236}">
                <a16:creationId xmlns:a16="http://schemas.microsoft.com/office/drawing/2014/main" id="{594C102C-F602-8752-D300-4F6820C69F3D}"/>
              </a:ext>
            </a:extLst>
          </p:cNvPr>
          <p:cNvSpPr/>
          <p:nvPr/>
        </p:nvSpPr>
        <p:spPr>
          <a:xfrm>
            <a:off x="5058461" y="3973068"/>
            <a:ext cx="1113739" cy="1330452"/>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94" name="Shape 5">
            <a:extLst>
              <a:ext uri="{FF2B5EF4-FFF2-40B4-BE49-F238E27FC236}">
                <a16:creationId xmlns:a16="http://schemas.microsoft.com/office/drawing/2014/main" id="{FF34DF3B-0B52-FC4F-EEF3-005BDA21E805}"/>
              </a:ext>
            </a:extLst>
          </p:cNvPr>
          <p:cNvSpPr/>
          <p:nvPr/>
        </p:nvSpPr>
        <p:spPr>
          <a:xfrm>
            <a:off x="6974129" y="3014777"/>
            <a:ext cx="2124151" cy="1511503"/>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95" name="Shape 6">
            <a:extLst>
              <a:ext uri="{FF2B5EF4-FFF2-40B4-BE49-F238E27FC236}">
                <a16:creationId xmlns:a16="http://schemas.microsoft.com/office/drawing/2014/main" id="{A1D38887-B964-F55A-619C-AAFCE7F04870}"/>
              </a:ext>
            </a:extLst>
          </p:cNvPr>
          <p:cNvSpPr/>
          <p:nvPr/>
        </p:nvSpPr>
        <p:spPr>
          <a:xfrm flipV="1">
            <a:off x="1751990" y="3049638"/>
            <a:ext cx="2593525" cy="1746390"/>
          </a:xfrm>
          <a:prstGeom prst="line">
            <a:avLst/>
          </a:prstGeom>
          <a:noFill/>
          <a:ln w="12700">
            <a:solidFill>
              <a:srgbClr val="0B84AE"/>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96" name="Shape 7">
            <a:extLst>
              <a:ext uri="{FF2B5EF4-FFF2-40B4-BE49-F238E27FC236}">
                <a16:creationId xmlns:a16="http://schemas.microsoft.com/office/drawing/2014/main" id="{22F6A468-E03C-4DB3-6EBB-ACEB145A994A}"/>
              </a:ext>
            </a:extLst>
          </p:cNvPr>
          <p:cNvSpPr/>
          <p:nvPr/>
        </p:nvSpPr>
        <p:spPr>
          <a:xfrm>
            <a:off x="1706270" y="4750308"/>
            <a:ext cx="91440" cy="9144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99" name="Shape 9">
            <a:extLst>
              <a:ext uri="{FF2B5EF4-FFF2-40B4-BE49-F238E27FC236}">
                <a16:creationId xmlns:a16="http://schemas.microsoft.com/office/drawing/2014/main" id="{08E458A0-AC06-9E54-C037-2610FB773D90}"/>
              </a:ext>
            </a:extLst>
          </p:cNvPr>
          <p:cNvSpPr/>
          <p:nvPr/>
        </p:nvSpPr>
        <p:spPr>
          <a:xfrm flipV="1">
            <a:off x="8269834" y="2601238"/>
            <a:ext cx="1448219" cy="239802"/>
          </a:xfrm>
          <a:prstGeom prst="line">
            <a:avLst/>
          </a:prstGeom>
          <a:noFill/>
          <a:ln w="12700">
            <a:solidFill>
              <a:srgbClr val="0B84AE"/>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0" name="Shape 10">
            <a:extLst>
              <a:ext uri="{FF2B5EF4-FFF2-40B4-BE49-F238E27FC236}">
                <a16:creationId xmlns:a16="http://schemas.microsoft.com/office/drawing/2014/main" id="{FAC6E28F-651A-2F6A-265A-562D74CD78D2}"/>
              </a:ext>
            </a:extLst>
          </p:cNvPr>
          <p:cNvSpPr/>
          <p:nvPr/>
        </p:nvSpPr>
        <p:spPr>
          <a:xfrm>
            <a:off x="8224114" y="2795321"/>
            <a:ext cx="91440" cy="9144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3" name="Shape 12">
            <a:extLst>
              <a:ext uri="{FF2B5EF4-FFF2-40B4-BE49-F238E27FC236}">
                <a16:creationId xmlns:a16="http://schemas.microsoft.com/office/drawing/2014/main" id="{358ED09C-8BEE-19FF-1247-770B1CFFC3C2}"/>
              </a:ext>
            </a:extLst>
          </p:cNvPr>
          <p:cNvSpPr/>
          <p:nvPr/>
        </p:nvSpPr>
        <p:spPr>
          <a:xfrm flipV="1">
            <a:off x="5341925" y="2999232"/>
            <a:ext cx="327355" cy="307238"/>
          </a:xfrm>
          <a:prstGeom prst="line">
            <a:avLst/>
          </a:prstGeom>
          <a:noFill/>
          <a:ln w="9525">
            <a:solidFill>
              <a:srgbClr val="0B84AE"/>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4" name="Shape 13">
            <a:extLst>
              <a:ext uri="{FF2B5EF4-FFF2-40B4-BE49-F238E27FC236}">
                <a16:creationId xmlns:a16="http://schemas.microsoft.com/office/drawing/2014/main" id="{8D1C8FC2-A2B3-020F-A9AE-E4D45F05C303}"/>
              </a:ext>
            </a:extLst>
          </p:cNvPr>
          <p:cNvSpPr/>
          <p:nvPr/>
        </p:nvSpPr>
        <p:spPr>
          <a:xfrm>
            <a:off x="5305349" y="3269894"/>
            <a:ext cx="73152" cy="7315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5" name="Shape 14">
            <a:extLst>
              <a:ext uri="{FF2B5EF4-FFF2-40B4-BE49-F238E27FC236}">
                <a16:creationId xmlns:a16="http://schemas.microsoft.com/office/drawing/2014/main" id="{C1B19FFE-16EC-C76C-6752-58C8F0D4FC3D}"/>
              </a:ext>
            </a:extLst>
          </p:cNvPr>
          <p:cNvSpPr/>
          <p:nvPr/>
        </p:nvSpPr>
        <p:spPr>
          <a:xfrm>
            <a:off x="5504688" y="2724912"/>
            <a:ext cx="1097280" cy="274320"/>
          </a:xfrm>
          <a:prstGeom prst="roundRect">
            <a:avLst>
              <a:gd name="adj" fmla="val 50000"/>
            </a:avLst>
          </a:prstGeom>
          <a:solidFill>
            <a:srgbClr val="FFFFFF"/>
          </a:solidFill>
          <a:ln w="9525">
            <a:solidFill>
              <a:srgbClr val="0B84AE">
                <a:alpha val="70000"/>
              </a:srgbClr>
            </a:solidFill>
            <a:prstDash val="solid"/>
          </a:ln>
          <a:effectLst>
            <a:outerShdw blurRad="177800" dist="38100" dir="5400000" algn="bl" rotWithShape="0">
              <a:srgbClr val="0A1628">
                <a:alpha val="10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6" name="Text 15">
            <a:extLst>
              <a:ext uri="{FF2B5EF4-FFF2-40B4-BE49-F238E27FC236}">
                <a16:creationId xmlns:a16="http://schemas.microsoft.com/office/drawing/2014/main" id="{902DD285-4BD9-D46C-479D-5252C034D3BB}"/>
              </a:ext>
            </a:extLst>
          </p:cNvPr>
          <p:cNvSpPr txBox="1"/>
          <p:nvPr/>
        </p:nvSpPr>
        <p:spPr>
          <a:xfrm>
            <a:off x="5504688" y="2724912"/>
            <a:ext cx="1097280" cy="274320"/>
          </a:xfrm>
          <a:prstGeom prst="rect">
            <a:avLst/>
          </a:prstGeom>
          <a:noFill/>
          <a:ln/>
        </p:spPr>
        <p:txBody>
          <a:bodyPr wrap="square" lIns="0" tIns="0" rIns="0" bIns="0" rtlCol="0" anchor="ctr"/>
          <a:lstStyle/>
          <a:p>
            <a:pPr algn="ctr"/>
            <a:r>
              <a:rPr lang="en-US" sz="1100" b="1" dirty="0">
                <a:solidFill>
                  <a:srgbClr val="0B84AE"/>
                </a:solidFill>
                <a:latin typeface="+mj-lt"/>
              </a:rPr>
              <a:t>BLE beacon</a:t>
            </a:r>
            <a:endParaRPr lang="en-US" sz="1100" dirty="0">
              <a:solidFill>
                <a:srgbClr val="0A1628"/>
              </a:solidFill>
              <a:latin typeface="+mj-lt"/>
            </a:endParaRPr>
          </a:p>
        </p:txBody>
      </p:sp>
      <p:sp>
        <p:nvSpPr>
          <p:cNvPr id="108" name="Shape 17">
            <a:extLst>
              <a:ext uri="{FF2B5EF4-FFF2-40B4-BE49-F238E27FC236}">
                <a16:creationId xmlns:a16="http://schemas.microsoft.com/office/drawing/2014/main" id="{6C82ED31-EE2A-97F5-7133-187A8BCE2CF2}"/>
              </a:ext>
            </a:extLst>
          </p:cNvPr>
          <p:cNvSpPr/>
          <p:nvPr/>
        </p:nvSpPr>
        <p:spPr>
          <a:xfrm>
            <a:off x="749808" y="2286000"/>
            <a:ext cx="347472" cy="34747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9" name="Text 18">
            <a:extLst>
              <a:ext uri="{FF2B5EF4-FFF2-40B4-BE49-F238E27FC236}">
                <a16:creationId xmlns:a16="http://schemas.microsoft.com/office/drawing/2014/main" id="{0D3981D8-4941-2DE2-C973-552A76B6F71F}"/>
              </a:ext>
            </a:extLst>
          </p:cNvPr>
          <p:cNvSpPr txBox="1"/>
          <p:nvPr/>
        </p:nvSpPr>
        <p:spPr>
          <a:xfrm>
            <a:off x="749808" y="2286000"/>
            <a:ext cx="347472" cy="347472"/>
          </a:xfrm>
          <a:prstGeom prst="rect">
            <a:avLst/>
          </a:prstGeom>
          <a:noFill/>
          <a:ln/>
        </p:spPr>
        <p:txBody>
          <a:bodyPr wrap="square" lIns="0" tIns="0" rIns="0" bIns="0" rtlCol="0" anchor="ctr"/>
          <a:lstStyle/>
          <a:p>
            <a:pPr algn="ctr"/>
            <a:r>
              <a:rPr lang="en-US" sz="1300" b="1" dirty="0">
                <a:solidFill>
                  <a:srgbClr val="FFFFFF"/>
                </a:solidFill>
                <a:latin typeface="+mj-lt"/>
              </a:rPr>
              <a:t>1</a:t>
            </a:r>
            <a:endParaRPr lang="en-US" sz="1300" dirty="0">
              <a:solidFill>
                <a:srgbClr val="0A1628"/>
              </a:solidFill>
              <a:latin typeface="+mj-lt"/>
            </a:endParaRPr>
          </a:p>
        </p:txBody>
      </p:sp>
      <p:sp>
        <p:nvSpPr>
          <p:cNvPr id="110" name="Text 19">
            <a:extLst>
              <a:ext uri="{FF2B5EF4-FFF2-40B4-BE49-F238E27FC236}">
                <a16:creationId xmlns:a16="http://schemas.microsoft.com/office/drawing/2014/main" id="{0C3FB350-2A20-DF1C-A0A0-3EA1C067272C}"/>
              </a:ext>
            </a:extLst>
          </p:cNvPr>
          <p:cNvSpPr txBox="1"/>
          <p:nvPr/>
        </p:nvSpPr>
        <p:spPr>
          <a:xfrm>
            <a:off x="1207008" y="2276856"/>
            <a:ext cx="2240280" cy="365760"/>
          </a:xfrm>
          <a:prstGeom prst="rect">
            <a:avLst/>
          </a:prstGeom>
          <a:noFill/>
          <a:ln/>
        </p:spPr>
        <p:txBody>
          <a:bodyPr wrap="square" lIns="0" tIns="0" rIns="0" bIns="0" rtlCol="0" anchor="ctr"/>
          <a:lstStyle/>
          <a:p>
            <a:r>
              <a:rPr lang="en-US" sz="1500" b="1" dirty="0">
                <a:solidFill>
                  <a:srgbClr val="0A1628"/>
                </a:solidFill>
                <a:latin typeface="+mj-lt"/>
              </a:rPr>
              <a:t>Enrol before travel</a:t>
            </a:r>
            <a:endParaRPr lang="en-US" sz="1500" dirty="0">
              <a:solidFill>
                <a:srgbClr val="0A1628"/>
              </a:solidFill>
              <a:latin typeface="+mj-lt"/>
            </a:endParaRPr>
          </a:p>
        </p:txBody>
      </p:sp>
      <p:sp>
        <p:nvSpPr>
          <p:cNvPr id="111" name="Text 20">
            <a:extLst>
              <a:ext uri="{FF2B5EF4-FFF2-40B4-BE49-F238E27FC236}">
                <a16:creationId xmlns:a16="http://schemas.microsoft.com/office/drawing/2014/main" id="{6D8E290C-7B3C-CDBD-3084-FF9EAA8CA493}"/>
              </a:ext>
            </a:extLst>
          </p:cNvPr>
          <p:cNvSpPr txBox="1"/>
          <p:nvPr/>
        </p:nvSpPr>
        <p:spPr>
          <a:xfrm>
            <a:off x="749808" y="2724912"/>
            <a:ext cx="2480824" cy="566928"/>
          </a:xfrm>
          <a:prstGeom prst="rect">
            <a:avLst/>
          </a:prstGeom>
          <a:noFill/>
          <a:ln/>
        </p:spPr>
        <p:txBody>
          <a:bodyPr wrap="square" lIns="0" tIns="0" rIns="0" bIns="0" rtlCol="0" anchor="t"/>
          <a:lstStyle/>
          <a:p>
            <a:r>
              <a:rPr lang="en-US" sz="1300" dirty="0">
                <a:solidFill>
                  <a:srgbClr val="4F5B6D"/>
                </a:solidFill>
                <a:latin typeface="+mj-lt"/>
              </a:rPr>
              <a:t>Scan the passport and a selfie in the FastPass app. The credential stays encrypted on the phone.</a:t>
            </a:r>
            <a:endParaRPr lang="en-US" sz="1300" dirty="0">
              <a:solidFill>
                <a:srgbClr val="0A1628"/>
              </a:solidFill>
              <a:latin typeface="+mj-lt"/>
            </a:endParaRPr>
          </a:p>
        </p:txBody>
      </p:sp>
      <p:sp>
        <p:nvSpPr>
          <p:cNvPr id="113" name="Shape 22">
            <a:extLst>
              <a:ext uri="{FF2B5EF4-FFF2-40B4-BE49-F238E27FC236}">
                <a16:creationId xmlns:a16="http://schemas.microsoft.com/office/drawing/2014/main" id="{64B89E10-81BA-9EAC-9D71-D73A391C9057}"/>
              </a:ext>
            </a:extLst>
          </p:cNvPr>
          <p:cNvSpPr/>
          <p:nvPr/>
        </p:nvSpPr>
        <p:spPr>
          <a:xfrm>
            <a:off x="6099048" y="5449824"/>
            <a:ext cx="347472" cy="34747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4" name="Text 23">
            <a:extLst>
              <a:ext uri="{FF2B5EF4-FFF2-40B4-BE49-F238E27FC236}">
                <a16:creationId xmlns:a16="http://schemas.microsoft.com/office/drawing/2014/main" id="{0057F199-D117-7B4E-9459-86BCDC378F27}"/>
              </a:ext>
            </a:extLst>
          </p:cNvPr>
          <p:cNvSpPr txBox="1"/>
          <p:nvPr/>
        </p:nvSpPr>
        <p:spPr>
          <a:xfrm>
            <a:off x="6099048" y="5449824"/>
            <a:ext cx="347472" cy="347472"/>
          </a:xfrm>
          <a:prstGeom prst="rect">
            <a:avLst/>
          </a:prstGeom>
          <a:noFill/>
          <a:ln/>
        </p:spPr>
        <p:txBody>
          <a:bodyPr wrap="square" lIns="0" tIns="0" rIns="0" bIns="0" rtlCol="0" anchor="ctr"/>
          <a:lstStyle/>
          <a:p>
            <a:pPr algn="ctr"/>
            <a:r>
              <a:rPr lang="en-US" sz="1300" b="1" dirty="0">
                <a:solidFill>
                  <a:srgbClr val="FFFFFF"/>
                </a:solidFill>
                <a:latin typeface="+mj-lt"/>
              </a:rPr>
              <a:t>2</a:t>
            </a:r>
            <a:endParaRPr lang="en-US" sz="1300" dirty="0">
              <a:solidFill>
                <a:srgbClr val="0A1628"/>
              </a:solidFill>
              <a:latin typeface="+mj-lt"/>
            </a:endParaRPr>
          </a:p>
        </p:txBody>
      </p:sp>
      <p:sp>
        <p:nvSpPr>
          <p:cNvPr id="115" name="Text 24">
            <a:extLst>
              <a:ext uri="{FF2B5EF4-FFF2-40B4-BE49-F238E27FC236}">
                <a16:creationId xmlns:a16="http://schemas.microsoft.com/office/drawing/2014/main" id="{224269E7-73DF-990E-8278-831D0AB5F498}"/>
              </a:ext>
            </a:extLst>
          </p:cNvPr>
          <p:cNvSpPr txBox="1"/>
          <p:nvPr/>
        </p:nvSpPr>
        <p:spPr>
          <a:xfrm>
            <a:off x="6556248" y="5440680"/>
            <a:ext cx="2194560" cy="365760"/>
          </a:xfrm>
          <a:prstGeom prst="rect">
            <a:avLst/>
          </a:prstGeom>
          <a:noFill/>
          <a:ln/>
        </p:spPr>
        <p:txBody>
          <a:bodyPr wrap="square" lIns="0" tIns="0" rIns="0" bIns="0" rtlCol="0" anchor="ctr"/>
          <a:lstStyle/>
          <a:p>
            <a:r>
              <a:rPr lang="en-US" sz="1500" b="1" dirty="0">
                <a:solidFill>
                  <a:srgbClr val="0A1628"/>
                </a:solidFill>
                <a:latin typeface="+mj-lt"/>
              </a:rPr>
              <a:t>Approach the lane</a:t>
            </a:r>
            <a:endParaRPr lang="en-US" sz="1500" dirty="0">
              <a:solidFill>
                <a:srgbClr val="0A1628"/>
              </a:solidFill>
              <a:latin typeface="+mj-lt"/>
            </a:endParaRPr>
          </a:p>
        </p:txBody>
      </p:sp>
      <p:sp>
        <p:nvSpPr>
          <p:cNvPr id="116" name="Text 25">
            <a:extLst>
              <a:ext uri="{FF2B5EF4-FFF2-40B4-BE49-F238E27FC236}">
                <a16:creationId xmlns:a16="http://schemas.microsoft.com/office/drawing/2014/main" id="{33914DCD-DDE9-9EFD-F70F-BB86BC56DB69}"/>
              </a:ext>
            </a:extLst>
          </p:cNvPr>
          <p:cNvSpPr txBox="1"/>
          <p:nvPr/>
        </p:nvSpPr>
        <p:spPr>
          <a:xfrm>
            <a:off x="6099048" y="5888736"/>
            <a:ext cx="2633472" cy="3108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5B6D"/>
                </a:solidFill>
                <a:effectLst/>
                <a:uLnTx/>
                <a:uFillTx/>
                <a:latin typeface="+mj-lt"/>
                <a:ea typeface="+mn-ea"/>
                <a:cs typeface="+mn-cs"/>
              </a:rPr>
              <a:t>A BLE beacon pairs the phone to the lane as it nears.</a:t>
            </a:r>
            <a:endParaRPr kumimoji="0" lang="en-US" sz="1300" b="0" i="0" u="none" strike="noStrike" kern="1200" cap="none" spc="0" normalizeH="0" baseline="0" noProof="0" dirty="0">
              <a:ln>
                <a:noFill/>
              </a:ln>
              <a:solidFill>
                <a:srgbClr val="0A1628"/>
              </a:solidFill>
              <a:effectLst/>
              <a:uLnTx/>
              <a:uFillTx/>
              <a:latin typeface="+mj-lt"/>
              <a:ea typeface="+mn-ea"/>
              <a:cs typeface="+mn-cs"/>
            </a:endParaRPr>
          </a:p>
        </p:txBody>
      </p:sp>
      <p:sp>
        <p:nvSpPr>
          <p:cNvPr id="118" name="Shape 27">
            <a:extLst>
              <a:ext uri="{FF2B5EF4-FFF2-40B4-BE49-F238E27FC236}">
                <a16:creationId xmlns:a16="http://schemas.microsoft.com/office/drawing/2014/main" id="{7EB19F2E-800C-5FFA-8FC9-A43C0EA3B5FA}"/>
              </a:ext>
            </a:extLst>
          </p:cNvPr>
          <p:cNvSpPr/>
          <p:nvPr/>
        </p:nvSpPr>
        <p:spPr>
          <a:xfrm>
            <a:off x="9299448" y="4389120"/>
            <a:ext cx="347472" cy="34747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9" name="Text 28">
            <a:extLst>
              <a:ext uri="{FF2B5EF4-FFF2-40B4-BE49-F238E27FC236}">
                <a16:creationId xmlns:a16="http://schemas.microsoft.com/office/drawing/2014/main" id="{F6E59F78-21F9-4425-D5CE-4AD13F1E6F4C}"/>
              </a:ext>
            </a:extLst>
          </p:cNvPr>
          <p:cNvSpPr txBox="1"/>
          <p:nvPr/>
        </p:nvSpPr>
        <p:spPr>
          <a:xfrm>
            <a:off x="9299448" y="4389120"/>
            <a:ext cx="347472" cy="347472"/>
          </a:xfrm>
          <a:prstGeom prst="rect">
            <a:avLst/>
          </a:prstGeom>
          <a:noFill/>
          <a:ln/>
        </p:spPr>
        <p:txBody>
          <a:bodyPr wrap="square" lIns="0" tIns="0" rIns="0" bIns="0" rtlCol="0" anchor="ctr"/>
          <a:lstStyle/>
          <a:p>
            <a:pPr algn="ctr"/>
            <a:r>
              <a:rPr lang="en-US" sz="1300" b="1" dirty="0">
                <a:solidFill>
                  <a:srgbClr val="FFFFFF"/>
                </a:solidFill>
                <a:latin typeface="+mj-lt"/>
              </a:rPr>
              <a:t>3</a:t>
            </a:r>
            <a:endParaRPr lang="en-US" sz="1300" dirty="0">
              <a:solidFill>
                <a:srgbClr val="0A1628"/>
              </a:solidFill>
              <a:latin typeface="+mj-lt"/>
            </a:endParaRPr>
          </a:p>
        </p:txBody>
      </p:sp>
      <p:sp>
        <p:nvSpPr>
          <p:cNvPr id="120" name="Text 29">
            <a:extLst>
              <a:ext uri="{FF2B5EF4-FFF2-40B4-BE49-F238E27FC236}">
                <a16:creationId xmlns:a16="http://schemas.microsoft.com/office/drawing/2014/main" id="{2B15CC80-00C9-06B1-53DC-2E107BCCCDD8}"/>
              </a:ext>
            </a:extLst>
          </p:cNvPr>
          <p:cNvSpPr txBox="1"/>
          <p:nvPr/>
        </p:nvSpPr>
        <p:spPr>
          <a:xfrm>
            <a:off x="9756648" y="4379976"/>
            <a:ext cx="1719072" cy="365760"/>
          </a:xfrm>
          <a:prstGeom prst="rect">
            <a:avLst/>
          </a:prstGeom>
          <a:noFill/>
          <a:ln/>
        </p:spPr>
        <p:txBody>
          <a:bodyPr wrap="square" lIns="0" tIns="0" rIns="0" bIns="0" rtlCol="0" anchor="ctr"/>
          <a:lstStyle/>
          <a:p>
            <a:r>
              <a:rPr lang="en-US" sz="1500" b="1" dirty="0">
                <a:solidFill>
                  <a:srgbClr val="0A1628"/>
                </a:solidFill>
                <a:latin typeface="+mj-lt"/>
              </a:rPr>
              <a:t>Clear Immigration</a:t>
            </a:r>
            <a:endParaRPr lang="en-US" sz="1500" dirty="0">
              <a:solidFill>
                <a:srgbClr val="0A1628"/>
              </a:solidFill>
              <a:latin typeface="+mj-lt"/>
            </a:endParaRPr>
          </a:p>
        </p:txBody>
      </p:sp>
      <p:sp>
        <p:nvSpPr>
          <p:cNvPr id="121" name="Text 30">
            <a:extLst>
              <a:ext uri="{FF2B5EF4-FFF2-40B4-BE49-F238E27FC236}">
                <a16:creationId xmlns:a16="http://schemas.microsoft.com/office/drawing/2014/main" id="{3B42EB7D-F815-9861-D5B4-AF527479BD7D}"/>
              </a:ext>
            </a:extLst>
          </p:cNvPr>
          <p:cNvSpPr txBox="1"/>
          <p:nvPr/>
        </p:nvSpPr>
        <p:spPr>
          <a:xfrm>
            <a:off x="9299447" y="4828032"/>
            <a:ext cx="2320379" cy="749808"/>
          </a:xfrm>
          <a:prstGeom prst="rect">
            <a:avLst/>
          </a:prstGeom>
          <a:noFill/>
          <a:ln/>
        </p:spPr>
        <p:txBody>
          <a:bodyPr wrap="square" lIns="0" tIns="0" rIns="0" bIns="0" rtlCol="0" anchor="t"/>
          <a:lstStyle/>
          <a:p>
            <a:r>
              <a:rPr lang="en-US" sz="1300" dirty="0">
                <a:solidFill>
                  <a:srgbClr val="4F5B6D"/>
                </a:solidFill>
                <a:latin typeface="+mj-lt"/>
              </a:rPr>
              <a:t>Face matched on the move. Eligible travelers continue through; exceptions alert an officer.</a:t>
            </a:r>
            <a:endParaRPr lang="en-US" sz="1300" dirty="0">
              <a:solidFill>
                <a:srgbClr val="0A1628"/>
              </a:solidFill>
              <a:latin typeface="+mj-lt"/>
            </a:endParaRPr>
          </a:p>
        </p:txBody>
      </p:sp>
      <p:sp>
        <p:nvSpPr>
          <p:cNvPr id="122" name="Shape 31">
            <a:extLst>
              <a:ext uri="{FF2B5EF4-FFF2-40B4-BE49-F238E27FC236}">
                <a16:creationId xmlns:a16="http://schemas.microsoft.com/office/drawing/2014/main" id="{B2508A4C-5858-2481-7FC5-BCBDEAE5A471}"/>
              </a:ext>
            </a:extLst>
          </p:cNvPr>
          <p:cNvSpPr/>
          <p:nvPr/>
        </p:nvSpPr>
        <p:spPr>
          <a:xfrm>
            <a:off x="2618842" y="4772254"/>
            <a:ext cx="559613" cy="559613"/>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3" name="Shape 32">
            <a:extLst>
              <a:ext uri="{FF2B5EF4-FFF2-40B4-BE49-F238E27FC236}">
                <a16:creationId xmlns:a16="http://schemas.microsoft.com/office/drawing/2014/main" id="{B84E9F17-3609-DEF4-E765-F605E92FB953}"/>
              </a:ext>
            </a:extLst>
          </p:cNvPr>
          <p:cNvSpPr/>
          <p:nvPr/>
        </p:nvSpPr>
        <p:spPr>
          <a:xfrm>
            <a:off x="2734056" y="4887468"/>
            <a:ext cx="329184" cy="329184"/>
          </a:xfrm>
          <a:prstGeom prst="ellipse">
            <a:avLst/>
          </a:prstGeom>
          <a:solidFill>
            <a:srgbClr val="0B84AE"/>
          </a:solidFill>
          <a:ln w="19050">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4" name="Text 33">
            <a:extLst>
              <a:ext uri="{FF2B5EF4-FFF2-40B4-BE49-F238E27FC236}">
                <a16:creationId xmlns:a16="http://schemas.microsoft.com/office/drawing/2014/main" id="{5A75E795-0CFF-C4F0-1BD3-20885F37E930}"/>
              </a:ext>
            </a:extLst>
          </p:cNvPr>
          <p:cNvSpPr txBox="1"/>
          <p:nvPr/>
        </p:nvSpPr>
        <p:spPr>
          <a:xfrm>
            <a:off x="2734056" y="4887468"/>
            <a:ext cx="329184" cy="329184"/>
          </a:xfrm>
          <a:prstGeom prst="rect">
            <a:avLst/>
          </a:prstGeom>
          <a:noFill/>
          <a:ln/>
        </p:spPr>
        <p:txBody>
          <a:bodyPr wrap="square" lIns="0" tIns="0" rIns="0" bIns="0" rtlCol="0" anchor="ctr"/>
          <a:lstStyle/>
          <a:p>
            <a:pPr algn="ctr"/>
            <a:r>
              <a:rPr lang="en-US" sz="1300" b="1" dirty="0">
                <a:solidFill>
                  <a:srgbClr val="FFFFFF"/>
                </a:solidFill>
                <a:latin typeface="+mj-lt"/>
              </a:rPr>
              <a:t>1</a:t>
            </a:r>
            <a:endParaRPr lang="en-US" sz="1300" dirty="0">
              <a:solidFill>
                <a:srgbClr val="0A1628"/>
              </a:solidFill>
              <a:latin typeface="+mj-lt"/>
            </a:endParaRPr>
          </a:p>
        </p:txBody>
      </p:sp>
      <p:sp>
        <p:nvSpPr>
          <p:cNvPr id="125" name="Shape 34">
            <a:extLst>
              <a:ext uri="{FF2B5EF4-FFF2-40B4-BE49-F238E27FC236}">
                <a16:creationId xmlns:a16="http://schemas.microsoft.com/office/drawing/2014/main" id="{512718C5-FD14-EF03-A699-CF01D1B1C618}"/>
              </a:ext>
            </a:extLst>
          </p:cNvPr>
          <p:cNvSpPr/>
          <p:nvPr/>
        </p:nvSpPr>
        <p:spPr>
          <a:xfrm>
            <a:off x="4778654" y="3693262"/>
            <a:ext cx="559613" cy="559613"/>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6" name="Shape 35">
            <a:extLst>
              <a:ext uri="{FF2B5EF4-FFF2-40B4-BE49-F238E27FC236}">
                <a16:creationId xmlns:a16="http://schemas.microsoft.com/office/drawing/2014/main" id="{21967A10-8B02-F57B-81D7-BF72E010735B}"/>
              </a:ext>
            </a:extLst>
          </p:cNvPr>
          <p:cNvSpPr/>
          <p:nvPr/>
        </p:nvSpPr>
        <p:spPr>
          <a:xfrm>
            <a:off x="4893869" y="3808476"/>
            <a:ext cx="329184" cy="329184"/>
          </a:xfrm>
          <a:prstGeom prst="ellipse">
            <a:avLst/>
          </a:prstGeom>
          <a:solidFill>
            <a:srgbClr val="0B84AE"/>
          </a:solidFill>
          <a:ln w="19050">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7" name="Text 36">
            <a:extLst>
              <a:ext uri="{FF2B5EF4-FFF2-40B4-BE49-F238E27FC236}">
                <a16:creationId xmlns:a16="http://schemas.microsoft.com/office/drawing/2014/main" id="{5A9B22D3-5376-30E6-D5F7-20471B82B94E}"/>
              </a:ext>
            </a:extLst>
          </p:cNvPr>
          <p:cNvSpPr txBox="1"/>
          <p:nvPr/>
        </p:nvSpPr>
        <p:spPr>
          <a:xfrm>
            <a:off x="4893869" y="3808476"/>
            <a:ext cx="329184" cy="329184"/>
          </a:xfrm>
          <a:prstGeom prst="rect">
            <a:avLst/>
          </a:prstGeom>
          <a:noFill/>
          <a:ln/>
        </p:spPr>
        <p:txBody>
          <a:bodyPr wrap="square" lIns="0" tIns="0" rIns="0" bIns="0" rtlCol="0" anchor="ctr"/>
          <a:lstStyle/>
          <a:p>
            <a:pPr algn="ctr"/>
            <a:r>
              <a:rPr lang="en-US" sz="1300" b="1" dirty="0">
                <a:solidFill>
                  <a:srgbClr val="FFFFFF"/>
                </a:solidFill>
                <a:latin typeface="+mj-lt"/>
              </a:rPr>
              <a:t>2</a:t>
            </a:r>
            <a:endParaRPr lang="en-US" sz="1300" dirty="0">
              <a:solidFill>
                <a:srgbClr val="0A1628"/>
              </a:solidFill>
              <a:latin typeface="+mj-lt"/>
            </a:endParaRPr>
          </a:p>
        </p:txBody>
      </p:sp>
      <p:sp>
        <p:nvSpPr>
          <p:cNvPr id="128" name="Shape 37">
            <a:extLst>
              <a:ext uri="{FF2B5EF4-FFF2-40B4-BE49-F238E27FC236}">
                <a16:creationId xmlns:a16="http://schemas.microsoft.com/office/drawing/2014/main" id="{FD9E7721-F017-B19C-AC9C-754AA3407BE7}"/>
              </a:ext>
            </a:extLst>
          </p:cNvPr>
          <p:cNvSpPr/>
          <p:nvPr/>
        </p:nvSpPr>
        <p:spPr>
          <a:xfrm>
            <a:off x="6694322" y="2734970"/>
            <a:ext cx="559613" cy="559613"/>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9" name="Shape 38">
            <a:extLst>
              <a:ext uri="{FF2B5EF4-FFF2-40B4-BE49-F238E27FC236}">
                <a16:creationId xmlns:a16="http://schemas.microsoft.com/office/drawing/2014/main" id="{5572944A-31C1-EC3E-CDCC-A37616F6A126}"/>
              </a:ext>
            </a:extLst>
          </p:cNvPr>
          <p:cNvSpPr/>
          <p:nvPr/>
        </p:nvSpPr>
        <p:spPr>
          <a:xfrm>
            <a:off x="6809537" y="2850185"/>
            <a:ext cx="329184" cy="329184"/>
          </a:xfrm>
          <a:prstGeom prst="ellipse">
            <a:avLst/>
          </a:prstGeom>
          <a:solidFill>
            <a:srgbClr val="0B84AE"/>
          </a:solidFill>
          <a:ln w="19050">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30" name="Text 39">
            <a:extLst>
              <a:ext uri="{FF2B5EF4-FFF2-40B4-BE49-F238E27FC236}">
                <a16:creationId xmlns:a16="http://schemas.microsoft.com/office/drawing/2014/main" id="{7BD71DAD-E7CE-82F4-B485-9533EBB91D45}"/>
              </a:ext>
            </a:extLst>
          </p:cNvPr>
          <p:cNvSpPr txBox="1"/>
          <p:nvPr/>
        </p:nvSpPr>
        <p:spPr>
          <a:xfrm>
            <a:off x="6809537" y="2850185"/>
            <a:ext cx="329184" cy="329184"/>
          </a:xfrm>
          <a:prstGeom prst="rect">
            <a:avLst/>
          </a:prstGeom>
          <a:noFill/>
          <a:ln/>
        </p:spPr>
        <p:txBody>
          <a:bodyPr wrap="square" lIns="0" tIns="0" rIns="0" bIns="0" rtlCol="0" anchor="ctr"/>
          <a:lstStyle/>
          <a:p>
            <a:pPr algn="ctr"/>
            <a:r>
              <a:rPr lang="en-US" sz="1300" b="1" dirty="0">
                <a:solidFill>
                  <a:srgbClr val="FFFFFF"/>
                </a:solidFill>
                <a:latin typeface="+mj-lt"/>
              </a:rPr>
              <a:t>3</a:t>
            </a:r>
            <a:endParaRPr lang="en-US" sz="1300" dirty="0">
              <a:solidFill>
                <a:srgbClr val="0A1628"/>
              </a:solidFill>
              <a:latin typeface="+mj-lt"/>
            </a:endParaRPr>
          </a:p>
        </p:txBody>
      </p:sp>
      <p:pic>
        <p:nvPicPr>
          <p:cNvPr id="140" name="Image 2" descr="preencoded.png">
            <a:extLst>
              <a:ext uri="{FF2B5EF4-FFF2-40B4-BE49-F238E27FC236}">
                <a16:creationId xmlns:a16="http://schemas.microsoft.com/office/drawing/2014/main" id="{C023F255-43AC-F302-5C11-7CABBFD97109}"/>
              </a:ext>
            </a:extLst>
          </p:cNvPr>
          <p:cNvPicPr>
            <a:picLocks noChangeAspect="1"/>
          </p:cNvPicPr>
          <p:nvPr/>
        </p:nvPicPr>
        <p:blipFill>
          <a:blip r:embed="rId6"/>
          <a:stretch>
            <a:fillRect/>
          </a:stretch>
        </p:blipFill>
        <p:spPr>
          <a:xfrm>
            <a:off x="6824148" y="5019674"/>
            <a:ext cx="475488" cy="475488"/>
          </a:xfrm>
          <a:prstGeom prst="rect">
            <a:avLst/>
          </a:prstGeom>
        </p:spPr>
      </p:pic>
      <p:pic>
        <p:nvPicPr>
          <p:cNvPr id="142" name="Image 3" descr="preencoded.png">
            <a:extLst>
              <a:ext uri="{FF2B5EF4-FFF2-40B4-BE49-F238E27FC236}">
                <a16:creationId xmlns:a16="http://schemas.microsoft.com/office/drawing/2014/main" id="{1069634C-3E73-770B-CDB0-0B6F7A18EED8}"/>
              </a:ext>
            </a:extLst>
          </p:cNvPr>
          <p:cNvPicPr>
            <a:picLocks noChangeAspect="1"/>
          </p:cNvPicPr>
          <p:nvPr/>
        </p:nvPicPr>
        <p:blipFill>
          <a:blip r:embed="rId7"/>
          <a:stretch>
            <a:fillRect/>
          </a:stretch>
        </p:blipFill>
        <p:spPr>
          <a:xfrm>
            <a:off x="7267340" y="5008244"/>
            <a:ext cx="475488" cy="475488"/>
          </a:xfrm>
          <a:prstGeom prst="rect">
            <a:avLst/>
          </a:prstGeom>
        </p:spPr>
      </p:pic>
      <p:pic>
        <p:nvPicPr>
          <p:cNvPr id="146" name="Stage 3">
            <a:extLst>
              <a:ext uri="{FF2B5EF4-FFF2-40B4-BE49-F238E27FC236}">
                <a16:creationId xmlns:a16="http://schemas.microsoft.com/office/drawing/2014/main" id="{937C0AC8-1B6A-90D3-0AF4-88470220E225}"/>
              </a:ext>
            </a:extLst>
          </p:cNvPr>
          <p:cNvPicPr>
            <a:picLocks noChangeAspect="1"/>
          </p:cNvPicPr>
          <p:nvPr/>
        </p:nvPicPr>
        <p:blipFill>
          <a:blip r:embed="rId8"/>
          <a:stretch>
            <a:fillRect/>
          </a:stretch>
        </p:blipFill>
        <p:spPr>
          <a:xfrm>
            <a:off x="9770230" y="1950037"/>
            <a:ext cx="2036003" cy="1417320"/>
          </a:xfrm>
          <a:prstGeom prst="rect">
            <a:avLst/>
          </a:prstGeom>
        </p:spPr>
      </p:pic>
      <p:pic>
        <p:nvPicPr>
          <p:cNvPr id="150" name="Picture 149">
            <a:extLst>
              <a:ext uri="{FF2B5EF4-FFF2-40B4-BE49-F238E27FC236}">
                <a16:creationId xmlns:a16="http://schemas.microsoft.com/office/drawing/2014/main" id="{6B37F5D8-ED4E-B1EE-80F5-FEB7581C0711}"/>
              </a:ext>
            </a:extLst>
          </p:cNvPr>
          <p:cNvPicPr>
            <a:picLocks noChangeAspect="1"/>
          </p:cNvPicPr>
          <p:nvPr/>
        </p:nvPicPr>
        <p:blipFill>
          <a:blip r:embed="rId9"/>
          <a:srcRect l="3815" t="3029" r="3529" b="3661"/>
          <a:stretch>
            <a:fillRect/>
          </a:stretch>
        </p:blipFill>
        <p:spPr>
          <a:xfrm>
            <a:off x="3740466" y="2092942"/>
            <a:ext cx="1210098" cy="812418"/>
          </a:xfrm>
          <a:prstGeom prst="rect">
            <a:avLst/>
          </a:prstGeom>
        </p:spPr>
      </p:pic>
      <p:sp>
        <p:nvSpPr>
          <p:cNvPr id="152" name="Shape 3">
            <a:extLst>
              <a:ext uri="{FF2B5EF4-FFF2-40B4-BE49-F238E27FC236}">
                <a16:creationId xmlns:a16="http://schemas.microsoft.com/office/drawing/2014/main" id="{16E424E2-B6B1-6AAA-2F33-2FF0DADEEFA7}"/>
              </a:ext>
            </a:extLst>
          </p:cNvPr>
          <p:cNvSpPr/>
          <p:nvPr/>
        </p:nvSpPr>
        <p:spPr>
          <a:xfrm>
            <a:off x="3300415" y="1721922"/>
            <a:ext cx="402336" cy="40233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154" name="Image 1" descr="preencoded.png">
            <a:extLst>
              <a:ext uri="{FF2B5EF4-FFF2-40B4-BE49-F238E27FC236}">
                <a16:creationId xmlns:a16="http://schemas.microsoft.com/office/drawing/2014/main" id="{8D8C7294-9551-1EEA-CF44-CB91D086DE22}"/>
              </a:ext>
            </a:extLst>
          </p:cNvPr>
          <p:cNvPicPr>
            <a:picLocks noChangeAspect="1"/>
          </p:cNvPicPr>
          <p:nvPr/>
        </p:nvPicPr>
        <p:blipFill>
          <a:blip r:embed="rId10"/>
          <a:stretch>
            <a:fillRect/>
          </a:stretch>
        </p:blipFill>
        <p:spPr>
          <a:xfrm>
            <a:off x="3413069" y="1834576"/>
            <a:ext cx="177028" cy="177028"/>
          </a:xfrm>
          <a:prstGeom prst="rect">
            <a:avLst/>
          </a:prstGeom>
        </p:spPr>
      </p:pic>
      <p:sp>
        <p:nvSpPr>
          <p:cNvPr id="156" name="Text 4">
            <a:extLst>
              <a:ext uri="{FF2B5EF4-FFF2-40B4-BE49-F238E27FC236}">
                <a16:creationId xmlns:a16="http://schemas.microsoft.com/office/drawing/2014/main" id="{AADA9DA0-6DA2-EFC3-ACFA-EE0EB79FE9B8}"/>
              </a:ext>
            </a:extLst>
          </p:cNvPr>
          <p:cNvSpPr/>
          <p:nvPr/>
        </p:nvSpPr>
        <p:spPr>
          <a:xfrm>
            <a:off x="3782873" y="1753987"/>
            <a:ext cx="2880360" cy="310896"/>
          </a:xfrm>
          <a:prstGeom prst="rect">
            <a:avLst/>
          </a:prstGeom>
          <a:noFill/>
          <a:ln/>
        </p:spPr>
        <p:txBody>
          <a:bodyPr wrap="square" lIns="0" tIns="0" rIns="0" bIns="0" rtlCol="0" anchor="ctr"/>
          <a:lstStyle/>
          <a:p>
            <a:pPr marL="0" indent="0">
              <a:buNone/>
            </a:pPr>
            <a:r>
              <a:rPr lang="en-US" sz="1200" b="1" dirty="0">
                <a:solidFill>
                  <a:srgbClr val="00205B"/>
                </a:solidFill>
                <a:latin typeface="+mj-lt"/>
                <a:ea typeface="Arial" pitchFamily="34" charset="-122"/>
                <a:cs typeface="Arial" pitchFamily="34" charset="-120"/>
              </a:rPr>
              <a:t>FastPass Mobile App</a:t>
            </a:r>
            <a:endParaRPr lang="en-US" sz="1200" dirty="0">
              <a:latin typeface="+mj-lt"/>
            </a:endParaRPr>
          </a:p>
        </p:txBody>
      </p:sp>
      <p:sp>
        <p:nvSpPr>
          <p:cNvPr id="158" name="Shape 7">
            <a:extLst>
              <a:ext uri="{FF2B5EF4-FFF2-40B4-BE49-F238E27FC236}">
                <a16:creationId xmlns:a16="http://schemas.microsoft.com/office/drawing/2014/main" id="{2DF96F2C-BFC5-58BF-378C-41E6464F3FEA}"/>
              </a:ext>
            </a:extLst>
          </p:cNvPr>
          <p:cNvSpPr/>
          <p:nvPr/>
        </p:nvSpPr>
        <p:spPr>
          <a:xfrm>
            <a:off x="9756648" y="3453880"/>
            <a:ext cx="402336" cy="40233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160" name="Image 3" descr="preencoded.png">
            <a:extLst>
              <a:ext uri="{FF2B5EF4-FFF2-40B4-BE49-F238E27FC236}">
                <a16:creationId xmlns:a16="http://schemas.microsoft.com/office/drawing/2014/main" id="{70861ED9-84BA-DCBE-E6A6-A8C230D9741A}"/>
              </a:ext>
            </a:extLst>
          </p:cNvPr>
          <p:cNvPicPr>
            <a:picLocks noChangeAspect="1"/>
          </p:cNvPicPr>
          <p:nvPr/>
        </p:nvPicPr>
        <p:blipFill>
          <a:blip r:embed="rId11"/>
          <a:stretch>
            <a:fillRect/>
          </a:stretch>
        </p:blipFill>
        <p:spPr>
          <a:xfrm>
            <a:off x="9869302" y="3566534"/>
            <a:ext cx="177028" cy="177028"/>
          </a:xfrm>
          <a:prstGeom prst="rect">
            <a:avLst/>
          </a:prstGeom>
        </p:spPr>
      </p:pic>
      <p:sp>
        <p:nvSpPr>
          <p:cNvPr id="162" name="Text 8">
            <a:extLst>
              <a:ext uri="{FF2B5EF4-FFF2-40B4-BE49-F238E27FC236}">
                <a16:creationId xmlns:a16="http://schemas.microsoft.com/office/drawing/2014/main" id="{D0930D0C-05DE-8C44-594F-EBDDDF5D494A}"/>
              </a:ext>
            </a:extLst>
          </p:cNvPr>
          <p:cNvSpPr/>
          <p:nvPr/>
        </p:nvSpPr>
        <p:spPr>
          <a:xfrm>
            <a:off x="10223341" y="3495647"/>
            <a:ext cx="1797730" cy="310896"/>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FastPass Biometric E-Gate</a:t>
            </a:r>
            <a:endParaRPr lang="en-US" sz="1400" dirty="0">
              <a:latin typeface="+mj-lt"/>
            </a:endParaRPr>
          </a:p>
        </p:txBody>
      </p:sp>
    </p:spTree>
    <p:extLst>
      <p:ext uri="{BB962C8B-B14F-4D97-AF65-F5344CB8AC3E}">
        <p14:creationId xmlns:p14="http://schemas.microsoft.com/office/powerpoint/2010/main" val="1752735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A988-82F0-79B0-616F-03A593FE1626}"/>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57C0CEAE-3D5C-0021-6946-3C72687F992D}"/>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EEA88B82-9519-67CC-A04A-74E7FBCAD888}"/>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5C7A7B85-A2C6-40E2-971B-8E2A85F3139E}"/>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6F641D8A-6860-20A5-05AC-EC81CEFB5C3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2EA2590F-4C2F-02DA-B404-AC5DF3C0281E}"/>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7A0426C3-4D49-1B74-3D35-CEBF4AD8B09D}"/>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13</a:t>
            </a:fld>
            <a:r>
              <a:rPr lang="en-US" sz="1200">
                <a:latin typeface="+mj-lt"/>
              </a:rPr>
              <a:t>   | </a:t>
            </a:r>
          </a:p>
        </p:txBody>
      </p:sp>
      <p:sp>
        <p:nvSpPr>
          <p:cNvPr id="11" name="Title 4">
            <a:extLst>
              <a:ext uri="{FF2B5EF4-FFF2-40B4-BE49-F238E27FC236}">
                <a16:creationId xmlns:a16="http://schemas.microsoft.com/office/drawing/2014/main" id="{8B31D1B8-AFD1-55B7-5423-C5D7E04D497A}"/>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The journey continues, with operators in control.</a:t>
            </a:r>
          </a:p>
        </p:txBody>
      </p:sp>
      <p:sp>
        <p:nvSpPr>
          <p:cNvPr id="12" name="TextBox 25">
            <a:extLst>
              <a:ext uri="{FF2B5EF4-FFF2-40B4-BE49-F238E27FC236}">
                <a16:creationId xmlns:a16="http://schemas.microsoft.com/office/drawing/2014/main" id="{41BE25D1-2FF2-8698-FAB1-936EE35145DB}"/>
              </a:ext>
            </a:extLst>
          </p:cNvPr>
          <p:cNvSpPr txBox="1"/>
          <p:nvPr/>
        </p:nvSpPr>
        <p:spPr>
          <a:xfrm>
            <a:off x="343779" y="563652"/>
            <a:ext cx="3625416"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FastPass Solution – Screening to boarding</a:t>
            </a:r>
          </a:p>
        </p:txBody>
      </p:sp>
      <p:sp>
        <p:nvSpPr>
          <p:cNvPr id="2" name="Text 1"/>
          <p:cNvSpPr txBox="1">
            <a:spLocks/>
          </p:cNvSpPr>
          <p:nvPr/>
        </p:nvSpPr>
        <p:spPr>
          <a:xfrm>
            <a:off x="434055" y="1408176"/>
            <a:ext cx="7315200" cy="384048"/>
          </a:xfrm>
          <a:prstGeom prst="rect">
            <a:avLst/>
          </a:prstGeom>
          <a:noFill/>
          <a:ln/>
        </p:spPr>
        <p:txBody>
          <a:bodyPr wrap="square" lIns="0" tIns="0" rIns="0" bIns="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tx2"/>
                </a:solidFill>
                <a:latin typeface="+mj-lt"/>
              </a:rPr>
              <a:t>The verified mobile credential continues across configured touchpoints, while AGIL® Secure ISMP provides real-time operational visibility and exception management.</a:t>
            </a:r>
          </a:p>
        </p:txBody>
      </p:sp>
      <p:pic>
        <p:nvPicPr>
          <p:cNvPr id="105" name="Journey scene 2">
            <a:extLst>
              <a:ext uri="{FF2B5EF4-FFF2-40B4-BE49-F238E27FC236}">
                <a16:creationId xmlns:a16="http://schemas.microsoft.com/office/drawing/2014/main" id="{B225B134-630C-6C89-1859-1911F86CCFD3}"/>
              </a:ext>
            </a:extLst>
          </p:cNvPr>
          <p:cNvPicPr>
            <a:picLocks noChangeAspect="1"/>
          </p:cNvPicPr>
          <p:nvPr/>
        </p:nvPicPr>
        <p:blipFill>
          <a:blip r:embed="rId5"/>
          <a:srcRect l="4238" t="7117" b="5472"/>
          <a:stretch>
            <a:fillRect/>
          </a:stretch>
        </p:blipFill>
        <p:spPr>
          <a:xfrm>
            <a:off x="502161" y="842170"/>
            <a:ext cx="11346060" cy="5825755"/>
          </a:xfrm>
          <a:prstGeom prst="rect">
            <a:avLst/>
          </a:prstGeom>
        </p:spPr>
      </p:pic>
      <p:sp>
        <p:nvSpPr>
          <p:cNvPr id="106" name="Shape 3">
            <a:extLst>
              <a:ext uri="{FF2B5EF4-FFF2-40B4-BE49-F238E27FC236}">
                <a16:creationId xmlns:a16="http://schemas.microsoft.com/office/drawing/2014/main" id="{4A789CE3-9677-6397-2F5C-48DC1F052373}"/>
              </a:ext>
            </a:extLst>
          </p:cNvPr>
          <p:cNvSpPr/>
          <p:nvPr/>
        </p:nvSpPr>
        <p:spPr>
          <a:xfrm>
            <a:off x="1737360" y="3401568"/>
            <a:ext cx="1026871" cy="1580998"/>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7" name="Shape 4">
            <a:extLst>
              <a:ext uri="{FF2B5EF4-FFF2-40B4-BE49-F238E27FC236}">
                <a16:creationId xmlns:a16="http://schemas.microsoft.com/office/drawing/2014/main" id="{0F0048A3-57E7-6114-C33A-AE63834622C0}"/>
              </a:ext>
            </a:extLst>
          </p:cNvPr>
          <p:cNvSpPr/>
          <p:nvPr/>
        </p:nvSpPr>
        <p:spPr>
          <a:xfrm>
            <a:off x="6812280" y="2958084"/>
            <a:ext cx="2286000" cy="928116"/>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8" name="Shape 5">
            <a:extLst>
              <a:ext uri="{FF2B5EF4-FFF2-40B4-BE49-F238E27FC236}">
                <a16:creationId xmlns:a16="http://schemas.microsoft.com/office/drawing/2014/main" id="{8BB8A631-E8F7-F4D0-E94E-8A7317A6032C}"/>
              </a:ext>
            </a:extLst>
          </p:cNvPr>
          <p:cNvSpPr/>
          <p:nvPr/>
        </p:nvSpPr>
        <p:spPr>
          <a:xfrm>
            <a:off x="7635240" y="4913071"/>
            <a:ext cx="1463040" cy="527609"/>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09" name="Shape 6">
            <a:extLst>
              <a:ext uri="{FF2B5EF4-FFF2-40B4-BE49-F238E27FC236}">
                <a16:creationId xmlns:a16="http://schemas.microsoft.com/office/drawing/2014/main" id="{B3CB9E7D-C82C-02ED-8396-D681569A5539}"/>
              </a:ext>
            </a:extLst>
          </p:cNvPr>
          <p:cNvSpPr/>
          <p:nvPr/>
        </p:nvSpPr>
        <p:spPr>
          <a:xfrm>
            <a:off x="1639697" y="4275644"/>
            <a:ext cx="844728" cy="229605"/>
          </a:xfrm>
          <a:prstGeom prst="line">
            <a:avLst/>
          </a:prstGeom>
          <a:noFill/>
          <a:ln w="12700">
            <a:solidFill>
              <a:srgbClr val="0B84AE"/>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0" name="Shape 7">
            <a:extLst>
              <a:ext uri="{FF2B5EF4-FFF2-40B4-BE49-F238E27FC236}">
                <a16:creationId xmlns:a16="http://schemas.microsoft.com/office/drawing/2014/main" id="{A7B2379F-68CD-2BFA-48AE-8EAD51E08FF7}"/>
              </a:ext>
            </a:extLst>
          </p:cNvPr>
          <p:cNvSpPr/>
          <p:nvPr/>
        </p:nvSpPr>
        <p:spPr>
          <a:xfrm>
            <a:off x="2438705" y="4459529"/>
            <a:ext cx="91440" cy="9144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3" name="Shape 9">
            <a:extLst>
              <a:ext uri="{FF2B5EF4-FFF2-40B4-BE49-F238E27FC236}">
                <a16:creationId xmlns:a16="http://schemas.microsoft.com/office/drawing/2014/main" id="{D211C479-548A-29C2-FB2C-BDE04C190205}"/>
              </a:ext>
            </a:extLst>
          </p:cNvPr>
          <p:cNvSpPr/>
          <p:nvPr/>
        </p:nvSpPr>
        <p:spPr>
          <a:xfrm flipV="1">
            <a:off x="5277671" y="4700016"/>
            <a:ext cx="1292293" cy="774690"/>
          </a:xfrm>
          <a:prstGeom prst="line">
            <a:avLst/>
          </a:prstGeom>
          <a:noFill/>
          <a:ln w="12700">
            <a:solidFill>
              <a:srgbClr val="0B84AE"/>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4" name="Shape 10">
            <a:extLst>
              <a:ext uri="{FF2B5EF4-FFF2-40B4-BE49-F238E27FC236}">
                <a16:creationId xmlns:a16="http://schemas.microsoft.com/office/drawing/2014/main" id="{1FD1BB5E-0521-7911-43FF-7EC09D917A06}"/>
              </a:ext>
            </a:extLst>
          </p:cNvPr>
          <p:cNvSpPr/>
          <p:nvPr/>
        </p:nvSpPr>
        <p:spPr>
          <a:xfrm>
            <a:off x="6524244" y="4654296"/>
            <a:ext cx="91440" cy="9144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7" name="Shape 12">
            <a:extLst>
              <a:ext uri="{FF2B5EF4-FFF2-40B4-BE49-F238E27FC236}">
                <a16:creationId xmlns:a16="http://schemas.microsoft.com/office/drawing/2014/main" id="{6A4CAC0C-3519-64B2-D609-E1D1212A650F}"/>
              </a:ext>
            </a:extLst>
          </p:cNvPr>
          <p:cNvSpPr/>
          <p:nvPr/>
        </p:nvSpPr>
        <p:spPr>
          <a:xfrm flipV="1">
            <a:off x="3331159" y="3401568"/>
            <a:ext cx="600761" cy="311810"/>
          </a:xfrm>
          <a:prstGeom prst="line">
            <a:avLst/>
          </a:prstGeom>
          <a:noFill/>
          <a:ln w="9525">
            <a:solidFill>
              <a:srgbClr val="0B84AE"/>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8" name="Shape 13">
            <a:extLst>
              <a:ext uri="{FF2B5EF4-FFF2-40B4-BE49-F238E27FC236}">
                <a16:creationId xmlns:a16="http://schemas.microsoft.com/office/drawing/2014/main" id="{85C2F02F-DE88-617E-7F4B-ECD2023162D5}"/>
              </a:ext>
            </a:extLst>
          </p:cNvPr>
          <p:cNvSpPr/>
          <p:nvPr/>
        </p:nvSpPr>
        <p:spPr>
          <a:xfrm>
            <a:off x="3294583" y="3676802"/>
            <a:ext cx="73152" cy="7315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19" name="Shape 14">
            <a:extLst>
              <a:ext uri="{FF2B5EF4-FFF2-40B4-BE49-F238E27FC236}">
                <a16:creationId xmlns:a16="http://schemas.microsoft.com/office/drawing/2014/main" id="{66C5727A-0B50-2076-4F2D-BB7C1C5D5BA0}"/>
              </a:ext>
            </a:extLst>
          </p:cNvPr>
          <p:cNvSpPr/>
          <p:nvPr/>
        </p:nvSpPr>
        <p:spPr>
          <a:xfrm>
            <a:off x="3703320" y="3127248"/>
            <a:ext cx="2011680" cy="274320"/>
          </a:xfrm>
          <a:prstGeom prst="roundRect">
            <a:avLst>
              <a:gd name="adj" fmla="val 50000"/>
            </a:avLst>
          </a:prstGeom>
          <a:solidFill>
            <a:srgbClr val="FFFFFF"/>
          </a:solidFill>
          <a:ln w="9525">
            <a:solidFill>
              <a:srgbClr val="0B84AE">
                <a:alpha val="70000"/>
              </a:srgbClr>
            </a:solidFill>
            <a:prstDash val="solid"/>
          </a:ln>
          <a:effectLst>
            <a:outerShdw blurRad="177800" dist="38100" dir="5400000" algn="bl" rotWithShape="0">
              <a:srgbClr val="0A1628">
                <a:alpha val="10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0" name="Text 15">
            <a:extLst>
              <a:ext uri="{FF2B5EF4-FFF2-40B4-BE49-F238E27FC236}">
                <a16:creationId xmlns:a16="http://schemas.microsoft.com/office/drawing/2014/main" id="{974E2A57-D9C1-F5FB-23D2-D463E0CB4505}"/>
              </a:ext>
            </a:extLst>
          </p:cNvPr>
          <p:cNvSpPr txBox="1"/>
          <p:nvPr/>
        </p:nvSpPr>
        <p:spPr>
          <a:xfrm>
            <a:off x="3703320" y="3127248"/>
            <a:ext cx="2011680" cy="274320"/>
          </a:xfrm>
          <a:prstGeom prst="rect">
            <a:avLst/>
          </a:prstGeom>
          <a:noFill/>
          <a:ln/>
        </p:spPr>
        <p:txBody>
          <a:bodyPr wrap="square" lIns="0" tIns="0" rIns="0" bIns="0" rtlCol="0" anchor="ctr"/>
          <a:lstStyle/>
          <a:p>
            <a:pPr algn="ctr"/>
            <a:r>
              <a:rPr lang="en-US" sz="1000" b="1" dirty="0">
                <a:solidFill>
                  <a:srgbClr val="0B84AE"/>
                </a:solidFill>
                <a:latin typeface="+mj-lt"/>
              </a:rPr>
              <a:t>Exception detected | Officer notified</a:t>
            </a:r>
            <a:endParaRPr lang="en-US" sz="1000" b="1" dirty="0">
              <a:solidFill>
                <a:srgbClr val="0A1628"/>
              </a:solidFill>
              <a:latin typeface="+mj-lt"/>
            </a:endParaRPr>
          </a:p>
        </p:txBody>
      </p:sp>
      <p:sp>
        <p:nvSpPr>
          <p:cNvPr id="122" name="Shape 17">
            <a:extLst>
              <a:ext uri="{FF2B5EF4-FFF2-40B4-BE49-F238E27FC236}">
                <a16:creationId xmlns:a16="http://schemas.microsoft.com/office/drawing/2014/main" id="{ACA5F71E-0FA8-DCE0-4939-B7DF86D12ED9}"/>
              </a:ext>
            </a:extLst>
          </p:cNvPr>
          <p:cNvSpPr/>
          <p:nvPr/>
        </p:nvSpPr>
        <p:spPr>
          <a:xfrm>
            <a:off x="749808" y="2286000"/>
            <a:ext cx="347472" cy="34747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3" name="Text 18">
            <a:extLst>
              <a:ext uri="{FF2B5EF4-FFF2-40B4-BE49-F238E27FC236}">
                <a16:creationId xmlns:a16="http://schemas.microsoft.com/office/drawing/2014/main" id="{B1D65DE1-B165-8ACB-4E75-4B6411EFEB7F}"/>
              </a:ext>
            </a:extLst>
          </p:cNvPr>
          <p:cNvSpPr txBox="1"/>
          <p:nvPr/>
        </p:nvSpPr>
        <p:spPr>
          <a:xfrm>
            <a:off x="749808" y="2286000"/>
            <a:ext cx="347472" cy="347472"/>
          </a:xfrm>
          <a:prstGeom prst="rect">
            <a:avLst/>
          </a:prstGeom>
          <a:noFill/>
          <a:ln/>
        </p:spPr>
        <p:txBody>
          <a:bodyPr wrap="square" lIns="0" tIns="0" rIns="0" bIns="0" rtlCol="0" anchor="ctr"/>
          <a:lstStyle/>
          <a:p>
            <a:pPr algn="ctr"/>
            <a:r>
              <a:rPr lang="en-US" sz="1300" b="1" dirty="0">
                <a:solidFill>
                  <a:srgbClr val="FFFFFF"/>
                </a:solidFill>
                <a:latin typeface="+mj-lt"/>
              </a:rPr>
              <a:t>4</a:t>
            </a:r>
            <a:endParaRPr lang="en-US" sz="1300" dirty="0">
              <a:solidFill>
                <a:srgbClr val="0A1628"/>
              </a:solidFill>
              <a:latin typeface="+mj-lt"/>
            </a:endParaRPr>
          </a:p>
        </p:txBody>
      </p:sp>
      <p:sp>
        <p:nvSpPr>
          <p:cNvPr id="124" name="Text 19">
            <a:extLst>
              <a:ext uri="{FF2B5EF4-FFF2-40B4-BE49-F238E27FC236}">
                <a16:creationId xmlns:a16="http://schemas.microsoft.com/office/drawing/2014/main" id="{A478CB49-3FD4-C6B1-98BF-A34E0F3F5E05}"/>
              </a:ext>
            </a:extLst>
          </p:cNvPr>
          <p:cNvSpPr txBox="1"/>
          <p:nvPr/>
        </p:nvSpPr>
        <p:spPr>
          <a:xfrm>
            <a:off x="1207008" y="2276856"/>
            <a:ext cx="2148840" cy="365760"/>
          </a:xfrm>
          <a:prstGeom prst="rect">
            <a:avLst/>
          </a:prstGeom>
          <a:noFill/>
          <a:ln/>
        </p:spPr>
        <p:txBody>
          <a:bodyPr wrap="square" lIns="0" tIns="0" rIns="0" bIns="0" rtlCol="0" anchor="ctr"/>
          <a:lstStyle/>
          <a:p>
            <a:r>
              <a:rPr lang="en-US" sz="1500" b="1" dirty="0">
                <a:solidFill>
                  <a:srgbClr val="0A1628"/>
                </a:solidFill>
                <a:latin typeface="+mj-lt"/>
              </a:rPr>
              <a:t>FastPass Pre-Screening Profile Check</a:t>
            </a:r>
          </a:p>
        </p:txBody>
      </p:sp>
      <p:sp>
        <p:nvSpPr>
          <p:cNvPr id="125" name="Text 20">
            <a:extLst>
              <a:ext uri="{FF2B5EF4-FFF2-40B4-BE49-F238E27FC236}">
                <a16:creationId xmlns:a16="http://schemas.microsoft.com/office/drawing/2014/main" id="{F6742FA0-D084-7D48-8CD9-3057F6D9141D}"/>
              </a:ext>
            </a:extLst>
          </p:cNvPr>
          <p:cNvSpPr txBox="1"/>
          <p:nvPr/>
        </p:nvSpPr>
        <p:spPr>
          <a:xfrm>
            <a:off x="749808" y="2724912"/>
            <a:ext cx="2587752" cy="566928"/>
          </a:xfrm>
          <a:prstGeom prst="rect">
            <a:avLst/>
          </a:prstGeom>
          <a:noFill/>
          <a:ln/>
        </p:spPr>
        <p:txBody>
          <a:bodyPr wrap="square" lIns="0" tIns="0" rIns="0" bIns="0" rtlCol="0" anchor="t"/>
          <a:lstStyle/>
          <a:p>
            <a:r>
              <a:rPr lang="en-US" sz="1300" dirty="0">
                <a:solidFill>
                  <a:srgbClr val="4F5B6D"/>
                </a:solidFill>
                <a:latin typeface="+mj-lt"/>
              </a:rPr>
              <a:t>Before bags reach X-ray, the Nova Plus reader confirms identity and retrieves the clearance profile.</a:t>
            </a:r>
            <a:endParaRPr lang="en-US" sz="1300" dirty="0">
              <a:solidFill>
                <a:srgbClr val="0A1628"/>
              </a:solidFill>
              <a:latin typeface="+mj-lt"/>
            </a:endParaRPr>
          </a:p>
        </p:txBody>
      </p:sp>
      <p:sp>
        <p:nvSpPr>
          <p:cNvPr id="127" name="Shape 22">
            <a:extLst>
              <a:ext uri="{FF2B5EF4-FFF2-40B4-BE49-F238E27FC236}">
                <a16:creationId xmlns:a16="http://schemas.microsoft.com/office/drawing/2014/main" id="{314EA70D-3A82-E1DB-FB02-F0D4F983981E}"/>
              </a:ext>
            </a:extLst>
          </p:cNvPr>
          <p:cNvSpPr/>
          <p:nvPr/>
        </p:nvSpPr>
        <p:spPr>
          <a:xfrm>
            <a:off x="9299448" y="3749040"/>
            <a:ext cx="347472" cy="34747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28" name="Text 23">
            <a:extLst>
              <a:ext uri="{FF2B5EF4-FFF2-40B4-BE49-F238E27FC236}">
                <a16:creationId xmlns:a16="http://schemas.microsoft.com/office/drawing/2014/main" id="{431D1F3F-96BC-3E2D-CEBC-40007F949700}"/>
              </a:ext>
            </a:extLst>
          </p:cNvPr>
          <p:cNvSpPr txBox="1"/>
          <p:nvPr/>
        </p:nvSpPr>
        <p:spPr>
          <a:xfrm>
            <a:off x="9299448" y="3749040"/>
            <a:ext cx="347472" cy="347472"/>
          </a:xfrm>
          <a:prstGeom prst="rect">
            <a:avLst/>
          </a:prstGeom>
          <a:noFill/>
          <a:ln/>
        </p:spPr>
        <p:txBody>
          <a:bodyPr wrap="square" lIns="0" tIns="0" rIns="0" bIns="0" rtlCol="0" anchor="ctr"/>
          <a:lstStyle/>
          <a:p>
            <a:pPr algn="ctr"/>
            <a:r>
              <a:rPr lang="en-US" sz="1300" b="1" dirty="0">
                <a:solidFill>
                  <a:srgbClr val="FFFFFF"/>
                </a:solidFill>
                <a:latin typeface="+mj-lt"/>
              </a:rPr>
              <a:t>5</a:t>
            </a:r>
            <a:endParaRPr lang="en-US" sz="1300" dirty="0">
              <a:solidFill>
                <a:srgbClr val="0A1628"/>
              </a:solidFill>
              <a:latin typeface="+mj-lt"/>
            </a:endParaRPr>
          </a:p>
        </p:txBody>
      </p:sp>
      <p:sp>
        <p:nvSpPr>
          <p:cNvPr id="129" name="Text 24">
            <a:extLst>
              <a:ext uri="{FF2B5EF4-FFF2-40B4-BE49-F238E27FC236}">
                <a16:creationId xmlns:a16="http://schemas.microsoft.com/office/drawing/2014/main" id="{D737C3D0-C15A-587B-0613-30743C503665}"/>
              </a:ext>
            </a:extLst>
          </p:cNvPr>
          <p:cNvSpPr txBox="1"/>
          <p:nvPr/>
        </p:nvSpPr>
        <p:spPr>
          <a:xfrm>
            <a:off x="9756647" y="3739896"/>
            <a:ext cx="1933191" cy="365760"/>
          </a:xfrm>
          <a:prstGeom prst="rect">
            <a:avLst/>
          </a:prstGeom>
          <a:noFill/>
          <a:ln/>
        </p:spPr>
        <p:txBody>
          <a:bodyPr wrap="square" lIns="0" tIns="0" rIns="0" bIns="0" rtlCol="0" anchor="ctr"/>
          <a:lstStyle/>
          <a:p>
            <a:r>
              <a:rPr lang="en-US" sz="1500" b="1" dirty="0">
                <a:solidFill>
                  <a:srgbClr val="0A1628"/>
                </a:solidFill>
                <a:latin typeface="+mj-lt"/>
              </a:rPr>
              <a:t>FastPass Smart Boarding Kiosk</a:t>
            </a:r>
          </a:p>
        </p:txBody>
      </p:sp>
      <p:sp>
        <p:nvSpPr>
          <p:cNvPr id="130" name="Text 25">
            <a:extLst>
              <a:ext uri="{FF2B5EF4-FFF2-40B4-BE49-F238E27FC236}">
                <a16:creationId xmlns:a16="http://schemas.microsoft.com/office/drawing/2014/main" id="{DF5BB629-39EA-092A-680F-D1217DC38FB6}"/>
              </a:ext>
            </a:extLst>
          </p:cNvPr>
          <p:cNvSpPr txBox="1"/>
          <p:nvPr/>
        </p:nvSpPr>
        <p:spPr>
          <a:xfrm>
            <a:off x="9299448" y="4187952"/>
            <a:ext cx="2157984" cy="566928"/>
          </a:xfrm>
          <a:prstGeom prst="rect">
            <a:avLst/>
          </a:prstGeom>
          <a:noFill/>
          <a:ln/>
        </p:spPr>
        <p:txBody>
          <a:bodyPr wrap="square" lIns="0" tIns="0" rIns="0" bIns="0" rtlCol="0" anchor="t"/>
          <a:lstStyle/>
          <a:p>
            <a:r>
              <a:rPr lang="en-US" sz="1300" dirty="0">
                <a:solidFill>
                  <a:srgbClr val="4F5B6D"/>
                </a:solidFill>
                <a:latin typeface="+mj-lt"/>
              </a:rPr>
              <a:t>Face plus phone clears the boarding kiosk. No passport, no boarding pass.</a:t>
            </a:r>
            <a:endParaRPr lang="en-US" sz="1300" dirty="0">
              <a:solidFill>
                <a:srgbClr val="0A1628"/>
              </a:solidFill>
              <a:latin typeface="+mj-lt"/>
            </a:endParaRPr>
          </a:p>
        </p:txBody>
      </p:sp>
      <p:sp>
        <p:nvSpPr>
          <p:cNvPr id="132" name="Shape 27">
            <a:extLst>
              <a:ext uri="{FF2B5EF4-FFF2-40B4-BE49-F238E27FC236}">
                <a16:creationId xmlns:a16="http://schemas.microsoft.com/office/drawing/2014/main" id="{89DF4B45-BC6A-B069-55DC-CA8824B83E3D}"/>
              </a:ext>
            </a:extLst>
          </p:cNvPr>
          <p:cNvSpPr/>
          <p:nvPr/>
        </p:nvSpPr>
        <p:spPr>
          <a:xfrm>
            <a:off x="9299448" y="5184648"/>
            <a:ext cx="347472" cy="347472"/>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33" name="Text 28">
            <a:extLst>
              <a:ext uri="{FF2B5EF4-FFF2-40B4-BE49-F238E27FC236}">
                <a16:creationId xmlns:a16="http://schemas.microsoft.com/office/drawing/2014/main" id="{A38BFC98-1FBD-B53D-33D5-65B9F7B2CE13}"/>
              </a:ext>
            </a:extLst>
          </p:cNvPr>
          <p:cNvSpPr txBox="1"/>
          <p:nvPr/>
        </p:nvSpPr>
        <p:spPr>
          <a:xfrm>
            <a:off x="9299448" y="5184648"/>
            <a:ext cx="347472" cy="347472"/>
          </a:xfrm>
          <a:prstGeom prst="rect">
            <a:avLst/>
          </a:prstGeom>
          <a:noFill/>
          <a:ln/>
        </p:spPr>
        <p:txBody>
          <a:bodyPr wrap="square" lIns="0" tIns="0" rIns="0" bIns="0" rtlCol="0" anchor="ctr"/>
          <a:lstStyle/>
          <a:p>
            <a:pPr algn="ctr"/>
            <a:r>
              <a:rPr lang="en-US" sz="1300" b="1" dirty="0">
                <a:solidFill>
                  <a:srgbClr val="FFFFFF"/>
                </a:solidFill>
                <a:latin typeface="+mj-lt"/>
              </a:rPr>
              <a:t>6</a:t>
            </a:r>
            <a:endParaRPr lang="en-US" sz="1300" dirty="0">
              <a:solidFill>
                <a:srgbClr val="0A1628"/>
              </a:solidFill>
              <a:latin typeface="+mj-lt"/>
            </a:endParaRPr>
          </a:p>
        </p:txBody>
      </p:sp>
      <p:sp>
        <p:nvSpPr>
          <p:cNvPr id="134" name="Text 29">
            <a:extLst>
              <a:ext uri="{FF2B5EF4-FFF2-40B4-BE49-F238E27FC236}">
                <a16:creationId xmlns:a16="http://schemas.microsoft.com/office/drawing/2014/main" id="{B39E3F0E-DABD-0B4F-0059-3B4BB67FD0AC}"/>
              </a:ext>
            </a:extLst>
          </p:cNvPr>
          <p:cNvSpPr txBox="1"/>
          <p:nvPr/>
        </p:nvSpPr>
        <p:spPr>
          <a:xfrm>
            <a:off x="9756648" y="5175504"/>
            <a:ext cx="1719072" cy="365760"/>
          </a:xfrm>
          <a:prstGeom prst="rect">
            <a:avLst/>
          </a:prstGeom>
          <a:noFill/>
          <a:ln/>
        </p:spPr>
        <p:txBody>
          <a:bodyPr wrap="square" lIns="0" tIns="0" rIns="0" bIns="0" rtlCol="0" anchor="ctr"/>
          <a:lstStyle/>
          <a:p>
            <a:r>
              <a:rPr lang="en-US" sz="1500" b="1" dirty="0">
                <a:solidFill>
                  <a:srgbClr val="0A1628"/>
                </a:solidFill>
                <a:latin typeface="+mj-lt"/>
              </a:rPr>
              <a:t>Maintain operational oversight</a:t>
            </a:r>
            <a:endParaRPr lang="en-US" sz="1500" dirty="0">
              <a:solidFill>
                <a:srgbClr val="0A1628"/>
              </a:solidFill>
              <a:latin typeface="+mj-lt"/>
            </a:endParaRPr>
          </a:p>
        </p:txBody>
      </p:sp>
      <p:sp>
        <p:nvSpPr>
          <p:cNvPr id="135" name="Text 30">
            <a:extLst>
              <a:ext uri="{FF2B5EF4-FFF2-40B4-BE49-F238E27FC236}">
                <a16:creationId xmlns:a16="http://schemas.microsoft.com/office/drawing/2014/main" id="{AD96598B-B314-1B15-A244-CE70EED6850A}"/>
              </a:ext>
            </a:extLst>
          </p:cNvPr>
          <p:cNvSpPr txBox="1"/>
          <p:nvPr/>
        </p:nvSpPr>
        <p:spPr>
          <a:xfrm>
            <a:off x="9299447" y="5623559"/>
            <a:ext cx="2548773" cy="1080139"/>
          </a:xfrm>
          <a:prstGeom prst="rect">
            <a:avLst/>
          </a:prstGeom>
          <a:noFill/>
          <a:ln/>
        </p:spPr>
        <p:txBody>
          <a:bodyPr wrap="square" lIns="0" tIns="0" rIns="0" bIns="0" rtlCol="0" anchor="t"/>
          <a:lstStyle/>
          <a:p>
            <a:r>
              <a:rPr lang="en-US" sz="1300" dirty="0">
                <a:solidFill>
                  <a:srgbClr val="4F5B6D"/>
                </a:solidFill>
                <a:latin typeface="+mj-lt"/>
              </a:rPr>
              <a:t>AGIL® Secure ISMP connects transactions, touchpoint status and relevant security events, routing exceptions to the appropriate officer workflow.</a:t>
            </a:r>
            <a:endParaRPr lang="en-US" sz="1300" dirty="0">
              <a:solidFill>
                <a:srgbClr val="0A1628"/>
              </a:solidFill>
              <a:latin typeface="+mj-lt"/>
            </a:endParaRPr>
          </a:p>
        </p:txBody>
      </p:sp>
      <p:sp>
        <p:nvSpPr>
          <p:cNvPr id="136" name="Shape 31">
            <a:extLst>
              <a:ext uri="{FF2B5EF4-FFF2-40B4-BE49-F238E27FC236}">
                <a16:creationId xmlns:a16="http://schemas.microsoft.com/office/drawing/2014/main" id="{A34E1492-85BE-56AF-C886-1D630936749C}"/>
              </a:ext>
            </a:extLst>
          </p:cNvPr>
          <p:cNvSpPr/>
          <p:nvPr/>
        </p:nvSpPr>
        <p:spPr>
          <a:xfrm>
            <a:off x="2484425" y="4702759"/>
            <a:ext cx="559613" cy="559613"/>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37" name="Shape 32">
            <a:extLst>
              <a:ext uri="{FF2B5EF4-FFF2-40B4-BE49-F238E27FC236}">
                <a16:creationId xmlns:a16="http://schemas.microsoft.com/office/drawing/2014/main" id="{12AA6501-DDFB-AE23-44AC-64F839D56958}"/>
              </a:ext>
            </a:extLst>
          </p:cNvPr>
          <p:cNvSpPr/>
          <p:nvPr/>
        </p:nvSpPr>
        <p:spPr>
          <a:xfrm>
            <a:off x="2599639" y="4817974"/>
            <a:ext cx="329184" cy="329184"/>
          </a:xfrm>
          <a:prstGeom prst="ellipse">
            <a:avLst/>
          </a:prstGeom>
          <a:solidFill>
            <a:srgbClr val="0B84AE"/>
          </a:solidFill>
          <a:ln w="19050">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38" name="Text 33">
            <a:extLst>
              <a:ext uri="{FF2B5EF4-FFF2-40B4-BE49-F238E27FC236}">
                <a16:creationId xmlns:a16="http://schemas.microsoft.com/office/drawing/2014/main" id="{449F6091-CFC4-7EC4-5B45-C7AD51CF63D5}"/>
              </a:ext>
            </a:extLst>
          </p:cNvPr>
          <p:cNvSpPr txBox="1"/>
          <p:nvPr/>
        </p:nvSpPr>
        <p:spPr>
          <a:xfrm>
            <a:off x="2599639" y="4817974"/>
            <a:ext cx="329184" cy="329184"/>
          </a:xfrm>
          <a:prstGeom prst="rect">
            <a:avLst/>
          </a:prstGeom>
          <a:noFill/>
          <a:ln/>
        </p:spPr>
        <p:txBody>
          <a:bodyPr wrap="square" lIns="0" tIns="0" rIns="0" bIns="0" rtlCol="0" anchor="ctr"/>
          <a:lstStyle/>
          <a:p>
            <a:pPr algn="ctr"/>
            <a:r>
              <a:rPr lang="en-US" sz="1300" b="1" dirty="0">
                <a:solidFill>
                  <a:srgbClr val="FFFFFF"/>
                </a:solidFill>
                <a:latin typeface="+mj-lt"/>
              </a:rPr>
              <a:t>4</a:t>
            </a:r>
            <a:endParaRPr lang="en-US" sz="1300" dirty="0">
              <a:solidFill>
                <a:srgbClr val="0A1628"/>
              </a:solidFill>
              <a:latin typeface="+mj-lt"/>
            </a:endParaRPr>
          </a:p>
        </p:txBody>
      </p:sp>
      <p:sp>
        <p:nvSpPr>
          <p:cNvPr id="139" name="Shape 34">
            <a:extLst>
              <a:ext uri="{FF2B5EF4-FFF2-40B4-BE49-F238E27FC236}">
                <a16:creationId xmlns:a16="http://schemas.microsoft.com/office/drawing/2014/main" id="{274F647C-6DDA-FCD2-F8BF-EC77A1CC3E41}"/>
              </a:ext>
            </a:extLst>
          </p:cNvPr>
          <p:cNvSpPr/>
          <p:nvPr/>
        </p:nvSpPr>
        <p:spPr>
          <a:xfrm>
            <a:off x="6532474" y="2678278"/>
            <a:ext cx="559613" cy="559613"/>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40" name="Shape 35">
            <a:extLst>
              <a:ext uri="{FF2B5EF4-FFF2-40B4-BE49-F238E27FC236}">
                <a16:creationId xmlns:a16="http://schemas.microsoft.com/office/drawing/2014/main" id="{24F4DBA9-AA4A-4B47-BDC5-B2716A4283F3}"/>
              </a:ext>
            </a:extLst>
          </p:cNvPr>
          <p:cNvSpPr/>
          <p:nvPr/>
        </p:nvSpPr>
        <p:spPr>
          <a:xfrm>
            <a:off x="6647688" y="2793492"/>
            <a:ext cx="329184" cy="329184"/>
          </a:xfrm>
          <a:prstGeom prst="ellipse">
            <a:avLst/>
          </a:prstGeom>
          <a:solidFill>
            <a:srgbClr val="0B84AE"/>
          </a:solidFill>
          <a:ln w="19050">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41" name="Text 36">
            <a:extLst>
              <a:ext uri="{FF2B5EF4-FFF2-40B4-BE49-F238E27FC236}">
                <a16:creationId xmlns:a16="http://schemas.microsoft.com/office/drawing/2014/main" id="{81E82461-F1CF-C444-D862-3D61DD7B84B4}"/>
              </a:ext>
            </a:extLst>
          </p:cNvPr>
          <p:cNvSpPr txBox="1"/>
          <p:nvPr/>
        </p:nvSpPr>
        <p:spPr>
          <a:xfrm>
            <a:off x="6647688" y="2793492"/>
            <a:ext cx="329184" cy="329184"/>
          </a:xfrm>
          <a:prstGeom prst="rect">
            <a:avLst/>
          </a:prstGeom>
          <a:noFill/>
          <a:ln/>
        </p:spPr>
        <p:txBody>
          <a:bodyPr wrap="square" lIns="0" tIns="0" rIns="0" bIns="0" rtlCol="0" anchor="ctr"/>
          <a:lstStyle/>
          <a:p>
            <a:pPr algn="ctr"/>
            <a:r>
              <a:rPr lang="en-US" sz="1300" b="1" dirty="0">
                <a:solidFill>
                  <a:srgbClr val="FFFFFF"/>
                </a:solidFill>
                <a:latin typeface="+mj-lt"/>
              </a:rPr>
              <a:t>5</a:t>
            </a:r>
            <a:endParaRPr lang="en-US" sz="1300" dirty="0">
              <a:solidFill>
                <a:srgbClr val="0A1628"/>
              </a:solidFill>
              <a:latin typeface="+mj-lt"/>
            </a:endParaRPr>
          </a:p>
        </p:txBody>
      </p:sp>
      <p:sp>
        <p:nvSpPr>
          <p:cNvPr id="142" name="Shape 37">
            <a:extLst>
              <a:ext uri="{FF2B5EF4-FFF2-40B4-BE49-F238E27FC236}">
                <a16:creationId xmlns:a16="http://schemas.microsoft.com/office/drawing/2014/main" id="{570A602F-EB63-45DA-D31D-ED4CA4805AC8}"/>
              </a:ext>
            </a:extLst>
          </p:cNvPr>
          <p:cNvSpPr/>
          <p:nvPr/>
        </p:nvSpPr>
        <p:spPr>
          <a:xfrm>
            <a:off x="7355434" y="4633265"/>
            <a:ext cx="559613" cy="559613"/>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43" name="Shape 38">
            <a:extLst>
              <a:ext uri="{FF2B5EF4-FFF2-40B4-BE49-F238E27FC236}">
                <a16:creationId xmlns:a16="http://schemas.microsoft.com/office/drawing/2014/main" id="{C4AA0D29-906F-1C1F-E190-E6A6D593EFF4}"/>
              </a:ext>
            </a:extLst>
          </p:cNvPr>
          <p:cNvSpPr/>
          <p:nvPr/>
        </p:nvSpPr>
        <p:spPr>
          <a:xfrm>
            <a:off x="7470648" y="4748479"/>
            <a:ext cx="329184" cy="329184"/>
          </a:xfrm>
          <a:prstGeom prst="ellipse">
            <a:avLst/>
          </a:prstGeom>
          <a:solidFill>
            <a:srgbClr val="0B84AE"/>
          </a:solidFill>
          <a:ln w="19050">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44" name="Text 39">
            <a:extLst>
              <a:ext uri="{FF2B5EF4-FFF2-40B4-BE49-F238E27FC236}">
                <a16:creationId xmlns:a16="http://schemas.microsoft.com/office/drawing/2014/main" id="{28C1684A-2E48-E8BE-0477-76AC95FFB8C7}"/>
              </a:ext>
            </a:extLst>
          </p:cNvPr>
          <p:cNvSpPr txBox="1"/>
          <p:nvPr/>
        </p:nvSpPr>
        <p:spPr>
          <a:xfrm>
            <a:off x="7470648" y="4748479"/>
            <a:ext cx="329184" cy="329184"/>
          </a:xfrm>
          <a:prstGeom prst="rect">
            <a:avLst/>
          </a:prstGeom>
          <a:noFill/>
          <a:ln/>
        </p:spPr>
        <p:txBody>
          <a:bodyPr wrap="square" lIns="0" tIns="0" rIns="0" bIns="0" rtlCol="0" anchor="ctr"/>
          <a:lstStyle/>
          <a:p>
            <a:pPr algn="ctr"/>
            <a:r>
              <a:rPr lang="en-US" sz="1300" b="1" dirty="0">
                <a:solidFill>
                  <a:srgbClr val="FFFFFF"/>
                </a:solidFill>
                <a:latin typeface="+mj-lt"/>
              </a:rPr>
              <a:t>6</a:t>
            </a:r>
            <a:endParaRPr lang="en-US" sz="1300" dirty="0">
              <a:solidFill>
                <a:srgbClr val="0A1628"/>
              </a:solidFill>
              <a:latin typeface="+mj-lt"/>
            </a:endParaRPr>
          </a:p>
        </p:txBody>
      </p:sp>
      <p:pic>
        <p:nvPicPr>
          <p:cNvPr id="146" name="Stage 4">
            <a:extLst>
              <a:ext uri="{FF2B5EF4-FFF2-40B4-BE49-F238E27FC236}">
                <a16:creationId xmlns:a16="http://schemas.microsoft.com/office/drawing/2014/main" id="{41249025-2842-FC4F-7D36-FD41B1AA276B}"/>
              </a:ext>
            </a:extLst>
          </p:cNvPr>
          <p:cNvPicPr>
            <a:picLocks noChangeAspect="1"/>
          </p:cNvPicPr>
          <p:nvPr/>
        </p:nvPicPr>
        <p:blipFill>
          <a:blip r:embed="rId6"/>
          <a:stretch>
            <a:fillRect/>
          </a:stretch>
        </p:blipFill>
        <p:spPr>
          <a:xfrm>
            <a:off x="454904" y="3713378"/>
            <a:ext cx="1257962" cy="875703"/>
          </a:xfrm>
          <a:prstGeom prst="rect">
            <a:avLst/>
          </a:prstGeom>
        </p:spPr>
      </p:pic>
      <p:pic>
        <p:nvPicPr>
          <p:cNvPr id="148" name="Stage 5">
            <a:extLst>
              <a:ext uri="{FF2B5EF4-FFF2-40B4-BE49-F238E27FC236}">
                <a16:creationId xmlns:a16="http://schemas.microsoft.com/office/drawing/2014/main" id="{DA6FB556-6526-6B9F-D94B-FD6E1FA7605A}"/>
              </a:ext>
            </a:extLst>
          </p:cNvPr>
          <p:cNvPicPr>
            <a:picLocks noChangeAspect="1"/>
          </p:cNvPicPr>
          <p:nvPr/>
        </p:nvPicPr>
        <p:blipFill>
          <a:blip r:embed="rId7"/>
          <a:stretch>
            <a:fillRect/>
          </a:stretch>
        </p:blipFill>
        <p:spPr>
          <a:xfrm>
            <a:off x="9756647" y="2752063"/>
            <a:ext cx="1211954" cy="843676"/>
          </a:xfrm>
          <a:prstGeom prst="rect">
            <a:avLst/>
          </a:prstGeom>
        </p:spPr>
      </p:pic>
      <p:pic>
        <p:nvPicPr>
          <p:cNvPr id="150" name="ISMP dashboard">
            <a:extLst>
              <a:ext uri="{FF2B5EF4-FFF2-40B4-BE49-F238E27FC236}">
                <a16:creationId xmlns:a16="http://schemas.microsoft.com/office/drawing/2014/main" id="{1DD3D153-C410-C9D0-931B-A83E5C8B676F}"/>
              </a:ext>
            </a:extLst>
          </p:cNvPr>
          <p:cNvPicPr>
            <a:picLocks noChangeAspect="1"/>
          </p:cNvPicPr>
          <p:nvPr/>
        </p:nvPicPr>
        <p:blipFill>
          <a:blip r:embed="rId8"/>
          <a:stretch>
            <a:fillRect/>
          </a:stretch>
        </p:blipFill>
        <p:spPr>
          <a:xfrm>
            <a:off x="4194102" y="5508094"/>
            <a:ext cx="1719072" cy="1085471"/>
          </a:xfrm>
          <a:prstGeom prst="rect">
            <a:avLst/>
          </a:prstGeom>
        </p:spPr>
      </p:pic>
      <p:sp>
        <p:nvSpPr>
          <p:cNvPr id="164" name="Text 8">
            <a:extLst>
              <a:ext uri="{FF2B5EF4-FFF2-40B4-BE49-F238E27FC236}">
                <a16:creationId xmlns:a16="http://schemas.microsoft.com/office/drawing/2014/main" id="{7AF78373-4381-105B-3E6E-E46370AA807B}"/>
              </a:ext>
            </a:extLst>
          </p:cNvPr>
          <p:cNvSpPr/>
          <p:nvPr/>
        </p:nvSpPr>
        <p:spPr>
          <a:xfrm>
            <a:off x="4364540" y="6606919"/>
            <a:ext cx="1530447" cy="273844"/>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AGIL® Secure ISMP </a:t>
            </a:r>
            <a:endParaRPr lang="en-US" sz="1400" dirty="0">
              <a:latin typeface="+mj-lt"/>
            </a:endParaRPr>
          </a:p>
        </p:txBody>
      </p:sp>
    </p:spTree>
    <p:extLst>
      <p:ext uri="{BB962C8B-B14F-4D97-AF65-F5344CB8AC3E}">
        <p14:creationId xmlns:p14="http://schemas.microsoft.com/office/powerpoint/2010/main" val="743648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D9131B-268D-A3CB-9A75-91BA60A07465}"/>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B138C5E6-3F5A-D4A9-7CD2-CF4B720F82D1}"/>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35716058-9337-E7E8-DD7B-56373F5FCD1E}"/>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0"/>
            <a:ext cx="12192001" cy="6863645"/>
          </a:xfrm>
          <a:prstGeom prst="rect">
            <a:avLst/>
          </a:prstGeom>
        </p:spPr>
      </p:pic>
      <p:grpSp>
        <p:nvGrpSpPr>
          <p:cNvPr id="5" name="Group 4">
            <a:extLst>
              <a:ext uri="{FF2B5EF4-FFF2-40B4-BE49-F238E27FC236}">
                <a16:creationId xmlns:a16="http://schemas.microsoft.com/office/drawing/2014/main" id="{138C82B8-27CF-E275-1355-E1A870C5BB93}"/>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C4FB8187-F38B-093B-6B46-A54195AC4BE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D2642121-F8B1-98CD-6328-A30F5BE6E795}"/>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F40E72CD-A0E7-5F5C-534B-BDC6C1558063}"/>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14</a:t>
            </a:fld>
            <a:r>
              <a:rPr lang="en-US" sz="1200">
                <a:latin typeface="+mj-lt"/>
              </a:rPr>
              <a:t>   | </a:t>
            </a:r>
          </a:p>
        </p:txBody>
      </p:sp>
      <p:sp>
        <p:nvSpPr>
          <p:cNvPr id="11" name="Title 4">
            <a:extLst>
              <a:ext uri="{FF2B5EF4-FFF2-40B4-BE49-F238E27FC236}">
                <a16:creationId xmlns:a16="http://schemas.microsoft.com/office/drawing/2014/main" id="{59EACC73-188B-1AF5-171F-D8C7D4BC20E2}"/>
              </a:ext>
            </a:extLst>
          </p:cNvPr>
          <p:cNvSpPr txBox="1">
            <a:spLocks/>
          </p:cNvSpPr>
          <p:nvPr/>
        </p:nvSpPr>
        <p:spPr>
          <a:xfrm>
            <a:off x="343779" y="800366"/>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ea typeface="Arial" pitchFamily="34" charset="-122"/>
                <a:cs typeface="Arial" pitchFamily="34" charset="-120"/>
              </a:rPr>
              <a:t>One identity. Every integrated touchpoint.</a:t>
            </a:r>
            <a:endParaRPr lang="en-US" sz="2650" dirty="0">
              <a:solidFill>
                <a:schemeClr val="tx1"/>
              </a:solidFill>
              <a:latin typeface="+mj-lt"/>
            </a:endParaRPr>
          </a:p>
        </p:txBody>
      </p:sp>
      <p:sp>
        <p:nvSpPr>
          <p:cNvPr id="12" name="TextBox 25">
            <a:extLst>
              <a:ext uri="{FF2B5EF4-FFF2-40B4-BE49-F238E27FC236}">
                <a16:creationId xmlns:a16="http://schemas.microsoft.com/office/drawing/2014/main" id="{D28B08BF-97A6-C1DB-E935-12289F2F5963}"/>
              </a:ext>
            </a:extLst>
          </p:cNvPr>
          <p:cNvSpPr txBox="1"/>
          <p:nvPr/>
        </p:nvSpPr>
        <p:spPr>
          <a:xfrm>
            <a:off x="343779" y="563652"/>
            <a:ext cx="3152851"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Innovativeness - Product Overview</a:t>
            </a:r>
          </a:p>
        </p:txBody>
      </p:sp>
      <p:sp>
        <p:nvSpPr>
          <p:cNvPr id="4" name="Text 2"/>
          <p:cNvSpPr/>
          <p:nvPr/>
        </p:nvSpPr>
        <p:spPr>
          <a:xfrm>
            <a:off x="425282" y="1333974"/>
            <a:ext cx="10789920" cy="433473"/>
          </a:xfrm>
          <a:prstGeom prst="rect">
            <a:avLst/>
          </a:prstGeom>
          <a:noFill/>
          <a:ln/>
        </p:spPr>
        <p:txBody>
          <a:bodyPr wrap="square" lIns="0" tIns="0" rIns="0" bIns="0" rtlCol="0" anchor="ctr"/>
          <a:lstStyle/>
          <a:p>
            <a:pPr>
              <a:lnSpc>
                <a:spcPct val="120000"/>
              </a:lnSpc>
            </a:pPr>
            <a:r>
              <a:rPr lang="en-US" sz="1600" dirty="0">
                <a:solidFill>
                  <a:srgbClr val="40597E"/>
                </a:solidFill>
                <a:latin typeface="+mj-lt"/>
                <a:ea typeface="Arial" pitchFamily="34" charset="-122"/>
                <a:cs typeface="Arial" pitchFamily="34" charset="-120"/>
              </a:rPr>
              <a:t>FastPass is among the industry’s pioneering solutions, turning the traveller’s phone into a verified mobile credential—connecting enrolment, immigration, pre-screening and boarding through AGIL® Secure ISMP.</a:t>
            </a:r>
            <a:endParaRPr lang="en-US" sz="1600" dirty="0">
              <a:latin typeface="+mj-lt"/>
            </a:endParaRPr>
          </a:p>
        </p:txBody>
      </p:sp>
      <p:sp>
        <p:nvSpPr>
          <p:cNvPr id="2" name="Shape 3"/>
          <p:cNvSpPr/>
          <p:nvPr/>
        </p:nvSpPr>
        <p:spPr>
          <a:xfrm>
            <a:off x="312628" y="4456939"/>
            <a:ext cx="402336" cy="40233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8" name="Image 1" descr="preencoded.png"/>
          <p:cNvPicPr>
            <a:picLocks noChangeAspect="1"/>
          </p:cNvPicPr>
          <p:nvPr/>
        </p:nvPicPr>
        <p:blipFill>
          <a:blip r:embed="rId5"/>
          <a:stretch>
            <a:fillRect/>
          </a:stretch>
        </p:blipFill>
        <p:spPr>
          <a:xfrm>
            <a:off x="425282" y="4569593"/>
            <a:ext cx="177028" cy="177028"/>
          </a:xfrm>
          <a:prstGeom prst="rect">
            <a:avLst/>
          </a:prstGeom>
        </p:spPr>
      </p:pic>
      <p:sp>
        <p:nvSpPr>
          <p:cNvPr id="10" name="Text 4"/>
          <p:cNvSpPr/>
          <p:nvPr/>
        </p:nvSpPr>
        <p:spPr>
          <a:xfrm>
            <a:off x="842980" y="4525319"/>
            <a:ext cx="2880360" cy="310896"/>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FastPass Mobile App</a:t>
            </a:r>
            <a:endParaRPr lang="en-US" sz="1400" dirty="0">
              <a:latin typeface="+mj-lt"/>
            </a:endParaRPr>
          </a:p>
        </p:txBody>
      </p:sp>
      <p:sp>
        <p:nvSpPr>
          <p:cNvPr id="13" name="Text 5"/>
          <p:cNvSpPr/>
          <p:nvPr/>
        </p:nvSpPr>
        <p:spPr>
          <a:xfrm>
            <a:off x="312628" y="4909931"/>
            <a:ext cx="3143804" cy="1188720"/>
          </a:xfrm>
          <a:prstGeom prst="rect">
            <a:avLst/>
          </a:prstGeom>
          <a:noFill/>
          <a:ln/>
        </p:spPr>
        <p:txBody>
          <a:bodyPr wrap="square" lIns="0" tIns="0" rIns="0" bIns="0" rtlCol="0" anchor="ctr"/>
          <a:lstStyle/>
          <a:p>
            <a:pPr>
              <a:lnSpc>
                <a:spcPct val="115000"/>
              </a:lnSpc>
            </a:pPr>
            <a:r>
              <a:rPr lang="en-US" sz="1400" dirty="0">
                <a:solidFill>
                  <a:srgbClr val="40597E"/>
                </a:solidFill>
                <a:latin typeface="+mj-lt"/>
                <a:ea typeface="Arial" pitchFamily="34" charset="-122"/>
                <a:cs typeface="Arial" pitchFamily="34" charset="-120"/>
              </a:rPr>
              <a:t>The digital companion — travellers enrol through their phone, capturing the identity, biometric and travel information needed to create a verified mobile credential.</a:t>
            </a:r>
            <a:endParaRPr lang="en-US" sz="1400" dirty="0">
              <a:latin typeface="+mj-lt"/>
            </a:endParaRPr>
          </a:p>
        </p:txBody>
      </p:sp>
      <p:sp>
        <p:nvSpPr>
          <p:cNvPr id="14" name="Shape 7"/>
          <p:cNvSpPr/>
          <p:nvPr/>
        </p:nvSpPr>
        <p:spPr>
          <a:xfrm>
            <a:off x="4022922" y="4470269"/>
            <a:ext cx="402336" cy="40233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15" name="Image 3" descr="preencoded.png"/>
          <p:cNvPicPr>
            <a:picLocks noChangeAspect="1"/>
          </p:cNvPicPr>
          <p:nvPr/>
        </p:nvPicPr>
        <p:blipFill>
          <a:blip r:embed="rId6"/>
          <a:stretch>
            <a:fillRect/>
          </a:stretch>
        </p:blipFill>
        <p:spPr>
          <a:xfrm>
            <a:off x="4135576" y="4582923"/>
            <a:ext cx="177028" cy="177028"/>
          </a:xfrm>
          <a:prstGeom prst="rect">
            <a:avLst/>
          </a:prstGeom>
        </p:spPr>
      </p:pic>
      <p:sp>
        <p:nvSpPr>
          <p:cNvPr id="16" name="Text 8"/>
          <p:cNvSpPr/>
          <p:nvPr/>
        </p:nvSpPr>
        <p:spPr>
          <a:xfrm>
            <a:off x="4553274" y="4530698"/>
            <a:ext cx="2880360" cy="310896"/>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FastPass Biometric E-Gate</a:t>
            </a:r>
            <a:endParaRPr lang="en-US" sz="1400" dirty="0">
              <a:latin typeface="+mj-lt"/>
            </a:endParaRPr>
          </a:p>
        </p:txBody>
      </p:sp>
      <p:sp>
        <p:nvSpPr>
          <p:cNvPr id="17" name="Text 9"/>
          <p:cNvSpPr/>
          <p:nvPr/>
        </p:nvSpPr>
        <p:spPr>
          <a:xfrm>
            <a:off x="4022922" y="5032133"/>
            <a:ext cx="3032344" cy="1471606"/>
          </a:xfrm>
          <a:prstGeom prst="rect">
            <a:avLst/>
          </a:prstGeom>
          <a:noFill/>
          <a:ln/>
        </p:spPr>
        <p:txBody>
          <a:bodyPr wrap="square" lIns="0" tIns="0" rIns="0" bIns="0" rtlCol="0" anchor="ctr"/>
          <a:lstStyle/>
          <a:p>
            <a:pPr>
              <a:lnSpc>
                <a:spcPct val="115000"/>
              </a:lnSpc>
            </a:pPr>
            <a:r>
              <a:rPr lang="en-US" sz="1400" dirty="0">
                <a:solidFill>
                  <a:srgbClr val="40597E"/>
                </a:solidFill>
                <a:latin typeface="+mj-lt"/>
                <a:ea typeface="Arial" pitchFamily="34" charset="-122"/>
                <a:cs typeface="Arial" pitchFamily="34" charset="-120"/>
              </a:rPr>
              <a:t>Facial recognition detects and verifies an approaching traveller within the configured operating range, enabling eligible travellers to clear the lane without presenting a passport at the gate or making an intentional stop.</a:t>
            </a:r>
            <a:endParaRPr lang="en-US" sz="1400" dirty="0">
              <a:latin typeface="+mj-lt"/>
            </a:endParaRPr>
          </a:p>
        </p:txBody>
      </p:sp>
      <p:pic>
        <p:nvPicPr>
          <p:cNvPr id="23" name="Picture 22">
            <a:extLst>
              <a:ext uri="{FF2B5EF4-FFF2-40B4-BE49-F238E27FC236}">
                <a16:creationId xmlns:a16="http://schemas.microsoft.com/office/drawing/2014/main" id="{40D40AE2-F524-D783-3E8F-C46BE66B725D}"/>
              </a:ext>
            </a:extLst>
          </p:cNvPr>
          <p:cNvPicPr>
            <a:picLocks noChangeAspect="1"/>
          </p:cNvPicPr>
          <p:nvPr/>
        </p:nvPicPr>
        <p:blipFill>
          <a:blip r:embed="rId7" cstate="print">
            <a:extLst>
              <a:ext uri="{28A0092B-C50C-407E-A947-70E740481C1C}">
                <a14:useLocalDpi xmlns:a14="http://schemas.microsoft.com/office/drawing/2010/main" val="0"/>
              </a:ext>
            </a:extLst>
          </a:blip>
          <a:srcRect l="23513"/>
          <a:stretch>
            <a:fillRect/>
          </a:stretch>
        </p:blipFill>
        <p:spPr bwMode="auto">
          <a:xfrm>
            <a:off x="20190" y="2101965"/>
            <a:ext cx="3605266" cy="2176980"/>
          </a:xfrm>
          <a:prstGeom prst="rect">
            <a:avLst/>
          </a:prstGeom>
          <a:noFill/>
          <a:ln>
            <a:noFill/>
          </a:ln>
        </p:spPr>
      </p:pic>
      <p:pic>
        <p:nvPicPr>
          <p:cNvPr id="26" name="Picture 25">
            <a:extLst>
              <a:ext uri="{FF2B5EF4-FFF2-40B4-BE49-F238E27FC236}">
                <a16:creationId xmlns:a16="http://schemas.microsoft.com/office/drawing/2014/main" id="{A4D9D377-854E-985F-B056-2401F20C12AD}"/>
              </a:ext>
            </a:extLst>
          </p:cNvPr>
          <p:cNvPicPr>
            <a:picLocks noChangeAspect="1"/>
          </p:cNvPicPr>
          <p:nvPr/>
        </p:nvPicPr>
        <p:blipFill>
          <a:blip r:embed="rId8"/>
          <a:stretch>
            <a:fillRect/>
          </a:stretch>
        </p:blipFill>
        <p:spPr>
          <a:xfrm>
            <a:off x="3769036" y="2101965"/>
            <a:ext cx="3311193" cy="2141409"/>
          </a:xfrm>
          <a:prstGeom prst="rect">
            <a:avLst/>
          </a:prstGeom>
        </p:spPr>
      </p:pic>
      <p:sp>
        <p:nvSpPr>
          <p:cNvPr id="24" name="Shape 13">
            <a:extLst>
              <a:ext uri="{FF2B5EF4-FFF2-40B4-BE49-F238E27FC236}">
                <a16:creationId xmlns:a16="http://schemas.microsoft.com/office/drawing/2014/main" id="{BB1D9B65-D520-73A4-FD0C-B693E6B5F434}"/>
              </a:ext>
            </a:extLst>
          </p:cNvPr>
          <p:cNvSpPr/>
          <p:nvPr/>
        </p:nvSpPr>
        <p:spPr>
          <a:xfrm>
            <a:off x="7342042" y="4475730"/>
            <a:ext cx="365760" cy="365760"/>
          </a:xfrm>
          <a:prstGeom prst="ellipse">
            <a:avLst/>
          </a:prstGeom>
          <a:solidFill>
            <a:srgbClr val="FFFFFF"/>
          </a:solidFill>
          <a:ln w="12700">
            <a:solidFill>
              <a:srgbClr val="CBA84F"/>
            </a:solidFill>
            <a:prstDash val="solid"/>
          </a:ln>
        </p:spPr>
        <p:txBody>
          <a:bodyPr/>
          <a:lstStyle/>
          <a:p>
            <a:endParaRPr lang="en-SG">
              <a:latin typeface="+mj-lt"/>
            </a:endParaRPr>
          </a:p>
        </p:txBody>
      </p:sp>
      <p:pic>
        <p:nvPicPr>
          <p:cNvPr id="28" name="Image 4" descr="preencoded.png">
            <a:extLst>
              <a:ext uri="{FF2B5EF4-FFF2-40B4-BE49-F238E27FC236}">
                <a16:creationId xmlns:a16="http://schemas.microsoft.com/office/drawing/2014/main" id="{D40B482C-60A3-8346-DEB3-ED9EB1014837}"/>
              </a:ext>
            </a:extLst>
          </p:cNvPr>
          <p:cNvPicPr>
            <a:picLocks noChangeAspect="1"/>
          </p:cNvPicPr>
          <p:nvPr/>
        </p:nvPicPr>
        <p:blipFill>
          <a:blip r:embed="rId9"/>
          <a:stretch>
            <a:fillRect/>
          </a:stretch>
        </p:blipFill>
        <p:spPr>
          <a:xfrm>
            <a:off x="7437140" y="4570828"/>
            <a:ext cx="175565" cy="175565"/>
          </a:xfrm>
          <a:prstGeom prst="rect">
            <a:avLst/>
          </a:prstGeom>
        </p:spPr>
      </p:pic>
      <p:sp>
        <p:nvSpPr>
          <p:cNvPr id="30" name="Text 14">
            <a:extLst>
              <a:ext uri="{FF2B5EF4-FFF2-40B4-BE49-F238E27FC236}">
                <a16:creationId xmlns:a16="http://schemas.microsoft.com/office/drawing/2014/main" id="{D413E763-904C-9C28-B26C-B04E173A7428}"/>
              </a:ext>
            </a:extLst>
          </p:cNvPr>
          <p:cNvSpPr/>
          <p:nvPr/>
        </p:nvSpPr>
        <p:spPr>
          <a:xfrm>
            <a:off x="7799243" y="4560952"/>
            <a:ext cx="2104518" cy="348979"/>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FastPass Pre-Screening Profile Check</a:t>
            </a:r>
            <a:endParaRPr lang="en-US" sz="1400" dirty="0">
              <a:latin typeface="+mj-lt"/>
            </a:endParaRPr>
          </a:p>
        </p:txBody>
      </p:sp>
      <p:sp>
        <p:nvSpPr>
          <p:cNvPr id="34" name="Text 16">
            <a:extLst>
              <a:ext uri="{FF2B5EF4-FFF2-40B4-BE49-F238E27FC236}">
                <a16:creationId xmlns:a16="http://schemas.microsoft.com/office/drawing/2014/main" id="{4663709E-95CD-F320-B187-19DEEA40422F}"/>
              </a:ext>
            </a:extLst>
          </p:cNvPr>
          <p:cNvSpPr/>
          <p:nvPr/>
        </p:nvSpPr>
        <p:spPr>
          <a:xfrm>
            <a:off x="7342042" y="5233399"/>
            <a:ext cx="2432304" cy="1270340"/>
          </a:xfrm>
          <a:prstGeom prst="rect">
            <a:avLst/>
          </a:prstGeom>
          <a:noFill/>
          <a:ln/>
        </p:spPr>
        <p:txBody>
          <a:bodyPr wrap="square" lIns="0" tIns="0" rIns="0" bIns="0" rtlCol="0" anchor="ctr"/>
          <a:lstStyle/>
          <a:p>
            <a:pPr marL="0" indent="0">
              <a:lnSpc>
                <a:spcPct val="115000"/>
              </a:lnSpc>
              <a:buNone/>
            </a:pPr>
            <a:r>
              <a:rPr lang="en-US" sz="1400" dirty="0">
                <a:solidFill>
                  <a:srgbClr val="40597E"/>
                </a:solidFill>
                <a:latin typeface="+mj-lt"/>
                <a:ea typeface="Arial" pitchFamily="34" charset="-122"/>
                <a:cs typeface="Arial" pitchFamily="34" charset="-120"/>
              </a:rPr>
              <a:t>Before baggage screening, the FastPass biometric reader verifies the traveller and retrieves the relevant clearance profile, helping operators identify exceptions before the screening transaction begins.</a:t>
            </a:r>
          </a:p>
        </p:txBody>
      </p:sp>
      <p:pic>
        <p:nvPicPr>
          <p:cNvPr id="49" name="Picture 48">
            <a:extLst>
              <a:ext uri="{FF2B5EF4-FFF2-40B4-BE49-F238E27FC236}">
                <a16:creationId xmlns:a16="http://schemas.microsoft.com/office/drawing/2014/main" id="{B2FA556A-A3BD-6B50-A056-98718205E97B}"/>
              </a:ext>
            </a:extLst>
          </p:cNvPr>
          <p:cNvPicPr>
            <a:picLocks noChangeAspect="1"/>
          </p:cNvPicPr>
          <p:nvPr/>
        </p:nvPicPr>
        <p:blipFill>
          <a:blip r:embed="rId10"/>
          <a:srcRect b="21764"/>
          <a:stretch>
            <a:fillRect/>
          </a:stretch>
        </p:blipFill>
        <p:spPr>
          <a:xfrm>
            <a:off x="7707802" y="2087863"/>
            <a:ext cx="1400391" cy="2155511"/>
          </a:xfrm>
          <a:prstGeom prst="rect">
            <a:avLst/>
          </a:prstGeom>
        </p:spPr>
      </p:pic>
      <p:sp>
        <p:nvSpPr>
          <p:cNvPr id="51" name="Shape 19">
            <a:extLst>
              <a:ext uri="{FF2B5EF4-FFF2-40B4-BE49-F238E27FC236}">
                <a16:creationId xmlns:a16="http://schemas.microsoft.com/office/drawing/2014/main" id="{6D3F29CE-A41A-9018-660F-94D4515A9131}"/>
              </a:ext>
            </a:extLst>
          </p:cNvPr>
          <p:cNvSpPr/>
          <p:nvPr/>
        </p:nvSpPr>
        <p:spPr>
          <a:xfrm>
            <a:off x="10279680" y="4559805"/>
            <a:ext cx="365760" cy="365760"/>
          </a:xfrm>
          <a:prstGeom prst="ellipse">
            <a:avLst/>
          </a:prstGeom>
          <a:solidFill>
            <a:srgbClr val="FFFFFF"/>
          </a:solidFill>
          <a:ln w="12700">
            <a:solidFill>
              <a:srgbClr val="CBA84F"/>
            </a:solidFill>
            <a:prstDash val="solid"/>
          </a:ln>
        </p:spPr>
        <p:txBody>
          <a:bodyPr/>
          <a:lstStyle/>
          <a:p>
            <a:endParaRPr lang="en-SG">
              <a:latin typeface="+mj-lt"/>
            </a:endParaRPr>
          </a:p>
        </p:txBody>
      </p:sp>
      <p:pic>
        <p:nvPicPr>
          <p:cNvPr id="53" name="Image 5" descr="preencoded.png">
            <a:extLst>
              <a:ext uri="{FF2B5EF4-FFF2-40B4-BE49-F238E27FC236}">
                <a16:creationId xmlns:a16="http://schemas.microsoft.com/office/drawing/2014/main" id="{4519DF8F-329A-1511-29F0-0EA0854E0BC5}"/>
              </a:ext>
            </a:extLst>
          </p:cNvPr>
          <p:cNvPicPr>
            <a:picLocks noChangeAspect="1"/>
          </p:cNvPicPr>
          <p:nvPr/>
        </p:nvPicPr>
        <p:blipFill>
          <a:blip r:embed="rId11"/>
          <a:stretch>
            <a:fillRect/>
          </a:stretch>
        </p:blipFill>
        <p:spPr>
          <a:xfrm>
            <a:off x="10374778" y="4654903"/>
            <a:ext cx="175565" cy="175565"/>
          </a:xfrm>
          <a:prstGeom prst="rect">
            <a:avLst/>
          </a:prstGeom>
        </p:spPr>
      </p:pic>
      <p:sp>
        <p:nvSpPr>
          <p:cNvPr id="55" name="Text 20">
            <a:extLst>
              <a:ext uri="{FF2B5EF4-FFF2-40B4-BE49-F238E27FC236}">
                <a16:creationId xmlns:a16="http://schemas.microsoft.com/office/drawing/2014/main" id="{1926C59A-C2F0-F846-BB34-0125C3F88DF2}"/>
              </a:ext>
            </a:extLst>
          </p:cNvPr>
          <p:cNvSpPr/>
          <p:nvPr/>
        </p:nvSpPr>
        <p:spPr>
          <a:xfrm>
            <a:off x="10746023" y="4614669"/>
            <a:ext cx="1367321" cy="310896"/>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FastPass Smart Boarding Kiosk</a:t>
            </a:r>
            <a:endParaRPr lang="en-US" sz="1400" dirty="0">
              <a:latin typeface="+mj-lt"/>
            </a:endParaRPr>
          </a:p>
        </p:txBody>
      </p:sp>
      <p:sp>
        <p:nvSpPr>
          <p:cNvPr id="57" name="Text 22">
            <a:extLst>
              <a:ext uri="{FF2B5EF4-FFF2-40B4-BE49-F238E27FC236}">
                <a16:creationId xmlns:a16="http://schemas.microsoft.com/office/drawing/2014/main" id="{9D30A30C-6B25-691B-EB6D-51AA7B763BE2}"/>
              </a:ext>
            </a:extLst>
          </p:cNvPr>
          <p:cNvSpPr/>
          <p:nvPr/>
        </p:nvSpPr>
        <p:spPr>
          <a:xfrm>
            <a:off x="10143885" y="5229214"/>
            <a:ext cx="1971958" cy="1095103"/>
          </a:xfrm>
          <a:prstGeom prst="rect">
            <a:avLst/>
          </a:prstGeom>
          <a:noFill/>
          <a:ln/>
        </p:spPr>
        <p:txBody>
          <a:bodyPr wrap="square" lIns="0" tIns="0" rIns="0" bIns="0" rtlCol="0" anchor="ctr"/>
          <a:lstStyle/>
          <a:p>
            <a:pPr marL="0" indent="0">
              <a:lnSpc>
                <a:spcPct val="115000"/>
              </a:lnSpc>
              <a:buNone/>
            </a:pPr>
            <a:r>
              <a:rPr lang="en-US" sz="1400" dirty="0">
                <a:solidFill>
                  <a:srgbClr val="40597E"/>
                </a:solidFill>
                <a:latin typeface="+mj-lt"/>
                <a:ea typeface="Arial" pitchFamily="34" charset="-122"/>
                <a:cs typeface="Arial" pitchFamily="34" charset="-120"/>
              </a:rPr>
              <a:t>Facial verification and the verified mobile credential support contactless self-clearance at configured boarding touchpoints.</a:t>
            </a:r>
          </a:p>
        </p:txBody>
      </p:sp>
      <p:pic>
        <p:nvPicPr>
          <p:cNvPr id="59" name="Picture 58">
            <a:extLst>
              <a:ext uri="{FF2B5EF4-FFF2-40B4-BE49-F238E27FC236}">
                <a16:creationId xmlns:a16="http://schemas.microsoft.com/office/drawing/2014/main" id="{F56D158D-4C54-A701-DD87-DE917D731DAC}"/>
              </a:ext>
            </a:extLst>
          </p:cNvPr>
          <p:cNvPicPr>
            <a:picLocks noChangeAspect="1"/>
          </p:cNvPicPr>
          <p:nvPr/>
        </p:nvPicPr>
        <p:blipFill>
          <a:blip r:embed="rId12"/>
          <a:stretch>
            <a:fillRect/>
          </a:stretch>
        </p:blipFill>
        <p:spPr>
          <a:xfrm>
            <a:off x="10334518" y="2087863"/>
            <a:ext cx="1438016" cy="2330707"/>
          </a:xfrm>
          <a:prstGeom prst="rect">
            <a:avLst/>
          </a:prstGeom>
        </p:spPr>
      </p:pic>
    </p:spTree>
    <p:extLst>
      <p:ext uri="{BB962C8B-B14F-4D97-AF65-F5344CB8AC3E}">
        <p14:creationId xmlns:p14="http://schemas.microsoft.com/office/powerpoint/2010/main" val="23092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04F3-9252-3776-10B9-F2EBB19F4597}"/>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6CAE552C-CD49-7D91-0FBB-12893779F24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B3FF494C-1033-8009-A217-8AE001F88A97}"/>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1529" y="-5645"/>
            <a:ext cx="12192001" cy="6863645"/>
          </a:xfrm>
          <a:prstGeom prst="rect">
            <a:avLst/>
          </a:prstGeom>
        </p:spPr>
      </p:pic>
      <p:grpSp>
        <p:nvGrpSpPr>
          <p:cNvPr id="5" name="Group 4">
            <a:extLst>
              <a:ext uri="{FF2B5EF4-FFF2-40B4-BE49-F238E27FC236}">
                <a16:creationId xmlns:a16="http://schemas.microsoft.com/office/drawing/2014/main" id="{26F3012B-30CE-766D-EC70-A05D3FC72CEA}"/>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0195D776-2E22-E7F7-4C0A-1186794AF31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1D05887E-8251-2FB5-7B3C-3EE8C6215C7A}"/>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11" name="Title 4">
            <a:extLst>
              <a:ext uri="{FF2B5EF4-FFF2-40B4-BE49-F238E27FC236}">
                <a16:creationId xmlns:a16="http://schemas.microsoft.com/office/drawing/2014/main" id="{8C4E4143-7F15-32DF-4DE4-4E5BADF10DB2}"/>
              </a:ext>
            </a:extLst>
          </p:cNvPr>
          <p:cNvSpPr txBox="1">
            <a:spLocks/>
          </p:cNvSpPr>
          <p:nvPr/>
        </p:nvSpPr>
        <p:spPr>
          <a:xfrm>
            <a:off x="295399" y="877945"/>
            <a:ext cx="9386789" cy="530232"/>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Q&amp;A</a:t>
            </a:r>
          </a:p>
        </p:txBody>
      </p:sp>
      <p:sp>
        <p:nvSpPr>
          <p:cNvPr id="2" name="Text 1">
            <a:extLst>
              <a:ext uri="{FF2B5EF4-FFF2-40B4-BE49-F238E27FC236}">
                <a16:creationId xmlns:a16="http://schemas.microsoft.com/office/drawing/2014/main" id="{1F86C925-E949-77C1-1173-0A6835910036}"/>
              </a:ext>
            </a:extLst>
          </p:cNvPr>
          <p:cNvSpPr txBox="1">
            <a:spLocks/>
          </p:cNvSpPr>
          <p:nvPr/>
        </p:nvSpPr>
        <p:spPr>
          <a:xfrm>
            <a:off x="434054" y="1408176"/>
            <a:ext cx="8831243" cy="384048"/>
          </a:xfrm>
          <a:prstGeom prst="rect">
            <a:avLst/>
          </a:prstGeom>
          <a:noFill/>
          <a:ln/>
        </p:spPr>
        <p:txBody>
          <a:bodyPr wrap="square" lIns="0" tIns="0" rIns="0" bIns="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600" dirty="0">
              <a:solidFill>
                <a:schemeClr val="tx2"/>
              </a:solidFill>
              <a:latin typeface="+mj-lt"/>
            </a:endParaRPr>
          </a:p>
        </p:txBody>
      </p:sp>
      <p:graphicFrame>
        <p:nvGraphicFramePr>
          <p:cNvPr id="16" name="Table 0"/>
          <p:cNvGraphicFramePr>
            <a:graphicFrameLocks noGrp="1"/>
          </p:cNvGraphicFramePr>
          <p:nvPr>
            <p:extLst>
              <p:ext uri="{D42A27DB-BD31-4B8C-83A1-F6EECF244321}">
                <p14:modId xmlns:p14="http://schemas.microsoft.com/office/powerpoint/2010/main" val="3242797137"/>
              </p:ext>
            </p:extLst>
          </p:nvPr>
        </p:nvGraphicFramePr>
        <p:xfrm>
          <a:off x="548640" y="2011680"/>
          <a:ext cx="11094415" cy="3401568"/>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02175">
                  <a:extLst>
                    <a:ext uri="{9D8B030D-6E8A-4147-A177-3AD203B41FA5}">
                      <a16:colId xmlns:a16="http://schemas.microsoft.com/office/drawing/2014/main" val="20002"/>
                    </a:ext>
                  </a:extLst>
                </a:gridCol>
              </a:tblGrid>
              <a:tr h="56692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0B2545"/>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b="1" dirty="0">
                          <a:solidFill>
                            <a:schemeClr val="bg1"/>
                          </a:solidFill>
                        </a:rPr>
                        <a:t>AGIL® Secure FastPass</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0B2545"/>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b="1" dirty="0">
                          <a:solidFill>
                            <a:schemeClr val="bg1"/>
                          </a:solidFill>
                        </a:rPr>
                        <a:t>Idemia PaXpress SmartLane</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0B2545"/>
                    </a:solidFill>
                  </a:tcPr>
                </a:tc>
                <a:extLst>
                  <a:ext uri="{0D108BD9-81ED-4DB2-BD59-A6C34878D82A}">
                    <a16:rowId xmlns:a16="http://schemas.microsoft.com/office/drawing/2014/main" val="10000"/>
                  </a:ext>
                </a:extLst>
              </a:tr>
              <a:tr h="56692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b="1" dirty="0">
                          <a:solidFill>
                            <a:schemeClr val="tx1"/>
                          </a:solidFill>
                        </a:rPr>
                        <a:t>Verification</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a:solidFill>
                            <a:schemeClr val="tx1"/>
                          </a:solidFill>
                        </a:rPr>
                        <a:t>Two factors: phone credential (BLE / UWB) + live face</a:t>
                      </a:r>
                      <a:endParaRPr lang="en-US" sz="120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Facial recognition on the move with camera tracking</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56692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b="1" dirty="0">
                          <a:solidFill>
                            <a:schemeClr val="tx1"/>
                          </a:solidFill>
                        </a:rPr>
                        <a:t>Identity</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Credential encrypted on the traveller’s phone</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Digital ID via SDK or kiosk; </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56692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b="1" dirty="0">
                          <a:solidFill>
                            <a:schemeClr val="tx1"/>
                          </a:solidFill>
                        </a:rPr>
                        <a:t>Operations</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Converged with CCTV, access, intrusion and incidents</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Supervision screens and tablets for exceptions</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56692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b="1" dirty="0">
                          <a:solidFill>
                            <a:schemeClr val="tx1"/>
                          </a:solidFill>
                        </a:rPr>
                        <a:t>Traveller feedback</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Pylon light and status TV; AI assistant on roadmap</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AI-powered guidance displays</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56692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b="1" dirty="0">
                          <a:solidFill>
                            <a:schemeClr val="tx1"/>
                          </a:solidFill>
                        </a:rPr>
                        <a:t>Proof and scale</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Integrated prototype; pilot-ready</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indent="0">
                        <a:buNone/>
                      </a:pPr>
                      <a:r>
                        <a:rPr lang="en-US" sz="1200" dirty="0">
                          <a:solidFill>
                            <a:schemeClr val="tx1"/>
                          </a:solidFill>
                        </a:rPr>
                        <a:t>1.5 bn+ travellers a year; 350+ ports</a:t>
                      </a:r>
                      <a:endParaRPr lang="en-US" sz="1200" dirty="0"/>
                    </a:p>
                  </a:txBody>
                  <a:tcPr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bl>
          </a:graphicData>
        </a:graphic>
      </p:graphicFrame>
      <p:sp>
        <p:nvSpPr>
          <p:cNvPr id="10" name="Text 3">
            <a:extLst>
              <a:ext uri="{FF2B5EF4-FFF2-40B4-BE49-F238E27FC236}">
                <a16:creationId xmlns:a16="http://schemas.microsoft.com/office/drawing/2014/main" id="{39F075C4-75D5-9857-0843-AE4A4719042B}"/>
              </a:ext>
            </a:extLst>
          </p:cNvPr>
          <p:cNvSpPr txBox="1"/>
          <p:nvPr/>
        </p:nvSpPr>
        <p:spPr>
          <a:xfrm>
            <a:off x="548640" y="5669280"/>
            <a:ext cx="11094415" cy="365760"/>
          </a:xfrm>
          <a:prstGeom prst="rect">
            <a:avLst/>
          </a:prstGeom>
          <a:noFill/>
          <a:ln/>
        </p:spPr>
        <p:txBody>
          <a:bodyPr wrap="square" lIns="0" tIns="0" rIns="0" bIns="0" rtlCol="0" anchor="ctr"/>
          <a:lstStyle/>
          <a:p>
            <a:pPr marL="0" indent="0">
              <a:buNone/>
            </a:pPr>
            <a:r>
              <a:rPr lang="en-US" sz="1400" b="1" dirty="0">
                <a:solidFill>
                  <a:schemeClr val="accent1"/>
                </a:solidFill>
              </a:rPr>
              <a:t>Compete on two-factor clearance and converged security operations at a modular entry price, not on portfolio breadth.</a:t>
            </a:r>
            <a:endParaRPr lang="en-US" sz="1400" dirty="0"/>
          </a:p>
        </p:txBody>
      </p:sp>
    </p:spTree>
    <p:extLst>
      <p:ext uri="{BB962C8B-B14F-4D97-AF65-F5344CB8AC3E}">
        <p14:creationId xmlns:p14="http://schemas.microsoft.com/office/powerpoint/2010/main" val="1901988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448A5-7B52-A5C3-05F2-65B37A1F2211}"/>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7D5C4685-57C3-10CE-CEB2-6CF4C1F2D335}"/>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5B509FFA-AFF0-C01B-3B01-ACFB63647AEE}"/>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1529" y="-5645"/>
            <a:ext cx="12192001" cy="6863645"/>
          </a:xfrm>
          <a:prstGeom prst="rect">
            <a:avLst/>
          </a:prstGeom>
        </p:spPr>
      </p:pic>
      <p:grpSp>
        <p:nvGrpSpPr>
          <p:cNvPr id="5" name="Group 4">
            <a:extLst>
              <a:ext uri="{FF2B5EF4-FFF2-40B4-BE49-F238E27FC236}">
                <a16:creationId xmlns:a16="http://schemas.microsoft.com/office/drawing/2014/main" id="{3BAA22B1-1AF0-A78E-6257-F57F7D2113A0}"/>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A3255DAB-C0DA-6D52-5D63-CFAD411265B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6F08897D-0617-88DB-2616-308AFC75D8C3}"/>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11" name="Title 4">
            <a:extLst>
              <a:ext uri="{FF2B5EF4-FFF2-40B4-BE49-F238E27FC236}">
                <a16:creationId xmlns:a16="http://schemas.microsoft.com/office/drawing/2014/main" id="{51C834AC-4572-A6CD-9E7E-E262E34E3155}"/>
              </a:ext>
            </a:extLst>
          </p:cNvPr>
          <p:cNvSpPr txBox="1">
            <a:spLocks/>
          </p:cNvSpPr>
          <p:nvPr/>
        </p:nvSpPr>
        <p:spPr>
          <a:xfrm>
            <a:off x="295399" y="877945"/>
            <a:ext cx="9386789" cy="530232"/>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Kerb to gate in six steps, on one identity</a:t>
            </a:r>
          </a:p>
        </p:txBody>
      </p:sp>
      <p:sp>
        <p:nvSpPr>
          <p:cNvPr id="12" name="TextBox 25">
            <a:extLst>
              <a:ext uri="{FF2B5EF4-FFF2-40B4-BE49-F238E27FC236}">
                <a16:creationId xmlns:a16="http://schemas.microsoft.com/office/drawing/2014/main" id="{A4DE0A42-744D-B138-AFD3-FE239FA4A679}"/>
              </a:ext>
            </a:extLst>
          </p:cNvPr>
          <p:cNvSpPr txBox="1"/>
          <p:nvPr/>
        </p:nvSpPr>
        <p:spPr>
          <a:xfrm>
            <a:off x="343779" y="563652"/>
            <a:ext cx="2898486"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FastPass Solution – Kerb to Gate</a:t>
            </a:r>
          </a:p>
        </p:txBody>
      </p:sp>
      <p:sp>
        <p:nvSpPr>
          <p:cNvPr id="2" name="Text 1">
            <a:extLst>
              <a:ext uri="{FF2B5EF4-FFF2-40B4-BE49-F238E27FC236}">
                <a16:creationId xmlns:a16="http://schemas.microsoft.com/office/drawing/2014/main" id="{D8FD395A-4892-5446-80FA-86AA792946AD}"/>
              </a:ext>
            </a:extLst>
          </p:cNvPr>
          <p:cNvSpPr txBox="1">
            <a:spLocks/>
          </p:cNvSpPr>
          <p:nvPr/>
        </p:nvSpPr>
        <p:spPr>
          <a:xfrm>
            <a:off x="434054" y="1408176"/>
            <a:ext cx="8831243" cy="384048"/>
          </a:xfrm>
          <a:prstGeom prst="rect">
            <a:avLst/>
          </a:prstGeom>
          <a:noFill/>
          <a:ln/>
        </p:spPr>
        <p:txBody>
          <a:bodyPr wrap="square" lIns="0" tIns="0" rIns="0" bIns="0" rtlCol="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tx2"/>
                </a:solidFill>
                <a:latin typeface="+mj-lt"/>
              </a:rPr>
              <a:t>Enroll once at home, then walk through immigration, screening and boarding without stopping.</a:t>
            </a:r>
          </a:p>
        </p:txBody>
      </p:sp>
      <p:pic>
        <p:nvPicPr>
          <p:cNvPr id="178" name="Curb-to-gate journey scene" descr="XX">
            <a:extLst>
              <a:ext uri="{FF2B5EF4-FFF2-40B4-BE49-F238E27FC236}">
                <a16:creationId xmlns:a16="http://schemas.microsoft.com/office/drawing/2014/main" id="{CE031259-D3CD-BE9F-B9BC-176B76212F85}"/>
              </a:ext>
            </a:extLst>
          </p:cNvPr>
          <p:cNvPicPr>
            <a:picLocks noChangeAspect="1"/>
          </p:cNvPicPr>
          <p:nvPr/>
        </p:nvPicPr>
        <p:blipFill>
          <a:blip r:embed="rId5"/>
          <a:srcRect t="39811" b="6719"/>
          <a:stretch>
            <a:fillRect/>
          </a:stretch>
        </p:blipFill>
        <p:spPr>
          <a:xfrm>
            <a:off x="1245" y="2743200"/>
            <a:ext cx="12191695" cy="3666931"/>
          </a:xfrm>
          <a:prstGeom prst="rect">
            <a:avLst/>
          </a:prstGeom>
        </p:spPr>
      </p:pic>
      <p:sp>
        <p:nvSpPr>
          <p:cNvPr id="179" name="Shape 3">
            <a:extLst>
              <a:ext uri="{FF2B5EF4-FFF2-40B4-BE49-F238E27FC236}">
                <a16:creationId xmlns:a16="http://schemas.microsoft.com/office/drawing/2014/main" id="{DBB2477C-1F66-7B43-D9D8-78AE465A9A7E}"/>
              </a:ext>
            </a:extLst>
          </p:cNvPr>
          <p:cNvSpPr/>
          <p:nvPr/>
        </p:nvSpPr>
        <p:spPr>
          <a:xfrm flipV="1">
            <a:off x="1856232" y="2798064"/>
            <a:ext cx="521208" cy="2278685"/>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0" name="Shape 4">
            <a:extLst>
              <a:ext uri="{FF2B5EF4-FFF2-40B4-BE49-F238E27FC236}">
                <a16:creationId xmlns:a16="http://schemas.microsoft.com/office/drawing/2014/main" id="{608DA08B-45FF-E695-0CB3-8FB185BDDE9F}"/>
              </a:ext>
            </a:extLst>
          </p:cNvPr>
          <p:cNvSpPr/>
          <p:nvPr/>
        </p:nvSpPr>
        <p:spPr>
          <a:xfrm flipV="1">
            <a:off x="3000146" y="2798064"/>
            <a:ext cx="566014" cy="1707185"/>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1" name="Shape 5">
            <a:extLst>
              <a:ext uri="{FF2B5EF4-FFF2-40B4-BE49-F238E27FC236}">
                <a16:creationId xmlns:a16="http://schemas.microsoft.com/office/drawing/2014/main" id="{537A3637-8EBE-E2EA-379B-78A0F3E0641E}"/>
              </a:ext>
            </a:extLst>
          </p:cNvPr>
          <p:cNvSpPr/>
          <p:nvPr/>
        </p:nvSpPr>
        <p:spPr>
          <a:xfrm flipV="1">
            <a:off x="4924958" y="2798064"/>
            <a:ext cx="561442" cy="744322"/>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2" name="Shape 6">
            <a:extLst>
              <a:ext uri="{FF2B5EF4-FFF2-40B4-BE49-F238E27FC236}">
                <a16:creationId xmlns:a16="http://schemas.microsoft.com/office/drawing/2014/main" id="{691D535E-8585-6EAC-2400-43E99D7DA13C}"/>
              </a:ext>
            </a:extLst>
          </p:cNvPr>
          <p:cNvSpPr/>
          <p:nvPr/>
        </p:nvSpPr>
        <p:spPr>
          <a:xfrm flipV="1">
            <a:off x="6540703" y="2798064"/>
            <a:ext cx="1048817" cy="1280160"/>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3" name="Shape 7">
            <a:extLst>
              <a:ext uri="{FF2B5EF4-FFF2-40B4-BE49-F238E27FC236}">
                <a16:creationId xmlns:a16="http://schemas.microsoft.com/office/drawing/2014/main" id="{9948A9DA-564F-27A2-67FD-18A5D7B64C6F}"/>
              </a:ext>
            </a:extLst>
          </p:cNvPr>
          <p:cNvSpPr/>
          <p:nvPr/>
        </p:nvSpPr>
        <p:spPr>
          <a:xfrm flipV="1">
            <a:off x="8882482" y="2798064"/>
            <a:ext cx="993038" cy="2451506"/>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4" name="Shape 8">
            <a:extLst>
              <a:ext uri="{FF2B5EF4-FFF2-40B4-BE49-F238E27FC236}">
                <a16:creationId xmlns:a16="http://schemas.microsoft.com/office/drawing/2014/main" id="{D3F4EFA6-F17B-CB73-526C-038B68EA9DF4}"/>
              </a:ext>
            </a:extLst>
          </p:cNvPr>
          <p:cNvSpPr/>
          <p:nvPr/>
        </p:nvSpPr>
        <p:spPr>
          <a:xfrm>
            <a:off x="5216652" y="5598871"/>
            <a:ext cx="864108" cy="253289"/>
          </a:xfrm>
          <a:prstGeom prst="line">
            <a:avLst/>
          </a:prstGeom>
          <a:noFill/>
          <a:ln w="12700">
            <a:solidFill>
              <a:srgbClr val="0B84AE">
                <a:alpha val="85000"/>
              </a:srgbClr>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5" name="Shape 9">
            <a:extLst>
              <a:ext uri="{FF2B5EF4-FFF2-40B4-BE49-F238E27FC236}">
                <a16:creationId xmlns:a16="http://schemas.microsoft.com/office/drawing/2014/main" id="{56D9D76D-3338-EFFE-FFDB-950F37103EE8}"/>
              </a:ext>
            </a:extLst>
          </p:cNvPr>
          <p:cNvSpPr/>
          <p:nvPr/>
        </p:nvSpPr>
        <p:spPr>
          <a:xfrm>
            <a:off x="2019912" y="3672474"/>
            <a:ext cx="2504539" cy="137831"/>
          </a:xfrm>
          <a:prstGeom prst="line">
            <a:avLst/>
          </a:prstGeom>
          <a:noFill/>
          <a:ln w="12700">
            <a:solidFill>
              <a:srgbClr val="0B84AE"/>
            </a:solidFill>
            <a:prstDash val="dash"/>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6" name="Shape 10">
            <a:extLst>
              <a:ext uri="{FF2B5EF4-FFF2-40B4-BE49-F238E27FC236}">
                <a16:creationId xmlns:a16="http://schemas.microsoft.com/office/drawing/2014/main" id="{F3576267-94CB-DB92-7F64-C3B6A3A7B291}"/>
              </a:ext>
            </a:extLst>
          </p:cNvPr>
          <p:cNvSpPr/>
          <p:nvPr/>
        </p:nvSpPr>
        <p:spPr>
          <a:xfrm>
            <a:off x="4483303" y="3769157"/>
            <a:ext cx="82296" cy="82296"/>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7" name="Shape 11">
            <a:extLst>
              <a:ext uri="{FF2B5EF4-FFF2-40B4-BE49-F238E27FC236}">
                <a16:creationId xmlns:a16="http://schemas.microsoft.com/office/drawing/2014/main" id="{803C504E-5151-335C-2E9E-FB1743DC6429}"/>
              </a:ext>
            </a:extLst>
          </p:cNvPr>
          <p:cNvSpPr/>
          <p:nvPr/>
        </p:nvSpPr>
        <p:spPr>
          <a:xfrm>
            <a:off x="768096" y="2990088"/>
            <a:ext cx="1298448" cy="1298448"/>
          </a:xfrm>
          <a:prstGeom prst="ellipse">
            <a:avLst/>
          </a:prstGeom>
          <a:solidFill>
            <a:srgbClr val="FFFFFF"/>
          </a:solidFill>
          <a:ln w="19050">
            <a:solidFill>
              <a:srgbClr val="0B84AE"/>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8" name="Shape 12">
            <a:extLst>
              <a:ext uri="{FF2B5EF4-FFF2-40B4-BE49-F238E27FC236}">
                <a16:creationId xmlns:a16="http://schemas.microsoft.com/office/drawing/2014/main" id="{D397900C-F2F9-98D4-9686-BA82F6CAC360}"/>
              </a:ext>
            </a:extLst>
          </p:cNvPr>
          <p:cNvSpPr/>
          <p:nvPr/>
        </p:nvSpPr>
        <p:spPr>
          <a:xfrm>
            <a:off x="905256" y="3273552"/>
            <a:ext cx="1024128" cy="603504"/>
          </a:xfrm>
          <a:prstGeom prst="roundRect">
            <a:avLst>
              <a:gd name="adj" fmla="val 9091"/>
            </a:avLst>
          </a:prstGeom>
          <a:solidFill>
            <a:srgbClr val="0E1B2D"/>
          </a:solidFill>
          <a:ln w="9525">
            <a:solidFill>
              <a:srgbClr val="0B84AE"/>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89" name="Shape 13">
            <a:extLst>
              <a:ext uri="{FF2B5EF4-FFF2-40B4-BE49-F238E27FC236}">
                <a16:creationId xmlns:a16="http://schemas.microsoft.com/office/drawing/2014/main" id="{0A461992-B3DE-6A36-5422-0B20FE8F9797}"/>
              </a:ext>
            </a:extLst>
          </p:cNvPr>
          <p:cNvSpPr/>
          <p:nvPr/>
        </p:nvSpPr>
        <p:spPr>
          <a:xfrm>
            <a:off x="987552" y="3355848"/>
            <a:ext cx="246888" cy="246888"/>
          </a:xfrm>
          <a:prstGeom prst="ellipse">
            <a:avLst/>
          </a:prstGeom>
          <a:solidFill>
            <a:srgbClr val="E7CDB4"/>
          </a:solidFill>
          <a:ln/>
        </p:spPr>
        <p:txBody>
          <a:bodyPr/>
          <a:lstStyle/>
          <a:p>
            <a:endParaRPr lang="en-SG">
              <a:solidFill>
                <a:srgbClr val="0A1628"/>
              </a:solidFill>
              <a:latin typeface="+mj-lt"/>
            </a:endParaRPr>
          </a:p>
        </p:txBody>
      </p:sp>
      <p:sp>
        <p:nvSpPr>
          <p:cNvPr id="190" name="Text 14">
            <a:extLst>
              <a:ext uri="{FF2B5EF4-FFF2-40B4-BE49-F238E27FC236}">
                <a16:creationId xmlns:a16="http://schemas.microsoft.com/office/drawing/2014/main" id="{96C48CF6-6435-01AE-8151-9164109364B4}"/>
              </a:ext>
            </a:extLst>
          </p:cNvPr>
          <p:cNvSpPr txBox="1"/>
          <p:nvPr/>
        </p:nvSpPr>
        <p:spPr>
          <a:xfrm>
            <a:off x="1280160" y="3337560"/>
            <a:ext cx="621792" cy="155448"/>
          </a:xfrm>
          <a:prstGeom prst="rect">
            <a:avLst/>
          </a:prstGeom>
          <a:noFill/>
          <a:ln/>
        </p:spPr>
        <p:txBody>
          <a:bodyPr wrap="square" lIns="0" tIns="0" rIns="0" bIns="0" rtlCol="0" anchor="ctr"/>
          <a:lstStyle/>
          <a:p>
            <a:r>
              <a:rPr lang="en-US" sz="900" b="1" dirty="0">
                <a:solidFill>
                  <a:srgbClr val="FFFFFF"/>
                </a:solidFill>
                <a:latin typeface="+mj-lt"/>
              </a:rPr>
              <a:t>TAN M. Y.</a:t>
            </a:r>
            <a:endParaRPr lang="en-US" sz="900" dirty="0">
              <a:solidFill>
                <a:srgbClr val="0A1628"/>
              </a:solidFill>
              <a:latin typeface="+mj-lt"/>
            </a:endParaRPr>
          </a:p>
        </p:txBody>
      </p:sp>
      <p:sp>
        <p:nvSpPr>
          <p:cNvPr id="191" name="Text 15">
            <a:extLst>
              <a:ext uri="{FF2B5EF4-FFF2-40B4-BE49-F238E27FC236}">
                <a16:creationId xmlns:a16="http://schemas.microsoft.com/office/drawing/2014/main" id="{9B142B5E-74BC-6793-E890-D4AE1AF34FE6}"/>
              </a:ext>
            </a:extLst>
          </p:cNvPr>
          <p:cNvSpPr txBox="1"/>
          <p:nvPr/>
        </p:nvSpPr>
        <p:spPr>
          <a:xfrm>
            <a:off x="1280160" y="3493008"/>
            <a:ext cx="621792" cy="118872"/>
          </a:xfrm>
          <a:prstGeom prst="rect">
            <a:avLst/>
          </a:prstGeom>
          <a:noFill/>
          <a:ln/>
        </p:spPr>
        <p:txBody>
          <a:bodyPr wrap="square" lIns="0" tIns="0" rIns="0" bIns="0" rtlCol="0" anchor="ctr"/>
          <a:lstStyle/>
          <a:p>
            <a:r>
              <a:rPr lang="en-US" sz="700" dirty="0">
                <a:solidFill>
                  <a:srgbClr val="9AA8BC"/>
                </a:solidFill>
                <a:latin typeface="+mj-lt"/>
              </a:rPr>
              <a:t>SQ 322 · B12</a:t>
            </a:r>
            <a:endParaRPr lang="en-US" sz="700" dirty="0">
              <a:solidFill>
                <a:srgbClr val="0A1628"/>
              </a:solidFill>
              <a:latin typeface="+mj-lt"/>
            </a:endParaRPr>
          </a:p>
        </p:txBody>
      </p:sp>
      <p:sp>
        <p:nvSpPr>
          <p:cNvPr id="192" name="Shape 16">
            <a:extLst>
              <a:ext uri="{FF2B5EF4-FFF2-40B4-BE49-F238E27FC236}">
                <a16:creationId xmlns:a16="http://schemas.microsoft.com/office/drawing/2014/main" id="{C949E46B-544C-64B9-6F36-10A47BE6BBBB}"/>
              </a:ext>
            </a:extLst>
          </p:cNvPr>
          <p:cNvSpPr/>
          <p:nvPr/>
        </p:nvSpPr>
        <p:spPr>
          <a:xfrm>
            <a:off x="987552" y="3675888"/>
            <a:ext cx="859536" cy="146304"/>
          </a:xfrm>
          <a:prstGeom prst="roundRect">
            <a:avLst>
              <a:gd name="adj" fmla="val 50000"/>
            </a:avLst>
          </a:prstGeom>
          <a:solidFill>
            <a:srgbClr val="1E9E50"/>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93" name="Text 17">
            <a:extLst>
              <a:ext uri="{FF2B5EF4-FFF2-40B4-BE49-F238E27FC236}">
                <a16:creationId xmlns:a16="http://schemas.microsoft.com/office/drawing/2014/main" id="{CE80B163-2970-57C3-5B8E-73A6502FD520}"/>
              </a:ext>
            </a:extLst>
          </p:cNvPr>
          <p:cNvSpPr txBox="1"/>
          <p:nvPr/>
        </p:nvSpPr>
        <p:spPr>
          <a:xfrm>
            <a:off x="987552" y="3675888"/>
            <a:ext cx="859536" cy="146304"/>
          </a:xfrm>
          <a:prstGeom prst="rect">
            <a:avLst/>
          </a:prstGeom>
          <a:noFill/>
          <a:ln/>
        </p:spPr>
        <p:txBody>
          <a:bodyPr wrap="square" lIns="0" tIns="0" rIns="0" bIns="0" rtlCol="0" anchor="ctr"/>
          <a:lstStyle/>
          <a:p>
            <a:pPr algn="ctr"/>
            <a:r>
              <a:rPr lang="en-US" sz="800" b="1" kern="0" spc="100" dirty="0">
                <a:solidFill>
                  <a:srgbClr val="FFFFFF"/>
                </a:solidFill>
                <a:latin typeface="+mj-lt"/>
              </a:rPr>
              <a:t>CLEARED</a:t>
            </a:r>
            <a:endParaRPr lang="en-US" sz="800" dirty="0">
              <a:solidFill>
                <a:srgbClr val="0A1628"/>
              </a:solidFill>
              <a:latin typeface="+mj-lt"/>
            </a:endParaRPr>
          </a:p>
        </p:txBody>
      </p:sp>
      <p:sp>
        <p:nvSpPr>
          <p:cNvPr id="194" name="Text 18">
            <a:extLst>
              <a:ext uri="{FF2B5EF4-FFF2-40B4-BE49-F238E27FC236}">
                <a16:creationId xmlns:a16="http://schemas.microsoft.com/office/drawing/2014/main" id="{17B08D94-7458-B5A8-C280-2E4759A344B6}"/>
              </a:ext>
            </a:extLst>
          </p:cNvPr>
          <p:cNvSpPr txBox="1"/>
          <p:nvPr/>
        </p:nvSpPr>
        <p:spPr>
          <a:xfrm>
            <a:off x="914400" y="3950208"/>
            <a:ext cx="1005840" cy="146304"/>
          </a:xfrm>
          <a:prstGeom prst="rect">
            <a:avLst/>
          </a:prstGeom>
          <a:noFill/>
          <a:ln/>
        </p:spPr>
        <p:txBody>
          <a:bodyPr wrap="square" lIns="0" tIns="0" rIns="0" bIns="0" rtlCol="0" anchor="ctr"/>
          <a:lstStyle/>
          <a:p>
            <a:pPr algn="ctr"/>
            <a:r>
              <a:rPr lang="en-US" sz="800" b="1" kern="0" spc="150" dirty="0">
                <a:solidFill>
                  <a:srgbClr val="0B84AE"/>
                </a:solidFill>
                <a:latin typeface="+mj-lt"/>
              </a:rPr>
              <a:t>STATUS TV</a:t>
            </a:r>
            <a:endParaRPr lang="en-US" sz="800" dirty="0">
              <a:solidFill>
                <a:srgbClr val="0A1628"/>
              </a:solidFill>
              <a:latin typeface="+mj-lt"/>
            </a:endParaRPr>
          </a:p>
        </p:txBody>
      </p:sp>
      <p:sp>
        <p:nvSpPr>
          <p:cNvPr id="195" name="Shape 19">
            <a:extLst>
              <a:ext uri="{FF2B5EF4-FFF2-40B4-BE49-F238E27FC236}">
                <a16:creationId xmlns:a16="http://schemas.microsoft.com/office/drawing/2014/main" id="{47840972-BF56-76B1-552F-BE83F6E00944}"/>
              </a:ext>
            </a:extLst>
          </p:cNvPr>
          <p:cNvSpPr/>
          <p:nvPr/>
        </p:nvSpPr>
        <p:spPr>
          <a:xfrm>
            <a:off x="548640" y="2011680"/>
            <a:ext cx="2057400" cy="786384"/>
          </a:xfrm>
          <a:prstGeom prst="roundRect">
            <a:avLst>
              <a:gd name="adj" fmla="val 18605"/>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96" name="Shape 20">
            <a:extLst>
              <a:ext uri="{FF2B5EF4-FFF2-40B4-BE49-F238E27FC236}">
                <a16:creationId xmlns:a16="http://schemas.microsoft.com/office/drawing/2014/main" id="{C89CB571-6082-F805-8F9C-EE4F6B778BA2}"/>
              </a:ext>
            </a:extLst>
          </p:cNvPr>
          <p:cNvSpPr/>
          <p:nvPr/>
        </p:nvSpPr>
        <p:spPr>
          <a:xfrm>
            <a:off x="676656" y="2103120"/>
            <a:ext cx="274320" cy="27432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197" name="Text 21">
            <a:extLst>
              <a:ext uri="{FF2B5EF4-FFF2-40B4-BE49-F238E27FC236}">
                <a16:creationId xmlns:a16="http://schemas.microsoft.com/office/drawing/2014/main" id="{E53FC2AE-32F3-9C70-440A-114B95F4CF8D}"/>
              </a:ext>
            </a:extLst>
          </p:cNvPr>
          <p:cNvSpPr txBox="1"/>
          <p:nvPr/>
        </p:nvSpPr>
        <p:spPr>
          <a:xfrm>
            <a:off x="676656" y="2103120"/>
            <a:ext cx="274320" cy="274320"/>
          </a:xfrm>
          <a:prstGeom prst="rect">
            <a:avLst/>
          </a:prstGeom>
          <a:noFill/>
          <a:ln/>
        </p:spPr>
        <p:txBody>
          <a:bodyPr wrap="square" lIns="0" tIns="0" rIns="0" bIns="0" rtlCol="0" anchor="ctr"/>
          <a:lstStyle/>
          <a:p>
            <a:pPr algn="ctr"/>
            <a:r>
              <a:rPr lang="en-US" sz="1100" b="1" dirty="0">
                <a:solidFill>
                  <a:srgbClr val="FFFFFF"/>
                </a:solidFill>
                <a:latin typeface="+mj-lt"/>
              </a:rPr>
              <a:t>1</a:t>
            </a:r>
            <a:endParaRPr lang="en-US" sz="1100" dirty="0">
              <a:solidFill>
                <a:srgbClr val="0A1628"/>
              </a:solidFill>
              <a:latin typeface="+mj-lt"/>
            </a:endParaRPr>
          </a:p>
        </p:txBody>
      </p:sp>
      <p:sp>
        <p:nvSpPr>
          <p:cNvPr id="198" name="Text 22">
            <a:extLst>
              <a:ext uri="{FF2B5EF4-FFF2-40B4-BE49-F238E27FC236}">
                <a16:creationId xmlns:a16="http://schemas.microsoft.com/office/drawing/2014/main" id="{4EFBFC5B-8CEC-1A31-09D8-08F90D275A77}"/>
              </a:ext>
            </a:extLst>
          </p:cNvPr>
          <p:cNvSpPr txBox="1"/>
          <p:nvPr/>
        </p:nvSpPr>
        <p:spPr>
          <a:xfrm>
            <a:off x="1024128" y="2084832"/>
            <a:ext cx="1490472" cy="310896"/>
          </a:xfrm>
          <a:prstGeom prst="rect">
            <a:avLst/>
          </a:prstGeom>
          <a:noFill/>
          <a:ln/>
        </p:spPr>
        <p:txBody>
          <a:bodyPr wrap="square" lIns="0" tIns="0" rIns="0" bIns="0" rtlCol="0" anchor="ctr"/>
          <a:lstStyle/>
          <a:p>
            <a:r>
              <a:rPr lang="en-US" sz="1300" b="1" dirty="0" err="1">
                <a:solidFill>
                  <a:srgbClr val="0A1628"/>
                </a:solidFill>
                <a:latin typeface="+mj-lt"/>
              </a:rPr>
              <a:t>Enrol</a:t>
            </a:r>
            <a:r>
              <a:rPr lang="en-US" sz="1300" b="1" dirty="0">
                <a:solidFill>
                  <a:srgbClr val="0A1628"/>
                </a:solidFill>
                <a:latin typeface="+mj-lt"/>
              </a:rPr>
              <a:t> on the GO</a:t>
            </a:r>
            <a:endParaRPr lang="en-US" sz="1300" dirty="0">
              <a:solidFill>
                <a:srgbClr val="0A1628"/>
              </a:solidFill>
              <a:latin typeface="+mj-lt"/>
            </a:endParaRPr>
          </a:p>
        </p:txBody>
      </p:sp>
      <p:sp>
        <p:nvSpPr>
          <p:cNvPr id="199" name="Text 23">
            <a:extLst>
              <a:ext uri="{FF2B5EF4-FFF2-40B4-BE49-F238E27FC236}">
                <a16:creationId xmlns:a16="http://schemas.microsoft.com/office/drawing/2014/main" id="{251B9881-F800-CB30-A375-6D40C48B46F6}"/>
              </a:ext>
            </a:extLst>
          </p:cNvPr>
          <p:cNvSpPr txBox="1"/>
          <p:nvPr/>
        </p:nvSpPr>
        <p:spPr>
          <a:xfrm>
            <a:off x="694944" y="2395728"/>
            <a:ext cx="1801368" cy="347472"/>
          </a:xfrm>
          <a:prstGeom prst="rect">
            <a:avLst/>
          </a:prstGeom>
          <a:noFill/>
          <a:ln/>
        </p:spPr>
        <p:txBody>
          <a:bodyPr wrap="square" lIns="0" tIns="0" rIns="0" bIns="0" rtlCol="0" anchor="ctr"/>
          <a:lstStyle/>
          <a:p>
            <a:r>
              <a:rPr lang="en-US" sz="1100" dirty="0">
                <a:solidFill>
                  <a:srgbClr val="4F5B6D"/>
                </a:solidFill>
                <a:latin typeface="+mj-lt"/>
              </a:rPr>
              <a:t>Passport + selfie in the app; kept on the phone</a:t>
            </a:r>
            <a:endParaRPr lang="en-US" sz="1100" dirty="0">
              <a:solidFill>
                <a:srgbClr val="0A1628"/>
              </a:solidFill>
              <a:latin typeface="+mj-lt"/>
            </a:endParaRPr>
          </a:p>
        </p:txBody>
      </p:sp>
      <p:sp>
        <p:nvSpPr>
          <p:cNvPr id="200" name="Shape 24">
            <a:extLst>
              <a:ext uri="{FF2B5EF4-FFF2-40B4-BE49-F238E27FC236}">
                <a16:creationId xmlns:a16="http://schemas.microsoft.com/office/drawing/2014/main" id="{4EEE8AB7-450E-03E7-FCF6-82E0A81623B5}"/>
              </a:ext>
            </a:extLst>
          </p:cNvPr>
          <p:cNvSpPr/>
          <p:nvPr/>
        </p:nvSpPr>
        <p:spPr>
          <a:xfrm>
            <a:off x="2743200" y="2011680"/>
            <a:ext cx="2057400" cy="786384"/>
          </a:xfrm>
          <a:prstGeom prst="roundRect">
            <a:avLst>
              <a:gd name="adj" fmla="val 18605"/>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01" name="Shape 25">
            <a:extLst>
              <a:ext uri="{FF2B5EF4-FFF2-40B4-BE49-F238E27FC236}">
                <a16:creationId xmlns:a16="http://schemas.microsoft.com/office/drawing/2014/main" id="{B9F2956A-87FC-06C6-173B-C5746E245424}"/>
              </a:ext>
            </a:extLst>
          </p:cNvPr>
          <p:cNvSpPr/>
          <p:nvPr/>
        </p:nvSpPr>
        <p:spPr>
          <a:xfrm>
            <a:off x="2871216" y="2103120"/>
            <a:ext cx="274320" cy="27432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02" name="Text 26">
            <a:extLst>
              <a:ext uri="{FF2B5EF4-FFF2-40B4-BE49-F238E27FC236}">
                <a16:creationId xmlns:a16="http://schemas.microsoft.com/office/drawing/2014/main" id="{DD6820F8-14ED-288F-545E-28128FE46AE9}"/>
              </a:ext>
            </a:extLst>
          </p:cNvPr>
          <p:cNvSpPr txBox="1"/>
          <p:nvPr/>
        </p:nvSpPr>
        <p:spPr>
          <a:xfrm>
            <a:off x="2871216" y="2103120"/>
            <a:ext cx="274320" cy="274320"/>
          </a:xfrm>
          <a:prstGeom prst="rect">
            <a:avLst/>
          </a:prstGeom>
          <a:noFill/>
          <a:ln/>
        </p:spPr>
        <p:txBody>
          <a:bodyPr wrap="square" lIns="0" tIns="0" rIns="0" bIns="0" rtlCol="0" anchor="ctr"/>
          <a:lstStyle/>
          <a:p>
            <a:pPr algn="ctr"/>
            <a:r>
              <a:rPr lang="en-US" sz="1100" b="1" dirty="0">
                <a:solidFill>
                  <a:srgbClr val="FFFFFF"/>
                </a:solidFill>
                <a:latin typeface="+mj-lt"/>
              </a:rPr>
              <a:t>2</a:t>
            </a:r>
            <a:endParaRPr lang="en-US" sz="1100" dirty="0">
              <a:solidFill>
                <a:srgbClr val="0A1628"/>
              </a:solidFill>
              <a:latin typeface="+mj-lt"/>
            </a:endParaRPr>
          </a:p>
        </p:txBody>
      </p:sp>
      <p:sp>
        <p:nvSpPr>
          <p:cNvPr id="203" name="Text 27">
            <a:extLst>
              <a:ext uri="{FF2B5EF4-FFF2-40B4-BE49-F238E27FC236}">
                <a16:creationId xmlns:a16="http://schemas.microsoft.com/office/drawing/2014/main" id="{B9B97B9C-4C55-5044-29B6-1A0E3C834461}"/>
              </a:ext>
            </a:extLst>
          </p:cNvPr>
          <p:cNvSpPr txBox="1"/>
          <p:nvPr/>
        </p:nvSpPr>
        <p:spPr>
          <a:xfrm>
            <a:off x="3218688" y="2084832"/>
            <a:ext cx="1490472" cy="310896"/>
          </a:xfrm>
          <a:prstGeom prst="rect">
            <a:avLst/>
          </a:prstGeom>
          <a:noFill/>
          <a:ln/>
        </p:spPr>
        <p:txBody>
          <a:bodyPr wrap="square" lIns="0" tIns="0" rIns="0" bIns="0" rtlCol="0" anchor="ctr"/>
          <a:lstStyle/>
          <a:p>
            <a:r>
              <a:rPr lang="en-US" sz="1300" b="1" dirty="0">
                <a:solidFill>
                  <a:srgbClr val="0A1628"/>
                </a:solidFill>
                <a:latin typeface="+mj-lt"/>
              </a:rPr>
              <a:t>Approach</a:t>
            </a:r>
            <a:endParaRPr lang="en-US" sz="1300" dirty="0">
              <a:solidFill>
                <a:srgbClr val="0A1628"/>
              </a:solidFill>
              <a:latin typeface="+mj-lt"/>
            </a:endParaRPr>
          </a:p>
        </p:txBody>
      </p:sp>
      <p:sp>
        <p:nvSpPr>
          <p:cNvPr id="204" name="Text 28">
            <a:extLst>
              <a:ext uri="{FF2B5EF4-FFF2-40B4-BE49-F238E27FC236}">
                <a16:creationId xmlns:a16="http://schemas.microsoft.com/office/drawing/2014/main" id="{51757EF6-09F3-8B07-1C42-9E0F04277CFA}"/>
              </a:ext>
            </a:extLst>
          </p:cNvPr>
          <p:cNvSpPr txBox="1"/>
          <p:nvPr/>
        </p:nvSpPr>
        <p:spPr>
          <a:xfrm>
            <a:off x="2889504" y="2395728"/>
            <a:ext cx="1801368" cy="347472"/>
          </a:xfrm>
          <a:prstGeom prst="rect">
            <a:avLst/>
          </a:prstGeom>
          <a:noFill/>
          <a:ln/>
        </p:spPr>
        <p:txBody>
          <a:bodyPr wrap="square" lIns="0" tIns="0" rIns="0" bIns="0" rtlCol="0" anchor="ctr"/>
          <a:lstStyle/>
          <a:p>
            <a:r>
              <a:rPr lang="en-US" sz="1100">
                <a:solidFill>
                  <a:srgbClr val="4F5B6D"/>
                </a:solidFill>
                <a:latin typeface="+mj-lt"/>
              </a:rPr>
              <a:t>BLE / UWB pairs the phone to the lane </a:t>
            </a:r>
            <a:r>
              <a:rPr lang="en-US" sz="1100" dirty="0">
                <a:solidFill>
                  <a:srgbClr val="4F5B6D"/>
                </a:solidFill>
                <a:latin typeface="+mj-lt"/>
              </a:rPr>
              <a:t>as it nears</a:t>
            </a:r>
            <a:endParaRPr lang="en-US" sz="1100" dirty="0">
              <a:solidFill>
                <a:srgbClr val="0A1628"/>
              </a:solidFill>
              <a:latin typeface="+mj-lt"/>
            </a:endParaRPr>
          </a:p>
        </p:txBody>
      </p:sp>
      <p:sp>
        <p:nvSpPr>
          <p:cNvPr id="205" name="Shape 29">
            <a:extLst>
              <a:ext uri="{FF2B5EF4-FFF2-40B4-BE49-F238E27FC236}">
                <a16:creationId xmlns:a16="http://schemas.microsoft.com/office/drawing/2014/main" id="{822A048E-9583-0962-8505-0E71A304EF9B}"/>
              </a:ext>
            </a:extLst>
          </p:cNvPr>
          <p:cNvSpPr/>
          <p:nvPr/>
        </p:nvSpPr>
        <p:spPr>
          <a:xfrm>
            <a:off x="4937760" y="2011680"/>
            <a:ext cx="2057400" cy="786384"/>
          </a:xfrm>
          <a:prstGeom prst="roundRect">
            <a:avLst>
              <a:gd name="adj" fmla="val 18605"/>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06" name="Shape 30">
            <a:extLst>
              <a:ext uri="{FF2B5EF4-FFF2-40B4-BE49-F238E27FC236}">
                <a16:creationId xmlns:a16="http://schemas.microsoft.com/office/drawing/2014/main" id="{ADEE8DF1-F6C2-0C5C-365B-F2BFEEEDA135}"/>
              </a:ext>
            </a:extLst>
          </p:cNvPr>
          <p:cNvSpPr/>
          <p:nvPr/>
        </p:nvSpPr>
        <p:spPr>
          <a:xfrm>
            <a:off x="5065776" y="2103120"/>
            <a:ext cx="274320" cy="27432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07" name="Text 31">
            <a:extLst>
              <a:ext uri="{FF2B5EF4-FFF2-40B4-BE49-F238E27FC236}">
                <a16:creationId xmlns:a16="http://schemas.microsoft.com/office/drawing/2014/main" id="{A225676E-CD98-C965-1637-8F49753EBA20}"/>
              </a:ext>
            </a:extLst>
          </p:cNvPr>
          <p:cNvSpPr txBox="1"/>
          <p:nvPr/>
        </p:nvSpPr>
        <p:spPr>
          <a:xfrm>
            <a:off x="5065776" y="2103120"/>
            <a:ext cx="274320" cy="274320"/>
          </a:xfrm>
          <a:prstGeom prst="rect">
            <a:avLst/>
          </a:prstGeom>
          <a:noFill/>
          <a:ln/>
        </p:spPr>
        <p:txBody>
          <a:bodyPr wrap="square" lIns="0" tIns="0" rIns="0" bIns="0" rtlCol="0" anchor="ctr"/>
          <a:lstStyle/>
          <a:p>
            <a:pPr algn="ctr"/>
            <a:r>
              <a:rPr lang="en-US" sz="1100" b="1" dirty="0">
                <a:solidFill>
                  <a:srgbClr val="FFFFFF"/>
                </a:solidFill>
                <a:latin typeface="+mj-lt"/>
              </a:rPr>
              <a:t>3</a:t>
            </a:r>
            <a:endParaRPr lang="en-US" sz="1100" dirty="0">
              <a:solidFill>
                <a:srgbClr val="0A1628"/>
              </a:solidFill>
              <a:latin typeface="+mj-lt"/>
            </a:endParaRPr>
          </a:p>
        </p:txBody>
      </p:sp>
      <p:sp>
        <p:nvSpPr>
          <p:cNvPr id="208" name="Text 32">
            <a:extLst>
              <a:ext uri="{FF2B5EF4-FFF2-40B4-BE49-F238E27FC236}">
                <a16:creationId xmlns:a16="http://schemas.microsoft.com/office/drawing/2014/main" id="{0B772740-0304-001D-48F6-C6F9D889116C}"/>
              </a:ext>
            </a:extLst>
          </p:cNvPr>
          <p:cNvSpPr txBox="1"/>
          <p:nvPr/>
        </p:nvSpPr>
        <p:spPr>
          <a:xfrm>
            <a:off x="5413248" y="2084832"/>
            <a:ext cx="1490472" cy="310896"/>
          </a:xfrm>
          <a:prstGeom prst="rect">
            <a:avLst/>
          </a:prstGeom>
          <a:noFill/>
          <a:ln/>
        </p:spPr>
        <p:txBody>
          <a:bodyPr wrap="square" lIns="0" tIns="0" rIns="0" bIns="0" rtlCol="0" anchor="ctr"/>
          <a:lstStyle/>
          <a:p>
            <a:r>
              <a:rPr lang="en-US" sz="1300" b="1" dirty="0">
                <a:solidFill>
                  <a:srgbClr val="0A1628"/>
                </a:solidFill>
                <a:latin typeface="+mj-lt"/>
              </a:rPr>
              <a:t>Walk through</a:t>
            </a:r>
            <a:endParaRPr lang="en-US" sz="1300" dirty="0">
              <a:solidFill>
                <a:srgbClr val="0A1628"/>
              </a:solidFill>
              <a:latin typeface="+mj-lt"/>
            </a:endParaRPr>
          </a:p>
        </p:txBody>
      </p:sp>
      <p:sp>
        <p:nvSpPr>
          <p:cNvPr id="209" name="Text 33">
            <a:extLst>
              <a:ext uri="{FF2B5EF4-FFF2-40B4-BE49-F238E27FC236}">
                <a16:creationId xmlns:a16="http://schemas.microsoft.com/office/drawing/2014/main" id="{8735BE28-0B77-A0B3-9195-8BA3F1D61B85}"/>
              </a:ext>
            </a:extLst>
          </p:cNvPr>
          <p:cNvSpPr txBox="1"/>
          <p:nvPr/>
        </p:nvSpPr>
        <p:spPr>
          <a:xfrm>
            <a:off x="5084064" y="2395728"/>
            <a:ext cx="1801368" cy="347472"/>
          </a:xfrm>
          <a:prstGeom prst="rect">
            <a:avLst/>
          </a:prstGeom>
          <a:noFill/>
          <a:ln/>
        </p:spPr>
        <p:txBody>
          <a:bodyPr wrap="square" lIns="0" tIns="0" rIns="0" bIns="0" rtlCol="0" anchor="ctr"/>
          <a:lstStyle/>
          <a:p>
            <a:r>
              <a:rPr lang="en-US" sz="1100" dirty="0">
                <a:solidFill>
                  <a:srgbClr val="4F5B6D"/>
                </a:solidFill>
                <a:latin typeface="+mj-lt"/>
              </a:rPr>
              <a:t>Face matched on the move; the TV shows your status</a:t>
            </a:r>
            <a:endParaRPr lang="en-US" sz="1100" dirty="0">
              <a:solidFill>
                <a:srgbClr val="0A1628"/>
              </a:solidFill>
              <a:latin typeface="+mj-lt"/>
            </a:endParaRPr>
          </a:p>
        </p:txBody>
      </p:sp>
      <p:sp>
        <p:nvSpPr>
          <p:cNvPr id="210" name="Shape 34">
            <a:extLst>
              <a:ext uri="{FF2B5EF4-FFF2-40B4-BE49-F238E27FC236}">
                <a16:creationId xmlns:a16="http://schemas.microsoft.com/office/drawing/2014/main" id="{33500294-C397-0831-13AA-029DA2841131}"/>
              </a:ext>
            </a:extLst>
          </p:cNvPr>
          <p:cNvSpPr/>
          <p:nvPr/>
        </p:nvSpPr>
        <p:spPr>
          <a:xfrm>
            <a:off x="7132320" y="2011680"/>
            <a:ext cx="2057400" cy="786384"/>
          </a:xfrm>
          <a:prstGeom prst="roundRect">
            <a:avLst>
              <a:gd name="adj" fmla="val 18605"/>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11" name="Shape 35">
            <a:extLst>
              <a:ext uri="{FF2B5EF4-FFF2-40B4-BE49-F238E27FC236}">
                <a16:creationId xmlns:a16="http://schemas.microsoft.com/office/drawing/2014/main" id="{2A54AFD1-1607-9A0C-14CB-B998809A7A1B}"/>
              </a:ext>
            </a:extLst>
          </p:cNvPr>
          <p:cNvSpPr/>
          <p:nvPr/>
        </p:nvSpPr>
        <p:spPr>
          <a:xfrm>
            <a:off x="7260336" y="2103120"/>
            <a:ext cx="274320" cy="27432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12" name="Text 36">
            <a:extLst>
              <a:ext uri="{FF2B5EF4-FFF2-40B4-BE49-F238E27FC236}">
                <a16:creationId xmlns:a16="http://schemas.microsoft.com/office/drawing/2014/main" id="{DF0343DA-CA60-A2B4-6CFD-286E6588AF75}"/>
              </a:ext>
            </a:extLst>
          </p:cNvPr>
          <p:cNvSpPr txBox="1"/>
          <p:nvPr/>
        </p:nvSpPr>
        <p:spPr>
          <a:xfrm>
            <a:off x="7260336" y="2103120"/>
            <a:ext cx="274320" cy="274320"/>
          </a:xfrm>
          <a:prstGeom prst="rect">
            <a:avLst/>
          </a:prstGeom>
          <a:noFill/>
          <a:ln/>
        </p:spPr>
        <p:txBody>
          <a:bodyPr wrap="square" lIns="0" tIns="0" rIns="0" bIns="0" rtlCol="0" anchor="ctr"/>
          <a:lstStyle/>
          <a:p>
            <a:pPr algn="ctr"/>
            <a:r>
              <a:rPr lang="en-US" sz="1100" b="1" dirty="0">
                <a:solidFill>
                  <a:srgbClr val="FFFFFF"/>
                </a:solidFill>
                <a:latin typeface="+mj-lt"/>
              </a:rPr>
              <a:t>4</a:t>
            </a:r>
            <a:endParaRPr lang="en-US" sz="1100" dirty="0">
              <a:solidFill>
                <a:srgbClr val="0A1628"/>
              </a:solidFill>
              <a:latin typeface="+mj-lt"/>
            </a:endParaRPr>
          </a:p>
        </p:txBody>
      </p:sp>
      <p:sp>
        <p:nvSpPr>
          <p:cNvPr id="213" name="Text 37">
            <a:extLst>
              <a:ext uri="{FF2B5EF4-FFF2-40B4-BE49-F238E27FC236}">
                <a16:creationId xmlns:a16="http://schemas.microsoft.com/office/drawing/2014/main" id="{8E240C65-51D1-0FE6-5E9D-0305E52FDA4D}"/>
              </a:ext>
            </a:extLst>
          </p:cNvPr>
          <p:cNvSpPr txBox="1"/>
          <p:nvPr/>
        </p:nvSpPr>
        <p:spPr>
          <a:xfrm>
            <a:off x="7607808" y="2084832"/>
            <a:ext cx="1490472" cy="310896"/>
          </a:xfrm>
          <a:prstGeom prst="rect">
            <a:avLst/>
          </a:prstGeom>
          <a:noFill/>
          <a:ln/>
        </p:spPr>
        <p:txBody>
          <a:bodyPr wrap="square" lIns="0" tIns="0" rIns="0" bIns="0" rtlCol="0" anchor="ctr"/>
          <a:lstStyle/>
          <a:p>
            <a:r>
              <a:rPr lang="en-US" sz="1300" b="1" dirty="0">
                <a:solidFill>
                  <a:srgbClr val="0A1628"/>
                </a:solidFill>
                <a:latin typeface="+mj-lt"/>
              </a:rPr>
              <a:t>Pre-screen</a:t>
            </a:r>
            <a:endParaRPr lang="en-US" sz="1300" dirty="0">
              <a:solidFill>
                <a:srgbClr val="0A1628"/>
              </a:solidFill>
              <a:latin typeface="+mj-lt"/>
            </a:endParaRPr>
          </a:p>
        </p:txBody>
      </p:sp>
      <p:sp>
        <p:nvSpPr>
          <p:cNvPr id="214" name="Text 38">
            <a:extLst>
              <a:ext uri="{FF2B5EF4-FFF2-40B4-BE49-F238E27FC236}">
                <a16:creationId xmlns:a16="http://schemas.microsoft.com/office/drawing/2014/main" id="{3A4E05FA-35D0-55B1-699F-73A0BE320F9C}"/>
              </a:ext>
            </a:extLst>
          </p:cNvPr>
          <p:cNvSpPr txBox="1"/>
          <p:nvPr/>
        </p:nvSpPr>
        <p:spPr>
          <a:xfrm>
            <a:off x="7278624" y="2395728"/>
            <a:ext cx="1801368" cy="347472"/>
          </a:xfrm>
          <a:prstGeom prst="rect">
            <a:avLst/>
          </a:prstGeom>
          <a:noFill/>
          <a:ln/>
        </p:spPr>
        <p:txBody>
          <a:bodyPr wrap="square" lIns="0" tIns="0" rIns="0" bIns="0" rtlCol="0" anchor="ctr"/>
          <a:lstStyle/>
          <a:p>
            <a:r>
              <a:rPr lang="en-US" sz="1100" dirty="0">
                <a:solidFill>
                  <a:srgbClr val="4F5B6D"/>
                </a:solidFill>
                <a:latin typeface="+mj-lt"/>
              </a:rPr>
              <a:t>Nova Plus confirms identity before bags reach X-ray</a:t>
            </a:r>
            <a:endParaRPr lang="en-US" sz="1100" dirty="0">
              <a:solidFill>
                <a:srgbClr val="0A1628"/>
              </a:solidFill>
              <a:latin typeface="+mj-lt"/>
            </a:endParaRPr>
          </a:p>
        </p:txBody>
      </p:sp>
      <p:sp>
        <p:nvSpPr>
          <p:cNvPr id="215" name="Shape 39">
            <a:extLst>
              <a:ext uri="{FF2B5EF4-FFF2-40B4-BE49-F238E27FC236}">
                <a16:creationId xmlns:a16="http://schemas.microsoft.com/office/drawing/2014/main" id="{662417E1-4716-3AC1-63FB-23BD0444F6D7}"/>
              </a:ext>
            </a:extLst>
          </p:cNvPr>
          <p:cNvSpPr/>
          <p:nvPr/>
        </p:nvSpPr>
        <p:spPr>
          <a:xfrm>
            <a:off x="9326880" y="2011680"/>
            <a:ext cx="2316175" cy="786384"/>
          </a:xfrm>
          <a:prstGeom prst="roundRect">
            <a:avLst>
              <a:gd name="adj" fmla="val 18605"/>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16" name="Shape 40">
            <a:extLst>
              <a:ext uri="{FF2B5EF4-FFF2-40B4-BE49-F238E27FC236}">
                <a16:creationId xmlns:a16="http://schemas.microsoft.com/office/drawing/2014/main" id="{62EE775D-7164-F667-4CAE-EABB42B09716}"/>
              </a:ext>
            </a:extLst>
          </p:cNvPr>
          <p:cNvSpPr/>
          <p:nvPr/>
        </p:nvSpPr>
        <p:spPr>
          <a:xfrm>
            <a:off x="9454896" y="2103120"/>
            <a:ext cx="274320" cy="27432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17" name="Text 41">
            <a:extLst>
              <a:ext uri="{FF2B5EF4-FFF2-40B4-BE49-F238E27FC236}">
                <a16:creationId xmlns:a16="http://schemas.microsoft.com/office/drawing/2014/main" id="{8F2F3641-5A44-F9CA-568A-E10C0A68D274}"/>
              </a:ext>
            </a:extLst>
          </p:cNvPr>
          <p:cNvSpPr txBox="1"/>
          <p:nvPr/>
        </p:nvSpPr>
        <p:spPr>
          <a:xfrm>
            <a:off x="9454896" y="2103120"/>
            <a:ext cx="274320" cy="274320"/>
          </a:xfrm>
          <a:prstGeom prst="rect">
            <a:avLst/>
          </a:prstGeom>
          <a:noFill/>
          <a:ln/>
        </p:spPr>
        <p:txBody>
          <a:bodyPr wrap="square" lIns="0" tIns="0" rIns="0" bIns="0" rtlCol="0" anchor="ctr"/>
          <a:lstStyle/>
          <a:p>
            <a:pPr algn="ctr"/>
            <a:r>
              <a:rPr lang="en-US" sz="1100" b="1" dirty="0">
                <a:solidFill>
                  <a:srgbClr val="FFFFFF"/>
                </a:solidFill>
                <a:latin typeface="+mj-lt"/>
              </a:rPr>
              <a:t>5</a:t>
            </a:r>
            <a:endParaRPr lang="en-US" sz="1100" dirty="0">
              <a:solidFill>
                <a:srgbClr val="0A1628"/>
              </a:solidFill>
              <a:latin typeface="+mj-lt"/>
            </a:endParaRPr>
          </a:p>
        </p:txBody>
      </p:sp>
      <p:sp>
        <p:nvSpPr>
          <p:cNvPr id="218" name="Text 42">
            <a:extLst>
              <a:ext uri="{FF2B5EF4-FFF2-40B4-BE49-F238E27FC236}">
                <a16:creationId xmlns:a16="http://schemas.microsoft.com/office/drawing/2014/main" id="{3C24BFD5-5C8C-CE2A-AA71-3E2440329AC7}"/>
              </a:ext>
            </a:extLst>
          </p:cNvPr>
          <p:cNvSpPr txBox="1"/>
          <p:nvPr/>
        </p:nvSpPr>
        <p:spPr>
          <a:xfrm>
            <a:off x="9802368" y="2084832"/>
            <a:ext cx="1749247" cy="310896"/>
          </a:xfrm>
          <a:prstGeom prst="rect">
            <a:avLst/>
          </a:prstGeom>
          <a:noFill/>
          <a:ln/>
        </p:spPr>
        <p:txBody>
          <a:bodyPr wrap="square" lIns="0" tIns="0" rIns="0" bIns="0" rtlCol="0" anchor="ctr"/>
          <a:lstStyle/>
          <a:p>
            <a:r>
              <a:rPr lang="en-US" sz="1300" b="1" dirty="0">
                <a:solidFill>
                  <a:srgbClr val="0A1628"/>
                </a:solidFill>
                <a:latin typeface="+mj-lt"/>
              </a:rPr>
              <a:t>Board</a:t>
            </a:r>
            <a:endParaRPr lang="en-US" sz="1300" dirty="0">
              <a:solidFill>
                <a:srgbClr val="0A1628"/>
              </a:solidFill>
              <a:latin typeface="+mj-lt"/>
            </a:endParaRPr>
          </a:p>
        </p:txBody>
      </p:sp>
      <p:sp>
        <p:nvSpPr>
          <p:cNvPr id="219" name="Text 43">
            <a:extLst>
              <a:ext uri="{FF2B5EF4-FFF2-40B4-BE49-F238E27FC236}">
                <a16:creationId xmlns:a16="http://schemas.microsoft.com/office/drawing/2014/main" id="{96D3ECAC-4B34-E2E7-296D-16746D5F9305}"/>
              </a:ext>
            </a:extLst>
          </p:cNvPr>
          <p:cNvSpPr txBox="1"/>
          <p:nvPr/>
        </p:nvSpPr>
        <p:spPr>
          <a:xfrm>
            <a:off x="9473184" y="2395728"/>
            <a:ext cx="2060143" cy="347472"/>
          </a:xfrm>
          <a:prstGeom prst="rect">
            <a:avLst/>
          </a:prstGeom>
          <a:noFill/>
          <a:ln/>
        </p:spPr>
        <p:txBody>
          <a:bodyPr wrap="square" lIns="0" tIns="0" rIns="0" bIns="0" rtlCol="0" anchor="ctr"/>
          <a:lstStyle/>
          <a:p>
            <a:r>
              <a:rPr lang="en-US" sz="1100" dirty="0">
                <a:solidFill>
                  <a:srgbClr val="4F5B6D"/>
                </a:solidFill>
                <a:latin typeface="+mj-lt"/>
              </a:rPr>
              <a:t>Face + phone clears the kiosk; no boarding pass</a:t>
            </a:r>
            <a:endParaRPr lang="en-US" sz="1100" dirty="0">
              <a:solidFill>
                <a:srgbClr val="0A1628"/>
              </a:solidFill>
              <a:latin typeface="+mj-lt"/>
            </a:endParaRPr>
          </a:p>
        </p:txBody>
      </p:sp>
      <p:sp>
        <p:nvSpPr>
          <p:cNvPr id="220" name="Shape 44">
            <a:extLst>
              <a:ext uri="{FF2B5EF4-FFF2-40B4-BE49-F238E27FC236}">
                <a16:creationId xmlns:a16="http://schemas.microsoft.com/office/drawing/2014/main" id="{640151E7-40F5-1EC1-EA91-A8BEB30217AD}"/>
              </a:ext>
            </a:extLst>
          </p:cNvPr>
          <p:cNvSpPr/>
          <p:nvPr/>
        </p:nvSpPr>
        <p:spPr>
          <a:xfrm>
            <a:off x="6080760" y="5532120"/>
            <a:ext cx="1874520" cy="786384"/>
          </a:xfrm>
          <a:prstGeom prst="roundRect">
            <a:avLst>
              <a:gd name="adj" fmla="val 18605"/>
            </a:avLst>
          </a:prstGeom>
          <a:solidFill>
            <a:srgbClr val="FFFFFF"/>
          </a:solidFill>
          <a:ln w="9525">
            <a:solidFill>
              <a:srgbClr val="E1E6ED"/>
            </a:solidFill>
            <a:prstDash val="solid"/>
          </a:ln>
          <a:effectLst>
            <a:outerShdw blurRad="177800" dist="38100" dir="5400000" algn="bl" rotWithShape="0">
              <a:srgbClr val="0A1628">
                <a:alpha val="8000"/>
              </a:srgb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21" name="Shape 45">
            <a:extLst>
              <a:ext uri="{FF2B5EF4-FFF2-40B4-BE49-F238E27FC236}">
                <a16:creationId xmlns:a16="http://schemas.microsoft.com/office/drawing/2014/main" id="{0DF5E27B-5C3F-8DA2-1F78-469527987815}"/>
              </a:ext>
            </a:extLst>
          </p:cNvPr>
          <p:cNvSpPr/>
          <p:nvPr/>
        </p:nvSpPr>
        <p:spPr>
          <a:xfrm>
            <a:off x="6208776" y="5623560"/>
            <a:ext cx="274320" cy="274320"/>
          </a:xfrm>
          <a:prstGeom prst="ellipse">
            <a:avLst/>
          </a:prstGeom>
          <a:solidFill>
            <a:srgbClr val="0B84AE"/>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22" name="Text 46">
            <a:extLst>
              <a:ext uri="{FF2B5EF4-FFF2-40B4-BE49-F238E27FC236}">
                <a16:creationId xmlns:a16="http://schemas.microsoft.com/office/drawing/2014/main" id="{7BBB8356-8747-39FD-EFDF-BCCAD3B5FEDC}"/>
              </a:ext>
            </a:extLst>
          </p:cNvPr>
          <p:cNvSpPr txBox="1"/>
          <p:nvPr/>
        </p:nvSpPr>
        <p:spPr>
          <a:xfrm>
            <a:off x="6208776" y="5623560"/>
            <a:ext cx="274320" cy="274320"/>
          </a:xfrm>
          <a:prstGeom prst="rect">
            <a:avLst/>
          </a:prstGeom>
          <a:noFill/>
          <a:ln/>
        </p:spPr>
        <p:txBody>
          <a:bodyPr wrap="square" lIns="0" tIns="0" rIns="0" bIns="0" rtlCol="0" anchor="ctr"/>
          <a:lstStyle/>
          <a:p>
            <a:pPr algn="ctr"/>
            <a:r>
              <a:rPr lang="en-US" sz="1100" b="1" dirty="0">
                <a:solidFill>
                  <a:srgbClr val="FFFFFF"/>
                </a:solidFill>
                <a:latin typeface="+mj-lt"/>
              </a:rPr>
              <a:t>6</a:t>
            </a:r>
            <a:endParaRPr lang="en-US" sz="1100" dirty="0">
              <a:solidFill>
                <a:srgbClr val="0A1628"/>
              </a:solidFill>
              <a:latin typeface="+mj-lt"/>
            </a:endParaRPr>
          </a:p>
        </p:txBody>
      </p:sp>
      <p:sp>
        <p:nvSpPr>
          <p:cNvPr id="223" name="Text 47">
            <a:extLst>
              <a:ext uri="{FF2B5EF4-FFF2-40B4-BE49-F238E27FC236}">
                <a16:creationId xmlns:a16="http://schemas.microsoft.com/office/drawing/2014/main" id="{F5BF16E7-A7D2-2ADF-1B20-DA4AC8FF5068}"/>
              </a:ext>
            </a:extLst>
          </p:cNvPr>
          <p:cNvSpPr txBox="1"/>
          <p:nvPr/>
        </p:nvSpPr>
        <p:spPr>
          <a:xfrm>
            <a:off x="6556248" y="5605272"/>
            <a:ext cx="1307592" cy="310896"/>
          </a:xfrm>
          <a:prstGeom prst="rect">
            <a:avLst/>
          </a:prstGeom>
          <a:noFill/>
          <a:ln/>
        </p:spPr>
        <p:txBody>
          <a:bodyPr wrap="square" lIns="0" tIns="0" rIns="0" bIns="0" rtlCol="0" anchor="ctr"/>
          <a:lstStyle/>
          <a:p>
            <a:r>
              <a:rPr lang="en-US" sz="1300" b="1" dirty="0">
                <a:solidFill>
                  <a:srgbClr val="0A1628"/>
                </a:solidFill>
                <a:latin typeface="+mj-lt"/>
              </a:rPr>
              <a:t>Live oversight</a:t>
            </a:r>
            <a:endParaRPr lang="en-US" sz="1300" dirty="0">
              <a:solidFill>
                <a:srgbClr val="0A1628"/>
              </a:solidFill>
              <a:latin typeface="+mj-lt"/>
            </a:endParaRPr>
          </a:p>
        </p:txBody>
      </p:sp>
      <p:sp>
        <p:nvSpPr>
          <p:cNvPr id="224" name="Text 48">
            <a:extLst>
              <a:ext uri="{FF2B5EF4-FFF2-40B4-BE49-F238E27FC236}">
                <a16:creationId xmlns:a16="http://schemas.microsoft.com/office/drawing/2014/main" id="{EBAA41AB-B509-C355-46E7-71BD04C95346}"/>
              </a:ext>
            </a:extLst>
          </p:cNvPr>
          <p:cNvSpPr txBox="1"/>
          <p:nvPr/>
        </p:nvSpPr>
        <p:spPr>
          <a:xfrm>
            <a:off x="6227064" y="5916168"/>
            <a:ext cx="1618488" cy="347472"/>
          </a:xfrm>
          <a:prstGeom prst="rect">
            <a:avLst/>
          </a:prstGeom>
          <a:noFill/>
          <a:ln/>
        </p:spPr>
        <p:txBody>
          <a:bodyPr wrap="square" lIns="0" tIns="0" rIns="0" bIns="0" rtlCol="0" anchor="ctr"/>
          <a:lstStyle/>
          <a:p>
            <a:r>
              <a:rPr lang="en-US" sz="1100" dirty="0">
                <a:solidFill>
                  <a:srgbClr val="4F5B6D"/>
                </a:solidFill>
                <a:latin typeface="+mj-lt"/>
              </a:rPr>
              <a:t>One view in ISMP; exceptions go to officers</a:t>
            </a:r>
            <a:endParaRPr lang="en-US" sz="1100" dirty="0">
              <a:solidFill>
                <a:srgbClr val="0A1628"/>
              </a:solidFill>
              <a:latin typeface="+mj-lt"/>
            </a:endParaRPr>
          </a:p>
        </p:txBody>
      </p:sp>
      <p:sp>
        <p:nvSpPr>
          <p:cNvPr id="225" name="Shape 49">
            <a:extLst>
              <a:ext uri="{FF2B5EF4-FFF2-40B4-BE49-F238E27FC236}">
                <a16:creationId xmlns:a16="http://schemas.microsoft.com/office/drawing/2014/main" id="{C172127A-0EE2-291A-9B94-1AC46C73CB51}"/>
              </a:ext>
            </a:extLst>
          </p:cNvPr>
          <p:cNvSpPr/>
          <p:nvPr/>
        </p:nvSpPr>
        <p:spPr>
          <a:xfrm>
            <a:off x="1607515" y="4828032"/>
            <a:ext cx="497434" cy="497434"/>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26" name="Shape 50">
            <a:extLst>
              <a:ext uri="{FF2B5EF4-FFF2-40B4-BE49-F238E27FC236}">
                <a16:creationId xmlns:a16="http://schemas.microsoft.com/office/drawing/2014/main" id="{A7081094-D292-5069-4F4E-9CE2ED9A9ED4}"/>
              </a:ext>
            </a:extLst>
          </p:cNvPr>
          <p:cNvSpPr/>
          <p:nvPr/>
        </p:nvSpPr>
        <p:spPr>
          <a:xfrm>
            <a:off x="1709928" y="4930445"/>
            <a:ext cx="292608" cy="292608"/>
          </a:xfrm>
          <a:prstGeom prst="ellipse">
            <a:avLst/>
          </a:prstGeom>
          <a:solidFill>
            <a:srgbClr val="0B84AE"/>
          </a:solidFill>
          <a:ln w="15875">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27" name="Text 51">
            <a:extLst>
              <a:ext uri="{FF2B5EF4-FFF2-40B4-BE49-F238E27FC236}">
                <a16:creationId xmlns:a16="http://schemas.microsoft.com/office/drawing/2014/main" id="{BADE7720-7212-FE23-CD3C-043628E39335}"/>
              </a:ext>
            </a:extLst>
          </p:cNvPr>
          <p:cNvSpPr txBox="1"/>
          <p:nvPr/>
        </p:nvSpPr>
        <p:spPr>
          <a:xfrm>
            <a:off x="1709928" y="4930445"/>
            <a:ext cx="292608" cy="292608"/>
          </a:xfrm>
          <a:prstGeom prst="rect">
            <a:avLst/>
          </a:prstGeom>
          <a:noFill/>
          <a:ln/>
        </p:spPr>
        <p:txBody>
          <a:bodyPr wrap="square" lIns="0" tIns="0" rIns="0" bIns="0" rtlCol="0" anchor="ctr"/>
          <a:lstStyle/>
          <a:p>
            <a:pPr algn="ctr"/>
            <a:r>
              <a:rPr lang="en-US" sz="1200" b="1" dirty="0">
                <a:solidFill>
                  <a:srgbClr val="FFFFFF"/>
                </a:solidFill>
                <a:latin typeface="+mj-lt"/>
              </a:rPr>
              <a:t>1</a:t>
            </a:r>
            <a:endParaRPr lang="en-US" sz="1200" dirty="0">
              <a:solidFill>
                <a:srgbClr val="0A1628"/>
              </a:solidFill>
              <a:latin typeface="+mj-lt"/>
            </a:endParaRPr>
          </a:p>
        </p:txBody>
      </p:sp>
      <p:sp>
        <p:nvSpPr>
          <p:cNvPr id="228" name="Shape 52">
            <a:extLst>
              <a:ext uri="{FF2B5EF4-FFF2-40B4-BE49-F238E27FC236}">
                <a16:creationId xmlns:a16="http://schemas.microsoft.com/office/drawing/2014/main" id="{EFD410CE-3176-9D20-03C5-887D361305EB}"/>
              </a:ext>
            </a:extLst>
          </p:cNvPr>
          <p:cNvSpPr/>
          <p:nvPr/>
        </p:nvSpPr>
        <p:spPr>
          <a:xfrm>
            <a:off x="2751430" y="4256532"/>
            <a:ext cx="497434" cy="497434"/>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29" name="Shape 53">
            <a:extLst>
              <a:ext uri="{FF2B5EF4-FFF2-40B4-BE49-F238E27FC236}">
                <a16:creationId xmlns:a16="http://schemas.microsoft.com/office/drawing/2014/main" id="{68484F94-5754-BF41-9AB5-75042559E2F9}"/>
              </a:ext>
            </a:extLst>
          </p:cNvPr>
          <p:cNvSpPr/>
          <p:nvPr/>
        </p:nvSpPr>
        <p:spPr>
          <a:xfrm>
            <a:off x="2853842" y="4358945"/>
            <a:ext cx="292608" cy="292608"/>
          </a:xfrm>
          <a:prstGeom prst="ellipse">
            <a:avLst/>
          </a:prstGeom>
          <a:solidFill>
            <a:srgbClr val="0B84AE"/>
          </a:solidFill>
          <a:ln w="15875">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30" name="Text 54">
            <a:extLst>
              <a:ext uri="{FF2B5EF4-FFF2-40B4-BE49-F238E27FC236}">
                <a16:creationId xmlns:a16="http://schemas.microsoft.com/office/drawing/2014/main" id="{78D124F8-6FE1-00CD-FFD5-2AB7D9704D48}"/>
              </a:ext>
            </a:extLst>
          </p:cNvPr>
          <p:cNvSpPr txBox="1"/>
          <p:nvPr/>
        </p:nvSpPr>
        <p:spPr>
          <a:xfrm>
            <a:off x="2853842" y="4358945"/>
            <a:ext cx="292608" cy="292608"/>
          </a:xfrm>
          <a:prstGeom prst="rect">
            <a:avLst/>
          </a:prstGeom>
          <a:noFill/>
          <a:ln/>
        </p:spPr>
        <p:txBody>
          <a:bodyPr wrap="square" lIns="0" tIns="0" rIns="0" bIns="0" rtlCol="0" anchor="ctr"/>
          <a:lstStyle/>
          <a:p>
            <a:pPr algn="ctr"/>
            <a:r>
              <a:rPr lang="en-US" sz="1200" b="1" dirty="0">
                <a:solidFill>
                  <a:srgbClr val="FFFFFF"/>
                </a:solidFill>
                <a:latin typeface="+mj-lt"/>
              </a:rPr>
              <a:t>2</a:t>
            </a:r>
            <a:endParaRPr lang="en-US" sz="1200" dirty="0">
              <a:solidFill>
                <a:srgbClr val="0A1628"/>
              </a:solidFill>
              <a:latin typeface="+mj-lt"/>
            </a:endParaRPr>
          </a:p>
        </p:txBody>
      </p:sp>
      <p:sp>
        <p:nvSpPr>
          <p:cNvPr id="231" name="Shape 55">
            <a:extLst>
              <a:ext uri="{FF2B5EF4-FFF2-40B4-BE49-F238E27FC236}">
                <a16:creationId xmlns:a16="http://schemas.microsoft.com/office/drawing/2014/main" id="{53CAC448-F146-1126-89FC-5C2960B765AA}"/>
              </a:ext>
            </a:extLst>
          </p:cNvPr>
          <p:cNvSpPr/>
          <p:nvPr/>
        </p:nvSpPr>
        <p:spPr>
          <a:xfrm>
            <a:off x="4676242" y="3293669"/>
            <a:ext cx="497434" cy="497434"/>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32" name="Shape 56">
            <a:extLst>
              <a:ext uri="{FF2B5EF4-FFF2-40B4-BE49-F238E27FC236}">
                <a16:creationId xmlns:a16="http://schemas.microsoft.com/office/drawing/2014/main" id="{50D66B63-42B9-7D98-DF8A-0F57B6C38389}"/>
              </a:ext>
            </a:extLst>
          </p:cNvPr>
          <p:cNvSpPr/>
          <p:nvPr/>
        </p:nvSpPr>
        <p:spPr>
          <a:xfrm>
            <a:off x="4778654" y="3396082"/>
            <a:ext cx="292608" cy="292608"/>
          </a:xfrm>
          <a:prstGeom prst="ellipse">
            <a:avLst/>
          </a:prstGeom>
          <a:solidFill>
            <a:srgbClr val="0B84AE"/>
          </a:solidFill>
          <a:ln w="15875">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33" name="Text 57">
            <a:extLst>
              <a:ext uri="{FF2B5EF4-FFF2-40B4-BE49-F238E27FC236}">
                <a16:creationId xmlns:a16="http://schemas.microsoft.com/office/drawing/2014/main" id="{5CB8388A-4D5D-1F6A-9ACD-ACD4B9CF2A04}"/>
              </a:ext>
            </a:extLst>
          </p:cNvPr>
          <p:cNvSpPr txBox="1"/>
          <p:nvPr/>
        </p:nvSpPr>
        <p:spPr>
          <a:xfrm>
            <a:off x="4778654" y="3396082"/>
            <a:ext cx="292608" cy="292608"/>
          </a:xfrm>
          <a:prstGeom prst="rect">
            <a:avLst/>
          </a:prstGeom>
          <a:noFill/>
          <a:ln/>
        </p:spPr>
        <p:txBody>
          <a:bodyPr wrap="square" lIns="0" tIns="0" rIns="0" bIns="0" rtlCol="0" anchor="ctr"/>
          <a:lstStyle/>
          <a:p>
            <a:pPr algn="ctr"/>
            <a:r>
              <a:rPr lang="en-US" sz="1200" b="1" dirty="0">
                <a:solidFill>
                  <a:srgbClr val="FFFFFF"/>
                </a:solidFill>
                <a:latin typeface="+mj-lt"/>
              </a:rPr>
              <a:t>3</a:t>
            </a:r>
            <a:endParaRPr lang="en-US" sz="1200" dirty="0">
              <a:solidFill>
                <a:srgbClr val="0A1628"/>
              </a:solidFill>
              <a:latin typeface="+mj-lt"/>
            </a:endParaRPr>
          </a:p>
        </p:txBody>
      </p:sp>
      <p:sp>
        <p:nvSpPr>
          <p:cNvPr id="234" name="Shape 58">
            <a:extLst>
              <a:ext uri="{FF2B5EF4-FFF2-40B4-BE49-F238E27FC236}">
                <a16:creationId xmlns:a16="http://schemas.microsoft.com/office/drawing/2014/main" id="{36A58484-0A21-D53B-5324-902EC039B6EA}"/>
              </a:ext>
            </a:extLst>
          </p:cNvPr>
          <p:cNvSpPr/>
          <p:nvPr/>
        </p:nvSpPr>
        <p:spPr>
          <a:xfrm>
            <a:off x="6291986" y="3829507"/>
            <a:ext cx="497434" cy="497434"/>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35" name="Shape 59">
            <a:extLst>
              <a:ext uri="{FF2B5EF4-FFF2-40B4-BE49-F238E27FC236}">
                <a16:creationId xmlns:a16="http://schemas.microsoft.com/office/drawing/2014/main" id="{656EDFBA-2466-A94B-06CC-942D1BFAE864}"/>
              </a:ext>
            </a:extLst>
          </p:cNvPr>
          <p:cNvSpPr/>
          <p:nvPr/>
        </p:nvSpPr>
        <p:spPr>
          <a:xfrm>
            <a:off x="6394399" y="3931920"/>
            <a:ext cx="292608" cy="292608"/>
          </a:xfrm>
          <a:prstGeom prst="ellipse">
            <a:avLst/>
          </a:prstGeom>
          <a:solidFill>
            <a:srgbClr val="0B84AE"/>
          </a:solidFill>
          <a:ln w="15875">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36" name="Text 60">
            <a:extLst>
              <a:ext uri="{FF2B5EF4-FFF2-40B4-BE49-F238E27FC236}">
                <a16:creationId xmlns:a16="http://schemas.microsoft.com/office/drawing/2014/main" id="{902A1A12-D801-57C8-DDF2-2E342B779748}"/>
              </a:ext>
            </a:extLst>
          </p:cNvPr>
          <p:cNvSpPr txBox="1"/>
          <p:nvPr/>
        </p:nvSpPr>
        <p:spPr>
          <a:xfrm>
            <a:off x="6394399" y="3931920"/>
            <a:ext cx="292608" cy="292608"/>
          </a:xfrm>
          <a:prstGeom prst="rect">
            <a:avLst/>
          </a:prstGeom>
          <a:noFill/>
          <a:ln/>
        </p:spPr>
        <p:txBody>
          <a:bodyPr wrap="square" lIns="0" tIns="0" rIns="0" bIns="0" rtlCol="0" anchor="ctr"/>
          <a:lstStyle/>
          <a:p>
            <a:pPr algn="ctr"/>
            <a:r>
              <a:rPr lang="en-US" sz="1200" b="1" dirty="0">
                <a:solidFill>
                  <a:srgbClr val="FFFFFF"/>
                </a:solidFill>
                <a:latin typeface="+mj-lt"/>
              </a:rPr>
              <a:t>4</a:t>
            </a:r>
            <a:endParaRPr lang="en-US" sz="1200" dirty="0">
              <a:solidFill>
                <a:srgbClr val="0A1628"/>
              </a:solidFill>
              <a:latin typeface="+mj-lt"/>
            </a:endParaRPr>
          </a:p>
        </p:txBody>
      </p:sp>
      <p:sp>
        <p:nvSpPr>
          <p:cNvPr id="237" name="Shape 61">
            <a:extLst>
              <a:ext uri="{FF2B5EF4-FFF2-40B4-BE49-F238E27FC236}">
                <a16:creationId xmlns:a16="http://schemas.microsoft.com/office/drawing/2014/main" id="{E115ED67-A683-3116-763E-2B28F2CF2347}"/>
              </a:ext>
            </a:extLst>
          </p:cNvPr>
          <p:cNvSpPr/>
          <p:nvPr/>
        </p:nvSpPr>
        <p:spPr>
          <a:xfrm>
            <a:off x="8633765" y="5000854"/>
            <a:ext cx="497434" cy="497434"/>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38" name="Shape 62">
            <a:extLst>
              <a:ext uri="{FF2B5EF4-FFF2-40B4-BE49-F238E27FC236}">
                <a16:creationId xmlns:a16="http://schemas.microsoft.com/office/drawing/2014/main" id="{095C38BF-1FD8-E6C4-630C-EE4A607DA41D}"/>
              </a:ext>
            </a:extLst>
          </p:cNvPr>
          <p:cNvSpPr/>
          <p:nvPr/>
        </p:nvSpPr>
        <p:spPr>
          <a:xfrm>
            <a:off x="8736178" y="5103266"/>
            <a:ext cx="292608" cy="292608"/>
          </a:xfrm>
          <a:prstGeom prst="ellipse">
            <a:avLst/>
          </a:prstGeom>
          <a:solidFill>
            <a:srgbClr val="0B84AE"/>
          </a:solidFill>
          <a:ln w="15875">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39" name="Text 63">
            <a:extLst>
              <a:ext uri="{FF2B5EF4-FFF2-40B4-BE49-F238E27FC236}">
                <a16:creationId xmlns:a16="http://schemas.microsoft.com/office/drawing/2014/main" id="{3BC7224A-DED0-A215-E9F8-74FB4029FE6D}"/>
              </a:ext>
            </a:extLst>
          </p:cNvPr>
          <p:cNvSpPr txBox="1"/>
          <p:nvPr/>
        </p:nvSpPr>
        <p:spPr>
          <a:xfrm>
            <a:off x="8736178" y="5103266"/>
            <a:ext cx="292608" cy="292608"/>
          </a:xfrm>
          <a:prstGeom prst="rect">
            <a:avLst/>
          </a:prstGeom>
          <a:noFill/>
          <a:ln/>
        </p:spPr>
        <p:txBody>
          <a:bodyPr wrap="square" lIns="0" tIns="0" rIns="0" bIns="0" rtlCol="0" anchor="ctr"/>
          <a:lstStyle/>
          <a:p>
            <a:pPr algn="ctr"/>
            <a:r>
              <a:rPr lang="en-US" sz="1200" b="1" dirty="0">
                <a:solidFill>
                  <a:srgbClr val="FFFFFF"/>
                </a:solidFill>
                <a:latin typeface="+mj-lt"/>
              </a:rPr>
              <a:t>5</a:t>
            </a:r>
            <a:endParaRPr lang="en-US" sz="1200" dirty="0">
              <a:solidFill>
                <a:srgbClr val="0A1628"/>
              </a:solidFill>
              <a:latin typeface="+mj-lt"/>
            </a:endParaRPr>
          </a:p>
        </p:txBody>
      </p:sp>
      <p:sp>
        <p:nvSpPr>
          <p:cNvPr id="240" name="Shape 64">
            <a:extLst>
              <a:ext uri="{FF2B5EF4-FFF2-40B4-BE49-F238E27FC236}">
                <a16:creationId xmlns:a16="http://schemas.microsoft.com/office/drawing/2014/main" id="{76645755-EF95-05DD-EF35-AB363387E375}"/>
              </a:ext>
            </a:extLst>
          </p:cNvPr>
          <p:cNvSpPr/>
          <p:nvPr/>
        </p:nvSpPr>
        <p:spPr>
          <a:xfrm>
            <a:off x="4967935" y="5350154"/>
            <a:ext cx="497434" cy="497434"/>
          </a:xfrm>
          <a:prstGeom prst="ellipse">
            <a:avLst/>
          </a:prstGeom>
          <a:solidFill>
            <a:srgbClr val="0B84AE">
              <a:alpha val="16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41" name="Shape 65">
            <a:extLst>
              <a:ext uri="{FF2B5EF4-FFF2-40B4-BE49-F238E27FC236}">
                <a16:creationId xmlns:a16="http://schemas.microsoft.com/office/drawing/2014/main" id="{1D3C829D-44D7-B642-F773-EC7E696E87F4}"/>
              </a:ext>
            </a:extLst>
          </p:cNvPr>
          <p:cNvSpPr/>
          <p:nvPr/>
        </p:nvSpPr>
        <p:spPr>
          <a:xfrm>
            <a:off x="5070348" y="5452567"/>
            <a:ext cx="292608" cy="292608"/>
          </a:xfrm>
          <a:prstGeom prst="ellipse">
            <a:avLst/>
          </a:prstGeom>
          <a:solidFill>
            <a:srgbClr val="0B84AE"/>
          </a:solidFill>
          <a:ln w="15875">
            <a:solidFill>
              <a:srgbClr val="FFFFFF"/>
            </a:solidFill>
            <a:prstDash val="soli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0A1628"/>
              </a:solidFill>
              <a:effectLst/>
              <a:uLnTx/>
              <a:uFillTx/>
              <a:latin typeface="+mj-lt"/>
            </a:endParaRPr>
          </a:p>
        </p:txBody>
      </p:sp>
      <p:sp>
        <p:nvSpPr>
          <p:cNvPr id="242" name="Text 66">
            <a:extLst>
              <a:ext uri="{FF2B5EF4-FFF2-40B4-BE49-F238E27FC236}">
                <a16:creationId xmlns:a16="http://schemas.microsoft.com/office/drawing/2014/main" id="{5684FC63-F6B1-41FD-1873-136ABF3CB4EC}"/>
              </a:ext>
            </a:extLst>
          </p:cNvPr>
          <p:cNvSpPr txBox="1"/>
          <p:nvPr/>
        </p:nvSpPr>
        <p:spPr>
          <a:xfrm>
            <a:off x="5070348" y="5452567"/>
            <a:ext cx="292608" cy="292608"/>
          </a:xfrm>
          <a:prstGeom prst="rect">
            <a:avLst/>
          </a:prstGeom>
          <a:noFill/>
          <a:ln/>
        </p:spPr>
        <p:txBody>
          <a:bodyPr wrap="square" lIns="0" tIns="0" rIns="0" bIns="0" rtlCol="0" anchor="ctr"/>
          <a:lstStyle/>
          <a:p>
            <a:pPr algn="ctr"/>
            <a:r>
              <a:rPr lang="en-US" sz="1200" b="1" dirty="0">
                <a:solidFill>
                  <a:srgbClr val="FFFFFF"/>
                </a:solidFill>
                <a:latin typeface="+mj-lt"/>
              </a:rPr>
              <a:t>6</a:t>
            </a:r>
            <a:endParaRPr lang="en-US" sz="1200" dirty="0">
              <a:solidFill>
                <a:srgbClr val="0A1628"/>
              </a:solidFill>
              <a:latin typeface="+mj-lt"/>
            </a:endParaRPr>
          </a:p>
        </p:txBody>
      </p:sp>
    </p:spTree>
    <p:extLst>
      <p:ext uri="{BB962C8B-B14F-4D97-AF65-F5344CB8AC3E}">
        <p14:creationId xmlns:p14="http://schemas.microsoft.com/office/powerpoint/2010/main" val="2869035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50C7E-3F69-C680-6BCA-950C413D1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92874-7886-C492-27C8-7FF651F9DDF4}"/>
              </a:ext>
            </a:extLst>
          </p:cNvPr>
          <p:cNvSpPr>
            <a:spLocks noGrp="1"/>
          </p:cNvSpPr>
          <p:nvPr>
            <p:ph type="ctrTitle"/>
          </p:nvPr>
        </p:nvSpPr>
        <p:spPr>
          <a:xfrm>
            <a:off x="605027" y="2174955"/>
            <a:ext cx="8039012" cy="584775"/>
          </a:xfrm>
        </p:spPr>
        <p:txBody>
          <a:bodyPr/>
          <a:lstStyle/>
          <a:p>
            <a:r>
              <a:rPr lang="en-US" sz="3200" dirty="0">
                <a:ea typeface="MS PGothic"/>
                <a:cs typeface="+mj-lt"/>
              </a:rPr>
              <a:t>Previous Submitted Slide Version</a:t>
            </a:r>
            <a:endParaRPr lang="en-US" dirty="0"/>
          </a:p>
        </p:txBody>
      </p:sp>
    </p:spTree>
    <p:extLst>
      <p:ext uri="{BB962C8B-B14F-4D97-AF65-F5344CB8AC3E}">
        <p14:creationId xmlns:p14="http://schemas.microsoft.com/office/powerpoint/2010/main" val="2965482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72C09-F301-55A8-62F6-F62764176988}"/>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48623024-DC86-0EF8-FE1D-872BC49CB9E5}"/>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AB63AFA6-DE33-677B-4CA2-6C287D283231}"/>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F94D750A-F395-FFEF-21B4-F59C9CBDEF02}"/>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38262171-5B3A-9B7C-11C6-D603CC9F1A7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9100F792-5372-447C-A3F8-B8D3FAB43764}"/>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60964263-38A1-F9E6-A0BB-738BF568FDCE}"/>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20</a:t>
            </a:fld>
            <a:r>
              <a:rPr lang="en-US" sz="1200">
                <a:latin typeface="+mj-lt"/>
              </a:rPr>
              <a:t>   | </a:t>
            </a:r>
          </a:p>
        </p:txBody>
      </p:sp>
      <p:sp>
        <p:nvSpPr>
          <p:cNvPr id="11" name="Title 4">
            <a:extLst>
              <a:ext uri="{FF2B5EF4-FFF2-40B4-BE49-F238E27FC236}">
                <a16:creationId xmlns:a16="http://schemas.microsoft.com/office/drawing/2014/main" id="{A4E0571D-F4DD-604B-A63A-83082120BA2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Air Travel is Evolving</a:t>
            </a:r>
          </a:p>
        </p:txBody>
      </p:sp>
      <p:sp>
        <p:nvSpPr>
          <p:cNvPr id="12" name="TextBox 25">
            <a:extLst>
              <a:ext uri="{FF2B5EF4-FFF2-40B4-BE49-F238E27FC236}">
                <a16:creationId xmlns:a16="http://schemas.microsoft.com/office/drawing/2014/main" id="{F7AE276C-BBC5-A99B-CB40-07374E80DC82}"/>
              </a:ext>
            </a:extLst>
          </p:cNvPr>
          <p:cNvSpPr txBox="1"/>
          <p:nvPr/>
        </p:nvSpPr>
        <p:spPr>
          <a:xfrm>
            <a:off x="343779" y="563652"/>
            <a:ext cx="1531958"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Market Potential</a:t>
            </a:r>
          </a:p>
        </p:txBody>
      </p:sp>
      <p:sp>
        <p:nvSpPr>
          <p:cNvPr id="18" name="Shape 7"/>
          <p:cNvSpPr/>
          <p:nvPr/>
        </p:nvSpPr>
        <p:spPr>
          <a:xfrm>
            <a:off x="408304" y="2822012"/>
            <a:ext cx="3736756" cy="2834640"/>
          </a:xfrm>
          <a:prstGeom prst="roundRect">
            <a:avLst>
              <a:gd name="adj" fmla="val 2903"/>
            </a:avLst>
          </a:prstGeom>
          <a:solidFill>
            <a:srgbClr val="EDF2F9"/>
          </a:solidFill>
          <a:ln w="12700">
            <a:solidFill>
              <a:srgbClr val="D8E2EF"/>
            </a:solidFill>
            <a:prstDash val="solid"/>
          </a:ln>
        </p:spPr>
        <p:txBody>
          <a:bodyPr/>
          <a:lstStyle/>
          <a:p>
            <a:endParaRPr lang="en-SG">
              <a:latin typeface="+mj-lt"/>
            </a:endParaRPr>
          </a:p>
        </p:txBody>
      </p:sp>
      <p:sp>
        <p:nvSpPr>
          <p:cNvPr id="21" name="Text 9"/>
          <p:cNvSpPr/>
          <p:nvPr/>
        </p:nvSpPr>
        <p:spPr>
          <a:xfrm>
            <a:off x="682624" y="3752172"/>
            <a:ext cx="3187413" cy="1106972"/>
          </a:xfrm>
          <a:prstGeom prst="rect">
            <a:avLst/>
          </a:prstGeom>
          <a:noFill/>
          <a:ln/>
        </p:spPr>
        <p:txBody>
          <a:bodyPr wrap="square" lIns="0" tIns="0" rIns="0" bIns="0" rtlCol="0" anchor="ctr"/>
          <a:lstStyle/>
          <a:p>
            <a:r>
              <a:rPr lang="en-US" sz="2400" dirty="0"/>
              <a:t>Air travel demand is projected to nearly </a:t>
            </a:r>
            <a:r>
              <a:rPr lang="en-US" sz="2400" b="1" dirty="0"/>
              <a:t>double by 2040.</a:t>
            </a:r>
            <a:endParaRPr lang="en-US" sz="4800" b="1" dirty="0">
              <a:latin typeface="+mj-lt"/>
            </a:endParaRPr>
          </a:p>
        </p:txBody>
      </p:sp>
      <p:sp>
        <p:nvSpPr>
          <p:cNvPr id="23" name="Shape 11"/>
          <p:cNvSpPr/>
          <p:nvPr/>
        </p:nvSpPr>
        <p:spPr>
          <a:xfrm>
            <a:off x="4327529" y="2822012"/>
            <a:ext cx="3736757" cy="2834640"/>
          </a:xfrm>
          <a:prstGeom prst="roundRect">
            <a:avLst>
              <a:gd name="adj" fmla="val 2903"/>
            </a:avLst>
          </a:prstGeom>
          <a:solidFill>
            <a:srgbClr val="EDF2F9"/>
          </a:solidFill>
          <a:ln w="12700">
            <a:solidFill>
              <a:srgbClr val="D8E2EF"/>
            </a:solidFill>
            <a:prstDash val="solid"/>
          </a:ln>
        </p:spPr>
        <p:txBody>
          <a:bodyPr/>
          <a:lstStyle/>
          <a:p>
            <a:endParaRPr lang="en-SG">
              <a:latin typeface="+mj-lt"/>
            </a:endParaRPr>
          </a:p>
        </p:txBody>
      </p:sp>
      <p:sp>
        <p:nvSpPr>
          <p:cNvPr id="26" name="Text 13"/>
          <p:cNvSpPr/>
          <p:nvPr/>
        </p:nvSpPr>
        <p:spPr>
          <a:xfrm>
            <a:off x="4601851" y="3681548"/>
            <a:ext cx="3335764" cy="1380520"/>
          </a:xfrm>
          <a:prstGeom prst="rect">
            <a:avLst/>
          </a:prstGeom>
          <a:noFill/>
          <a:ln/>
        </p:spPr>
        <p:txBody>
          <a:bodyPr wrap="square" lIns="0" tIns="0" rIns="0" bIns="0" rtlCol="0" anchor="ctr"/>
          <a:lstStyle/>
          <a:p>
            <a:r>
              <a:rPr lang="en-US" sz="2400" dirty="0"/>
              <a:t>About </a:t>
            </a:r>
            <a:r>
              <a:rPr lang="en-US" sz="2400" b="1" dirty="0"/>
              <a:t>7 in 10 airlines </a:t>
            </a:r>
            <a:r>
              <a:rPr lang="en-US" sz="2400" dirty="0"/>
              <a:t>plan to adopt biometric identity management by 2026.</a:t>
            </a:r>
            <a:endParaRPr lang="en-SG" sz="2400" dirty="0"/>
          </a:p>
        </p:txBody>
      </p:sp>
      <p:sp>
        <p:nvSpPr>
          <p:cNvPr id="28" name="Text 2"/>
          <p:cNvSpPr/>
          <p:nvPr/>
        </p:nvSpPr>
        <p:spPr>
          <a:xfrm>
            <a:off x="426776" y="1298325"/>
            <a:ext cx="11368060" cy="1246627"/>
          </a:xfrm>
          <a:prstGeom prst="rect">
            <a:avLst/>
          </a:prstGeom>
          <a:noFill/>
          <a:ln/>
        </p:spPr>
        <p:txBody>
          <a:bodyPr wrap="square" lIns="0" tIns="0" rIns="0" bIns="0" rtlCol="0" anchor="ctr"/>
          <a:lstStyle/>
          <a:p>
            <a:pPr marL="0" indent="0">
              <a:lnSpc>
                <a:spcPct val="130000"/>
              </a:lnSpc>
              <a:buNone/>
            </a:pPr>
            <a:r>
              <a:rPr lang="en-US" sz="1600" dirty="0">
                <a:solidFill>
                  <a:srgbClr val="40597E"/>
                </a:solidFill>
                <a:latin typeface="+mj-lt"/>
                <a:ea typeface="Arial" pitchFamily="34" charset="-122"/>
                <a:cs typeface="Arial" pitchFamily="34" charset="-120"/>
              </a:rPr>
              <a:t>Passenger volumes continue to rise, yet the airport journey remains fragmented across identity, immigration, screening and boarding.</a:t>
            </a:r>
          </a:p>
          <a:p>
            <a:pPr marL="0" indent="0">
              <a:lnSpc>
                <a:spcPct val="130000"/>
              </a:lnSpc>
              <a:buNone/>
            </a:pPr>
            <a:r>
              <a:rPr lang="en-US" sz="1600" dirty="0">
                <a:solidFill>
                  <a:srgbClr val="40597E"/>
                </a:solidFill>
                <a:latin typeface="+mj-lt"/>
                <a:ea typeface="Arial" pitchFamily="34" charset="-122"/>
                <a:cs typeface="Arial" pitchFamily="34" charset="-120"/>
              </a:rPr>
              <a:t>Travellers face repeated stops, while operators lack a unified view across passenger-processing and physical-security systems.</a:t>
            </a:r>
          </a:p>
          <a:p>
            <a:pPr marL="0" indent="0">
              <a:lnSpc>
                <a:spcPct val="130000"/>
              </a:lnSpc>
              <a:buNone/>
            </a:pPr>
            <a:r>
              <a:rPr lang="en-US" sz="1600" dirty="0">
                <a:solidFill>
                  <a:srgbClr val="40597E"/>
                </a:solidFill>
                <a:latin typeface="+mj-lt"/>
                <a:ea typeface="Arial" pitchFamily="34" charset="-122"/>
                <a:cs typeface="Arial" pitchFamily="34" charset="-120"/>
              </a:rPr>
              <a:t>Airports are asked to deliver more capacity, stronger security and a better experience—all at the same time.</a:t>
            </a:r>
          </a:p>
        </p:txBody>
      </p:sp>
      <p:sp>
        <p:nvSpPr>
          <p:cNvPr id="14" name="TextBox 13">
            <a:extLst>
              <a:ext uri="{FF2B5EF4-FFF2-40B4-BE49-F238E27FC236}">
                <a16:creationId xmlns:a16="http://schemas.microsoft.com/office/drawing/2014/main" id="{3F7636CE-8C01-7222-31F7-4ACDE0C940AD}"/>
              </a:ext>
            </a:extLst>
          </p:cNvPr>
          <p:cNvSpPr txBox="1"/>
          <p:nvPr/>
        </p:nvSpPr>
        <p:spPr>
          <a:xfrm>
            <a:off x="820026" y="6121532"/>
            <a:ext cx="9610007" cy="769441"/>
          </a:xfrm>
          <a:prstGeom prst="rect">
            <a:avLst/>
          </a:prstGeom>
          <a:noFill/>
        </p:spPr>
        <p:txBody>
          <a:bodyPr wrap="square" rtlCol="0">
            <a:spAutoFit/>
          </a:bodyPr>
          <a:lstStyle/>
          <a:p>
            <a:r>
              <a:rPr lang="en-SG" sz="1100" dirty="0">
                <a:solidFill>
                  <a:schemeClr val="bg2">
                    <a:lumMod val="75000"/>
                  </a:schemeClr>
                </a:solidFill>
              </a:rPr>
              <a:t>Source: </a:t>
            </a:r>
          </a:p>
          <a:p>
            <a:r>
              <a:rPr lang="en-SG" sz="1100" dirty="0">
                <a:solidFill>
                  <a:schemeClr val="bg2">
                    <a:lumMod val="75000"/>
                  </a:schemeClr>
                </a:solidFill>
              </a:rPr>
              <a:t>https://www.iata.org/en/iata-repository/publications/economic-reports/global-outlook-for-air-transport---december-2023---report/</a:t>
            </a:r>
          </a:p>
          <a:p>
            <a:r>
              <a:rPr lang="en-SG" sz="1100" dirty="0">
                <a:solidFill>
                  <a:schemeClr val="bg2">
                    <a:lumMod val="75000"/>
                  </a:schemeClr>
                </a:solidFill>
              </a:rPr>
              <a:t>https://www.sita.aero/resources/surveys-reports/air-transport-it-insights-2024/</a:t>
            </a:r>
          </a:p>
          <a:p>
            <a:r>
              <a:rPr lang="en-US" sz="1100" dirty="0">
                <a:solidFill>
                  <a:schemeClr val="bg2">
                    <a:lumMod val="75000"/>
                  </a:schemeClr>
                </a:solidFill>
              </a:rPr>
              <a:t>https://www.sita.aero/resources/surveys-reports/air-transport-it-insights-2025/airports/</a:t>
            </a:r>
          </a:p>
        </p:txBody>
      </p:sp>
      <p:sp>
        <p:nvSpPr>
          <p:cNvPr id="8" name="Shape 11">
            <a:extLst>
              <a:ext uri="{FF2B5EF4-FFF2-40B4-BE49-F238E27FC236}">
                <a16:creationId xmlns:a16="http://schemas.microsoft.com/office/drawing/2014/main" id="{1479B8E8-8B5F-F959-C978-B751B4A96EEC}"/>
              </a:ext>
            </a:extLst>
          </p:cNvPr>
          <p:cNvSpPr/>
          <p:nvPr/>
        </p:nvSpPr>
        <p:spPr>
          <a:xfrm>
            <a:off x="8234111" y="2832552"/>
            <a:ext cx="3736757" cy="2834640"/>
          </a:xfrm>
          <a:prstGeom prst="roundRect">
            <a:avLst>
              <a:gd name="adj" fmla="val 2903"/>
            </a:avLst>
          </a:prstGeom>
          <a:solidFill>
            <a:srgbClr val="EDF2F9"/>
          </a:solidFill>
          <a:ln w="12700">
            <a:solidFill>
              <a:srgbClr val="D8E2EF"/>
            </a:solidFill>
            <a:prstDash val="solid"/>
          </a:ln>
        </p:spPr>
        <p:txBody>
          <a:bodyPr/>
          <a:lstStyle/>
          <a:p>
            <a:endParaRPr lang="en-SG">
              <a:latin typeface="+mj-lt"/>
            </a:endParaRPr>
          </a:p>
        </p:txBody>
      </p:sp>
      <p:sp>
        <p:nvSpPr>
          <p:cNvPr id="22" name="Text 13">
            <a:extLst>
              <a:ext uri="{FF2B5EF4-FFF2-40B4-BE49-F238E27FC236}">
                <a16:creationId xmlns:a16="http://schemas.microsoft.com/office/drawing/2014/main" id="{CBD43342-C849-A4AA-6149-8B67E1FAD866}"/>
              </a:ext>
            </a:extLst>
          </p:cNvPr>
          <p:cNvSpPr/>
          <p:nvPr/>
        </p:nvSpPr>
        <p:spPr>
          <a:xfrm>
            <a:off x="8508433" y="3692088"/>
            <a:ext cx="3335764" cy="1380520"/>
          </a:xfrm>
          <a:prstGeom prst="rect">
            <a:avLst/>
          </a:prstGeom>
          <a:noFill/>
          <a:ln/>
        </p:spPr>
        <p:txBody>
          <a:bodyPr wrap="square" lIns="0" tIns="0" rIns="0" bIns="0" rtlCol="0" anchor="ctr"/>
          <a:lstStyle/>
          <a:p>
            <a:r>
              <a:rPr lang="en-US" sz="2400" b="1" dirty="0"/>
              <a:t>48% of airports </a:t>
            </a:r>
            <a:r>
              <a:rPr lang="en-US" sz="2400" dirty="0"/>
              <a:t>plan to implement cross-silo data sharing or synchronisation by 2027</a:t>
            </a:r>
            <a:endParaRPr lang="en-SG" sz="2400" dirty="0"/>
          </a:p>
        </p:txBody>
      </p:sp>
      <p:sp>
        <p:nvSpPr>
          <p:cNvPr id="29" name="Shape 11">
            <a:extLst>
              <a:ext uri="{FF2B5EF4-FFF2-40B4-BE49-F238E27FC236}">
                <a16:creationId xmlns:a16="http://schemas.microsoft.com/office/drawing/2014/main" id="{77084657-3132-6AFE-19D6-D59695EAC300}"/>
              </a:ext>
            </a:extLst>
          </p:cNvPr>
          <p:cNvSpPr/>
          <p:nvPr/>
        </p:nvSpPr>
        <p:spPr>
          <a:xfrm>
            <a:off x="8354814" y="3019925"/>
            <a:ext cx="548640" cy="548640"/>
          </a:xfrm>
          <a:prstGeom prst="ellipse">
            <a:avLst/>
          </a:prstGeom>
          <a:solidFill>
            <a:srgbClr val="FFFFFF"/>
          </a:solidFill>
          <a:ln w="15875">
            <a:solidFill>
              <a:srgbClr val="C9A85C"/>
            </a:solidFill>
            <a:prstDash val="solid"/>
          </a:ln>
        </p:spPr>
        <p:txBody>
          <a:bodyPr/>
          <a:lstStyle/>
          <a:p>
            <a:endParaRPr lang="en-SG"/>
          </a:p>
        </p:txBody>
      </p:sp>
      <p:pic>
        <p:nvPicPr>
          <p:cNvPr id="31" name="Image 4" descr="preencoded.png">
            <a:extLst>
              <a:ext uri="{FF2B5EF4-FFF2-40B4-BE49-F238E27FC236}">
                <a16:creationId xmlns:a16="http://schemas.microsoft.com/office/drawing/2014/main" id="{4F8F3E74-2ABD-F181-549C-D9CC2A94DAAC}"/>
              </a:ext>
            </a:extLst>
          </p:cNvPr>
          <p:cNvPicPr>
            <a:picLocks noChangeAspect="1"/>
          </p:cNvPicPr>
          <p:nvPr/>
        </p:nvPicPr>
        <p:blipFill>
          <a:blip r:embed="rId5"/>
          <a:stretch>
            <a:fillRect/>
          </a:stretch>
        </p:blipFill>
        <p:spPr>
          <a:xfrm>
            <a:off x="8508433" y="3173544"/>
            <a:ext cx="241402" cy="241402"/>
          </a:xfrm>
          <a:prstGeom prst="rect">
            <a:avLst/>
          </a:prstGeom>
        </p:spPr>
      </p:pic>
      <p:sp>
        <p:nvSpPr>
          <p:cNvPr id="33" name="Shape 5">
            <a:extLst>
              <a:ext uri="{FF2B5EF4-FFF2-40B4-BE49-F238E27FC236}">
                <a16:creationId xmlns:a16="http://schemas.microsoft.com/office/drawing/2014/main" id="{2F92EC84-CAD2-F4D3-F145-24C7A7C2F97C}"/>
              </a:ext>
            </a:extLst>
          </p:cNvPr>
          <p:cNvSpPr/>
          <p:nvPr/>
        </p:nvSpPr>
        <p:spPr>
          <a:xfrm>
            <a:off x="647935" y="3025558"/>
            <a:ext cx="548640" cy="548640"/>
          </a:xfrm>
          <a:prstGeom prst="ellipse">
            <a:avLst/>
          </a:prstGeom>
          <a:solidFill>
            <a:srgbClr val="FFFFFF"/>
          </a:solidFill>
          <a:ln w="15875">
            <a:solidFill>
              <a:srgbClr val="C9A85C"/>
            </a:solidFill>
            <a:prstDash val="solid"/>
          </a:ln>
        </p:spPr>
        <p:txBody>
          <a:bodyPr/>
          <a:lstStyle/>
          <a:p>
            <a:endParaRPr lang="en-SG"/>
          </a:p>
        </p:txBody>
      </p:sp>
      <p:pic>
        <p:nvPicPr>
          <p:cNvPr id="35" name="Image 2" descr="preencoded.png">
            <a:extLst>
              <a:ext uri="{FF2B5EF4-FFF2-40B4-BE49-F238E27FC236}">
                <a16:creationId xmlns:a16="http://schemas.microsoft.com/office/drawing/2014/main" id="{54D64704-A59E-DDCC-8FCE-ADC99B73E4DA}"/>
              </a:ext>
            </a:extLst>
          </p:cNvPr>
          <p:cNvPicPr>
            <a:picLocks noChangeAspect="1"/>
          </p:cNvPicPr>
          <p:nvPr/>
        </p:nvPicPr>
        <p:blipFill>
          <a:blip r:embed="rId6"/>
          <a:stretch>
            <a:fillRect/>
          </a:stretch>
        </p:blipFill>
        <p:spPr>
          <a:xfrm>
            <a:off x="801554" y="3179177"/>
            <a:ext cx="241402" cy="241402"/>
          </a:xfrm>
          <a:prstGeom prst="rect">
            <a:avLst/>
          </a:prstGeom>
        </p:spPr>
      </p:pic>
      <p:sp>
        <p:nvSpPr>
          <p:cNvPr id="38" name="Shape 8">
            <a:extLst>
              <a:ext uri="{FF2B5EF4-FFF2-40B4-BE49-F238E27FC236}">
                <a16:creationId xmlns:a16="http://schemas.microsoft.com/office/drawing/2014/main" id="{BF924617-34C7-183E-F8B3-427FBE4819E9}"/>
              </a:ext>
            </a:extLst>
          </p:cNvPr>
          <p:cNvSpPr/>
          <p:nvPr/>
        </p:nvSpPr>
        <p:spPr>
          <a:xfrm>
            <a:off x="4542784" y="2969854"/>
            <a:ext cx="548640" cy="548640"/>
          </a:xfrm>
          <a:prstGeom prst="ellipse">
            <a:avLst/>
          </a:prstGeom>
          <a:solidFill>
            <a:srgbClr val="FFFFFF"/>
          </a:solidFill>
          <a:ln w="15875">
            <a:solidFill>
              <a:srgbClr val="C9A85C"/>
            </a:solidFill>
            <a:prstDash val="solid"/>
          </a:ln>
        </p:spPr>
        <p:txBody>
          <a:bodyPr/>
          <a:lstStyle/>
          <a:p>
            <a:endParaRPr lang="en-SG"/>
          </a:p>
        </p:txBody>
      </p:sp>
      <p:pic>
        <p:nvPicPr>
          <p:cNvPr id="40" name="Image 3" descr="preencoded.png">
            <a:extLst>
              <a:ext uri="{FF2B5EF4-FFF2-40B4-BE49-F238E27FC236}">
                <a16:creationId xmlns:a16="http://schemas.microsoft.com/office/drawing/2014/main" id="{4672A690-275F-7F24-15E9-0D6FB18B37FD}"/>
              </a:ext>
            </a:extLst>
          </p:cNvPr>
          <p:cNvPicPr>
            <a:picLocks noChangeAspect="1"/>
          </p:cNvPicPr>
          <p:nvPr/>
        </p:nvPicPr>
        <p:blipFill>
          <a:blip r:embed="rId7"/>
          <a:stretch>
            <a:fillRect/>
          </a:stretch>
        </p:blipFill>
        <p:spPr>
          <a:xfrm>
            <a:off x="4696403" y="3123473"/>
            <a:ext cx="241402" cy="241402"/>
          </a:xfrm>
          <a:prstGeom prst="rect">
            <a:avLst/>
          </a:prstGeom>
        </p:spPr>
      </p:pic>
    </p:spTree>
    <p:extLst>
      <p:ext uri="{BB962C8B-B14F-4D97-AF65-F5344CB8AC3E}">
        <p14:creationId xmlns:p14="http://schemas.microsoft.com/office/powerpoint/2010/main" val="3518457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7352-D501-460F-CA31-33A0D03B034B}"/>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08E85BEC-A757-64D0-A762-D403FF44F7B6}"/>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27703E33-B3C4-4420-2488-3A10338D3C87}"/>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E6886CD8-5384-324C-B791-15E312E9749D}"/>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65A18C9E-74B1-BA8A-9956-C9E22DF12BE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3A7E1361-4D10-1976-902D-C01890ABC73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A4AC7DD6-ACDC-7BA3-D584-6D07D3C5EB51}"/>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21</a:t>
            </a:fld>
            <a:r>
              <a:rPr lang="en-US" sz="1200">
                <a:latin typeface="+mj-lt"/>
              </a:rPr>
              <a:t>   | </a:t>
            </a:r>
          </a:p>
        </p:txBody>
      </p:sp>
      <p:sp>
        <p:nvSpPr>
          <p:cNvPr id="11" name="Title 4">
            <a:extLst>
              <a:ext uri="{FF2B5EF4-FFF2-40B4-BE49-F238E27FC236}">
                <a16:creationId xmlns:a16="http://schemas.microsoft.com/office/drawing/2014/main" id="{FED42033-10A6-1DE4-5903-B37C3946E870}"/>
              </a:ext>
            </a:extLst>
          </p:cNvPr>
          <p:cNvSpPr txBox="1">
            <a:spLocks/>
          </p:cNvSpPr>
          <p:nvPr/>
        </p:nvSpPr>
        <p:spPr>
          <a:xfrm>
            <a:off x="295399" y="862117"/>
            <a:ext cx="12768717" cy="5529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ea typeface="Arial" pitchFamily="34" charset="-122"/>
                <a:cs typeface="Arial" pitchFamily="34" charset="-120"/>
              </a:rPr>
              <a:t>AGIL® SECURE INTEGRATED SECURITY MANAGEMENT PLATFORM</a:t>
            </a:r>
            <a:endParaRPr lang="en-US" sz="2650" dirty="0">
              <a:solidFill>
                <a:schemeClr val="tx1"/>
              </a:solidFill>
              <a:latin typeface="+mj-lt"/>
            </a:endParaRPr>
          </a:p>
        </p:txBody>
      </p:sp>
      <p:sp>
        <p:nvSpPr>
          <p:cNvPr id="12" name="TextBox 25">
            <a:extLst>
              <a:ext uri="{FF2B5EF4-FFF2-40B4-BE49-F238E27FC236}">
                <a16:creationId xmlns:a16="http://schemas.microsoft.com/office/drawing/2014/main" id="{59AF7DEA-BF73-329A-649B-BB93C28BCE06}"/>
              </a:ext>
            </a:extLst>
          </p:cNvPr>
          <p:cNvSpPr txBox="1"/>
          <p:nvPr/>
        </p:nvSpPr>
        <p:spPr>
          <a:xfrm>
            <a:off x="343779" y="563652"/>
            <a:ext cx="1694182"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Product Overview</a:t>
            </a:r>
          </a:p>
        </p:txBody>
      </p:sp>
      <p:sp>
        <p:nvSpPr>
          <p:cNvPr id="20" name="Text 12">
            <a:extLst>
              <a:ext uri="{FF2B5EF4-FFF2-40B4-BE49-F238E27FC236}">
                <a16:creationId xmlns:a16="http://schemas.microsoft.com/office/drawing/2014/main" id="{AF0D2113-C08F-8462-F9DC-D44E053F0B6A}"/>
              </a:ext>
            </a:extLst>
          </p:cNvPr>
          <p:cNvSpPr/>
          <p:nvPr/>
        </p:nvSpPr>
        <p:spPr>
          <a:xfrm>
            <a:off x="1041302" y="4804650"/>
            <a:ext cx="2880360" cy="310896"/>
          </a:xfrm>
          <a:prstGeom prst="rect">
            <a:avLst/>
          </a:prstGeom>
          <a:noFill/>
          <a:ln/>
        </p:spPr>
        <p:txBody>
          <a:bodyPr wrap="square" lIns="0" tIns="0" rIns="0" bIns="0" rtlCol="0" anchor="ctr"/>
          <a:lstStyle/>
          <a:p>
            <a:pPr marL="0" indent="0">
              <a:buNone/>
            </a:pPr>
            <a:endParaRPr lang="en-US" sz="1500">
              <a:latin typeface="+mj-lt"/>
            </a:endParaRPr>
          </a:p>
        </p:txBody>
      </p:sp>
      <p:pic>
        <p:nvPicPr>
          <p:cNvPr id="27" name="Picture 26">
            <a:extLst>
              <a:ext uri="{FF2B5EF4-FFF2-40B4-BE49-F238E27FC236}">
                <a16:creationId xmlns:a16="http://schemas.microsoft.com/office/drawing/2014/main" id="{ABA5892B-66B1-F99E-4BF9-CE699033B6B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4469" y="1764323"/>
            <a:ext cx="5320176" cy="3440257"/>
          </a:xfrm>
          <a:prstGeom prst="rect">
            <a:avLst/>
          </a:prstGeom>
          <a:noFill/>
          <a:ln>
            <a:noFill/>
          </a:ln>
        </p:spPr>
      </p:pic>
      <p:sp>
        <p:nvSpPr>
          <p:cNvPr id="36" name="Shape 23">
            <a:extLst>
              <a:ext uri="{FF2B5EF4-FFF2-40B4-BE49-F238E27FC236}">
                <a16:creationId xmlns:a16="http://schemas.microsoft.com/office/drawing/2014/main" id="{87CCACC9-9D0E-CE35-C45E-6E734851508E}"/>
              </a:ext>
            </a:extLst>
          </p:cNvPr>
          <p:cNvSpPr/>
          <p:nvPr/>
        </p:nvSpPr>
        <p:spPr>
          <a:xfrm>
            <a:off x="482435" y="5411460"/>
            <a:ext cx="11183112" cy="777240"/>
          </a:xfrm>
          <a:prstGeom prst="roundRect">
            <a:avLst>
              <a:gd name="adj" fmla="val 9412"/>
            </a:avLst>
          </a:prstGeom>
          <a:solidFill>
            <a:srgbClr val="00205B"/>
          </a:solidFill>
          <a:ln w="12700">
            <a:solidFill>
              <a:srgbClr val="00205B"/>
            </a:solidFill>
            <a:prstDash val="solid"/>
          </a:ln>
        </p:spPr>
        <p:txBody>
          <a:bodyPr/>
          <a:lstStyle/>
          <a:p>
            <a:endParaRPr lang="en-SG">
              <a:latin typeface="+mj-lt"/>
            </a:endParaRPr>
          </a:p>
        </p:txBody>
      </p:sp>
      <p:pic>
        <p:nvPicPr>
          <p:cNvPr id="39" name="Image 6" descr="preencoded.png">
            <a:extLst>
              <a:ext uri="{FF2B5EF4-FFF2-40B4-BE49-F238E27FC236}">
                <a16:creationId xmlns:a16="http://schemas.microsoft.com/office/drawing/2014/main" id="{196C1F81-4A1E-B8AB-91B1-D28B1EE62C74}"/>
              </a:ext>
            </a:extLst>
          </p:cNvPr>
          <p:cNvPicPr>
            <a:picLocks noChangeAspect="1"/>
          </p:cNvPicPr>
          <p:nvPr/>
        </p:nvPicPr>
        <p:blipFill>
          <a:blip r:embed="rId6"/>
          <a:stretch>
            <a:fillRect/>
          </a:stretch>
        </p:blipFill>
        <p:spPr>
          <a:xfrm>
            <a:off x="756755" y="5612628"/>
            <a:ext cx="365760" cy="365760"/>
          </a:xfrm>
          <a:prstGeom prst="rect">
            <a:avLst/>
          </a:prstGeom>
        </p:spPr>
      </p:pic>
      <p:sp>
        <p:nvSpPr>
          <p:cNvPr id="41" name="Text 24">
            <a:extLst>
              <a:ext uri="{FF2B5EF4-FFF2-40B4-BE49-F238E27FC236}">
                <a16:creationId xmlns:a16="http://schemas.microsoft.com/office/drawing/2014/main" id="{526ECE6D-2282-8974-4CAA-3698D748D3E1}"/>
              </a:ext>
            </a:extLst>
          </p:cNvPr>
          <p:cNvSpPr/>
          <p:nvPr/>
        </p:nvSpPr>
        <p:spPr>
          <a:xfrm>
            <a:off x="1250531" y="5512044"/>
            <a:ext cx="10241280" cy="566928"/>
          </a:xfrm>
          <a:prstGeom prst="rect">
            <a:avLst/>
          </a:prstGeom>
          <a:noFill/>
          <a:ln/>
        </p:spPr>
        <p:txBody>
          <a:bodyPr wrap="square" lIns="0" tIns="0" rIns="0" bIns="0" rtlCol="0" anchor="ctr"/>
          <a:lstStyle/>
          <a:p>
            <a:pPr marL="0" indent="0">
              <a:lnSpc>
                <a:spcPct val="110000"/>
              </a:lnSpc>
              <a:buNone/>
            </a:pPr>
            <a:r>
              <a:rPr lang="en-US" b="1" dirty="0">
                <a:solidFill>
                  <a:srgbClr val="FFFFFF"/>
                </a:solidFill>
                <a:latin typeface="+mj-lt"/>
                <a:ea typeface="Arial" pitchFamily="34" charset="-122"/>
                <a:cs typeface="Arial" pitchFamily="34" charset="-120"/>
              </a:rPr>
              <a:t>AGIL® Secure ISMP  </a:t>
            </a:r>
            <a:r>
              <a:rPr lang="en-US" sz="1400" dirty="0">
                <a:solidFill>
                  <a:srgbClr val="C9D4E6"/>
                </a:solidFill>
                <a:latin typeface="+mj-lt"/>
                <a:ea typeface="Arial" pitchFamily="34" charset="-122"/>
                <a:cs typeface="Arial" pitchFamily="34" charset="-120"/>
              </a:rPr>
              <a:t>is the operational backbone of FastPass—bringing transaction monitoring, lane status, security events and exception handling into one command environment.</a:t>
            </a:r>
            <a:endParaRPr lang="en-US" dirty="0">
              <a:latin typeface="+mj-lt"/>
            </a:endParaRPr>
          </a:p>
        </p:txBody>
      </p:sp>
      <p:pic>
        <p:nvPicPr>
          <p:cNvPr id="43" name="Picture 42">
            <a:extLst>
              <a:ext uri="{FF2B5EF4-FFF2-40B4-BE49-F238E27FC236}">
                <a16:creationId xmlns:a16="http://schemas.microsoft.com/office/drawing/2014/main" id="{A02231E2-4370-4E27-32B8-75B42665110A}"/>
              </a:ext>
            </a:extLst>
          </p:cNvPr>
          <p:cNvPicPr>
            <a:picLocks noChangeAspect="1"/>
          </p:cNvPicPr>
          <p:nvPr/>
        </p:nvPicPr>
        <p:blipFill>
          <a:blip r:embed="rId7"/>
          <a:stretch>
            <a:fillRect/>
          </a:stretch>
        </p:blipFill>
        <p:spPr>
          <a:xfrm>
            <a:off x="6071327" y="1764323"/>
            <a:ext cx="5466204" cy="3455646"/>
          </a:xfrm>
          <a:prstGeom prst="rect">
            <a:avLst/>
          </a:prstGeom>
        </p:spPr>
      </p:pic>
    </p:spTree>
    <p:extLst>
      <p:ext uri="{BB962C8B-B14F-4D97-AF65-F5344CB8AC3E}">
        <p14:creationId xmlns:p14="http://schemas.microsoft.com/office/powerpoint/2010/main" val="2296736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BD5F-0750-0EFD-477C-5B5974C145F9}"/>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C41B1042-D7A2-0DE8-2779-A3C5C49D6453}"/>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09236D3B-108F-3E0C-3C64-C19D62BAF835}"/>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1E188595-2D78-8900-2CFB-58FB28221A74}"/>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160D0B56-CCBE-DA52-A565-C98898715CB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C7CB240A-B70E-CD9D-6748-832A944E6B93}"/>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0F13A6D8-42B9-3CC9-3D96-9E6BBE3196E7}"/>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22</a:t>
            </a:fld>
            <a:r>
              <a:rPr lang="en-US" sz="1200">
                <a:latin typeface="+mj-lt"/>
              </a:rPr>
              <a:t>   | </a:t>
            </a:r>
          </a:p>
        </p:txBody>
      </p:sp>
      <p:sp>
        <p:nvSpPr>
          <p:cNvPr id="11" name="Title 4">
            <a:extLst>
              <a:ext uri="{FF2B5EF4-FFF2-40B4-BE49-F238E27FC236}">
                <a16:creationId xmlns:a16="http://schemas.microsoft.com/office/drawing/2014/main" id="{96E13E3A-4C85-4EB2-CB14-B29BEE514671}"/>
              </a:ext>
            </a:extLst>
          </p:cNvPr>
          <p:cNvSpPr txBox="1">
            <a:spLocks/>
          </p:cNvSpPr>
          <p:nvPr/>
        </p:nvSpPr>
        <p:spPr>
          <a:xfrm>
            <a:off x="343779" y="800366"/>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One Credential. Seamless Flow.</a:t>
            </a:r>
            <a:endParaRPr lang="en-US" dirty="0">
              <a:latin typeface="+mj-lt"/>
            </a:endParaRPr>
          </a:p>
        </p:txBody>
      </p:sp>
      <p:sp>
        <p:nvSpPr>
          <p:cNvPr id="12" name="TextBox 25">
            <a:extLst>
              <a:ext uri="{FF2B5EF4-FFF2-40B4-BE49-F238E27FC236}">
                <a16:creationId xmlns:a16="http://schemas.microsoft.com/office/drawing/2014/main" id="{BFD0FC46-D01F-6C9F-C9D6-CC16DDBF1A76}"/>
              </a:ext>
            </a:extLst>
          </p:cNvPr>
          <p:cNvSpPr txBox="1"/>
          <p:nvPr/>
        </p:nvSpPr>
        <p:spPr>
          <a:xfrm>
            <a:off x="343779" y="563652"/>
            <a:ext cx="4440446"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The Product – How It Works and Why It Is Innovative</a:t>
            </a:r>
          </a:p>
        </p:txBody>
      </p:sp>
      <p:sp>
        <p:nvSpPr>
          <p:cNvPr id="4" name="Shape 2"/>
          <p:cNvSpPr/>
          <p:nvPr/>
        </p:nvSpPr>
        <p:spPr>
          <a:xfrm>
            <a:off x="502161" y="1711193"/>
            <a:ext cx="512064" cy="512064"/>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2" name="Image 0" descr="preencoded.png"/>
          <p:cNvPicPr>
            <a:picLocks noChangeAspect="1"/>
          </p:cNvPicPr>
          <p:nvPr/>
        </p:nvPicPr>
        <p:blipFill>
          <a:blip r:embed="rId5"/>
          <a:stretch>
            <a:fillRect/>
          </a:stretch>
        </p:blipFill>
        <p:spPr>
          <a:xfrm>
            <a:off x="645539" y="1854571"/>
            <a:ext cx="225308" cy="225308"/>
          </a:xfrm>
          <a:prstGeom prst="rect">
            <a:avLst/>
          </a:prstGeom>
        </p:spPr>
      </p:pic>
      <p:sp>
        <p:nvSpPr>
          <p:cNvPr id="8" name="Shape 3"/>
          <p:cNvSpPr/>
          <p:nvPr/>
        </p:nvSpPr>
        <p:spPr>
          <a:xfrm>
            <a:off x="758193" y="2278121"/>
            <a:ext cx="0" cy="512064"/>
          </a:xfrm>
          <a:prstGeom prst="line">
            <a:avLst/>
          </a:prstGeom>
          <a:noFill/>
          <a:ln w="19050">
            <a:solidFill>
              <a:srgbClr val="D8E2EF"/>
            </a:solidFill>
            <a:prstDash val="dash"/>
          </a:ln>
        </p:spPr>
        <p:txBody>
          <a:bodyPr/>
          <a:lstStyle/>
          <a:p>
            <a:endParaRPr lang="en-SG">
              <a:latin typeface="+mj-lt"/>
            </a:endParaRPr>
          </a:p>
        </p:txBody>
      </p:sp>
      <p:sp>
        <p:nvSpPr>
          <p:cNvPr id="10" name="Text 4"/>
          <p:cNvSpPr/>
          <p:nvPr/>
        </p:nvSpPr>
        <p:spPr>
          <a:xfrm>
            <a:off x="1233681" y="1692905"/>
            <a:ext cx="5120640" cy="310896"/>
          </a:xfrm>
          <a:prstGeom prst="rect">
            <a:avLst/>
          </a:prstGeom>
          <a:noFill/>
          <a:ln/>
        </p:spPr>
        <p:txBody>
          <a:bodyPr wrap="square" lIns="0" tIns="0" rIns="0" bIns="0" rtlCol="0" anchor="ctr"/>
          <a:lstStyle/>
          <a:p>
            <a:pPr marL="0" indent="0">
              <a:buNone/>
            </a:pPr>
            <a:r>
              <a:rPr lang="en-US" sz="1600" b="1" dirty="0">
                <a:solidFill>
                  <a:srgbClr val="00205B"/>
                </a:solidFill>
                <a:latin typeface="+mj-lt"/>
                <a:ea typeface="Arial" pitchFamily="34" charset="-122"/>
                <a:cs typeface="Arial" pitchFamily="34" charset="-120"/>
              </a:rPr>
              <a:t>1 · Enrol Once</a:t>
            </a:r>
            <a:endParaRPr lang="en-US" sz="1600" dirty="0">
              <a:latin typeface="+mj-lt"/>
            </a:endParaRPr>
          </a:p>
        </p:txBody>
      </p:sp>
      <p:sp>
        <p:nvSpPr>
          <p:cNvPr id="13" name="Text 5"/>
          <p:cNvSpPr/>
          <p:nvPr/>
        </p:nvSpPr>
        <p:spPr>
          <a:xfrm>
            <a:off x="1233681" y="1903217"/>
            <a:ext cx="5120640" cy="731520"/>
          </a:xfrm>
          <a:prstGeom prst="rect">
            <a:avLst/>
          </a:prstGeom>
          <a:noFill/>
          <a:ln/>
        </p:spPr>
        <p:txBody>
          <a:bodyPr wrap="square" lIns="0" tIns="0" rIns="0" bIns="0" rtlCol="0" anchor="ctr"/>
          <a:lstStyle/>
          <a:p>
            <a:pPr marL="0" indent="0">
              <a:lnSpc>
                <a:spcPct val="115000"/>
              </a:lnSpc>
              <a:buNone/>
            </a:pPr>
            <a:r>
              <a:rPr lang="en-US" sz="1400" dirty="0">
                <a:solidFill>
                  <a:srgbClr val="40597E"/>
                </a:solidFill>
                <a:latin typeface="+mj-lt"/>
                <a:ea typeface="Arial" pitchFamily="34" charset="-122"/>
                <a:cs typeface="Arial" pitchFamily="34" charset="-120"/>
              </a:rPr>
              <a:t>On the traveller's own phone — identity, biometrics and travel profile become a verified mobile credential.</a:t>
            </a:r>
            <a:endParaRPr lang="en-US" sz="1400" dirty="0">
              <a:latin typeface="+mj-lt"/>
            </a:endParaRPr>
          </a:p>
        </p:txBody>
      </p:sp>
      <p:sp>
        <p:nvSpPr>
          <p:cNvPr id="14" name="Shape 6"/>
          <p:cNvSpPr/>
          <p:nvPr/>
        </p:nvSpPr>
        <p:spPr>
          <a:xfrm>
            <a:off x="502161" y="2826761"/>
            <a:ext cx="512064" cy="512064"/>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15" name="Image 1" descr="preencoded.png"/>
          <p:cNvPicPr>
            <a:picLocks noChangeAspect="1"/>
          </p:cNvPicPr>
          <p:nvPr/>
        </p:nvPicPr>
        <p:blipFill>
          <a:blip r:embed="rId6"/>
          <a:stretch>
            <a:fillRect/>
          </a:stretch>
        </p:blipFill>
        <p:spPr>
          <a:xfrm>
            <a:off x="645539" y="2970139"/>
            <a:ext cx="225308" cy="225308"/>
          </a:xfrm>
          <a:prstGeom prst="rect">
            <a:avLst/>
          </a:prstGeom>
        </p:spPr>
      </p:pic>
      <p:sp>
        <p:nvSpPr>
          <p:cNvPr id="16" name="Shape 7"/>
          <p:cNvSpPr/>
          <p:nvPr/>
        </p:nvSpPr>
        <p:spPr>
          <a:xfrm>
            <a:off x="758193" y="3393689"/>
            <a:ext cx="0" cy="512064"/>
          </a:xfrm>
          <a:prstGeom prst="line">
            <a:avLst/>
          </a:prstGeom>
          <a:noFill/>
          <a:ln w="19050">
            <a:solidFill>
              <a:srgbClr val="D8E2EF"/>
            </a:solidFill>
            <a:prstDash val="dash"/>
          </a:ln>
        </p:spPr>
        <p:txBody>
          <a:bodyPr/>
          <a:lstStyle/>
          <a:p>
            <a:endParaRPr lang="en-SG">
              <a:latin typeface="+mj-lt"/>
            </a:endParaRPr>
          </a:p>
        </p:txBody>
      </p:sp>
      <p:sp>
        <p:nvSpPr>
          <p:cNvPr id="17" name="Text 8"/>
          <p:cNvSpPr/>
          <p:nvPr/>
        </p:nvSpPr>
        <p:spPr>
          <a:xfrm>
            <a:off x="1233681" y="2808473"/>
            <a:ext cx="5120640" cy="310896"/>
          </a:xfrm>
          <a:prstGeom prst="rect">
            <a:avLst/>
          </a:prstGeom>
          <a:noFill/>
          <a:ln/>
        </p:spPr>
        <p:txBody>
          <a:bodyPr wrap="square" lIns="0" tIns="0" rIns="0" bIns="0" rtlCol="0" anchor="ctr"/>
          <a:lstStyle/>
          <a:p>
            <a:pPr marL="0" indent="0">
              <a:buNone/>
            </a:pPr>
            <a:r>
              <a:rPr lang="en-US" sz="1600" b="1" dirty="0">
                <a:solidFill>
                  <a:srgbClr val="00205B"/>
                </a:solidFill>
                <a:latin typeface="+mj-lt"/>
                <a:ea typeface="Arial" pitchFamily="34" charset="-122"/>
                <a:cs typeface="Arial" pitchFamily="34" charset="-120"/>
              </a:rPr>
              <a:t>2 · Approach the Lane</a:t>
            </a:r>
            <a:endParaRPr lang="en-US" sz="1600" dirty="0">
              <a:latin typeface="+mj-lt"/>
            </a:endParaRPr>
          </a:p>
        </p:txBody>
      </p:sp>
      <p:sp>
        <p:nvSpPr>
          <p:cNvPr id="18" name="Text 9"/>
          <p:cNvSpPr/>
          <p:nvPr/>
        </p:nvSpPr>
        <p:spPr>
          <a:xfrm>
            <a:off x="1233681" y="3018785"/>
            <a:ext cx="5120640" cy="731520"/>
          </a:xfrm>
          <a:prstGeom prst="rect">
            <a:avLst/>
          </a:prstGeom>
          <a:noFill/>
          <a:ln/>
        </p:spPr>
        <p:txBody>
          <a:bodyPr wrap="square" lIns="0" tIns="0" rIns="0" bIns="0" rtlCol="0" anchor="ctr"/>
          <a:lstStyle/>
          <a:p>
            <a:pPr marL="0" indent="0">
              <a:lnSpc>
                <a:spcPct val="115000"/>
              </a:lnSpc>
              <a:buNone/>
            </a:pPr>
            <a:r>
              <a:rPr lang="en-US" sz="1400" dirty="0">
                <a:solidFill>
                  <a:srgbClr val="40597E"/>
                </a:solidFill>
                <a:latin typeface="+mj-lt"/>
                <a:ea typeface="Arial" pitchFamily="34" charset="-122"/>
                <a:cs typeface="Arial" pitchFamily="34" charset="-120"/>
              </a:rPr>
              <a:t>A BLE-enabled lane association links the approaching mobile credential to the designated lane.</a:t>
            </a:r>
            <a:endParaRPr lang="en-US" sz="1400" dirty="0">
              <a:latin typeface="+mj-lt"/>
            </a:endParaRPr>
          </a:p>
        </p:txBody>
      </p:sp>
      <p:sp>
        <p:nvSpPr>
          <p:cNvPr id="19" name="Shape 10"/>
          <p:cNvSpPr/>
          <p:nvPr/>
        </p:nvSpPr>
        <p:spPr>
          <a:xfrm>
            <a:off x="502161" y="3942329"/>
            <a:ext cx="512064" cy="512064"/>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20" name="Image 2" descr="preencoded.png"/>
          <p:cNvPicPr>
            <a:picLocks noChangeAspect="1"/>
          </p:cNvPicPr>
          <p:nvPr/>
        </p:nvPicPr>
        <p:blipFill>
          <a:blip r:embed="rId7"/>
          <a:stretch>
            <a:fillRect/>
          </a:stretch>
        </p:blipFill>
        <p:spPr>
          <a:xfrm>
            <a:off x="645539" y="4085707"/>
            <a:ext cx="225308" cy="225308"/>
          </a:xfrm>
          <a:prstGeom prst="rect">
            <a:avLst/>
          </a:prstGeom>
        </p:spPr>
      </p:pic>
      <p:sp>
        <p:nvSpPr>
          <p:cNvPr id="21" name="Shape 11"/>
          <p:cNvSpPr/>
          <p:nvPr/>
        </p:nvSpPr>
        <p:spPr>
          <a:xfrm>
            <a:off x="758193" y="4509257"/>
            <a:ext cx="0" cy="512064"/>
          </a:xfrm>
          <a:prstGeom prst="line">
            <a:avLst/>
          </a:prstGeom>
          <a:noFill/>
          <a:ln w="19050">
            <a:solidFill>
              <a:srgbClr val="D8E2EF"/>
            </a:solidFill>
            <a:prstDash val="dash"/>
          </a:ln>
        </p:spPr>
        <p:txBody>
          <a:bodyPr/>
          <a:lstStyle/>
          <a:p>
            <a:endParaRPr lang="en-SG">
              <a:latin typeface="+mj-lt"/>
            </a:endParaRPr>
          </a:p>
        </p:txBody>
      </p:sp>
      <p:sp>
        <p:nvSpPr>
          <p:cNvPr id="22" name="Text 12"/>
          <p:cNvSpPr/>
          <p:nvPr/>
        </p:nvSpPr>
        <p:spPr>
          <a:xfrm>
            <a:off x="1233681" y="3896609"/>
            <a:ext cx="5120640" cy="310896"/>
          </a:xfrm>
          <a:prstGeom prst="rect">
            <a:avLst/>
          </a:prstGeom>
          <a:noFill/>
          <a:ln/>
        </p:spPr>
        <p:txBody>
          <a:bodyPr wrap="square" lIns="0" tIns="0" rIns="0" bIns="0" rtlCol="0" anchor="ctr"/>
          <a:lstStyle/>
          <a:p>
            <a:pPr marL="0" indent="0">
              <a:buNone/>
            </a:pPr>
            <a:r>
              <a:rPr lang="en-US" sz="1600" b="1" dirty="0">
                <a:solidFill>
                  <a:srgbClr val="00205B"/>
                </a:solidFill>
                <a:latin typeface="+mj-lt"/>
                <a:ea typeface="Arial" pitchFamily="34" charset="-122"/>
                <a:cs typeface="Arial" pitchFamily="34" charset="-120"/>
              </a:rPr>
              <a:t>3 · Keep Moving</a:t>
            </a:r>
            <a:endParaRPr lang="en-US" sz="1600" dirty="0">
              <a:latin typeface="+mj-lt"/>
            </a:endParaRPr>
          </a:p>
        </p:txBody>
      </p:sp>
      <p:sp>
        <p:nvSpPr>
          <p:cNvPr id="23" name="Text 13"/>
          <p:cNvSpPr/>
          <p:nvPr/>
        </p:nvSpPr>
        <p:spPr>
          <a:xfrm>
            <a:off x="1233681" y="4225793"/>
            <a:ext cx="5120640" cy="731520"/>
          </a:xfrm>
          <a:prstGeom prst="rect">
            <a:avLst/>
          </a:prstGeom>
          <a:noFill/>
          <a:ln/>
        </p:spPr>
        <p:txBody>
          <a:bodyPr wrap="square" lIns="0" tIns="0" rIns="0" bIns="0" rtlCol="0" anchor="ctr"/>
          <a:lstStyle/>
          <a:p>
            <a:pPr>
              <a:lnSpc>
                <a:spcPct val="115000"/>
              </a:lnSpc>
            </a:pPr>
            <a:r>
              <a:rPr lang="en-US" sz="1400" dirty="0">
                <a:solidFill>
                  <a:srgbClr val="40597E"/>
                </a:solidFill>
                <a:latin typeface="+mj-lt"/>
                <a:ea typeface="Arial" pitchFamily="34" charset="-122"/>
                <a:cs typeface="Arial" pitchFamily="34" charset="-120"/>
              </a:rPr>
              <a:t>Facial recognition verifies the approaching traveller on the move, allowing eligible travellers to clear the lane without touching a reader or presenting a passport at the gate.</a:t>
            </a:r>
            <a:endParaRPr lang="en-US" sz="1400" dirty="0">
              <a:latin typeface="+mj-lt"/>
            </a:endParaRPr>
          </a:p>
        </p:txBody>
      </p:sp>
      <p:sp>
        <p:nvSpPr>
          <p:cNvPr id="24" name="Shape 14"/>
          <p:cNvSpPr/>
          <p:nvPr/>
        </p:nvSpPr>
        <p:spPr>
          <a:xfrm>
            <a:off x="502161" y="5057897"/>
            <a:ext cx="512064" cy="512064"/>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25" name="Image 3" descr="preencoded.png"/>
          <p:cNvPicPr>
            <a:picLocks noChangeAspect="1"/>
          </p:cNvPicPr>
          <p:nvPr/>
        </p:nvPicPr>
        <p:blipFill>
          <a:blip r:embed="rId8"/>
          <a:stretch>
            <a:fillRect/>
          </a:stretch>
        </p:blipFill>
        <p:spPr>
          <a:xfrm>
            <a:off x="645539" y="5201275"/>
            <a:ext cx="225308" cy="225308"/>
          </a:xfrm>
          <a:prstGeom prst="rect">
            <a:avLst/>
          </a:prstGeom>
        </p:spPr>
      </p:pic>
      <p:sp>
        <p:nvSpPr>
          <p:cNvPr id="26" name="Text 15"/>
          <p:cNvSpPr/>
          <p:nvPr/>
        </p:nvSpPr>
        <p:spPr>
          <a:xfrm>
            <a:off x="1233681" y="5039609"/>
            <a:ext cx="5120640" cy="310896"/>
          </a:xfrm>
          <a:prstGeom prst="rect">
            <a:avLst/>
          </a:prstGeom>
          <a:noFill/>
          <a:ln/>
        </p:spPr>
        <p:txBody>
          <a:bodyPr wrap="square" lIns="0" tIns="0" rIns="0" bIns="0" rtlCol="0" anchor="ctr"/>
          <a:lstStyle/>
          <a:p>
            <a:pPr marL="0" indent="0">
              <a:buNone/>
            </a:pPr>
            <a:r>
              <a:rPr lang="en-US" sz="1600" b="1" dirty="0">
                <a:solidFill>
                  <a:srgbClr val="00205B"/>
                </a:solidFill>
                <a:latin typeface="+mj-lt"/>
                <a:ea typeface="Arial" pitchFamily="34" charset="-122"/>
                <a:cs typeface="Arial" pitchFamily="34" charset="-120"/>
              </a:rPr>
              <a:t>4 · Clear Securely</a:t>
            </a:r>
            <a:endParaRPr lang="en-US" sz="1600" dirty="0">
              <a:latin typeface="+mj-lt"/>
            </a:endParaRPr>
          </a:p>
        </p:txBody>
      </p:sp>
      <p:sp>
        <p:nvSpPr>
          <p:cNvPr id="27" name="Text 16"/>
          <p:cNvSpPr/>
          <p:nvPr/>
        </p:nvSpPr>
        <p:spPr>
          <a:xfrm>
            <a:off x="1233681" y="5332217"/>
            <a:ext cx="5120640" cy="731520"/>
          </a:xfrm>
          <a:prstGeom prst="rect">
            <a:avLst/>
          </a:prstGeom>
          <a:noFill/>
          <a:ln/>
        </p:spPr>
        <p:txBody>
          <a:bodyPr wrap="square" lIns="0" tIns="0" rIns="0" bIns="0" rtlCol="0" anchor="ctr"/>
          <a:lstStyle/>
          <a:p>
            <a:pPr>
              <a:lnSpc>
                <a:spcPct val="115000"/>
              </a:lnSpc>
            </a:pPr>
            <a:r>
              <a:rPr lang="en-US" sz="1400" dirty="0">
                <a:solidFill>
                  <a:srgbClr val="40597E"/>
                </a:solidFill>
                <a:latin typeface="+mj-lt"/>
                <a:ea typeface="Arial" pitchFamily="34" charset="-122"/>
                <a:cs typeface="Arial" pitchFamily="34" charset="-120"/>
              </a:rPr>
              <a:t>The lane remains open for successful clearance and closes when identity, lane-association or policy checks require intervention. Tailgating controls and exception workflows keep officers in control.</a:t>
            </a:r>
            <a:endParaRPr lang="en-US" sz="1400" dirty="0">
              <a:latin typeface="+mj-lt"/>
            </a:endParaRPr>
          </a:p>
        </p:txBody>
      </p:sp>
      <p:pic>
        <p:nvPicPr>
          <p:cNvPr id="31" name="Picture 30">
            <a:extLst>
              <a:ext uri="{FF2B5EF4-FFF2-40B4-BE49-F238E27FC236}">
                <a16:creationId xmlns:a16="http://schemas.microsoft.com/office/drawing/2014/main" id="{9A94847E-F198-372A-E32C-A47C402BCC1A}"/>
              </a:ext>
            </a:extLst>
          </p:cNvPr>
          <p:cNvPicPr>
            <a:picLocks noChangeAspect="1"/>
          </p:cNvPicPr>
          <p:nvPr/>
        </p:nvPicPr>
        <p:blipFill>
          <a:blip r:embed="rId9"/>
          <a:stretch>
            <a:fillRect/>
          </a:stretch>
        </p:blipFill>
        <p:spPr>
          <a:xfrm>
            <a:off x="6661033" y="1469342"/>
            <a:ext cx="5239040" cy="3300054"/>
          </a:xfrm>
          <a:prstGeom prst="rect">
            <a:avLst/>
          </a:prstGeom>
        </p:spPr>
      </p:pic>
      <p:sp>
        <p:nvSpPr>
          <p:cNvPr id="29" name="Shape 19">
            <a:extLst>
              <a:ext uri="{FF2B5EF4-FFF2-40B4-BE49-F238E27FC236}">
                <a16:creationId xmlns:a16="http://schemas.microsoft.com/office/drawing/2014/main" id="{D9FCD8C5-B115-70BC-0A99-B771A2A511CE}"/>
              </a:ext>
            </a:extLst>
          </p:cNvPr>
          <p:cNvSpPr/>
          <p:nvPr/>
        </p:nvSpPr>
        <p:spPr>
          <a:xfrm>
            <a:off x="870847" y="6207171"/>
            <a:ext cx="11101860" cy="483746"/>
          </a:xfrm>
          <a:prstGeom prst="roundRect">
            <a:avLst>
              <a:gd name="adj" fmla="val 9412"/>
            </a:avLst>
          </a:prstGeom>
          <a:solidFill>
            <a:srgbClr val="FAF5E8"/>
          </a:solidFill>
          <a:ln w="12700">
            <a:solidFill>
              <a:srgbClr val="CBA84F"/>
            </a:solidFill>
            <a:prstDash val="solid"/>
          </a:ln>
        </p:spPr>
        <p:txBody>
          <a:bodyPr/>
          <a:lstStyle/>
          <a:p>
            <a:endParaRPr lang="en-SG">
              <a:latin typeface="+mj-lt"/>
            </a:endParaRPr>
          </a:p>
        </p:txBody>
      </p:sp>
      <p:sp>
        <p:nvSpPr>
          <p:cNvPr id="32" name="Text 20">
            <a:extLst>
              <a:ext uri="{FF2B5EF4-FFF2-40B4-BE49-F238E27FC236}">
                <a16:creationId xmlns:a16="http://schemas.microsoft.com/office/drawing/2014/main" id="{3BA7086A-4EAC-F39F-7161-3E0B8716C1C5}"/>
              </a:ext>
            </a:extLst>
          </p:cNvPr>
          <p:cNvSpPr/>
          <p:nvPr/>
        </p:nvSpPr>
        <p:spPr>
          <a:xfrm>
            <a:off x="928104" y="6323271"/>
            <a:ext cx="3866563" cy="287727"/>
          </a:xfrm>
          <a:prstGeom prst="rect">
            <a:avLst/>
          </a:prstGeom>
          <a:noFill/>
          <a:ln/>
        </p:spPr>
        <p:txBody>
          <a:bodyPr wrap="square" lIns="0" tIns="0" rIns="0" bIns="0" rtlCol="0" anchor="ctr"/>
          <a:lstStyle/>
          <a:p>
            <a:pPr marL="0" indent="0">
              <a:buNone/>
            </a:pPr>
            <a:r>
              <a:rPr lang="en-US" sz="1050" b="1" kern="0" spc="200" dirty="0">
                <a:solidFill>
                  <a:srgbClr val="B8933A"/>
                </a:solidFill>
                <a:latin typeface="+mj-lt"/>
                <a:ea typeface="Arial" pitchFamily="34" charset="-122"/>
                <a:cs typeface="Arial" pitchFamily="34" charset="-120"/>
              </a:rPr>
              <a:t>ONE CREDENTIAL. THE JOURNEY CONTINUES.</a:t>
            </a:r>
            <a:endParaRPr lang="en-US" sz="1050" dirty="0">
              <a:latin typeface="+mj-lt"/>
            </a:endParaRPr>
          </a:p>
        </p:txBody>
      </p:sp>
      <p:pic>
        <p:nvPicPr>
          <p:cNvPr id="34" name="Image 4" descr="preencoded.png">
            <a:extLst>
              <a:ext uri="{FF2B5EF4-FFF2-40B4-BE49-F238E27FC236}">
                <a16:creationId xmlns:a16="http://schemas.microsoft.com/office/drawing/2014/main" id="{EBBC0BDF-4C8C-8640-809B-5867856BBD8F}"/>
              </a:ext>
            </a:extLst>
          </p:cNvPr>
          <p:cNvPicPr>
            <a:picLocks noChangeAspect="1"/>
          </p:cNvPicPr>
          <p:nvPr/>
        </p:nvPicPr>
        <p:blipFill>
          <a:blip r:embed="rId10"/>
          <a:stretch>
            <a:fillRect/>
          </a:stretch>
        </p:blipFill>
        <p:spPr>
          <a:xfrm>
            <a:off x="4683077" y="6316899"/>
            <a:ext cx="310896" cy="310896"/>
          </a:xfrm>
          <a:prstGeom prst="rect">
            <a:avLst/>
          </a:prstGeom>
        </p:spPr>
      </p:pic>
      <p:sp>
        <p:nvSpPr>
          <p:cNvPr id="36" name="Text 21">
            <a:extLst>
              <a:ext uri="{FF2B5EF4-FFF2-40B4-BE49-F238E27FC236}">
                <a16:creationId xmlns:a16="http://schemas.microsoft.com/office/drawing/2014/main" id="{6449AB54-5D0F-D737-76D3-A67C3DEDD93B}"/>
              </a:ext>
            </a:extLst>
          </p:cNvPr>
          <p:cNvSpPr/>
          <p:nvPr/>
        </p:nvSpPr>
        <p:spPr>
          <a:xfrm>
            <a:off x="5094557" y="6225459"/>
            <a:ext cx="3383280" cy="483746"/>
          </a:xfrm>
          <a:prstGeom prst="rect">
            <a:avLst/>
          </a:prstGeom>
          <a:noFill/>
          <a:ln/>
        </p:spPr>
        <p:txBody>
          <a:bodyPr wrap="square" lIns="0" tIns="0" rIns="0" bIns="0" rtlCol="0" anchor="ctr"/>
          <a:lstStyle/>
          <a:p>
            <a:pPr marL="0" indent="0">
              <a:lnSpc>
                <a:spcPct val="105000"/>
              </a:lnSpc>
              <a:buNone/>
            </a:pPr>
            <a:r>
              <a:rPr lang="en-US" sz="1100" dirty="0">
                <a:solidFill>
                  <a:srgbClr val="40597E"/>
                </a:solidFill>
                <a:latin typeface="+mj-lt"/>
                <a:ea typeface="Arial" pitchFamily="34" charset="-122"/>
                <a:cs typeface="Arial" pitchFamily="34" charset="-120"/>
              </a:rPr>
              <a:t>Screening checkpoint — profile check at the Nova reader</a:t>
            </a:r>
            <a:endParaRPr lang="en-US" sz="1100" dirty="0">
              <a:latin typeface="+mj-lt"/>
            </a:endParaRPr>
          </a:p>
        </p:txBody>
      </p:sp>
      <p:pic>
        <p:nvPicPr>
          <p:cNvPr id="39" name="Image 5" descr="preencoded.png">
            <a:extLst>
              <a:ext uri="{FF2B5EF4-FFF2-40B4-BE49-F238E27FC236}">
                <a16:creationId xmlns:a16="http://schemas.microsoft.com/office/drawing/2014/main" id="{A9D2A59D-72B8-0C06-36F1-1D3F4E26B8FB}"/>
              </a:ext>
            </a:extLst>
          </p:cNvPr>
          <p:cNvPicPr>
            <a:picLocks noChangeAspect="1"/>
          </p:cNvPicPr>
          <p:nvPr/>
        </p:nvPicPr>
        <p:blipFill>
          <a:blip r:embed="rId11"/>
          <a:stretch>
            <a:fillRect/>
          </a:stretch>
        </p:blipFill>
        <p:spPr>
          <a:xfrm>
            <a:off x="8523557" y="6307755"/>
            <a:ext cx="310896" cy="310896"/>
          </a:xfrm>
          <a:prstGeom prst="rect">
            <a:avLst/>
          </a:prstGeom>
        </p:spPr>
      </p:pic>
      <p:sp>
        <p:nvSpPr>
          <p:cNvPr id="41" name="Text 22">
            <a:extLst>
              <a:ext uri="{FF2B5EF4-FFF2-40B4-BE49-F238E27FC236}">
                <a16:creationId xmlns:a16="http://schemas.microsoft.com/office/drawing/2014/main" id="{2FF1013F-9D0C-9ACA-09C4-881314ED32A0}"/>
              </a:ext>
            </a:extLst>
          </p:cNvPr>
          <p:cNvSpPr/>
          <p:nvPr/>
        </p:nvSpPr>
        <p:spPr>
          <a:xfrm>
            <a:off x="8935037" y="6207171"/>
            <a:ext cx="3200400" cy="548640"/>
          </a:xfrm>
          <a:prstGeom prst="rect">
            <a:avLst/>
          </a:prstGeom>
          <a:noFill/>
          <a:ln/>
        </p:spPr>
        <p:txBody>
          <a:bodyPr wrap="square" lIns="0" tIns="0" rIns="0" bIns="0" rtlCol="0" anchor="ctr"/>
          <a:lstStyle/>
          <a:p>
            <a:pPr marL="0" indent="0">
              <a:lnSpc>
                <a:spcPct val="105000"/>
              </a:lnSpc>
              <a:buNone/>
            </a:pPr>
            <a:r>
              <a:rPr lang="en-US" sz="1100" dirty="0">
                <a:solidFill>
                  <a:srgbClr val="40597E"/>
                </a:solidFill>
                <a:latin typeface="+mj-lt"/>
                <a:ea typeface="Arial" pitchFamily="34" charset="-122"/>
                <a:cs typeface="Arial" pitchFamily="34" charset="-120"/>
              </a:rPr>
              <a:t>Boarding — contactless self-clearance at configured FastPass touchpoints</a:t>
            </a:r>
            <a:endParaRPr lang="en-US" sz="1100" dirty="0">
              <a:latin typeface="+mj-lt"/>
            </a:endParaRPr>
          </a:p>
        </p:txBody>
      </p:sp>
      <p:sp>
        <p:nvSpPr>
          <p:cNvPr id="33" name="Shape 18">
            <a:extLst>
              <a:ext uri="{FF2B5EF4-FFF2-40B4-BE49-F238E27FC236}">
                <a16:creationId xmlns:a16="http://schemas.microsoft.com/office/drawing/2014/main" id="{194A68B7-E40B-2658-59DC-4D4B219D4A83}"/>
              </a:ext>
            </a:extLst>
          </p:cNvPr>
          <p:cNvSpPr/>
          <p:nvPr/>
        </p:nvSpPr>
        <p:spPr>
          <a:xfrm>
            <a:off x="6661033" y="4897974"/>
            <a:ext cx="5235561" cy="1117173"/>
          </a:xfrm>
          <a:prstGeom prst="roundRect">
            <a:avLst>
              <a:gd name="adj" fmla="val 5303"/>
            </a:avLst>
          </a:prstGeom>
          <a:solidFill>
            <a:srgbClr val="12306B"/>
          </a:solidFill>
          <a:ln/>
        </p:spPr>
        <p:txBody>
          <a:bodyPr/>
          <a:lstStyle/>
          <a:p>
            <a:endParaRPr lang="en-SG">
              <a:latin typeface="+mj-lt"/>
            </a:endParaRPr>
          </a:p>
        </p:txBody>
      </p:sp>
      <p:pic>
        <p:nvPicPr>
          <p:cNvPr id="38" name="Image 7" descr="preencoded.png">
            <a:extLst>
              <a:ext uri="{FF2B5EF4-FFF2-40B4-BE49-F238E27FC236}">
                <a16:creationId xmlns:a16="http://schemas.microsoft.com/office/drawing/2014/main" id="{3761D56B-C7FF-86A9-6F89-39D72AF232C1}"/>
              </a:ext>
            </a:extLst>
          </p:cNvPr>
          <p:cNvPicPr>
            <a:picLocks noChangeAspect="1"/>
          </p:cNvPicPr>
          <p:nvPr/>
        </p:nvPicPr>
        <p:blipFill>
          <a:blip r:embed="rId12"/>
          <a:stretch>
            <a:fillRect/>
          </a:stretch>
        </p:blipFill>
        <p:spPr>
          <a:xfrm>
            <a:off x="6935354" y="5062014"/>
            <a:ext cx="310896" cy="310896"/>
          </a:xfrm>
          <a:prstGeom prst="rect">
            <a:avLst/>
          </a:prstGeom>
        </p:spPr>
      </p:pic>
      <p:sp>
        <p:nvSpPr>
          <p:cNvPr id="42" name="Text 19">
            <a:extLst>
              <a:ext uri="{FF2B5EF4-FFF2-40B4-BE49-F238E27FC236}">
                <a16:creationId xmlns:a16="http://schemas.microsoft.com/office/drawing/2014/main" id="{3EF4BCFA-B48F-C4C4-172A-AA51649E8F77}"/>
              </a:ext>
            </a:extLst>
          </p:cNvPr>
          <p:cNvSpPr/>
          <p:nvPr/>
        </p:nvSpPr>
        <p:spPr>
          <a:xfrm>
            <a:off x="7392554" y="4979810"/>
            <a:ext cx="4206240" cy="274320"/>
          </a:xfrm>
          <a:prstGeom prst="rect">
            <a:avLst/>
          </a:prstGeom>
          <a:noFill/>
          <a:ln/>
        </p:spPr>
        <p:txBody>
          <a:bodyPr wrap="square" lIns="0" tIns="0" rIns="0" bIns="0" rtlCol="0" anchor="ctr"/>
          <a:lstStyle/>
          <a:p>
            <a:pPr marL="0" indent="0">
              <a:buNone/>
            </a:pPr>
            <a:r>
              <a:rPr lang="en-US" sz="1400" b="1" dirty="0">
                <a:solidFill>
                  <a:srgbClr val="FFFFFF"/>
                </a:solidFill>
                <a:latin typeface="+mj-lt"/>
                <a:ea typeface="Arial" pitchFamily="34" charset="-122"/>
                <a:cs typeface="Arial" pitchFamily="34" charset="-120"/>
              </a:rPr>
              <a:t>Operators see the journey</a:t>
            </a:r>
            <a:endParaRPr lang="en-US" sz="1400" dirty="0">
              <a:latin typeface="+mj-lt"/>
            </a:endParaRPr>
          </a:p>
        </p:txBody>
      </p:sp>
      <p:sp>
        <p:nvSpPr>
          <p:cNvPr id="44" name="Text 20">
            <a:extLst>
              <a:ext uri="{FF2B5EF4-FFF2-40B4-BE49-F238E27FC236}">
                <a16:creationId xmlns:a16="http://schemas.microsoft.com/office/drawing/2014/main" id="{1DBED727-2579-4F0C-7FC1-3FBF37C6C5C9}"/>
              </a:ext>
            </a:extLst>
          </p:cNvPr>
          <p:cNvSpPr/>
          <p:nvPr/>
        </p:nvSpPr>
        <p:spPr>
          <a:xfrm>
            <a:off x="7392553" y="5235658"/>
            <a:ext cx="4504041" cy="777240"/>
          </a:xfrm>
          <a:prstGeom prst="rect">
            <a:avLst/>
          </a:prstGeom>
          <a:noFill/>
          <a:ln/>
        </p:spPr>
        <p:txBody>
          <a:bodyPr wrap="square" lIns="0" tIns="0" rIns="0" bIns="0" rtlCol="0" anchor="t"/>
          <a:lstStyle/>
          <a:p>
            <a:pPr marL="0" indent="0">
              <a:lnSpc>
                <a:spcPct val="110000"/>
              </a:lnSpc>
              <a:buNone/>
            </a:pPr>
            <a:r>
              <a:rPr lang="en-US" sz="1200" dirty="0">
                <a:solidFill>
                  <a:srgbClr val="D7E0F2"/>
                </a:solidFill>
                <a:latin typeface="+mj-lt"/>
                <a:ea typeface="Arial" pitchFamily="34" charset="-122"/>
                <a:cs typeface="Arial" pitchFamily="34" charset="-120"/>
              </a:rPr>
              <a:t>AGIL® Secure ISMP connects every touchpoint—giving operators real-time visibility of each traveller’s latest verified touchpoint, clearance status and relevant physical-security events across the airport.</a:t>
            </a:r>
            <a:endParaRPr lang="en-US" sz="1200" dirty="0">
              <a:latin typeface="+mj-lt"/>
            </a:endParaRPr>
          </a:p>
        </p:txBody>
      </p:sp>
    </p:spTree>
    <p:extLst>
      <p:ext uri="{BB962C8B-B14F-4D97-AF65-F5344CB8AC3E}">
        <p14:creationId xmlns:p14="http://schemas.microsoft.com/office/powerpoint/2010/main" val="4056970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14934-31B8-2A79-4631-C7A3A4A8258F}"/>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2BF4BDB6-00FB-0543-BA9A-40F223F8C03B}"/>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DEB377CC-9E6C-4989-A77D-FAE682E3252A}"/>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8A3FB172-B109-B7D0-E179-F292F2F313FA}"/>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C1B5F548-BF9C-D94A-FCD7-5B155E694D9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0D98AD15-63CB-A407-91CF-7C5042B6F314}"/>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11" name="Title 4">
            <a:extLst>
              <a:ext uri="{FF2B5EF4-FFF2-40B4-BE49-F238E27FC236}">
                <a16:creationId xmlns:a16="http://schemas.microsoft.com/office/drawing/2014/main" id="{FA81CD72-C90C-0B34-745F-765CB2081383}"/>
              </a:ext>
            </a:extLst>
          </p:cNvPr>
          <p:cNvSpPr txBox="1">
            <a:spLocks/>
          </p:cNvSpPr>
          <p:nvPr/>
        </p:nvSpPr>
        <p:spPr>
          <a:xfrm>
            <a:off x="343779" y="800366"/>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Designed for travellers. Engineered for borders.</a:t>
            </a:r>
          </a:p>
        </p:txBody>
      </p:sp>
      <p:sp>
        <p:nvSpPr>
          <p:cNvPr id="12" name="TextBox 25">
            <a:extLst>
              <a:ext uri="{FF2B5EF4-FFF2-40B4-BE49-F238E27FC236}">
                <a16:creationId xmlns:a16="http://schemas.microsoft.com/office/drawing/2014/main" id="{2AE18C84-5F78-0F51-48DA-6DCAE2EEEAF3}"/>
              </a:ext>
            </a:extLst>
          </p:cNvPr>
          <p:cNvSpPr txBox="1"/>
          <p:nvPr/>
        </p:nvSpPr>
        <p:spPr>
          <a:xfrm>
            <a:off x="343779" y="563652"/>
            <a:ext cx="3086294"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a:solidFill>
                  <a:srgbClr val="E30613"/>
                </a:solidFill>
                <a:latin typeface="+mj-lt"/>
              </a:rPr>
              <a:t>The Product – Design &amp; Engineering</a:t>
            </a:r>
          </a:p>
        </p:txBody>
      </p:sp>
      <p:pic>
        <p:nvPicPr>
          <p:cNvPr id="28" name="Picture 27">
            <a:extLst>
              <a:ext uri="{FF2B5EF4-FFF2-40B4-BE49-F238E27FC236}">
                <a16:creationId xmlns:a16="http://schemas.microsoft.com/office/drawing/2014/main" id="{E914ECD7-7738-34CC-D2DF-47E0F2E7886B}"/>
              </a:ext>
            </a:extLst>
          </p:cNvPr>
          <p:cNvPicPr>
            <a:picLocks noChangeAspect="1"/>
          </p:cNvPicPr>
          <p:nvPr/>
        </p:nvPicPr>
        <p:blipFill>
          <a:blip r:embed="rId5"/>
          <a:stretch>
            <a:fillRect/>
          </a:stretch>
        </p:blipFill>
        <p:spPr>
          <a:xfrm>
            <a:off x="4718592" y="2056919"/>
            <a:ext cx="7358384" cy="3986051"/>
          </a:xfrm>
          <a:prstGeom prst="rect">
            <a:avLst/>
          </a:prstGeom>
        </p:spPr>
      </p:pic>
      <p:sp>
        <p:nvSpPr>
          <p:cNvPr id="29" name="Text 18"/>
          <p:cNvSpPr/>
          <p:nvPr/>
        </p:nvSpPr>
        <p:spPr>
          <a:xfrm>
            <a:off x="6984034" y="6142524"/>
            <a:ext cx="3116584" cy="274320"/>
          </a:xfrm>
          <a:prstGeom prst="rect">
            <a:avLst/>
          </a:prstGeom>
          <a:noFill/>
          <a:ln/>
        </p:spPr>
        <p:txBody>
          <a:bodyPr wrap="square" lIns="0" tIns="0" rIns="0" bIns="0" rtlCol="0" anchor="ctr"/>
          <a:lstStyle/>
          <a:p>
            <a:pPr marL="0" indent="0" algn="ctr">
              <a:buNone/>
            </a:pPr>
            <a:r>
              <a:rPr lang="en-US" sz="1400" i="1" dirty="0">
                <a:solidFill>
                  <a:srgbClr val="8A99AD"/>
                </a:solidFill>
                <a:latin typeface="Arial" pitchFamily="34" charset="0"/>
                <a:ea typeface="Arial" pitchFamily="34" charset="-122"/>
                <a:cs typeface="Arial" pitchFamily="34" charset="-120"/>
              </a:rPr>
              <a:t>Lane system — product overview</a:t>
            </a:r>
            <a:endParaRPr lang="en-US" sz="1400" dirty="0"/>
          </a:p>
        </p:txBody>
      </p:sp>
      <p:sp>
        <p:nvSpPr>
          <p:cNvPr id="26" name="Shape 2">
            <a:extLst>
              <a:ext uri="{FF2B5EF4-FFF2-40B4-BE49-F238E27FC236}">
                <a16:creationId xmlns:a16="http://schemas.microsoft.com/office/drawing/2014/main" id="{E30D7455-B04C-7B2F-9134-58BBEA8E1A34}"/>
              </a:ext>
            </a:extLst>
          </p:cNvPr>
          <p:cNvSpPr/>
          <p:nvPr/>
        </p:nvSpPr>
        <p:spPr>
          <a:xfrm>
            <a:off x="451744" y="1839423"/>
            <a:ext cx="493776" cy="49377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30" name="Image 0" descr="preencoded.png">
            <a:extLst>
              <a:ext uri="{FF2B5EF4-FFF2-40B4-BE49-F238E27FC236}">
                <a16:creationId xmlns:a16="http://schemas.microsoft.com/office/drawing/2014/main" id="{AB318DB8-3EB3-110D-866D-243EB0350075}"/>
              </a:ext>
            </a:extLst>
          </p:cNvPr>
          <p:cNvPicPr>
            <a:picLocks noChangeAspect="1"/>
          </p:cNvPicPr>
          <p:nvPr/>
        </p:nvPicPr>
        <p:blipFill>
          <a:blip r:embed="rId6"/>
          <a:stretch>
            <a:fillRect/>
          </a:stretch>
        </p:blipFill>
        <p:spPr>
          <a:xfrm>
            <a:off x="588904" y="1976583"/>
            <a:ext cx="219456" cy="219456"/>
          </a:xfrm>
          <a:prstGeom prst="rect">
            <a:avLst/>
          </a:prstGeom>
        </p:spPr>
      </p:pic>
      <p:sp>
        <p:nvSpPr>
          <p:cNvPr id="32" name="Text 3">
            <a:extLst>
              <a:ext uri="{FF2B5EF4-FFF2-40B4-BE49-F238E27FC236}">
                <a16:creationId xmlns:a16="http://schemas.microsoft.com/office/drawing/2014/main" id="{ADEBD5B5-58EC-2252-C479-855D46FB1B07}"/>
              </a:ext>
            </a:extLst>
          </p:cNvPr>
          <p:cNvSpPr/>
          <p:nvPr/>
        </p:nvSpPr>
        <p:spPr>
          <a:xfrm>
            <a:off x="1155832" y="1821135"/>
            <a:ext cx="5303520" cy="310896"/>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Human-factor design</a:t>
            </a:r>
            <a:endParaRPr lang="en-US" dirty="0">
              <a:latin typeface="+mj-lt"/>
            </a:endParaRPr>
          </a:p>
        </p:txBody>
      </p:sp>
      <p:sp>
        <p:nvSpPr>
          <p:cNvPr id="34" name="Text 4">
            <a:extLst>
              <a:ext uri="{FF2B5EF4-FFF2-40B4-BE49-F238E27FC236}">
                <a16:creationId xmlns:a16="http://schemas.microsoft.com/office/drawing/2014/main" id="{56CA4555-ED59-0532-9222-BFBDBEC6C396}"/>
              </a:ext>
            </a:extLst>
          </p:cNvPr>
          <p:cNvSpPr/>
          <p:nvPr/>
        </p:nvSpPr>
        <p:spPr>
          <a:xfrm>
            <a:off x="1155832" y="2113743"/>
            <a:ext cx="3419856" cy="621792"/>
          </a:xfrm>
          <a:prstGeom prst="rect">
            <a:avLst/>
          </a:prstGeom>
          <a:noFill/>
          <a:ln/>
        </p:spPr>
        <p:txBody>
          <a:bodyPr wrap="square" lIns="0" tIns="0" rIns="0" bIns="0" rtlCol="0" anchor="ctr"/>
          <a:lstStyle/>
          <a:p>
            <a:pPr marL="0" indent="0">
              <a:lnSpc>
                <a:spcPct val="115000"/>
              </a:lnSpc>
              <a:buNone/>
            </a:pPr>
            <a:r>
              <a:rPr lang="en-US" sz="1320" dirty="0">
                <a:solidFill>
                  <a:srgbClr val="40597E"/>
                </a:solidFill>
                <a:latin typeface="+mj-lt"/>
                <a:ea typeface="Arial" pitchFamily="34" charset="-122"/>
                <a:cs typeface="Arial" pitchFamily="34" charset="-120"/>
              </a:rPr>
              <a:t>Soft-white matte CMF creates a clean, approachable and professional presence within the security environment.</a:t>
            </a:r>
            <a:endParaRPr lang="en-US" sz="1400" dirty="0">
              <a:latin typeface="+mj-lt"/>
            </a:endParaRPr>
          </a:p>
        </p:txBody>
      </p:sp>
      <p:sp>
        <p:nvSpPr>
          <p:cNvPr id="36" name="Shape 5">
            <a:extLst>
              <a:ext uri="{FF2B5EF4-FFF2-40B4-BE49-F238E27FC236}">
                <a16:creationId xmlns:a16="http://schemas.microsoft.com/office/drawing/2014/main" id="{E02C005F-1D7A-8A43-EBB5-6F0FDF46356B}"/>
              </a:ext>
            </a:extLst>
          </p:cNvPr>
          <p:cNvSpPr/>
          <p:nvPr/>
        </p:nvSpPr>
        <p:spPr>
          <a:xfrm>
            <a:off x="451744" y="3028143"/>
            <a:ext cx="493776" cy="49377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39" name="Image 1" descr="preencoded.png">
            <a:extLst>
              <a:ext uri="{FF2B5EF4-FFF2-40B4-BE49-F238E27FC236}">
                <a16:creationId xmlns:a16="http://schemas.microsoft.com/office/drawing/2014/main" id="{F8F1B2D2-7719-D89C-D690-3AAAAA0E9FCB}"/>
              </a:ext>
            </a:extLst>
          </p:cNvPr>
          <p:cNvPicPr>
            <a:picLocks noChangeAspect="1"/>
          </p:cNvPicPr>
          <p:nvPr/>
        </p:nvPicPr>
        <p:blipFill>
          <a:blip r:embed="rId7"/>
          <a:stretch>
            <a:fillRect/>
          </a:stretch>
        </p:blipFill>
        <p:spPr>
          <a:xfrm>
            <a:off x="588904" y="3165303"/>
            <a:ext cx="219456" cy="219456"/>
          </a:xfrm>
          <a:prstGeom prst="rect">
            <a:avLst/>
          </a:prstGeom>
        </p:spPr>
      </p:pic>
      <p:sp>
        <p:nvSpPr>
          <p:cNvPr id="41" name="Text 6">
            <a:extLst>
              <a:ext uri="{FF2B5EF4-FFF2-40B4-BE49-F238E27FC236}">
                <a16:creationId xmlns:a16="http://schemas.microsoft.com/office/drawing/2014/main" id="{D5D963EA-6C5D-B5B7-AA1D-98F67B8DA122}"/>
              </a:ext>
            </a:extLst>
          </p:cNvPr>
          <p:cNvSpPr/>
          <p:nvPr/>
        </p:nvSpPr>
        <p:spPr>
          <a:xfrm>
            <a:off x="1155832" y="3009855"/>
            <a:ext cx="5303520" cy="310896"/>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Self-service approach</a:t>
            </a:r>
            <a:endParaRPr lang="en-US" dirty="0">
              <a:latin typeface="+mj-lt"/>
            </a:endParaRPr>
          </a:p>
        </p:txBody>
      </p:sp>
      <p:sp>
        <p:nvSpPr>
          <p:cNvPr id="43" name="Text 7">
            <a:extLst>
              <a:ext uri="{FF2B5EF4-FFF2-40B4-BE49-F238E27FC236}">
                <a16:creationId xmlns:a16="http://schemas.microsoft.com/office/drawing/2014/main" id="{60125871-6F03-BECA-EC5F-F4FDB4538DF7}"/>
              </a:ext>
            </a:extLst>
          </p:cNvPr>
          <p:cNvSpPr/>
          <p:nvPr/>
        </p:nvSpPr>
        <p:spPr>
          <a:xfrm>
            <a:off x="1155832" y="3348183"/>
            <a:ext cx="3419856" cy="621792"/>
          </a:xfrm>
          <a:prstGeom prst="rect">
            <a:avLst/>
          </a:prstGeom>
          <a:noFill/>
          <a:ln/>
        </p:spPr>
        <p:txBody>
          <a:bodyPr wrap="square" lIns="0" tIns="0" rIns="0" bIns="0" rtlCol="0" anchor="ctr"/>
          <a:lstStyle/>
          <a:p>
            <a:pPr marL="0" indent="0">
              <a:lnSpc>
                <a:spcPct val="115000"/>
              </a:lnSpc>
              <a:buNone/>
            </a:pPr>
            <a:r>
              <a:rPr lang="en-US" sz="1300" dirty="0">
                <a:solidFill>
                  <a:srgbClr val="40597E"/>
                </a:solidFill>
                <a:latin typeface="+mj-lt"/>
                <a:ea typeface="Arial" pitchFamily="34" charset="-122"/>
                <a:cs typeface="Arial"/>
              </a:rPr>
              <a:t>Facial-recognition camera, RGB guidance lighting and status indication are integrated into a slim and </a:t>
            </a:r>
            <a:r>
              <a:rPr lang="en-US" sz="1300">
                <a:solidFill>
                  <a:srgbClr val="40597E"/>
                </a:solidFill>
                <a:latin typeface="+mj-lt"/>
                <a:ea typeface="Arial" pitchFamily="34" charset="-122"/>
                <a:cs typeface="Arial"/>
              </a:rPr>
              <a:t>compact design.</a:t>
            </a:r>
            <a:endParaRPr lang="en-US" sz="1400" dirty="0">
              <a:latin typeface="+mj-lt"/>
            </a:endParaRPr>
          </a:p>
        </p:txBody>
      </p:sp>
      <p:sp>
        <p:nvSpPr>
          <p:cNvPr id="45" name="Shape 8">
            <a:extLst>
              <a:ext uri="{FF2B5EF4-FFF2-40B4-BE49-F238E27FC236}">
                <a16:creationId xmlns:a16="http://schemas.microsoft.com/office/drawing/2014/main" id="{47D3DBAB-CC93-6D21-5D5C-E5008CCF1445}"/>
              </a:ext>
            </a:extLst>
          </p:cNvPr>
          <p:cNvSpPr/>
          <p:nvPr/>
        </p:nvSpPr>
        <p:spPr>
          <a:xfrm>
            <a:off x="451744" y="4216863"/>
            <a:ext cx="493776" cy="49377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47" name="Image 2" descr="preencoded.png">
            <a:extLst>
              <a:ext uri="{FF2B5EF4-FFF2-40B4-BE49-F238E27FC236}">
                <a16:creationId xmlns:a16="http://schemas.microsoft.com/office/drawing/2014/main" id="{3F4EAC67-088D-BE3D-3B22-66E370BD0E4D}"/>
              </a:ext>
            </a:extLst>
          </p:cNvPr>
          <p:cNvPicPr>
            <a:picLocks noChangeAspect="1"/>
          </p:cNvPicPr>
          <p:nvPr/>
        </p:nvPicPr>
        <p:blipFill>
          <a:blip r:embed="rId8"/>
          <a:stretch>
            <a:fillRect/>
          </a:stretch>
        </p:blipFill>
        <p:spPr>
          <a:xfrm>
            <a:off x="588904" y="4354023"/>
            <a:ext cx="219456" cy="219456"/>
          </a:xfrm>
          <a:prstGeom prst="rect">
            <a:avLst/>
          </a:prstGeom>
        </p:spPr>
      </p:pic>
      <p:sp>
        <p:nvSpPr>
          <p:cNvPr id="49" name="Text 9">
            <a:extLst>
              <a:ext uri="{FF2B5EF4-FFF2-40B4-BE49-F238E27FC236}">
                <a16:creationId xmlns:a16="http://schemas.microsoft.com/office/drawing/2014/main" id="{700002D6-A58B-D72B-D825-E8579323D759}"/>
              </a:ext>
            </a:extLst>
          </p:cNvPr>
          <p:cNvSpPr/>
          <p:nvPr/>
        </p:nvSpPr>
        <p:spPr>
          <a:xfrm>
            <a:off x="1155832" y="4198575"/>
            <a:ext cx="5303520" cy="310896"/>
          </a:xfrm>
          <a:prstGeom prst="rect">
            <a:avLst/>
          </a:prstGeom>
          <a:noFill/>
          <a:ln/>
        </p:spPr>
        <p:txBody>
          <a:bodyPr wrap="square" lIns="0" tIns="0" rIns="0" bIns="0" rtlCol="0" anchor="ctr"/>
          <a:lstStyle/>
          <a:p>
            <a:pPr marL="0" indent="0">
              <a:buNone/>
            </a:pPr>
            <a:r>
              <a:rPr lang="en-US" sz="1400" b="1" dirty="0">
                <a:solidFill>
                  <a:srgbClr val="00205B"/>
                </a:solidFill>
                <a:latin typeface="+mj-lt"/>
                <a:ea typeface="Arial" pitchFamily="34" charset="-122"/>
                <a:cs typeface="Arial" pitchFamily="34" charset="-120"/>
              </a:rPr>
              <a:t>Brownfield deployment</a:t>
            </a:r>
            <a:endParaRPr lang="en-US" dirty="0">
              <a:latin typeface="+mj-lt"/>
            </a:endParaRPr>
          </a:p>
        </p:txBody>
      </p:sp>
      <p:sp>
        <p:nvSpPr>
          <p:cNvPr id="51" name="Text 10">
            <a:extLst>
              <a:ext uri="{FF2B5EF4-FFF2-40B4-BE49-F238E27FC236}">
                <a16:creationId xmlns:a16="http://schemas.microsoft.com/office/drawing/2014/main" id="{00EB838D-F049-86A6-8D13-212135FB5478}"/>
              </a:ext>
            </a:extLst>
          </p:cNvPr>
          <p:cNvSpPr/>
          <p:nvPr/>
        </p:nvSpPr>
        <p:spPr>
          <a:xfrm>
            <a:off x="1155832" y="4427175"/>
            <a:ext cx="3419856" cy="923544"/>
          </a:xfrm>
          <a:prstGeom prst="rect">
            <a:avLst/>
          </a:prstGeom>
          <a:noFill/>
          <a:ln/>
        </p:spPr>
        <p:txBody>
          <a:bodyPr wrap="square" lIns="0" tIns="0" rIns="0" bIns="0" rtlCol="0" anchor="ctr"/>
          <a:lstStyle/>
          <a:p>
            <a:pPr marL="0" indent="0">
              <a:lnSpc>
                <a:spcPct val="115000"/>
              </a:lnSpc>
              <a:buNone/>
            </a:pPr>
            <a:r>
              <a:rPr lang="en-US" sz="1320" dirty="0">
                <a:solidFill>
                  <a:srgbClr val="40597E"/>
                </a:solidFill>
                <a:latin typeface="+mj-lt"/>
                <a:ea typeface="Arial" pitchFamily="34" charset="-122"/>
                <a:cs typeface="Arial" pitchFamily="34" charset="-120"/>
              </a:rPr>
              <a:t>An infrastructure-light footprint reduces the need for extensive civil works in suitable terminal environments.</a:t>
            </a:r>
            <a:endParaRPr lang="en-US" sz="1400" dirty="0">
              <a:latin typeface="+mj-lt"/>
            </a:endParaRPr>
          </a:p>
        </p:txBody>
      </p:sp>
      <p:sp>
        <p:nvSpPr>
          <p:cNvPr id="53" name="Shape 11">
            <a:extLst>
              <a:ext uri="{FF2B5EF4-FFF2-40B4-BE49-F238E27FC236}">
                <a16:creationId xmlns:a16="http://schemas.microsoft.com/office/drawing/2014/main" id="{1B2E14B0-8FD3-D376-5EDF-9B627036A608}"/>
              </a:ext>
            </a:extLst>
          </p:cNvPr>
          <p:cNvSpPr/>
          <p:nvPr/>
        </p:nvSpPr>
        <p:spPr>
          <a:xfrm>
            <a:off x="451744" y="5405583"/>
            <a:ext cx="493776" cy="493776"/>
          </a:xfrm>
          <a:prstGeom prst="ellipse">
            <a:avLst/>
          </a:prstGeom>
          <a:solidFill>
            <a:srgbClr val="EDF2F9"/>
          </a:solidFill>
          <a:ln w="9525">
            <a:solidFill>
              <a:srgbClr val="CBA84F"/>
            </a:solidFill>
            <a:prstDash val="solid"/>
          </a:ln>
        </p:spPr>
        <p:txBody>
          <a:bodyPr/>
          <a:lstStyle/>
          <a:p>
            <a:endParaRPr lang="en-SG">
              <a:latin typeface="+mj-lt"/>
            </a:endParaRPr>
          </a:p>
        </p:txBody>
      </p:sp>
      <p:pic>
        <p:nvPicPr>
          <p:cNvPr id="55" name="Image 3" descr="preencoded.png">
            <a:extLst>
              <a:ext uri="{FF2B5EF4-FFF2-40B4-BE49-F238E27FC236}">
                <a16:creationId xmlns:a16="http://schemas.microsoft.com/office/drawing/2014/main" id="{85C4CEDB-EE47-39A7-931C-FBF44D40E528}"/>
              </a:ext>
            </a:extLst>
          </p:cNvPr>
          <p:cNvPicPr>
            <a:picLocks noChangeAspect="1"/>
          </p:cNvPicPr>
          <p:nvPr/>
        </p:nvPicPr>
        <p:blipFill>
          <a:blip r:embed="rId9"/>
          <a:stretch>
            <a:fillRect/>
          </a:stretch>
        </p:blipFill>
        <p:spPr>
          <a:xfrm>
            <a:off x="588904" y="5542743"/>
            <a:ext cx="219456" cy="219456"/>
          </a:xfrm>
          <a:prstGeom prst="rect">
            <a:avLst/>
          </a:prstGeom>
        </p:spPr>
      </p:pic>
      <p:sp>
        <p:nvSpPr>
          <p:cNvPr id="57" name="Text 12">
            <a:extLst>
              <a:ext uri="{FF2B5EF4-FFF2-40B4-BE49-F238E27FC236}">
                <a16:creationId xmlns:a16="http://schemas.microsoft.com/office/drawing/2014/main" id="{E3186E9C-4AF3-7EBB-06D3-697B7D5B591C}"/>
              </a:ext>
            </a:extLst>
          </p:cNvPr>
          <p:cNvSpPr/>
          <p:nvPr/>
        </p:nvSpPr>
        <p:spPr>
          <a:xfrm>
            <a:off x="1155832" y="5387295"/>
            <a:ext cx="5303520" cy="310896"/>
          </a:xfrm>
          <a:prstGeom prst="rect">
            <a:avLst/>
          </a:prstGeom>
          <a:noFill/>
          <a:ln/>
        </p:spPr>
        <p:txBody>
          <a:bodyPr wrap="square" lIns="0" tIns="0" rIns="0" bIns="0" rtlCol="0" anchor="ctr"/>
          <a:lstStyle/>
          <a:p>
            <a:pPr marL="0" indent="0">
              <a:buNone/>
            </a:pPr>
            <a:r>
              <a:rPr lang="en-US" sz="1400" b="1">
                <a:solidFill>
                  <a:srgbClr val="00205B"/>
                </a:solidFill>
                <a:latin typeface="+mj-lt"/>
                <a:ea typeface="Arial" pitchFamily="34" charset="-122"/>
                <a:cs typeface="Arial" pitchFamily="34" charset="-120"/>
              </a:rPr>
              <a:t>Secure to the core</a:t>
            </a:r>
            <a:endParaRPr lang="en-US">
              <a:latin typeface="+mj-lt"/>
            </a:endParaRPr>
          </a:p>
        </p:txBody>
      </p:sp>
      <p:sp>
        <p:nvSpPr>
          <p:cNvPr id="59" name="Text 13">
            <a:extLst>
              <a:ext uri="{FF2B5EF4-FFF2-40B4-BE49-F238E27FC236}">
                <a16:creationId xmlns:a16="http://schemas.microsoft.com/office/drawing/2014/main" id="{A33945D8-9B7E-FA14-97F5-75FC620AFD84}"/>
              </a:ext>
            </a:extLst>
          </p:cNvPr>
          <p:cNvSpPr/>
          <p:nvPr/>
        </p:nvSpPr>
        <p:spPr>
          <a:xfrm>
            <a:off x="1155832" y="5679902"/>
            <a:ext cx="3419856" cy="736941"/>
          </a:xfrm>
          <a:prstGeom prst="rect">
            <a:avLst/>
          </a:prstGeom>
          <a:noFill/>
          <a:ln/>
        </p:spPr>
        <p:txBody>
          <a:bodyPr wrap="square" lIns="0" tIns="0" rIns="0" bIns="0" rtlCol="0" anchor="ctr"/>
          <a:lstStyle/>
          <a:p>
            <a:pPr marL="0" indent="0">
              <a:lnSpc>
                <a:spcPct val="115000"/>
              </a:lnSpc>
              <a:buNone/>
            </a:pPr>
            <a:r>
              <a:rPr lang="en-US" sz="1320" dirty="0">
                <a:solidFill>
                  <a:srgbClr val="40597E"/>
                </a:solidFill>
                <a:latin typeface="+mj-lt"/>
                <a:ea typeface="Arial" pitchFamily="34" charset="-122"/>
                <a:cs typeface="Arial" pitchFamily="34" charset="-120"/>
              </a:rPr>
              <a:t>Zero-trust, multi-tier, cloud-ready ISMP with hardened APIs; assistive AI for alert triage and operator-reviewed response recommendations.</a:t>
            </a:r>
            <a:endParaRPr lang="en-US" sz="1400" dirty="0">
              <a:latin typeface="+mj-lt"/>
            </a:endParaRPr>
          </a:p>
        </p:txBody>
      </p:sp>
      <p:sp>
        <p:nvSpPr>
          <p:cNvPr id="4" name="Slide Number Placeholder 4">
            <a:extLst>
              <a:ext uri="{FF2B5EF4-FFF2-40B4-BE49-F238E27FC236}">
                <a16:creationId xmlns:a16="http://schemas.microsoft.com/office/drawing/2014/main" id="{03009A85-1537-9B41-578A-1A1A81EF1E1D}"/>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23</a:t>
            </a:fld>
            <a:r>
              <a:rPr lang="en-US" sz="1200" dirty="0">
                <a:latin typeface="+mj-lt"/>
              </a:rPr>
              <a:t>   | </a:t>
            </a:r>
          </a:p>
        </p:txBody>
      </p:sp>
    </p:spTree>
    <p:extLst>
      <p:ext uri="{BB962C8B-B14F-4D97-AF65-F5344CB8AC3E}">
        <p14:creationId xmlns:p14="http://schemas.microsoft.com/office/powerpoint/2010/main" val="1495545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24189-3F11-F8EC-89A9-844E9E48CFF4}"/>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72103F07-4371-7032-C100-0655CA7E941D}"/>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80917768-97B3-F3DE-C999-0D8E4A310DD3}"/>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1499" y="-2117"/>
            <a:ext cx="12192001" cy="6863645"/>
          </a:xfrm>
          <a:prstGeom prst="rect">
            <a:avLst/>
          </a:prstGeom>
        </p:spPr>
      </p:pic>
      <p:grpSp>
        <p:nvGrpSpPr>
          <p:cNvPr id="5" name="Group 4">
            <a:extLst>
              <a:ext uri="{FF2B5EF4-FFF2-40B4-BE49-F238E27FC236}">
                <a16:creationId xmlns:a16="http://schemas.microsoft.com/office/drawing/2014/main" id="{256C85BF-FAC6-302D-3CD8-A7C2DE518FDC}"/>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74838DF8-6581-4AAE-23F8-962FAD35BAA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411DB592-9F3E-4E7C-539A-DA5493B6E2CF}"/>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7B0642F2-E9A9-D03A-5CFC-CF853939B0E9}"/>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24</a:t>
            </a:fld>
            <a:r>
              <a:rPr lang="en-US" sz="1200" dirty="0">
                <a:latin typeface="+mj-lt"/>
              </a:rPr>
              <a:t>   | </a:t>
            </a:r>
          </a:p>
        </p:txBody>
      </p:sp>
      <p:sp>
        <p:nvSpPr>
          <p:cNvPr id="11" name="Title 4">
            <a:extLst>
              <a:ext uri="{FF2B5EF4-FFF2-40B4-BE49-F238E27FC236}">
                <a16:creationId xmlns:a16="http://schemas.microsoft.com/office/drawing/2014/main" id="{4AF7C971-C922-B413-4956-0E8190FDDB54}"/>
              </a:ext>
            </a:extLst>
          </p:cNvPr>
          <p:cNvSpPr txBox="1">
            <a:spLocks/>
          </p:cNvSpPr>
          <p:nvPr/>
        </p:nvSpPr>
        <p:spPr>
          <a:xfrm>
            <a:off x="343779" y="800366"/>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Start with one lane. Scale to an airport.</a:t>
            </a:r>
          </a:p>
        </p:txBody>
      </p:sp>
      <p:sp>
        <p:nvSpPr>
          <p:cNvPr id="12" name="TextBox 25">
            <a:extLst>
              <a:ext uri="{FF2B5EF4-FFF2-40B4-BE49-F238E27FC236}">
                <a16:creationId xmlns:a16="http://schemas.microsoft.com/office/drawing/2014/main" id="{83E66147-811E-07BB-5407-B146CF926440}"/>
              </a:ext>
            </a:extLst>
          </p:cNvPr>
          <p:cNvSpPr txBox="1"/>
          <p:nvPr/>
        </p:nvSpPr>
        <p:spPr>
          <a:xfrm>
            <a:off x="343779" y="563652"/>
            <a:ext cx="3664721"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dirty="0">
                <a:solidFill>
                  <a:srgbClr val="E30613"/>
                </a:solidFill>
                <a:latin typeface="+mj-lt"/>
              </a:rPr>
              <a:t>Time to Market – Entry Barriers - Roadmap</a:t>
            </a:r>
          </a:p>
        </p:txBody>
      </p:sp>
      <p:sp>
        <p:nvSpPr>
          <p:cNvPr id="44" name="Text 2">
            <a:extLst>
              <a:ext uri="{FF2B5EF4-FFF2-40B4-BE49-F238E27FC236}">
                <a16:creationId xmlns:a16="http://schemas.microsoft.com/office/drawing/2014/main" id="{491659EE-7DBF-B46B-1EEC-0E9CA21F67D3}"/>
              </a:ext>
            </a:extLst>
          </p:cNvPr>
          <p:cNvSpPr/>
          <p:nvPr/>
        </p:nvSpPr>
        <p:spPr>
          <a:xfrm>
            <a:off x="594521" y="1798254"/>
            <a:ext cx="3657600" cy="256032"/>
          </a:xfrm>
          <a:prstGeom prst="rect">
            <a:avLst/>
          </a:prstGeom>
          <a:noFill/>
          <a:ln/>
        </p:spPr>
        <p:txBody>
          <a:bodyPr wrap="square" lIns="0" tIns="0" rIns="0" bIns="0" rtlCol="0" anchor="ctr"/>
          <a:lstStyle/>
          <a:p>
            <a:pPr marL="0" indent="0">
              <a:buNone/>
            </a:pPr>
            <a:r>
              <a:rPr lang="en-US" sz="1600" b="1" kern="0" spc="300" dirty="0">
                <a:solidFill>
                  <a:srgbClr val="B8933A"/>
                </a:solidFill>
                <a:latin typeface="+mj-lt"/>
                <a:ea typeface="Arial" pitchFamily="34" charset="-122"/>
                <a:cs typeface="Arial" pitchFamily="34" charset="-120"/>
              </a:rPr>
              <a:t>LAND &amp; EXPAND</a:t>
            </a:r>
            <a:endParaRPr lang="en-US" sz="1600" dirty="0">
              <a:latin typeface="+mj-lt"/>
            </a:endParaRPr>
          </a:p>
        </p:txBody>
      </p:sp>
      <p:sp>
        <p:nvSpPr>
          <p:cNvPr id="45" name="Shape 3">
            <a:extLst>
              <a:ext uri="{FF2B5EF4-FFF2-40B4-BE49-F238E27FC236}">
                <a16:creationId xmlns:a16="http://schemas.microsoft.com/office/drawing/2014/main" id="{93C3B103-64C4-25D9-FD3D-D38B7325C64A}"/>
              </a:ext>
            </a:extLst>
          </p:cNvPr>
          <p:cNvSpPr/>
          <p:nvPr/>
        </p:nvSpPr>
        <p:spPr>
          <a:xfrm>
            <a:off x="594521" y="2196718"/>
            <a:ext cx="457200" cy="457200"/>
          </a:xfrm>
          <a:prstGeom prst="ellipse">
            <a:avLst/>
          </a:prstGeom>
          <a:solidFill>
            <a:srgbClr val="00205B"/>
          </a:solidFill>
          <a:ln w="12700">
            <a:solidFill>
              <a:srgbClr val="00205B"/>
            </a:solidFill>
            <a:prstDash val="solid"/>
          </a:ln>
        </p:spPr>
        <p:txBody>
          <a:bodyPr/>
          <a:lstStyle/>
          <a:p>
            <a:endParaRPr lang="en-SG" sz="2800">
              <a:latin typeface="+mj-lt"/>
            </a:endParaRPr>
          </a:p>
        </p:txBody>
      </p:sp>
      <p:sp>
        <p:nvSpPr>
          <p:cNvPr id="46" name="Text 4">
            <a:extLst>
              <a:ext uri="{FF2B5EF4-FFF2-40B4-BE49-F238E27FC236}">
                <a16:creationId xmlns:a16="http://schemas.microsoft.com/office/drawing/2014/main" id="{8ABBD472-87BF-799D-CC64-1F855B080690}"/>
              </a:ext>
            </a:extLst>
          </p:cNvPr>
          <p:cNvSpPr/>
          <p:nvPr/>
        </p:nvSpPr>
        <p:spPr>
          <a:xfrm>
            <a:off x="594521" y="2196718"/>
            <a:ext cx="457200" cy="457200"/>
          </a:xfrm>
          <a:prstGeom prst="rect">
            <a:avLst/>
          </a:prstGeom>
          <a:noFill/>
          <a:ln/>
        </p:spPr>
        <p:txBody>
          <a:bodyPr wrap="square" lIns="0" tIns="0" rIns="0" bIns="0" rtlCol="0" anchor="ctr"/>
          <a:lstStyle/>
          <a:p>
            <a:pPr marL="0" indent="0" algn="ctr">
              <a:buNone/>
            </a:pPr>
            <a:r>
              <a:rPr lang="en-US" sz="2000" b="1">
                <a:solidFill>
                  <a:srgbClr val="CBA84F"/>
                </a:solidFill>
                <a:latin typeface="+mj-lt"/>
                <a:ea typeface="Arial" pitchFamily="34" charset="-122"/>
                <a:cs typeface="Arial" pitchFamily="34" charset="-120"/>
              </a:rPr>
              <a:t>1</a:t>
            </a:r>
            <a:endParaRPr lang="en-US" sz="2000">
              <a:latin typeface="+mj-lt"/>
            </a:endParaRPr>
          </a:p>
        </p:txBody>
      </p:sp>
      <p:sp>
        <p:nvSpPr>
          <p:cNvPr id="47" name="Text 5">
            <a:extLst>
              <a:ext uri="{FF2B5EF4-FFF2-40B4-BE49-F238E27FC236}">
                <a16:creationId xmlns:a16="http://schemas.microsoft.com/office/drawing/2014/main" id="{722F6B6B-36AC-0E33-C71F-A01E7C9753B8}"/>
              </a:ext>
            </a:extLst>
          </p:cNvPr>
          <p:cNvSpPr/>
          <p:nvPr/>
        </p:nvSpPr>
        <p:spPr>
          <a:xfrm>
            <a:off x="1188881" y="2298804"/>
            <a:ext cx="2011680" cy="256032"/>
          </a:xfrm>
          <a:prstGeom prst="rect">
            <a:avLst/>
          </a:prstGeom>
          <a:noFill/>
          <a:ln/>
        </p:spPr>
        <p:txBody>
          <a:bodyPr wrap="square" lIns="0" tIns="0" rIns="0" bIns="0" rtlCol="0" anchor="ctr"/>
          <a:lstStyle/>
          <a:p>
            <a:pPr marL="0" indent="0">
              <a:buNone/>
            </a:pPr>
            <a:r>
              <a:rPr lang="en-US" b="1" dirty="0">
                <a:solidFill>
                  <a:srgbClr val="00205B"/>
                </a:solidFill>
                <a:latin typeface="+mj-lt"/>
                <a:ea typeface="Arial" pitchFamily="34" charset="-122"/>
                <a:cs typeface="Arial" pitchFamily="34" charset="-120"/>
              </a:rPr>
              <a:t>Prove</a:t>
            </a:r>
            <a:endParaRPr lang="en-US" dirty="0">
              <a:latin typeface="+mj-lt"/>
            </a:endParaRPr>
          </a:p>
        </p:txBody>
      </p:sp>
      <p:sp>
        <p:nvSpPr>
          <p:cNvPr id="48" name="Text 6">
            <a:extLst>
              <a:ext uri="{FF2B5EF4-FFF2-40B4-BE49-F238E27FC236}">
                <a16:creationId xmlns:a16="http://schemas.microsoft.com/office/drawing/2014/main" id="{1D0717EC-AD8F-BD42-27E6-9B213C1AFAA0}"/>
              </a:ext>
            </a:extLst>
          </p:cNvPr>
          <p:cNvSpPr/>
          <p:nvPr/>
        </p:nvSpPr>
        <p:spPr>
          <a:xfrm>
            <a:off x="2826327" y="2242622"/>
            <a:ext cx="3025994" cy="411480"/>
          </a:xfrm>
          <a:prstGeom prst="rect">
            <a:avLst/>
          </a:prstGeom>
          <a:noFill/>
          <a:ln/>
        </p:spPr>
        <p:txBody>
          <a:bodyPr wrap="square" lIns="0" tIns="0" rIns="0" bIns="0" rtlCol="0" anchor="ctr"/>
          <a:lstStyle/>
          <a:p>
            <a:pPr marL="0" indent="0">
              <a:lnSpc>
                <a:spcPct val="105000"/>
              </a:lnSpc>
              <a:buNone/>
            </a:pPr>
            <a:r>
              <a:rPr lang="en-US" sz="1400" dirty="0">
                <a:solidFill>
                  <a:srgbClr val="40597E"/>
                </a:solidFill>
                <a:latin typeface="+mj-lt"/>
                <a:ea typeface="Arial" pitchFamily="34" charset="-122"/>
                <a:cs typeface="Arial" pitchFamily="34" charset="-120"/>
              </a:rPr>
              <a:t>Deploy a mobile pilot lane</a:t>
            </a:r>
            <a:endParaRPr lang="en-US" sz="1400" dirty="0">
              <a:latin typeface="+mj-lt"/>
            </a:endParaRPr>
          </a:p>
        </p:txBody>
      </p:sp>
      <p:sp>
        <p:nvSpPr>
          <p:cNvPr id="49" name="Shape 7">
            <a:extLst>
              <a:ext uri="{FF2B5EF4-FFF2-40B4-BE49-F238E27FC236}">
                <a16:creationId xmlns:a16="http://schemas.microsoft.com/office/drawing/2014/main" id="{29891CA0-40C1-81B0-087E-11F88FFDDA5E}"/>
              </a:ext>
            </a:extLst>
          </p:cNvPr>
          <p:cNvSpPr/>
          <p:nvPr/>
        </p:nvSpPr>
        <p:spPr>
          <a:xfrm>
            <a:off x="594521" y="3233478"/>
            <a:ext cx="457200" cy="457200"/>
          </a:xfrm>
          <a:prstGeom prst="ellipse">
            <a:avLst/>
          </a:prstGeom>
          <a:solidFill>
            <a:srgbClr val="00205B"/>
          </a:solidFill>
          <a:ln w="12700">
            <a:solidFill>
              <a:srgbClr val="00205B"/>
            </a:solidFill>
            <a:prstDash val="solid"/>
          </a:ln>
        </p:spPr>
        <p:txBody>
          <a:bodyPr/>
          <a:lstStyle/>
          <a:p>
            <a:endParaRPr lang="en-SG" sz="2800">
              <a:latin typeface="+mj-lt"/>
            </a:endParaRPr>
          </a:p>
        </p:txBody>
      </p:sp>
      <p:sp>
        <p:nvSpPr>
          <p:cNvPr id="50" name="Text 8">
            <a:extLst>
              <a:ext uri="{FF2B5EF4-FFF2-40B4-BE49-F238E27FC236}">
                <a16:creationId xmlns:a16="http://schemas.microsoft.com/office/drawing/2014/main" id="{00F49D42-D670-58F6-CD37-C0DC7DC515A8}"/>
              </a:ext>
            </a:extLst>
          </p:cNvPr>
          <p:cNvSpPr/>
          <p:nvPr/>
        </p:nvSpPr>
        <p:spPr>
          <a:xfrm>
            <a:off x="594521" y="3233478"/>
            <a:ext cx="457200" cy="457200"/>
          </a:xfrm>
          <a:prstGeom prst="rect">
            <a:avLst/>
          </a:prstGeom>
          <a:noFill/>
          <a:ln/>
        </p:spPr>
        <p:txBody>
          <a:bodyPr wrap="square" lIns="0" tIns="0" rIns="0" bIns="0" rtlCol="0" anchor="ctr"/>
          <a:lstStyle/>
          <a:p>
            <a:pPr marL="0" indent="0" algn="ctr">
              <a:buNone/>
            </a:pPr>
            <a:r>
              <a:rPr lang="en-US" sz="2000" b="1">
                <a:solidFill>
                  <a:srgbClr val="CBA84F"/>
                </a:solidFill>
                <a:latin typeface="+mj-lt"/>
                <a:ea typeface="Arial" pitchFamily="34" charset="-122"/>
                <a:cs typeface="Arial" pitchFamily="34" charset="-120"/>
              </a:rPr>
              <a:t>2</a:t>
            </a:r>
            <a:endParaRPr lang="en-US" sz="2000">
              <a:latin typeface="+mj-lt"/>
            </a:endParaRPr>
          </a:p>
        </p:txBody>
      </p:sp>
      <p:sp>
        <p:nvSpPr>
          <p:cNvPr id="51" name="Text 9">
            <a:extLst>
              <a:ext uri="{FF2B5EF4-FFF2-40B4-BE49-F238E27FC236}">
                <a16:creationId xmlns:a16="http://schemas.microsoft.com/office/drawing/2014/main" id="{8C633FAB-19A2-CDBF-BE37-5EE16957D8FF}"/>
              </a:ext>
            </a:extLst>
          </p:cNvPr>
          <p:cNvSpPr/>
          <p:nvPr/>
        </p:nvSpPr>
        <p:spPr>
          <a:xfrm>
            <a:off x="1188881" y="3336713"/>
            <a:ext cx="2011680" cy="256032"/>
          </a:xfrm>
          <a:prstGeom prst="rect">
            <a:avLst/>
          </a:prstGeom>
          <a:noFill/>
          <a:ln/>
        </p:spPr>
        <p:txBody>
          <a:bodyPr wrap="square" lIns="0" tIns="0" rIns="0" bIns="0" rtlCol="0" anchor="ctr"/>
          <a:lstStyle/>
          <a:p>
            <a:pPr marL="0" indent="0">
              <a:buNone/>
            </a:pPr>
            <a:r>
              <a:rPr lang="en-US" b="1" dirty="0">
                <a:solidFill>
                  <a:srgbClr val="00205B"/>
                </a:solidFill>
                <a:latin typeface="+mj-lt"/>
                <a:ea typeface="Arial" pitchFamily="34" charset="-122"/>
                <a:cs typeface="Arial" pitchFamily="34" charset="-120"/>
              </a:rPr>
              <a:t>Expand</a:t>
            </a:r>
            <a:endParaRPr lang="en-US" dirty="0">
              <a:latin typeface="+mj-lt"/>
            </a:endParaRPr>
          </a:p>
        </p:txBody>
      </p:sp>
      <p:sp>
        <p:nvSpPr>
          <p:cNvPr id="52" name="Text 10">
            <a:extLst>
              <a:ext uri="{FF2B5EF4-FFF2-40B4-BE49-F238E27FC236}">
                <a16:creationId xmlns:a16="http://schemas.microsoft.com/office/drawing/2014/main" id="{CCC12C79-59D6-1A00-8251-1F8921D8E61D}"/>
              </a:ext>
            </a:extLst>
          </p:cNvPr>
          <p:cNvSpPr/>
          <p:nvPr/>
        </p:nvSpPr>
        <p:spPr>
          <a:xfrm>
            <a:off x="2826327" y="3242438"/>
            <a:ext cx="2671838" cy="411480"/>
          </a:xfrm>
          <a:prstGeom prst="rect">
            <a:avLst/>
          </a:prstGeom>
          <a:noFill/>
          <a:ln/>
        </p:spPr>
        <p:txBody>
          <a:bodyPr wrap="square" lIns="0" tIns="0" rIns="0" bIns="0" rtlCol="0" anchor="ctr"/>
          <a:lstStyle/>
          <a:p>
            <a:pPr marL="0" indent="0">
              <a:lnSpc>
                <a:spcPct val="105000"/>
              </a:lnSpc>
              <a:buNone/>
            </a:pPr>
            <a:r>
              <a:rPr lang="en-US" sz="1400" dirty="0">
                <a:solidFill>
                  <a:srgbClr val="40597E"/>
                </a:solidFill>
                <a:latin typeface="+mj-lt"/>
                <a:ea typeface="Arial" pitchFamily="34" charset="-122"/>
                <a:cs typeface="Arial" pitchFamily="34" charset="-120"/>
              </a:rPr>
              <a:t>Expand lanes and enrolment capacity</a:t>
            </a:r>
            <a:endParaRPr lang="en-US" sz="1400" dirty="0">
              <a:latin typeface="+mj-lt"/>
            </a:endParaRPr>
          </a:p>
        </p:txBody>
      </p:sp>
      <p:sp>
        <p:nvSpPr>
          <p:cNvPr id="53" name="Shape 11">
            <a:extLst>
              <a:ext uri="{FF2B5EF4-FFF2-40B4-BE49-F238E27FC236}">
                <a16:creationId xmlns:a16="http://schemas.microsoft.com/office/drawing/2014/main" id="{7F30A3DD-8291-28EF-2CC5-FCF229E82AE6}"/>
              </a:ext>
            </a:extLst>
          </p:cNvPr>
          <p:cNvSpPr/>
          <p:nvPr/>
        </p:nvSpPr>
        <p:spPr>
          <a:xfrm>
            <a:off x="594521" y="4149060"/>
            <a:ext cx="457200" cy="457200"/>
          </a:xfrm>
          <a:prstGeom prst="ellipse">
            <a:avLst/>
          </a:prstGeom>
          <a:solidFill>
            <a:srgbClr val="00205B"/>
          </a:solidFill>
          <a:ln w="12700">
            <a:solidFill>
              <a:srgbClr val="00205B"/>
            </a:solidFill>
            <a:prstDash val="solid"/>
          </a:ln>
        </p:spPr>
        <p:txBody>
          <a:bodyPr/>
          <a:lstStyle/>
          <a:p>
            <a:endParaRPr lang="en-SG" sz="2800">
              <a:latin typeface="+mj-lt"/>
            </a:endParaRPr>
          </a:p>
        </p:txBody>
      </p:sp>
      <p:sp>
        <p:nvSpPr>
          <p:cNvPr id="54" name="Text 12">
            <a:extLst>
              <a:ext uri="{FF2B5EF4-FFF2-40B4-BE49-F238E27FC236}">
                <a16:creationId xmlns:a16="http://schemas.microsoft.com/office/drawing/2014/main" id="{7439E272-BCD2-AAE1-F2C8-15E69221F792}"/>
              </a:ext>
            </a:extLst>
          </p:cNvPr>
          <p:cNvSpPr/>
          <p:nvPr/>
        </p:nvSpPr>
        <p:spPr>
          <a:xfrm>
            <a:off x="594521" y="4149060"/>
            <a:ext cx="457200" cy="457200"/>
          </a:xfrm>
          <a:prstGeom prst="rect">
            <a:avLst/>
          </a:prstGeom>
          <a:noFill/>
          <a:ln/>
        </p:spPr>
        <p:txBody>
          <a:bodyPr wrap="square" lIns="0" tIns="0" rIns="0" bIns="0" rtlCol="0" anchor="ctr"/>
          <a:lstStyle/>
          <a:p>
            <a:pPr marL="0" indent="0" algn="ctr">
              <a:buNone/>
            </a:pPr>
            <a:r>
              <a:rPr lang="en-US" sz="2000" b="1" dirty="0">
                <a:solidFill>
                  <a:srgbClr val="CBA84F"/>
                </a:solidFill>
                <a:latin typeface="+mj-lt"/>
                <a:ea typeface="Arial" pitchFamily="34" charset="-122"/>
                <a:cs typeface="Arial" pitchFamily="34" charset="-120"/>
              </a:rPr>
              <a:t>3</a:t>
            </a:r>
            <a:endParaRPr lang="en-US" sz="2000" dirty="0">
              <a:latin typeface="+mj-lt"/>
            </a:endParaRPr>
          </a:p>
        </p:txBody>
      </p:sp>
      <p:sp>
        <p:nvSpPr>
          <p:cNvPr id="55" name="Text 13">
            <a:extLst>
              <a:ext uri="{FF2B5EF4-FFF2-40B4-BE49-F238E27FC236}">
                <a16:creationId xmlns:a16="http://schemas.microsoft.com/office/drawing/2014/main" id="{8D205A47-B58B-28DD-E59B-7E08F418AEF3}"/>
              </a:ext>
            </a:extLst>
          </p:cNvPr>
          <p:cNvSpPr/>
          <p:nvPr/>
        </p:nvSpPr>
        <p:spPr>
          <a:xfrm>
            <a:off x="1179535" y="4252656"/>
            <a:ext cx="2011680" cy="256032"/>
          </a:xfrm>
          <a:prstGeom prst="rect">
            <a:avLst/>
          </a:prstGeom>
          <a:noFill/>
          <a:ln/>
        </p:spPr>
        <p:txBody>
          <a:bodyPr wrap="square" lIns="0" tIns="0" rIns="0" bIns="0" rtlCol="0" anchor="ctr"/>
          <a:lstStyle/>
          <a:p>
            <a:pPr marL="0" indent="0">
              <a:buNone/>
            </a:pPr>
            <a:r>
              <a:rPr lang="en-US" b="1" dirty="0">
                <a:solidFill>
                  <a:srgbClr val="00205B"/>
                </a:solidFill>
                <a:latin typeface="+mj-lt"/>
                <a:ea typeface="Arial" pitchFamily="34" charset="-122"/>
                <a:cs typeface="Arial" pitchFamily="34" charset="-120"/>
              </a:rPr>
              <a:t>Connect</a:t>
            </a:r>
            <a:endParaRPr lang="en-US" dirty="0">
              <a:latin typeface="+mj-lt"/>
            </a:endParaRPr>
          </a:p>
        </p:txBody>
      </p:sp>
      <p:sp>
        <p:nvSpPr>
          <p:cNvPr id="56" name="Text 14">
            <a:extLst>
              <a:ext uri="{FF2B5EF4-FFF2-40B4-BE49-F238E27FC236}">
                <a16:creationId xmlns:a16="http://schemas.microsoft.com/office/drawing/2014/main" id="{1D4B7C6A-BCF5-302D-FA8E-1D662275CE53}"/>
              </a:ext>
            </a:extLst>
          </p:cNvPr>
          <p:cNvSpPr/>
          <p:nvPr/>
        </p:nvSpPr>
        <p:spPr>
          <a:xfrm>
            <a:off x="2826327" y="4130313"/>
            <a:ext cx="2844798" cy="615285"/>
          </a:xfrm>
          <a:prstGeom prst="rect">
            <a:avLst/>
          </a:prstGeom>
          <a:noFill/>
          <a:ln/>
        </p:spPr>
        <p:txBody>
          <a:bodyPr wrap="square" lIns="0" tIns="0" rIns="0" bIns="0" rtlCol="0" anchor="ctr"/>
          <a:lstStyle/>
          <a:p>
            <a:pPr>
              <a:lnSpc>
                <a:spcPct val="105000"/>
              </a:lnSpc>
            </a:pPr>
            <a:r>
              <a:rPr lang="en-US" sz="1400" dirty="0">
                <a:solidFill>
                  <a:srgbClr val="40597E"/>
                </a:solidFill>
                <a:latin typeface="+mj-lt"/>
                <a:ea typeface="Arial" pitchFamily="34" charset="-122"/>
                <a:cs typeface="Arial" pitchFamily="34" charset="-120"/>
              </a:rPr>
              <a:t>Connect immigration, pre-screening, boarding and physical-security operations through ISMP.</a:t>
            </a:r>
            <a:endParaRPr lang="en-US" sz="1400" dirty="0">
              <a:latin typeface="+mj-lt"/>
            </a:endParaRPr>
          </a:p>
        </p:txBody>
      </p:sp>
      <p:sp>
        <p:nvSpPr>
          <p:cNvPr id="57" name="Shape 15">
            <a:extLst>
              <a:ext uri="{FF2B5EF4-FFF2-40B4-BE49-F238E27FC236}">
                <a16:creationId xmlns:a16="http://schemas.microsoft.com/office/drawing/2014/main" id="{6FC86F63-2B9C-E704-FC50-C4A99F866F23}"/>
              </a:ext>
            </a:extLst>
          </p:cNvPr>
          <p:cNvSpPr/>
          <p:nvPr/>
        </p:nvSpPr>
        <p:spPr>
          <a:xfrm>
            <a:off x="594521" y="5009258"/>
            <a:ext cx="457200" cy="457200"/>
          </a:xfrm>
          <a:prstGeom prst="ellipse">
            <a:avLst/>
          </a:prstGeom>
          <a:solidFill>
            <a:srgbClr val="00205B"/>
          </a:solidFill>
          <a:ln w="12700">
            <a:solidFill>
              <a:srgbClr val="00205B"/>
            </a:solidFill>
            <a:prstDash val="solid"/>
          </a:ln>
        </p:spPr>
        <p:txBody>
          <a:bodyPr/>
          <a:lstStyle/>
          <a:p>
            <a:endParaRPr lang="en-SG" sz="2800">
              <a:latin typeface="+mj-lt"/>
            </a:endParaRPr>
          </a:p>
        </p:txBody>
      </p:sp>
      <p:sp>
        <p:nvSpPr>
          <p:cNvPr id="58" name="Text 16">
            <a:extLst>
              <a:ext uri="{FF2B5EF4-FFF2-40B4-BE49-F238E27FC236}">
                <a16:creationId xmlns:a16="http://schemas.microsoft.com/office/drawing/2014/main" id="{9969D21F-0806-0A5E-E281-0E6487B49F81}"/>
              </a:ext>
            </a:extLst>
          </p:cNvPr>
          <p:cNvSpPr/>
          <p:nvPr/>
        </p:nvSpPr>
        <p:spPr>
          <a:xfrm>
            <a:off x="594521" y="5009258"/>
            <a:ext cx="457200" cy="457200"/>
          </a:xfrm>
          <a:prstGeom prst="rect">
            <a:avLst/>
          </a:prstGeom>
          <a:noFill/>
          <a:ln/>
        </p:spPr>
        <p:txBody>
          <a:bodyPr wrap="square" lIns="0" tIns="0" rIns="0" bIns="0" rtlCol="0" anchor="ctr"/>
          <a:lstStyle/>
          <a:p>
            <a:pPr marL="0" indent="0" algn="ctr">
              <a:buNone/>
            </a:pPr>
            <a:r>
              <a:rPr lang="en-US" sz="2000" b="1">
                <a:solidFill>
                  <a:srgbClr val="CBA84F"/>
                </a:solidFill>
                <a:latin typeface="+mj-lt"/>
                <a:ea typeface="Arial" pitchFamily="34" charset="-122"/>
                <a:cs typeface="Arial" pitchFamily="34" charset="-120"/>
              </a:rPr>
              <a:t>4</a:t>
            </a:r>
            <a:endParaRPr lang="en-US" sz="2000">
              <a:latin typeface="+mj-lt"/>
            </a:endParaRPr>
          </a:p>
        </p:txBody>
      </p:sp>
      <p:sp>
        <p:nvSpPr>
          <p:cNvPr id="59" name="Text 17">
            <a:extLst>
              <a:ext uri="{FF2B5EF4-FFF2-40B4-BE49-F238E27FC236}">
                <a16:creationId xmlns:a16="http://schemas.microsoft.com/office/drawing/2014/main" id="{7C217F85-36B4-4871-2430-9D9FABD58AB5}"/>
              </a:ext>
            </a:extLst>
          </p:cNvPr>
          <p:cNvSpPr/>
          <p:nvPr/>
        </p:nvSpPr>
        <p:spPr>
          <a:xfrm>
            <a:off x="1188881" y="5103288"/>
            <a:ext cx="2011680" cy="256032"/>
          </a:xfrm>
          <a:prstGeom prst="rect">
            <a:avLst/>
          </a:prstGeom>
          <a:noFill/>
          <a:ln/>
        </p:spPr>
        <p:txBody>
          <a:bodyPr wrap="square" lIns="0" tIns="0" rIns="0" bIns="0" rtlCol="0" anchor="ctr"/>
          <a:lstStyle/>
          <a:p>
            <a:pPr marL="0" indent="0">
              <a:buNone/>
            </a:pPr>
            <a:r>
              <a:rPr lang="en-US" b="1" dirty="0">
                <a:solidFill>
                  <a:srgbClr val="00205B"/>
                </a:solidFill>
                <a:latin typeface="+mj-lt"/>
                <a:ea typeface="Arial" pitchFamily="34" charset="-122"/>
                <a:cs typeface="Arial" pitchFamily="34" charset="-120"/>
              </a:rPr>
              <a:t>Scale</a:t>
            </a:r>
            <a:endParaRPr lang="en-US" dirty="0">
              <a:latin typeface="+mj-lt"/>
            </a:endParaRPr>
          </a:p>
        </p:txBody>
      </p:sp>
      <p:sp>
        <p:nvSpPr>
          <p:cNvPr id="60" name="Text 18">
            <a:extLst>
              <a:ext uri="{FF2B5EF4-FFF2-40B4-BE49-F238E27FC236}">
                <a16:creationId xmlns:a16="http://schemas.microsoft.com/office/drawing/2014/main" id="{5123B448-0BA3-9AD9-F181-52569FA4C689}"/>
              </a:ext>
            </a:extLst>
          </p:cNvPr>
          <p:cNvSpPr/>
          <p:nvPr/>
        </p:nvSpPr>
        <p:spPr>
          <a:xfrm>
            <a:off x="2826327" y="5045924"/>
            <a:ext cx="2844798" cy="411480"/>
          </a:xfrm>
          <a:prstGeom prst="rect">
            <a:avLst/>
          </a:prstGeom>
          <a:noFill/>
          <a:ln/>
        </p:spPr>
        <p:txBody>
          <a:bodyPr wrap="square" lIns="0" tIns="0" rIns="0" bIns="0" rtlCol="0" anchor="ctr"/>
          <a:lstStyle/>
          <a:p>
            <a:pPr marL="0" indent="0">
              <a:lnSpc>
                <a:spcPct val="105000"/>
              </a:lnSpc>
              <a:buNone/>
            </a:pPr>
            <a:r>
              <a:rPr lang="en-US" sz="1400" dirty="0">
                <a:solidFill>
                  <a:srgbClr val="40597E"/>
                </a:solidFill>
                <a:latin typeface="+mj-lt"/>
                <a:ea typeface="Arial" pitchFamily="34" charset="-122"/>
                <a:cs typeface="Arial" pitchFamily="34" charset="-120"/>
              </a:rPr>
              <a:t>Extend across terminals and airport portfolios</a:t>
            </a:r>
            <a:endParaRPr lang="en-US" sz="1400" dirty="0">
              <a:latin typeface="+mj-lt"/>
            </a:endParaRPr>
          </a:p>
        </p:txBody>
      </p:sp>
      <p:sp>
        <p:nvSpPr>
          <p:cNvPr id="61" name="Text 22"/>
          <p:cNvSpPr/>
          <p:nvPr/>
        </p:nvSpPr>
        <p:spPr>
          <a:xfrm>
            <a:off x="6322440" y="1743518"/>
            <a:ext cx="4236529" cy="296557"/>
          </a:xfrm>
          <a:prstGeom prst="rect">
            <a:avLst/>
          </a:prstGeom>
          <a:noFill/>
          <a:ln/>
        </p:spPr>
        <p:txBody>
          <a:bodyPr wrap="square" lIns="0" tIns="0" rIns="0" bIns="0" rtlCol="0" anchor="ctr"/>
          <a:lstStyle/>
          <a:p>
            <a:pPr marL="0" indent="0">
              <a:buNone/>
            </a:pPr>
            <a:r>
              <a:rPr lang="en-US" sz="1600" b="1" kern="0" spc="300" dirty="0">
                <a:solidFill>
                  <a:srgbClr val="B8933A"/>
                </a:solidFill>
                <a:latin typeface="+mj-lt"/>
                <a:ea typeface="Arial" pitchFamily="34" charset="-122"/>
                <a:cs typeface="Arial" pitchFamily="34" charset="-120"/>
              </a:rPr>
              <a:t>FASTPASS KEY DIFFERENTIATION</a:t>
            </a:r>
            <a:endParaRPr lang="en-US" sz="1600" dirty="0">
              <a:latin typeface="+mj-lt"/>
            </a:endParaRPr>
          </a:p>
        </p:txBody>
      </p:sp>
      <p:sp>
        <p:nvSpPr>
          <p:cNvPr id="4" name="Shape 35">
            <a:extLst>
              <a:ext uri="{FF2B5EF4-FFF2-40B4-BE49-F238E27FC236}">
                <a16:creationId xmlns:a16="http://schemas.microsoft.com/office/drawing/2014/main" id="{D5EA7F5C-C40E-4C9D-27A3-435EE45596A1}"/>
              </a:ext>
            </a:extLst>
          </p:cNvPr>
          <p:cNvSpPr/>
          <p:nvPr/>
        </p:nvSpPr>
        <p:spPr>
          <a:xfrm>
            <a:off x="709684" y="5728417"/>
            <a:ext cx="11183112" cy="522353"/>
          </a:xfrm>
          <a:prstGeom prst="roundRect">
            <a:avLst>
              <a:gd name="adj" fmla="val 11111"/>
            </a:avLst>
          </a:prstGeom>
          <a:solidFill>
            <a:srgbClr val="FAF5E8"/>
          </a:solidFill>
          <a:ln w="12700">
            <a:solidFill>
              <a:srgbClr val="CBA84F"/>
            </a:solidFill>
            <a:prstDash val="solid"/>
          </a:ln>
        </p:spPr>
        <p:txBody>
          <a:bodyPr/>
          <a:lstStyle/>
          <a:p>
            <a:endParaRPr lang="en-SG">
              <a:latin typeface="+mj-lt"/>
            </a:endParaRPr>
          </a:p>
        </p:txBody>
      </p:sp>
      <p:pic>
        <p:nvPicPr>
          <p:cNvPr id="10" name="Image 5" descr="preencoded.png">
            <a:extLst>
              <a:ext uri="{FF2B5EF4-FFF2-40B4-BE49-F238E27FC236}">
                <a16:creationId xmlns:a16="http://schemas.microsoft.com/office/drawing/2014/main" id="{B2CA73AC-CF98-F8E5-FB9D-D7E71C92E6ED}"/>
              </a:ext>
            </a:extLst>
          </p:cNvPr>
          <p:cNvPicPr>
            <a:picLocks noChangeAspect="1"/>
          </p:cNvPicPr>
          <p:nvPr/>
        </p:nvPicPr>
        <p:blipFill>
          <a:blip r:embed="rId5"/>
          <a:stretch>
            <a:fillRect/>
          </a:stretch>
        </p:blipFill>
        <p:spPr>
          <a:xfrm>
            <a:off x="965532" y="5828357"/>
            <a:ext cx="329184" cy="329184"/>
          </a:xfrm>
          <a:prstGeom prst="rect">
            <a:avLst/>
          </a:prstGeom>
        </p:spPr>
      </p:pic>
      <p:sp>
        <p:nvSpPr>
          <p:cNvPr id="14" name="Text 36">
            <a:extLst>
              <a:ext uri="{FF2B5EF4-FFF2-40B4-BE49-F238E27FC236}">
                <a16:creationId xmlns:a16="http://schemas.microsoft.com/office/drawing/2014/main" id="{83A5EFA2-F6FE-AFD2-DBAF-BED61E6636BA}"/>
              </a:ext>
            </a:extLst>
          </p:cNvPr>
          <p:cNvSpPr/>
          <p:nvPr/>
        </p:nvSpPr>
        <p:spPr>
          <a:xfrm>
            <a:off x="1441204" y="5727773"/>
            <a:ext cx="10332720" cy="530352"/>
          </a:xfrm>
          <a:prstGeom prst="rect">
            <a:avLst/>
          </a:prstGeom>
          <a:noFill/>
          <a:ln/>
        </p:spPr>
        <p:txBody>
          <a:bodyPr wrap="square" lIns="0" tIns="0" rIns="0" bIns="0" rtlCol="0" anchor="ctr"/>
          <a:lstStyle/>
          <a:p>
            <a:pPr marL="0" indent="0">
              <a:lnSpc>
                <a:spcPct val="110000"/>
              </a:lnSpc>
              <a:buNone/>
            </a:pPr>
            <a:r>
              <a:rPr lang="en-US" sz="1400" b="1" kern="0" spc="200" dirty="0">
                <a:solidFill>
                  <a:srgbClr val="B8933A"/>
                </a:solidFill>
                <a:latin typeface="+mj-lt"/>
                <a:ea typeface="Arial" pitchFamily="34" charset="-122"/>
                <a:cs typeface="Arial" pitchFamily="34" charset="-120"/>
              </a:rPr>
              <a:t>FUTURE OPTION </a:t>
            </a:r>
            <a:r>
              <a:rPr lang="en-US" sz="1400" dirty="0">
                <a:solidFill>
                  <a:srgbClr val="40597E"/>
                </a:solidFill>
                <a:latin typeface="+mj-lt"/>
                <a:ea typeface="Arial" pitchFamily="34" charset="-122"/>
                <a:cs typeface="Arial" pitchFamily="34" charset="-120"/>
              </a:rPr>
              <a:t>Enhance multimodal biometrics, including iris recognition, for higher-assurance use cases.</a:t>
            </a:r>
            <a:endParaRPr lang="en-US" sz="1400" dirty="0">
              <a:latin typeface="+mj-lt"/>
            </a:endParaRPr>
          </a:p>
        </p:txBody>
      </p:sp>
      <p:sp>
        <p:nvSpPr>
          <p:cNvPr id="13" name="Shape 21">
            <a:extLst>
              <a:ext uri="{FF2B5EF4-FFF2-40B4-BE49-F238E27FC236}">
                <a16:creationId xmlns:a16="http://schemas.microsoft.com/office/drawing/2014/main" id="{461E2283-E98B-F535-5E3B-7E6893282D73}"/>
              </a:ext>
            </a:extLst>
          </p:cNvPr>
          <p:cNvSpPr/>
          <p:nvPr/>
        </p:nvSpPr>
        <p:spPr>
          <a:xfrm>
            <a:off x="6062993" y="2128712"/>
            <a:ext cx="457200" cy="457200"/>
          </a:xfrm>
          <a:prstGeom prst="ellipse">
            <a:avLst/>
          </a:prstGeom>
          <a:solidFill>
            <a:srgbClr val="FFFFFF"/>
          </a:solidFill>
          <a:ln w="15875">
            <a:solidFill>
              <a:srgbClr val="C9A85C"/>
            </a:solidFill>
            <a:prstDash val="solid"/>
          </a:ln>
        </p:spPr>
        <p:txBody>
          <a:bodyPr/>
          <a:lstStyle/>
          <a:p>
            <a:endParaRPr lang="en-SG">
              <a:latin typeface="+mj-lt"/>
            </a:endParaRPr>
          </a:p>
        </p:txBody>
      </p:sp>
      <p:pic>
        <p:nvPicPr>
          <p:cNvPr id="16" name="Image 2" descr="preencoded.png">
            <a:extLst>
              <a:ext uri="{FF2B5EF4-FFF2-40B4-BE49-F238E27FC236}">
                <a16:creationId xmlns:a16="http://schemas.microsoft.com/office/drawing/2014/main" id="{AB846A53-13D2-6059-5851-BE4D876564D2}"/>
              </a:ext>
            </a:extLst>
          </p:cNvPr>
          <p:cNvPicPr>
            <a:picLocks noChangeAspect="1"/>
          </p:cNvPicPr>
          <p:nvPr/>
        </p:nvPicPr>
        <p:blipFill>
          <a:blip r:embed="rId6"/>
          <a:stretch>
            <a:fillRect/>
          </a:stretch>
        </p:blipFill>
        <p:spPr>
          <a:xfrm>
            <a:off x="6191009" y="2256728"/>
            <a:ext cx="201168" cy="201168"/>
          </a:xfrm>
          <a:prstGeom prst="rect">
            <a:avLst/>
          </a:prstGeom>
        </p:spPr>
      </p:pic>
      <p:sp>
        <p:nvSpPr>
          <p:cNvPr id="18" name="Text 22">
            <a:extLst>
              <a:ext uri="{FF2B5EF4-FFF2-40B4-BE49-F238E27FC236}">
                <a16:creationId xmlns:a16="http://schemas.microsoft.com/office/drawing/2014/main" id="{FC95E548-7652-FE94-3AAF-1F671FF250FD}"/>
              </a:ext>
            </a:extLst>
          </p:cNvPr>
          <p:cNvSpPr/>
          <p:nvPr/>
        </p:nvSpPr>
        <p:spPr>
          <a:xfrm>
            <a:off x="6703073" y="2073848"/>
            <a:ext cx="5074920" cy="274320"/>
          </a:xfrm>
          <a:prstGeom prst="rect">
            <a:avLst/>
          </a:prstGeom>
          <a:noFill/>
          <a:ln/>
        </p:spPr>
        <p:txBody>
          <a:bodyPr wrap="square" lIns="0" tIns="0" rIns="0" bIns="0" rtlCol="0" anchor="ctr"/>
          <a:lstStyle/>
          <a:p>
            <a:pPr marL="0" indent="0">
              <a:buNone/>
            </a:pPr>
            <a:r>
              <a:rPr lang="en-US" sz="1400" b="1" dirty="0">
                <a:solidFill>
                  <a:srgbClr val="0D2E6E"/>
                </a:solidFill>
                <a:latin typeface="+mj-lt"/>
                <a:ea typeface="Arial" pitchFamily="34" charset="-122"/>
                <a:cs typeface="Arial" pitchFamily="34" charset="-120"/>
              </a:rPr>
              <a:t>Converged with airport security operations</a:t>
            </a:r>
            <a:endParaRPr lang="en-US" sz="1400" dirty="0">
              <a:latin typeface="+mj-lt"/>
            </a:endParaRPr>
          </a:p>
        </p:txBody>
      </p:sp>
      <p:sp>
        <p:nvSpPr>
          <p:cNvPr id="20" name="Text 23">
            <a:extLst>
              <a:ext uri="{FF2B5EF4-FFF2-40B4-BE49-F238E27FC236}">
                <a16:creationId xmlns:a16="http://schemas.microsoft.com/office/drawing/2014/main" id="{7682B4FE-2745-C247-A578-C64CCABCB332}"/>
              </a:ext>
            </a:extLst>
          </p:cNvPr>
          <p:cNvSpPr/>
          <p:nvPr/>
        </p:nvSpPr>
        <p:spPr>
          <a:xfrm>
            <a:off x="6703073" y="2348168"/>
            <a:ext cx="5074920" cy="932688"/>
          </a:xfrm>
          <a:prstGeom prst="rect">
            <a:avLst/>
          </a:prstGeom>
          <a:noFill/>
          <a:ln/>
        </p:spPr>
        <p:txBody>
          <a:bodyPr wrap="square" lIns="0" tIns="0" rIns="0" bIns="0" rtlCol="0" anchor="t"/>
          <a:lstStyle/>
          <a:p>
            <a:pPr marL="0" indent="0">
              <a:lnSpc>
                <a:spcPct val="110000"/>
              </a:lnSpc>
              <a:buNone/>
            </a:pPr>
            <a:r>
              <a:rPr lang="en-US" sz="1200" dirty="0">
                <a:solidFill>
                  <a:srgbClr val="33527E"/>
                </a:solidFill>
                <a:latin typeface="+mj-lt"/>
                <a:ea typeface="Arial" pitchFamily="34" charset="-122"/>
                <a:cs typeface="Arial" pitchFamily="34" charset="-120"/>
              </a:rPr>
              <a:t>Passenger-clearance events feed into AGIL® Secure ISMP alongside CCTV, access control, intrusion detection and other physical-security systems—giving operators visibility of each traveller’s latest verified touchpoint and clearance status within the airport’s wider security picture.</a:t>
            </a:r>
            <a:endParaRPr lang="en-US" sz="1200" dirty="0">
              <a:latin typeface="+mj-lt"/>
            </a:endParaRPr>
          </a:p>
        </p:txBody>
      </p:sp>
      <p:sp>
        <p:nvSpPr>
          <p:cNvPr id="22" name="Shape 24">
            <a:extLst>
              <a:ext uri="{FF2B5EF4-FFF2-40B4-BE49-F238E27FC236}">
                <a16:creationId xmlns:a16="http://schemas.microsoft.com/office/drawing/2014/main" id="{CAAFE4B6-A97B-2857-51CD-D5D351E6AE29}"/>
              </a:ext>
            </a:extLst>
          </p:cNvPr>
          <p:cNvSpPr/>
          <p:nvPr/>
        </p:nvSpPr>
        <p:spPr>
          <a:xfrm>
            <a:off x="6062993" y="3243728"/>
            <a:ext cx="457200" cy="457200"/>
          </a:xfrm>
          <a:prstGeom prst="ellipse">
            <a:avLst/>
          </a:prstGeom>
          <a:solidFill>
            <a:srgbClr val="FFFFFF"/>
          </a:solidFill>
          <a:ln w="15875">
            <a:solidFill>
              <a:srgbClr val="C9A85C"/>
            </a:solidFill>
            <a:prstDash val="solid"/>
          </a:ln>
        </p:spPr>
        <p:txBody>
          <a:bodyPr/>
          <a:lstStyle/>
          <a:p>
            <a:endParaRPr lang="en-SG">
              <a:latin typeface="+mj-lt"/>
            </a:endParaRPr>
          </a:p>
        </p:txBody>
      </p:sp>
      <p:pic>
        <p:nvPicPr>
          <p:cNvPr id="24" name="Image 3" descr="preencoded.png">
            <a:extLst>
              <a:ext uri="{FF2B5EF4-FFF2-40B4-BE49-F238E27FC236}">
                <a16:creationId xmlns:a16="http://schemas.microsoft.com/office/drawing/2014/main" id="{401275A7-C089-5D5A-FD94-C260F2027C4D}"/>
              </a:ext>
            </a:extLst>
          </p:cNvPr>
          <p:cNvPicPr>
            <a:picLocks noChangeAspect="1"/>
          </p:cNvPicPr>
          <p:nvPr/>
        </p:nvPicPr>
        <p:blipFill>
          <a:blip r:embed="rId7"/>
          <a:stretch>
            <a:fillRect/>
          </a:stretch>
        </p:blipFill>
        <p:spPr>
          <a:xfrm>
            <a:off x="6191009" y="3380980"/>
            <a:ext cx="201168" cy="201168"/>
          </a:xfrm>
          <a:prstGeom prst="rect">
            <a:avLst/>
          </a:prstGeom>
        </p:spPr>
      </p:pic>
      <p:sp>
        <p:nvSpPr>
          <p:cNvPr id="26" name="Text 25">
            <a:extLst>
              <a:ext uri="{FF2B5EF4-FFF2-40B4-BE49-F238E27FC236}">
                <a16:creationId xmlns:a16="http://schemas.microsoft.com/office/drawing/2014/main" id="{0942C749-FBC1-52B0-A266-F6DE74753CC7}"/>
              </a:ext>
            </a:extLst>
          </p:cNvPr>
          <p:cNvSpPr/>
          <p:nvPr/>
        </p:nvSpPr>
        <p:spPr>
          <a:xfrm>
            <a:off x="6703073" y="3253516"/>
            <a:ext cx="5074920" cy="274320"/>
          </a:xfrm>
          <a:prstGeom prst="rect">
            <a:avLst/>
          </a:prstGeom>
          <a:noFill/>
          <a:ln/>
        </p:spPr>
        <p:txBody>
          <a:bodyPr wrap="square" lIns="0" tIns="0" rIns="0" bIns="0" rtlCol="0" anchor="ctr"/>
          <a:lstStyle/>
          <a:p>
            <a:pPr marL="0" indent="0">
              <a:buNone/>
            </a:pPr>
            <a:r>
              <a:rPr lang="en-US" sz="1400" b="1" dirty="0">
                <a:solidFill>
                  <a:srgbClr val="0D2E6E"/>
                </a:solidFill>
                <a:latin typeface="+mj-lt"/>
                <a:ea typeface="Arial" pitchFamily="34" charset="-122"/>
                <a:cs typeface="Arial" pitchFamily="34" charset="-120"/>
              </a:rPr>
              <a:t>Integrated product architecture</a:t>
            </a:r>
            <a:endParaRPr lang="en-US" sz="1400" dirty="0">
              <a:latin typeface="+mj-lt"/>
            </a:endParaRPr>
          </a:p>
        </p:txBody>
      </p:sp>
      <p:sp>
        <p:nvSpPr>
          <p:cNvPr id="28" name="Text 26">
            <a:extLst>
              <a:ext uri="{FF2B5EF4-FFF2-40B4-BE49-F238E27FC236}">
                <a16:creationId xmlns:a16="http://schemas.microsoft.com/office/drawing/2014/main" id="{6DD24766-015B-BC09-D244-B48DFE3D7AFC}"/>
              </a:ext>
            </a:extLst>
          </p:cNvPr>
          <p:cNvSpPr/>
          <p:nvPr/>
        </p:nvSpPr>
        <p:spPr>
          <a:xfrm>
            <a:off x="6703073" y="3527836"/>
            <a:ext cx="5074920" cy="621792"/>
          </a:xfrm>
          <a:prstGeom prst="rect">
            <a:avLst/>
          </a:prstGeom>
          <a:noFill/>
          <a:ln/>
        </p:spPr>
        <p:txBody>
          <a:bodyPr wrap="square" lIns="0" tIns="0" rIns="0" bIns="0" rtlCol="0" anchor="t"/>
          <a:lstStyle/>
          <a:p>
            <a:pPr marL="0" indent="0">
              <a:lnSpc>
                <a:spcPct val="110000"/>
              </a:lnSpc>
              <a:buNone/>
            </a:pPr>
            <a:r>
              <a:rPr lang="en-US" sz="1200" dirty="0">
                <a:solidFill>
                  <a:srgbClr val="33527E"/>
                </a:solidFill>
                <a:latin typeface="+mj-lt"/>
                <a:ea typeface="Arial" pitchFamily="34" charset="-122"/>
                <a:cs typeface="Arial" pitchFamily="34" charset="-120"/>
              </a:rPr>
              <a:t>A tightly integrated architecture spanning mobile credential workflows, biometric lane control and ISMP orchestration reduces the integration burden for customers.</a:t>
            </a:r>
          </a:p>
        </p:txBody>
      </p:sp>
      <p:sp>
        <p:nvSpPr>
          <p:cNvPr id="30" name="Shape 27">
            <a:extLst>
              <a:ext uri="{FF2B5EF4-FFF2-40B4-BE49-F238E27FC236}">
                <a16:creationId xmlns:a16="http://schemas.microsoft.com/office/drawing/2014/main" id="{E1BB9BEE-DF04-03A3-FB94-C5C962AB8C31}"/>
              </a:ext>
            </a:extLst>
          </p:cNvPr>
          <p:cNvSpPr/>
          <p:nvPr/>
        </p:nvSpPr>
        <p:spPr>
          <a:xfrm>
            <a:off x="6062993" y="4167916"/>
            <a:ext cx="457200" cy="457200"/>
          </a:xfrm>
          <a:prstGeom prst="ellipse">
            <a:avLst/>
          </a:prstGeom>
          <a:solidFill>
            <a:srgbClr val="FFFFFF"/>
          </a:solidFill>
          <a:ln w="15875">
            <a:solidFill>
              <a:srgbClr val="C9A85C"/>
            </a:solidFill>
            <a:prstDash val="solid"/>
          </a:ln>
        </p:spPr>
        <p:txBody>
          <a:bodyPr/>
          <a:lstStyle/>
          <a:p>
            <a:endParaRPr lang="en-SG">
              <a:latin typeface="+mj-lt"/>
            </a:endParaRPr>
          </a:p>
        </p:txBody>
      </p:sp>
      <p:pic>
        <p:nvPicPr>
          <p:cNvPr id="32" name="Image 4" descr="preencoded.png">
            <a:extLst>
              <a:ext uri="{FF2B5EF4-FFF2-40B4-BE49-F238E27FC236}">
                <a16:creationId xmlns:a16="http://schemas.microsoft.com/office/drawing/2014/main" id="{7E307B94-59D8-E386-5C06-EEA1CA2E3B70}"/>
              </a:ext>
            </a:extLst>
          </p:cNvPr>
          <p:cNvPicPr>
            <a:picLocks noChangeAspect="1"/>
          </p:cNvPicPr>
          <p:nvPr/>
        </p:nvPicPr>
        <p:blipFill>
          <a:blip r:embed="rId8"/>
          <a:stretch>
            <a:fillRect/>
          </a:stretch>
        </p:blipFill>
        <p:spPr>
          <a:xfrm>
            <a:off x="6191009" y="4295932"/>
            <a:ext cx="201168" cy="201168"/>
          </a:xfrm>
          <a:prstGeom prst="rect">
            <a:avLst/>
          </a:prstGeom>
        </p:spPr>
      </p:pic>
      <p:sp>
        <p:nvSpPr>
          <p:cNvPr id="34" name="Text 28">
            <a:extLst>
              <a:ext uri="{FF2B5EF4-FFF2-40B4-BE49-F238E27FC236}">
                <a16:creationId xmlns:a16="http://schemas.microsoft.com/office/drawing/2014/main" id="{6480AAF4-2343-1CFF-3142-F7839DBAD7D4}"/>
              </a:ext>
            </a:extLst>
          </p:cNvPr>
          <p:cNvSpPr/>
          <p:nvPr/>
        </p:nvSpPr>
        <p:spPr>
          <a:xfrm>
            <a:off x="6703073" y="4113052"/>
            <a:ext cx="5074920" cy="274320"/>
          </a:xfrm>
          <a:prstGeom prst="rect">
            <a:avLst/>
          </a:prstGeom>
          <a:noFill/>
          <a:ln/>
        </p:spPr>
        <p:txBody>
          <a:bodyPr wrap="square" lIns="0" tIns="0" rIns="0" bIns="0" rtlCol="0" anchor="ctr"/>
          <a:lstStyle/>
          <a:p>
            <a:pPr marL="0" indent="0">
              <a:buNone/>
            </a:pPr>
            <a:r>
              <a:rPr lang="en-US" sz="1400" b="1" dirty="0">
                <a:solidFill>
                  <a:srgbClr val="0D2E6E"/>
                </a:solidFill>
                <a:latin typeface="+mj-lt"/>
                <a:ea typeface="Arial" pitchFamily="34" charset="-122"/>
                <a:cs typeface="Arial" pitchFamily="34" charset="-120"/>
              </a:rPr>
              <a:t>Deep know-how</a:t>
            </a:r>
            <a:endParaRPr lang="en-US" sz="1400" dirty="0">
              <a:latin typeface="+mj-lt"/>
            </a:endParaRPr>
          </a:p>
        </p:txBody>
      </p:sp>
      <p:sp>
        <p:nvSpPr>
          <p:cNvPr id="36" name="Text 29">
            <a:extLst>
              <a:ext uri="{FF2B5EF4-FFF2-40B4-BE49-F238E27FC236}">
                <a16:creationId xmlns:a16="http://schemas.microsoft.com/office/drawing/2014/main" id="{C8503DE6-1212-52BF-C116-313D340A77B5}"/>
              </a:ext>
            </a:extLst>
          </p:cNvPr>
          <p:cNvSpPr/>
          <p:nvPr/>
        </p:nvSpPr>
        <p:spPr>
          <a:xfrm>
            <a:off x="6703073" y="4387372"/>
            <a:ext cx="5074920" cy="621792"/>
          </a:xfrm>
          <a:prstGeom prst="rect">
            <a:avLst/>
          </a:prstGeom>
          <a:noFill/>
          <a:ln/>
        </p:spPr>
        <p:txBody>
          <a:bodyPr wrap="square" lIns="0" tIns="0" rIns="0" bIns="0" rtlCol="0" anchor="t"/>
          <a:lstStyle/>
          <a:p>
            <a:pPr marL="0" indent="0">
              <a:lnSpc>
                <a:spcPct val="110000"/>
              </a:lnSpc>
              <a:buNone/>
            </a:pPr>
            <a:r>
              <a:rPr lang="en-US" sz="1200" dirty="0">
                <a:solidFill>
                  <a:srgbClr val="33527E"/>
                </a:solidFill>
                <a:latin typeface="+mj-lt"/>
                <a:ea typeface="Arial" pitchFamily="34" charset="-122"/>
                <a:cs typeface="Arial" pitchFamily="34" charset="-120"/>
              </a:rPr>
              <a:t>Built on more than 35 years of experience in government-grade, mission-critical deployments.</a:t>
            </a:r>
          </a:p>
        </p:txBody>
      </p:sp>
      <p:sp>
        <p:nvSpPr>
          <p:cNvPr id="39" name="Shape 30">
            <a:extLst>
              <a:ext uri="{FF2B5EF4-FFF2-40B4-BE49-F238E27FC236}">
                <a16:creationId xmlns:a16="http://schemas.microsoft.com/office/drawing/2014/main" id="{82FF4BD9-AE6E-5199-1ECC-09CD60CAF8F3}"/>
              </a:ext>
            </a:extLst>
          </p:cNvPr>
          <p:cNvSpPr/>
          <p:nvPr/>
        </p:nvSpPr>
        <p:spPr>
          <a:xfrm>
            <a:off x="6062993" y="5027452"/>
            <a:ext cx="457200" cy="457200"/>
          </a:xfrm>
          <a:prstGeom prst="ellipse">
            <a:avLst/>
          </a:prstGeom>
          <a:solidFill>
            <a:srgbClr val="FFFFFF"/>
          </a:solidFill>
          <a:ln w="15875">
            <a:solidFill>
              <a:srgbClr val="C9A85C"/>
            </a:solidFill>
            <a:prstDash val="solid"/>
          </a:ln>
        </p:spPr>
        <p:txBody>
          <a:bodyPr/>
          <a:lstStyle/>
          <a:p>
            <a:endParaRPr lang="en-SG">
              <a:latin typeface="+mj-lt"/>
            </a:endParaRPr>
          </a:p>
        </p:txBody>
      </p:sp>
      <p:pic>
        <p:nvPicPr>
          <p:cNvPr id="41" name="Image 5" descr="preencoded.png">
            <a:extLst>
              <a:ext uri="{FF2B5EF4-FFF2-40B4-BE49-F238E27FC236}">
                <a16:creationId xmlns:a16="http://schemas.microsoft.com/office/drawing/2014/main" id="{02E34A04-FF8A-7246-0FA3-DC1C970C2F86}"/>
              </a:ext>
            </a:extLst>
          </p:cNvPr>
          <p:cNvPicPr>
            <a:picLocks noChangeAspect="1"/>
          </p:cNvPicPr>
          <p:nvPr/>
        </p:nvPicPr>
        <p:blipFill>
          <a:blip r:embed="rId9"/>
          <a:stretch>
            <a:fillRect/>
          </a:stretch>
        </p:blipFill>
        <p:spPr>
          <a:xfrm>
            <a:off x="6191009" y="5155468"/>
            <a:ext cx="201168" cy="201168"/>
          </a:xfrm>
          <a:prstGeom prst="rect">
            <a:avLst/>
          </a:prstGeom>
        </p:spPr>
      </p:pic>
      <p:sp>
        <p:nvSpPr>
          <p:cNvPr id="43" name="Text 31">
            <a:extLst>
              <a:ext uri="{FF2B5EF4-FFF2-40B4-BE49-F238E27FC236}">
                <a16:creationId xmlns:a16="http://schemas.microsoft.com/office/drawing/2014/main" id="{291E6736-4A7C-155E-F18F-00BD492553FF}"/>
              </a:ext>
            </a:extLst>
          </p:cNvPr>
          <p:cNvSpPr/>
          <p:nvPr/>
        </p:nvSpPr>
        <p:spPr>
          <a:xfrm>
            <a:off x="6703073" y="4972588"/>
            <a:ext cx="5074920" cy="274320"/>
          </a:xfrm>
          <a:prstGeom prst="rect">
            <a:avLst/>
          </a:prstGeom>
          <a:noFill/>
          <a:ln/>
        </p:spPr>
        <p:txBody>
          <a:bodyPr wrap="square" lIns="0" tIns="0" rIns="0" bIns="0" rtlCol="0" anchor="ctr"/>
          <a:lstStyle/>
          <a:p>
            <a:pPr marL="0" indent="0">
              <a:buNone/>
            </a:pPr>
            <a:r>
              <a:rPr lang="en-US" sz="1400" b="1" dirty="0">
                <a:solidFill>
                  <a:srgbClr val="0D2E6E"/>
                </a:solidFill>
                <a:latin typeface="+mj-lt"/>
                <a:ea typeface="Arial" pitchFamily="34" charset="-122"/>
                <a:cs typeface="Arial" pitchFamily="34" charset="-120"/>
              </a:rPr>
              <a:t>Designed for lifecycle scale</a:t>
            </a:r>
            <a:endParaRPr lang="en-US" sz="1400" dirty="0">
              <a:latin typeface="+mj-lt"/>
            </a:endParaRPr>
          </a:p>
        </p:txBody>
      </p:sp>
      <p:sp>
        <p:nvSpPr>
          <p:cNvPr id="75" name="Text 32">
            <a:extLst>
              <a:ext uri="{FF2B5EF4-FFF2-40B4-BE49-F238E27FC236}">
                <a16:creationId xmlns:a16="http://schemas.microsoft.com/office/drawing/2014/main" id="{F72838AC-D3A7-3713-B686-A3BFB2C56297}"/>
              </a:ext>
            </a:extLst>
          </p:cNvPr>
          <p:cNvSpPr/>
          <p:nvPr/>
        </p:nvSpPr>
        <p:spPr>
          <a:xfrm>
            <a:off x="6703073" y="5246908"/>
            <a:ext cx="5074920" cy="475488"/>
          </a:xfrm>
          <a:prstGeom prst="rect">
            <a:avLst/>
          </a:prstGeom>
          <a:noFill/>
          <a:ln/>
        </p:spPr>
        <p:txBody>
          <a:bodyPr wrap="square" lIns="0" tIns="0" rIns="0" bIns="0" rtlCol="0" anchor="t"/>
          <a:lstStyle/>
          <a:p>
            <a:pPr marL="0" indent="0">
              <a:lnSpc>
                <a:spcPct val="110000"/>
              </a:lnSpc>
              <a:buNone/>
            </a:pPr>
            <a:r>
              <a:rPr lang="en-US" sz="1200" dirty="0">
                <a:solidFill>
                  <a:srgbClr val="33527E"/>
                </a:solidFill>
                <a:latin typeface="+mj-lt"/>
                <a:ea typeface="Arial" pitchFamily="34" charset="-122"/>
                <a:cs typeface="Arial" pitchFamily="34" charset="-120"/>
              </a:rPr>
              <a:t>Airport engineering, systems integration and support within one delivery model.</a:t>
            </a:r>
          </a:p>
        </p:txBody>
      </p:sp>
    </p:spTree>
    <p:extLst>
      <p:ext uri="{BB962C8B-B14F-4D97-AF65-F5344CB8AC3E}">
        <p14:creationId xmlns:p14="http://schemas.microsoft.com/office/powerpoint/2010/main" val="2871290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4AA19-686C-C033-0A8E-AE42DD11F979}"/>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983274BF-94DF-4867-6950-6BC53C51A419}"/>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3" name="Picture 2" descr="A white background with curves&#10;&#10;AI-generated content may be incorrect.">
            <a:extLst>
              <a:ext uri="{FF2B5EF4-FFF2-40B4-BE49-F238E27FC236}">
                <a16:creationId xmlns:a16="http://schemas.microsoft.com/office/drawing/2014/main" id="{D69FC2FC-87D1-6FEE-577B-7B52AAFEE737}"/>
              </a:ext>
            </a:extLst>
          </p:cNvPr>
          <p:cNvPicPr>
            <a:picLocks noChangeAspect="1"/>
          </p:cNvPicPr>
          <p:nvPr/>
        </p:nvPicPr>
        <p:blipFill>
          <a:blip r:embed="rId3"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94EFAB96-084F-65C0-474A-205C64DD45D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DC95D92-E130-3128-C0CA-CD0EE2ACFE1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394C5A8D-E2EA-6FC1-E0DA-8F8AA9E974B5}"/>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9" name="Slide Number Placeholder 4">
            <a:extLst>
              <a:ext uri="{FF2B5EF4-FFF2-40B4-BE49-F238E27FC236}">
                <a16:creationId xmlns:a16="http://schemas.microsoft.com/office/drawing/2014/main" id="{B2F561AF-E4C9-A97A-BE17-428D56105F44}"/>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25</a:t>
            </a:fld>
            <a:r>
              <a:rPr lang="en-US" sz="1200">
                <a:latin typeface="+mj-lt"/>
              </a:rPr>
              <a:t>   | </a:t>
            </a:r>
          </a:p>
        </p:txBody>
      </p:sp>
      <p:sp>
        <p:nvSpPr>
          <p:cNvPr id="11" name="Title 4">
            <a:extLst>
              <a:ext uri="{FF2B5EF4-FFF2-40B4-BE49-F238E27FC236}">
                <a16:creationId xmlns:a16="http://schemas.microsoft.com/office/drawing/2014/main" id="{CD08DA59-CBCF-3E46-EBD6-C06BFC43AF8B}"/>
              </a:ext>
            </a:extLst>
          </p:cNvPr>
          <p:cNvSpPr txBox="1">
            <a:spLocks/>
          </p:cNvSpPr>
          <p:nvPr/>
        </p:nvSpPr>
        <p:spPr>
          <a:xfrm>
            <a:off x="343779" y="800366"/>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The future of trusted travel should feel effortless.</a:t>
            </a:r>
            <a:endParaRPr lang="en-US" dirty="0">
              <a:latin typeface="+mj-lt"/>
            </a:endParaRPr>
          </a:p>
        </p:txBody>
      </p:sp>
      <p:sp>
        <p:nvSpPr>
          <p:cNvPr id="12" name="TextBox 25">
            <a:extLst>
              <a:ext uri="{FF2B5EF4-FFF2-40B4-BE49-F238E27FC236}">
                <a16:creationId xmlns:a16="http://schemas.microsoft.com/office/drawing/2014/main" id="{4BAD7E28-859C-B3F9-B54C-3476B1790016}"/>
              </a:ext>
            </a:extLst>
          </p:cNvPr>
          <p:cNvSpPr txBox="1"/>
          <p:nvPr/>
        </p:nvSpPr>
        <p:spPr>
          <a:xfrm>
            <a:off x="343779" y="563652"/>
            <a:ext cx="1132041" cy="338554"/>
          </a:xfrm>
          <a:prstGeom prst="rect">
            <a:avLst/>
          </a:prstGeom>
          <a:noFill/>
        </p:spPr>
        <p:txBody>
          <a:bodyPr wrap="non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defRPr/>
            </a:pPr>
            <a:r>
              <a:rPr lang="en-US" sz="1600">
                <a:solidFill>
                  <a:srgbClr val="E30613"/>
                </a:solidFill>
                <a:latin typeface="+mj-lt"/>
              </a:rPr>
              <a:t>Conclusion</a:t>
            </a:r>
          </a:p>
        </p:txBody>
      </p:sp>
      <p:pic>
        <p:nvPicPr>
          <p:cNvPr id="16" name="Image 0" descr="preencoded.png">
            <a:extLst>
              <a:ext uri="{FF2B5EF4-FFF2-40B4-BE49-F238E27FC236}">
                <a16:creationId xmlns:a16="http://schemas.microsoft.com/office/drawing/2014/main" id="{B1790D50-4B2D-5A7A-C975-B49B233059D0}"/>
              </a:ext>
            </a:extLst>
          </p:cNvPr>
          <p:cNvPicPr>
            <a:picLocks noChangeAspect="1"/>
          </p:cNvPicPr>
          <p:nvPr/>
        </p:nvPicPr>
        <p:blipFill>
          <a:blip r:embed="rId5"/>
          <a:stretch>
            <a:fillRect/>
          </a:stretch>
        </p:blipFill>
        <p:spPr>
          <a:xfrm>
            <a:off x="10169729" y="2376871"/>
            <a:ext cx="512064" cy="512064"/>
          </a:xfrm>
          <a:prstGeom prst="rect">
            <a:avLst/>
          </a:prstGeom>
        </p:spPr>
      </p:pic>
      <p:sp>
        <p:nvSpPr>
          <p:cNvPr id="17" name="Text 1">
            <a:extLst>
              <a:ext uri="{FF2B5EF4-FFF2-40B4-BE49-F238E27FC236}">
                <a16:creationId xmlns:a16="http://schemas.microsoft.com/office/drawing/2014/main" id="{E5921F9B-975F-1830-F155-DD24F57D15A9}"/>
              </a:ext>
            </a:extLst>
          </p:cNvPr>
          <p:cNvSpPr/>
          <p:nvPr/>
        </p:nvSpPr>
        <p:spPr>
          <a:xfrm>
            <a:off x="8583062" y="2520258"/>
            <a:ext cx="3566412" cy="2754902"/>
          </a:xfrm>
          <a:prstGeom prst="rect">
            <a:avLst/>
          </a:prstGeom>
          <a:noFill/>
          <a:ln/>
        </p:spPr>
        <p:txBody>
          <a:bodyPr wrap="square" lIns="0" tIns="0" rIns="0" bIns="0" rtlCol="0" anchor="ctr"/>
          <a:lstStyle/>
          <a:p>
            <a:pPr marL="0" indent="0" algn="ctr">
              <a:lnSpc>
                <a:spcPct val="122000"/>
              </a:lnSpc>
              <a:buNone/>
            </a:pPr>
            <a:r>
              <a:rPr lang="en-US" sz="1400" b="1" dirty="0">
                <a:solidFill>
                  <a:srgbClr val="00205B"/>
                </a:solidFill>
                <a:latin typeface="+mj-lt"/>
                <a:ea typeface="Arial" pitchFamily="34" charset="-122"/>
                <a:cs typeface="Arial" pitchFamily="34" charset="-120"/>
              </a:rPr>
              <a:t>Fewer intentional stops for eligible travellers.</a:t>
            </a:r>
          </a:p>
          <a:p>
            <a:pPr marL="0" indent="0" algn="ctr">
              <a:lnSpc>
                <a:spcPct val="122000"/>
              </a:lnSpc>
              <a:buNone/>
            </a:pPr>
            <a:r>
              <a:rPr lang="en-US" sz="1400" b="1" dirty="0">
                <a:solidFill>
                  <a:srgbClr val="00205B"/>
                </a:solidFill>
                <a:latin typeface="+mj-lt"/>
                <a:ea typeface="Arial" pitchFamily="34" charset="-122"/>
                <a:cs typeface="Arial" pitchFamily="34" charset="-120"/>
              </a:rPr>
              <a:t>
Real-time visibility and control for operators.</a:t>
            </a:r>
          </a:p>
          <a:p>
            <a:pPr marL="0" indent="0" algn="ctr">
              <a:lnSpc>
                <a:spcPct val="122000"/>
              </a:lnSpc>
              <a:buNone/>
            </a:pPr>
            <a:r>
              <a:rPr lang="en-US" sz="1400" b="1" dirty="0">
                <a:solidFill>
                  <a:srgbClr val="00205B"/>
                </a:solidFill>
                <a:latin typeface="+mj-lt"/>
                <a:ea typeface="Arial" pitchFamily="34" charset="-122"/>
                <a:cs typeface="Arial" pitchFamily="34" charset="-120"/>
              </a:rPr>
              <a:t>
</a:t>
            </a:r>
            <a:r>
              <a:rPr lang="en-US" sz="1400" b="1" dirty="0">
                <a:solidFill>
                  <a:srgbClr val="B8933A"/>
                </a:solidFill>
                <a:latin typeface="+mj-lt"/>
                <a:ea typeface="Arial" pitchFamily="34" charset="-122"/>
                <a:cs typeface="Arial" pitchFamily="34" charset="-120"/>
              </a:rPr>
              <a:t>Improved passenger flow without compromising required security controls.</a:t>
            </a:r>
            <a:endParaRPr lang="en-US" sz="1400" dirty="0">
              <a:latin typeface="+mj-lt"/>
            </a:endParaRPr>
          </a:p>
        </p:txBody>
      </p:sp>
      <p:grpSp>
        <p:nvGrpSpPr>
          <p:cNvPr id="25" name="Group 24">
            <a:extLst>
              <a:ext uri="{FF2B5EF4-FFF2-40B4-BE49-F238E27FC236}">
                <a16:creationId xmlns:a16="http://schemas.microsoft.com/office/drawing/2014/main" id="{F085429D-B94F-28A0-622E-0A1D0C0F16C7}"/>
              </a:ext>
            </a:extLst>
          </p:cNvPr>
          <p:cNvGrpSpPr/>
          <p:nvPr/>
        </p:nvGrpSpPr>
        <p:grpSpPr>
          <a:xfrm>
            <a:off x="822521" y="1309399"/>
            <a:ext cx="7794175" cy="5400000"/>
            <a:chOff x="886529" y="1309399"/>
            <a:chExt cx="7794175" cy="5400000"/>
          </a:xfrm>
        </p:grpSpPr>
        <p:pic>
          <p:nvPicPr>
            <p:cNvPr id="20" name="Picture 19">
              <a:extLst>
                <a:ext uri="{FF2B5EF4-FFF2-40B4-BE49-F238E27FC236}">
                  <a16:creationId xmlns:a16="http://schemas.microsoft.com/office/drawing/2014/main" id="{4E20C010-EC03-A4FD-038F-82A87D929B01}"/>
                </a:ext>
              </a:extLst>
            </p:cNvPr>
            <p:cNvPicPr>
              <a:picLocks noChangeAspect="1"/>
            </p:cNvPicPr>
            <p:nvPr/>
          </p:nvPicPr>
          <p:blipFill>
            <a:blip r:embed="rId6"/>
            <a:stretch>
              <a:fillRect/>
            </a:stretch>
          </p:blipFill>
          <p:spPr>
            <a:xfrm>
              <a:off x="886529" y="1309399"/>
              <a:ext cx="7794175" cy="5400000"/>
            </a:xfrm>
            <a:prstGeom prst="rect">
              <a:avLst/>
            </a:prstGeom>
          </p:spPr>
        </p:pic>
        <p:pic>
          <p:nvPicPr>
            <p:cNvPr id="22" name="Picture 21">
              <a:extLst>
                <a:ext uri="{FF2B5EF4-FFF2-40B4-BE49-F238E27FC236}">
                  <a16:creationId xmlns:a16="http://schemas.microsoft.com/office/drawing/2014/main" id="{124CE8AF-2604-474C-E65B-E83E8E029DAA}"/>
                </a:ext>
              </a:extLst>
            </p:cNvPr>
            <p:cNvPicPr>
              <a:picLocks noChangeAspect="1"/>
            </p:cNvPicPr>
            <p:nvPr/>
          </p:nvPicPr>
          <p:blipFill>
            <a:blip r:embed="rId7"/>
            <a:stretch>
              <a:fillRect/>
            </a:stretch>
          </p:blipFill>
          <p:spPr>
            <a:xfrm>
              <a:off x="3615330" y="2984741"/>
              <a:ext cx="2397281" cy="1718939"/>
            </a:xfrm>
            <a:prstGeom prst="rect">
              <a:avLst/>
            </a:prstGeom>
          </p:spPr>
        </p:pic>
      </p:grpSp>
    </p:spTree>
    <p:extLst>
      <p:ext uri="{BB962C8B-B14F-4D97-AF65-F5344CB8AC3E}">
        <p14:creationId xmlns:p14="http://schemas.microsoft.com/office/powerpoint/2010/main" val="2036276134"/>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FE65ED44-8DB6-2EDB-4B82-1C229A16857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470E9D31-D6F7-78B8-9431-3883A953BBF5}"/>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C8DDC2E7-0D46-BEDA-B896-5B1FCC7901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4EC15D4-BE5A-757F-6B02-21351CCBF4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79BB7842-812C-2F3E-B647-1A88F1D3999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8" name="Slide Number Placeholder 4">
            <a:extLst>
              <a:ext uri="{FF2B5EF4-FFF2-40B4-BE49-F238E27FC236}">
                <a16:creationId xmlns:a16="http://schemas.microsoft.com/office/drawing/2014/main" id="{D71C6F89-DFED-26E4-3ABC-C9625EF18DBF}"/>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3</a:t>
            </a:fld>
            <a:r>
              <a:rPr lang="en-US" sz="1200">
                <a:latin typeface="+mj-lt"/>
              </a:rPr>
              <a:t>   | </a:t>
            </a:r>
          </a:p>
        </p:txBody>
      </p:sp>
      <p:sp>
        <p:nvSpPr>
          <p:cNvPr id="9" name="Title 4">
            <a:extLst>
              <a:ext uri="{FF2B5EF4-FFF2-40B4-BE49-F238E27FC236}">
                <a16:creationId xmlns:a16="http://schemas.microsoft.com/office/drawing/2014/main" id="{08F212A0-0828-8963-EA3E-E0EDF089EC8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One identity, from kerb to gate</a:t>
            </a:r>
          </a:p>
        </p:txBody>
      </p:sp>
      <p:sp>
        <p:nvSpPr>
          <p:cNvPr id="10" name="TextBox 25">
            <a:extLst>
              <a:ext uri="{FF2B5EF4-FFF2-40B4-BE49-F238E27FC236}">
                <a16:creationId xmlns:a16="http://schemas.microsoft.com/office/drawing/2014/main" id="{7C05267D-674B-7BAD-3DAC-A5B6FDCA3332}"/>
              </a:ext>
            </a:extLst>
          </p:cNvPr>
          <p:cNvSpPr txBox="1"/>
          <p:nvPr/>
        </p:nvSpPr>
        <p:spPr>
          <a:xfrm>
            <a:off x="343779" y="563652"/>
            <a:ext cx="5943600" cy="338554"/>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lgn="l">
              <a:defRPr/>
            </a:pPr>
            <a:r>
              <a:rPr lang="en-US" sz="1600" dirty="0">
                <a:solidFill>
                  <a:srgbClr val="E30613"/>
                </a:solidFill>
                <a:latin typeface="+mj-lt"/>
              </a:rPr>
              <a:t>FastPass Solution – Kerb to Gate</a:t>
            </a:r>
          </a:p>
        </p:txBody>
      </p:sp>
      <p:sp>
        <p:nvSpPr>
          <p:cNvPr id="11" name="Shape 0"/>
          <p:cNvSpPr/>
          <p:nvPr/>
        </p:nvSpPr>
        <p:spPr>
          <a:xfrm>
            <a:off x="3986784" y="1572768"/>
            <a:ext cx="7656271" cy="2267712"/>
          </a:xfrm>
          <a:prstGeom prst="roundRect">
            <a:avLst>
              <a:gd name="adj" fmla="val 6452"/>
            </a:avLst>
          </a:prstGeom>
          <a:solidFill>
            <a:srgbClr val="FFFFFF">
              <a:alpha val="70000"/>
            </a:srgbClr>
          </a:solidFill>
          <a:ln w="12700">
            <a:solidFill>
              <a:srgbClr val="FFFFFF"/>
            </a:solidFill>
            <a:prstDash val="solid"/>
          </a:ln>
          <a:effectLst>
            <a:outerShdw sx="100000" sy="100000" kx="0" ky="0" algn="bl" rotWithShape="0" blurRad="177800" dist="38100" dir="5400000">
              <a:srgbClr val="0A1628">
                <a:alpha val="12000"/>
              </a:srgbClr>
            </a:outerShdw>
          </a:effectLst>
        </p:spPr>
      </p:sp>
      <p:pic>
        <p:nvPicPr>
          <p:cNvPr id="12" name="Kerb-to-gate journey map" descr="/tmp/claude-0/-home-user-sgqy/b70fb111-7300-56ba-abe4-4b6e17d8c33e/scratchpad/journey/sf_pearl.png">    </p:cNvPr>
          <p:cNvPicPr>
            <a:picLocks noChangeAspect="1"/>
          </p:cNvPicPr>
          <p:nvPr/>
        </p:nvPicPr>
        <p:blipFill>
          <a:blip r:embed="rId4"/>
          <a:stretch>
            <a:fillRect/>
          </a:stretch>
        </p:blipFill>
        <p:spPr>
          <a:xfrm>
            <a:off x="4004615" y="-25603"/>
            <a:ext cx="7315017" cy="4114800"/>
          </a:xfrm>
          <a:prstGeom prst="rect">
            <a:avLst/>
          </a:prstGeom>
        </p:spPr>
      </p:pic>
      <p:sp>
        <p:nvSpPr>
          <p:cNvPr id="13" name="Shape 1"/>
          <p:cNvSpPr/>
          <p:nvPr/>
        </p:nvSpPr>
        <p:spPr>
          <a:xfrm>
            <a:off x="4917186" y="2819278"/>
            <a:ext cx="402336" cy="402336"/>
          </a:xfrm>
          <a:prstGeom prst="ellipse">
            <a:avLst/>
          </a:prstGeom>
          <a:solidFill>
            <a:srgbClr val="0B84AE">
              <a:alpha val="20000"/>
            </a:srgbClr>
          </a:solidFill>
          <a:ln/>
        </p:spPr>
      </p:sp>
      <p:sp>
        <p:nvSpPr>
          <p:cNvPr id="14" name="Shape 2"/>
          <p:cNvSpPr/>
          <p:nvPr/>
        </p:nvSpPr>
        <p:spPr>
          <a:xfrm>
            <a:off x="4990338" y="2892430"/>
            <a:ext cx="256032" cy="256032"/>
          </a:xfrm>
          <a:prstGeom prst="ellipse">
            <a:avLst/>
          </a:prstGeom>
          <a:solidFill>
            <a:srgbClr val="0B84AE"/>
          </a:solidFill>
          <a:ln w="15875">
            <a:solidFill>
              <a:srgbClr val="FFFFFF"/>
            </a:solidFill>
            <a:prstDash val="solid"/>
          </a:ln>
        </p:spPr>
      </p:sp>
      <p:sp>
        <p:nvSpPr>
          <p:cNvPr id="15" name="Text 3"/>
          <p:cNvSpPr txBox="1"/>
          <p:nvPr/>
        </p:nvSpPr>
        <p:spPr>
          <a:xfrm>
            <a:off x="4990338" y="289243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6" name="Shape 4"/>
          <p:cNvSpPr/>
          <p:nvPr/>
        </p:nvSpPr>
        <p:spPr>
          <a:xfrm>
            <a:off x="6758422" y="1898660"/>
            <a:ext cx="402336" cy="402336"/>
          </a:xfrm>
          <a:prstGeom prst="ellipse">
            <a:avLst/>
          </a:prstGeom>
          <a:solidFill>
            <a:srgbClr val="0B84AE">
              <a:alpha val="20000"/>
            </a:srgbClr>
          </a:solidFill>
          <a:ln/>
        </p:spPr>
      </p:sp>
      <p:sp>
        <p:nvSpPr>
          <p:cNvPr id="17" name="Shape 5"/>
          <p:cNvSpPr/>
          <p:nvPr/>
        </p:nvSpPr>
        <p:spPr>
          <a:xfrm>
            <a:off x="6831574" y="1971812"/>
            <a:ext cx="256032" cy="256032"/>
          </a:xfrm>
          <a:prstGeom prst="ellipse">
            <a:avLst/>
          </a:prstGeom>
          <a:solidFill>
            <a:srgbClr val="0B84AE"/>
          </a:solidFill>
          <a:ln w="15875">
            <a:solidFill>
              <a:srgbClr val="FFFFFF"/>
            </a:solidFill>
            <a:prstDash val="solid"/>
          </a:ln>
        </p:spPr>
      </p:sp>
      <p:sp>
        <p:nvSpPr>
          <p:cNvPr id="18" name="Text 6"/>
          <p:cNvSpPr txBox="1"/>
          <p:nvPr/>
        </p:nvSpPr>
        <p:spPr>
          <a:xfrm>
            <a:off x="6831574" y="19718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9" name="Shape 7"/>
          <p:cNvSpPr/>
          <p:nvPr/>
        </p:nvSpPr>
        <p:spPr>
          <a:xfrm>
            <a:off x="7727869" y="2220163"/>
            <a:ext cx="402336" cy="402336"/>
          </a:xfrm>
          <a:prstGeom prst="ellipse">
            <a:avLst/>
          </a:prstGeom>
          <a:solidFill>
            <a:srgbClr val="0B84AE">
              <a:alpha val="20000"/>
            </a:srgbClr>
          </a:solidFill>
          <a:ln/>
        </p:spPr>
      </p:sp>
      <p:sp>
        <p:nvSpPr>
          <p:cNvPr id="20" name="Shape 8"/>
          <p:cNvSpPr/>
          <p:nvPr/>
        </p:nvSpPr>
        <p:spPr>
          <a:xfrm>
            <a:off x="7801021" y="2293315"/>
            <a:ext cx="256032" cy="256032"/>
          </a:xfrm>
          <a:prstGeom prst="ellipse">
            <a:avLst/>
          </a:prstGeom>
          <a:solidFill>
            <a:srgbClr val="0B84AE"/>
          </a:solidFill>
          <a:ln w="15875">
            <a:solidFill>
              <a:srgbClr val="FFFFFF"/>
            </a:solidFill>
            <a:prstDash val="solid"/>
          </a:ln>
        </p:spPr>
      </p:sp>
      <p:sp>
        <p:nvSpPr>
          <p:cNvPr id="21" name="Text 9"/>
          <p:cNvSpPr txBox="1"/>
          <p:nvPr/>
        </p:nvSpPr>
        <p:spPr>
          <a:xfrm>
            <a:off x="7801021" y="2293315"/>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2" name="Shape 10"/>
          <p:cNvSpPr/>
          <p:nvPr/>
        </p:nvSpPr>
        <p:spPr>
          <a:xfrm>
            <a:off x="9132936" y="2922971"/>
            <a:ext cx="402336" cy="402336"/>
          </a:xfrm>
          <a:prstGeom prst="ellipse">
            <a:avLst/>
          </a:prstGeom>
          <a:solidFill>
            <a:srgbClr val="0B84AE">
              <a:alpha val="20000"/>
            </a:srgbClr>
          </a:solidFill>
          <a:ln/>
        </p:spPr>
      </p:sp>
      <p:sp>
        <p:nvSpPr>
          <p:cNvPr id="23" name="Shape 11"/>
          <p:cNvSpPr/>
          <p:nvPr/>
        </p:nvSpPr>
        <p:spPr>
          <a:xfrm>
            <a:off x="9206088" y="2996123"/>
            <a:ext cx="256032" cy="256032"/>
          </a:xfrm>
          <a:prstGeom prst="ellipse">
            <a:avLst/>
          </a:prstGeom>
          <a:solidFill>
            <a:srgbClr val="0B84AE"/>
          </a:solidFill>
          <a:ln w="15875">
            <a:solidFill>
              <a:srgbClr val="FFFFFF"/>
            </a:solidFill>
            <a:prstDash val="solid"/>
          </a:ln>
        </p:spPr>
      </p:sp>
      <p:sp>
        <p:nvSpPr>
          <p:cNvPr id="24" name="Text 12"/>
          <p:cNvSpPr txBox="1"/>
          <p:nvPr/>
        </p:nvSpPr>
        <p:spPr>
          <a:xfrm>
            <a:off x="9206088" y="2996123"/>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5" name="Shape 13"/>
          <p:cNvSpPr/>
          <p:nvPr/>
        </p:nvSpPr>
        <p:spPr>
          <a:xfrm>
            <a:off x="6933438" y="3132552"/>
            <a:ext cx="402336" cy="402336"/>
          </a:xfrm>
          <a:prstGeom prst="ellipse">
            <a:avLst/>
          </a:prstGeom>
          <a:solidFill>
            <a:srgbClr val="0B84AE">
              <a:alpha val="20000"/>
            </a:srgbClr>
          </a:solidFill>
          <a:ln/>
        </p:spPr>
      </p:sp>
      <p:sp>
        <p:nvSpPr>
          <p:cNvPr id="26" name="Shape 14"/>
          <p:cNvSpPr/>
          <p:nvPr/>
        </p:nvSpPr>
        <p:spPr>
          <a:xfrm>
            <a:off x="7006590" y="3205704"/>
            <a:ext cx="256032" cy="256032"/>
          </a:xfrm>
          <a:prstGeom prst="ellipse">
            <a:avLst/>
          </a:prstGeom>
          <a:solidFill>
            <a:srgbClr val="0B84AE"/>
          </a:solidFill>
          <a:ln w="15875">
            <a:solidFill>
              <a:srgbClr val="FFFFFF"/>
            </a:solidFill>
            <a:prstDash val="solid"/>
          </a:ln>
        </p:spPr>
      </p:sp>
      <p:sp>
        <p:nvSpPr>
          <p:cNvPr id="27" name="Text 15"/>
          <p:cNvSpPr txBox="1"/>
          <p:nvPr/>
        </p:nvSpPr>
        <p:spPr>
          <a:xfrm>
            <a:off x="7006590" y="32057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8" name="Shape 16"/>
          <p:cNvSpPr/>
          <p:nvPr/>
        </p:nvSpPr>
        <p:spPr>
          <a:xfrm>
            <a:off x="8716975" y="1801368"/>
            <a:ext cx="274320" cy="0"/>
          </a:xfrm>
          <a:prstGeom prst="line">
            <a:avLst/>
          </a:prstGeom>
          <a:noFill/>
          <a:ln w="25400">
            <a:solidFill>
              <a:srgbClr val="0B84AE"/>
            </a:solidFill>
            <a:prstDash val="solid"/>
          </a:ln>
        </p:spPr>
      </p:sp>
      <p:sp>
        <p:nvSpPr>
          <p:cNvPr id="29" name="Text 17"/>
          <p:cNvSpPr txBox="1"/>
          <p:nvPr/>
        </p:nvSpPr>
        <p:spPr>
          <a:xfrm>
            <a:off x="9064447" y="1719072"/>
            <a:ext cx="1005840" cy="164592"/>
          </a:xfrm>
          <a:prstGeom prst="rect">
            <a:avLst/>
          </a:prstGeom>
          <a:noFill/>
          <a:ln/>
        </p:spPr>
        <p:txBody>
          <a:bodyPr wrap="square" lIns="0" tIns="0" rIns="0" bIns="0" rtlCol="0" anchor="ctr"/>
          <a:lstStyle/>
          <a:p>
            <a:pPr indent="0" marL="0">
              <a:buNone/>
            </a:pPr>
            <a:r>
              <a:rPr lang="en-US" sz="900" dirty="0">
                <a:solidFill>
                  <a:srgbClr val="4A5870"/>
                </a:solidFill>
              </a:rPr>
              <a:t>Traveller path</a:t>
            </a:r>
            <a:endParaRPr lang="en-US" sz="900" dirty="0"/>
          </a:p>
        </p:txBody>
      </p:sp>
      <p:sp>
        <p:nvSpPr>
          <p:cNvPr id="30" name="Shape 18"/>
          <p:cNvSpPr/>
          <p:nvPr/>
        </p:nvSpPr>
        <p:spPr>
          <a:xfrm>
            <a:off x="10042855" y="1801368"/>
            <a:ext cx="274320" cy="0"/>
          </a:xfrm>
          <a:prstGeom prst="line">
            <a:avLst/>
          </a:prstGeom>
          <a:noFill/>
          <a:ln w="19050">
            <a:solidFill>
              <a:srgbClr val="0B84AE"/>
            </a:solidFill>
            <a:prstDash val="dash"/>
          </a:ln>
        </p:spPr>
      </p:sp>
      <p:sp>
        <p:nvSpPr>
          <p:cNvPr id="31" name="Text 19"/>
          <p:cNvSpPr txBox="1"/>
          <p:nvPr/>
        </p:nvSpPr>
        <p:spPr>
          <a:xfrm>
            <a:off x="10390327" y="1719072"/>
            <a:ext cx="1097280" cy="164592"/>
          </a:xfrm>
          <a:prstGeom prst="rect">
            <a:avLst/>
          </a:prstGeom>
          <a:noFill/>
          <a:ln/>
        </p:spPr>
        <p:txBody>
          <a:bodyPr wrap="square" lIns="0" tIns="0" rIns="0" bIns="0" rtlCol="0" anchor="ctr"/>
          <a:lstStyle/>
          <a:p>
            <a:pPr indent="0" marL="0">
              <a:buNone/>
            </a:pPr>
            <a:r>
              <a:rPr lang="en-US" sz="900" dirty="0">
                <a:solidFill>
                  <a:srgbClr val="4A5870"/>
                </a:solidFill>
              </a:rPr>
              <a:t>ISMP oversight</a:t>
            </a:r>
            <a:endParaRPr lang="en-US" sz="900" dirty="0"/>
          </a:p>
        </p:txBody>
      </p:sp>
      <p:sp>
        <p:nvSpPr>
          <p:cNvPr id="32" name="Shape 20"/>
          <p:cNvSpPr/>
          <p:nvPr/>
        </p:nvSpPr>
        <p:spPr>
          <a:xfrm>
            <a:off x="548640" y="1572768"/>
            <a:ext cx="3291840" cy="2267712"/>
          </a:xfrm>
          <a:prstGeom prst="roundRect">
            <a:avLst>
              <a:gd name="adj" fmla="val 6452"/>
            </a:avLst>
          </a:prstGeom>
          <a:solidFill>
            <a:srgbClr val="FFFFFF"/>
          </a:solidFill>
          <a:ln/>
          <a:effectLst>
            <a:outerShdw sx="100000" sy="100000" kx="0" ky="0" algn="bl" rotWithShape="0" blurRad="177800" dist="38100" dir="5400000">
              <a:srgbClr val="0A1628">
                <a:alpha val="12000"/>
              </a:srgbClr>
            </a:outerShdw>
          </a:effectLst>
        </p:spPr>
      </p:sp>
      <p:pic>
        <p:nvPicPr>
          <p:cNvPr id="33" name="FastPass Mobile App" descr="/tmp/claude-0/-home-user-sgqy/b70fb111-7300-56ba-abe4-4b6e17d8c33e/scratchpad/assets/v7/c1.png">    </p:cNvPr>
          <p:cNvPicPr>
            <a:picLocks noChangeAspect="1"/>
          </p:cNvPicPr>
          <p:nvPr/>
        </p:nvPicPr>
        <p:blipFill>
          <a:blip r:embed="rId5"/>
          <a:stretch>
            <a:fillRect/>
          </a:stretch>
        </p:blipFill>
        <p:spPr>
          <a:xfrm>
            <a:off x="548640" y="1572768"/>
            <a:ext cx="3291840" cy="2267712"/>
          </a:xfrm>
          <a:prstGeom prst="rect">
            <a:avLst/>
          </a:prstGeom>
        </p:spPr>
      </p:pic>
      <p:sp>
        <p:nvSpPr>
          <p:cNvPr id="34" name="Shape 21"/>
          <p:cNvSpPr/>
          <p:nvPr/>
        </p:nvSpPr>
        <p:spPr>
          <a:xfrm>
            <a:off x="548640" y="3986784"/>
            <a:ext cx="2926080" cy="2286000"/>
          </a:xfrm>
          <a:prstGeom prst="roundRect">
            <a:avLst>
              <a:gd name="adj" fmla="val 6400"/>
            </a:avLst>
          </a:prstGeom>
          <a:solidFill>
            <a:srgbClr val="FFFFFF"/>
          </a:solidFill>
          <a:ln/>
          <a:effectLst>
            <a:outerShdw sx="100000" sy="100000" kx="0" ky="0" algn="bl" rotWithShape="0" blurRad="177800" dist="38100" dir="5400000">
              <a:srgbClr val="0A1628">
                <a:alpha val="12000"/>
              </a:srgbClr>
            </a:outerShdw>
          </a:effectLst>
        </p:spPr>
      </p:sp>
      <p:pic>
        <p:nvPicPr>
          <p:cNvPr id="35" name="FastPass Biometric E-Gate" descr="/tmp/claude-0/-home-user-sgqy/b70fb111-7300-56ba-abe4-4b6e17d8c33e/scratchpad/assets/v7/c23.png">    </p:cNvPr>
          <p:cNvPicPr>
            <a:picLocks noChangeAspect="1"/>
          </p:cNvPicPr>
          <p:nvPr/>
        </p:nvPicPr>
        <p:blipFill>
          <a:blip r:embed="rId6"/>
          <a:stretch>
            <a:fillRect/>
          </a:stretch>
        </p:blipFill>
        <p:spPr>
          <a:xfrm>
            <a:off x="548640" y="3986784"/>
            <a:ext cx="2926080" cy="2286000"/>
          </a:xfrm>
          <a:prstGeom prst="rect">
            <a:avLst/>
          </a:prstGeom>
        </p:spPr>
      </p:pic>
      <p:sp>
        <p:nvSpPr>
          <p:cNvPr id="36" name="Shape 22"/>
          <p:cNvSpPr/>
          <p:nvPr/>
        </p:nvSpPr>
        <p:spPr>
          <a:xfrm>
            <a:off x="3621024" y="3986784"/>
            <a:ext cx="2331720" cy="2286000"/>
          </a:xfrm>
          <a:prstGeom prst="roundRect">
            <a:avLst>
              <a:gd name="adj" fmla="val 6400"/>
            </a:avLst>
          </a:prstGeom>
          <a:solidFill>
            <a:srgbClr val="FFFFFF"/>
          </a:solidFill>
          <a:ln/>
          <a:effectLst>
            <a:outerShdw sx="100000" sy="100000" kx="0" ky="0" algn="bl" rotWithShape="0" blurRad="177800" dist="38100" dir="5400000">
              <a:srgbClr val="0A1628">
                <a:alpha val="12000"/>
              </a:srgbClr>
            </a:outerShdw>
          </a:effectLst>
        </p:spPr>
      </p:sp>
      <p:pic>
        <p:nvPicPr>
          <p:cNvPr id="37" name="Nova Plus reader" descr="/tmp/claude-0/-home-user-sgqy/b70fb111-7300-56ba-abe4-4b6e17d8c33e/scratchpad/assets/v7/c4.png">    </p:cNvPr>
          <p:cNvPicPr>
            <a:picLocks noChangeAspect="1"/>
          </p:cNvPicPr>
          <p:nvPr/>
        </p:nvPicPr>
        <p:blipFill>
          <a:blip r:embed="rId7"/>
          <a:stretch>
            <a:fillRect/>
          </a:stretch>
        </p:blipFill>
        <p:spPr>
          <a:xfrm>
            <a:off x="3621024" y="3986784"/>
            <a:ext cx="2331720" cy="2286000"/>
          </a:xfrm>
          <a:prstGeom prst="rect">
            <a:avLst/>
          </a:prstGeom>
        </p:spPr>
      </p:pic>
      <p:sp>
        <p:nvSpPr>
          <p:cNvPr id="38" name="Shape 23"/>
          <p:cNvSpPr/>
          <p:nvPr/>
        </p:nvSpPr>
        <p:spPr>
          <a:xfrm>
            <a:off x="6099048" y="3986784"/>
            <a:ext cx="2331720" cy="2286000"/>
          </a:xfrm>
          <a:prstGeom prst="roundRect">
            <a:avLst>
              <a:gd name="adj" fmla="val 6400"/>
            </a:avLst>
          </a:prstGeom>
          <a:solidFill>
            <a:srgbClr val="FFFFFF"/>
          </a:solidFill>
          <a:ln/>
          <a:effectLst>
            <a:outerShdw sx="100000" sy="100000" kx="0" ky="0" algn="bl" rotWithShape="0" blurRad="177800" dist="38100" dir="5400000">
              <a:srgbClr val="0A1628">
                <a:alpha val="12000"/>
              </a:srgbClr>
            </a:outerShdw>
          </a:effectLst>
        </p:spPr>
      </p:sp>
      <p:pic>
        <p:nvPicPr>
          <p:cNvPr id="39" name="Smart Boarding Kiosk" descr="/tmp/claude-0/-home-user-sgqy/b70fb111-7300-56ba-abe4-4b6e17d8c33e/scratchpad/assets/v7/c5.png">    </p:cNvPr>
          <p:cNvPicPr>
            <a:picLocks noChangeAspect="1"/>
          </p:cNvPicPr>
          <p:nvPr/>
        </p:nvPicPr>
        <p:blipFill>
          <a:blip r:embed="rId8"/>
          <a:stretch>
            <a:fillRect/>
          </a:stretch>
        </p:blipFill>
        <p:spPr>
          <a:xfrm>
            <a:off x="6099048" y="3986784"/>
            <a:ext cx="2331720" cy="2286000"/>
          </a:xfrm>
          <a:prstGeom prst="rect">
            <a:avLst/>
          </a:prstGeom>
        </p:spPr>
      </p:pic>
      <p:sp>
        <p:nvSpPr>
          <p:cNvPr id="40" name="Shape 24"/>
          <p:cNvSpPr/>
          <p:nvPr/>
        </p:nvSpPr>
        <p:spPr>
          <a:xfrm>
            <a:off x="8577072" y="3986784"/>
            <a:ext cx="3065983" cy="2286000"/>
          </a:xfrm>
          <a:prstGeom prst="roundRect">
            <a:avLst>
              <a:gd name="adj" fmla="val 6400"/>
            </a:avLst>
          </a:prstGeom>
          <a:solidFill>
            <a:srgbClr val="FFFFFF"/>
          </a:solidFill>
          <a:ln/>
          <a:effectLst>
            <a:outerShdw sx="100000" sy="100000" kx="0" ky="0" algn="bl" rotWithShape="0" blurRad="177800" dist="38100" dir="5400000">
              <a:srgbClr val="0A1628">
                <a:alpha val="12000"/>
              </a:srgbClr>
            </a:outerShdw>
          </a:effectLst>
        </p:spPr>
      </p:sp>
      <p:pic>
        <p:nvPicPr>
          <p:cNvPr id="41" name="AGIL Secure ISMP" descr="/tmp/claude-0/-home-user-sgqy/b70fb111-7300-56ba-abe4-4b6e17d8c33e/scratchpad/assets/v7/c6.png">    </p:cNvPr>
          <p:cNvPicPr>
            <a:picLocks noChangeAspect="1"/>
          </p:cNvPicPr>
          <p:nvPr/>
        </p:nvPicPr>
        <p:blipFill>
          <a:blip r:embed="rId9"/>
          <a:stretch>
            <a:fillRect/>
          </a:stretch>
        </p:blipFill>
        <p:spPr>
          <a:xfrm>
            <a:off x="8577072" y="3986784"/>
            <a:ext cx="3065983" cy="2286000"/>
          </a:xfrm>
          <a:prstGeom prst="rect">
            <a:avLst/>
          </a:prstGeom>
        </p:spPr>
      </p:pic>
      <p:sp>
        <p:nvSpPr>
          <p:cNvPr id="42" name="Shape 25"/>
          <p:cNvSpPr/>
          <p:nvPr/>
        </p:nvSpPr>
        <p:spPr>
          <a:xfrm>
            <a:off x="658368" y="1682496"/>
            <a:ext cx="2306570" cy="822960"/>
          </a:xfrm>
          <a:prstGeom prst="roundRect">
            <a:avLst>
              <a:gd name="adj" fmla="val 11111"/>
            </a:avLst>
          </a:prstGeom>
          <a:solidFill>
            <a:srgbClr val="FFFFFF">
              <a:alpha val="94000"/>
            </a:srgbClr>
          </a:solidFill>
          <a:ln/>
          <a:effectLst>
            <a:outerShdw sx="100000" sy="100000" kx="0" ky="0" algn="bl" rotWithShape="0" blurRad="177800" dist="38100" dir="5400000">
              <a:srgbClr val="0A1628">
                <a:alpha val="12000"/>
              </a:srgbClr>
            </a:outerShdw>
          </a:effectLst>
        </p:spPr>
      </p:sp>
      <p:sp>
        <p:nvSpPr>
          <p:cNvPr id="43" name="Shape 26"/>
          <p:cNvSpPr/>
          <p:nvPr/>
        </p:nvSpPr>
        <p:spPr>
          <a:xfrm>
            <a:off x="768096" y="1764792"/>
            <a:ext cx="237744" cy="237744"/>
          </a:xfrm>
          <a:prstGeom prst="ellipse">
            <a:avLst/>
          </a:prstGeom>
          <a:solidFill>
            <a:srgbClr val="0B84AE"/>
          </a:solidFill>
          <a:ln/>
        </p:spPr>
      </p:sp>
      <p:sp>
        <p:nvSpPr>
          <p:cNvPr id="44" name="Text 27"/>
          <p:cNvSpPr txBox="1"/>
          <p:nvPr/>
        </p:nvSpPr>
        <p:spPr>
          <a:xfrm>
            <a:off x="768096" y="17647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45" name="Text 28"/>
          <p:cNvSpPr txBox="1"/>
          <p:nvPr/>
        </p:nvSpPr>
        <p:spPr>
          <a:xfrm>
            <a:off x="1097280" y="1737360"/>
            <a:ext cx="1867658" cy="292608"/>
          </a:xfrm>
          <a:prstGeom prst="rect">
            <a:avLst/>
          </a:prstGeom>
          <a:noFill/>
          <a:ln/>
        </p:spPr>
        <p:txBody>
          <a:bodyPr wrap="square" lIns="0" tIns="0" rIns="0" bIns="0" rtlCol="0" anchor="ctr"/>
          <a:lstStyle/>
          <a:p>
            <a:pPr indent="0" marL="0">
              <a:buNone/>
            </a:pPr>
            <a:r>
              <a:rPr lang="en-US" sz="1300" b="1" dirty="0">
                <a:solidFill>
                  <a:srgbClr val="0B1526"/>
                </a:solidFill>
              </a:rPr>
              <a:t>Enrol before travel</a:t>
            </a:r>
            <a:endParaRPr lang="en-US" sz="1300" dirty="0"/>
          </a:p>
        </p:txBody>
      </p:sp>
      <p:sp>
        <p:nvSpPr>
          <p:cNvPr id="46" name="Text 29"/>
          <p:cNvSpPr txBox="1"/>
          <p:nvPr/>
        </p:nvSpPr>
        <p:spPr>
          <a:xfrm>
            <a:off x="768096" y="2029968"/>
            <a:ext cx="2196842" cy="237744"/>
          </a:xfrm>
          <a:prstGeom prst="rect">
            <a:avLst/>
          </a:prstGeom>
          <a:noFill/>
          <a:ln/>
        </p:spPr>
        <p:txBody>
          <a:bodyPr wrap="square" lIns="0" tIns="0" rIns="0" bIns="0" rtlCol="0" anchor="ctr"/>
          <a:lstStyle/>
          <a:p>
            <a:pPr indent="0" marL="0">
              <a:buNone/>
            </a:pPr>
            <a:r>
              <a:rPr lang="en-US" sz="1100" b="1" dirty="0">
                <a:solidFill>
                  <a:srgbClr val="0B84AE"/>
                </a:solidFill>
              </a:rPr>
              <a:t>FastPass Mobile App</a:t>
            </a:r>
            <a:endParaRPr lang="en-US" sz="1100" dirty="0"/>
          </a:p>
        </p:txBody>
      </p:sp>
      <p:sp>
        <p:nvSpPr>
          <p:cNvPr id="47" name="Text 30"/>
          <p:cNvSpPr txBox="1"/>
          <p:nvPr/>
        </p:nvSpPr>
        <p:spPr>
          <a:xfrm>
            <a:off x="768096" y="2249424"/>
            <a:ext cx="2196842" cy="201168"/>
          </a:xfrm>
          <a:prstGeom prst="rect">
            <a:avLst/>
          </a:prstGeom>
          <a:noFill/>
          <a:ln/>
        </p:spPr>
        <p:txBody>
          <a:bodyPr wrap="square" lIns="0" tIns="0" rIns="0" bIns="0" rtlCol="0" anchor="ctr"/>
          <a:lstStyle/>
          <a:p>
            <a:pPr indent="0" marL="0">
              <a:buNone/>
            </a:pPr>
            <a:r>
              <a:rPr lang="en-US" sz="1000" dirty="0">
                <a:solidFill>
                  <a:srgbClr val="4A5870"/>
                </a:solidFill>
              </a:rPr>
              <a:t>Traveller enrolment &amp; digital identity</a:t>
            </a:r>
            <a:endParaRPr lang="en-US" sz="1000" dirty="0"/>
          </a:p>
        </p:txBody>
      </p:sp>
      <p:sp>
        <p:nvSpPr>
          <p:cNvPr id="48" name="Shape 31"/>
          <p:cNvSpPr/>
          <p:nvPr/>
        </p:nvSpPr>
        <p:spPr>
          <a:xfrm>
            <a:off x="658368" y="4096512"/>
            <a:ext cx="2504849" cy="822960"/>
          </a:xfrm>
          <a:prstGeom prst="roundRect">
            <a:avLst>
              <a:gd name="adj" fmla="val 11111"/>
            </a:avLst>
          </a:prstGeom>
          <a:solidFill>
            <a:srgbClr val="FFFFFF">
              <a:alpha val="94000"/>
            </a:srgbClr>
          </a:solidFill>
          <a:ln/>
          <a:effectLst>
            <a:outerShdw sx="100000" sy="100000" kx="0" ky="0" algn="bl" rotWithShape="0" blurRad="177800" dist="38100" dir="5400000">
              <a:srgbClr val="0A1628">
                <a:alpha val="12000"/>
              </a:srgbClr>
            </a:outerShdw>
          </a:effectLst>
        </p:spPr>
      </p:sp>
      <p:sp>
        <p:nvSpPr>
          <p:cNvPr id="49" name="Shape 32"/>
          <p:cNvSpPr/>
          <p:nvPr/>
        </p:nvSpPr>
        <p:spPr>
          <a:xfrm>
            <a:off x="768096" y="4178808"/>
            <a:ext cx="237744" cy="237744"/>
          </a:xfrm>
          <a:prstGeom prst="ellipse">
            <a:avLst/>
          </a:prstGeom>
          <a:solidFill>
            <a:srgbClr val="0B84AE"/>
          </a:solidFill>
          <a:ln/>
        </p:spPr>
      </p:sp>
      <p:sp>
        <p:nvSpPr>
          <p:cNvPr id="50" name="Text 33"/>
          <p:cNvSpPr txBox="1"/>
          <p:nvPr/>
        </p:nvSpPr>
        <p:spPr>
          <a:xfrm>
            <a:off x="768096" y="417880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51" name="Text 34"/>
          <p:cNvSpPr txBox="1"/>
          <p:nvPr/>
        </p:nvSpPr>
        <p:spPr>
          <a:xfrm>
            <a:off x="1097280" y="4151376"/>
            <a:ext cx="2065937" cy="292608"/>
          </a:xfrm>
          <a:prstGeom prst="rect">
            <a:avLst/>
          </a:prstGeom>
          <a:noFill/>
          <a:ln/>
        </p:spPr>
        <p:txBody>
          <a:bodyPr wrap="square" lIns="0" tIns="0" rIns="0" bIns="0" rtlCol="0" anchor="ctr"/>
          <a:lstStyle/>
          <a:p>
            <a:pPr indent="0" marL="0">
              <a:buNone/>
            </a:pPr>
            <a:r>
              <a:rPr lang="en-US" sz="1300" b="1" dirty="0">
                <a:solidFill>
                  <a:srgbClr val="0B1526"/>
                </a:solidFill>
              </a:rPr>
              <a:t>Clear immigration</a:t>
            </a:r>
            <a:endParaRPr lang="en-US" sz="1300" dirty="0"/>
          </a:p>
        </p:txBody>
      </p:sp>
      <p:sp>
        <p:nvSpPr>
          <p:cNvPr id="52" name="Text 35"/>
          <p:cNvSpPr txBox="1"/>
          <p:nvPr/>
        </p:nvSpPr>
        <p:spPr>
          <a:xfrm>
            <a:off x="768096" y="4443984"/>
            <a:ext cx="2395121" cy="237744"/>
          </a:xfrm>
          <a:prstGeom prst="rect">
            <a:avLst/>
          </a:prstGeom>
          <a:noFill/>
          <a:ln/>
        </p:spPr>
        <p:txBody>
          <a:bodyPr wrap="square" lIns="0" tIns="0" rIns="0" bIns="0" rtlCol="0" anchor="ctr"/>
          <a:lstStyle/>
          <a:p>
            <a:pPr indent="0" marL="0">
              <a:buNone/>
            </a:pPr>
            <a:r>
              <a:rPr lang="en-US" sz="1100" b="1" dirty="0">
                <a:solidFill>
                  <a:srgbClr val="0B84AE"/>
                </a:solidFill>
              </a:rPr>
              <a:t>BLE pairing  →  Biometric E-Gate</a:t>
            </a:r>
            <a:endParaRPr lang="en-US" sz="1100" dirty="0"/>
          </a:p>
        </p:txBody>
      </p:sp>
      <p:sp>
        <p:nvSpPr>
          <p:cNvPr id="53" name="Text 36"/>
          <p:cNvSpPr txBox="1"/>
          <p:nvPr/>
        </p:nvSpPr>
        <p:spPr>
          <a:xfrm>
            <a:off x="768096" y="4663440"/>
            <a:ext cx="2395121" cy="201168"/>
          </a:xfrm>
          <a:prstGeom prst="rect">
            <a:avLst/>
          </a:prstGeom>
          <a:noFill/>
          <a:ln/>
        </p:spPr>
        <p:txBody>
          <a:bodyPr wrap="square" lIns="0" tIns="0" rIns="0" bIns="0" rtlCol="0" anchor="ctr"/>
          <a:lstStyle/>
          <a:p>
            <a:pPr indent="0" marL="0">
              <a:buNone/>
            </a:pPr>
            <a:r>
              <a:rPr lang="en-US" sz="1000" dirty="0">
                <a:solidFill>
                  <a:srgbClr val="4A5870"/>
                </a:solidFill>
              </a:rPr>
              <a:t>On-the-move immigration clearance</a:t>
            </a:r>
            <a:endParaRPr lang="en-US" sz="1000" dirty="0"/>
          </a:p>
        </p:txBody>
      </p:sp>
      <p:sp>
        <p:nvSpPr>
          <p:cNvPr id="54" name="Shape 37"/>
          <p:cNvSpPr/>
          <p:nvPr/>
        </p:nvSpPr>
        <p:spPr>
          <a:xfrm>
            <a:off x="2176272" y="5468112"/>
            <a:ext cx="1188720" cy="694944"/>
          </a:xfrm>
          <a:prstGeom prst="roundRect">
            <a:avLst>
              <a:gd name="adj" fmla="val 10526"/>
            </a:avLst>
          </a:prstGeom>
          <a:solidFill>
            <a:srgbClr val="0E1B2D">
              <a:alpha val="96000"/>
            </a:srgbClr>
          </a:solidFill>
          <a:ln w="12700">
            <a:solidFill>
              <a:srgbClr val="0B84AE"/>
            </a:solidFill>
            <a:prstDash val="solid"/>
          </a:ln>
          <a:effectLst>
            <a:outerShdw sx="100000" sy="100000" kx="0" ky="0" algn="bl" rotWithShape="0" blurRad="177800" dist="38100" dir="5400000">
              <a:srgbClr val="0A1628">
                <a:alpha val="12000"/>
              </a:srgbClr>
            </a:outerShdw>
          </a:effectLst>
        </p:spPr>
      </p:sp>
      <p:sp>
        <p:nvSpPr>
          <p:cNvPr id="55" name="Text 38"/>
          <p:cNvSpPr txBox="1"/>
          <p:nvPr/>
        </p:nvSpPr>
        <p:spPr>
          <a:xfrm>
            <a:off x="2267712" y="5522976"/>
            <a:ext cx="1005840" cy="128016"/>
          </a:xfrm>
          <a:prstGeom prst="rect">
            <a:avLst/>
          </a:prstGeom>
          <a:noFill/>
          <a:ln/>
        </p:spPr>
        <p:txBody>
          <a:bodyPr wrap="square" lIns="0" tIns="0" rIns="0" bIns="0" rtlCol="0" anchor="ctr"/>
          <a:lstStyle/>
          <a:p>
            <a:pPr indent="0" marL="0">
              <a:buNone/>
            </a:pPr>
            <a:r>
              <a:rPr lang="en-US" sz="700" b="1" spc="100" kern="0" dirty="0">
                <a:solidFill>
                  <a:srgbClr val="7FD3EE"/>
                </a:solidFill>
              </a:rPr>
              <a:t>STATUS TV</a:t>
            </a:r>
            <a:endParaRPr lang="en-US" sz="700" dirty="0"/>
          </a:p>
        </p:txBody>
      </p:sp>
      <p:sp>
        <p:nvSpPr>
          <p:cNvPr id="56" name="Shape 39"/>
          <p:cNvSpPr/>
          <p:nvPr/>
        </p:nvSpPr>
        <p:spPr>
          <a:xfrm>
            <a:off x="2267712" y="5696712"/>
            <a:ext cx="219456" cy="219456"/>
          </a:xfrm>
          <a:prstGeom prst="ellipse">
            <a:avLst/>
          </a:prstGeom>
          <a:solidFill>
            <a:srgbClr val="E7CDB4"/>
          </a:solidFill>
          <a:ln/>
        </p:spPr>
      </p:sp>
      <p:sp>
        <p:nvSpPr>
          <p:cNvPr id="57" name="Text 40"/>
          <p:cNvSpPr txBox="1"/>
          <p:nvPr/>
        </p:nvSpPr>
        <p:spPr>
          <a:xfrm>
            <a:off x="2542032" y="5678424"/>
            <a:ext cx="777240" cy="137160"/>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58" name="Text 41"/>
          <p:cNvSpPr txBox="1"/>
          <p:nvPr/>
        </p:nvSpPr>
        <p:spPr>
          <a:xfrm>
            <a:off x="2542032" y="5806440"/>
            <a:ext cx="777240"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59" name="Shape 42"/>
          <p:cNvSpPr/>
          <p:nvPr/>
        </p:nvSpPr>
        <p:spPr>
          <a:xfrm>
            <a:off x="2267712" y="5952744"/>
            <a:ext cx="1005840" cy="146304"/>
          </a:xfrm>
          <a:prstGeom prst="roundRect">
            <a:avLst>
              <a:gd name="adj" fmla="val 50000"/>
            </a:avLst>
          </a:prstGeom>
          <a:solidFill>
            <a:srgbClr val="1E9E50"/>
          </a:solidFill>
          <a:ln/>
        </p:spPr>
      </p:sp>
      <p:sp>
        <p:nvSpPr>
          <p:cNvPr id="60" name="Text 43"/>
          <p:cNvSpPr txBox="1"/>
          <p:nvPr/>
        </p:nvSpPr>
        <p:spPr>
          <a:xfrm>
            <a:off x="2267712" y="5952744"/>
            <a:ext cx="1005840" cy="146304"/>
          </a:xfrm>
          <a:prstGeom prst="rect">
            <a:avLst/>
          </a:prstGeom>
          <a:noFill/>
          <a:ln/>
        </p:spPr>
        <p:txBody>
          <a:bodyPr wrap="square" lIns="0" tIns="0" rIns="0" bIns="0" rtlCol="0" anchor="ctr"/>
          <a:lstStyle/>
          <a:p>
            <a:pPr algn="ctr" indent="0" marL="0">
              <a:buNone/>
            </a:pPr>
            <a:r>
              <a:rPr lang="en-US" sz="750" b="1" spc="100" kern="0" dirty="0">
                <a:solidFill>
                  <a:srgbClr val="FFFFFF"/>
                </a:solidFill>
              </a:rPr>
              <a:t>CLEARED</a:t>
            </a:r>
            <a:endParaRPr lang="en-US" sz="750" dirty="0"/>
          </a:p>
        </p:txBody>
      </p:sp>
      <p:sp>
        <p:nvSpPr>
          <p:cNvPr id="61" name="Shape 44"/>
          <p:cNvSpPr/>
          <p:nvPr/>
        </p:nvSpPr>
        <p:spPr>
          <a:xfrm>
            <a:off x="3730752" y="4096512"/>
            <a:ext cx="1929261" cy="822960"/>
          </a:xfrm>
          <a:prstGeom prst="roundRect">
            <a:avLst>
              <a:gd name="adj" fmla="val 11111"/>
            </a:avLst>
          </a:prstGeom>
          <a:solidFill>
            <a:srgbClr val="FFFFFF">
              <a:alpha val="94000"/>
            </a:srgbClr>
          </a:solidFill>
          <a:ln/>
          <a:effectLst>
            <a:outerShdw sx="100000" sy="100000" kx="0" ky="0" algn="bl" rotWithShape="0" blurRad="177800" dist="38100" dir="5400000">
              <a:srgbClr val="0A1628">
                <a:alpha val="12000"/>
              </a:srgbClr>
            </a:outerShdw>
          </a:effectLst>
        </p:spPr>
      </p:sp>
      <p:sp>
        <p:nvSpPr>
          <p:cNvPr id="62" name="Shape 45"/>
          <p:cNvSpPr/>
          <p:nvPr/>
        </p:nvSpPr>
        <p:spPr>
          <a:xfrm>
            <a:off x="3840480" y="4178808"/>
            <a:ext cx="237744" cy="237744"/>
          </a:xfrm>
          <a:prstGeom prst="ellipse">
            <a:avLst/>
          </a:prstGeom>
          <a:solidFill>
            <a:srgbClr val="0B84AE"/>
          </a:solidFill>
          <a:ln/>
        </p:spPr>
      </p:sp>
      <p:sp>
        <p:nvSpPr>
          <p:cNvPr id="63" name="Text 46"/>
          <p:cNvSpPr txBox="1"/>
          <p:nvPr/>
        </p:nvSpPr>
        <p:spPr>
          <a:xfrm>
            <a:off x="3840480" y="417880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64" name="Text 47"/>
          <p:cNvSpPr txBox="1"/>
          <p:nvPr/>
        </p:nvSpPr>
        <p:spPr>
          <a:xfrm>
            <a:off x="4169664" y="4151376"/>
            <a:ext cx="1490349" cy="292608"/>
          </a:xfrm>
          <a:prstGeom prst="rect">
            <a:avLst/>
          </a:prstGeom>
          <a:noFill/>
          <a:ln/>
        </p:spPr>
        <p:txBody>
          <a:bodyPr wrap="square" lIns="0" tIns="0" rIns="0" bIns="0" rtlCol="0" anchor="ctr"/>
          <a:lstStyle/>
          <a:p>
            <a:pPr indent="0" marL="0">
              <a:buNone/>
            </a:pPr>
            <a:r>
              <a:rPr lang="en-US" sz="1300" b="1" dirty="0">
                <a:solidFill>
                  <a:srgbClr val="0B1526"/>
                </a:solidFill>
              </a:rPr>
              <a:t>Pre-screen</a:t>
            </a:r>
            <a:endParaRPr lang="en-US" sz="1300" dirty="0"/>
          </a:p>
        </p:txBody>
      </p:sp>
      <p:sp>
        <p:nvSpPr>
          <p:cNvPr id="65" name="Text 48"/>
          <p:cNvSpPr txBox="1"/>
          <p:nvPr/>
        </p:nvSpPr>
        <p:spPr>
          <a:xfrm>
            <a:off x="3840480" y="4443984"/>
            <a:ext cx="1819533" cy="237744"/>
          </a:xfrm>
          <a:prstGeom prst="rect">
            <a:avLst/>
          </a:prstGeom>
          <a:noFill/>
          <a:ln/>
        </p:spPr>
        <p:txBody>
          <a:bodyPr wrap="square" lIns="0" tIns="0" rIns="0" bIns="0" rtlCol="0" anchor="ctr"/>
          <a:lstStyle/>
          <a:p>
            <a:pPr indent="0" marL="0">
              <a:buNone/>
            </a:pPr>
            <a:r>
              <a:rPr lang="en-US" sz="1100" b="1" dirty="0">
                <a:solidFill>
                  <a:srgbClr val="0B84AE"/>
                </a:solidFill>
              </a:rPr>
              <a:t>Nova Plus + AI Scanning</a:t>
            </a:r>
            <a:endParaRPr lang="en-US" sz="1100" dirty="0"/>
          </a:p>
        </p:txBody>
      </p:sp>
      <p:sp>
        <p:nvSpPr>
          <p:cNvPr id="66" name="Text 49"/>
          <p:cNvSpPr txBox="1"/>
          <p:nvPr/>
        </p:nvSpPr>
        <p:spPr>
          <a:xfrm>
            <a:off x="3840480" y="4663440"/>
            <a:ext cx="1819533" cy="201168"/>
          </a:xfrm>
          <a:prstGeom prst="rect">
            <a:avLst/>
          </a:prstGeom>
          <a:noFill/>
          <a:ln/>
        </p:spPr>
        <p:txBody>
          <a:bodyPr wrap="square" lIns="0" tIns="0" rIns="0" bIns="0" rtlCol="0" anchor="ctr"/>
          <a:lstStyle/>
          <a:p>
            <a:pPr indent="0" marL="0">
              <a:buNone/>
            </a:pPr>
            <a:r>
              <a:rPr lang="en-US" sz="1000" dirty="0">
                <a:solidFill>
                  <a:srgbClr val="4A5870"/>
                </a:solidFill>
              </a:rPr>
              <a:t>AI-assisted pre-screening</a:t>
            </a:r>
            <a:endParaRPr lang="en-US" sz="1000" dirty="0"/>
          </a:p>
        </p:txBody>
      </p:sp>
      <p:sp>
        <p:nvSpPr>
          <p:cNvPr id="67" name="Shape 50"/>
          <p:cNvSpPr/>
          <p:nvPr/>
        </p:nvSpPr>
        <p:spPr>
          <a:xfrm>
            <a:off x="6208776" y="4096512"/>
            <a:ext cx="1817422" cy="822960"/>
          </a:xfrm>
          <a:prstGeom prst="roundRect">
            <a:avLst>
              <a:gd name="adj" fmla="val 11111"/>
            </a:avLst>
          </a:prstGeom>
          <a:solidFill>
            <a:srgbClr val="FFFFFF">
              <a:alpha val="94000"/>
            </a:srgbClr>
          </a:solidFill>
          <a:ln/>
          <a:effectLst>
            <a:outerShdw sx="100000" sy="100000" kx="0" ky="0" algn="bl" rotWithShape="0" blurRad="177800" dist="38100" dir="5400000">
              <a:srgbClr val="0A1628">
                <a:alpha val="12000"/>
              </a:srgbClr>
            </a:outerShdw>
          </a:effectLst>
        </p:spPr>
      </p:sp>
      <p:sp>
        <p:nvSpPr>
          <p:cNvPr id="68" name="Shape 51"/>
          <p:cNvSpPr/>
          <p:nvPr/>
        </p:nvSpPr>
        <p:spPr>
          <a:xfrm>
            <a:off x="6318504" y="4178808"/>
            <a:ext cx="237744" cy="237744"/>
          </a:xfrm>
          <a:prstGeom prst="ellipse">
            <a:avLst/>
          </a:prstGeom>
          <a:solidFill>
            <a:srgbClr val="0B84AE"/>
          </a:solidFill>
          <a:ln/>
        </p:spPr>
      </p:sp>
      <p:sp>
        <p:nvSpPr>
          <p:cNvPr id="69" name="Text 52"/>
          <p:cNvSpPr txBox="1"/>
          <p:nvPr/>
        </p:nvSpPr>
        <p:spPr>
          <a:xfrm>
            <a:off x="6318504" y="417880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70" name="Text 53"/>
          <p:cNvSpPr txBox="1"/>
          <p:nvPr/>
        </p:nvSpPr>
        <p:spPr>
          <a:xfrm>
            <a:off x="6647688" y="4151376"/>
            <a:ext cx="1378510" cy="292608"/>
          </a:xfrm>
          <a:prstGeom prst="rect">
            <a:avLst/>
          </a:prstGeom>
          <a:noFill/>
          <a:ln/>
        </p:spPr>
        <p:txBody>
          <a:bodyPr wrap="square" lIns="0" tIns="0" rIns="0" bIns="0" rtlCol="0" anchor="ctr"/>
          <a:lstStyle/>
          <a:p>
            <a:pPr indent="0" marL="0">
              <a:buNone/>
            </a:pPr>
            <a:r>
              <a:rPr lang="en-US" sz="1300" b="1" dirty="0">
                <a:solidFill>
                  <a:srgbClr val="0B1526"/>
                </a:solidFill>
              </a:rPr>
              <a:t>Board</a:t>
            </a:r>
            <a:endParaRPr lang="en-US" sz="1300" dirty="0"/>
          </a:p>
        </p:txBody>
      </p:sp>
      <p:sp>
        <p:nvSpPr>
          <p:cNvPr id="71" name="Text 54"/>
          <p:cNvSpPr txBox="1"/>
          <p:nvPr/>
        </p:nvSpPr>
        <p:spPr>
          <a:xfrm>
            <a:off x="6318504" y="4443984"/>
            <a:ext cx="1707694" cy="237744"/>
          </a:xfrm>
          <a:prstGeom prst="rect">
            <a:avLst/>
          </a:prstGeom>
          <a:noFill/>
          <a:ln/>
        </p:spPr>
        <p:txBody>
          <a:bodyPr wrap="square" lIns="0" tIns="0" rIns="0" bIns="0" rtlCol="0" anchor="ctr"/>
          <a:lstStyle/>
          <a:p>
            <a:pPr indent="0" marL="0">
              <a:buNone/>
            </a:pPr>
            <a:r>
              <a:rPr lang="en-US" sz="1100" b="1" dirty="0">
                <a:solidFill>
                  <a:srgbClr val="0B84AE"/>
                </a:solidFill>
              </a:rPr>
              <a:t>Smart Boarding Kiosk</a:t>
            </a:r>
            <a:endParaRPr lang="en-US" sz="1100" dirty="0"/>
          </a:p>
        </p:txBody>
      </p:sp>
      <p:sp>
        <p:nvSpPr>
          <p:cNvPr id="72" name="Text 55"/>
          <p:cNvSpPr txBox="1"/>
          <p:nvPr/>
        </p:nvSpPr>
        <p:spPr>
          <a:xfrm>
            <a:off x="6318504" y="4663440"/>
            <a:ext cx="1707694" cy="201168"/>
          </a:xfrm>
          <a:prstGeom prst="rect">
            <a:avLst/>
          </a:prstGeom>
          <a:noFill/>
          <a:ln/>
        </p:spPr>
        <p:txBody>
          <a:bodyPr wrap="square" lIns="0" tIns="0" rIns="0" bIns="0" rtlCol="0" anchor="ctr"/>
          <a:lstStyle/>
          <a:p>
            <a:pPr indent="0" marL="0">
              <a:buNone/>
            </a:pPr>
            <a:r>
              <a:rPr lang="en-US" sz="1000" dirty="0">
                <a:solidFill>
                  <a:srgbClr val="4A5870"/>
                </a:solidFill>
              </a:rPr>
              <a:t>Facial recognition boarding</a:t>
            </a:r>
            <a:endParaRPr lang="en-US" sz="1000" dirty="0"/>
          </a:p>
        </p:txBody>
      </p:sp>
      <p:sp>
        <p:nvSpPr>
          <p:cNvPr id="73" name="Shape 56"/>
          <p:cNvSpPr/>
          <p:nvPr/>
        </p:nvSpPr>
        <p:spPr>
          <a:xfrm>
            <a:off x="8686800" y="4096512"/>
            <a:ext cx="1817203" cy="822960"/>
          </a:xfrm>
          <a:prstGeom prst="roundRect">
            <a:avLst>
              <a:gd name="adj" fmla="val 11111"/>
            </a:avLst>
          </a:prstGeom>
          <a:solidFill>
            <a:srgbClr val="0B2545"/>
          </a:solidFill>
          <a:ln/>
          <a:effectLst>
            <a:outerShdw sx="100000" sy="100000" kx="0" ky="0" algn="bl" rotWithShape="0" blurRad="177800" dist="38100" dir="5400000">
              <a:srgbClr val="0A1628">
                <a:alpha val="12000"/>
              </a:srgbClr>
            </a:outerShdw>
          </a:effectLst>
        </p:spPr>
      </p:sp>
      <p:sp>
        <p:nvSpPr>
          <p:cNvPr id="74" name="Shape 57"/>
          <p:cNvSpPr/>
          <p:nvPr/>
        </p:nvSpPr>
        <p:spPr>
          <a:xfrm>
            <a:off x="8796528" y="4178808"/>
            <a:ext cx="237744" cy="237744"/>
          </a:xfrm>
          <a:prstGeom prst="ellipse">
            <a:avLst/>
          </a:prstGeom>
          <a:solidFill>
            <a:srgbClr val="FFFFFF"/>
          </a:solidFill>
          <a:ln/>
        </p:spPr>
      </p:sp>
      <p:sp>
        <p:nvSpPr>
          <p:cNvPr id="75" name="Text 58"/>
          <p:cNvSpPr txBox="1"/>
          <p:nvPr/>
        </p:nvSpPr>
        <p:spPr>
          <a:xfrm>
            <a:off x="8796528" y="4178808"/>
            <a:ext cx="237744" cy="237744"/>
          </a:xfrm>
          <a:prstGeom prst="rect">
            <a:avLst/>
          </a:prstGeom>
          <a:noFill/>
          <a:ln/>
        </p:spPr>
        <p:txBody>
          <a:bodyPr wrap="square" lIns="0" tIns="0" rIns="0" bIns="0" rtlCol="0" anchor="ctr"/>
          <a:lstStyle/>
          <a:p>
            <a:pPr algn="ctr" indent="0" marL="0">
              <a:buNone/>
            </a:pPr>
            <a:r>
              <a:rPr lang="en-US" sz="1100" b="1" dirty="0">
                <a:solidFill>
                  <a:srgbClr val="0B2545"/>
                </a:solidFill>
              </a:rPr>
              <a:t>5</a:t>
            </a:r>
            <a:endParaRPr lang="en-US" sz="1100" dirty="0"/>
          </a:p>
        </p:txBody>
      </p:sp>
      <p:sp>
        <p:nvSpPr>
          <p:cNvPr id="76" name="Text 59"/>
          <p:cNvSpPr txBox="1"/>
          <p:nvPr/>
        </p:nvSpPr>
        <p:spPr>
          <a:xfrm>
            <a:off x="9125712" y="4151376"/>
            <a:ext cx="1378291" cy="292608"/>
          </a:xfrm>
          <a:prstGeom prst="rect">
            <a:avLst/>
          </a:prstGeom>
          <a:noFill/>
          <a:ln/>
        </p:spPr>
        <p:txBody>
          <a:bodyPr wrap="square" lIns="0" tIns="0" rIns="0" bIns="0" rtlCol="0" anchor="ctr"/>
          <a:lstStyle/>
          <a:p>
            <a:pPr indent="0" marL="0">
              <a:buNone/>
            </a:pPr>
            <a:r>
              <a:rPr lang="en-US" sz="1300" b="1" dirty="0">
                <a:solidFill>
                  <a:srgbClr val="FFFFFF"/>
                </a:solidFill>
              </a:rPr>
              <a:t>Oversee</a:t>
            </a:r>
            <a:endParaRPr lang="en-US" sz="1300" dirty="0"/>
          </a:p>
        </p:txBody>
      </p:sp>
      <p:sp>
        <p:nvSpPr>
          <p:cNvPr id="77" name="Text 60"/>
          <p:cNvSpPr txBox="1"/>
          <p:nvPr/>
        </p:nvSpPr>
        <p:spPr>
          <a:xfrm>
            <a:off x="8796528" y="4443984"/>
            <a:ext cx="1707475" cy="237744"/>
          </a:xfrm>
          <a:prstGeom prst="rect">
            <a:avLst/>
          </a:prstGeom>
          <a:noFill/>
          <a:ln/>
        </p:spPr>
        <p:txBody>
          <a:bodyPr wrap="square" lIns="0" tIns="0" rIns="0" bIns="0" rtlCol="0" anchor="ctr"/>
          <a:lstStyle/>
          <a:p>
            <a:pPr indent="0" marL="0">
              <a:buNone/>
            </a:pPr>
            <a:r>
              <a:rPr lang="en-US" sz="1100" b="1" dirty="0">
                <a:solidFill>
                  <a:srgbClr val="7FD3EE"/>
                </a:solidFill>
              </a:rPr>
              <a:t>AGIL® Secure ISMP</a:t>
            </a:r>
            <a:endParaRPr lang="en-US" sz="1100" dirty="0"/>
          </a:p>
        </p:txBody>
      </p:sp>
      <p:sp>
        <p:nvSpPr>
          <p:cNvPr id="78" name="Text 61"/>
          <p:cNvSpPr txBox="1"/>
          <p:nvPr/>
        </p:nvSpPr>
        <p:spPr>
          <a:xfrm>
            <a:off x="8796528" y="4663440"/>
            <a:ext cx="1707475" cy="201168"/>
          </a:xfrm>
          <a:prstGeom prst="rect">
            <a:avLst/>
          </a:prstGeom>
          <a:noFill/>
          <a:ln/>
        </p:spPr>
        <p:txBody>
          <a:bodyPr wrap="square" lIns="0" tIns="0" rIns="0" bIns="0" rtlCol="0" anchor="ctr"/>
          <a:lstStyle/>
          <a:p>
            <a:pPr indent="0" marL="0">
              <a:buNone/>
            </a:pPr>
            <a:r>
              <a:rPr lang="en-US" sz="1000" dirty="0">
                <a:solidFill>
                  <a:srgbClr val="C9D6E6"/>
                </a:solidFill>
              </a:rPr>
              <a:t>Unified command &amp; control</a:t>
            </a:r>
            <a:endParaRPr lang="en-US" sz="1000" dirty="0"/>
          </a:p>
        </p:txBody>
      </p:sp>
      <p:sp>
        <p:nvSpPr>
          <p:cNvPr id="79" name="Shape 62"/>
          <p:cNvSpPr/>
          <p:nvPr/>
        </p:nvSpPr>
        <p:spPr>
          <a:xfrm>
            <a:off x="9841687" y="5907024"/>
            <a:ext cx="1691640" cy="256032"/>
          </a:xfrm>
          <a:prstGeom prst="roundRect">
            <a:avLst>
              <a:gd name="adj" fmla="val 50000"/>
            </a:avLst>
          </a:prstGeom>
          <a:solidFill>
            <a:srgbClr val="FFFFFF">
              <a:alpha val="94000"/>
            </a:srgbClr>
          </a:solidFill>
          <a:ln/>
          <a:effectLst>
            <a:outerShdw sx="100000" sy="100000" kx="0" ky="0" algn="bl" rotWithShape="0" blurRad="177800" dist="38100" dir="5400000">
              <a:srgbClr val="0A1628">
                <a:alpha val="12000"/>
              </a:srgbClr>
            </a:outerShdw>
          </a:effectLst>
        </p:spPr>
      </p:sp>
      <p:sp>
        <p:nvSpPr>
          <p:cNvPr id="80" name="Text 63"/>
          <p:cNvSpPr txBox="1"/>
          <p:nvPr/>
        </p:nvSpPr>
        <p:spPr>
          <a:xfrm>
            <a:off x="9841687" y="5907024"/>
            <a:ext cx="1691640" cy="256032"/>
          </a:xfrm>
          <a:prstGeom prst="rect">
            <a:avLst/>
          </a:prstGeom>
          <a:noFill/>
          <a:ln/>
        </p:spPr>
        <p:txBody>
          <a:bodyPr wrap="square" lIns="0" tIns="0" rIns="0" bIns="0" rtlCol="0" anchor="ctr"/>
          <a:lstStyle/>
          <a:p>
            <a:pPr algn="ctr" indent="0" marL="0">
              <a:buNone/>
            </a:pPr>
            <a:r>
              <a:rPr lang="en-US" sz="900" b="1" spc="150" kern="0" dirty="0">
                <a:solidFill>
                  <a:srgbClr val="0B2545"/>
                </a:solidFill>
              </a:rPr>
              <a:t>BEHIND EVERY STEP</a:t>
            </a:r>
            <a:endParaRPr lang="en-US" sz="900" dirty="0"/>
          </a:p>
        </p:txBody>
      </p:sp>
      <p:sp>
        <p:nvSpPr>
          <p:cNvPr id="81" name="Shape 64"/>
          <p:cNvSpPr/>
          <p:nvPr/>
        </p:nvSpPr>
        <p:spPr>
          <a:xfrm>
            <a:off x="1856232" y="3758184"/>
            <a:ext cx="310896" cy="310896"/>
          </a:xfrm>
          <a:prstGeom prst="ellipse">
            <a:avLst/>
          </a:prstGeom>
          <a:solidFill>
            <a:srgbClr val="0B84AE"/>
          </a:solidFill>
          <a:ln w="19050">
            <a:solidFill>
              <a:srgbClr val="FFFFFF"/>
            </a:solidFill>
            <a:prstDash val="solid"/>
          </a:ln>
          <a:effectLst>
            <a:outerShdw sx="100000" sy="100000" kx="0" ky="0" algn="bl" rotWithShape="0" blurRad="177800" dist="38100" dir="5400000">
              <a:srgbClr val="0A1628">
                <a:alpha val="12000"/>
              </a:srgbClr>
            </a:outerShdw>
          </a:effectLst>
        </p:spPr>
      </p:sp>
      <p:pic>
        <p:nvPicPr>
          <p:cNvPr id="82" name="Image 6" descr="preencoded.png">    </p:cNvPr>
          <p:cNvPicPr>
            <a:picLocks noChangeAspect="1"/>
          </p:cNvPicPr>
          <p:nvPr/>
        </p:nvPicPr>
        <p:blipFill>
          <a:blip r:embed="rId10"/>
          <a:stretch>
            <a:fillRect/>
          </a:stretch>
        </p:blipFill>
        <p:spPr>
          <a:xfrm>
            <a:off x="1920240" y="3822192"/>
            <a:ext cx="182880" cy="182880"/>
          </a:xfrm>
          <a:prstGeom prst="rect">
            <a:avLst/>
          </a:prstGeom>
        </p:spPr>
      </p:pic>
      <p:sp>
        <p:nvSpPr>
          <p:cNvPr id="83" name="Shape 65"/>
          <p:cNvSpPr/>
          <p:nvPr/>
        </p:nvSpPr>
        <p:spPr>
          <a:xfrm>
            <a:off x="3392424" y="5248656"/>
            <a:ext cx="310896" cy="310896"/>
          </a:xfrm>
          <a:prstGeom prst="ellipse">
            <a:avLst/>
          </a:prstGeom>
          <a:solidFill>
            <a:srgbClr val="0B84AE"/>
          </a:solidFill>
          <a:ln w="19050">
            <a:solidFill>
              <a:srgbClr val="FFFFFF"/>
            </a:solidFill>
            <a:prstDash val="solid"/>
          </a:ln>
          <a:effectLst>
            <a:outerShdw sx="100000" sy="100000" kx="0" ky="0" algn="bl" rotWithShape="0" blurRad="177800" dist="38100" dir="5400000">
              <a:srgbClr val="0A1628">
                <a:alpha val="12000"/>
              </a:srgbClr>
            </a:outerShdw>
          </a:effectLst>
        </p:spPr>
      </p:sp>
      <p:pic>
        <p:nvPicPr>
          <p:cNvPr id="84" name="Image 7" descr="preencoded.png">    </p:cNvPr>
          <p:cNvPicPr>
            <a:picLocks noChangeAspect="1"/>
          </p:cNvPicPr>
          <p:nvPr/>
        </p:nvPicPr>
        <p:blipFill>
          <a:blip r:embed="rId11"/>
          <a:stretch>
            <a:fillRect/>
          </a:stretch>
        </p:blipFill>
        <p:spPr>
          <a:xfrm>
            <a:off x="3456432" y="5312664"/>
            <a:ext cx="182880" cy="182880"/>
          </a:xfrm>
          <a:prstGeom prst="rect">
            <a:avLst/>
          </a:prstGeom>
        </p:spPr>
      </p:pic>
      <p:sp>
        <p:nvSpPr>
          <p:cNvPr id="85" name="Shape 66"/>
          <p:cNvSpPr/>
          <p:nvPr/>
        </p:nvSpPr>
        <p:spPr>
          <a:xfrm>
            <a:off x="5870448" y="5248656"/>
            <a:ext cx="310896" cy="310896"/>
          </a:xfrm>
          <a:prstGeom prst="ellipse">
            <a:avLst/>
          </a:prstGeom>
          <a:solidFill>
            <a:srgbClr val="0B84AE"/>
          </a:solidFill>
          <a:ln w="19050">
            <a:solidFill>
              <a:srgbClr val="FFFFFF"/>
            </a:solidFill>
            <a:prstDash val="solid"/>
          </a:ln>
          <a:effectLst>
            <a:outerShdw sx="100000" sy="100000" kx="0" ky="0" algn="bl" rotWithShape="0" blurRad="177800" dist="38100" dir="5400000">
              <a:srgbClr val="0A1628">
                <a:alpha val="12000"/>
              </a:srgbClr>
            </a:outerShdw>
          </a:effectLst>
        </p:spPr>
      </p:sp>
      <p:pic>
        <p:nvPicPr>
          <p:cNvPr id="86" name="Image 8" descr="preencoded.png">    </p:cNvPr>
          <p:cNvPicPr>
            <a:picLocks noChangeAspect="1"/>
          </p:cNvPicPr>
          <p:nvPr/>
        </p:nvPicPr>
        <p:blipFill>
          <a:blip r:embed="rId11"/>
          <a:stretch>
            <a:fillRect/>
          </a:stretch>
        </p:blipFill>
        <p:spPr>
          <a:xfrm>
            <a:off x="5934456" y="5312664"/>
            <a:ext cx="182880" cy="1828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FE65ED44-8DB6-2EDB-4B82-1C229A16857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470E9D31-D6F7-78B8-9431-3883A953BBF5}"/>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C8DDC2E7-0D46-BEDA-B896-5B1FCC7901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4EC15D4-BE5A-757F-6B02-21351CCBF4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79BB7842-812C-2F3E-B647-1A88F1D3999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8" name="Slide Number Placeholder 4">
            <a:extLst>
              <a:ext uri="{FF2B5EF4-FFF2-40B4-BE49-F238E27FC236}">
                <a16:creationId xmlns:a16="http://schemas.microsoft.com/office/drawing/2014/main" id="{D71C6F89-DFED-26E4-3ABC-C9625EF18DBF}"/>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3</a:t>
            </a:fld>
            <a:r>
              <a:rPr lang="en-US" sz="1200">
                <a:latin typeface="+mj-lt"/>
              </a:rPr>
              <a:t>   | </a:t>
            </a:r>
          </a:p>
        </p:txBody>
      </p:sp>
      <p:sp>
        <p:nvSpPr>
          <p:cNvPr id="9" name="Title 4">
            <a:extLst>
              <a:ext uri="{FF2B5EF4-FFF2-40B4-BE49-F238E27FC236}">
                <a16:creationId xmlns:a16="http://schemas.microsoft.com/office/drawing/2014/main" id="{08F212A0-0828-8963-EA3E-E0EDF089EC8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Smarter operations, stronger security, better journeys</a:t>
            </a:r>
          </a:p>
        </p:txBody>
      </p:sp>
      <p:sp>
        <p:nvSpPr>
          <p:cNvPr id="10" name="TextBox 25">
            <a:extLst>
              <a:ext uri="{FF2B5EF4-FFF2-40B4-BE49-F238E27FC236}">
                <a16:creationId xmlns:a16="http://schemas.microsoft.com/office/drawing/2014/main" id="{7C05267D-674B-7BAD-3DAC-A5B6FDCA3332}"/>
              </a:ext>
            </a:extLst>
          </p:cNvPr>
          <p:cNvSpPr txBox="1"/>
          <p:nvPr/>
        </p:nvSpPr>
        <p:spPr>
          <a:xfrm>
            <a:off x="343779" y="563652"/>
            <a:ext cx="5943600" cy="338554"/>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lgn="l">
              <a:defRPr/>
            </a:pPr>
            <a:r>
              <a:rPr lang="en-US" sz="1600" dirty="0">
                <a:solidFill>
                  <a:srgbClr val="E30613"/>
                </a:solidFill>
                <a:latin typeface="+mj-lt"/>
              </a:rPr>
              <a:t>Business Impact</a:t>
            </a:r>
          </a:p>
        </p:txBody>
      </p:sp>
      <p:sp>
        <p:nvSpPr>
          <p:cNvPr id="11" name="Text 2">
            <a:extLst>
              <a:ext uri="{FF2B5EF4-FFF2-40B4-BE49-F238E27FC236}">
                <a16:creationId xmlns:a16="http://schemas.microsoft.com/office/drawing/2014/main" id="{BE58A662-E22B-C1CC-9FBC-E7CEEE803934}"/>
              </a:ext>
            </a:extLst>
          </p:cNvPr>
          <p:cNvSpPr/>
          <p:nvPr/>
        </p:nvSpPr>
        <p:spPr>
          <a:xfrm>
            <a:off x="398363" y="1399096"/>
            <a:ext cx="11368060" cy="338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srgbClr val="4F5B6D"/>
                </a:solidFill>
                <a:effectLst/>
                <a:uLnTx/>
                <a:uFillTx/>
                <a:latin typeface="+mj-lt"/>
                <a:ea typeface="+mn-ea"/>
                <a:cs typeface="+mn-cs"/>
              </a:rPr>
              <a:t>What FastPass changes for travellers, airports and agencies, at scale.</a:t>
            </a:r>
          </a:p>
        </p:txBody>
      </p:sp>
      <p:sp>
        <p:nvSpPr>
          <p:cNvPr id="12" name="Shape 0"/>
          <p:cNvSpPr/>
          <p:nvPr/>
        </p:nvSpPr>
        <p:spPr>
          <a:xfrm>
            <a:off x="548640" y="1965960"/>
            <a:ext cx="3515258" cy="3931920"/>
          </a:xfrm>
          <a:prstGeom prst="roundRect">
            <a:avLst>
              <a:gd name="adj" fmla="val 4162"/>
            </a:avLst>
          </a:prstGeom>
          <a:solidFill>
            <a:srgbClr val="FFFFFF"/>
          </a:solidFill>
          <a:ln/>
          <a:effectLst>
            <a:outerShdw sx="100000" sy="100000" kx="0" ky="0" algn="bl" rotWithShape="0" blurRad="177800" dist="38100" dir="5400000">
              <a:srgbClr val="0A1628">
                <a:alpha val="12000"/>
              </a:srgbClr>
            </a:outerShdw>
          </a:effectLst>
        </p:spPr>
      </p:sp>
      <p:sp>
        <p:nvSpPr>
          <p:cNvPr id="13" name="Shape 1"/>
          <p:cNvSpPr/>
          <p:nvPr/>
        </p:nvSpPr>
        <p:spPr>
          <a:xfrm>
            <a:off x="822960" y="2240280"/>
            <a:ext cx="420624" cy="420624"/>
          </a:xfrm>
          <a:prstGeom prst="ellipse">
            <a:avLst/>
          </a:prstGeom>
          <a:solidFill>
            <a:srgbClr val="0B84AE">
              <a:alpha val="12000"/>
            </a:srgbClr>
          </a:solidFill>
          <a:ln/>
        </p:spPr>
      </p:sp>
      <p:pic>
        <p:nvPicPr>
          <p:cNvPr id="14" name="Image 0" descr="preencoded.png">    </p:cNvPr>
          <p:cNvPicPr>
            <a:picLocks noChangeAspect="1"/>
          </p:cNvPicPr>
          <p:nvPr/>
        </p:nvPicPr>
        <p:blipFill>
          <a:blip r:embed="rId4"/>
          <a:stretch>
            <a:fillRect/>
          </a:stretch>
        </p:blipFill>
        <p:spPr>
          <a:xfrm>
            <a:off x="923544" y="2340864"/>
            <a:ext cx="219456" cy="219456"/>
          </a:xfrm>
          <a:prstGeom prst="rect">
            <a:avLst/>
          </a:prstGeom>
        </p:spPr>
      </p:pic>
      <p:sp>
        <p:nvSpPr>
          <p:cNvPr id="15" name="Text 2"/>
          <p:cNvSpPr txBox="1"/>
          <p:nvPr/>
        </p:nvSpPr>
        <p:spPr>
          <a:xfrm>
            <a:off x="1335024" y="2240280"/>
            <a:ext cx="2646578" cy="420624"/>
          </a:xfrm>
          <a:prstGeom prst="rect">
            <a:avLst/>
          </a:prstGeom>
          <a:noFill/>
          <a:ln/>
        </p:spPr>
        <p:txBody>
          <a:bodyPr wrap="square" lIns="0" tIns="0" rIns="0" bIns="0" rtlCol="0" anchor="ctr"/>
          <a:lstStyle/>
          <a:p>
            <a:pPr indent="0" marL="0">
              <a:buNone/>
            </a:pPr>
            <a:r>
              <a:rPr lang="en-US" sz="1000" b="1" spc="120" kern="0" dirty="0">
                <a:solidFill>
                  <a:srgbClr val="0B84AE"/>
                </a:solidFill>
              </a:rPr>
              <a:t>FOR TRAVELLERS</a:t>
            </a:r>
            <a:endParaRPr lang="en-US" sz="1000" dirty="0"/>
          </a:p>
        </p:txBody>
      </p:sp>
      <p:sp>
        <p:nvSpPr>
          <p:cNvPr id="16" name="Text 3"/>
          <p:cNvSpPr txBox="1"/>
          <p:nvPr/>
        </p:nvSpPr>
        <p:spPr>
          <a:xfrm>
            <a:off x="822960" y="2788920"/>
            <a:ext cx="2966618" cy="640080"/>
          </a:xfrm>
          <a:prstGeom prst="rect">
            <a:avLst/>
          </a:prstGeom>
          <a:noFill/>
          <a:ln/>
        </p:spPr>
        <p:txBody>
          <a:bodyPr wrap="square" lIns="0" tIns="0" rIns="0" bIns="0" rtlCol="0" anchor="ctr"/>
          <a:lstStyle/>
          <a:p>
            <a:pPr indent="0" marL="0">
              <a:buNone/>
            </a:pPr>
            <a:r>
              <a:rPr lang="en-US" sz="4000" b="1" dirty="0">
                <a:solidFill>
                  <a:srgbClr val="0B1526"/>
                </a:solidFill>
              </a:rPr>
              <a:t>0 stops</a:t>
            </a:r>
            <a:endParaRPr lang="en-US" sz="4000" dirty="0"/>
          </a:p>
        </p:txBody>
      </p:sp>
      <p:sp>
        <p:nvSpPr>
          <p:cNvPr id="17" name="Text 4"/>
          <p:cNvSpPr txBox="1"/>
          <p:nvPr/>
        </p:nvSpPr>
        <p:spPr>
          <a:xfrm>
            <a:off x="822960" y="3447288"/>
            <a:ext cx="2966618" cy="457200"/>
          </a:xfrm>
          <a:prstGeom prst="rect">
            <a:avLst/>
          </a:prstGeom>
          <a:noFill/>
          <a:ln/>
        </p:spPr>
        <p:txBody>
          <a:bodyPr wrap="square" lIns="0" tIns="0" rIns="0" bIns="0" rtlCol="0" anchor="t"/>
          <a:lstStyle/>
          <a:p>
            <a:pPr indent="0" marL="0">
              <a:buNone/>
            </a:pPr>
            <a:r>
              <a:rPr lang="en-US" sz="1300" dirty="0">
                <a:solidFill>
                  <a:srgbClr val="4A5870"/>
                </a:solidFill>
              </a:rPr>
              <a:t>Kerb to gate in 8–11 min for eligible travellers (target)</a:t>
            </a:r>
            <a:endParaRPr lang="en-US" sz="1300" dirty="0"/>
          </a:p>
        </p:txBody>
      </p:sp>
      <p:sp>
        <p:nvSpPr>
          <p:cNvPr id="18" name="Shape 5"/>
          <p:cNvSpPr/>
          <p:nvPr/>
        </p:nvSpPr>
        <p:spPr>
          <a:xfrm>
            <a:off x="822960" y="4032504"/>
            <a:ext cx="2966618" cy="0"/>
          </a:xfrm>
          <a:prstGeom prst="line">
            <a:avLst/>
          </a:prstGeom>
          <a:noFill/>
          <a:ln w="9525">
            <a:solidFill>
              <a:srgbClr val="E1E6ED"/>
            </a:solidFill>
            <a:prstDash val="solid"/>
          </a:ln>
        </p:spPr>
      </p:sp>
      <p:pic>
        <p:nvPicPr>
          <p:cNvPr id="19" name="Image 1" descr="preencoded.png">    </p:cNvPr>
          <p:cNvPicPr>
            <a:picLocks noChangeAspect="1"/>
          </p:cNvPicPr>
          <p:nvPr/>
        </p:nvPicPr>
        <p:blipFill>
          <a:blip r:embed="rId5"/>
          <a:stretch>
            <a:fillRect/>
          </a:stretch>
        </p:blipFill>
        <p:spPr>
          <a:xfrm>
            <a:off x="822960" y="4233672"/>
            <a:ext cx="237744" cy="237744"/>
          </a:xfrm>
          <a:prstGeom prst="rect">
            <a:avLst/>
          </a:prstGeom>
        </p:spPr>
      </p:pic>
      <p:sp>
        <p:nvSpPr>
          <p:cNvPr id="20" name="Text 6"/>
          <p:cNvSpPr txBox="1"/>
          <p:nvPr/>
        </p:nvSpPr>
        <p:spPr>
          <a:xfrm>
            <a:off x="1188720" y="417880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Faster, frictionless, passport-free journey</a:t>
            </a:r>
            <a:endParaRPr lang="en-US" sz="1300" dirty="0"/>
          </a:p>
        </p:txBody>
      </p:sp>
      <p:pic>
        <p:nvPicPr>
          <p:cNvPr id="21" name="Image 2" descr="preencoded.png">    </p:cNvPr>
          <p:cNvPicPr>
            <a:picLocks noChangeAspect="1"/>
          </p:cNvPicPr>
          <p:nvPr/>
        </p:nvPicPr>
        <p:blipFill>
          <a:blip r:embed="rId6"/>
          <a:stretch>
            <a:fillRect/>
          </a:stretch>
        </p:blipFill>
        <p:spPr>
          <a:xfrm>
            <a:off x="822960" y="4782312"/>
            <a:ext cx="237744" cy="237744"/>
          </a:xfrm>
          <a:prstGeom prst="rect">
            <a:avLst/>
          </a:prstGeom>
        </p:spPr>
      </p:pic>
      <p:sp>
        <p:nvSpPr>
          <p:cNvPr id="22" name="Text 7"/>
          <p:cNvSpPr txBox="1"/>
          <p:nvPr/>
        </p:nvSpPr>
        <p:spPr>
          <a:xfrm>
            <a:off x="1188720" y="472744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Contactless, with less waiting</a:t>
            </a:r>
            <a:endParaRPr lang="en-US" sz="1300" dirty="0"/>
          </a:p>
        </p:txBody>
      </p:sp>
      <p:pic>
        <p:nvPicPr>
          <p:cNvPr id="23" name="Image 3" descr="preencoded.png">    </p:cNvPr>
          <p:cNvPicPr>
            <a:picLocks noChangeAspect="1"/>
          </p:cNvPicPr>
          <p:nvPr/>
        </p:nvPicPr>
        <p:blipFill>
          <a:blip r:embed="rId7"/>
          <a:stretch>
            <a:fillRect/>
          </a:stretch>
        </p:blipFill>
        <p:spPr>
          <a:xfrm>
            <a:off x="822960" y="5330952"/>
            <a:ext cx="237744" cy="237744"/>
          </a:xfrm>
          <a:prstGeom prst="rect">
            <a:avLst/>
          </a:prstGeom>
        </p:spPr>
      </p:pic>
      <p:sp>
        <p:nvSpPr>
          <p:cNvPr id="24" name="Text 8"/>
          <p:cNvSpPr txBox="1"/>
          <p:nvPr/>
        </p:nvSpPr>
        <p:spPr>
          <a:xfrm>
            <a:off x="1188720" y="527608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Consistent security from check-in to boarding</a:t>
            </a:r>
            <a:endParaRPr lang="en-US" sz="1300" dirty="0"/>
          </a:p>
        </p:txBody>
      </p:sp>
      <p:sp>
        <p:nvSpPr>
          <p:cNvPr id="25" name="Shape 9"/>
          <p:cNvSpPr/>
          <p:nvPr/>
        </p:nvSpPr>
        <p:spPr>
          <a:xfrm>
            <a:off x="4338218" y="1965960"/>
            <a:ext cx="3515258" cy="3931920"/>
          </a:xfrm>
          <a:prstGeom prst="roundRect">
            <a:avLst>
              <a:gd name="adj" fmla="val 4162"/>
            </a:avLst>
          </a:prstGeom>
          <a:solidFill>
            <a:srgbClr val="FFFFFF"/>
          </a:solidFill>
          <a:ln/>
          <a:effectLst>
            <a:outerShdw sx="100000" sy="100000" kx="0" ky="0" algn="bl" rotWithShape="0" blurRad="177800" dist="38100" dir="5400000">
              <a:srgbClr val="0A1628">
                <a:alpha val="12000"/>
              </a:srgbClr>
            </a:outerShdw>
          </a:effectLst>
        </p:spPr>
      </p:sp>
      <p:sp>
        <p:nvSpPr>
          <p:cNvPr id="26" name="Shape 10"/>
          <p:cNvSpPr/>
          <p:nvPr/>
        </p:nvSpPr>
        <p:spPr>
          <a:xfrm>
            <a:off x="4612538" y="2240280"/>
            <a:ext cx="420624" cy="420624"/>
          </a:xfrm>
          <a:prstGeom prst="ellipse">
            <a:avLst/>
          </a:prstGeom>
          <a:solidFill>
            <a:srgbClr val="0B84AE">
              <a:alpha val="12000"/>
            </a:srgbClr>
          </a:solidFill>
          <a:ln/>
        </p:spPr>
      </p:sp>
      <p:pic>
        <p:nvPicPr>
          <p:cNvPr id="27" name="Image 4" descr="preencoded.png">    </p:cNvPr>
          <p:cNvPicPr>
            <a:picLocks noChangeAspect="1"/>
          </p:cNvPicPr>
          <p:nvPr/>
        </p:nvPicPr>
        <p:blipFill>
          <a:blip r:embed="rId8"/>
          <a:stretch>
            <a:fillRect/>
          </a:stretch>
        </p:blipFill>
        <p:spPr>
          <a:xfrm>
            <a:off x="4713122" y="2340864"/>
            <a:ext cx="219456" cy="219456"/>
          </a:xfrm>
          <a:prstGeom prst="rect">
            <a:avLst/>
          </a:prstGeom>
        </p:spPr>
      </p:pic>
      <p:sp>
        <p:nvSpPr>
          <p:cNvPr id="28" name="Text 11"/>
          <p:cNvSpPr txBox="1"/>
          <p:nvPr/>
        </p:nvSpPr>
        <p:spPr>
          <a:xfrm>
            <a:off x="5124602" y="2240280"/>
            <a:ext cx="2646578" cy="420624"/>
          </a:xfrm>
          <a:prstGeom prst="rect">
            <a:avLst/>
          </a:prstGeom>
          <a:noFill/>
          <a:ln/>
        </p:spPr>
        <p:txBody>
          <a:bodyPr wrap="square" lIns="0" tIns="0" rIns="0" bIns="0" rtlCol="0" anchor="ctr"/>
          <a:lstStyle/>
          <a:p>
            <a:pPr indent="0" marL="0">
              <a:buNone/>
            </a:pPr>
            <a:r>
              <a:rPr lang="en-US" sz="1000" b="1" spc="120" kern="0" dirty="0">
                <a:solidFill>
                  <a:srgbClr val="0B84AE"/>
                </a:solidFill>
              </a:rPr>
              <a:t>FOR AIRPORTS &amp; AIRLINES</a:t>
            </a:r>
            <a:endParaRPr lang="en-US" sz="1000" dirty="0"/>
          </a:p>
        </p:txBody>
      </p:sp>
      <p:sp>
        <p:nvSpPr>
          <p:cNvPr id="29" name="Text 12"/>
          <p:cNvSpPr txBox="1"/>
          <p:nvPr/>
        </p:nvSpPr>
        <p:spPr>
          <a:xfrm>
            <a:off x="4612538" y="2788920"/>
            <a:ext cx="2966618" cy="640080"/>
          </a:xfrm>
          <a:prstGeom prst="rect">
            <a:avLst/>
          </a:prstGeom>
          <a:noFill/>
          <a:ln/>
        </p:spPr>
        <p:txBody>
          <a:bodyPr wrap="square" lIns="0" tIns="0" rIns="0" bIns="0" rtlCol="0" anchor="ctr"/>
          <a:lstStyle/>
          <a:p>
            <a:pPr indent="0" marL="0">
              <a:buNone/>
            </a:pPr>
            <a:r>
              <a:rPr lang="en-US" sz="4000" b="1" dirty="0">
                <a:solidFill>
                  <a:srgbClr val="0B1526"/>
                </a:solidFill>
              </a:rPr>
              <a:t>4 of 4</a:t>
            </a:r>
            <a:endParaRPr lang="en-US" sz="4000" dirty="0"/>
          </a:p>
        </p:txBody>
      </p:sp>
      <p:sp>
        <p:nvSpPr>
          <p:cNvPr id="30" name="Text 13"/>
          <p:cNvSpPr txBox="1"/>
          <p:nvPr/>
        </p:nvSpPr>
        <p:spPr>
          <a:xfrm>
            <a:off x="4612538" y="3447288"/>
            <a:ext cx="2966618" cy="457200"/>
          </a:xfrm>
          <a:prstGeom prst="rect">
            <a:avLst/>
          </a:prstGeom>
          <a:noFill/>
          <a:ln/>
        </p:spPr>
        <p:txBody>
          <a:bodyPr wrap="square" lIns="0" tIns="0" rIns="0" bIns="0" rtlCol="0" anchor="t"/>
          <a:lstStyle/>
          <a:p>
            <a:pPr indent="0" marL="0">
              <a:buNone/>
            </a:pPr>
            <a:r>
              <a:rPr lang="en-US" sz="1300" dirty="0">
                <a:solidFill>
                  <a:srgbClr val="4A5870"/>
                </a:solidFill>
              </a:rPr>
              <a:t>Identity touchpoints automated</a:t>
            </a:r>
            <a:endParaRPr lang="en-US" sz="1300" dirty="0"/>
          </a:p>
        </p:txBody>
      </p:sp>
      <p:sp>
        <p:nvSpPr>
          <p:cNvPr id="31" name="Shape 14"/>
          <p:cNvSpPr/>
          <p:nvPr/>
        </p:nvSpPr>
        <p:spPr>
          <a:xfrm>
            <a:off x="4612538" y="4032504"/>
            <a:ext cx="2966618" cy="0"/>
          </a:xfrm>
          <a:prstGeom prst="line">
            <a:avLst/>
          </a:prstGeom>
          <a:noFill/>
          <a:ln w="9525">
            <a:solidFill>
              <a:srgbClr val="E1E6ED"/>
            </a:solidFill>
            <a:prstDash val="solid"/>
          </a:ln>
        </p:spPr>
      </p:sp>
      <p:pic>
        <p:nvPicPr>
          <p:cNvPr id="32" name="Image 5" descr="preencoded.png">    </p:cNvPr>
          <p:cNvPicPr>
            <a:picLocks noChangeAspect="1"/>
          </p:cNvPicPr>
          <p:nvPr/>
        </p:nvPicPr>
        <p:blipFill>
          <a:blip r:embed="rId9"/>
          <a:stretch>
            <a:fillRect/>
          </a:stretch>
        </p:blipFill>
        <p:spPr>
          <a:xfrm>
            <a:off x="4612538" y="4233672"/>
            <a:ext cx="237744" cy="237744"/>
          </a:xfrm>
          <a:prstGeom prst="rect">
            <a:avLst/>
          </a:prstGeom>
        </p:spPr>
      </p:pic>
      <p:sp>
        <p:nvSpPr>
          <p:cNvPr id="33" name="Text 15"/>
          <p:cNvSpPr txBox="1"/>
          <p:nvPr/>
        </p:nvSpPr>
        <p:spPr>
          <a:xfrm>
            <a:off x="4978298" y="417880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Increased throughput without added manpower</a:t>
            </a:r>
            <a:endParaRPr lang="en-US" sz="1300" dirty="0"/>
          </a:p>
        </p:txBody>
      </p:sp>
      <p:pic>
        <p:nvPicPr>
          <p:cNvPr id="34" name="Image 6" descr="preencoded.png">    </p:cNvPr>
          <p:cNvPicPr>
            <a:picLocks noChangeAspect="1"/>
          </p:cNvPicPr>
          <p:nvPr/>
        </p:nvPicPr>
        <p:blipFill>
          <a:blip r:embed="rId10"/>
          <a:stretch>
            <a:fillRect/>
          </a:stretch>
        </p:blipFill>
        <p:spPr>
          <a:xfrm>
            <a:off x="4612538" y="4782312"/>
            <a:ext cx="237744" cy="237744"/>
          </a:xfrm>
          <a:prstGeom prst="rect">
            <a:avLst/>
          </a:prstGeom>
        </p:spPr>
      </p:pic>
      <p:sp>
        <p:nvSpPr>
          <p:cNvPr id="35" name="Text 16"/>
          <p:cNvSpPr txBox="1"/>
          <p:nvPr/>
        </p:nvSpPr>
        <p:spPr>
          <a:xfrm>
            <a:off x="4978298" y="472744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Reduced human error through automation and AI</a:t>
            </a:r>
            <a:endParaRPr lang="en-US" sz="1300" dirty="0"/>
          </a:p>
        </p:txBody>
      </p:sp>
      <p:pic>
        <p:nvPicPr>
          <p:cNvPr id="36" name="Image 7" descr="preencoded.png">    </p:cNvPr>
          <p:cNvPicPr>
            <a:picLocks noChangeAspect="1"/>
          </p:cNvPicPr>
          <p:nvPr/>
        </p:nvPicPr>
        <p:blipFill>
          <a:blip r:embed="rId11"/>
          <a:stretch>
            <a:fillRect/>
          </a:stretch>
        </p:blipFill>
        <p:spPr>
          <a:xfrm>
            <a:off x="4612538" y="5330952"/>
            <a:ext cx="237744" cy="237744"/>
          </a:xfrm>
          <a:prstGeom prst="rect">
            <a:avLst/>
          </a:prstGeom>
        </p:spPr>
      </p:pic>
      <p:sp>
        <p:nvSpPr>
          <p:cNvPr id="37" name="Text 17"/>
          <p:cNvSpPr txBox="1"/>
          <p:nvPr/>
        </p:nvSpPr>
        <p:spPr>
          <a:xfrm>
            <a:off x="4978298" y="527608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Scalable, infrastructure-light and future-ready</a:t>
            </a:r>
            <a:endParaRPr lang="en-US" sz="1300" dirty="0"/>
          </a:p>
        </p:txBody>
      </p:sp>
      <p:sp>
        <p:nvSpPr>
          <p:cNvPr id="38" name="Shape 18"/>
          <p:cNvSpPr/>
          <p:nvPr/>
        </p:nvSpPr>
        <p:spPr>
          <a:xfrm>
            <a:off x="8127797" y="1965960"/>
            <a:ext cx="3515258" cy="3931920"/>
          </a:xfrm>
          <a:prstGeom prst="roundRect">
            <a:avLst>
              <a:gd name="adj" fmla="val 4162"/>
            </a:avLst>
          </a:prstGeom>
          <a:solidFill>
            <a:srgbClr val="FFFFFF"/>
          </a:solidFill>
          <a:ln/>
          <a:effectLst>
            <a:outerShdw sx="100000" sy="100000" kx="0" ky="0" algn="bl" rotWithShape="0" blurRad="177800" dist="38100" dir="5400000">
              <a:srgbClr val="0A1628">
                <a:alpha val="12000"/>
              </a:srgbClr>
            </a:outerShdw>
          </a:effectLst>
        </p:spPr>
      </p:sp>
      <p:sp>
        <p:nvSpPr>
          <p:cNvPr id="39" name="Shape 19"/>
          <p:cNvSpPr/>
          <p:nvPr/>
        </p:nvSpPr>
        <p:spPr>
          <a:xfrm>
            <a:off x="8402117" y="2240280"/>
            <a:ext cx="420624" cy="420624"/>
          </a:xfrm>
          <a:prstGeom prst="ellipse">
            <a:avLst/>
          </a:prstGeom>
          <a:solidFill>
            <a:srgbClr val="0B84AE">
              <a:alpha val="12000"/>
            </a:srgbClr>
          </a:solidFill>
          <a:ln/>
        </p:spPr>
      </p:sp>
      <p:pic>
        <p:nvPicPr>
          <p:cNvPr id="40" name="Image 8" descr="preencoded.png">    </p:cNvPr>
          <p:cNvPicPr>
            <a:picLocks noChangeAspect="1"/>
          </p:cNvPicPr>
          <p:nvPr/>
        </p:nvPicPr>
        <p:blipFill>
          <a:blip r:embed="rId12"/>
          <a:stretch>
            <a:fillRect/>
          </a:stretch>
        </p:blipFill>
        <p:spPr>
          <a:xfrm>
            <a:off x="8502701" y="2340864"/>
            <a:ext cx="219456" cy="219456"/>
          </a:xfrm>
          <a:prstGeom prst="rect">
            <a:avLst/>
          </a:prstGeom>
        </p:spPr>
      </p:pic>
      <p:sp>
        <p:nvSpPr>
          <p:cNvPr id="41" name="Text 20"/>
          <p:cNvSpPr txBox="1"/>
          <p:nvPr/>
        </p:nvSpPr>
        <p:spPr>
          <a:xfrm>
            <a:off x="8914181" y="2240280"/>
            <a:ext cx="2646578" cy="420624"/>
          </a:xfrm>
          <a:prstGeom prst="rect">
            <a:avLst/>
          </a:prstGeom>
          <a:noFill/>
          <a:ln/>
        </p:spPr>
        <p:txBody>
          <a:bodyPr wrap="square" lIns="0" tIns="0" rIns="0" bIns="0" rtlCol="0" anchor="ctr"/>
          <a:lstStyle/>
          <a:p>
            <a:pPr indent="0" marL="0">
              <a:buNone/>
            </a:pPr>
            <a:r>
              <a:rPr lang="en-US" sz="1000" b="1" spc="120" kern="0" dirty="0">
                <a:solidFill>
                  <a:srgbClr val="0B84AE"/>
                </a:solidFill>
              </a:rPr>
              <a:t>FOR IMMIGRATION &amp; SECURITY</a:t>
            </a:r>
            <a:endParaRPr lang="en-US" sz="1000" dirty="0"/>
          </a:p>
        </p:txBody>
      </p:sp>
      <p:sp>
        <p:nvSpPr>
          <p:cNvPr id="42" name="Text 21"/>
          <p:cNvSpPr txBox="1"/>
          <p:nvPr/>
        </p:nvSpPr>
        <p:spPr>
          <a:xfrm>
            <a:off x="8402117" y="2788920"/>
            <a:ext cx="2966618" cy="640080"/>
          </a:xfrm>
          <a:prstGeom prst="rect">
            <a:avLst/>
          </a:prstGeom>
          <a:noFill/>
          <a:ln/>
        </p:spPr>
        <p:txBody>
          <a:bodyPr wrap="square" lIns="0" tIns="0" rIns="0" bIns="0" rtlCol="0" anchor="ctr"/>
          <a:lstStyle/>
          <a:p>
            <a:pPr indent="0" marL="0">
              <a:buNone/>
            </a:pPr>
            <a:r>
              <a:rPr lang="en-US" sz="4000" b="1" dirty="0">
                <a:solidFill>
                  <a:srgbClr val="0B1526"/>
                </a:solidFill>
              </a:rPr>
              <a:t>1 view</a:t>
            </a:r>
            <a:endParaRPr lang="en-US" sz="4000" dirty="0"/>
          </a:p>
        </p:txBody>
      </p:sp>
      <p:sp>
        <p:nvSpPr>
          <p:cNvPr id="43" name="Text 22"/>
          <p:cNvSpPr txBox="1"/>
          <p:nvPr/>
        </p:nvSpPr>
        <p:spPr>
          <a:xfrm>
            <a:off x="8402117" y="3447288"/>
            <a:ext cx="2966618" cy="457200"/>
          </a:xfrm>
          <a:prstGeom prst="rect">
            <a:avLst/>
          </a:prstGeom>
          <a:noFill/>
          <a:ln/>
        </p:spPr>
        <p:txBody>
          <a:bodyPr wrap="square" lIns="0" tIns="0" rIns="0" bIns="0" rtlCol="0" anchor="t"/>
          <a:lstStyle/>
          <a:p>
            <a:pPr indent="0" marL="0">
              <a:buNone/>
            </a:pPr>
            <a:r>
              <a:rPr lang="en-US" sz="1300" dirty="0">
                <a:solidFill>
                  <a:srgbClr val="4A5870"/>
                </a:solidFill>
              </a:rPr>
              <a:t>Every lane, clearance and incident in ISMP</a:t>
            </a:r>
            <a:endParaRPr lang="en-US" sz="1300" dirty="0"/>
          </a:p>
        </p:txBody>
      </p:sp>
      <p:sp>
        <p:nvSpPr>
          <p:cNvPr id="44" name="Shape 23"/>
          <p:cNvSpPr/>
          <p:nvPr/>
        </p:nvSpPr>
        <p:spPr>
          <a:xfrm>
            <a:off x="8402117" y="4032504"/>
            <a:ext cx="2966618" cy="0"/>
          </a:xfrm>
          <a:prstGeom prst="line">
            <a:avLst/>
          </a:prstGeom>
          <a:noFill/>
          <a:ln w="9525">
            <a:solidFill>
              <a:srgbClr val="E1E6ED"/>
            </a:solidFill>
            <a:prstDash val="solid"/>
          </a:ln>
        </p:spPr>
      </p:sp>
      <p:pic>
        <p:nvPicPr>
          <p:cNvPr id="45" name="Image 9" descr="preencoded.png">    </p:cNvPr>
          <p:cNvPicPr>
            <a:picLocks noChangeAspect="1"/>
          </p:cNvPicPr>
          <p:nvPr/>
        </p:nvPicPr>
        <p:blipFill>
          <a:blip r:embed="rId13"/>
          <a:stretch>
            <a:fillRect/>
          </a:stretch>
        </p:blipFill>
        <p:spPr>
          <a:xfrm>
            <a:off x="8402117" y="4233672"/>
            <a:ext cx="237744" cy="237744"/>
          </a:xfrm>
          <a:prstGeom prst="rect">
            <a:avLst/>
          </a:prstGeom>
        </p:spPr>
      </p:pic>
      <p:sp>
        <p:nvSpPr>
          <p:cNvPr id="46" name="Text 24"/>
          <p:cNvSpPr txBox="1"/>
          <p:nvPr/>
        </p:nvSpPr>
        <p:spPr>
          <a:xfrm>
            <a:off x="8767877" y="417880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Unified monitoring, analytics and faster incident response</a:t>
            </a:r>
            <a:endParaRPr lang="en-US" sz="1300" dirty="0"/>
          </a:p>
        </p:txBody>
      </p:sp>
      <p:pic>
        <p:nvPicPr>
          <p:cNvPr id="47" name="Image 10" descr="preencoded.png">    </p:cNvPr>
          <p:cNvPicPr>
            <a:picLocks noChangeAspect="1"/>
          </p:cNvPicPr>
          <p:nvPr/>
        </p:nvPicPr>
        <p:blipFill>
          <a:blip r:embed="rId14"/>
          <a:stretch>
            <a:fillRect/>
          </a:stretch>
        </p:blipFill>
        <p:spPr>
          <a:xfrm>
            <a:off x="8402117" y="4782312"/>
            <a:ext cx="237744" cy="237744"/>
          </a:xfrm>
          <a:prstGeom prst="rect">
            <a:avLst/>
          </a:prstGeom>
        </p:spPr>
      </p:pic>
      <p:sp>
        <p:nvSpPr>
          <p:cNvPr id="48" name="Text 25"/>
          <p:cNvSpPr txBox="1"/>
          <p:nvPr/>
        </p:nvSpPr>
        <p:spPr>
          <a:xfrm>
            <a:off x="8767877" y="472744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Officers focus on exceptions, not routine checks</a:t>
            </a:r>
            <a:endParaRPr lang="en-US" sz="1300" dirty="0"/>
          </a:p>
        </p:txBody>
      </p:sp>
      <p:pic>
        <p:nvPicPr>
          <p:cNvPr id="49" name="Image 11" descr="preencoded.png">    </p:cNvPr>
          <p:cNvPicPr>
            <a:picLocks noChangeAspect="1"/>
          </p:cNvPicPr>
          <p:nvPr/>
        </p:nvPicPr>
        <p:blipFill>
          <a:blip r:embed="rId15"/>
          <a:stretch>
            <a:fillRect/>
          </a:stretch>
        </p:blipFill>
        <p:spPr>
          <a:xfrm>
            <a:off x="8402117" y="5330952"/>
            <a:ext cx="237744" cy="237744"/>
          </a:xfrm>
          <a:prstGeom prst="rect">
            <a:avLst/>
          </a:prstGeom>
        </p:spPr>
      </p:pic>
      <p:sp>
        <p:nvSpPr>
          <p:cNvPr id="50" name="Text 26"/>
          <p:cNvSpPr txBox="1"/>
          <p:nvPr/>
        </p:nvSpPr>
        <p:spPr>
          <a:xfrm>
            <a:off x="8767877" y="5276088"/>
            <a:ext cx="2646578" cy="457200"/>
          </a:xfrm>
          <a:prstGeom prst="rect">
            <a:avLst/>
          </a:prstGeom>
          <a:noFill/>
          <a:ln/>
        </p:spPr>
        <p:txBody>
          <a:bodyPr wrap="square" lIns="0" tIns="0" rIns="0" bIns="0" rtlCol="0" anchor="ctr"/>
          <a:lstStyle/>
          <a:p>
            <a:pPr indent="0" marL="0">
              <a:buNone/>
            </a:pPr>
            <a:r>
              <a:rPr lang="en-US" sz="1300" b="1" dirty="0">
                <a:solidFill>
                  <a:srgbClr val="0B1526"/>
                </a:solidFill>
              </a:rPr>
              <a:t>Two factors on the move: phone credential + live face</a:t>
            </a:r>
            <a:endParaRPr lang="en-US" sz="1300" dirty="0"/>
          </a:p>
        </p:txBody>
      </p:sp>
      <p:sp>
        <p:nvSpPr>
          <p:cNvPr id="51" name="Text 27"/>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rgbClr val="4A5870"/>
                </a:solidFill>
              </a:rPr>
              <a:t>Kerb-to-gate time is a target, to be validated at the airport demonstration. ROI is anchored on officer hours and capacity gained without new terminal space.</a:t>
            </a:r>
            <a:endParaRPr lang="en-US" sz="10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FE65ED44-8DB6-2EDB-4B82-1C229A16857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470E9D31-D6F7-78B8-9431-3883A953BBF5}"/>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C8DDC2E7-0D46-BEDA-B896-5B1FCC7901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4EC15D4-BE5A-757F-6B02-21351CCBF4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79BB7842-812C-2F3E-B647-1A88F1D3999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8" name="Slide Number Placeholder 4">
            <a:extLst>
              <a:ext uri="{FF2B5EF4-FFF2-40B4-BE49-F238E27FC236}">
                <a16:creationId xmlns:a16="http://schemas.microsoft.com/office/drawing/2014/main" id="{D71C6F89-DFED-26E4-3ABC-C9625EF18DBF}"/>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3</a:t>
            </a:fld>
            <a:r>
              <a:rPr lang="en-US" sz="1200">
                <a:latin typeface="+mj-lt"/>
              </a:rPr>
              <a:t>   | </a:t>
            </a:r>
          </a:p>
        </p:txBody>
      </p:sp>
      <p:sp>
        <p:nvSpPr>
          <p:cNvPr id="9" name="Title 4">
            <a:extLst>
              <a:ext uri="{FF2B5EF4-FFF2-40B4-BE49-F238E27FC236}">
                <a16:creationId xmlns:a16="http://schemas.microsoft.com/office/drawing/2014/main" id="{08F212A0-0828-8963-EA3E-E0EDF089EC8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External sources and internal estimates</a:t>
            </a:r>
          </a:p>
        </p:txBody>
      </p:sp>
      <p:sp>
        <p:nvSpPr>
          <p:cNvPr id="10" name="TextBox 25">
            <a:extLst>
              <a:ext uri="{FF2B5EF4-FFF2-40B4-BE49-F238E27FC236}">
                <a16:creationId xmlns:a16="http://schemas.microsoft.com/office/drawing/2014/main" id="{7C05267D-674B-7BAD-3DAC-A5B6FDCA3332}"/>
              </a:ext>
            </a:extLst>
          </p:cNvPr>
          <p:cNvSpPr txBox="1"/>
          <p:nvPr/>
        </p:nvSpPr>
        <p:spPr>
          <a:xfrm>
            <a:off x="343779" y="563652"/>
            <a:ext cx="5943600" cy="338554"/>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lgn="l">
              <a:defRPr/>
            </a:pPr>
            <a:r>
              <a:rPr lang="en-US" sz="1600" dirty="0">
                <a:solidFill>
                  <a:srgbClr val="E30613"/>
                </a:solidFill>
                <a:latin typeface="+mj-lt"/>
              </a:rPr>
              <a:t>Appendix  ·  References</a:t>
            </a:r>
          </a:p>
        </p:txBody>
      </p:sp>
      <p:sp>
        <p:nvSpPr>
          <p:cNvPr id="11" name="Text 2">
            <a:extLst>
              <a:ext uri="{FF2B5EF4-FFF2-40B4-BE49-F238E27FC236}">
                <a16:creationId xmlns:a16="http://schemas.microsoft.com/office/drawing/2014/main" id="{BE58A662-E22B-C1CC-9FBC-E7CEEE803934}"/>
              </a:ext>
            </a:extLst>
          </p:cNvPr>
          <p:cNvSpPr/>
          <p:nvPr/>
        </p:nvSpPr>
        <p:spPr>
          <a:xfrm>
            <a:off x="398363" y="1399096"/>
            <a:ext cx="11368060" cy="338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srgbClr val="4F5B6D"/>
                </a:solidFill>
                <a:effectLst/>
                <a:uLnTx/>
                <a:uFillTx/>
                <a:latin typeface="+mj-lt"/>
                <a:ea typeface="+mn-ea"/>
                <a:cs typeface="+mn-cs"/>
              </a:rPr>
              <a:t>Every market and industry figure on the slides, with its source. Checked 18 Oct 2026.</a:t>
            </a: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749040"/>
                <a:gridCol w="6217920"/>
                <a:gridCol w="1127455"/>
              </a:tblGrid>
              <a:tr h="420624">
                <a:tc>
                  <a:txBody>
                    <a:bodyPr/>
                    <a:lstStyle/>
                    <a:p>
                      <a:pPr indent="0" marL="0">
                        <a:buNone/>
                      </a:pPr>
                      <a:r>
                        <a:rPr lang="en-US" sz="1100" b="1" dirty="0">
                          <a:solidFill>
                            <a:srgbClr val="FFFFFF"/>
                          </a:solidFill>
                        </a:rPr>
                        <a:t>What the slide says</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rPr>
                        <a:t>Source</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rPr>
                        <a:t>Status</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0B2545"/>
                    </a:solidFill>
                  </a:tcPr>
                </a:tc>
              </a:tr>
              <a:tr h="420624">
                <a:tc>
                  <a:txBody>
                    <a:bodyPr/>
                    <a:lstStyle/>
                    <a:p>
                      <a:pPr indent="0" marL="0">
                        <a:buNone/>
                      </a:pPr>
                      <a:r>
                        <a:rPr lang="en-US" sz="1000" dirty="0">
                          <a:solidFill>
                            <a:srgbClr val="0B1526"/>
                          </a:solidFill>
                        </a:rPr>
                        <a:t>Air travel demand doubles by 2040 (7.8 bn journeys, +4.2% a year)</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u="sng" dirty="0">
                          <a:solidFill>
                            <a:srgbClr val="0B84AE"/>
                          </a:solidFill>
                          <a:hlinkClick r:id="rId4" invalidUrl="" action="" tgtFrame="" tooltip="" history="1" highlightClick="0" endSnd="0">
                            <a:extLst>
                              <a:ext uri="{A12FA001-AC4F-418D-AE19-62706E023703}">
                                <ahyp:hlinkClr xmlns:ahyp="http://schemas.microsoft.com/office/drawing/2018/hyperlinkcolor" val="tx"/>
                              </a:ext>
                            </a:extLst>
                          </a:hlinkClick>
                        </a:rPr>
                        <a:t>IATA, Global Outlook for Air Transport, Dec 2023</a:t>
                      </a:r>
                      <a:endParaRPr lang="en-US" sz="1000" dirty="0"/>
                    </a:p>
                    <a:p>
                      <a:pPr indent="0" marL="0">
                        <a:buNone/>
                      </a:pPr>
                      <a:r>
                        <a:rPr lang="en-US" sz="800" dirty="0">
                          <a:solidFill>
                            <a:srgbClr val="4A5870"/>
                          </a:solidFill>
                        </a:rPr>
                        <a:t>https://www.iata.org/en/iata-repository/publications/economic-reports/global-outlook-for-air-transport---december-2023---report/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1E9E50"/>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B1526"/>
                          </a:solidFill>
                        </a:rPr>
                        <a:t>48% of airports plan cross-silo data sharing or synchronisation by 2027</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u="sng" dirty="0">
                          <a:solidFill>
                            <a:srgbClr val="0B84AE"/>
                          </a:solidFill>
                          <a:hlinkClick r:id="rId5" invalidUrl="" action="" tgtFrame="" tooltip="" history="1" highlightClick="0" endSnd="0">
                            <a:extLst>
                              <a:ext uri="{A12FA001-AC4F-418D-AE19-62706E023703}">
                                <ahyp:hlinkClr xmlns:ahyp="http://schemas.microsoft.com/office/drawing/2018/hyperlinkcolor" val="tx"/>
                              </a:ext>
                            </a:extLst>
                          </a:hlinkClick>
                        </a:rPr>
                        <a:t>SITA, Air Transport IT Insights 2025 (airports)</a:t>
                      </a:r>
                      <a:endParaRPr lang="en-US" sz="1000" dirty="0"/>
                    </a:p>
                    <a:p>
                      <a:pPr indent="0" marL="0">
                        <a:buNone/>
                      </a:pPr>
                      <a:r>
                        <a:rPr lang="en-US" sz="800" dirty="0">
                          <a:solidFill>
                            <a:srgbClr val="4A5870"/>
                          </a:solidFill>
                        </a:rPr>
                        <a:t>https://www.sita.aero/resources/surveys-reports/air-transport-it-insights-2025/airports/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1E9E50"/>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B1526"/>
                          </a:solidFill>
                        </a:rPr>
                        <a:t>7 in 10 airlines adopting biometric ID by 2026</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u="sng" dirty="0">
                          <a:solidFill>
                            <a:srgbClr val="0B84AE"/>
                          </a:solidFill>
                          <a:hlinkClick r:id="rId6" invalidUrl="" action="" tgtFrame="" tooltip="" history="1" highlightClick="0" endSnd="0">
                            <a:extLst>
                              <a:ext uri="{A12FA001-AC4F-418D-AE19-62706E023703}">
                                <ahyp:hlinkClr xmlns:ahyp="http://schemas.microsoft.com/office/drawing/2018/hyperlinkcolor" val="tx"/>
                              </a:ext>
                            </a:extLst>
                          </a:hlinkClick>
                        </a:rPr>
                        <a:t>SITA, Air Transport IT Insights 2024</a:t>
                      </a:r>
                      <a:endParaRPr lang="en-US" sz="1000" dirty="0"/>
                    </a:p>
                    <a:p>
                      <a:pPr indent="0" marL="0">
                        <a:buNone/>
                      </a:pPr>
                      <a:r>
                        <a:rPr lang="en-US" sz="800" dirty="0">
                          <a:solidFill>
                            <a:srgbClr val="4A5870"/>
                          </a:solidFill>
                        </a:rPr>
                        <a:t>https://www.sita.aero/resources/surveys-reports/air-transport-it-insights-2024/</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1E9E50"/>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B1526"/>
                          </a:solidFill>
                        </a:rPr>
                        <a:t>ABC market US$2.56B (2025) → US$5.03B (2030); 14.4% CAGR (≈14.5% from the endpoints)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u="sng" dirty="0">
                          <a:solidFill>
                            <a:srgbClr val="0B84AE"/>
                          </a:solidFill>
                          <a:hlinkClick r:id="rId7" invalidUrl="" action="" tgtFrame="" tooltip="" history="1" highlightClick="0" endSnd="0">
                            <a:extLst>
                              <a:ext uri="{A12FA001-AC4F-418D-AE19-62706E023703}">
                                <ahyp:hlinkClr xmlns:ahyp="http://schemas.microsoft.com/office/drawing/2018/hyperlinkcolor" val="tx"/>
                              </a:ext>
                            </a:extLst>
                          </a:hlinkClick>
                        </a:rPr>
                        <a:t>MarketsandMarkets press release, Jul 2025</a:t>
                      </a:r>
                      <a:endParaRPr lang="en-US" sz="1000" dirty="0"/>
                    </a:p>
                    <a:p>
                      <a:pPr indent="0" marL="0">
                        <a:buNone/>
                      </a:pPr>
                      <a:r>
                        <a:rPr lang="en-US" sz="800" dirty="0">
                          <a:solidFill>
                            <a:srgbClr val="4A5870"/>
                          </a:solidFill>
                        </a:rPr>
                        <a:t>https://www.marketsandmarkets.com/PressReleases/automated-border-control.asp</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1E9E50"/>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B1526"/>
                          </a:solidFill>
                        </a:rPr>
                        <a:t>Airports ≈83% of the ABC market (83.1%, 2025)</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u="sng" dirty="0">
                          <a:solidFill>
                            <a:srgbClr val="0B84AE"/>
                          </a:solidFill>
                          <a:hlinkClick r:id="rId8" invalidUrl="" action="" tgtFrame="" tooltip="" history="1" highlightClick="0" endSnd="0">
                            <a:extLst>
                              <a:ext uri="{A12FA001-AC4F-418D-AE19-62706E023703}">
                                <ahyp:hlinkClr xmlns:ahyp="http://schemas.microsoft.com/office/drawing/2018/hyperlinkcolor" val="tx"/>
                              </a:ext>
                            </a:extLst>
                          </a:hlinkClick>
                        </a:rPr>
                        <a:t>MarketsandMarkets, ABC market size insight</a:t>
                      </a:r>
                      <a:endParaRPr lang="en-US" sz="1000" dirty="0"/>
                    </a:p>
                    <a:p>
                      <a:pPr indent="0" marL="0">
                        <a:buNone/>
                      </a:pPr>
                      <a:r>
                        <a:rPr lang="en-US" sz="800" dirty="0">
                          <a:solidFill>
                            <a:srgbClr val="4A5870"/>
                          </a:solidFill>
                        </a:rPr>
                        <a:t>https://www.marketsandmarkets.com/ResearchInsight/automated-border-control-market-size.asp</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1E9E50"/>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B1526"/>
                          </a:solidFill>
                        </a:rPr>
                        <a:t>9.8 bn airport passengers in 2025 (+3.7%); ACI counts airport passengers, IATA counts journeys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u="sng" dirty="0">
                          <a:solidFill>
                            <a:srgbClr val="0B84AE"/>
                          </a:solidFill>
                          <a:hlinkClick r:id="rId9" invalidUrl="" action="" tgtFrame="" tooltip="" history="1" highlightClick="0" endSnd="0">
                            <a:extLst>
                              <a:ext uri="{A12FA001-AC4F-418D-AE19-62706E023703}">
                                <ahyp:hlinkClr xmlns:ahyp="http://schemas.microsoft.com/office/drawing/2018/hyperlinkcolor" val="tx"/>
                              </a:ext>
                            </a:extLst>
                          </a:hlinkClick>
                        </a:rPr>
                        <a:t>ACI World, World Airport Traffic Report, Sep 2025 (via CAPA)</a:t>
                      </a:r>
                      <a:endParaRPr lang="en-US" sz="1000" dirty="0"/>
                    </a:p>
                    <a:p>
                      <a:pPr indent="0" marL="0">
                        <a:buNone/>
                      </a:pPr>
                      <a:r>
                        <a:rPr lang="en-US" sz="800" dirty="0">
                          <a:solidFill>
                            <a:srgbClr val="4A5870"/>
                          </a:solidFill>
                        </a:rPr>
                        <a:t>https://centreforaviation.com/news/aci-world-forecasts-global-passenger-traffic-to-reach-99bn-in-2025-up-48-1313729</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4A5870"/>
                          </a:solidFill>
                        </a:rPr>
                        <a:t>Context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B1526"/>
                          </a:solidFill>
                        </a:rPr>
                        <a:t>ME + SEA ≈10–15% of market; FastPass addressable ≈25%; ~78% brownfield; ≥2 staff per touchpoint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dirty="0">
                          <a:solidFill>
                            <a:srgbClr val="0B1526"/>
                          </a:solidFill>
                        </a:rPr>
                        <a:t>URS analysis on MarketsandMarkets data; airport expert calls; submission §7</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0B84AE"/>
                          </a:solidFill>
                        </a:rPr>
                        <a:t>Internal estimate</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r h="420624">
                <a:tc>
                  <a:txBody>
                    <a:bodyPr/>
                    <a:lstStyle/>
                    <a:p>
                      <a:pPr indent="0" marL="0">
                        <a:buNone/>
                      </a:pPr>
                      <a:r>
                        <a:rPr lang="en-US" sz="1000" dirty="0">
                          <a:solidFill>
                            <a:srgbClr val="0B1526"/>
                          </a:solidFill>
                        </a:rPr>
                        <a:t>Kerb to gate in 8–11 minutes; first customer pilot in 2027</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dirty="0">
                          <a:solidFill>
                            <a:srgbClr val="0B1526"/>
                          </a:solidFill>
                        </a:rPr>
                        <a:t>Sales review 14 Oct 2026; programme plan. Validate at the Q4 2026 live demo</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c>
                  <a:txBody>
                    <a:bodyPr/>
                    <a:lstStyle/>
                    <a:p>
                      <a:pPr indent="0" marL="0">
                        <a:buNone/>
                      </a:pPr>
                      <a:r>
                        <a:rPr lang="en-US" sz="1000" b="1" dirty="0">
                          <a:solidFill>
                            <a:srgbClr val="0B84AE"/>
                          </a:solidFill>
                        </a:rPr>
                        <a:t>Target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FE65ED44-8DB6-2EDB-4B82-1C229A16857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470E9D31-D6F7-78B8-9431-3883A953BBF5}"/>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C8DDC2E7-0D46-BEDA-B896-5B1FCC7901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4EC15D4-BE5A-757F-6B02-21351CCBF4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79BB7842-812C-2F3E-B647-1A88F1D3999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8" name="Slide Number Placeholder 4">
            <a:extLst>
              <a:ext uri="{FF2B5EF4-FFF2-40B4-BE49-F238E27FC236}">
                <a16:creationId xmlns:a16="http://schemas.microsoft.com/office/drawing/2014/main" id="{D71C6F89-DFED-26E4-3ABC-C9625EF18DBF}"/>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3</a:t>
            </a:fld>
            <a:r>
              <a:rPr lang="en-US" sz="1200">
                <a:latin typeface="+mj-lt"/>
              </a:rPr>
              <a:t>   | </a:t>
            </a:r>
          </a:p>
        </p:txBody>
      </p:sp>
      <p:sp>
        <p:nvSpPr>
          <p:cNvPr id="9" name="Title 4">
            <a:extLst>
              <a:ext uri="{FF2B5EF4-FFF2-40B4-BE49-F238E27FC236}">
                <a16:creationId xmlns:a16="http://schemas.microsoft.com/office/drawing/2014/main" id="{08F212A0-0828-8963-EA3E-E0EDF089EC8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Hard questions, short answers</a:t>
            </a:r>
          </a:p>
        </p:txBody>
      </p:sp>
      <p:sp>
        <p:nvSpPr>
          <p:cNvPr id="10" name="TextBox 25">
            <a:extLst>
              <a:ext uri="{FF2B5EF4-FFF2-40B4-BE49-F238E27FC236}">
                <a16:creationId xmlns:a16="http://schemas.microsoft.com/office/drawing/2014/main" id="{7C05267D-674B-7BAD-3DAC-A5B6FDCA3332}"/>
              </a:ext>
            </a:extLst>
          </p:cNvPr>
          <p:cNvSpPr txBox="1"/>
          <p:nvPr/>
        </p:nvSpPr>
        <p:spPr>
          <a:xfrm>
            <a:off x="343779" y="563652"/>
            <a:ext cx="5943600" cy="338554"/>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lgn="l">
              <a:defRPr/>
            </a:pPr>
            <a:r>
              <a:rPr lang="en-US" sz="1600" dirty="0">
                <a:solidFill>
                  <a:srgbClr val="E30613"/>
                </a:solidFill>
                <a:latin typeface="+mj-lt"/>
              </a:rPr>
              <a:t>Appendix  ·  Q&amp;A</a:t>
            </a:r>
          </a:p>
        </p:txBody>
      </p:sp>
      <p:sp>
        <p:nvSpPr>
          <p:cNvPr id="11" name="Text 2">
            <a:extLst>
              <a:ext uri="{FF2B5EF4-FFF2-40B4-BE49-F238E27FC236}">
                <a16:creationId xmlns:a16="http://schemas.microsoft.com/office/drawing/2014/main" id="{BE58A662-E22B-C1CC-9FBC-E7CEEE803934}"/>
              </a:ext>
            </a:extLst>
          </p:cNvPr>
          <p:cNvSpPr/>
          <p:nvPr/>
        </p:nvSpPr>
        <p:spPr>
          <a:xfrm>
            <a:off x="398363" y="1399096"/>
            <a:ext cx="11368060" cy="338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srgbClr val="4F5B6D"/>
                </a:solidFill>
                <a:effectLst/>
                <a:uLnTx/>
                <a:uFillTx/>
                <a:latin typeface="+mj-lt"/>
                <a:ea typeface="+mn-ea"/>
                <a:cs typeface="+mn-cs"/>
              </a:rPr>
              <a:t>Product and security questions judges and Excos are likely to ask.</a:t>
            </a:r>
          </a:p>
        </p:txBody>
      </p:sp>
      <p:sp>
        <p:nvSpPr>
          <p:cNvPr id="12" name="Shape 0"/>
          <p:cNvSpPr/>
          <p:nvPr/>
        </p:nvSpPr>
        <p:spPr>
          <a:xfrm>
            <a:off x="548640" y="19659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13" name="Shape 1"/>
          <p:cNvSpPr/>
          <p:nvPr/>
        </p:nvSpPr>
        <p:spPr>
          <a:xfrm>
            <a:off x="777240" y="2167128"/>
            <a:ext cx="420624" cy="420624"/>
          </a:xfrm>
          <a:prstGeom prst="ellipse">
            <a:avLst/>
          </a:prstGeom>
          <a:solidFill>
            <a:srgbClr val="0B84AE">
              <a:alpha val="12000"/>
            </a:srgbClr>
          </a:solidFill>
          <a:ln/>
        </p:spPr>
      </p:sp>
      <p:pic>
        <p:nvPicPr>
          <p:cNvPr id="14" name="Image 0" descr="preencoded.png">    </p:cNvPr>
          <p:cNvPicPr>
            <a:picLocks noChangeAspect="1"/>
          </p:cNvPicPr>
          <p:nvPr/>
        </p:nvPicPr>
        <p:blipFill>
          <a:blip r:embed="rId4"/>
          <a:stretch>
            <a:fillRect/>
          </a:stretch>
        </p:blipFill>
        <p:spPr>
          <a:xfrm>
            <a:off x="877824" y="2267712"/>
            <a:ext cx="219456" cy="219456"/>
          </a:xfrm>
          <a:prstGeom prst="rect">
            <a:avLst/>
          </a:prstGeom>
        </p:spPr>
      </p:pic>
      <p:sp>
        <p:nvSpPr>
          <p:cNvPr id="15" name="Text 2"/>
          <p:cNvSpPr txBox="1"/>
          <p:nvPr/>
        </p:nvSpPr>
        <p:spPr>
          <a:xfrm>
            <a:off x="1325880" y="21488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Where is biometric data stored?</a:t>
            </a:r>
            <a:endParaRPr lang="en-US" sz="1500" dirty="0"/>
          </a:p>
        </p:txBody>
      </p:sp>
      <p:sp>
        <p:nvSpPr>
          <p:cNvPr id="16" name="Text 3"/>
          <p:cNvSpPr txBox="1"/>
          <p:nvPr/>
        </p:nvSpPr>
        <p:spPr>
          <a:xfrm>
            <a:off x="1325880" y="2532888"/>
            <a:ext cx="4449928" cy="594360"/>
          </a:xfrm>
          <a:prstGeom prst="rect">
            <a:avLst/>
          </a:prstGeom>
          <a:noFill/>
          <a:ln/>
        </p:spPr>
        <p:txBody>
          <a:bodyPr wrap="square" lIns="0" tIns="0" rIns="0" bIns="0" rtlCol="0" anchor="t"/>
          <a:lstStyle/>
          <a:p>
            <a:pPr indent="0" marL="0">
              <a:buNone/>
            </a:pPr>
            <a:r>
              <a:rPr lang="en-US" sz="1250" dirty="0">
                <a:solidFill>
                  <a:srgbClr val="4A5870"/>
                </a:solidFill>
              </a:rPr>
              <a:t>Encrypted on the traveller’s phone and released only to a paired lane. The airport keeps no central biometric database.</a:t>
            </a:r>
            <a:endParaRPr lang="en-US" sz="1250" dirty="0"/>
          </a:p>
        </p:txBody>
      </p:sp>
      <p:sp>
        <p:nvSpPr>
          <p:cNvPr id="17" name="Shape 4"/>
          <p:cNvSpPr/>
          <p:nvPr/>
        </p:nvSpPr>
        <p:spPr>
          <a:xfrm>
            <a:off x="6233008" y="19659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18" name="Shape 5"/>
          <p:cNvSpPr/>
          <p:nvPr/>
        </p:nvSpPr>
        <p:spPr>
          <a:xfrm>
            <a:off x="6461608" y="2167128"/>
            <a:ext cx="420624" cy="420624"/>
          </a:xfrm>
          <a:prstGeom prst="ellipse">
            <a:avLst/>
          </a:prstGeom>
          <a:solidFill>
            <a:srgbClr val="0B84AE">
              <a:alpha val="12000"/>
            </a:srgbClr>
          </a:solidFill>
          <a:ln/>
        </p:spPr>
      </p:sp>
      <p:pic>
        <p:nvPicPr>
          <p:cNvPr id="19" name="Image 1" descr="preencoded.png">    </p:cNvPr>
          <p:cNvPicPr>
            <a:picLocks noChangeAspect="1"/>
          </p:cNvPicPr>
          <p:nvPr/>
        </p:nvPicPr>
        <p:blipFill>
          <a:blip r:embed="rId5"/>
          <a:stretch>
            <a:fillRect/>
          </a:stretch>
        </p:blipFill>
        <p:spPr>
          <a:xfrm>
            <a:off x="6562192" y="2267712"/>
            <a:ext cx="219456" cy="219456"/>
          </a:xfrm>
          <a:prstGeom prst="rect">
            <a:avLst/>
          </a:prstGeom>
        </p:spPr>
      </p:pic>
      <p:sp>
        <p:nvSpPr>
          <p:cNvPr id="20" name="Text 6"/>
          <p:cNvSpPr txBox="1"/>
          <p:nvPr/>
        </p:nvSpPr>
        <p:spPr>
          <a:xfrm>
            <a:off x="7010248" y="21488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Do you replace immigration?</a:t>
            </a:r>
            <a:endParaRPr lang="en-US" sz="1500" dirty="0"/>
          </a:p>
        </p:txBody>
      </p:sp>
      <p:sp>
        <p:nvSpPr>
          <p:cNvPr id="21" name="Text 7"/>
          <p:cNvSpPr txBox="1"/>
          <p:nvPr/>
        </p:nvSpPr>
        <p:spPr>
          <a:xfrm>
            <a:off x="7010248" y="2532888"/>
            <a:ext cx="4449928" cy="594360"/>
          </a:xfrm>
          <a:prstGeom prst="rect">
            <a:avLst/>
          </a:prstGeom>
          <a:noFill/>
          <a:ln/>
        </p:spPr>
        <p:txBody>
          <a:bodyPr wrap="square" lIns="0" tIns="0" rIns="0" bIns="0" rtlCol="0" anchor="t"/>
          <a:lstStyle/>
          <a:p>
            <a:pPr indent="0" marL="0">
              <a:buNone/>
            </a:pPr>
            <a:r>
              <a:rPr lang="en-US" sz="1250" dirty="0">
                <a:solidFill>
                  <a:srgbClr val="4A5870"/>
                </a:solidFill>
              </a:rPr>
              <a:t>No. FastPass works alongside immigration systems and links to them where local policy allows.</a:t>
            </a:r>
            <a:endParaRPr lang="en-US" sz="1250" dirty="0"/>
          </a:p>
        </p:txBody>
      </p:sp>
      <p:sp>
        <p:nvSpPr>
          <p:cNvPr id="22" name="Shape 8"/>
          <p:cNvSpPr/>
          <p:nvPr/>
        </p:nvSpPr>
        <p:spPr>
          <a:xfrm>
            <a:off x="548640" y="33375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23" name="Shape 9"/>
          <p:cNvSpPr/>
          <p:nvPr/>
        </p:nvSpPr>
        <p:spPr>
          <a:xfrm>
            <a:off x="777240" y="3538728"/>
            <a:ext cx="420624" cy="420624"/>
          </a:xfrm>
          <a:prstGeom prst="ellipse">
            <a:avLst/>
          </a:prstGeom>
          <a:solidFill>
            <a:srgbClr val="0B84AE">
              <a:alpha val="12000"/>
            </a:srgbClr>
          </a:solidFill>
          <a:ln/>
        </p:spPr>
      </p:sp>
      <p:pic>
        <p:nvPicPr>
          <p:cNvPr id="24" name="Image 2" descr="preencoded.png">    </p:cNvPr>
          <p:cNvPicPr>
            <a:picLocks noChangeAspect="1"/>
          </p:cNvPicPr>
          <p:nvPr/>
        </p:nvPicPr>
        <p:blipFill>
          <a:blip r:embed="rId6"/>
          <a:stretch>
            <a:fillRect/>
          </a:stretch>
        </p:blipFill>
        <p:spPr>
          <a:xfrm>
            <a:off x="877824" y="3639312"/>
            <a:ext cx="219456" cy="219456"/>
          </a:xfrm>
          <a:prstGeom prst="rect">
            <a:avLst/>
          </a:prstGeom>
        </p:spPr>
      </p:pic>
      <p:sp>
        <p:nvSpPr>
          <p:cNvPr id="25" name="Text 10"/>
          <p:cNvSpPr txBox="1"/>
          <p:nvPr/>
        </p:nvSpPr>
        <p:spPr>
          <a:xfrm>
            <a:off x="1325880" y="35204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Who owns the app?</a:t>
            </a:r>
            <a:endParaRPr lang="en-US" sz="1500" dirty="0"/>
          </a:p>
        </p:txBody>
      </p:sp>
      <p:sp>
        <p:nvSpPr>
          <p:cNvPr id="26" name="Text 11"/>
          <p:cNvSpPr txBox="1"/>
          <p:nvPr/>
        </p:nvSpPr>
        <p:spPr>
          <a:xfrm>
            <a:off x="1325880" y="3904488"/>
            <a:ext cx="4449928" cy="594360"/>
          </a:xfrm>
          <a:prstGeom prst="rect">
            <a:avLst/>
          </a:prstGeom>
          <a:noFill/>
          <a:ln/>
        </p:spPr>
        <p:txBody>
          <a:bodyPr wrap="square" lIns="0" tIns="0" rIns="0" bIns="0" rtlCol="0" anchor="t"/>
          <a:lstStyle/>
          <a:p>
            <a:pPr indent="0" marL="0">
              <a:buNone/>
            </a:pPr>
            <a:r>
              <a:rPr lang="en-US" sz="1250" dirty="0">
                <a:solidFill>
                  <a:srgbClr val="4A5870"/>
                </a:solidFill>
              </a:rPr>
              <a:t>The airport or airline. FastPass ships as an SDK inside the channels travellers already use.</a:t>
            </a:r>
            <a:endParaRPr lang="en-US" sz="1250" dirty="0"/>
          </a:p>
        </p:txBody>
      </p:sp>
      <p:sp>
        <p:nvSpPr>
          <p:cNvPr id="27" name="Shape 12"/>
          <p:cNvSpPr/>
          <p:nvPr/>
        </p:nvSpPr>
        <p:spPr>
          <a:xfrm>
            <a:off x="6233008" y="33375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28" name="Shape 13"/>
          <p:cNvSpPr/>
          <p:nvPr/>
        </p:nvSpPr>
        <p:spPr>
          <a:xfrm>
            <a:off x="6461608" y="3538728"/>
            <a:ext cx="420624" cy="420624"/>
          </a:xfrm>
          <a:prstGeom prst="ellipse">
            <a:avLst/>
          </a:prstGeom>
          <a:solidFill>
            <a:srgbClr val="0B84AE">
              <a:alpha val="12000"/>
            </a:srgbClr>
          </a:solidFill>
          <a:ln/>
        </p:spPr>
      </p:sp>
      <p:pic>
        <p:nvPicPr>
          <p:cNvPr id="29" name="Image 3" descr="preencoded.png">    </p:cNvPr>
          <p:cNvPicPr>
            <a:picLocks noChangeAspect="1"/>
          </p:cNvPicPr>
          <p:nvPr/>
        </p:nvPicPr>
        <p:blipFill>
          <a:blip r:embed="rId7"/>
          <a:stretch>
            <a:fillRect/>
          </a:stretch>
        </p:blipFill>
        <p:spPr>
          <a:xfrm>
            <a:off x="6562192" y="3639312"/>
            <a:ext cx="219456" cy="219456"/>
          </a:xfrm>
          <a:prstGeom prst="rect">
            <a:avLst/>
          </a:prstGeom>
        </p:spPr>
      </p:pic>
      <p:sp>
        <p:nvSpPr>
          <p:cNvPr id="30" name="Text 14"/>
          <p:cNvSpPr txBox="1"/>
          <p:nvPr/>
        </p:nvSpPr>
        <p:spPr>
          <a:xfrm>
            <a:off x="7010248" y="35204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What if there is no internet?</a:t>
            </a:r>
            <a:endParaRPr lang="en-US" sz="1500" dirty="0"/>
          </a:p>
        </p:txBody>
      </p:sp>
      <p:sp>
        <p:nvSpPr>
          <p:cNvPr id="31" name="Text 15"/>
          <p:cNvSpPr txBox="1"/>
          <p:nvPr/>
        </p:nvSpPr>
        <p:spPr>
          <a:xfrm>
            <a:off x="7010248" y="3904488"/>
            <a:ext cx="4449928" cy="594360"/>
          </a:xfrm>
          <a:prstGeom prst="rect">
            <a:avLst/>
          </a:prstGeom>
          <a:noFill/>
          <a:ln/>
        </p:spPr>
        <p:txBody>
          <a:bodyPr wrap="square" lIns="0" tIns="0" rIns="0" bIns="0" rtlCol="0" anchor="t"/>
          <a:lstStyle/>
          <a:p>
            <a:pPr indent="0" marL="0">
              <a:buNone/>
            </a:pPr>
            <a:r>
              <a:rPr lang="en-US" sz="1250" dirty="0">
                <a:solidFill>
                  <a:srgbClr val="4A5870"/>
                </a:solidFill>
              </a:rPr>
              <a:t>Credentials and lane policies are cached locally; full offline clearance is in the productisation scope.</a:t>
            </a:r>
            <a:endParaRPr lang="en-US" sz="1250" dirty="0"/>
          </a:p>
        </p:txBody>
      </p:sp>
      <p:sp>
        <p:nvSpPr>
          <p:cNvPr id="32" name="Shape 16"/>
          <p:cNvSpPr/>
          <p:nvPr/>
        </p:nvSpPr>
        <p:spPr>
          <a:xfrm>
            <a:off x="548640" y="47091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33" name="Shape 17"/>
          <p:cNvSpPr/>
          <p:nvPr/>
        </p:nvSpPr>
        <p:spPr>
          <a:xfrm>
            <a:off x="777240" y="4910328"/>
            <a:ext cx="420624" cy="420624"/>
          </a:xfrm>
          <a:prstGeom prst="ellipse">
            <a:avLst/>
          </a:prstGeom>
          <a:solidFill>
            <a:srgbClr val="0B84AE">
              <a:alpha val="12000"/>
            </a:srgbClr>
          </a:solidFill>
          <a:ln/>
        </p:spPr>
      </p:sp>
      <p:pic>
        <p:nvPicPr>
          <p:cNvPr id="34" name="Image 4" descr="preencoded.png">    </p:cNvPr>
          <p:cNvPicPr>
            <a:picLocks noChangeAspect="1"/>
          </p:cNvPicPr>
          <p:nvPr/>
        </p:nvPicPr>
        <p:blipFill>
          <a:blip r:embed="rId8"/>
          <a:stretch>
            <a:fillRect/>
          </a:stretch>
        </p:blipFill>
        <p:spPr>
          <a:xfrm>
            <a:off x="877824" y="5010912"/>
            <a:ext cx="219456" cy="219456"/>
          </a:xfrm>
          <a:prstGeom prst="rect">
            <a:avLst/>
          </a:prstGeom>
        </p:spPr>
      </p:pic>
      <p:sp>
        <p:nvSpPr>
          <p:cNvPr id="35" name="Text 18"/>
          <p:cNvSpPr txBox="1"/>
          <p:nvPr/>
        </p:nvSpPr>
        <p:spPr>
          <a:xfrm>
            <a:off x="1325880" y="48920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What happens when a match fails?</a:t>
            </a:r>
            <a:endParaRPr lang="en-US" sz="1500" dirty="0"/>
          </a:p>
        </p:txBody>
      </p:sp>
      <p:sp>
        <p:nvSpPr>
          <p:cNvPr id="36" name="Text 19"/>
          <p:cNvSpPr txBox="1"/>
          <p:nvPr/>
        </p:nvSpPr>
        <p:spPr>
          <a:xfrm>
            <a:off x="1325880" y="5276088"/>
            <a:ext cx="4449928" cy="594360"/>
          </a:xfrm>
          <a:prstGeom prst="rect">
            <a:avLst/>
          </a:prstGeom>
          <a:noFill/>
          <a:ln/>
        </p:spPr>
        <p:txBody>
          <a:bodyPr wrap="square" lIns="0" tIns="0" rIns="0" bIns="0" rtlCol="0" anchor="t"/>
          <a:lstStyle/>
          <a:p>
            <a:pPr indent="0" marL="0">
              <a:buNone/>
            </a:pPr>
            <a:r>
              <a:rPr lang="en-US" sz="1250" dirty="0">
                <a:solidFill>
                  <a:srgbClr val="4A5870"/>
                </a:solidFill>
              </a:rPr>
              <a:t>The lane closes, an officer is alerted in ISMP, and manual counters stay open for exceptions.</a:t>
            </a:r>
            <a:endParaRPr lang="en-US" sz="1250" dirty="0"/>
          </a:p>
        </p:txBody>
      </p:sp>
      <p:sp>
        <p:nvSpPr>
          <p:cNvPr id="37" name="Shape 20"/>
          <p:cNvSpPr/>
          <p:nvPr/>
        </p:nvSpPr>
        <p:spPr>
          <a:xfrm>
            <a:off x="6233008" y="47091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38" name="Shape 21"/>
          <p:cNvSpPr/>
          <p:nvPr/>
        </p:nvSpPr>
        <p:spPr>
          <a:xfrm>
            <a:off x="6461608" y="4910328"/>
            <a:ext cx="420624" cy="420624"/>
          </a:xfrm>
          <a:prstGeom prst="ellipse">
            <a:avLst/>
          </a:prstGeom>
          <a:solidFill>
            <a:srgbClr val="0B84AE">
              <a:alpha val="12000"/>
            </a:srgbClr>
          </a:solidFill>
          <a:ln/>
        </p:spPr>
      </p:sp>
      <p:pic>
        <p:nvPicPr>
          <p:cNvPr id="39" name="Image 5" descr="preencoded.png">    </p:cNvPr>
          <p:cNvPicPr>
            <a:picLocks noChangeAspect="1"/>
          </p:cNvPicPr>
          <p:nvPr/>
        </p:nvPicPr>
        <p:blipFill>
          <a:blip r:embed="rId9"/>
          <a:stretch>
            <a:fillRect/>
          </a:stretch>
        </p:blipFill>
        <p:spPr>
          <a:xfrm>
            <a:off x="6562192" y="5010912"/>
            <a:ext cx="219456" cy="219456"/>
          </a:xfrm>
          <a:prstGeom prst="rect">
            <a:avLst/>
          </a:prstGeom>
        </p:spPr>
      </p:pic>
      <p:sp>
        <p:nvSpPr>
          <p:cNvPr id="40" name="Text 22"/>
          <p:cNvSpPr txBox="1"/>
          <p:nvPr/>
        </p:nvSpPr>
        <p:spPr>
          <a:xfrm>
            <a:off x="7010248" y="48920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Can a photo or video fool it?</a:t>
            </a:r>
            <a:endParaRPr lang="en-US" sz="1500" dirty="0"/>
          </a:p>
        </p:txBody>
      </p:sp>
      <p:sp>
        <p:nvSpPr>
          <p:cNvPr id="41" name="Text 23"/>
          <p:cNvSpPr txBox="1"/>
          <p:nvPr/>
        </p:nvSpPr>
        <p:spPr>
          <a:xfrm>
            <a:off x="7010248" y="5276088"/>
            <a:ext cx="4449928" cy="594360"/>
          </a:xfrm>
          <a:prstGeom prst="rect">
            <a:avLst/>
          </a:prstGeom>
          <a:noFill/>
          <a:ln/>
        </p:spPr>
        <p:txBody>
          <a:bodyPr wrap="square" lIns="0" tIns="0" rIns="0" bIns="0" rtlCol="0" anchor="t"/>
          <a:lstStyle/>
          <a:p>
            <a:pPr indent="0" marL="0">
              <a:buNone/>
            </a:pPr>
            <a:r>
              <a:rPr lang="en-US" sz="1250" dirty="0">
                <a:solidFill>
                  <a:srgbClr val="4A5870"/>
                </a:solidFill>
              </a:rPr>
              <a:t>A face alone cannot pass: the lane also needs the paired phone credential, and the camera applies liveness checks.</a:t>
            </a:r>
            <a:endParaRPr lang="en-US" sz="125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FE65ED44-8DB6-2EDB-4B82-1C229A16857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470E9D31-D6F7-78B8-9431-3883A953BBF5}"/>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C8DDC2E7-0D46-BEDA-B896-5B1FCC7901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4EC15D4-BE5A-757F-6B02-21351CCBF4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79BB7842-812C-2F3E-B647-1A88F1D3999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8" name="Slide Number Placeholder 4">
            <a:extLst>
              <a:ext uri="{FF2B5EF4-FFF2-40B4-BE49-F238E27FC236}">
                <a16:creationId xmlns:a16="http://schemas.microsoft.com/office/drawing/2014/main" id="{D71C6F89-DFED-26E4-3ABC-C9625EF18DBF}"/>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3</a:t>
            </a:fld>
            <a:r>
              <a:rPr lang="en-US" sz="1200">
                <a:latin typeface="+mj-lt"/>
              </a:rPr>
              <a:t>   | </a:t>
            </a:r>
          </a:p>
        </p:txBody>
      </p:sp>
      <p:sp>
        <p:nvSpPr>
          <p:cNvPr id="9" name="Title 4">
            <a:extLst>
              <a:ext uri="{FF2B5EF4-FFF2-40B4-BE49-F238E27FC236}">
                <a16:creationId xmlns:a16="http://schemas.microsoft.com/office/drawing/2014/main" id="{08F212A0-0828-8963-EA3E-E0EDF089EC8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Hard questions, short answers</a:t>
            </a:r>
          </a:p>
        </p:txBody>
      </p:sp>
      <p:sp>
        <p:nvSpPr>
          <p:cNvPr id="10" name="TextBox 25">
            <a:extLst>
              <a:ext uri="{FF2B5EF4-FFF2-40B4-BE49-F238E27FC236}">
                <a16:creationId xmlns:a16="http://schemas.microsoft.com/office/drawing/2014/main" id="{7C05267D-674B-7BAD-3DAC-A5B6FDCA3332}"/>
              </a:ext>
            </a:extLst>
          </p:cNvPr>
          <p:cNvSpPr txBox="1"/>
          <p:nvPr/>
        </p:nvSpPr>
        <p:spPr>
          <a:xfrm>
            <a:off x="343779" y="563652"/>
            <a:ext cx="5943600" cy="338554"/>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lgn="l">
              <a:defRPr/>
            </a:pPr>
            <a:r>
              <a:rPr lang="en-US" sz="1600" dirty="0">
                <a:solidFill>
                  <a:srgbClr val="E30613"/>
                </a:solidFill>
                <a:latin typeface="+mj-lt"/>
              </a:rPr>
              <a:t>Appendix  ·  Q&amp;A</a:t>
            </a:r>
          </a:p>
        </p:txBody>
      </p:sp>
      <p:sp>
        <p:nvSpPr>
          <p:cNvPr id="11" name="Text 2">
            <a:extLst>
              <a:ext uri="{FF2B5EF4-FFF2-40B4-BE49-F238E27FC236}">
                <a16:creationId xmlns:a16="http://schemas.microsoft.com/office/drawing/2014/main" id="{BE58A662-E22B-C1CC-9FBC-E7CEEE803934}"/>
              </a:ext>
            </a:extLst>
          </p:cNvPr>
          <p:cNvSpPr/>
          <p:nvPr/>
        </p:nvSpPr>
        <p:spPr>
          <a:xfrm>
            <a:off x="398363" y="1399096"/>
            <a:ext cx="11368060" cy="338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srgbClr val="4F5B6D"/>
                </a:solidFill>
                <a:effectLst/>
                <a:uLnTx/>
                <a:uFillTx/>
                <a:latin typeface="+mj-lt"/>
                <a:ea typeface="+mn-ea"/>
                <a:cs typeface="+mn-cs"/>
              </a:rPr>
              <a:t>Business and delivery questions.</a:t>
            </a:r>
          </a:p>
        </p:txBody>
      </p:sp>
      <p:sp>
        <p:nvSpPr>
          <p:cNvPr id="12" name="Shape 0"/>
          <p:cNvSpPr/>
          <p:nvPr/>
        </p:nvSpPr>
        <p:spPr>
          <a:xfrm>
            <a:off x="548640" y="19659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13" name="Shape 1"/>
          <p:cNvSpPr/>
          <p:nvPr/>
        </p:nvSpPr>
        <p:spPr>
          <a:xfrm>
            <a:off x="777240" y="2167128"/>
            <a:ext cx="420624" cy="420624"/>
          </a:xfrm>
          <a:prstGeom prst="ellipse">
            <a:avLst/>
          </a:prstGeom>
          <a:solidFill>
            <a:srgbClr val="0B84AE">
              <a:alpha val="12000"/>
            </a:srgbClr>
          </a:solidFill>
          <a:ln/>
        </p:spPr>
      </p:sp>
      <p:pic>
        <p:nvPicPr>
          <p:cNvPr id="14" name="Image 0" descr="preencoded.png">    </p:cNvPr>
          <p:cNvPicPr>
            <a:picLocks noChangeAspect="1"/>
          </p:cNvPicPr>
          <p:nvPr/>
        </p:nvPicPr>
        <p:blipFill>
          <a:blip r:embed="rId4"/>
          <a:stretch>
            <a:fillRect/>
          </a:stretch>
        </p:blipFill>
        <p:spPr>
          <a:xfrm>
            <a:off x="877824" y="2267712"/>
            <a:ext cx="219456" cy="219456"/>
          </a:xfrm>
          <a:prstGeom prst="rect">
            <a:avLst/>
          </a:prstGeom>
        </p:spPr>
      </p:pic>
      <p:sp>
        <p:nvSpPr>
          <p:cNvPr id="15" name="Text 2"/>
          <p:cNvSpPr txBox="1"/>
          <p:nvPr/>
        </p:nvSpPr>
        <p:spPr>
          <a:xfrm>
            <a:off x="1325880" y="21488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How do you compare with Idemia?</a:t>
            </a:r>
            <a:endParaRPr lang="en-US" sz="1500" dirty="0"/>
          </a:p>
        </p:txBody>
      </p:sp>
      <p:sp>
        <p:nvSpPr>
          <p:cNvPr id="16" name="Text 3"/>
          <p:cNvSpPr txBox="1"/>
          <p:nvPr/>
        </p:nvSpPr>
        <p:spPr>
          <a:xfrm>
            <a:off x="1325880" y="2532888"/>
            <a:ext cx="4449928" cy="594360"/>
          </a:xfrm>
          <a:prstGeom prst="rect">
            <a:avLst/>
          </a:prstGeom>
          <a:noFill/>
          <a:ln/>
        </p:spPr>
        <p:txBody>
          <a:bodyPr wrap="square" lIns="0" tIns="0" rIns="0" bIns="0" rtlCol="0" anchor="t"/>
          <a:lstStyle/>
          <a:p>
            <a:pPr indent="0" marL="0">
              <a:buNone/>
            </a:pPr>
            <a:r>
              <a:rPr lang="en-US" sz="1250" dirty="0">
                <a:solidFill>
                  <a:srgbClr val="4A5870"/>
                </a:solidFill>
              </a:rPr>
              <a:t>They lead on portfolio breadth; we lead on two-factor clearance and converged security operations.</a:t>
            </a:r>
            <a:endParaRPr lang="en-US" sz="1250" dirty="0"/>
          </a:p>
        </p:txBody>
      </p:sp>
      <p:sp>
        <p:nvSpPr>
          <p:cNvPr id="17" name="Shape 4"/>
          <p:cNvSpPr/>
          <p:nvPr/>
        </p:nvSpPr>
        <p:spPr>
          <a:xfrm>
            <a:off x="6233008" y="19659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18" name="Shape 5"/>
          <p:cNvSpPr/>
          <p:nvPr/>
        </p:nvSpPr>
        <p:spPr>
          <a:xfrm>
            <a:off x="6461608" y="2167128"/>
            <a:ext cx="420624" cy="420624"/>
          </a:xfrm>
          <a:prstGeom prst="ellipse">
            <a:avLst/>
          </a:prstGeom>
          <a:solidFill>
            <a:srgbClr val="0B84AE">
              <a:alpha val="12000"/>
            </a:srgbClr>
          </a:solidFill>
          <a:ln/>
        </p:spPr>
      </p:sp>
      <p:pic>
        <p:nvPicPr>
          <p:cNvPr id="19" name="Image 1" descr="preencoded.png">    </p:cNvPr>
          <p:cNvPicPr>
            <a:picLocks noChangeAspect="1"/>
          </p:cNvPicPr>
          <p:nvPr/>
        </p:nvPicPr>
        <p:blipFill>
          <a:blip r:embed="rId5"/>
          <a:stretch>
            <a:fillRect/>
          </a:stretch>
        </p:blipFill>
        <p:spPr>
          <a:xfrm>
            <a:off x="6562192" y="2267712"/>
            <a:ext cx="219456" cy="219456"/>
          </a:xfrm>
          <a:prstGeom prst="rect">
            <a:avLst/>
          </a:prstGeom>
        </p:spPr>
      </p:pic>
      <p:sp>
        <p:nvSpPr>
          <p:cNvPr id="20" name="Text 6"/>
          <p:cNvSpPr txBox="1"/>
          <p:nvPr/>
        </p:nvSpPr>
        <p:spPr>
          <a:xfrm>
            <a:off x="7010248" y="21488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What is the ROI for an airport?</a:t>
            </a:r>
            <a:endParaRPr lang="en-US" sz="1500" dirty="0"/>
          </a:p>
        </p:txBody>
      </p:sp>
      <p:sp>
        <p:nvSpPr>
          <p:cNvPr id="21" name="Text 7"/>
          <p:cNvSpPr txBox="1"/>
          <p:nvPr/>
        </p:nvSpPr>
        <p:spPr>
          <a:xfrm>
            <a:off x="7010248" y="2532888"/>
            <a:ext cx="4449928" cy="594360"/>
          </a:xfrm>
          <a:prstGeom prst="rect">
            <a:avLst/>
          </a:prstGeom>
          <a:noFill/>
          <a:ln/>
        </p:spPr>
        <p:txBody>
          <a:bodyPr wrap="square" lIns="0" tIns="0" rIns="0" bIns="0" rtlCol="0" anchor="t"/>
          <a:lstStyle/>
          <a:p>
            <a:pPr indent="0" marL="0">
              <a:buNone/>
            </a:pPr>
            <a:r>
              <a:rPr lang="en-US" sz="1250" dirty="0">
                <a:solidFill>
                  <a:srgbClr val="4A5870"/>
                </a:solidFill>
              </a:rPr>
              <a:t>Officer hours move from routine checks to exceptions, and throughput grows without new terminal space. Quantified per site in the pilot.</a:t>
            </a:r>
            <a:endParaRPr lang="en-US" sz="1250" dirty="0"/>
          </a:p>
        </p:txBody>
      </p:sp>
      <p:sp>
        <p:nvSpPr>
          <p:cNvPr id="22" name="Shape 8"/>
          <p:cNvSpPr/>
          <p:nvPr/>
        </p:nvSpPr>
        <p:spPr>
          <a:xfrm>
            <a:off x="548640" y="33375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23" name="Shape 9"/>
          <p:cNvSpPr/>
          <p:nvPr/>
        </p:nvSpPr>
        <p:spPr>
          <a:xfrm>
            <a:off x="777240" y="3538728"/>
            <a:ext cx="420624" cy="420624"/>
          </a:xfrm>
          <a:prstGeom prst="ellipse">
            <a:avLst/>
          </a:prstGeom>
          <a:solidFill>
            <a:srgbClr val="0B84AE">
              <a:alpha val="12000"/>
            </a:srgbClr>
          </a:solidFill>
          <a:ln/>
        </p:spPr>
      </p:sp>
      <p:pic>
        <p:nvPicPr>
          <p:cNvPr id="24" name="Image 2" descr="preencoded.png">    </p:cNvPr>
          <p:cNvPicPr>
            <a:picLocks noChangeAspect="1"/>
          </p:cNvPicPr>
          <p:nvPr/>
        </p:nvPicPr>
        <p:blipFill>
          <a:blip r:embed="rId6"/>
          <a:stretch>
            <a:fillRect/>
          </a:stretch>
        </p:blipFill>
        <p:spPr>
          <a:xfrm>
            <a:off x="877824" y="3639312"/>
            <a:ext cx="219456" cy="219456"/>
          </a:xfrm>
          <a:prstGeom prst="rect">
            <a:avLst/>
          </a:prstGeom>
        </p:spPr>
      </p:pic>
      <p:sp>
        <p:nvSpPr>
          <p:cNvPr id="25" name="Text 10"/>
          <p:cNvSpPr txBox="1"/>
          <p:nvPr/>
        </p:nvSpPr>
        <p:spPr>
          <a:xfrm>
            <a:off x="1325880" y="35204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What is not productised yet?</a:t>
            </a:r>
            <a:endParaRPr lang="en-US" sz="1500" dirty="0"/>
          </a:p>
        </p:txBody>
      </p:sp>
      <p:sp>
        <p:nvSpPr>
          <p:cNvPr id="26" name="Text 11"/>
          <p:cNvSpPr txBox="1"/>
          <p:nvPr/>
        </p:nvSpPr>
        <p:spPr>
          <a:xfrm>
            <a:off x="1325880" y="3904488"/>
            <a:ext cx="4449928" cy="594360"/>
          </a:xfrm>
          <a:prstGeom prst="rect">
            <a:avLst/>
          </a:prstGeom>
          <a:noFill/>
          <a:ln/>
        </p:spPr>
        <p:txBody>
          <a:bodyPr wrap="square" lIns="0" tIns="0" rIns="0" bIns="0" rtlCol="0" anchor="t"/>
          <a:lstStyle/>
          <a:p>
            <a:pPr indent="0" marL="0">
              <a:buNone/>
            </a:pPr>
            <a:r>
              <a:rPr lang="en-US" sz="1250" dirty="0">
                <a:solidFill>
                  <a:srgbClr val="4A5870"/>
                </a:solidFill>
              </a:rPr>
              <a:t>Offline mode, redundancy and back-end integration with airport and immigration systems. That is the funding ask.</a:t>
            </a:r>
            <a:endParaRPr lang="en-US" sz="1250" dirty="0"/>
          </a:p>
        </p:txBody>
      </p:sp>
      <p:sp>
        <p:nvSpPr>
          <p:cNvPr id="27" name="Shape 12"/>
          <p:cNvSpPr/>
          <p:nvPr/>
        </p:nvSpPr>
        <p:spPr>
          <a:xfrm>
            <a:off x="6233008" y="33375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28" name="Shape 13"/>
          <p:cNvSpPr/>
          <p:nvPr/>
        </p:nvSpPr>
        <p:spPr>
          <a:xfrm>
            <a:off x="6461608" y="3538728"/>
            <a:ext cx="420624" cy="420624"/>
          </a:xfrm>
          <a:prstGeom prst="ellipse">
            <a:avLst/>
          </a:prstGeom>
          <a:solidFill>
            <a:srgbClr val="0B84AE">
              <a:alpha val="12000"/>
            </a:srgbClr>
          </a:solidFill>
          <a:ln/>
        </p:spPr>
      </p:sp>
      <p:pic>
        <p:nvPicPr>
          <p:cNvPr id="29" name="Image 3" descr="preencoded.png">    </p:cNvPr>
          <p:cNvPicPr>
            <a:picLocks noChangeAspect="1"/>
          </p:cNvPicPr>
          <p:nvPr/>
        </p:nvPicPr>
        <p:blipFill>
          <a:blip r:embed="rId7"/>
          <a:stretch>
            <a:fillRect/>
          </a:stretch>
        </p:blipFill>
        <p:spPr>
          <a:xfrm>
            <a:off x="6562192" y="3639312"/>
            <a:ext cx="219456" cy="219456"/>
          </a:xfrm>
          <a:prstGeom prst="rect">
            <a:avLst/>
          </a:prstGeom>
        </p:spPr>
      </p:pic>
      <p:sp>
        <p:nvSpPr>
          <p:cNvPr id="30" name="Text 14"/>
          <p:cNvSpPr txBox="1"/>
          <p:nvPr/>
        </p:nvSpPr>
        <p:spPr>
          <a:xfrm>
            <a:off x="7010248" y="35204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Why the Middle East and Southeast Asia first?</a:t>
            </a:r>
            <a:endParaRPr lang="en-US" sz="1500" dirty="0"/>
          </a:p>
        </p:txBody>
      </p:sp>
      <p:sp>
        <p:nvSpPr>
          <p:cNvPr id="31" name="Text 15"/>
          <p:cNvSpPr txBox="1"/>
          <p:nvPr/>
        </p:nvSpPr>
        <p:spPr>
          <a:xfrm>
            <a:off x="7010248" y="3904488"/>
            <a:ext cx="4449928" cy="594360"/>
          </a:xfrm>
          <a:prstGeom prst="rect">
            <a:avLst/>
          </a:prstGeom>
          <a:noFill/>
          <a:ln/>
        </p:spPr>
        <p:txBody>
          <a:bodyPr wrap="square" lIns="0" tIns="0" rIns="0" bIns="0" rtlCol="0" anchor="t"/>
          <a:lstStyle/>
          <a:p>
            <a:pPr indent="0" marL="0">
              <a:buNone/>
            </a:pPr>
            <a:r>
              <a:rPr lang="en-US" sz="1250" dirty="0">
                <a:solidFill>
                  <a:srgbClr val="4A5870"/>
                </a:solidFill>
              </a:rPr>
              <a:t>Fastest growth, most brownfield projects and Group presence: a lower cost of entry than markets with incumbent frameworks.</a:t>
            </a:r>
            <a:endParaRPr lang="en-US" sz="1250" dirty="0"/>
          </a:p>
        </p:txBody>
      </p:sp>
      <p:sp>
        <p:nvSpPr>
          <p:cNvPr id="32" name="Shape 16"/>
          <p:cNvSpPr/>
          <p:nvPr/>
        </p:nvSpPr>
        <p:spPr>
          <a:xfrm>
            <a:off x="548640" y="47091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33" name="Shape 17"/>
          <p:cNvSpPr/>
          <p:nvPr/>
        </p:nvSpPr>
        <p:spPr>
          <a:xfrm>
            <a:off x="777240" y="4910328"/>
            <a:ext cx="420624" cy="420624"/>
          </a:xfrm>
          <a:prstGeom prst="ellipse">
            <a:avLst/>
          </a:prstGeom>
          <a:solidFill>
            <a:srgbClr val="0B84AE">
              <a:alpha val="12000"/>
            </a:srgbClr>
          </a:solidFill>
          <a:ln/>
        </p:spPr>
      </p:sp>
      <p:pic>
        <p:nvPicPr>
          <p:cNvPr id="34" name="Image 4" descr="preencoded.png">    </p:cNvPr>
          <p:cNvPicPr>
            <a:picLocks noChangeAspect="1"/>
          </p:cNvPicPr>
          <p:nvPr/>
        </p:nvPicPr>
        <p:blipFill>
          <a:blip r:embed="rId8"/>
          <a:stretch>
            <a:fillRect/>
          </a:stretch>
        </p:blipFill>
        <p:spPr>
          <a:xfrm>
            <a:off x="877824" y="5010912"/>
            <a:ext cx="219456" cy="219456"/>
          </a:xfrm>
          <a:prstGeom prst="rect">
            <a:avLst/>
          </a:prstGeom>
        </p:spPr>
      </p:pic>
      <p:sp>
        <p:nvSpPr>
          <p:cNvPr id="35" name="Text 18"/>
          <p:cNvSpPr txBox="1"/>
          <p:nvPr/>
        </p:nvSpPr>
        <p:spPr>
          <a:xfrm>
            <a:off x="1325880" y="48920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What do you need from the Group?</a:t>
            </a:r>
            <a:endParaRPr lang="en-US" sz="1500" dirty="0"/>
          </a:p>
        </p:txBody>
      </p:sp>
      <p:sp>
        <p:nvSpPr>
          <p:cNvPr id="36" name="Text 19"/>
          <p:cNvSpPr txBox="1"/>
          <p:nvPr/>
        </p:nvSpPr>
        <p:spPr>
          <a:xfrm>
            <a:off x="1325880" y="5276088"/>
            <a:ext cx="4449928" cy="594360"/>
          </a:xfrm>
          <a:prstGeom prst="rect">
            <a:avLst/>
          </a:prstGeom>
          <a:noFill/>
          <a:ln/>
        </p:spPr>
        <p:txBody>
          <a:bodyPr wrap="square" lIns="0" tIns="0" rIns="0" bIns="0" rtlCol="0" anchor="t"/>
          <a:lstStyle/>
          <a:p>
            <a:pPr indent="0" marL="0">
              <a:buNone/>
            </a:pPr>
            <a:r>
              <a:rPr lang="en-US" sz="1250" dirty="0">
                <a:solidFill>
                  <a:srgbClr val="4A5870"/>
                </a:solidFill>
              </a:rPr>
              <a:t>Productisation funding, a launch customer through Group Sales, and the Passenger Terminal World 2027 showcase.</a:t>
            </a:r>
            <a:endParaRPr lang="en-US" sz="1250" dirty="0"/>
          </a:p>
        </p:txBody>
      </p:sp>
      <p:sp>
        <p:nvSpPr>
          <p:cNvPr id="37" name="Shape 20"/>
          <p:cNvSpPr/>
          <p:nvPr/>
        </p:nvSpPr>
        <p:spPr>
          <a:xfrm>
            <a:off x="6233008" y="4709160"/>
            <a:ext cx="5410048" cy="1225296"/>
          </a:xfrm>
          <a:prstGeom prst="roundRect">
            <a:avLst>
              <a:gd name="adj" fmla="val 11940"/>
            </a:avLst>
          </a:prstGeom>
          <a:solidFill>
            <a:srgbClr val="FFFFFF"/>
          </a:solidFill>
          <a:ln/>
          <a:effectLst>
            <a:outerShdw sx="100000" sy="100000" kx="0" ky="0" algn="bl" rotWithShape="0" blurRad="177800" dist="38100" dir="5400000">
              <a:srgbClr val="0A1628">
                <a:alpha val="12000"/>
              </a:srgbClr>
            </a:outerShdw>
          </a:effectLst>
        </p:spPr>
      </p:sp>
      <p:sp>
        <p:nvSpPr>
          <p:cNvPr id="38" name="Shape 21"/>
          <p:cNvSpPr/>
          <p:nvPr/>
        </p:nvSpPr>
        <p:spPr>
          <a:xfrm>
            <a:off x="6461608" y="4910328"/>
            <a:ext cx="420624" cy="420624"/>
          </a:xfrm>
          <a:prstGeom prst="ellipse">
            <a:avLst/>
          </a:prstGeom>
          <a:solidFill>
            <a:srgbClr val="0B84AE">
              <a:alpha val="12000"/>
            </a:srgbClr>
          </a:solidFill>
          <a:ln/>
        </p:spPr>
      </p:sp>
      <p:pic>
        <p:nvPicPr>
          <p:cNvPr id="39" name="Image 5" descr="preencoded.png">    </p:cNvPr>
          <p:cNvPicPr>
            <a:picLocks noChangeAspect="1"/>
          </p:cNvPicPr>
          <p:nvPr/>
        </p:nvPicPr>
        <p:blipFill>
          <a:blip r:embed="rId9"/>
          <a:stretch>
            <a:fillRect/>
          </a:stretch>
        </p:blipFill>
        <p:spPr>
          <a:xfrm>
            <a:off x="6562192" y="5010912"/>
            <a:ext cx="219456" cy="219456"/>
          </a:xfrm>
          <a:prstGeom prst="rect">
            <a:avLst/>
          </a:prstGeom>
        </p:spPr>
      </p:pic>
      <p:sp>
        <p:nvSpPr>
          <p:cNvPr id="40" name="Text 22"/>
          <p:cNvSpPr txBox="1"/>
          <p:nvPr/>
        </p:nvSpPr>
        <p:spPr>
          <a:xfrm>
            <a:off x="7010248" y="4892040"/>
            <a:ext cx="4449928" cy="365760"/>
          </a:xfrm>
          <a:prstGeom prst="rect">
            <a:avLst/>
          </a:prstGeom>
          <a:noFill/>
          <a:ln/>
        </p:spPr>
        <p:txBody>
          <a:bodyPr wrap="square" lIns="0" tIns="0" rIns="0" bIns="0" rtlCol="0" anchor="ctr"/>
          <a:lstStyle/>
          <a:p>
            <a:pPr indent="0" marL="0">
              <a:buNone/>
            </a:pPr>
            <a:r>
              <a:rPr lang="en-US" sz="1500" b="1" dirty="0">
                <a:solidFill>
                  <a:srgbClr val="0B1526"/>
                </a:solidFill>
              </a:rPr>
              <a:t>How fast can a first lane go live?</a:t>
            </a:r>
            <a:endParaRPr lang="en-US" sz="1500" dirty="0"/>
          </a:p>
        </p:txBody>
      </p:sp>
      <p:sp>
        <p:nvSpPr>
          <p:cNvPr id="41" name="Text 23"/>
          <p:cNvSpPr txBox="1"/>
          <p:nvPr/>
        </p:nvSpPr>
        <p:spPr>
          <a:xfrm>
            <a:off x="7010248" y="5276088"/>
            <a:ext cx="4449928" cy="594360"/>
          </a:xfrm>
          <a:prstGeom prst="rect">
            <a:avLst/>
          </a:prstGeom>
          <a:noFill/>
          <a:ln/>
        </p:spPr>
        <p:txBody>
          <a:bodyPr wrap="square" lIns="0" tIns="0" rIns="0" bIns="0" rtlCol="0" anchor="t"/>
          <a:lstStyle/>
          <a:p>
            <a:pPr indent="0" marL="0">
              <a:buNone/>
            </a:pPr>
            <a:r>
              <a:rPr lang="en-US" sz="1250" dirty="0">
                <a:solidFill>
                  <a:srgbClr val="4A5870"/>
                </a:solidFill>
              </a:rPr>
              <a:t>A pilot lane fits a brownfield terminal with minimal civil works. The ISMP core already exists, so integration, not development, sets the pace.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DAE19BDA24DF479223A523DC1EAC22" ma:contentTypeVersion="15" ma:contentTypeDescription="Create a new document." ma:contentTypeScope="" ma:versionID="f2d37794f9fe5706fdf315496084d6c9">
  <xsd:schema xmlns:xsd="http://www.w3.org/2001/XMLSchema" xmlns:xs="http://www.w3.org/2001/XMLSchema" xmlns:p="http://schemas.microsoft.com/office/2006/metadata/properties" xmlns:ns1="http://schemas.microsoft.com/sharepoint/v3" xmlns:ns2="59b4f843-a728-4593-8a1f-3b60800c0505" xmlns:ns3="195576e3-6fc6-4cc7-a52f-8a1a90fc6d57" targetNamespace="http://schemas.microsoft.com/office/2006/metadata/properties" ma:root="true" ma:fieldsID="bc42a6b90df392b895de16f18821551c" ns1:_="" ns2:_="" ns3:_="">
    <xsd:import namespace="http://schemas.microsoft.com/sharepoint/v3"/>
    <xsd:import namespace="59b4f843-a728-4593-8a1f-3b60800c0505"/>
    <xsd:import namespace="195576e3-6fc6-4cc7-a52f-8a1a90fc6d5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b4f843-a728-4593-8a1f-3b60800c05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0df6263-beb7-4e3d-b782-8d1ca9c8aa8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5576e3-6fc6-4cc7-a52f-8a1a90fc6d5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a38f4b-5bcc-4500-af1f-c24ca71b5c0a}" ma:internalName="TaxCatchAll" ma:showField="CatchAllData" ma:web="195576e3-6fc6-4cc7-a52f-8a1a90fc6d5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9b4f843-a728-4593-8a1f-3b60800c0505">
      <Terms xmlns="http://schemas.microsoft.com/office/infopath/2007/PartnerControls"/>
    </lcf76f155ced4ddcb4097134ff3c332f>
    <_ip_UnifiedCompliancePolicyProperties xmlns="http://schemas.microsoft.com/sharepoint/v3" xsi:nil="true"/>
    <TaxCatchAll xmlns="195576e3-6fc6-4cc7-a52f-8a1a90fc6d57" xsi:nil="true"/>
  </documentManagement>
</p:properties>
</file>

<file path=customXml/itemProps1.xml><?xml version="1.0" encoding="utf-8"?>
<ds:datastoreItem xmlns:ds="http://schemas.openxmlformats.org/officeDocument/2006/customXml" ds:itemID="{19AC9C15-0E1C-405D-9198-763B7011C765}">
  <ds:schemaRefs>
    <ds:schemaRef ds:uri="http://schemas.microsoft.com/sharepoint/v3/contenttype/forms"/>
  </ds:schemaRefs>
</ds:datastoreItem>
</file>

<file path=customXml/itemProps2.xml><?xml version="1.0" encoding="utf-8"?>
<ds:datastoreItem xmlns:ds="http://schemas.openxmlformats.org/officeDocument/2006/customXml" ds:itemID="{1435FA44-63C2-4ACA-A444-489731DA04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9b4f843-a728-4593-8a1f-3b60800c0505"/>
    <ds:schemaRef ds:uri="195576e3-6fc6-4cc7-a52f-8a1a90fc6d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C1C97A-0FBF-46FC-87F3-807B2E089C9B}">
  <ds:schemaRefs>
    <ds:schemaRef ds:uri="195576e3-6fc6-4cc7-a52f-8a1a90fc6d57"/>
    <ds:schemaRef ds:uri="http://purl.org/dc/dcmitype/"/>
    <ds:schemaRef ds:uri="http://schemas.microsoft.com/office/2006/documentManagement/types"/>
    <ds:schemaRef ds:uri="http://purl.org/dc/terms/"/>
    <ds:schemaRef ds:uri="http://schemas.microsoft.com/office/2006/metadata/properties"/>
    <ds:schemaRef ds:uri="http://schemas.microsoft.com/office/infopath/2007/PartnerControls"/>
    <ds:schemaRef ds:uri="http://purl.org/dc/elements/1.1/"/>
    <ds:schemaRef ds:uri="http://schemas.openxmlformats.org/package/2006/metadata/core-properties"/>
    <ds:schemaRef ds:uri="59b4f843-a728-4593-8a1f-3b60800c0505"/>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1619</TotalTime>
  <Words>2706</Words>
  <Application>Microsoft Office PowerPoint</Application>
  <PresentationFormat>Widescreen</PresentationFormat>
  <Paragraphs>450</Paragraphs>
  <Slides>25</Slides>
  <Notes>25</Notes>
  <HiddenSlides>1</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InnoChamp 2026 | Product Category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Previous Submitted Slide Version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Qinyuan</dc:creator>
  <cp:lastModifiedBy>Zhang Qinyuan</cp:lastModifiedBy>
  <cp:revision>26</cp:revision>
  <dcterms:created xsi:type="dcterms:W3CDTF">2026-07-07T02:13:40Z</dcterms:created>
  <dcterms:modified xsi:type="dcterms:W3CDTF">2026-10-18T15:29:07Z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0x01010031DAE19BDA24DF479223A523DC1EAC22</vt:lpwstr>
  </property>
  <property fmtid="{D5CDD505-2E9C-101B-9397-08002B2CF9AE}" pid="3" name="MSIP_Label_a043ec3a-92eb-434b-bfcd-dd5fcd578c71_Enabled">
    <vt:lpwstr>true</vt:lpwstr>
  </property>
  <property fmtid="{D5CDD505-2E9C-101B-9397-08002B2CF9AE}" pid="4" name="MSIP_Label_a043ec3a-92eb-434b-bfcd-dd5fcd578c71_SetDate">
    <vt:lpwstr>2026-07-07T02:14:00Z</vt:lpwstr>
  </property>
  <property fmtid="{D5CDD505-2E9C-101B-9397-08002B2CF9AE}" pid="5" name="MSIP_Label_a043ec3a-92eb-434b-bfcd-dd5fcd578c71_Method">
    <vt:lpwstr>Privileged</vt:lpwstr>
  </property>
  <property fmtid="{D5CDD505-2E9C-101B-9397-08002B2CF9AE}" pid="6" name="MSIP_Label_a043ec3a-92eb-434b-bfcd-dd5fcd578c71_Name">
    <vt:lpwstr>Group_Unrestricted</vt:lpwstr>
  </property>
  <property fmtid="{D5CDD505-2E9C-101B-9397-08002B2CF9AE}" pid="7" name="MSIP_Label_a043ec3a-92eb-434b-bfcd-dd5fcd578c71_SiteId">
    <vt:lpwstr>82fac8d8-49c2-492d-9f67-7d9e5b66144e</vt:lpwstr>
  </property>
  <property fmtid="{D5CDD505-2E9C-101B-9397-08002B2CF9AE}" pid="8" name="MSIP_Label_a043ec3a-92eb-434b-bfcd-dd5fcd578c71_ActionId">
    <vt:lpwstr>18312b41-4cf1-42d6-90d8-012795db9c2e</vt:lpwstr>
  </property>
  <property fmtid="{D5CDD505-2E9C-101B-9397-08002B2CF9AE}" pid="9" name="MSIP_Label_a043ec3a-92eb-434b-bfcd-dd5fcd578c71_ContentBits">
    <vt:lpwstr>0</vt:lpwstr>
  </property>
  <property fmtid="{D5CDD505-2E9C-101B-9397-08002B2CF9AE}" pid="10" name="MSIP_Label_a043ec3a-92eb-434b-bfcd-dd5fcd578c71_Tag">
    <vt:lpwstr>10, 0, 1, 2</vt:lpwstr>
  </property>
  <property fmtid="{D5CDD505-2E9C-101B-9397-08002B2CF9AE}" pid="11" name="MediaServiceImageTags">
    <vt:lpwstr/>
  </property>
</Properties>
</file>