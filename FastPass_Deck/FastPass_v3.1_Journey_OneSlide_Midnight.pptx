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6dd32634-c3de-a073-7ada-a640ceb173c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[1:55–3:10]  THE SOLUTION — the whole curb-to-gate journey on one slide (replaces the two journey slides; saves ~15 s).
Walk the path left to right:
1. Enrol at home — passport MRZ + selfie in the app (or inside the airport/airline app via our SDK). The credential is encrypted at rest on the phone.
2. Approach — a BLE beacon pairs the phone to the lane as the traveller walks up. No tapping.
3. Walk through immigration — the FR pylon matches the live face to the phone's template on the move: two factors. The status TV beside the pylon flashes the traveller's name and a green CLEARED, so they keep walking with confidence (CEO feedback: show the feedback loop).
4. Pre-screen — before bags reach X-ray, the Nova+ reader confirms identity and pulls the clearance profile.
5. Board — face plus phone clears the boarding kiosk; no passport, no boarding pass. Straight down the jet bridge.
6. Live oversight — AGIL® Secure ISMP sees every step (dashed links). An amber exception goes to an officer's tablet; 2–3 manual counters remain for edge cases.
Bridge: "So what is genuinely new here?"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P_HERO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FP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P_DIVIDER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29768"/>
            <a:ext cx="12801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54126"/>
            <a:ext cx="91440" cy="91440"/>
          </a:xfrm>
          <a:prstGeom prst="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rb-to-gate journey scene" descr="/tmp/claude-0/-home-user-sgqy/b70fb111-7300-56ba-abe4-4b6e17d8c33e/scratchpad/journey/sf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SOLUTION  ·  CURB TO GATE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Curb to gate in six steps, on one identity</a:t>
            </a:r>
            <a:endParaRPr lang="en-US" sz="3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Enrol once at home, then walk through immigration, screening and boarding without stopping.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856232" y="2798064"/>
            <a:ext cx="521208" cy="2278685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000146" y="2798064"/>
            <a:ext cx="566014" cy="1707185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4924958" y="2798064"/>
            <a:ext cx="561442" cy="744322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6540703" y="2798064"/>
            <a:ext cx="1048817" cy="1280160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8882482" y="2798064"/>
            <a:ext cx="993038" cy="2451506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6652" y="5598871"/>
            <a:ext cx="864108" cy="253289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9912" y="3672474"/>
            <a:ext cx="2504539" cy="137831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483303" y="3769157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990088"/>
            <a:ext cx="1298448" cy="129844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5256" y="3273552"/>
            <a:ext cx="1024128" cy="603504"/>
          </a:xfrm>
          <a:prstGeom prst="roundRect">
            <a:avLst>
              <a:gd name="adj" fmla="val 9091"/>
            </a:avLst>
          </a:prstGeom>
          <a:solidFill>
            <a:srgbClr val="060E1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355848"/>
            <a:ext cx="246888" cy="246888"/>
          </a:xfrm>
          <a:prstGeom prst="ellipse">
            <a:avLst/>
          </a:prstGeom>
          <a:solidFill>
            <a:srgbClr val="E7CDB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280160" y="3337560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TAN M. L.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493008"/>
            <a:ext cx="621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8BC"/>
                </a:solidFill>
              </a:rPr>
              <a:t>SQ 322 · B12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87552" y="3675888"/>
            <a:ext cx="859536" cy="146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7552" y="367588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CLEARED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9502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chemeClr val="accent1"/>
                </a:solidFill>
              </a:rPr>
              <a:t>STATUS TV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4864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7665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2412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Enrol at home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Passport + selfie in the app; kept on the phone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7121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7121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21868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Approach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88950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BLE pairs the phone to the lane as it nears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93776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6577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06577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1324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Walk through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08406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Face matched on the move; the TV shows your status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132320" y="2011680"/>
            <a:ext cx="205740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26033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26033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760780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Pre-screen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278624" y="23957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Nova+ confirms identity before bags reach X-ray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326880" y="2011680"/>
            <a:ext cx="2316175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454896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945489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9802368" y="2084832"/>
            <a:ext cx="1749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Board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9473184" y="2395728"/>
            <a:ext cx="20601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Face + phone clears the kiosk; no boarding pass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080760" y="5532120"/>
            <a:ext cx="1874520" cy="786384"/>
          </a:xfrm>
          <a:prstGeom prst="roundRect">
            <a:avLst>
              <a:gd name="adj" fmla="val 186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08776" y="56235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208776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556248" y="5605272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Live oversight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6227064" y="591616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view in ISMP; exceptions go to officers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607515" y="4828032"/>
            <a:ext cx="497434" cy="497434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3" name="Shape 50"/>
          <p:cNvSpPr/>
          <p:nvPr/>
        </p:nvSpPr>
        <p:spPr>
          <a:xfrm>
            <a:off x="1709928" y="4930445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709928" y="49304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751430" y="4256532"/>
            <a:ext cx="497434" cy="497434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6" name="Shape 53"/>
          <p:cNvSpPr/>
          <p:nvPr/>
        </p:nvSpPr>
        <p:spPr>
          <a:xfrm>
            <a:off x="2853842" y="4358945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853842" y="43589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676242" y="3293669"/>
            <a:ext cx="497434" cy="497434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9" name="Shape 56"/>
          <p:cNvSpPr/>
          <p:nvPr/>
        </p:nvSpPr>
        <p:spPr>
          <a:xfrm>
            <a:off x="4778654" y="3396082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778654" y="33960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291986" y="3829507"/>
            <a:ext cx="497434" cy="497434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2" name="Shape 59"/>
          <p:cNvSpPr/>
          <p:nvPr/>
        </p:nvSpPr>
        <p:spPr>
          <a:xfrm>
            <a:off x="6394399" y="3931920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394399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8633765" y="5000854"/>
            <a:ext cx="497434" cy="497434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5" name="Shape 62"/>
          <p:cNvSpPr/>
          <p:nvPr/>
        </p:nvSpPr>
        <p:spPr>
          <a:xfrm>
            <a:off x="8736178" y="5103266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736178" y="51032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4967935" y="5350154"/>
            <a:ext cx="497434" cy="497434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8" name="Shape 65"/>
          <p:cNvSpPr/>
          <p:nvPr/>
        </p:nvSpPr>
        <p:spPr>
          <a:xfrm>
            <a:off x="5070348" y="5452567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070348" y="54525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Pass Midnight">
  <a:themeElements>
    <a:clrScheme name="FastPass Midnight">
      <a:dk1>
        <a:srgbClr val="F5F7FA"/>
      </a:dk1>
      <a:lt1>
        <a:srgbClr val="060E1A"/>
      </a:lt1>
      <a:dk2>
        <a:srgbClr val="A3B1C6"/>
      </a:dk2>
      <a:lt2>
        <a:srgbClr val="0E1B2D"/>
      </a:lt2>
      <a:accent1>
        <a:srgbClr val="5AD8EC"/>
      </a:accent1>
      <a:accent2>
        <a:srgbClr val="30D158"/>
      </a:accent2>
      <a:accent3>
        <a:srgbClr val="FF9F0A"/>
      </a:accent3>
      <a:accent4>
        <a:srgbClr val="7A8BA3"/>
      </a:accent4>
      <a:accent5>
        <a:srgbClr val="1E3150"/>
      </a:accent5>
      <a:accent6>
        <a:srgbClr val="0F2A40"/>
      </a:accent6>
      <a:hlink>
        <a:srgbClr val="5AD8EC"/>
      </a:hlink>
      <a:folHlink>
        <a:srgbClr val="A3B1C6"/>
      </a:folHlink>
    </a:clrScheme>
    <a:fontScheme name="FastPass Mid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InnoChamp 2026</dc:title>
  <dc:subject>InnoChamp 2026 Product Category pitch</dc:subject>
  <dc:creator>URS — Smart Security &amp; Automation</dc:creator>
  <cp:lastModifiedBy>URS — Smart Security &amp; Automation</cp:lastModifiedBy>
  <cp:revision>1</cp:revision>
  <dcterms:created xsi:type="dcterms:W3CDTF">2026-10-15T08:50:32Z</dcterms:created>
  <dcterms:modified xsi:type="dcterms:W3CDTF">2026-10-15T08:50:32Z</dcterms:modified>
</cp:coreProperties>
</file>