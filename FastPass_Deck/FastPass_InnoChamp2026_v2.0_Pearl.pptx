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itch" id="{c18ae973-b914-552b-baee-25d82d07883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Appendix" id="{ca5e74ad-3322-a9e9-e99d-5807f3c4f757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[0:00–0:15]  Good afternoon. We're presenting AGIL® Secure FastPass — a privacy-first, modular, walk-through clearance product that lets a verified traveller move from immigration to the boarding gate without stopping.
Positioning (from 14 Oct review): privacy-preserving, modular, and removes checkpoint staffing overhead. Say this in one breath, then move on — 8-minute slot, we are last on the agenda.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[0:15–1:05]  The problem isn't a lack of technology — it's fragmentation.
• A departing passenger stops four times: check-in, immigration, screening, boarding. Each is a queue and an identity check.
• Every manned lane ties up around three staff on routine checks — at a time when airports in our region face staffing shortages.
• Demand nearly doubles by 2040 (IATA), but terminals and headcount can't double.
• 48% of airports plan cross-silo data sharing by 2027 (SITA) — today operators lack one view across passenger processing and physical security.
The forced trade-off: move people faster, or inspect them more securely. FastPass removes that trade-off.
Reviewer guidance: concrete pain points, not broad industry statistics. Keep background data for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[1:05–1:55]  We sized this bottom-up, not with a headline TAM.
• Global automated border control: US$2.56B in 2025 growing to US$5.03B by 2030 (MarketsandMarkets) — about 14.5% CAGR.
• Airports are ~83% of that demand; the Middle East and Southeast Asia are ~10–15%.
• FastPass can initially address about a quarter of the regional market → US$500–700M over 2026–2030, roughly US$100–140M a year in e-gates, kiosks, platform software, integration and lifecycle services.
• Demand signal: 7 in 10 airlines are adopting biometric ID management (SITA). ~78% of anticipated ME/SEA projects are brownfield — exactly where an infrastructure-light lane wins.
NOTE: The US$40B e-Gate TAM figure discussed on 14 Oct is NOT on this slide — add only after Riley verifies the source URL.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[1:55–2:55]  Here is the whole journey on one line — this replaces the old component-by-component slide.
1. Enrol at home: scan the passport MRZ and a selfie in the FastPass app. The credential is encrypted on the phone; raw documents never go to airport systems.
2. Approach: Bluetooth pairs the phone with the lane as the traveller walks up — no tapping.
3. Clear immigration: facial recognition matches the live face to the phone's template on the move. The gate stays open; it only closes on an exception, and an officer is alerted.
4. Screen: the Nova reader confirms identity and pulls the clearance profile before baggage enters X-ray.
5. Board: the smart kiosk clears boarding — no passport, no boarding pass.
Underneath it all, AGIL® Secure ISMP gives operators one command layer.
The animated line loops every ~3 seconds in slideshow (reviewer asked for a 2–3 s loop for passenger flow).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[2:55–3:45]  This is our answer to the PDPA / GDPR question every airport asks.
• Passport and biometric data stay encrypted at rest on the traveller's phone inside the FastPass SDK — not in an airport database.
• At the lane, Bluetooth hands over the template just in time; the lane matches it to the live face — two factors: device + face.
• ISMP receives the clearance result and events — not a central biometric store.
Why it matters commercially: one product fits both regulatory models. Strict regimes like Europe restrict operators from holding biometrics — we don't need to. Centralised models like Singapore's ICA-to-airport sharing — we plug in. And it runs at any checkpoint without compulsory national-database integration.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[3:45–4:30]  For operators, FastPass is not another silo.
• ISMP is the live passenger log — every clearance by traveller, group and checkpoint, next to CCTV, access control and incident management.
• Exceptions go to officers: a failed match or tailgating closes the lane and raises an alert; officers keep authority over every unsuccessful case.
• Digital-twin view of passenger flow across zones helps pre-empt congestion. [Swap in the 3D airport digital-twin screenshot here when available.]
• Assistive AI triages alerts and recommends responses for operator review.
• At the lane, the feedback loop is instant: the pylon light turns green; rear display boards can show status; future versions add on-lane guidance (e.g. "please remove glasses").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[4:30–5:15]  This is the business case in one picture. Watch the two dots: today's traveller stops at every checkpoint; the FastPass traveller glides through.
• Automating the four passenger touchpoints removes around three staff per lane — they are redeployed to exceptions, not routine checks.
• 3–6 second walk-through passage, no intentional stop.
• 30–50% more throughput per lane without more floor space.
• 100% of clearance events auditable in ISMP.
Speak to these four numbers only; detailed derivations stay for Q&amp;A. (Validate the 30–50% and 3–6 s basis before the pitch — carried over from v1.3.)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[5:15–6:05]  Go-to-market — concrete, not a generic four-step rollout.
WHO BUYS: Primary buyer is the Tier-2 international airport in the Middle East and Southeast Asia, modernising brownfield terminals. Immigration and border agencies co-decide (sovereignty, compliance). Airlines enable adoption through enrolment and boarding.
WHAT THEY PAY FOR: one-off lane hardware; a recurring ISMP platform licence per checkpoint; integration as a project; annual lifecycle support. The price anchor is labour: each automated lane saves ~3 staff.
[ACTION before 22 Oct: insert target price points per lane / per checkpoint after the GTM sync with Riley.]
HOW WE LAND: prove with one pilot lane; expand lanes and enrolment; connect screening, boarding and security through ISMP; scale across terminals and portfolios. Because we reuse the live ISMP core, the path to first revenue is short.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[6:05–6:50]  Competitors like Idemia and SITA — with Amadeus behind them — are strong on ecosystem breadth and practical operational design (e.g. overhead angled screens). We don't try to out-ecosystem them.
OUR EDGE: (1) clearance converged with physical-security operations in ISMP; (2) privacy-first, on-device architecture; (3) modular and infrastructure-light — one lane, no national-database tie-in, minimal civil works; (4) 35+ years of government-grade delivery.
ENTRY BARRIERS WE FACE, AND MITIGATION:
• Incumbent ecosystems → interoperate via open APIs; land at a single checkpoint rather than rip-and-replace.
• Divergent privacy rules → on-device credentials, configurable data flows per jurisdiction.
• App adoption → airline co-enrolment, group profiles; standard lanes remain as fallback.
• Sensor robustness → onboard-processing LiDAR (per prototype feedback), multimodal iris roadmap, on-lane guidance.
And the moat compounds: every lane, workflow and integration adds reusable interfaces and know-how.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[6:50–7:35]  Four takeaways, in order:
1. Real pain — four stops per passenger, ~three staff per lane, and demand doubling by 2040.
2. Focused market — US$100–140M a year that we can serve in the Middle East and Southeast Asia.
3. Proven product — an end-to-end working prototype, demonstrated at Singapore Airshow 2026.
4. Defensible edge — privacy-first, converged with security operations, modular from a single lane.
Readiness: live airport demonstration this quarter, Passenger Terminal World in Amsterdam in April, and first customer pilot lanes in 2027.
Close: "FastPass is ready to pilot — and built to win." Then go to the thank-you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[7:35–7:45]  Thank you. Happy to take questions — backup slides follow for market sizing, design, app, ISMP, AI and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— use only in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Backup: value proposition by stakeholder (submission §4).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Backup: E-Gate design (v1.3 slide 6, submission Annex 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Backup: app flows (submission Annex A). NUS team lessons on app design and Bluetooth to be folded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Backup: ISMP views (v1.3 slide 4, submission Annex 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Backup: AI adoption (submission §3 and §6).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Backup: roadmap (submission §5 New Capabilities, Annex E; 14 Oct discussion on UWB, palm-vein, LiDAR and baggage adjacencies such as Veovo-style front-to-back solutions).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Backup: market sizing (submission §5 Market Potential). The US$40B e-Gate TAM mentioned on 14 Oct is pending source verification with Riley — not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FP_HERO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FP_CONTENT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FP_DIVIDER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P_HER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gqy/b70fb111-7300-56ba-abe4-4b6e17d8c33e/scratchpad/assets/common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463040" cy="43891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057400"/>
            <a:ext cx="585216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3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423160"/>
            <a:ext cx="603504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2000"/>
              </a:lnSpc>
              <a:buNone/>
              <a:defRPr lang="en-US" sz="5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92000"/>
              </a:lnSpc>
              <a:buNone/>
            </a:pPr>
            <a:endParaRPr lang="en-US" sz="5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114800"/>
            <a:ext cx="46634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P_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gqy/b70fb111-7300-56ba-abe4-4b6e17d8c33e/scratchpad/assets/common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429768"/>
            <a:ext cx="128016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54126"/>
            <a:ext cx="91440" cy="91440"/>
          </a:xfrm>
          <a:prstGeom prst="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768096"/>
            <a:ext cx="95097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548640" y="1444752"/>
            <a:ext cx="1078992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7" name="Text 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AGIL® Secure FastPass  ·  InnoChamp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P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gqy/b70fb111-7300-56ba-abe4-4b6e17d8c33e/scratchpad/assets/common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463040" cy="43891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331720"/>
            <a:ext cx="54864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3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697480"/>
            <a:ext cx="56692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65760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6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AGIL® Secure FastPass  ·  InnoChamp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gif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gif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65215" y="1051560"/>
            <a:ext cx="5577840" cy="4754880"/>
          </a:xfrm>
          <a:prstGeom prst="roundRect">
            <a:avLst>
              <a:gd name="adj" fmla="val 4231"/>
            </a:avLst>
          </a:prstGeom>
          <a:solidFill>
            <a:srgbClr val="2A2A2A"/>
          </a:solidFill>
          <a:ln/>
          <a:effectLst>
            <a:outerShdw sx="100000" sy="100000" kx="0" ky="0" algn="bl" rotWithShape="0" blurRad="381000" dist="127000" dir="5400000">
              <a:srgbClr val="0A1628">
                <a:alpha val="18000"/>
              </a:srgbClr>
            </a:outerShdw>
          </a:effectLst>
        </p:spPr>
      </p:sp>
      <p:pic>
        <p:nvPicPr>
          <p:cNvPr id="3" name="Hero — FastPass lane" descr="/tmp/claude-0/-home-user-sgqy/b70fb111-7300-56ba-abe4-4b6e17d8c33e/scratchpad/assets/common/hero_t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5215" y="1051560"/>
            <a:ext cx="5577840" cy="475488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05740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INNOCHAMP 2026  ·  PRODUCT CATEGORY</a:t>
            </a:r>
            <a:endParaRPr lang="en-US" sz="1200" dirty="0"/>
          </a:p>
        </p:txBody>
      </p:sp>
      <p:sp>
        <p:nvSpPr>
          <p:cNvPr id="5" name="Text 0"/>
          <p:cNvSpPr/>
          <p:nvPr>
            <p:ph idx="102" type="title" hasCustomPrompt="1"/>
          </p:nvPr>
        </p:nvSpPr>
        <p:spPr>
          <a:xfrm>
            <a:off x="548640" y="2423160"/>
            <a:ext cx="6035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400" b="1" dirty="0">
                <a:solidFill>
                  <a:schemeClr val="tx1"/>
                </a:solidFill>
              </a:rPr>
              <a:t>AGIL® Secure</a:t>
            </a:r>
            <a:endParaRPr lang="en-US" sz="54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5400" b="1" dirty="0">
                <a:solidFill>
                  <a:schemeClr val="tx1"/>
                </a:solidFill>
              </a:rPr>
              <a:t>FastPass</a:t>
            </a:r>
            <a:endParaRPr lang="en-US" sz="5400" dirty="0"/>
          </a:p>
        </p:txBody>
      </p:sp>
      <p:sp>
        <p:nvSpPr>
          <p:cNvPr id="6" name="Text 0"/>
          <p:cNvSpPr/>
          <p:nvPr>
            <p:ph idx="103" type="body" hasCustomPrompt="1"/>
          </p:nvPr>
        </p:nvSpPr>
        <p:spPr>
          <a:xfrm>
            <a:off x="548640" y="41148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One verified identity. A journey designed to keep moving.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5074920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5074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Privacy-first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057400" y="5074920"/>
            <a:ext cx="1051560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057400" y="50749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Modular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46120" y="5074920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246120" y="5074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Walk-through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1264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Smart Security &amp; Automation  ·  Smart Utilities &amp; Infrastructure  ·  Urban Solutions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MARKET NEEDS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6809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Every passenger stops four times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447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Departure is split across identity, immigration, screening and boarding. Each stop costs staff, space and time.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51560" y="2542032"/>
            <a:ext cx="101041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13432"/>
            <a:ext cx="457200" cy="457200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" y="2418588"/>
            <a:ext cx="246888" cy="24688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185855" y="2313432"/>
            <a:ext cx="457200" cy="457200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1011" y="2418588"/>
            <a:ext cx="246888" cy="24688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911096" y="2304288"/>
            <a:ext cx="475488" cy="475488"/>
          </a:xfrm>
          <a:prstGeom prst="octagon">
            <a:avLst/>
          </a:prstGeom>
          <a:solidFill>
            <a:schemeClr val="accent3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240487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60120" y="28895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Check-in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316382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Document check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544568" y="2304288"/>
            <a:ext cx="475488" cy="475488"/>
          </a:xfrm>
          <a:prstGeom prst="octagon">
            <a:avLst/>
          </a:prstGeom>
          <a:solidFill>
            <a:schemeClr val="accent3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2404872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593592" y="28895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Immigration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3593592" y="316382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Passport + officer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7178040" y="2304288"/>
            <a:ext cx="475488" cy="475488"/>
          </a:xfrm>
          <a:prstGeom prst="octagon">
            <a:avLst/>
          </a:prstGeom>
          <a:solidFill>
            <a:schemeClr val="accent3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624" y="2404872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227064" y="28895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Security screening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6227064" y="316382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ID + boarding pass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9811512" y="2304288"/>
            <a:ext cx="475488" cy="475488"/>
          </a:xfrm>
          <a:prstGeom prst="octagon">
            <a:avLst/>
          </a:prstGeom>
          <a:solidFill>
            <a:schemeClr val="accent3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2096" y="2404872"/>
            <a:ext cx="274320" cy="27432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8860536" y="28895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Boarding gate</a:t>
            </a:r>
            <a:endParaRPr lang="en-US" sz="1500" dirty="0"/>
          </a:p>
        </p:txBody>
      </p:sp>
      <p:sp>
        <p:nvSpPr>
          <p:cNvPr id="25" name="Text 17"/>
          <p:cNvSpPr txBox="1"/>
          <p:nvPr/>
        </p:nvSpPr>
        <p:spPr>
          <a:xfrm>
            <a:off x="8860536" y="316382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Passport + boarding pass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548640" y="3749040"/>
            <a:ext cx="2567864" cy="2212848"/>
          </a:xfrm>
          <a:prstGeom prst="roundRect">
            <a:avLst>
              <a:gd name="adj" fmla="val 661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8000"/>
              </a:srgbClr>
            </a:outerShdw>
          </a:effectLst>
        </p:spPr>
      </p:sp>
      <p:sp>
        <p:nvSpPr>
          <p:cNvPr id="27" name="Text 19"/>
          <p:cNvSpPr txBox="1"/>
          <p:nvPr/>
        </p:nvSpPr>
        <p:spPr>
          <a:xfrm>
            <a:off x="822960" y="3968496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4</a:t>
            </a:r>
            <a:endParaRPr lang="en-US" sz="4400" dirty="0"/>
          </a:p>
        </p:txBody>
      </p:sp>
      <p:sp>
        <p:nvSpPr>
          <p:cNvPr id="28" name="Shape 20"/>
          <p:cNvSpPr/>
          <p:nvPr/>
        </p:nvSpPr>
        <p:spPr>
          <a:xfrm>
            <a:off x="2421560" y="4059936"/>
            <a:ext cx="420624" cy="420624"/>
          </a:xfrm>
          <a:prstGeom prst="ellipse">
            <a:avLst/>
          </a:prstGeom>
          <a:solidFill>
            <a:schemeClr val="accent3">
              <a:alpha val="12000"/>
            </a:schemeClr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8303" y="4156680"/>
            <a:ext cx="227137" cy="227137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822960" y="4754880"/>
            <a:ext cx="2019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stops per departure</a:t>
            </a:r>
            <a:endParaRPr lang="en-US" sz="1500" dirty="0"/>
          </a:p>
        </p:txBody>
      </p:sp>
      <p:sp>
        <p:nvSpPr>
          <p:cNvPr id="31" name="Text 22"/>
          <p:cNvSpPr txBox="1"/>
          <p:nvPr/>
        </p:nvSpPr>
        <p:spPr>
          <a:xfrm>
            <a:off x="822960" y="5285232"/>
            <a:ext cx="201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Each one a queue and an identity check</a:t>
            </a:r>
            <a:endParaRPr lang="en-US" sz="1400" dirty="0"/>
          </a:p>
        </p:txBody>
      </p:sp>
      <p:sp>
        <p:nvSpPr>
          <p:cNvPr id="32" name="Shape 23"/>
          <p:cNvSpPr/>
          <p:nvPr/>
        </p:nvSpPr>
        <p:spPr>
          <a:xfrm>
            <a:off x="3390824" y="3749040"/>
            <a:ext cx="2567864" cy="2212848"/>
          </a:xfrm>
          <a:prstGeom prst="roundRect">
            <a:avLst>
              <a:gd name="adj" fmla="val 661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8000"/>
              </a:srgbClr>
            </a:outerShdw>
          </a:effectLst>
        </p:spPr>
      </p:sp>
      <p:sp>
        <p:nvSpPr>
          <p:cNvPr id="33" name="Text 24"/>
          <p:cNvSpPr txBox="1"/>
          <p:nvPr/>
        </p:nvSpPr>
        <p:spPr>
          <a:xfrm>
            <a:off x="3665144" y="3968496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~3</a:t>
            </a:r>
            <a:endParaRPr lang="en-US" sz="4400" dirty="0"/>
          </a:p>
        </p:txBody>
      </p:sp>
      <p:sp>
        <p:nvSpPr>
          <p:cNvPr id="34" name="Shape 25"/>
          <p:cNvSpPr/>
          <p:nvPr/>
        </p:nvSpPr>
        <p:spPr>
          <a:xfrm>
            <a:off x="5263744" y="4059936"/>
            <a:ext cx="420624" cy="420624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60487" y="4156680"/>
            <a:ext cx="227137" cy="227137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3665144" y="4754880"/>
            <a:ext cx="2019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staff per manned lane</a:t>
            </a:r>
            <a:endParaRPr lang="en-US" sz="1500" dirty="0"/>
          </a:p>
        </p:txBody>
      </p:sp>
      <p:sp>
        <p:nvSpPr>
          <p:cNvPr id="37" name="Text 27"/>
          <p:cNvSpPr txBox="1"/>
          <p:nvPr/>
        </p:nvSpPr>
        <p:spPr>
          <a:xfrm>
            <a:off x="3665144" y="5285232"/>
            <a:ext cx="201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Tied up on routine identity checks</a:t>
            </a:r>
            <a:endParaRPr lang="en-US" sz="1400" dirty="0"/>
          </a:p>
        </p:txBody>
      </p:sp>
      <p:sp>
        <p:nvSpPr>
          <p:cNvPr id="38" name="Shape 28"/>
          <p:cNvSpPr/>
          <p:nvPr/>
        </p:nvSpPr>
        <p:spPr>
          <a:xfrm>
            <a:off x="6233008" y="3749040"/>
            <a:ext cx="2567864" cy="2212848"/>
          </a:xfrm>
          <a:prstGeom prst="roundRect">
            <a:avLst>
              <a:gd name="adj" fmla="val 661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8000"/>
              </a:srgbClr>
            </a:outerShdw>
          </a:effectLst>
        </p:spPr>
      </p:sp>
      <p:sp>
        <p:nvSpPr>
          <p:cNvPr id="39" name="Text 29"/>
          <p:cNvSpPr txBox="1"/>
          <p:nvPr/>
        </p:nvSpPr>
        <p:spPr>
          <a:xfrm>
            <a:off x="6507328" y="3968496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2×</a:t>
            </a:r>
            <a:endParaRPr lang="en-US" sz="4400" dirty="0"/>
          </a:p>
        </p:txBody>
      </p:sp>
      <p:sp>
        <p:nvSpPr>
          <p:cNvPr id="40" name="Shape 30"/>
          <p:cNvSpPr/>
          <p:nvPr/>
        </p:nvSpPr>
        <p:spPr>
          <a:xfrm>
            <a:off x="8105927" y="4059936"/>
            <a:ext cx="420624" cy="420624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2671" y="4156680"/>
            <a:ext cx="227137" cy="227137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6507328" y="4754880"/>
            <a:ext cx="2019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air travel demand by 2040</a:t>
            </a:r>
            <a:endParaRPr lang="en-US" sz="1500" dirty="0"/>
          </a:p>
        </p:txBody>
      </p:sp>
      <p:sp>
        <p:nvSpPr>
          <p:cNvPr id="43" name="Text 32"/>
          <p:cNvSpPr txBox="1"/>
          <p:nvPr/>
        </p:nvSpPr>
        <p:spPr>
          <a:xfrm>
            <a:off x="6507328" y="5285232"/>
            <a:ext cx="201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Terminals and headcount can't double</a:t>
            </a:r>
            <a:endParaRPr lang="en-US" sz="1400" dirty="0"/>
          </a:p>
        </p:txBody>
      </p:sp>
      <p:sp>
        <p:nvSpPr>
          <p:cNvPr id="44" name="Shape 33"/>
          <p:cNvSpPr/>
          <p:nvPr/>
        </p:nvSpPr>
        <p:spPr>
          <a:xfrm>
            <a:off x="9075191" y="3749040"/>
            <a:ext cx="2567864" cy="2212848"/>
          </a:xfrm>
          <a:prstGeom prst="roundRect">
            <a:avLst>
              <a:gd name="adj" fmla="val 661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8000"/>
              </a:srgbClr>
            </a:outerShdw>
          </a:effectLst>
        </p:spPr>
      </p:sp>
      <p:sp>
        <p:nvSpPr>
          <p:cNvPr id="45" name="Text 34"/>
          <p:cNvSpPr txBox="1"/>
          <p:nvPr/>
        </p:nvSpPr>
        <p:spPr>
          <a:xfrm>
            <a:off x="9349511" y="3968496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48%</a:t>
            </a:r>
            <a:endParaRPr lang="en-US" sz="4400" dirty="0"/>
          </a:p>
        </p:txBody>
      </p:sp>
      <p:sp>
        <p:nvSpPr>
          <p:cNvPr id="46" name="Shape 35"/>
          <p:cNvSpPr/>
          <p:nvPr/>
        </p:nvSpPr>
        <p:spPr>
          <a:xfrm>
            <a:off x="10948111" y="4059936"/>
            <a:ext cx="420624" cy="420624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4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44855" y="4156680"/>
            <a:ext cx="227137" cy="227137"/>
          </a:xfrm>
          <a:prstGeom prst="rect">
            <a:avLst/>
          </a:prstGeom>
        </p:spPr>
      </p:pic>
      <p:sp>
        <p:nvSpPr>
          <p:cNvPr id="48" name="Text 36"/>
          <p:cNvSpPr txBox="1"/>
          <p:nvPr/>
        </p:nvSpPr>
        <p:spPr>
          <a:xfrm>
            <a:off x="9349511" y="4754880"/>
            <a:ext cx="2019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of airports plan data sharing by 2027</a:t>
            </a:r>
            <a:endParaRPr lang="en-US" sz="1500" dirty="0"/>
          </a:p>
        </p:txBody>
      </p:sp>
      <p:sp>
        <p:nvSpPr>
          <p:cNvPr id="49" name="Text 37"/>
          <p:cNvSpPr txBox="1"/>
          <p:nvPr/>
        </p:nvSpPr>
        <p:spPr>
          <a:xfrm>
            <a:off x="9349511" y="5285232"/>
            <a:ext cx="201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Today operators lack one cross-silo view</a:t>
            </a:r>
            <a:endParaRPr lang="en-US" sz="1400" dirty="0"/>
          </a:p>
        </p:txBody>
      </p:sp>
      <p:sp>
        <p:nvSpPr>
          <p:cNvPr id="50" name="Text 38"/>
          <p:cNvSpPr txBox="1"/>
          <p:nvPr/>
        </p:nvSpPr>
        <p:spPr>
          <a:xfrm>
            <a:off x="548640" y="6089904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Sources: IATA Global Outlook for Air Transport (Dec 2023); SITA Air Transport IT Insights 2024 &amp; 2025. Staffing per lane: URS operational assessment.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MARKET POTENTIAL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6809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 US$100–140M a year opportunity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447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Sized from the automated border control market down to the lanes FastPass can win in the Middle East and SE Asia.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76272"/>
            <a:ext cx="5760720" cy="731520"/>
          </a:xfrm>
          <a:prstGeom prst="roundRect">
            <a:avLst>
              <a:gd name="adj" fmla="val 2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176272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US$5.0B</a:t>
            </a:r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global ABC market by 2030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28700" y="3072384"/>
            <a:ext cx="4800600" cy="731520"/>
          </a:xfrm>
          <a:prstGeom prst="roundRect">
            <a:avLst>
              <a:gd name="adj" fmla="val 20000"/>
            </a:avLst>
          </a:prstGeom>
          <a:solidFill>
            <a:schemeClr val="accent1">
              <a:alpha val="30000"/>
            </a:scheme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28700" y="3072384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≈83%</a:t>
            </a:r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of it at airports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508760" y="3968496"/>
            <a:ext cx="3840480" cy="731520"/>
          </a:xfrm>
          <a:prstGeom prst="roundRect">
            <a:avLst>
              <a:gd name="adj" fmla="val 20000"/>
            </a:avLst>
          </a:prstGeom>
          <a:solidFill>
            <a:schemeClr val="accent1">
              <a:alpha val="48000"/>
            </a:scheme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08760" y="3968496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10–15%</a:t>
            </a:r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Middle East + SE Asia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988820" y="4864608"/>
            <a:ext cx="2880360" cy="73152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988820" y="4864608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2"/>
                </a:solidFill>
              </a:rPr>
              <a:t>≈25%</a:t>
            </a:r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  FastPass share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742432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Global market grows from US$2.56B (2025): ~14.5% CAGR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75120" y="2176272"/>
            <a:ext cx="4967935" cy="219456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177800" dist="38100" dir="5400000">
              <a:srgbClr val="0A1628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040880" y="2423160"/>
            <a:ext cx="423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SERVICEABLE MARKET  ·  2026–2030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040880" y="2743200"/>
            <a:ext cx="4236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US$500–700M</a:t>
            </a:r>
            <a:endParaRPr lang="en-US" sz="46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3566160"/>
            <a:ext cx="4236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≈ US$100–140M addressable every year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3913632"/>
            <a:ext cx="423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Hardware, platform software, integration and services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75120" y="4572000"/>
            <a:ext cx="2346808" cy="13716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931152" y="4718304"/>
            <a:ext cx="183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7 in 10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6931152" y="5212080"/>
            <a:ext cx="183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airlines adopting biometric ID by 2026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296248" y="4572000"/>
            <a:ext cx="2346808" cy="13716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552280" y="4718304"/>
            <a:ext cx="183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~78%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9552280" y="5212080"/>
            <a:ext cx="183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of ME/SEA airport projects are brownfield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089904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Sources: MarketsandMarkets, Automated Border Control Market 2025–2030; SITA Air Transport IT Insights 2024. Regional and serviceable shares: URS estimate (method in appendix).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INNOVATIVENESS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6809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One identity. Every touchpoint. No stops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447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The traveller's phone becomes a verified credential that carries them from home to gate.</a:t>
            </a:r>
            <a:endParaRPr lang="en-US" sz="1600" dirty="0"/>
          </a:p>
        </p:txBody>
      </p:sp>
      <p:pic>
        <p:nvPicPr>
          <p:cNvPr id="5" name="Stage 1" descr="/tmp/claude-0/-home-user-sgqy/b70fb111-7300-56ba-abe4-4b6e17d8c33e/scratchpad/assets/common/j_enr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84832"/>
            <a:ext cx="2036003" cy="1417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084832"/>
            <a:ext cx="2036003" cy="1417320"/>
          </a:xfrm>
          <a:prstGeom prst="roundRect">
            <a:avLst>
              <a:gd name="adj" fmla="val 9032"/>
            </a:avLst>
          </a:prstGeom>
          <a:ln w="9525">
            <a:solidFill>
              <a:schemeClr val="accent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4069080"/>
            <a:ext cx="20360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01  ENROL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334256"/>
            <a:ext cx="20360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At home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4663440"/>
            <a:ext cx="19445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Scan passport and face once. Encrypted on the phone.</a:t>
            </a:r>
            <a:endParaRPr lang="en-US" sz="1400" dirty="0"/>
          </a:p>
        </p:txBody>
      </p:sp>
      <p:pic>
        <p:nvPicPr>
          <p:cNvPr id="10" name="Stage 2 tile" descr="/tmp/claude-0/-home-user-sgqy/b70fb111-7300-56ba-abe4-4b6e17d8c33e/scratchpad/assets/pearl/tile_bla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243" y="2084832"/>
            <a:ext cx="2036003" cy="1417320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317" y="2414016"/>
            <a:ext cx="749808" cy="749808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2413" y="2542032"/>
            <a:ext cx="475488" cy="475488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2813243" y="2084832"/>
            <a:ext cx="2036003" cy="1417320"/>
          </a:xfrm>
          <a:prstGeom prst="roundRect">
            <a:avLst>
              <a:gd name="adj" fmla="val 9032"/>
            </a:avLst>
          </a:prstGeom>
          <a:ln w="9525">
            <a:solidFill>
              <a:schemeClr val="accent5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2813243" y="4069080"/>
            <a:ext cx="20360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02  APPROACH</a:t>
            </a:r>
            <a:endParaRPr lang="en-US" sz="1200" dirty="0"/>
          </a:p>
        </p:txBody>
      </p:sp>
      <p:sp>
        <p:nvSpPr>
          <p:cNvPr id="15" name="Text 9"/>
          <p:cNvSpPr txBox="1"/>
          <p:nvPr/>
        </p:nvSpPr>
        <p:spPr>
          <a:xfrm>
            <a:off x="2813243" y="4334256"/>
            <a:ext cx="20360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Lane entry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2858963" y="4663440"/>
            <a:ext cx="19445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Bluetooth pairs the phone to the lane while walking.</a:t>
            </a:r>
            <a:endParaRPr lang="en-US" sz="1400" dirty="0"/>
          </a:p>
        </p:txBody>
      </p:sp>
      <p:pic>
        <p:nvPicPr>
          <p:cNvPr id="17" name="Stage 3" descr="/tmp/claude-0/-home-user-sgqy/b70fb111-7300-56ba-abe4-4b6e17d8c33e/scratchpad/assets/common/j_cle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7846" y="2084832"/>
            <a:ext cx="2036003" cy="141732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5077846" y="2084832"/>
            <a:ext cx="2036003" cy="1417320"/>
          </a:xfrm>
          <a:prstGeom prst="roundRect">
            <a:avLst>
              <a:gd name="adj" fmla="val 9032"/>
            </a:avLst>
          </a:prstGeom>
          <a:ln w="9525">
            <a:solidFill>
              <a:schemeClr val="accent5"/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5077846" y="4069080"/>
            <a:ext cx="20360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03  CLEAR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5077846" y="4334256"/>
            <a:ext cx="20360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Immigration</a:t>
            </a:r>
            <a:endParaRPr lang="en-US" sz="1600" dirty="0"/>
          </a:p>
        </p:txBody>
      </p:sp>
      <p:sp>
        <p:nvSpPr>
          <p:cNvPr id="21" name="Text 14"/>
          <p:cNvSpPr txBox="1"/>
          <p:nvPr/>
        </p:nvSpPr>
        <p:spPr>
          <a:xfrm>
            <a:off x="5123566" y="4663440"/>
            <a:ext cx="19445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Face matched on the move. The gate stays open.</a:t>
            </a:r>
            <a:endParaRPr lang="en-US" sz="1400" dirty="0"/>
          </a:p>
        </p:txBody>
      </p:sp>
      <p:pic>
        <p:nvPicPr>
          <p:cNvPr id="22" name="Stage 4" descr="/tmp/claude-0/-home-user-sgqy/b70fb111-7300-56ba-abe4-4b6e17d8c33e/scratchpad/assets/common/j_sc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2449" y="2084832"/>
            <a:ext cx="2036003" cy="141732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342449" y="2084832"/>
            <a:ext cx="2036003" cy="1417320"/>
          </a:xfrm>
          <a:prstGeom prst="roundRect">
            <a:avLst>
              <a:gd name="adj" fmla="val 9032"/>
            </a:avLst>
          </a:prstGeom>
          <a:ln w="9525">
            <a:solidFill>
              <a:schemeClr val="accent5"/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7342449" y="4069080"/>
            <a:ext cx="20360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04  SCREEN</a:t>
            </a:r>
            <a:endParaRPr lang="en-US" sz="1200" dirty="0"/>
          </a:p>
        </p:txBody>
      </p:sp>
      <p:sp>
        <p:nvSpPr>
          <p:cNvPr id="25" name="Text 17"/>
          <p:cNvSpPr txBox="1"/>
          <p:nvPr/>
        </p:nvSpPr>
        <p:spPr>
          <a:xfrm>
            <a:off x="7342449" y="4334256"/>
            <a:ext cx="20360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Security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7388169" y="4663440"/>
            <a:ext cx="19445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Identity confirmed before baggage X-ray.</a:t>
            </a:r>
            <a:endParaRPr lang="en-US" sz="1400" dirty="0"/>
          </a:p>
        </p:txBody>
      </p:sp>
      <p:pic>
        <p:nvPicPr>
          <p:cNvPr id="27" name="Stage 5" descr="/tmp/claude-0/-home-user-sgqy/b70fb111-7300-56ba-abe4-4b6e17d8c33e/scratchpad/assets/common/j_boar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7052" y="2084832"/>
            <a:ext cx="2036003" cy="1417320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9607052" y="2084832"/>
            <a:ext cx="2036003" cy="1417320"/>
          </a:xfrm>
          <a:prstGeom prst="roundRect">
            <a:avLst>
              <a:gd name="adj" fmla="val 9032"/>
            </a:avLst>
          </a:prstGeom>
          <a:ln w="9525">
            <a:solidFill>
              <a:schemeClr val="accent5"/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9607052" y="4069080"/>
            <a:ext cx="20360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05  BOARD</a:t>
            </a:r>
            <a:endParaRPr lang="en-US" sz="1200" dirty="0"/>
          </a:p>
        </p:txBody>
      </p:sp>
      <p:sp>
        <p:nvSpPr>
          <p:cNvPr id="30" name="Text 21"/>
          <p:cNvSpPr txBox="1"/>
          <p:nvPr/>
        </p:nvSpPr>
        <p:spPr>
          <a:xfrm>
            <a:off x="9607052" y="4334256"/>
            <a:ext cx="20360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Gate</a:t>
            </a:r>
            <a:endParaRPr lang="en-US" sz="1600" dirty="0"/>
          </a:p>
        </p:txBody>
      </p:sp>
      <p:sp>
        <p:nvSpPr>
          <p:cNvPr id="31" name="Text 22"/>
          <p:cNvSpPr txBox="1"/>
          <p:nvPr/>
        </p:nvSpPr>
        <p:spPr>
          <a:xfrm>
            <a:off x="9652772" y="4663440"/>
            <a:ext cx="19445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Kiosk clears boarding. No passport, no boarding pass.</a:t>
            </a:r>
            <a:endParaRPr lang="en-US" sz="1400" dirty="0"/>
          </a:p>
        </p:txBody>
      </p:sp>
      <p:pic>
        <p:nvPicPr>
          <p:cNvPr id="32" name="Passenger flow loop" descr="/tmp/claude-0/-home-user-sgqy/b70fb111-7300-56ba-abe4-4b6e17d8c33e/scratchpad/assets/pearl/flow_journey.gif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3593592"/>
            <a:ext cx="11094415" cy="365760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548640" y="5504688"/>
            <a:ext cx="11094415" cy="548640"/>
          </a:xfrm>
          <a:prstGeom prst="roundRect">
            <a:avLst>
              <a:gd name="adj" fmla="val 50000"/>
            </a:avLst>
          </a:prstGeom>
          <a:solidFill>
            <a:schemeClr val="accent1">
              <a:alpha val="9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672" y="5623560"/>
            <a:ext cx="310896" cy="310896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1280160" y="5504688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AGIL® Secure ISMP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  one command layer for transactions, lane status, security events and exceptions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INNOVATIVENESS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6809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Your identity stays on your phone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447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Passport and biometric data are encrypted on the device and shared only at the moment of verification.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21408"/>
            <a:ext cx="2971800" cy="201168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395728"/>
            <a:ext cx="475488" cy="475488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322" y="2505090"/>
            <a:ext cx="256764" cy="25676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299008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Traveller's phone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35584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Passport + face template, encrypted at rest in the FastPass SDK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10405" y="2121408"/>
            <a:ext cx="2971800" cy="201168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84725" y="2395728"/>
            <a:ext cx="475488" cy="475488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087" y="2505090"/>
            <a:ext cx="256764" cy="25676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884725" y="299008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FastPass lane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884725" y="335584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Live face matched on the move to the phone's template: two-factor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671255" y="2121408"/>
            <a:ext cx="2971800" cy="201168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945575" y="2395728"/>
            <a:ext cx="475488" cy="475488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4937" y="2505090"/>
            <a:ext cx="256764" cy="25676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945575" y="299008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AGIL® Secure ISMP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945575" y="335584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Receives the clearance result and events, not a biometric database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3630168" y="3127248"/>
            <a:ext cx="870509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Text 16"/>
          <p:cNvSpPr txBox="1"/>
          <p:nvPr/>
        </p:nvSpPr>
        <p:spPr>
          <a:xfrm>
            <a:off x="3584448" y="2798064"/>
            <a:ext cx="96194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BLE · 2FA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3584448" y="3200400"/>
            <a:ext cx="96194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just-in-time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7691933" y="3127248"/>
            <a:ext cx="86959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4" name="Text 19"/>
          <p:cNvSpPr txBox="1"/>
          <p:nvPr/>
        </p:nvSpPr>
        <p:spPr>
          <a:xfrm>
            <a:off x="7646213" y="2798064"/>
            <a:ext cx="9610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Result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7646213" y="3200400"/>
            <a:ext cx="9610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clear or alert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548640" y="4434840"/>
            <a:ext cx="3515258" cy="1572768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822960" y="4690872"/>
            <a:ext cx="420624" cy="420624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704" y="4787616"/>
            <a:ext cx="227137" cy="227137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389888" y="4690872"/>
            <a:ext cx="24179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Strict privacy regimes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822960" y="5239512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Rules like the EU GDPR restrict central biometric storage. FastPass needs none.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4338218" y="4434840"/>
            <a:ext cx="3515258" cy="1572768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8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4612538" y="4690872"/>
            <a:ext cx="420624" cy="420624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282" y="4787616"/>
            <a:ext cx="227137" cy="227137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5179466" y="4690872"/>
            <a:ext cx="24179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Centralised regimes</a:t>
            </a:r>
            <a:endParaRPr lang="en-US" sz="1600" dirty="0"/>
          </a:p>
        </p:txBody>
      </p:sp>
      <p:sp>
        <p:nvSpPr>
          <p:cNvPr id="35" name="Text 28"/>
          <p:cNvSpPr txBox="1"/>
          <p:nvPr/>
        </p:nvSpPr>
        <p:spPr>
          <a:xfrm>
            <a:off x="4612538" y="5239512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Where national data sharing exists (e.g. ICA–airport in Singapore), FastPass plugs in.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127797" y="4434840"/>
            <a:ext cx="3515258" cy="1572768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8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8402117" y="4690872"/>
            <a:ext cx="420624" cy="420624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8860" y="4787616"/>
            <a:ext cx="227137" cy="227137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8969045" y="4690872"/>
            <a:ext cx="24179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Modular by policy</a:t>
            </a:r>
            <a:endParaRPr lang="en-US" sz="1600" dirty="0"/>
          </a:p>
        </p:txBody>
      </p:sp>
      <p:sp>
        <p:nvSpPr>
          <p:cNvPr id="40" name="Text 32"/>
          <p:cNvSpPr txBox="1"/>
          <p:nvPr/>
        </p:nvSpPr>
        <p:spPr>
          <a:xfrm>
            <a:off x="8402117" y="5239512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 compulsory national-database integration. Configure each checkpoint to local rules.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VALUE PROPOSITION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6809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One command view for every lane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447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AGIL® Secure ISMP fuses traveller clearance with CCTV, access control and incident management.</a:t>
            </a:r>
            <a:endParaRPr lang="en-US" sz="1600" dirty="0"/>
          </a:p>
        </p:txBody>
      </p:sp>
      <p:pic>
        <p:nvPicPr>
          <p:cNvPr id="5" name="ISMP dashboard" descr="/tmp/claude-0/-home-user-sgqy/b70fb111-7300-56ba-abe4-4b6e17d8c33e/scratchpad/assets/common/ismp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84832"/>
            <a:ext cx="6400800" cy="40416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084832"/>
            <a:ext cx="6400800" cy="4041648"/>
          </a:xfrm>
          <a:prstGeom prst="roundRect">
            <a:avLst>
              <a:gd name="adj" fmla="val 3167"/>
            </a:avLst>
          </a:prstGeom>
          <a:ln w="9525">
            <a:solidFill>
              <a:schemeClr val="accent5"/>
            </a:solidFill>
            <a:prstDash val="solid"/>
          </a:ln>
        </p:spPr>
      </p:sp>
      <p:pic>
        <p:nvPicPr>
          <p:cNvPr id="7" name="Lane feedback" descr="/tmp/claude-0/-home-user-sgqy/b70fb111-7300-56ba-abe4-4b6e17d8c33e/scratchpad/assets/common/feedb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2084832"/>
            <a:ext cx="4343400" cy="16916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269480" y="2084832"/>
            <a:ext cx="4343400" cy="1691640"/>
          </a:xfrm>
          <a:prstGeom prst="roundRect">
            <a:avLst>
              <a:gd name="adj" fmla="val 7568"/>
            </a:avLst>
          </a:prstGeom>
          <a:ln w="9525">
            <a:solidFill>
              <a:schemeClr val="accent5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406640" y="338328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060E1A">
              <a:alpha val="75000"/>
            </a:srgbClr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7406640" y="33832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Lane feedback: green means go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269480" y="4023360"/>
            <a:ext cx="402336" cy="402336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2017" y="4115897"/>
            <a:ext cx="217261" cy="217261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818120" y="3986784"/>
            <a:ext cx="38249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Live passenger log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7818120" y="4224528"/>
            <a:ext cx="38249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Every clearance, by traveller and lane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7269480" y="4572000"/>
            <a:ext cx="402336" cy="402336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2017" y="4664537"/>
            <a:ext cx="217261" cy="217261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818120" y="4535424"/>
            <a:ext cx="38249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Exceptions to officers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7818120" y="4773168"/>
            <a:ext cx="38249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mismatch closes the lane, alerts staff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7269480" y="5120640"/>
            <a:ext cx="402336" cy="402336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2017" y="5213177"/>
            <a:ext cx="217261" cy="217261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818120" y="5084064"/>
            <a:ext cx="38249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3D digital-twin flow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7818120" y="5321808"/>
            <a:ext cx="38249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Flow by zone to pre-empt congestion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7269480" y="5669280"/>
            <a:ext cx="402336" cy="402336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2017" y="5761817"/>
            <a:ext cx="217261" cy="217261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818120" y="5632704"/>
            <a:ext cx="38249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Assistive AI</a:t>
            </a:r>
            <a:endParaRPr lang="en-US" sz="1400" dirty="0"/>
          </a:p>
        </p:txBody>
      </p:sp>
      <p:sp>
        <p:nvSpPr>
          <p:cNvPr id="26" name="Text 18"/>
          <p:cNvSpPr txBox="1"/>
          <p:nvPr/>
        </p:nvSpPr>
        <p:spPr>
          <a:xfrm>
            <a:off x="7818120" y="5870448"/>
            <a:ext cx="38249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Triages alerts, suggests responses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BUSINESS IMPACT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6809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Three fewer staff per lane. Zero stops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447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Automating four touchpoints turns a stop-and-check process into continuous flow.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84832"/>
            <a:ext cx="11094415" cy="1938528"/>
          </a:xfrm>
          <a:prstGeom prst="roundRect">
            <a:avLst>
              <a:gd name="adj" fmla="val 754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3900830" y="223113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accent4"/>
                </a:solidFill>
              </a:rPr>
              <a:t>Check-in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515661" y="223113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accent4"/>
                </a:solidFill>
              </a:rPr>
              <a:t>Immigration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130491" y="223113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accent4"/>
                </a:solidFill>
              </a:rPr>
              <a:t>Screening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745322" y="223113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accent4"/>
                </a:solidFill>
              </a:rPr>
              <a:t>Boarding</a:t>
            </a:r>
            <a:endParaRPr lang="en-US" sz="1100" dirty="0"/>
          </a:p>
        </p:txBody>
      </p:sp>
      <p:pic>
        <p:nvPicPr>
          <p:cNvPr id="10" name="Today vs FastPass loop" descr="/tmp/claude-0/-home-user-sgqy/b70fb111-7300-56ba-abe4-4b6e17d8c33e/scratchpad/assets/pearl/flow_compare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8920" y="2542032"/>
            <a:ext cx="8531352" cy="13716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22960" y="26700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Today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296265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4 stops · ~3 staff per lane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2918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With FastPass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358444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0 stops · exceptions only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279392"/>
            <a:ext cx="2567864" cy="1783080"/>
          </a:xfrm>
          <a:prstGeom prst="roundRect">
            <a:avLst>
              <a:gd name="adj" fmla="val 820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22960" y="4480560"/>
            <a:ext cx="2019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</a:t>
            </a:r>
            <a:endParaRPr lang="en-US" sz="40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5175504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fewer staff per lane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548640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Officers redeployed to exceptions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390824" y="4279392"/>
            <a:ext cx="2567864" cy="1783080"/>
          </a:xfrm>
          <a:prstGeom prst="roundRect">
            <a:avLst>
              <a:gd name="adj" fmla="val 820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8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3665144" y="4480560"/>
            <a:ext cx="2019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3–6 s</a:t>
            </a:r>
            <a:endParaRPr lang="en-US" sz="4000" dirty="0"/>
          </a:p>
        </p:txBody>
      </p:sp>
      <p:sp>
        <p:nvSpPr>
          <p:cNvPr id="21" name="Text 18"/>
          <p:cNvSpPr txBox="1"/>
          <p:nvPr/>
        </p:nvSpPr>
        <p:spPr>
          <a:xfrm>
            <a:off x="3665144" y="5175504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walk-through passage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3665144" y="548640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 intentional stop at the gate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233008" y="4279392"/>
            <a:ext cx="2567864" cy="1783080"/>
          </a:xfrm>
          <a:prstGeom prst="roundRect">
            <a:avLst>
              <a:gd name="adj" fmla="val 820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8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6507328" y="4480560"/>
            <a:ext cx="2019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30–50%</a:t>
            </a:r>
            <a:endParaRPr lang="en-US" sz="4000" dirty="0"/>
          </a:p>
        </p:txBody>
      </p:sp>
      <p:sp>
        <p:nvSpPr>
          <p:cNvPr id="25" name="Text 22"/>
          <p:cNvSpPr txBox="1"/>
          <p:nvPr/>
        </p:nvSpPr>
        <p:spPr>
          <a:xfrm>
            <a:off x="6507328" y="5175504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more throughput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6507328" y="548640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Per lane, without more floor space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9075191" y="4279392"/>
            <a:ext cx="2567864" cy="1783080"/>
          </a:xfrm>
          <a:prstGeom prst="roundRect">
            <a:avLst>
              <a:gd name="adj" fmla="val 820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8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9349511" y="4480560"/>
            <a:ext cx="2019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100%</a:t>
            </a:r>
            <a:endParaRPr lang="en-US" sz="4000" dirty="0"/>
          </a:p>
        </p:txBody>
      </p:sp>
      <p:sp>
        <p:nvSpPr>
          <p:cNvPr id="29" name="Text 26"/>
          <p:cNvSpPr txBox="1"/>
          <p:nvPr/>
        </p:nvSpPr>
        <p:spPr>
          <a:xfrm>
            <a:off x="9349511" y="5175504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auditable events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9349511" y="548640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Every clearance logged in ISMP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TIME TO MARKET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6809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Who buys, what they pay, how we land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447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Land with one lane in a brownfield terminal, then expand across touchpoints as value is proven.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84832"/>
            <a:ext cx="3515258" cy="4005072"/>
          </a:xfrm>
          <a:prstGeom prst="roundRect">
            <a:avLst>
              <a:gd name="adj" fmla="val 416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359152"/>
            <a:ext cx="438912" cy="438912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910" y="2460102"/>
            <a:ext cx="237012" cy="2370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89888" y="2359152"/>
            <a:ext cx="24179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Who buys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4338218" y="2084832"/>
            <a:ext cx="3515258" cy="4005072"/>
          </a:xfrm>
          <a:prstGeom prst="roundRect">
            <a:avLst>
              <a:gd name="adj" fmla="val 416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2538" y="2359152"/>
            <a:ext cx="438912" cy="438912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488" y="2460102"/>
            <a:ext cx="237012" cy="2370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79466" y="2359152"/>
            <a:ext cx="24179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What they pay for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8127797" y="2084832"/>
            <a:ext cx="3515258" cy="4005072"/>
          </a:xfrm>
          <a:prstGeom prst="roundRect">
            <a:avLst>
              <a:gd name="adj" fmla="val 416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402117" y="2359152"/>
            <a:ext cx="438912" cy="438912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067" y="2460102"/>
            <a:ext cx="237012" cy="23701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969045" y="2359152"/>
            <a:ext cx="24179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How we land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3044952"/>
            <a:ext cx="29666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PRIMARY BUYER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3319272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Tier-2 international airports in the Middle East and SE Asia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822960" y="4032504"/>
            <a:ext cx="29666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CO-DECIDES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822960" y="4306824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Immigration and border agencies: sovereignty, compliance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822960" y="5020056"/>
            <a:ext cx="29666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ENABLERS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822960" y="5294376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Airlines: drive app enrolment and boarding adoption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4612538" y="3063240"/>
            <a:ext cx="1024128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4612538" y="306324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ONE-OFF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5764682" y="3026664"/>
            <a:ext cx="1869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Lane hardware: e-gate, reader, kiosk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4612538" y="3648456"/>
            <a:ext cx="1024128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4612538" y="364845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RECURRING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5764682" y="3611880"/>
            <a:ext cx="1869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ISMP platform licence per checkpoint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4612538" y="4233672"/>
            <a:ext cx="1024128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4612538" y="423367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PROJECT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5764682" y="4197096"/>
            <a:ext cx="1869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Systems integration</a:t>
            </a:r>
            <a:endParaRPr lang="en-US" sz="1400" dirty="0"/>
          </a:p>
        </p:txBody>
      </p:sp>
      <p:sp>
        <p:nvSpPr>
          <p:cNvPr id="32" name="Shape 27"/>
          <p:cNvSpPr/>
          <p:nvPr/>
        </p:nvSpPr>
        <p:spPr>
          <a:xfrm>
            <a:off x="4612538" y="4818888"/>
            <a:ext cx="1024128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4612538" y="481888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ANNUAL</a:t>
            </a:r>
            <a:endParaRPr lang="en-US" sz="1000" dirty="0"/>
          </a:p>
        </p:txBody>
      </p:sp>
      <p:sp>
        <p:nvSpPr>
          <p:cNvPr id="34" name="Text 29"/>
          <p:cNvSpPr txBox="1"/>
          <p:nvPr/>
        </p:nvSpPr>
        <p:spPr>
          <a:xfrm>
            <a:off x="5764682" y="4782312"/>
            <a:ext cx="1869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Lifecycle support and SLA</a:t>
            </a:r>
            <a:endParaRPr lang="en-US" sz="1400" dirty="0"/>
          </a:p>
        </p:txBody>
      </p:sp>
      <p:sp>
        <p:nvSpPr>
          <p:cNvPr id="35" name="Shape 30"/>
          <p:cNvSpPr/>
          <p:nvPr/>
        </p:nvSpPr>
        <p:spPr>
          <a:xfrm>
            <a:off x="4612538" y="5376672"/>
            <a:ext cx="2966618" cy="512064"/>
          </a:xfrm>
          <a:prstGeom prst="roundRect">
            <a:avLst>
              <a:gd name="adj" fmla="val 21429"/>
            </a:avLst>
          </a:prstGeom>
          <a:solidFill>
            <a:schemeClr val="accent6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4749698" y="5376672"/>
            <a:ext cx="269229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Priced against the ~3 staff it saves per lane</a:t>
            </a:r>
            <a:endParaRPr lang="en-US" sz="1300" dirty="0"/>
          </a:p>
        </p:txBody>
      </p:sp>
      <p:sp>
        <p:nvSpPr>
          <p:cNvPr id="37" name="Shape 32"/>
          <p:cNvSpPr/>
          <p:nvPr/>
        </p:nvSpPr>
        <p:spPr>
          <a:xfrm>
            <a:off x="8566709" y="3273552"/>
            <a:ext cx="0" cy="2414016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8402117" y="3090672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8402117" y="3090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1</a:t>
            </a:r>
            <a:endParaRPr lang="en-US" sz="1200" dirty="0"/>
          </a:p>
        </p:txBody>
      </p:sp>
      <p:sp>
        <p:nvSpPr>
          <p:cNvPr id="40" name="Text 35"/>
          <p:cNvSpPr txBox="1"/>
          <p:nvPr/>
        </p:nvSpPr>
        <p:spPr>
          <a:xfrm>
            <a:off x="8905037" y="3072384"/>
            <a:ext cx="25094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Prove</a:t>
            </a:r>
            <a:endParaRPr lang="en-US" sz="1500" dirty="0"/>
          </a:p>
        </p:txBody>
      </p:sp>
      <p:sp>
        <p:nvSpPr>
          <p:cNvPr id="41" name="Text 36"/>
          <p:cNvSpPr txBox="1"/>
          <p:nvPr/>
        </p:nvSpPr>
        <p:spPr>
          <a:xfrm>
            <a:off x="8905037" y="3346704"/>
            <a:ext cx="2555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single pilot lane</a:t>
            </a:r>
            <a:endParaRPr lang="en-US" sz="1400" dirty="0"/>
          </a:p>
        </p:txBody>
      </p:sp>
      <p:sp>
        <p:nvSpPr>
          <p:cNvPr id="42" name="Shape 37"/>
          <p:cNvSpPr/>
          <p:nvPr/>
        </p:nvSpPr>
        <p:spPr>
          <a:xfrm>
            <a:off x="8402117" y="3895344"/>
            <a:ext cx="329184" cy="329184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8402117" y="3895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</a:t>
            </a:r>
            <a:endParaRPr lang="en-US" sz="1200" dirty="0"/>
          </a:p>
        </p:txBody>
      </p:sp>
      <p:sp>
        <p:nvSpPr>
          <p:cNvPr id="44" name="Text 39"/>
          <p:cNvSpPr txBox="1"/>
          <p:nvPr/>
        </p:nvSpPr>
        <p:spPr>
          <a:xfrm>
            <a:off x="8905037" y="3877056"/>
            <a:ext cx="25094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Expand</a:t>
            </a:r>
            <a:endParaRPr lang="en-US" sz="1500" dirty="0"/>
          </a:p>
        </p:txBody>
      </p:sp>
      <p:sp>
        <p:nvSpPr>
          <p:cNvPr id="45" name="Text 40"/>
          <p:cNvSpPr txBox="1"/>
          <p:nvPr/>
        </p:nvSpPr>
        <p:spPr>
          <a:xfrm>
            <a:off x="8905037" y="4151376"/>
            <a:ext cx="2555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More lanes and enrolment</a:t>
            </a:r>
            <a:endParaRPr lang="en-US" sz="1400" dirty="0"/>
          </a:p>
        </p:txBody>
      </p:sp>
      <p:sp>
        <p:nvSpPr>
          <p:cNvPr id="46" name="Shape 41"/>
          <p:cNvSpPr/>
          <p:nvPr/>
        </p:nvSpPr>
        <p:spPr>
          <a:xfrm>
            <a:off x="8402117" y="4700016"/>
            <a:ext cx="329184" cy="329184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8402117" y="4700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3</a:t>
            </a:r>
            <a:endParaRPr lang="en-US" sz="1200" dirty="0"/>
          </a:p>
        </p:txBody>
      </p:sp>
      <p:sp>
        <p:nvSpPr>
          <p:cNvPr id="48" name="Text 43"/>
          <p:cNvSpPr txBox="1"/>
          <p:nvPr/>
        </p:nvSpPr>
        <p:spPr>
          <a:xfrm>
            <a:off x="8905037" y="4681728"/>
            <a:ext cx="25094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Connect</a:t>
            </a:r>
            <a:endParaRPr lang="en-US" sz="1500" dirty="0"/>
          </a:p>
        </p:txBody>
      </p:sp>
      <p:sp>
        <p:nvSpPr>
          <p:cNvPr id="49" name="Text 44"/>
          <p:cNvSpPr txBox="1"/>
          <p:nvPr/>
        </p:nvSpPr>
        <p:spPr>
          <a:xfrm>
            <a:off x="8905037" y="4956048"/>
            <a:ext cx="2555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All touchpoints via ISMP</a:t>
            </a:r>
            <a:endParaRPr lang="en-US" sz="1400" dirty="0"/>
          </a:p>
        </p:txBody>
      </p:sp>
      <p:sp>
        <p:nvSpPr>
          <p:cNvPr id="50" name="Shape 45"/>
          <p:cNvSpPr/>
          <p:nvPr/>
        </p:nvSpPr>
        <p:spPr>
          <a:xfrm>
            <a:off x="8402117" y="5504688"/>
            <a:ext cx="329184" cy="329184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8402117" y="5504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4</a:t>
            </a:r>
            <a:endParaRPr lang="en-US" sz="1200" dirty="0"/>
          </a:p>
        </p:txBody>
      </p:sp>
      <p:sp>
        <p:nvSpPr>
          <p:cNvPr id="52" name="Text 47"/>
          <p:cNvSpPr txBox="1"/>
          <p:nvPr/>
        </p:nvSpPr>
        <p:spPr>
          <a:xfrm>
            <a:off x="8905037" y="5486400"/>
            <a:ext cx="25094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Scale</a:t>
            </a:r>
            <a:endParaRPr lang="en-US" sz="1500" dirty="0"/>
          </a:p>
        </p:txBody>
      </p:sp>
      <p:sp>
        <p:nvSpPr>
          <p:cNvPr id="53" name="Text 48"/>
          <p:cNvSpPr txBox="1"/>
          <p:nvPr/>
        </p:nvSpPr>
        <p:spPr>
          <a:xfrm>
            <a:off x="8905037" y="5760720"/>
            <a:ext cx="2555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Terminals and portfolios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BARRIERS TO ENTRY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6809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Why we win, and how we stay ahead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447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Idemia and SITA lead on ecosystem breadth. FastPass wins where security, privacy and modularity converge.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848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OUR EDGE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487168"/>
            <a:ext cx="438912" cy="438912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590" y="2588118"/>
            <a:ext cx="237012" cy="2370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70432" y="246888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Converged with security ops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170432" y="276148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Clearance events sit beside CCTV, access control and intrusion in ISMP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3383280"/>
            <a:ext cx="438912" cy="438912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90" y="3484230"/>
            <a:ext cx="237012" cy="2370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70432" y="336499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Privacy-first architecture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170432" y="36576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On-device credentials deploy under strict data regimes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4279392"/>
            <a:ext cx="438912" cy="438912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90" y="4380342"/>
            <a:ext cx="237012" cy="23701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70432" y="426110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Modular and infrastructure-light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170432" y="455371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Start with one lane; no national-database tie-in; minimal civil works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48640" y="5175504"/>
            <a:ext cx="438912" cy="438912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90" y="5276454"/>
            <a:ext cx="237012" cy="23701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170432" y="515721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Government-grade delivery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1170432" y="54498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35+ years of mission-critical systems, cybersecurity and airport support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6172200" y="2084832"/>
            <a:ext cx="5470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ENTRY BARRIERS  →  OUR MITIGATION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172200" y="2468880"/>
            <a:ext cx="5470855" cy="301752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8000"/>
              </a:srgbClr>
            </a:outerShdw>
          </a:effectLst>
        </p:spPr>
      </p:sp>
      <p:sp>
        <p:nvSpPr>
          <p:cNvPr id="24" name="Text 18"/>
          <p:cNvSpPr txBox="1"/>
          <p:nvPr/>
        </p:nvSpPr>
        <p:spPr>
          <a:xfrm>
            <a:off x="6446520" y="2596896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Incumbent ecosystems</a:t>
            </a:r>
            <a:endParaRPr lang="en-US" sz="14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2761488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869680" y="2596896"/>
            <a:ext cx="2544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Interoperate via open APIs; land at a single checkpoint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6446520" y="3236976"/>
            <a:ext cx="49222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6446520" y="3328416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Divergent privacy rules</a:t>
            </a:r>
            <a:endParaRPr lang="en-US" sz="14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3493008"/>
            <a:ext cx="237744" cy="23774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8869680" y="3328416"/>
            <a:ext cx="2544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On-device credentials, configurable data flows</a:t>
            </a:r>
            <a:endParaRPr lang="en-US" sz="1400" dirty="0"/>
          </a:p>
        </p:txBody>
      </p:sp>
      <p:sp>
        <p:nvSpPr>
          <p:cNvPr id="31" name="Shape 23"/>
          <p:cNvSpPr/>
          <p:nvPr/>
        </p:nvSpPr>
        <p:spPr>
          <a:xfrm>
            <a:off x="6446520" y="3968496"/>
            <a:ext cx="49222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6446520" y="4059936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Traveller app adoption</a:t>
            </a:r>
            <a:endParaRPr lang="en-US" sz="14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200" y="4224528"/>
            <a:ext cx="237744" cy="237744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8869680" y="4059936"/>
            <a:ext cx="2544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Airline co-enrolment, group profiles, standard-lane fallback</a:t>
            </a:r>
            <a:endParaRPr lang="en-US" sz="1400" dirty="0"/>
          </a:p>
        </p:txBody>
      </p:sp>
      <p:sp>
        <p:nvSpPr>
          <p:cNvPr id="35" name="Shape 26"/>
          <p:cNvSpPr/>
          <p:nvPr/>
        </p:nvSpPr>
        <p:spPr>
          <a:xfrm>
            <a:off x="6446520" y="4700016"/>
            <a:ext cx="49222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6446520" y="4791456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Sensor robustness</a:t>
            </a:r>
            <a:endParaRPr lang="en-US" sz="1400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8200" y="4956048"/>
            <a:ext cx="237744" cy="237744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8869680" y="4791456"/>
            <a:ext cx="2544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Onboard-processing LiDAR, iris roadmap, lane guidance</a:t>
            </a:r>
            <a:endParaRPr lang="en-US" sz="1400" dirty="0"/>
          </a:p>
        </p:txBody>
      </p:sp>
      <p:sp>
        <p:nvSpPr>
          <p:cNvPr id="39" name="Shape 29"/>
          <p:cNvSpPr/>
          <p:nvPr/>
        </p:nvSpPr>
        <p:spPr>
          <a:xfrm>
            <a:off x="6172200" y="5614416"/>
            <a:ext cx="5470855" cy="457200"/>
          </a:xfrm>
          <a:prstGeom prst="roundRect">
            <a:avLst>
              <a:gd name="adj" fmla="val 50000"/>
            </a:avLst>
          </a:prstGeom>
          <a:solidFill>
            <a:schemeClr val="accent1">
              <a:alpha val="9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5715000"/>
            <a:ext cx="256032" cy="256032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6793992" y="5614416"/>
            <a:ext cx="4647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Each new lane and integration deepens the moat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6809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Ready to pilot. Built to win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447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Four reasons FastPass should scale, and a clear path to first revenue.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139696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Real pain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505456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4 stops, ~3 staff per lane, demand doubling by 2040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8152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3118104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Focused market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483864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US$100–140M a year serviceable in ME and Southeast Asia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059936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03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4096512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Proven product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4462272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Working prototype, demonstrated at Singapore Airshow 2026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038344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04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507492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Defensible edge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5440680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Privacy-first, converged with security ops, modular from one lane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223760" y="2084832"/>
            <a:ext cx="4419295" cy="3986784"/>
          </a:xfrm>
          <a:prstGeom prst="roundRect">
            <a:avLst>
              <a:gd name="adj" fmla="val 367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43800" y="2286000"/>
            <a:ext cx="3779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Path to market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644384" y="2852928"/>
            <a:ext cx="0" cy="265176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43800" y="2807208"/>
            <a:ext cx="201168" cy="201168"/>
          </a:xfrm>
          <a:prstGeom prst="ellipse">
            <a:avLst/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55280" y="2761488"/>
            <a:ext cx="3413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FEB 2026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955280" y="3008376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Prototype live at Singapore Airshow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543800" y="3447288"/>
            <a:ext cx="201168" cy="20116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55280" y="3401568"/>
            <a:ext cx="3413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OCT 2026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955280" y="3648456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InnoChamp 2026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543800" y="4087368"/>
            <a:ext cx="201168" cy="201168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955280" y="4041648"/>
            <a:ext cx="3413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Q4 2026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955280" y="4288536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Live airport demonstration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543800" y="4727448"/>
            <a:ext cx="201168" cy="201168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955280" y="4681728"/>
            <a:ext cx="3413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APR 2027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955280" y="4928616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Passenger Terminal World, Amsterdam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543800" y="5367528"/>
            <a:ext cx="201168" cy="201168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955280" y="5321808"/>
            <a:ext cx="3413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2027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955280" y="5568696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First customer pilot lanes (target)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65215" y="1051560"/>
            <a:ext cx="5577840" cy="4754880"/>
          </a:xfrm>
          <a:prstGeom prst="roundRect">
            <a:avLst>
              <a:gd name="adj" fmla="val 4231"/>
            </a:avLst>
          </a:prstGeom>
          <a:solidFill>
            <a:srgbClr val="2A2A2A"/>
          </a:solidFill>
          <a:ln/>
          <a:effectLst>
            <a:outerShdw sx="100000" sy="100000" kx="0" ky="0" algn="bl" rotWithShape="0" blurRad="381000" dist="127000" dir="5400000">
              <a:srgbClr val="0A1628">
                <a:alpha val="18000"/>
              </a:srgbClr>
            </a:outerShdw>
          </a:effectLst>
        </p:spPr>
      </p:sp>
      <p:pic>
        <p:nvPicPr>
          <p:cNvPr id="3" name="Hero — FastPass lane" descr="/tmp/claude-0/-home-user-sgqy/b70fb111-7300-56ba-abe4-4b6e17d8c33e/scratchpad/assets/common/hero_t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5215" y="1051560"/>
            <a:ext cx="5577840" cy="475488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05740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AGIL® SECURE FASTPASS</a:t>
            </a:r>
            <a:endParaRPr lang="en-US" sz="1200" dirty="0"/>
          </a:p>
        </p:txBody>
      </p:sp>
      <p:sp>
        <p:nvSpPr>
          <p:cNvPr id="5" name="Text 0"/>
          <p:cNvSpPr/>
          <p:nvPr>
            <p:ph idx="102" type="title" hasCustomPrompt="1"/>
          </p:nvPr>
        </p:nvSpPr>
        <p:spPr>
          <a:xfrm>
            <a:off x="548640" y="2423160"/>
            <a:ext cx="6035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400" b="1" dirty="0">
                <a:solidFill>
                  <a:schemeClr val="tx1"/>
                </a:solidFill>
              </a:rPr>
              <a:t>Thank you</a:t>
            </a:r>
            <a:endParaRPr lang="en-US" sz="54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chemeClr val="accent1"/>
                </a:solidFill>
              </a:rPr>
              <a:t>Questions welcome</a:t>
            </a:r>
            <a:endParaRPr lang="en-US" sz="5400" dirty="0"/>
          </a:p>
        </p:txBody>
      </p:sp>
      <p:sp>
        <p:nvSpPr>
          <p:cNvPr id="6" name="Text 0"/>
          <p:cNvSpPr/>
          <p:nvPr>
            <p:ph idx="103" type="body" hasCustomPrompt="1"/>
          </p:nvPr>
        </p:nvSpPr>
        <p:spPr>
          <a:xfrm>
            <a:off x="548640" y="41148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One verified identity. A journey designed to keep moving.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264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Smart Security &amp; Automation  ·  Smart Utilities &amp; Infrastructure  ·  Urban Solutions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23317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BACKUP FOR Q&amp;A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69748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Appendix</a:t>
            </a:r>
            <a:endParaRPr lang="en-US" sz="4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3657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Detail behind the pitch, ready for judges’ questions.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675120" y="1234440"/>
            <a:ext cx="4967935" cy="448056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995160" y="155448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A1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Value for every stakeholder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95160" y="2011680"/>
            <a:ext cx="432511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95160" y="210312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A2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E-Gate design and engineering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95160" y="2560320"/>
            <a:ext cx="432511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95160" y="265176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A3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Mobile app: enrolment and groups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95160" y="3108960"/>
            <a:ext cx="432511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95160" y="320040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A4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ISMP journey and exception views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995160" y="3657600"/>
            <a:ext cx="432511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95160" y="374904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A5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AI in the product and the build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995160" y="4206240"/>
            <a:ext cx="432511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95160" y="429768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A6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Roadmap and adjacencies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995160" y="4754880"/>
            <a:ext cx="432511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95160" y="484632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A7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Market sizing method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A1  ·  VALUE PROPOSITION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6809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Value for every stakeholder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447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One platform, five beneficiaries across the airport ecosystem.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036003" cy="3931920"/>
          </a:xfrm>
          <a:prstGeom prst="roundRect">
            <a:avLst>
              <a:gd name="adj" fmla="val 718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377440"/>
            <a:ext cx="512064" cy="512064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447" y="2495215"/>
            <a:ext cx="276515" cy="27651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04672" y="3063240"/>
            <a:ext cx="15239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Travellers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3703320"/>
            <a:ext cx="152393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Passport-free journey with fewer stops. Groups clear together under one profile.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04672" y="5303520"/>
            <a:ext cx="1523939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4672" y="5413248"/>
            <a:ext cx="15239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Zero stops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813243" y="2103120"/>
            <a:ext cx="2036003" cy="3931920"/>
          </a:xfrm>
          <a:prstGeom prst="roundRect">
            <a:avLst>
              <a:gd name="adj" fmla="val 718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069275" y="2377440"/>
            <a:ext cx="512064" cy="512064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050" y="2495215"/>
            <a:ext cx="276515" cy="27651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069275" y="3063240"/>
            <a:ext cx="15239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Security officers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069275" y="3703320"/>
            <a:ext cx="152393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Less repetitive checking. Attention goes to the exceptions that need judgement.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3069275" y="5303520"/>
            <a:ext cx="1523939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069275" y="5413248"/>
            <a:ext cx="15239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Exceptions only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5077846" y="2103120"/>
            <a:ext cx="2036003" cy="3931920"/>
          </a:xfrm>
          <a:prstGeom prst="roundRect">
            <a:avLst>
              <a:gd name="adj" fmla="val 718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333878" y="2377440"/>
            <a:ext cx="512064" cy="512064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1653" y="2495215"/>
            <a:ext cx="276515" cy="27651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333878" y="3063240"/>
            <a:ext cx="15239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Screening checkpoints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5333878" y="3703320"/>
            <a:ext cx="152393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Biometric profile check before X-ray flags exceptions early.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5333878" y="5303520"/>
            <a:ext cx="1523939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5333878" y="5413248"/>
            <a:ext cx="15239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Earlier flags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7342449" y="2103120"/>
            <a:ext cx="2036003" cy="3931920"/>
          </a:xfrm>
          <a:prstGeom prst="roundRect">
            <a:avLst>
              <a:gd name="adj" fmla="val 718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598481" y="2377440"/>
            <a:ext cx="512064" cy="512064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6256" y="2495215"/>
            <a:ext cx="276515" cy="276515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598481" y="3063240"/>
            <a:ext cx="15239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Control-room operators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7598481" y="3703320"/>
            <a:ext cx="152393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 dashboard for clearances, lanes, security events and exceptions.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7598481" y="5303520"/>
            <a:ext cx="1523939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7598481" y="5413248"/>
            <a:ext cx="15239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One live view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9607052" y="2103120"/>
            <a:ext cx="2036003" cy="3931920"/>
          </a:xfrm>
          <a:prstGeom prst="roundRect">
            <a:avLst>
              <a:gd name="adj" fmla="val 718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9863084" y="2377440"/>
            <a:ext cx="512064" cy="512064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0859" y="2495215"/>
            <a:ext cx="276515" cy="276515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9863084" y="3063240"/>
            <a:ext cx="15239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Airport authorities</a:t>
            </a:r>
            <a:endParaRPr lang="en-US" sz="1600" dirty="0"/>
          </a:p>
        </p:txBody>
      </p:sp>
      <p:sp>
        <p:nvSpPr>
          <p:cNvPr id="37" name="Text 30"/>
          <p:cNvSpPr txBox="1"/>
          <p:nvPr/>
        </p:nvSpPr>
        <p:spPr>
          <a:xfrm>
            <a:off x="9863084" y="3703320"/>
            <a:ext cx="152393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Fewer standalone systems for IT. Capacity grows without more space or staff.</a:t>
            </a:r>
            <a:endParaRPr lang="en-US" sz="1400" dirty="0"/>
          </a:p>
        </p:txBody>
      </p:sp>
      <p:sp>
        <p:nvSpPr>
          <p:cNvPr id="38" name="Shape 31"/>
          <p:cNvSpPr/>
          <p:nvPr/>
        </p:nvSpPr>
        <p:spPr>
          <a:xfrm>
            <a:off x="9863084" y="5303520"/>
            <a:ext cx="1523939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9863084" y="5413248"/>
            <a:ext cx="15239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Capacity, not headcount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A2  ·  DESIGN &amp; ENGINEERING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6809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Built for travellers and borders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447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gantry-free, infrastructure-light lane with integrated FR camera, BLE beacon and status lighting.</a:t>
            </a:r>
            <a:endParaRPr lang="en-US" sz="1600" dirty="0"/>
          </a:p>
        </p:txBody>
      </p:sp>
      <p:pic>
        <p:nvPicPr>
          <p:cNvPr id="5" name="Annotated lane" descr="/tmp/claude-0/-home-user-sgqy/b70fb111-7300-56ba-abe4-4b6e17d8c33e/scratchpad/assets/common/lane_ann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03120"/>
            <a:ext cx="6583680" cy="3703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103120"/>
            <a:ext cx="6583680" cy="3703320"/>
          </a:xfrm>
          <a:prstGeom prst="roundRect">
            <a:avLst>
              <a:gd name="adj" fmla="val 3457"/>
            </a:avLst>
          </a:prstGeom>
          <a:ln w="9525">
            <a:solidFill>
              <a:schemeClr val="accent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52360" y="2121408"/>
            <a:ext cx="438912" cy="438912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310" y="2222358"/>
            <a:ext cx="237012" cy="2370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074152" y="2103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Human-factor design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074152" y="239572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Soft-white matte finish: a calm, approachable presence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452360" y="3063240"/>
            <a:ext cx="438912" cy="438912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3310" y="3164190"/>
            <a:ext cx="237012" cy="23701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074152" y="30449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Self-service by default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8074152" y="33375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FR camera, RGB guidance and status light in a slim pylon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7452360" y="4005072"/>
            <a:ext cx="438912" cy="438912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3310" y="4106022"/>
            <a:ext cx="237012" cy="23701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74152" y="39867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Brownfield-ready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8074152" y="42793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Light footprint cuts civil works in existing terminals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7452360" y="4946904"/>
            <a:ext cx="438912" cy="438912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3310" y="5047854"/>
            <a:ext cx="237012" cy="23701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74152" y="49286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Secure to the core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8074152" y="522122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Zero-trust, multi-tier, cloud-ready, hardened APIs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A3  ·  MOBILE APP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6809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Enrol once. Travel as a group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447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Self-enrolment at home via passport MRZ and selfie; linked travellers clear individually under one group.</a:t>
            </a:r>
            <a:endParaRPr lang="en-US" sz="1600" dirty="0"/>
          </a:p>
        </p:txBody>
      </p:sp>
      <p:pic>
        <p:nvPicPr>
          <p:cNvPr id="5" name="App enrolment" descr="/tmp/claude-0/-home-user-sgqy/b70fb111-7300-56ba-abe4-4b6e17d8c33e/scratchpad/assets/common/app_enr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03120"/>
            <a:ext cx="6675120" cy="30906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103120"/>
            <a:ext cx="6675120" cy="3090672"/>
          </a:xfrm>
          <a:prstGeom prst="roundRect">
            <a:avLst>
              <a:gd name="adj" fmla="val 4142"/>
            </a:avLst>
          </a:prstGeom>
          <a:ln w="9525">
            <a:solidFill>
              <a:schemeClr val="accent5"/>
            </a:solidFill>
            <a:prstDash val="solid"/>
          </a:ln>
        </p:spPr>
      </p:sp>
      <p:pic>
        <p:nvPicPr>
          <p:cNvPr id="7" name="App group clearance" descr="/tmp/claude-0/-home-user-sgqy/b70fb111-7300-56ba-abe4-4b6e17d8c33e/scratchpad/assets/common/app_gro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455" y="2103120"/>
            <a:ext cx="3657600" cy="351129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985455" y="2103120"/>
            <a:ext cx="3657600" cy="3511296"/>
          </a:xfrm>
          <a:prstGeom prst="roundRect">
            <a:avLst>
              <a:gd name="adj" fmla="val 3646"/>
            </a:avLst>
          </a:prstGeom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34924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Enrolment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Add profile → passport scan fills details → selfie → confirm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6692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 raw identity documents are sent to airport systems; verification uses two factors.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7985455" y="5742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Group view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live status from immigration to boarding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A4  ·  AGIL® SECURE ISMP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6809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Follow every journey, every exception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447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Group and individual views trace each traveller across immigration, screening and boarding.</a:t>
            </a:r>
            <a:endParaRPr lang="en-US" sz="1600" dirty="0"/>
          </a:p>
        </p:txBody>
      </p:sp>
      <p:pic>
        <p:nvPicPr>
          <p:cNvPr id="5" name="ISMP group log" descr="/tmp/claude-0/-home-user-sgqy/b70fb111-7300-56ba-abe4-4b6e17d8c33e/scratchpad/assets/common/ismp_gro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03120"/>
            <a:ext cx="5394960" cy="34107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103120"/>
            <a:ext cx="5394960" cy="3410712"/>
          </a:xfrm>
          <a:prstGeom prst="roundRect">
            <a:avLst>
              <a:gd name="adj" fmla="val 3753"/>
            </a:avLst>
          </a:prstGeom>
          <a:ln w="9525">
            <a:solidFill>
              <a:schemeClr val="accent5"/>
            </a:solidFill>
            <a:prstDash val="solid"/>
          </a:ln>
        </p:spPr>
      </p:sp>
      <p:pic>
        <p:nvPicPr>
          <p:cNvPr id="7" name="ISMP traveller view" descr="/tmp/claude-0/-home-user-sgqy/b70fb111-7300-56ba-abe4-4b6e17d8c33e/scratchpad/assets/common/ismp_indi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095" y="2103120"/>
            <a:ext cx="5394960" cy="344728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248095" y="2103120"/>
            <a:ext cx="5394960" cy="3447288"/>
          </a:xfrm>
          <a:prstGeom prst="roundRect">
            <a:avLst>
              <a:gd name="adj" fmla="val 3714"/>
            </a:avLst>
          </a:prstGeom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6692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Group log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each member's status at every touchpoint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248095" y="56692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Traveller view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flight, gate and verified touchpoints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A5  ·  AI ADOPTION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6809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AI in the product and in how we build it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447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Aligned with InnoChamp 2026's theme of AI-driven collaborative innovation.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6400800" cy="393192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8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286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IN THE PRODUCT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8680" y="2697480"/>
            <a:ext cx="402336" cy="402336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217" y="2790017"/>
            <a:ext cx="217261" cy="21726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27157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Facial recognition engine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886200" y="27157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Reliable verification on the move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68680" y="3337560"/>
            <a:ext cx="402336" cy="402336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217" y="3430097"/>
            <a:ext cx="217261" cy="2172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17320" y="33558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Alert triage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886200" y="33558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Context-aware alarm prioritisation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68680" y="3977640"/>
            <a:ext cx="402336" cy="402336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17" y="4070177"/>
            <a:ext cx="217261" cy="21726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39959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Behaviour analytics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3886200" y="39959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Unusual-pattern detection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868680" y="4617720"/>
            <a:ext cx="402336" cy="402336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17" y="4710257"/>
            <a:ext cx="217261" cy="21726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17320" y="4636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Flow prediction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3886200" y="46360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Congestion forecasting across zones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868680" y="5257800"/>
            <a:ext cx="402336" cy="402336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217" y="5350337"/>
            <a:ext cx="217261" cy="217261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17320" y="52760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Predictive maintenance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3886200" y="52760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Device and network health monitoring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7223760" y="2103120"/>
            <a:ext cx="4419295" cy="3931920"/>
          </a:xfrm>
          <a:prstGeom prst="roundRect">
            <a:avLst>
              <a:gd name="adj" fmla="val 3721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177800" dist="38100" dir="5400000">
              <a:srgbClr val="0A1628">
                <a:alpha val="8000"/>
              </a:srgbClr>
            </a:outerShdw>
          </a:effectLst>
        </p:spPr>
      </p:sp>
      <p:sp>
        <p:nvSpPr>
          <p:cNvPr id="28" name="Text 21"/>
          <p:cNvSpPr txBox="1"/>
          <p:nvPr/>
        </p:nvSpPr>
        <p:spPr>
          <a:xfrm>
            <a:off x="7543800" y="2286000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IN ENGINEERING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7543800" y="2697480"/>
            <a:ext cx="3779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~50%</a:t>
            </a:r>
            <a:endParaRPr lang="en-US" sz="4400" dirty="0"/>
          </a:p>
        </p:txBody>
      </p:sp>
      <p:sp>
        <p:nvSpPr>
          <p:cNvPr id="30" name="Text 23"/>
          <p:cNvSpPr txBox="1"/>
          <p:nvPr/>
        </p:nvSpPr>
        <p:spPr>
          <a:xfrm>
            <a:off x="7543800" y="3337560"/>
            <a:ext cx="3779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less effort in selected front-end activities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7543800" y="3794760"/>
            <a:ext cx="3779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~40%</a:t>
            </a:r>
            <a:endParaRPr lang="en-US" sz="4400" dirty="0"/>
          </a:p>
        </p:txBody>
      </p:sp>
      <p:sp>
        <p:nvSpPr>
          <p:cNvPr id="32" name="Text 25"/>
          <p:cNvSpPr txBox="1"/>
          <p:nvPr/>
        </p:nvSpPr>
        <p:spPr>
          <a:xfrm>
            <a:off x="7543800" y="4434840"/>
            <a:ext cx="3779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better delivery-pipeline efficiency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7543800" y="4983480"/>
            <a:ext cx="3779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AI-assisted engineering and CI/CD with integrated security testing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A6  ·  ROADMAP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6809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Built to extend: next modes and markets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447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common lane and platform foundation lets airports add capabilities without replacing what they own.</a:t>
            </a:r>
            <a:endParaRPr lang="en-US" sz="1600" dirty="0"/>
          </a:p>
        </p:txBody>
      </p:sp>
      <p:pic>
        <p:nvPicPr>
          <p:cNvPr id="5" name="Iris SecureFlow" descr="/tmp/claude-0/-home-user-sgqy/b70fb111-7300-56ba-abe4-4b6e17d8c33e/scratchpad/assets/common/ir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03120"/>
            <a:ext cx="5166360" cy="2377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103120"/>
            <a:ext cx="5166360" cy="2377440"/>
          </a:xfrm>
          <a:prstGeom prst="roundRect">
            <a:avLst>
              <a:gd name="adj" fmla="val 5385"/>
            </a:avLst>
          </a:prstGeom>
          <a:ln w="9525">
            <a:solidFill>
              <a:schemeClr val="accent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45720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Iris SecureFlow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modular face + iris lane for higher assurance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983480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NEXT MARKETS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5303520"/>
            <a:ext cx="1691640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530352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Kerbside &amp; check-in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350008" y="5303520"/>
            <a:ext cx="896112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350008" y="5303520"/>
            <a:ext cx="896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Baggage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55848" y="5303520"/>
            <a:ext cx="960120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355848" y="53035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Seaports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425696" y="5303520"/>
            <a:ext cx="1481328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425696" y="530352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Land checkpoints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5724144"/>
            <a:ext cx="914400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572414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Stadiums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572768" y="5724144"/>
            <a:ext cx="1143000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572768" y="572414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Critical sites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675120" y="210312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NEXT MODES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675120" y="2487168"/>
            <a:ext cx="438912" cy="438912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070" y="2588118"/>
            <a:ext cx="237012" cy="237012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296912" y="246888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Face + iris multimodal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7296912" y="276148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Assurance when masks, eyewear or lighting degrade capture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675120" y="3374136"/>
            <a:ext cx="438912" cy="438912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6070" y="3475086"/>
            <a:ext cx="237012" cy="237012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7296912" y="335584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UWB wallet clearance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7296912" y="364845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Passive walk-through without opening the app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6675120" y="4261104"/>
            <a:ext cx="438912" cy="438912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6070" y="4362054"/>
            <a:ext cx="237012" cy="237012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7296912" y="424281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Palm-vein option</a:t>
            </a:r>
            <a:endParaRPr lang="en-US" sz="1600" dirty="0"/>
          </a:p>
        </p:txBody>
      </p:sp>
      <p:sp>
        <p:nvSpPr>
          <p:cNvPr id="33" name="Text 27"/>
          <p:cNvSpPr txBox="1"/>
          <p:nvPr/>
        </p:nvSpPr>
        <p:spPr>
          <a:xfrm>
            <a:off x="7296912" y="453542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Alternative biometric for specific security postures</a:t>
            </a:r>
            <a:endParaRPr lang="en-US" sz="1400" dirty="0"/>
          </a:p>
        </p:txBody>
      </p:sp>
      <p:sp>
        <p:nvSpPr>
          <p:cNvPr id="34" name="Shape 28"/>
          <p:cNvSpPr/>
          <p:nvPr/>
        </p:nvSpPr>
        <p:spPr>
          <a:xfrm>
            <a:off x="6675120" y="5148072"/>
            <a:ext cx="438912" cy="438912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6070" y="5249022"/>
            <a:ext cx="237012" cy="237012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7296912" y="512978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Onboard-processing LiDAR</a:t>
            </a:r>
            <a:endParaRPr lang="en-US" sz="1600" dirty="0"/>
          </a:p>
        </p:txBody>
      </p:sp>
      <p:sp>
        <p:nvSpPr>
          <p:cNvPr id="37" name="Text 30"/>
          <p:cNvSpPr txBox="1"/>
          <p:nvPr/>
        </p:nvSpPr>
        <p:spPr>
          <a:xfrm>
            <a:off x="7296912" y="542239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Edge insights straight to ISMP, less post-processing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A7  ·  MARKET SIZING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6809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How we sized the market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447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Conservative, bottom-up and traceable to published sources.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94415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4206240"/>
                <a:gridCol w="2956255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Step</a:t>
                      </a:r>
                      <a:endParaRPr lang="en-US" sz="13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Figure</a:t>
                      </a:r>
                      <a:endParaRPr lang="en-US" sz="13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Basis</a:t>
                      </a:r>
                      <a:endParaRPr lang="en-US" sz="13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Global automated border control market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US$2.56B (2025) → US$5.03B (2030)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MarketsandMarkets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Airport share of demand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≈83%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MarketsandMarkets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Middle East + Southeast Asia share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≈10–15%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URS analysis of regional data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FastPass initial addressable share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≈25% of regional market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URS estimate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Serviceable market, 2026–2030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≈US$500–700M  (≈US$100–140M a year)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Derived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1206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SOURCES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3949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marketsandmarkets.com/Market-Reports/automated-border-control-market-24899883.html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iata.org — Global Outlook for Air Transport, December 2023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sita.aero — Air Transport IT Insights 2024; Air Transport IT Insights 2025 (Airports)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stPass Pearl">
  <a:themeElements>
    <a:clrScheme name="FastPass Pearl">
      <a:dk1>
        <a:srgbClr val="0A1628"/>
      </a:dk1>
      <a:lt1>
        <a:srgbClr val="F6F7F9"/>
      </a:lt1>
      <a:dk2>
        <a:srgbClr val="4F5B6D"/>
      </a:dk2>
      <a:lt2>
        <a:srgbClr val="FFFFFF"/>
      </a:lt2>
      <a:accent1>
        <a:srgbClr val="0B84AE"/>
      </a:accent1>
      <a:accent2>
        <a:srgbClr val="1E9E50"/>
      </a:accent2>
      <a:accent3>
        <a:srgbClr val="D97706"/>
      </a:accent3>
      <a:accent4>
        <a:srgbClr val="7D8899"/>
      </a:accent4>
      <a:accent5>
        <a:srgbClr val="E1E6ED"/>
      </a:accent5>
      <a:accent6>
        <a:srgbClr val="0B2545"/>
      </a:accent6>
      <a:hlink>
        <a:srgbClr val="0B84AE"/>
      </a:hlink>
      <a:folHlink>
        <a:srgbClr val="4F5B6D"/>
      </a:folHlink>
    </a:clrScheme>
    <a:fontScheme name="FastPass Pear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ST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AGIL® Secure FastPass — InnoChamp 2026</dc:title>
  <dc:subject>InnoChamp 2026 Product Category pitch</dc:subject>
  <dc:creator>URS — Smart Security &amp; Automation</dc:creator>
  <cp:lastModifiedBy>URS — Smart Security &amp; Automation</cp:lastModifiedBy>
  <cp:revision>1</cp:revision>
  <dcterms:created xsi:type="dcterms:W3CDTF">2026-10-14T06:33:44Z</dcterms:created>
  <dcterms:modified xsi:type="dcterms:W3CDTF">2026-10-14T06:33:44Z</dcterms:modified>
</cp:coreProperties>
</file>