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ser journey" id="{5b401721-7c6a-dfd3-4890-c45c492e19b9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JOURNEY 1/2 — from home to airside.
1. Enrol at home: the traveller scans the passport MRZ and takes a selfie in the FastPass app. The credential (passport data + face template) is encrypted at rest on the phone — nothing is stored centrally.
2. Approach: a BLE beacon at the lane entrance pairs the phone with the lane as the traveller walks up. No tapping, no queue.
3. Walk-through clearance: the FR pylon matches the live face to the phone's template on the move (two-factor). The pylon light turns green and the lane stays open; on an exception the lane closes and an officer is alerted.
The cyan line is the FastPass flow; green nodes are verified touchpoints.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JOURNEY 2/2 — screening, boarding and supervision.
4. Pre-screening check: before baggage enters X-ray, the Nova+ reader verifies the traveller and retrieves the relevant clearance profile, so exceptions are flagged early.
5. Smart boarding: the Smart Boarding Kiosk pairs facial recognition with the FastPass app — no passport scan, no boarding pass.
6. Supervise and resolve: AGIL® Secure ISMP tracks every touchpoint in real time. The dashed lines show the command layer reaching every device. When a check fails (amber), the alert goes to an officer's tablet; officers keep authority over every unsuccessful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— AGIL® Secure ISMP sits behind every touchpoint in the journey.
Inputs: FastPass app, Biometric E-Gate, Nova+ pre-screening reader, Smart Boarding Kiosk.
Modules: live passenger log, lane &amp; gate control, exception workflow with officer-tablet alerts, assistive AI triage, 3D digital-twin flow, and physical security (CCTV, access control, intrusion).
Integrates with airline DCS, border control and airport operations systems.
Privacy: biometric and passport credentials stay on the traveller's phone; ISMP holds clearance events, not a biometric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P_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29768"/>
            <a:ext cx="12801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54126"/>
            <a:ext cx="91440" cy="91440"/>
          </a:xfrm>
          <a:prstGeom prst="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User journey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ourney scene 1" descr="/tmp/claude-0/-home-user-sgqy/b70fb111-7300-56ba-abe4-4b6e17d8c33e/scratchpad/journey/s1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JOURNEY  ·  PART 1 OF 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Enrol at home. Walk through immigration</a:t>
            </a:r>
            <a:endParaRPr lang="en-US" sz="3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Create the credential on the phone once, then walk through without stopping.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331720" y="3401568"/>
            <a:ext cx="566928" cy="165049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58461" y="3973068"/>
            <a:ext cx="1113739" cy="133045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74129" y="3014777"/>
            <a:ext cx="2124151" cy="1511503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751990" y="3049638"/>
            <a:ext cx="2593525" cy="174639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706270" y="475030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hape 8"/>
          <p:cNvSpPr/>
          <p:nvPr/>
        </p:nvSpPr>
        <p:spPr>
          <a:xfrm>
            <a:off x="4197096" y="2139696"/>
            <a:ext cx="1207008" cy="120700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2" name="Image 1" descr="/tmp/claude-0/-home-user-sgqy/b70fb111-7300-56ba-abe4-4b6e17d8c33e/scratchpad/journey/b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194560"/>
            <a:ext cx="1097280" cy="1097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flipV="1">
            <a:off x="8269834" y="2601238"/>
            <a:ext cx="1448219" cy="23980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8224114" y="2795321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hape 11"/>
          <p:cNvSpPr/>
          <p:nvPr/>
        </p:nvSpPr>
        <p:spPr>
          <a:xfrm>
            <a:off x="9656064" y="1929384"/>
            <a:ext cx="1170432" cy="1170432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Image 2" descr="/tmp/claude-0/-home-user-sgqy/b70fb111-7300-56ba-abe4-4b6e17d8c33e/scratchpad/journey/b_pyl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984248"/>
            <a:ext cx="1060704" cy="106070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5341925" y="2999232"/>
            <a:ext cx="327355" cy="30723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5305349" y="3269894"/>
            <a:ext cx="73152" cy="731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hape 14"/>
          <p:cNvSpPr/>
          <p:nvPr/>
        </p:nvSpPr>
        <p:spPr>
          <a:xfrm>
            <a:off x="5504688" y="2724912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468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BLE beacon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2103120"/>
            <a:ext cx="3063240" cy="1298448"/>
          </a:xfrm>
          <a:prstGeom prst="roundRect">
            <a:avLst>
              <a:gd name="adj" fmla="val 11268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22860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980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07008" y="22768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Enrol at home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49808" y="272491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Scan the passport and a selfie in the FastPass app. The credential stays encrypted on the phone.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897880" y="5266944"/>
            <a:ext cx="3017520" cy="1042416"/>
          </a:xfrm>
          <a:prstGeom prst="roundRect">
            <a:avLst>
              <a:gd name="adj" fmla="val 14035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099048" y="544982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099048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56248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Approach the lane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099048" y="58887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BLE beacon pairs the phone to the lane as it nears.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9098280" y="4206240"/>
            <a:ext cx="2542032" cy="1481328"/>
          </a:xfrm>
          <a:prstGeom prst="roundRect">
            <a:avLst>
              <a:gd name="adj" fmla="val 9877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299448" y="4389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299448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9756648" y="43799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Walk through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9299448" y="482803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FR pylon matches face to phone on the move. Green means go; exceptions alert an officer.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2618842" y="4772254"/>
            <a:ext cx="559613" cy="559613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7" name="Shape 32"/>
          <p:cNvSpPr/>
          <p:nvPr/>
        </p:nvSpPr>
        <p:spPr>
          <a:xfrm>
            <a:off x="2734056" y="488746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2734056" y="4887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4778654" y="3693262"/>
            <a:ext cx="559613" cy="559613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0" name="Shape 35"/>
          <p:cNvSpPr/>
          <p:nvPr/>
        </p:nvSpPr>
        <p:spPr>
          <a:xfrm>
            <a:off x="4893869" y="380847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893869" y="38084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6694322" y="2734970"/>
            <a:ext cx="559613" cy="559613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3" name="Shape 38"/>
          <p:cNvSpPr/>
          <p:nvPr/>
        </p:nvSpPr>
        <p:spPr>
          <a:xfrm>
            <a:off x="6809537" y="2850185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809537" y="28501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ourney scene 2" descr="/tmp/claude-0/-home-user-sgqy/b70fb111-7300-56ba-abe4-4b6e17d8c33e/scratchpad/journey/s2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JOURNEY  ·  PART 2 OF 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Screened, boarded, always supervised</a:t>
            </a:r>
            <a:endParaRPr lang="en-US" sz="3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identity clears screening and boarding while ISMP watches every step.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37360" y="3401568"/>
            <a:ext cx="1026871" cy="1580998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2958084"/>
            <a:ext cx="2286000" cy="928116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4913071"/>
            <a:ext cx="1463040" cy="527609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39697" y="4275644"/>
            <a:ext cx="844728" cy="229605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438705" y="4459529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hape 8"/>
          <p:cNvSpPr/>
          <p:nvPr/>
        </p:nvSpPr>
        <p:spPr>
          <a:xfrm>
            <a:off x="722376" y="3666744"/>
            <a:ext cx="987552" cy="987552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2" name="Image 1" descr="/tmp/claude-0/-home-user-sgqy/b70fb111-7300-56ba-abe4-4b6e17d8c33e/scratchpad/journey/b_no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21608"/>
            <a:ext cx="877824" cy="8778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flipV="1">
            <a:off x="5277671" y="4700016"/>
            <a:ext cx="1292293" cy="77469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524244" y="4654296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hape 11"/>
          <p:cNvSpPr/>
          <p:nvPr/>
        </p:nvSpPr>
        <p:spPr>
          <a:xfrm>
            <a:off x="4288536" y="5175504"/>
            <a:ext cx="1115568" cy="111556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Image 2" descr="/tmp/claude-0/-home-user-sgqy/b70fb111-7300-56ba-abe4-4b6e17d8c33e/scratchpad/journey/b_is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230368"/>
            <a:ext cx="1005840" cy="10058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3331159" y="3401568"/>
            <a:ext cx="600761" cy="31181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3294583" y="3676802"/>
            <a:ext cx="73152" cy="731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hape 14"/>
          <p:cNvSpPr/>
          <p:nvPr/>
        </p:nvSpPr>
        <p:spPr>
          <a:xfrm>
            <a:off x="3703320" y="3127248"/>
            <a:ext cx="201168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70332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Exception: officer alerted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2103120"/>
            <a:ext cx="2971800" cy="1298448"/>
          </a:xfrm>
          <a:prstGeom prst="roundRect">
            <a:avLst>
              <a:gd name="adj" fmla="val 11268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22860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980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07008" y="2276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Pre-screening check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49808" y="2724912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Before bags reach X-ray, the Nova+ reader confirms identity and pulls the clearance profile.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098280" y="3566160"/>
            <a:ext cx="2542032" cy="1298448"/>
          </a:xfrm>
          <a:prstGeom prst="roundRect">
            <a:avLst>
              <a:gd name="adj" fmla="val 11268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299448" y="3749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29944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9756648" y="37398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boarding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9299448" y="41879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Face plus phone clears the boarding kiosk. No passport, no boarding pass.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9098280" y="5001768"/>
            <a:ext cx="2542032" cy="1298448"/>
          </a:xfrm>
          <a:prstGeom prst="roundRect">
            <a:avLst>
              <a:gd name="adj" fmla="val 11268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299448" y="518464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299448" y="5184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9756648" y="517550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oversight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9299448" y="56235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ISMP tracks every touchpoint and routes exceptions to officer tablets.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2484425" y="4702759"/>
            <a:ext cx="559613" cy="559613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7" name="Shape 32"/>
          <p:cNvSpPr/>
          <p:nvPr/>
        </p:nvSpPr>
        <p:spPr>
          <a:xfrm>
            <a:off x="2599639" y="4817974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2599639" y="48179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6532474" y="2678278"/>
            <a:ext cx="559613" cy="559613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0" name="Shape 35"/>
          <p:cNvSpPr/>
          <p:nvPr/>
        </p:nvSpPr>
        <p:spPr>
          <a:xfrm>
            <a:off x="6647688" y="2793492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647688" y="2793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7355434" y="4633265"/>
            <a:ext cx="559613" cy="559613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3" name="Shape 38"/>
          <p:cNvSpPr/>
          <p:nvPr/>
        </p:nvSpPr>
        <p:spPr>
          <a:xfrm>
            <a:off x="7470648" y="4748479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470648" y="47484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JOURNEY  ·  THE PLATFORM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platform behind every touchpoint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ISMP links traveller clearance and airport security in one command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2688336"/>
            <a:ext cx="6309360" cy="3072384"/>
          </a:xfrm>
          <a:prstGeom prst="ellipse">
            <a:avLst/>
          </a:prstGeom>
          <a:solidFill>
            <a:schemeClr val="accent1">
              <a:alpha val="7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898648"/>
            <a:ext cx="5486400" cy="2651760"/>
          </a:xfrm>
          <a:prstGeom prst="ellipse">
            <a:avLst/>
          </a:prstGeom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310128"/>
            <a:ext cx="3840480" cy="1828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2898648"/>
            <a:ext cx="914" cy="66294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5485520" y="356158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5520" y="455599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4887468"/>
            <a:ext cx="914" cy="66294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1921999" y="455599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21999" y="356158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926080" y="3803904"/>
            <a:ext cx="2743200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3657600"/>
            <a:ext cx="2743200" cy="1133856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38953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AGIL® Secure ISMP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command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264261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761488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337560" y="2112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Passenger log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clearance, live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17329" y="330555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01" y="342442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170441" y="27752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Lane &amp; gate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Status, open, close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417329" y="463143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01" y="475030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70441" y="51983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Exception 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Alerts to officer tablets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041648" y="529437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4132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337560" y="58613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Assistive AI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Alert triage, suggestions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665967" y="463143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839" y="475030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04679" y="51983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3D digital twin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Passenger flow by zone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1665967" y="330555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4839" y="342442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04679" y="27752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Physical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CCTV, access, intrusion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366760" y="2103120"/>
            <a:ext cx="3276295" cy="2331720"/>
          </a:xfrm>
          <a:prstGeom prst="roundRect">
            <a:avLst>
              <a:gd name="adj" fmla="val 6275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641080" y="2267712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TOUCHPOINTS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641080" y="2670048"/>
            <a:ext cx="329184" cy="32918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376" y="2752344"/>
            <a:ext cx="164592" cy="16459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098280" y="26700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FastPass Mobile App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8641080" y="3099816"/>
            <a:ext cx="329184" cy="32918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3376" y="3182112"/>
            <a:ext cx="164592" cy="16459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098280" y="3099816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Biometric E-Gate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8641080" y="3529584"/>
            <a:ext cx="329184" cy="32918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376" y="3611880"/>
            <a:ext cx="164592" cy="16459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098280" y="3529584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Nova+ pre-screening reader</a:t>
            </a:r>
            <a:endParaRPr lang="en-US" sz="1400" dirty="0"/>
          </a:p>
        </p:txBody>
      </p:sp>
      <p:sp>
        <p:nvSpPr>
          <p:cNvPr id="47" name="Shape 36"/>
          <p:cNvSpPr/>
          <p:nvPr/>
        </p:nvSpPr>
        <p:spPr>
          <a:xfrm>
            <a:off x="8641080" y="3959352"/>
            <a:ext cx="329184" cy="32918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3376" y="4041648"/>
            <a:ext cx="164592" cy="16459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098280" y="3959352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Smart Boarding Kiosk</a:t>
            </a:r>
            <a:endParaRPr lang="en-US" sz="1400" dirty="0"/>
          </a:p>
        </p:txBody>
      </p:sp>
      <p:sp>
        <p:nvSpPr>
          <p:cNvPr id="50" name="Shape 38"/>
          <p:cNvSpPr/>
          <p:nvPr/>
        </p:nvSpPr>
        <p:spPr>
          <a:xfrm>
            <a:off x="8366760" y="4617720"/>
            <a:ext cx="3276295" cy="960120"/>
          </a:xfrm>
          <a:prstGeom prst="roundRect">
            <a:avLst>
              <a:gd name="adj" fmla="val 15238"/>
            </a:avLst>
          </a:prstGeom>
          <a:solidFill>
            <a:schemeClr val="bg2">
              <a:alpha val="94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8641080" y="4754880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CONNECTS TO YOUR SYSTEMS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8641080" y="5047488"/>
            <a:ext cx="2727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Airline DCS  ·  Border control  ·  Airport operations</a:t>
            </a:r>
            <a:endParaRPr lang="en-US" sz="1300" dirty="0"/>
          </a:p>
        </p:txBody>
      </p:sp>
      <p:sp>
        <p:nvSpPr>
          <p:cNvPr id="53" name="Shape 41"/>
          <p:cNvSpPr/>
          <p:nvPr/>
        </p:nvSpPr>
        <p:spPr>
          <a:xfrm flipV="1">
            <a:off x="7086600" y="3630168"/>
            <a:ext cx="1280160" cy="59436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54" name="Shape 42"/>
          <p:cNvSpPr/>
          <p:nvPr/>
        </p:nvSpPr>
        <p:spPr>
          <a:xfrm>
            <a:off x="7086600" y="4224528"/>
            <a:ext cx="1280160" cy="877824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55" name="Shape 43"/>
          <p:cNvSpPr/>
          <p:nvPr/>
        </p:nvSpPr>
        <p:spPr>
          <a:xfrm>
            <a:off x="7040880" y="417880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6" name="Shape 44"/>
          <p:cNvSpPr/>
          <p:nvPr/>
        </p:nvSpPr>
        <p:spPr>
          <a:xfrm>
            <a:off x="8366760" y="5742432"/>
            <a:ext cx="3276295" cy="5486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6216" y="5888736"/>
            <a:ext cx="256032" cy="256032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8970264" y="5742432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Biometrics stay on the phone. ISMP keeps events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Midnight">
  <a:themeElements>
    <a:clrScheme name="FastPass Midnight">
      <a:dk1>
        <a:srgbClr val="F5F7FA"/>
      </a:dk1>
      <a:lt1>
        <a:srgbClr val="060E1A"/>
      </a:lt1>
      <a:dk2>
        <a:srgbClr val="A3B1C6"/>
      </a:dk2>
      <a:lt2>
        <a:srgbClr val="0E1B2D"/>
      </a:lt2>
      <a:accent1>
        <a:srgbClr val="5AD8EC"/>
      </a:accent1>
      <a:accent2>
        <a:srgbClr val="30D158"/>
      </a:accent2>
      <a:accent3>
        <a:srgbClr val="FF9F0A"/>
      </a:accent3>
      <a:accent4>
        <a:srgbClr val="7A8BA3"/>
      </a:accent4>
      <a:accent5>
        <a:srgbClr val="1E3150"/>
      </a:accent5>
      <a:accent6>
        <a:srgbClr val="0F2A40"/>
      </a:accent6>
      <a:hlink>
        <a:srgbClr val="5AD8EC"/>
      </a:hlink>
      <a:folHlink>
        <a:srgbClr val="A3B1C6"/>
      </a:folHlink>
    </a:clrScheme>
    <a:fontScheme name="FastPass Mid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User Journey Scenarios</dc:title>
  <dc:subject>PptxGenJS Presentation</dc:subject>
  <dc:creator>URS — Smart Security &amp; Automation</dc:creator>
  <cp:lastModifiedBy>URS — Smart Security &amp; Automation</cp:lastModifiedBy>
  <cp:revision>1</cp:revision>
  <dcterms:created xsi:type="dcterms:W3CDTF">2026-10-14T15:58:14Z</dcterms:created>
  <dcterms:modified xsi:type="dcterms:W3CDTF">2026-10-14T15:58:14Z</dcterms:modified>
</cp:coreProperties>
</file>