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1ff718cd-37cf-f553-7bec-f79a964bb9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ppendix" id="{4407b112-a395-594f-6d4c-7dee3d14d92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 Good afternoon. We're presenting AGIL® Secure FastPass — a privacy-first, modular, walk-through clearance product that lets a verified traveller move from immigration to the boarding gate without stopping.
Positioning (from 14 Oct review): privacy-preserving, modular, and removes checkpoint staffing overhead. Say this in one breath, then move on — 8-minute slot, we are last on the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[0:15–1:05]  The problem isn't a lack of technology — it's fragmentation.
• A departing passenger stops four times: check-in, immigration, screening, boarding. Each is a queue and an identity check.
• Every manned lane ties up around three staff on routine checks — at a time when airports in our region face staffing shortages.
• Demand nearly doubles by 2040 (IATA), but terminals and headcount can't double.
• 48% of airports plan cross-silo data sharing by 2027 (SITA) — today operators lack one view across passenger processing and physical security.
The forced trade-off: move people faster, or inspect them more securely. FastPass removes that trade-off.
Reviewer guidance: concrete pain points, not broad industry statistics. Keep background data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[1:05–1:55]  We sized this bottom-up, not with a headline TAM.
• Global automated border control: US$2.56B in 2025 growing to US$5.03B by 2030 (MarketsandMarkets) — about 14.5% CAGR.
• Airports are ~83% of that demand; the Middle East and Southeast Asia are ~10–15%.
• FastPass can initially address about a quarter of the regional market → US$500–700M over 2026–2030, roughly US$100–140M a year in e-gates, kiosks, platform software, integration and lifecycle services.
• Demand signal: 7 in 10 airlines are adopting biometric ID management (SITA). ~78% of anticipated ME/SEA projects are brownfield — exactly where an infrastructure-light lane wins.
NOTE: The US$40B e-Gate TAM figure discussed on 14 Oct is NOT on this slide — add only after Riley verifies the source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[1:55–2:55]  Here is the whole journey on one line — this replaces the old component-by-component slide.
1. Enrol at home: scan the passport MRZ and a selfie in the FastPass app. The credential is encrypted on the phone; raw documents never go to airport systems.
2. Approach: Bluetooth pairs the phone with the lane as the traveller walks up — no tapping.
3. Clear immigration: facial recognition matches the live face to the phone's template on the move. The gate stays open; it only closes on an exception, and an officer is alerted.
4. Screen: the Nova reader confirms identity and pulls the clearance profile before baggage enters X-ray.
5. Board: the smart kiosk clears boarding — no passport, no boarding pass.
Underneath it all, AGIL® Secure ISMP gives operators one command layer.
The animated line loops every ~3 seconds in slideshow (reviewer asked for a 2–3 s loop for passenger flow).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[2:55–3:45]  This is our answer to the PDPA / GDPR question every airport asks.
• Passport and biometric data stay encrypted at rest on the traveller's phone inside the FastPass SDK — not in an airport database.
• At the lane, Bluetooth hands over the template just in time; the lane matches it to the live face — two factors: device + face.
• ISMP receives the clearance result and events — not a central biometric store.
Why it matters commercially: one product fits both regulatory models. Strict regimes like Europe restrict operators from holding biometrics — we don't need to. Centralised models like Singapore's ICA-to-airport sharing — we plug in. And it runs at any checkpoint without compulsory national-database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[3:45–4:30]  For operators, FastPass is not another silo.
• ISMP is the live passenger log — every clearance by traveller, group and checkpoint, next to CCTV, access control and incident management.
• Exceptions go to officers: a failed match or tailgating closes the lane and raises an alert; officers keep authority over every unsuccessful case.
• Digital-twin view of passenger flow across zones helps pre-empt congestion. [Swap in the 3D airport digital-twin screenshot here when available.]
• Assistive AI triages alerts and recommends responses for operator review.
• At the lane, the feedback loop is instant: the pylon light turns green; rear display boards can show status; future versions add on-lane guidance (e.g. "please remove glasses").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[4:30–5:15]  This is the business case in one picture. Watch the two dots: today's traveller stops at every checkpoint; the FastPass traveller glides through.
• Automating the four passenger touchpoints removes around three staff per lane — they are redeployed to exceptions, not routine checks.
• 3–6 second walk-through passage, no intentional stop.
• 30–50% more throughput per lane without more floor space.
• 100% of clearance events auditable in ISMP.
Speak to these four numbers only; detailed derivations stay for Q&amp;A. (Validate the 30–50% and 3–6 s basis before the pitch — carried over from v1.3.)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[5:15–6:05]  Go-to-market — concrete, not a generic four-step rollout.
WHO BUYS: Primary buyer is the Tier-2 international airport in the Middle East and Southeast Asia, modernising brownfield terminals. Immigration and border agencies co-decide (sovereignty, compliance). Airlines enable adoption through enrolment and boarding.
WHAT THEY PAY FOR: one-off lane hardware; a recurring ISMP platform licence per checkpoint; integration as a project; annual lifecycle support. The price anchor is labour: each automated lane saves ~3 staff.
[ACTION before 22 Oct: insert target price points per lane / per checkpoint after the GTM sync with Riley.]
HOW WE LAND: prove with one pilot lane; expand lanes and enrolment; connect screening, boarding and security through ISMP; scale across terminals and portfolios. Because we reuse the live ISMP core, the path to first revenue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[6:05–6:50]  Competitors like Idemia and SITA — with Amadeus behind them — are strong on ecosystem breadth and practical operational design (e.g. overhead angled screens). We don't try to out-ecosystem them.
OUR EDGE: (1) clearance converged with physical-security operations in ISMP; (2) privacy-first, on-device architecture; (3) modular and infrastructure-light — one lane, no national-database tie-in, minimal civil works; (4) 35+ years of government-grade delivery.
ENTRY BARRIERS WE FACE, AND MITIGATION:
• Incumbent ecosystems → interoperate via open APIs; land at a single checkpoint rather than rip-and-replace.
• Divergent privacy rules → on-device credentials, configurable data flows per jurisdiction.
• App adoption → airline co-enrolment, group profiles; standard lanes remain as fallback.
• Sensor robustness → onboard-processing LiDAR (per prototype feedback), multimodal iris roadmap, on-lane guidance.
And the moat compounds: every lane, workflow and integration adds reusable interfaces and know-how.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[6:50–7:35]  Four takeaways, in order:
1. Real pain — four stops per passenger, ~three staff per lane, and demand doubling by 2040.
2. Focused market — US$100–140M a year that we can serve in the Middle East and Southeast Asia.
3. Proven product — an end-to-end working prototype, demonstrated at Singapore Airshow 2026.
4. Defensible edge — privacy-first, converged with security operations, modular from a single lane.
Readiness: live airport demonstration this quarter, Passenger Terminal World in Amsterdam in April, and first customer pilot lanes in 2027.
Close: "FastPass is ready to pilot — and built to win." Then go to the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[7:35–7:45]  Thank you. Happy to take questions — backup slides follow for market sizing, design, app, ISMP, AI and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use only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value proposition by stakeholder (submission §4).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E-Gate design (v1.3 slide 6, submission Annex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app flows (submission Annex A). NUS team lessons on app design and Bluetooth to be folded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ISMP views (v1.3 slide 4, submission Annex 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AI adoption (submission §3 and §6).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roadmap (submission §5 New Capabilities, Annex E; 14 Oct discussion on UWB, palm-vein, LiDAR and baggage adjacencies such as Veovo-style front-to-back solutions).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market sizing (submission §5 Market Potential). The US$40B e-Gate TAM mentioned on 14 Oct is pending source verification with Riley — not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FP_HERO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FP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P_DIVIDE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29768"/>
            <a:ext cx="128016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54126"/>
            <a:ext cx="91440" cy="91440"/>
          </a:xfrm>
          <a:prstGeom prst="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P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4389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AGIL® Secure FastPass  ·  InnoChamp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gif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INNOCHAMP 2026  ·  PRODUCT CATEGORY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chemeClr val="tx1"/>
                </a:solidFill>
              </a:rPr>
              <a:t>AGIL® Secure</a:t>
            </a:r>
            <a:endParaRPr lang="en-US" sz="5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chemeClr val="tx1"/>
                </a:solidFill>
              </a:rPr>
              <a:t>FastPass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One verified identity. A journey designed to keep moving.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Privacy-first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507492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Modular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507492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Walk-through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Security &amp; Automation  ·  Smart Utilities &amp; Infrastructure  ·  Urban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MARKET NEEDS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passenger stops four times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Departure is split across identity, immigration, screening and boarding. Each stop costs staff, space and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2542032"/>
            <a:ext cx="101041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chemeClr val="accent4">
              <a:alpha val="16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418588"/>
            <a:ext cx="246888" cy="2468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5855" y="2313432"/>
            <a:ext cx="457200" cy="457200"/>
          </a:xfrm>
          <a:prstGeom prst="ellipse">
            <a:avLst/>
          </a:prstGeom>
          <a:solidFill>
            <a:schemeClr val="accent4">
              <a:alpha val="16000"/>
            </a:scheme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011" y="2418588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11096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40487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Check-in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Document check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44568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40487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593592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Immigration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593592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Passport + officer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178040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40487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27064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Security screening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227064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ID + boarding pass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9811512" y="2304288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096" y="2404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860536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Boarding gate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8860536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Passport + boarding pass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48640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822960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</a:t>
            </a:r>
            <a:endParaRPr lang="en-US" sz="4400" dirty="0"/>
          </a:p>
        </p:txBody>
      </p:sp>
      <p:sp>
        <p:nvSpPr>
          <p:cNvPr id="28" name="Shape 20"/>
          <p:cNvSpPr/>
          <p:nvPr/>
        </p:nvSpPr>
        <p:spPr>
          <a:xfrm>
            <a:off x="2421560" y="4059936"/>
            <a:ext cx="420624" cy="420624"/>
          </a:xfrm>
          <a:prstGeom prst="ellipse">
            <a:avLst/>
          </a:prstGeom>
          <a:solidFill>
            <a:schemeClr val="accent3">
              <a:alpha val="16000"/>
            </a:scheme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303" y="4156680"/>
            <a:ext cx="227137" cy="22713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22960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stops per departure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822960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one a queue and an identity check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3390824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3665144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~3</a:t>
            </a:r>
            <a:endParaRPr lang="en-US" sz="4400" dirty="0"/>
          </a:p>
        </p:txBody>
      </p:sp>
      <p:sp>
        <p:nvSpPr>
          <p:cNvPr id="34" name="Shape 25"/>
          <p:cNvSpPr/>
          <p:nvPr/>
        </p:nvSpPr>
        <p:spPr>
          <a:xfrm>
            <a:off x="5263744" y="4059936"/>
            <a:ext cx="420624" cy="42062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0487" y="4156680"/>
            <a:ext cx="227137" cy="227137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665144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staff per manned lane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3665144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Tied up on routine identity checks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6233008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507328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2×</a:t>
            </a:r>
            <a:endParaRPr lang="en-US" sz="4400" dirty="0"/>
          </a:p>
        </p:txBody>
      </p:sp>
      <p:sp>
        <p:nvSpPr>
          <p:cNvPr id="40" name="Shape 30"/>
          <p:cNvSpPr/>
          <p:nvPr/>
        </p:nvSpPr>
        <p:spPr>
          <a:xfrm>
            <a:off x="8105927" y="4059936"/>
            <a:ext cx="420624" cy="42062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671" y="4156680"/>
            <a:ext cx="227137" cy="227137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507328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air travel demand by 2040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6507328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Terminals and headcount can't double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9075191" y="3749040"/>
            <a:ext cx="2567864" cy="2212848"/>
          </a:xfrm>
          <a:prstGeom prst="roundRect">
            <a:avLst>
              <a:gd name="adj" fmla="val 661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9349511" y="39684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48%</a:t>
            </a:r>
            <a:endParaRPr lang="en-US" sz="4400" dirty="0"/>
          </a:p>
        </p:txBody>
      </p:sp>
      <p:sp>
        <p:nvSpPr>
          <p:cNvPr id="46" name="Shape 35"/>
          <p:cNvSpPr/>
          <p:nvPr/>
        </p:nvSpPr>
        <p:spPr>
          <a:xfrm>
            <a:off x="10948111" y="4059936"/>
            <a:ext cx="420624" cy="42062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4855" y="4156680"/>
            <a:ext cx="227137" cy="227137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349511" y="475488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 airports plan data sharing by 2027</a:t>
            </a:r>
            <a:endParaRPr lang="en-US" sz="1500" dirty="0"/>
          </a:p>
        </p:txBody>
      </p:sp>
      <p:sp>
        <p:nvSpPr>
          <p:cNvPr id="49" name="Text 37"/>
          <p:cNvSpPr txBox="1"/>
          <p:nvPr/>
        </p:nvSpPr>
        <p:spPr>
          <a:xfrm>
            <a:off x="9349511" y="5285232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Today operators lack one cross-silo view</a:t>
            </a:r>
            <a:endParaRPr lang="en-US" sz="1400" dirty="0"/>
          </a:p>
        </p:txBody>
      </p:sp>
      <p:sp>
        <p:nvSpPr>
          <p:cNvPr id="50" name="Text 38"/>
          <p:cNvSpPr txBox="1"/>
          <p:nvPr/>
        </p:nvSpPr>
        <p:spPr>
          <a:xfrm>
            <a:off x="548640" y="608990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IATA Global Outlook for Air Transport (Dec 2023); SITA Air Transport IT Insights 2024 &amp; 2025. Staffing per lane: URS operational assessment.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MARKET POTENTIAL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US$100–140M a year opportunity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Sized from the automated border control market down to the lanes FastPass can win in the Middle East and SE Asia.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5760720" cy="731520"/>
          </a:xfrm>
          <a:prstGeom prst="roundRect">
            <a:avLst>
              <a:gd name="adj" fmla="val 2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7627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US$5.0B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global ABC market by 2030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8700" y="3072384"/>
            <a:ext cx="4800600" cy="731520"/>
          </a:xfrm>
          <a:prstGeom prst="roundRect">
            <a:avLst>
              <a:gd name="adj" fmla="val 20000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700" y="30723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≈83%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of it at airports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3968496"/>
            <a:ext cx="3840480" cy="731520"/>
          </a:xfrm>
          <a:prstGeom prst="roundRect">
            <a:avLst>
              <a:gd name="adj" fmla="val 20000"/>
            </a:avLst>
          </a:prstGeom>
          <a:solidFill>
            <a:schemeClr val="accent1">
              <a:alpha val="48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39684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10–15%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Middle East + SE Asia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88820" y="4864608"/>
            <a:ext cx="2880360" cy="7315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88820" y="48646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≈25%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 FastPass share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424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Global market grows from US$2.56B (2025): ~14.5% CAGR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2176272"/>
            <a:ext cx="4967935" cy="219456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42316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SERVICEABLE MARKET  ·  2026–2030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743200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US$500–700M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566160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≈ US$100–140M addressable every year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91363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Hardware, platform software, integration and services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4572000"/>
            <a:ext cx="2346808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1152" y="4718304"/>
            <a:ext cx="183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 in 10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5212080"/>
            <a:ext cx="183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airlines adopting biometric ID by 2026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96248" y="4572000"/>
            <a:ext cx="2346808" cy="13716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52280" y="4718304"/>
            <a:ext cx="183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~78%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552280" y="5212080"/>
            <a:ext cx="183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ME/SEA airport projects are brownfield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990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MarketsandMarkets, Automated Border Control Market 2025–2030; SITA Air Transport IT Insights 2024. Regional and serviceable shares: URS estimate (method in appendix).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INNOVATIVENESS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identity. Every touchpoint. No stops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traveller's phone becomes a verified credential that carries them from home to gate.</a:t>
            </a:r>
            <a:endParaRPr lang="en-US" sz="1600" dirty="0"/>
          </a:p>
        </p:txBody>
      </p:sp>
      <p:pic>
        <p:nvPicPr>
          <p:cNvPr id="5" name="Stage 1" descr="/tmp/claude-0/-home-user-sgqy/b70fb111-7300-56ba-abe4-4b6e17d8c33e/scratchpad/assets/common/j_en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4832"/>
            <a:ext cx="2036003" cy="1417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 ENROL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 home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Scan passport and face once. Encrypted on the phone.</a:t>
            </a:r>
            <a:endParaRPr lang="en-US" sz="1400" dirty="0"/>
          </a:p>
        </p:txBody>
      </p:sp>
      <p:pic>
        <p:nvPicPr>
          <p:cNvPr id="10" name="Stage 2 tile" descr="/tmp/claude-0/-home-user-sgqy/b70fb111-7300-56ba-abe4-4b6e17d8c33e/scratchpad/assets/dark/tile_bl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243" y="2084832"/>
            <a:ext cx="2036003" cy="141732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317" y="2414016"/>
            <a:ext cx="749808" cy="74980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413" y="2542032"/>
            <a:ext cx="475488" cy="47548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813243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2813243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APPROACH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2813243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Lane entry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2858963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Bluetooth pairs the phone to the lane while walking.</a:t>
            </a:r>
            <a:endParaRPr lang="en-US" sz="1400" dirty="0"/>
          </a:p>
        </p:txBody>
      </p:sp>
      <p:pic>
        <p:nvPicPr>
          <p:cNvPr id="17" name="Stage 3" descr="/tmp/claude-0/-home-user-sgqy/b70fb111-7300-56ba-abe4-4b6e17d8c33e/scratchpad/assets/common/j_cle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846" y="2084832"/>
            <a:ext cx="2036003" cy="14173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077846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077846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 CLEAR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077846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Immigration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123566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Face matched on the move. The gate stays open.</a:t>
            </a:r>
            <a:endParaRPr lang="en-US" sz="1400" dirty="0"/>
          </a:p>
        </p:txBody>
      </p:sp>
      <p:pic>
        <p:nvPicPr>
          <p:cNvPr id="22" name="Stage 4" descr="/tmp/claude-0/-home-user-sgqy/b70fb111-7300-56ba-abe4-4b6e17d8c33e/scratchpad/assets/common/j_sc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449" y="2084832"/>
            <a:ext cx="2036003" cy="1417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42449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342449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 SCREEN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7342449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7388169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Identity confirmed before baggage X-ray.</a:t>
            </a:r>
            <a:endParaRPr lang="en-US" sz="1400" dirty="0"/>
          </a:p>
        </p:txBody>
      </p:sp>
      <p:pic>
        <p:nvPicPr>
          <p:cNvPr id="27" name="Stage 5" descr="/tmp/claude-0/-home-user-sgqy/b70fb111-7300-56ba-abe4-4b6e17d8c33e/scratchpad/assets/common/j_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7052" y="2084832"/>
            <a:ext cx="2036003" cy="141732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9607052" y="2084832"/>
            <a:ext cx="2036003" cy="1417320"/>
          </a:xfrm>
          <a:prstGeom prst="roundRect">
            <a:avLst>
              <a:gd name="adj" fmla="val 9032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9607052" y="4069080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 BOARD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9607052" y="4334256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9652772" y="4663440"/>
            <a:ext cx="1944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Kiosk clears boarding. No passport, no boarding pass.</a:t>
            </a:r>
            <a:endParaRPr lang="en-US" sz="1400" dirty="0"/>
          </a:p>
        </p:txBody>
      </p:sp>
      <p:pic>
        <p:nvPicPr>
          <p:cNvPr id="32" name="Passenger flow loop" descr="/tmp/claude-0/-home-user-sgqy/b70fb111-7300-56ba-abe4-4b6e17d8c33e/scratchpad/assets/dark/flow_journey.gif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593592"/>
            <a:ext cx="11094415" cy="36576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548640" y="5504688"/>
            <a:ext cx="11094415" cy="54864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623560"/>
            <a:ext cx="310896" cy="31089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280160" y="5504688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AGIL® Secure ISMP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one command layer for transactions, lane status, security events and exceptions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INNOVATIVENESS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Your identity stays on your phone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Passport and biometric data are encrypted on the device and shared only at the moment of verification.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9718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95728"/>
            <a:ext cx="475488" cy="475488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2505090"/>
            <a:ext cx="256764" cy="2567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990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Traveller's phone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Passport + face template, encrypted at rest in the FastPass SDK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10405" y="2121408"/>
            <a:ext cx="29718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84725" y="2395728"/>
            <a:ext cx="475488" cy="475488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87" y="2505090"/>
            <a:ext cx="256764" cy="2567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84725" y="2990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FastPass lane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84725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face matched on the move to the phone's template: two-factor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71255" y="2121408"/>
            <a:ext cx="29718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945575" y="2395728"/>
            <a:ext cx="475488" cy="475488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37" y="2505090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45575" y="29900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AGIL® Secure ISMP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945575" y="33558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Receives the clearance result and events, not a biometric database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630168" y="3127248"/>
            <a:ext cx="870509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3584448" y="2798064"/>
            <a:ext cx="961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BLE · 2FA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3584448" y="3200400"/>
            <a:ext cx="961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just-in-time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691933" y="3127248"/>
            <a:ext cx="86959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7646213" y="2798064"/>
            <a:ext cx="961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646213" y="3200400"/>
            <a:ext cx="961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clear or alert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434840"/>
            <a:ext cx="3515258" cy="1572768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2960" y="4690872"/>
            <a:ext cx="420624" cy="42062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4" y="4787616"/>
            <a:ext cx="227137" cy="22713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89888" y="4690872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Strict privacy regimes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23951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Rules like the EU GDPR restrict central biometric storage. FastPass needs none.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4338218" y="4434840"/>
            <a:ext cx="3515258" cy="1572768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12538" y="4690872"/>
            <a:ext cx="420624" cy="42062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282" y="4787616"/>
            <a:ext cx="227137" cy="22713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79466" y="4690872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Centralised regimes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4612538" y="523951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Where national data sharing exists (e.g. ICA–airport in Singapore), FastPass plugs in.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127797" y="4434840"/>
            <a:ext cx="3515258" cy="1572768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02117" y="4690872"/>
            <a:ext cx="420624" cy="42062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860" y="4787616"/>
            <a:ext cx="227137" cy="22713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969045" y="4690872"/>
            <a:ext cx="2417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Modular by policy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8402117" y="523951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compulsory national-database integration. Configure each checkpoint to local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command view for every lane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AGIL® Secure ISMP fuses traveller clearance with CCTV, access control and incident management.</a:t>
            </a:r>
            <a:endParaRPr lang="en-US" sz="1600" dirty="0"/>
          </a:p>
        </p:txBody>
      </p:sp>
      <p:pic>
        <p:nvPicPr>
          <p:cNvPr id="5" name="ISMP dashboard" descr="/tmp/claude-0/-home-user-sgqy/b70fb111-7300-56ba-abe4-4b6e17d8c33e/scratchpad/assets/common/ismp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4832"/>
            <a:ext cx="6400800" cy="4041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84832"/>
            <a:ext cx="6400800" cy="4041648"/>
          </a:xfrm>
          <a:prstGeom prst="roundRect">
            <a:avLst>
              <a:gd name="adj" fmla="val 3167"/>
            </a:avLst>
          </a:prstGeom>
          <a:ln w="9525">
            <a:solidFill>
              <a:schemeClr val="accent5"/>
            </a:solidFill>
            <a:prstDash val="solid"/>
          </a:ln>
        </p:spPr>
      </p:sp>
      <p:pic>
        <p:nvPicPr>
          <p:cNvPr id="7" name="Lane feedback" descr="/tmp/claude-0/-home-user-sgqy/b70fb111-7300-56ba-abe4-4b6e17d8c33e/scratchpad/assets/common/feed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084832"/>
            <a:ext cx="4343400" cy="1691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2084832"/>
            <a:ext cx="4343400" cy="1691640"/>
          </a:xfrm>
          <a:prstGeom prst="roundRect">
            <a:avLst>
              <a:gd name="adj" fmla="val 7568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06640" y="33832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60E1A">
              <a:alpha val="75000"/>
            </a:srgb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406640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Lane feedback: green means go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269480" y="402336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017" y="4115897"/>
            <a:ext cx="217261" cy="2172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398678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passenger log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818120" y="422452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clearance, by traveller and lane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269480" y="457200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017" y="4664537"/>
            <a:ext cx="217261" cy="21726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18120" y="453542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Exceptions to officers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818120" y="477316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mismatch closes the lane, alerts staff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269480" y="512064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017" y="5213177"/>
            <a:ext cx="217261" cy="21726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818120" y="508406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3D digital-twin flow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818120" y="532180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Flow by zone to pre-empt congestion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269480" y="566928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017" y="5761817"/>
            <a:ext cx="217261" cy="21726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818120" y="5632704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Assistive AI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7818120" y="587044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Triages alerts, suggests responses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fewer staff per lane. Zero stops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Automating four touchpoints turns a stop-and-check process into continuous 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1094415" cy="1938528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00830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Check-in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15661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Immigration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0491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Screening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45322" y="22311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Boarding</a:t>
            </a:r>
            <a:endParaRPr lang="en-US" sz="1100" dirty="0"/>
          </a:p>
        </p:txBody>
      </p:sp>
      <p:pic>
        <p:nvPicPr>
          <p:cNvPr id="10" name="Today vs FastPass loop" descr="/tmp/claude-0/-home-user-sgqy/b70fb111-7300-56ba-abe4-4b6e17d8c33e/scratchpad/assets/dark/flow_compa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542032"/>
            <a:ext cx="8531352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670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Today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62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4 stops · ~3 staff per lane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With FastPass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5844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 stops · exceptions only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fewer staff per lane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Officers redeployed to exceptions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90824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65144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3–6 s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3665144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walk-through passage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665144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intentional stop at the gate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33008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07328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30–50%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6507328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more throughput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 lane, without more floor space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075191" y="4279392"/>
            <a:ext cx="2567864" cy="1783080"/>
          </a:xfrm>
          <a:prstGeom prst="roundRect">
            <a:avLst>
              <a:gd name="adj" fmla="val 820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49511" y="4480560"/>
            <a:ext cx="2019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100%</a:t>
            </a:r>
            <a:endParaRPr lang="en-US" sz="4000" dirty="0"/>
          </a:p>
        </p:txBody>
      </p:sp>
      <p:sp>
        <p:nvSpPr>
          <p:cNvPr id="29" name="Text 26"/>
          <p:cNvSpPr txBox="1"/>
          <p:nvPr/>
        </p:nvSpPr>
        <p:spPr>
          <a:xfrm>
            <a:off x="9349511" y="5175504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auditable events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349511" y="54864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clearance logged in ISMP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TIME TO MARKET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buys, what they pay, how we land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Land with one lane in a brownfield terminal, then expand across touchpoints as value is proven.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3515258" cy="4005072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59152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460102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9888" y="235915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Who buys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338218" y="2084832"/>
            <a:ext cx="3515258" cy="4005072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2538" y="2359152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88" y="2460102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79466" y="235915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What they pay for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127797" y="2084832"/>
            <a:ext cx="3515258" cy="4005072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2359152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67" y="2460102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9045" y="235915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How we land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3044952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PRIMARY BUYER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3319272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Tier-2 international airports in the Middle East and SE Asia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032504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CO-DECIDES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306824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Immigration and border agencies: sovereignty, compliance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020056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ENABLERS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29437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Airlines: drive app enrolment and boarding adoption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612538" y="3063240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612538" y="3063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ONE-OFF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764682" y="3026664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Lane hardware: e-gate, reader, kiosk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612538" y="3648456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612538" y="364845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RECURRING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764682" y="3611880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ISMP platform licence per checkpoint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612538" y="4233672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612538" y="42336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PROJECT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764682" y="4197096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Systems integration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4612538" y="4818888"/>
            <a:ext cx="102412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612538" y="48188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ANNUAL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5764682" y="4782312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Lifecycle support and SLA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4612538" y="5376672"/>
            <a:ext cx="2966618" cy="512064"/>
          </a:xfrm>
          <a:prstGeom prst="roundRect">
            <a:avLst>
              <a:gd name="adj" fmla="val 21429"/>
            </a:avLst>
          </a:prstGeom>
          <a:solidFill>
            <a:schemeClr val="accent6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4749698" y="5376672"/>
            <a:ext cx="26922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Priced against the ~3 staff it saves per lane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8566709" y="3273552"/>
            <a:ext cx="0" cy="241401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402117" y="30906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402117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905037" y="3072384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Prove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8905037" y="3346704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single pilot lane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8402117" y="3895344"/>
            <a:ext cx="329184" cy="32918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402117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905037" y="3877056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Expand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8905037" y="4151376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lanes and enrolment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8402117" y="4700016"/>
            <a:ext cx="329184" cy="32918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402117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8905037" y="4681728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Connect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8905037" y="4956048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touchpoints via ISMP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8402117" y="5504688"/>
            <a:ext cx="329184" cy="329184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402117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52" name="Text 47"/>
          <p:cNvSpPr txBox="1"/>
          <p:nvPr/>
        </p:nvSpPr>
        <p:spPr>
          <a:xfrm>
            <a:off x="8905037" y="5486400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Scale</a:t>
            </a:r>
            <a:endParaRPr lang="en-US" sz="1500" dirty="0"/>
          </a:p>
        </p:txBody>
      </p:sp>
      <p:sp>
        <p:nvSpPr>
          <p:cNvPr id="53" name="Text 48"/>
          <p:cNvSpPr txBox="1"/>
          <p:nvPr/>
        </p:nvSpPr>
        <p:spPr>
          <a:xfrm>
            <a:off x="8905037" y="5760720"/>
            <a:ext cx="2555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Terminals and portfolios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BARRIERS TO ENTRY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we win, and how we stay ahead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Idemia and SITA lead on ecosystem breadth. FastPass wins where security, privacy and modularity converge.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84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OUR EDGE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2588118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468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Converged with security ops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70432" y="2761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Clearance events sit beside CCTV, access control and intrusion in ISMP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3484230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70432" y="33649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Privacy-first architecture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170432" y="3657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On-device credentials deploy under strict data regimes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279392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4380342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0432" y="4261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Modular and infrastructure-light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170432" y="45537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Start with one lane; no national-database tie-in; minimal civil works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175504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5276454"/>
            <a:ext cx="237012" cy="2370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70432" y="51572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Government-grade delivery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170432" y="54498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35+ years of mission-critical systems, cybersecurity and airport support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172200" y="2084832"/>
            <a:ext cx="5470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ENTRY BARRIERS  →  OUR MITIGATION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172200" y="2468880"/>
            <a:ext cx="5470855" cy="301752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46520" y="25968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Incumbent ecosystems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7614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869680" y="259689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Interoperate via open APIs; land at a single checkpoint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46520" y="3236976"/>
            <a:ext cx="4922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446520" y="33284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Divergent privacy rules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49300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869680" y="332841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On-device credentials, configurable data flows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446520" y="3968496"/>
            <a:ext cx="4922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446520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Traveller app adoption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224528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69680" y="405993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Airline co-enrolment, group profiles, standard-lane fallback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446520" y="4700016"/>
            <a:ext cx="4922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446520" y="47914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Sensor robustness</a:t>
            </a:r>
            <a:endParaRPr lang="en-US" sz="14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956048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869680" y="4791456"/>
            <a:ext cx="254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Onboard-processing LiDAR, iris roadmap, lane guidance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6172200" y="5614416"/>
            <a:ext cx="5470855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5715000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793992" y="5614416"/>
            <a:ext cx="4647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new lane and integration deepens the moat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Ready to pilot. Built to win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Four reasons FastPass should scale, and a clear path to first revenue.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396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Real pain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50545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stops, ~3 staff per lane, demand doubling by 2040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815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1810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Focused market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8386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US$100–140M a year serviceable in ME and Southeast Asia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599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0965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Proven product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46227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Working prototype, demonstrated at Singapore Airshow 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3834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74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Defensible edge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4406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Privacy-first, converged with security ops, modular from one lane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2084832"/>
            <a:ext cx="4419295" cy="3986784"/>
          </a:xfrm>
          <a:prstGeom prst="roundRect">
            <a:avLst>
              <a:gd name="adj" fmla="val 36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2286000"/>
            <a:ext cx="3779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Path to market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44384" y="2852928"/>
            <a:ext cx="0" cy="2651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2807208"/>
            <a:ext cx="201168" cy="201168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276148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FEB 2026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00837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Prototype live at Singapore Airshow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3447288"/>
            <a:ext cx="201168" cy="20116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340156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OCT 2026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64845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InnoChamp 2026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43800" y="4087368"/>
            <a:ext cx="201168" cy="20116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04164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Q4 2026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28853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airport demonstration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4727448"/>
            <a:ext cx="201168" cy="20116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468172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APR 2027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492861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Passenger Terminal World, Amsterdam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43800" y="5367528"/>
            <a:ext cx="201168" cy="20116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55280" y="5321808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2027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556869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customer pilot lanes (target)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AGIL® SECURE FASTPASS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42316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</a:rPr>
              <a:t>Questions welcome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One verified identity. A journey designed to keep moving.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26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Security &amp; Automation  ·  Smart Utilities &amp; Infrastructure  ·  Urban Solutions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BACKUP FOR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Appendix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Detail behind the pitch, ready for judges’ questions.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234440"/>
            <a:ext cx="4967935" cy="448056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95160" y="15544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A1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Value for every stakeholder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95160" y="201168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0" y="21031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A2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E-Gate design and engineering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256032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2651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A3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Mobile app: enrolment and groups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95160" y="310896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3200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A4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ISMP journey and exception views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365760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37490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A5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AI in the product and the build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95160" y="420624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42976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A6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Roadmap and adjacencies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95160" y="4754880"/>
            <a:ext cx="43251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48463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A7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Market sizing method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A1  ·  VALUE PROPOSITION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Value for every stakeholder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One platform, five beneficiaries across the airport ecosystem.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77440"/>
            <a:ext cx="512064" cy="51206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47" y="2495215"/>
            <a:ext cx="276515" cy="27651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Travellers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Passport-free journey with fewer stops. Groups clear together under one profile.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672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Zero stops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813243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69275" y="2377440"/>
            <a:ext cx="512064" cy="51206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050" y="2495215"/>
            <a:ext cx="276515" cy="27651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69275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 officers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069275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Less repetitive checking. Attention goes to the exceptions that need judgement.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069275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069275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Exceptions only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077846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33878" y="2377440"/>
            <a:ext cx="512064" cy="51206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653" y="2495215"/>
            <a:ext cx="276515" cy="27651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33878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 checkpoints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333878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Biometric profile check before X-ray flags exceptions early.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333878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33878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Earlier flags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342449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98481" y="2377440"/>
            <a:ext cx="512064" cy="51206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256" y="2495215"/>
            <a:ext cx="276515" cy="27651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598481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Control-room operators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598481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dashboard for clearances, lanes, security events and exceptions.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598481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598481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live view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607052" y="2103120"/>
            <a:ext cx="2036003" cy="3931920"/>
          </a:xfrm>
          <a:prstGeom prst="roundRect">
            <a:avLst>
              <a:gd name="adj" fmla="val 71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863084" y="2377440"/>
            <a:ext cx="512064" cy="512064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859" y="2495215"/>
            <a:ext cx="276515" cy="27651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863084" y="3063240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Airport authorities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863084" y="3703320"/>
            <a:ext cx="15239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Fewer standalone systems for IT. Capacity grows without more space or staff.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9863084" y="5303520"/>
            <a:ext cx="1523939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863084" y="5413248"/>
            <a:ext cx="15239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Capacity, not headcount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A2  ·  DESIGN &amp; ENGINEERING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for travellers and borders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gantry-free, infrastructure-light lane with integrated FR camera, BLE beacon and status lighting.</a:t>
            </a:r>
            <a:endParaRPr lang="en-US" sz="1600" dirty="0"/>
          </a:p>
        </p:txBody>
      </p:sp>
      <p:pic>
        <p:nvPicPr>
          <p:cNvPr id="5" name="Annotated lane" descr="/tmp/claude-0/-home-user-sgqy/b70fb111-7300-56ba-abe4-4b6e17d8c33e/scratchpad/assets/common/lane_ann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58368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6583680" cy="3703320"/>
          </a:xfrm>
          <a:prstGeom prst="roundRect">
            <a:avLst>
              <a:gd name="adj" fmla="val 3457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2121408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10" y="2222358"/>
            <a:ext cx="237012" cy="2370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74152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Human-factor design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074152" y="23957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Soft-white matte finish: a calm, approachable presence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452360" y="3063240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10" y="3164190"/>
            <a:ext cx="237012" cy="2370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74152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Self-service by default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074152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 camera, RGB guidance and status light in a slim pylon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452360" y="4005072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10" y="4106022"/>
            <a:ext cx="237012" cy="2370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74152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Brownfield-ready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74152" y="4279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Light footprint cuts civil works in existing terminals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452360" y="4946904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310" y="5047854"/>
            <a:ext cx="237012" cy="23701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74152" y="4928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to the core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074152" y="5221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Zero-trust, multi-tier, cloud-ready, hardened APIs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A3  ·  MOBILE APP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Enrol once. Travel as a group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Self-enrolment at home via passport MRZ and selfie; linked travellers clear individually under one group.</a:t>
            </a:r>
            <a:endParaRPr lang="en-US" sz="1600" dirty="0"/>
          </a:p>
        </p:txBody>
      </p:sp>
      <p:pic>
        <p:nvPicPr>
          <p:cNvPr id="5" name="App enrolment" descr="/tmp/claude-0/-home-user-sgqy/b70fb111-7300-56ba-abe4-4b6e17d8c33e/scratchpad/assets/common/app_en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67512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6675120" cy="3090672"/>
          </a:xfrm>
          <a:prstGeom prst="roundRect">
            <a:avLst>
              <a:gd name="adj" fmla="val 4142"/>
            </a:avLst>
          </a:prstGeom>
          <a:ln w="9525">
            <a:solidFill>
              <a:schemeClr val="accent5"/>
            </a:solidFill>
            <a:prstDash val="solid"/>
          </a:ln>
        </p:spPr>
      </p:sp>
      <p:pic>
        <p:nvPicPr>
          <p:cNvPr id="7" name="App group clearance" descr="/tmp/claude-0/-home-user-sgqy/b70fb111-7300-56ba-abe4-4b6e17d8c33e/scratchpad/assets/common/app_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2103120"/>
            <a:ext cx="3657600" cy="35112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85455" y="2103120"/>
            <a:ext cx="3657600" cy="3511296"/>
          </a:xfrm>
          <a:prstGeom prst="roundRect">
            <a:avLst>
              <a:gd name="adj" fmla="val 3646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349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Enrolment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profile → passport scan fills details → selfie → confirm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raw identity documents are sent to airport systems; verification uses two factors.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985455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view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status from immigration to boarding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A4  ·  AGIL® SECURE ISMP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Follow every journey, every exception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Group and individual views trace each traveller across immigration, screening and boarding.</a:t>
            </a:r>
            <a:endParaRPr lang="en-US" sz="1600" dirty="0"/>
          </a:p>
        </p:txBody>
      </p:sp>
      <p:pic>
        <p:nvPicPr>
          <p:cNvPr id="5" name="ISMP group log" descr="/tmp/claude-0/-home-user-sgqy/b70fb111-7300-56ba-abe4-4b6e17d8c33e/scratchpad/assets/common/ismp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5394960" cy="3410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5394960" cy="3410712"/>
          </a:xfrm>
          <a:prstGeom prst="roundRect">
            <a:avLst>
              <a:gd name="adj" fmla="val 3753"/>
            </a:avLst>
          </a:prstGeom>
          <a:ln w="9525">
            <a:solidFill>
              <a:schemeClr val="accent5"/>
            </a:solidFill>
            <a:prstDash val="solid"/>
          </a:ln>
        </p:spPr>
      </p:sp>
      <p:pic>
        <p:nvPicPr>
          <p:cNvPr id="7" name="ISMP traveller view" descr="/tmp/claude-0/-home-user-sgqy/b70fb111-7300-56ba-abe4-4b6e17d8c33e/scratchpad/assets/common/ismp_indi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03120"/>
            <a:ext cx="5394960" cy="34472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48095" y="2103120"/>
            <a:ext cx="5394960" cy="3447288"/>
          </a:xfrm>
          <a:prstGeom prst="roundRect">
            <a:avLst>
              <a:gd name="adj" fmla="val 3714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log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member's status at every touchpoint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248095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Traveller view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flight, gate and verified touchpoints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A5  ·  AI ADOPTION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in the product and in how we build it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Aligned with InnoChamp 2026's theme of AI-driven collaborative innovation.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00800" cy="39319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 THE PRODUCT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790017"/>
            <a:ext cx="217261" cy="2172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Facial recognition engine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8620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Reliable verification on the move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333756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430097"/>
            <a:ext cx="217261" cy="2172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 triage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886200" y="3355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Context-aware alarm prioritisation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8680" y="397764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070177"/>
            <a:ext cx="217261" cy="2172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Behaviour analytics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886200" y="3995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Unusual-pattern detection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68680" y="461772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4710257"/>
            <a:ext cx="217261" cy="2172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636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Flow prediction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886200" y="4636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Congestion forecasting across zones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68680" y="5257800"/>
            <a:ext cx="402336" cy="40233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17" y="5350337"/>
            <a:ext cx="217261" cy="21726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7320" y="5276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Predictive maintenance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886200" y="5276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Device and network health monitoring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223760" y="2103120"/>
            <a:ext cx="4419295" cy="3931920"/>
          </a:xfrm>
          <a:prstGeom prst="roundRect">
            <a:avLst>
              <a:gd name="adj" fmla="val 3721"/>
            </a:avLst>
          </a:prstGeom>
          <a:solidFill>
            <a:schemeClr val="accent6"/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43800" y="2286000"/>
            <a:ext cx="3779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 ENGINEERING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543800" y="269748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~50%</a:t>
            </a:r>
            <a:endParaRPr lang="en-US" sz="4400" dirty="0"/>
          </a:p>
        </p:txBody>
      </p:sp>
      <p:sp>
        <p:nvSpPr>
          <p:cNvPr id="30" name="Text 23"/>
          <p:cNvSpPr txBox="1"/>
          <p:nvPr/>
        </p:nvSpPr>
        <p:spPr>
          <a:xfrm>
            <a:off x="7543800" y="3337560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less effort in selected front-end activities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543800" y="379476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~40%</a:t>
            </a:r>
            <a:endParaRPr lang="en-US" sz="4400" dirty="0"/>
          </a:p>
        </p:txBody>
      </p:sp>
      <p:sp>
        <p:nvSpPr>
          <p:cNvPr id="32" name="Text 25"/>
          <p:cNvSpPr txBox="1"/>
          <p:nvPr/>
        </p:nvSpPr>
        <p:spPr>
          <a:xfrm>
            <a:off x="7543800" y="4434840"/>
            <a:ext cx="3779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better delivery-pipeline efficiency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543800" y="4983480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AI-assisted engineering and CI/CD with integrated security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A6  ·  ROADMAP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to extend: next modes and markets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common lane and platform foundation lets airports add capabilities without replacing what they own.</a:t>
            </a:r>
            <a:endParaRPr lang="en-US" sz="1600" dirty="0"/>
          </a:p>
        </p:txBody>
      </p:sp>
      <p:pic>
        <p:nvPicPr>
          <p:cNvPr id="5" name="Iris SecureFlow" descr="/tmp/claude-0/-home-user-sgqy/b70fb111-7300-56ba-abe4-4b6e17d8c33e/scratchpad/assets/common/i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516636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5166360" cy="2377440"/>
          </a:xfrm>
          <a:prstGeom prst="roundRect">
            <a:avLst>
              <a:gd name="adj" fmla="val 5385"/>
            </a:avLst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572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Iris SecureFlow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modular face + iris lane for higher assurance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834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MARKETS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303520"/>
            <a:ext cx="169164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3035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Kerbside &amp; check-in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50008" y="5303520"/>
            <a:ext cx="89611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53035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Baggage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5303520"/>
            <a:ext cx="9601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55848" y="5303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Seaports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25696" y="5303520"/>
            <a:ext cx="1481328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25696" y="530352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Land checkpoints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724144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724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Stadiums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572768" y="5724144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72768" y="57241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Critical sites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103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MODES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75120" y="2487168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070" y="2588118"/>
            <a:ext cx="237012" cy="23701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96912" y="2468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Face + iris multimodal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296912" y="27614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Assurance when masks, eyewear or lighting degrade capture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675120" y="3374136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070" y="3475086"/>
            <a:ext cx="237012" cy="23701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296912" y="3355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UWB wallet clearance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296912" y="364845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Passive walk-through without opening the app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675120" y="4261104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070" y="4362054"/>
            <a:ext cx="237012" cy="23701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296912" y="42428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Palm-vein option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296912" y="45354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Alternative biometric for specific security postures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675120" y="5148072"/>
            <a:ext cx="438912" cy="438912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070" y="5249022"/>
            <a:ext cx="237012" cy="23701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96912" y="51297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Onboard-processing LiDAR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7296912" y="5422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Edge insights straight to ISMP, less post-processing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A7  ·  MARKET SIZING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76809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we sized the market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1444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Conservative, bottom-up and traceable to published sources.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06240"/>
                <a:gridCol w="29562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Figure</a:t>
                      </a:r>
                      <a:endParaRPr lang="en-US" sz="13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Basis</a:t>
                      </a:r>
                      <a:endParaRPr lang="en-US" sz="13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Global automated border control market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US$2.56B (2025) → US$5.03B (2030)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MarketsandMarkets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Airport share of demand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≈83%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MarketsandMarkets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Middle East + Southeast Asia share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≈10–15%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URS analysis of regional data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FastPass initial addressable share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≈25% of regional market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URS estimate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Serviceable market, 2026–2030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≈US$500–700M  (≈US$100–140M a year)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Derived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SOURCES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marketsandmarkets.com/Market-Reports/automated-border-control-market-24899883.html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iata.org — Global Outlook for Air Transport, December 2023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sita.aero — Air Transport IT Insights 2024; Air Transport IT Insights 2025 (Airports)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Midnight">
  <a:themeElements>
    <a:clrScheme name="FastPass Midnight">
      <a:dk1>
        <a:srgbClr val="F5F7FA"/>
      </a:dk1>
      <a:lt1>
        <a:srgbClr val="060E1A"/>
      </a:lt1>
      <a:dk2>
        <a:srgbClr val="A3B1C6"/>
      </a:dk2>
      <a:lt2>
        <a:srgbClr val="0E1B2D"/>
      </a:lt2>
      <a:accent1>
        <a:srgbClr val="5AD8EC"/>
      </a:accent1>
      <a:accent2>
        <a:srgbClr val="30D158"/>
      </a:accent2>
      <a:accent3>
        <a:srgbClr val="FF9F0A"/>
      </a:accent3>
      <a:accent4>
        <a:srgbClr val="7A8BA3"/>
      </a:accent4>
      <a:accent5>
        <a:srgbClr val="1E3150"/>
      </a:accent5>
      <a:accent6>
        <a:srgbClr val="0F2A40"/>
      </a:accent6>
      <a:hlink>
        <a:srgbClr val="5AD8EC"/>
      </a:hlink>
      <a:folHlink>
        <a:srgbClr val="A3B1C6"/>
      </a:folHlink>
    </a:clrScheme>
    <a:fontScheme name="FastPass Mid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InnoChamp 2026</dc:title>
  <dc:subject>InnoChamp 2026 Product Category pitch</dc:subject>
  <dc:creator>URS — Smart Security &amp; Automation</dc:creator>
  <cp:lastModifiedBy>URS — Smart Security &amp; Automation</cp:lastModifiedBy>
  <cp:revision>1</cp:revision>
  <dcterms:created xsi:type="dcterms:W3CDTF">2026-10-14T06:33:43Z</dcterms:created>
  <dcterms:modified xsi:type="dcterms:W3CDTF">2026-10-14T06:33:43Z</dcterms:modified>
</cp:coreProperties>
</file>