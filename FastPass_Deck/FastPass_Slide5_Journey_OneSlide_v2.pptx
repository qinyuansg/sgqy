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[1:45–2:45]  So how does it work? Please follow the numbers.
One. Before travel, the traveller enrols once in the FastPass app: a passport scan and a selfie. The credential stays safely on the phone.
Two and three. As they walk up to the lane, the phone pairs with it by Bluetooth. Then they walk through the e-gate. The camera matches the face to the phone, without stopping, and the status TV shows their name and a green "Cleared".
Four. Before security screening, the profile check reader confirms it is the same person.
Five. At the gate, the boarding kiosk clears them by face. No passport. No boarding pass.
And six, behind every step, AGIL Secure ISMP sees the whole journey. Officers step in only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ST_CONTENT-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_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sgqy/b70fb111-7300-56ba-abe4-4b6e17d8c33e/scratchpad/assets/v4/redbar.png">    </p:cNvPr>
          <p:cNvPicPr>
            <a:picLocks noChangeAspect="1"/>
          </p:cNvPicPr>
          <p:nvPr/>
        </p:nvPicPr>
        <p:blipFill>
          <a:blip r:embed="rId1"/>
          <a:stretch>
            <a:fillRect/>
          </a:stretch>
        </p:blipFill>
        <p:spPr>
          <a:xfrm>
            <a:off x="0" y="0"/>
            <a:ext cx="137160" cy="1673352"/>
          </a:xfrm>
          <a:prstGeom prst="rect">
            <a:avLst/>
          </a:prstGeom>
        </p:spPr>
      </p:pic>
      <p:pic>
        <p:nvPicPr>
          <p:cNvPr id="3" name="Image 1" descr="/tmp/claude-0/-home-user-sgqy/b70fb111-7300-56ba-abe4-4b6e17d8c33e/scratchpad/assets/common/logo_color.png">    </p:cNvPr>
          <p:cNvPicPr>
            <a:picLocks noChangeAspect="1"/>
          </p:cNvPicPr>
          <p:nvPr/>
        </p:nvPicPr>
        <p:blipFill>
          <a:blip r:embed="rId2"/>
          <a:stretch>
            <a:fillRect/>
          </a:stretch>
        </p:blipFill>
        <p:spPr>
          <a:xfrm>
            <a:off x="9710928" y="384048"/>
            <a:ext cx="1920240" cy="576072"/>
          </a:xfrm>
          <a:prstGeom prst="rect">
            <a:avLst/>
          </a:prstGeom>
        </p:spPr>
      </p:pic>
      <p:sp>
        <p:nvSpPr>
          <p:cNvPr id="4" name="Text 0"/>
          <p:cNvSpPr/>
          <p:nvPr>
            <p:ph idx="102" type="body" hasCustomPrompt="1"/>
          </p:nvPr>
        </p:nvSpPr>
        <p:spPr>
          <a:xfrm>
            <a:off x="429768" y="566928"/>
            <a:ext cx="8686800" cy="292608"/>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5" name="Text 0"/>
          <p:cNvSpPr/>
          <p:nvPr>
            <p:ph idx="103" type="title" hasCustomPrompt="1"/>
          </p:nvPr>
        </p:nvSpPr>
        <p:spPr>
          <a:xfrm>
            <a:off x="411480" y="868680"/>
            <a:ext cx="9235440" cy="530352"/>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6" name="Text 0"/>
          <p:cNvSpPr/>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2.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pic>
        <p:nvPicPr>
          <p:cNvPr id="4" name="Curb-to-gate journey map" descr="/tmp/claude-0/-home-user-sgqy/b70fb111-7300-56ba-abe4-4b6e17d8c33e/scratchpad/journey/sf_pearl.png">    </p:cNvPr>
          <p:cNvPicPr>
            <a:picLocks noChangeAspect="1"/>
          </p:cNvPicPr>
          <p:nvPr/>
        </p:nvPicPr>
        <p:blipFill>
          <a:blip r:embed="rId1"/>
          <a:stretch>
            <a:fillRect/>
          </a:stretch>
        </p:blipFill>
        <p:spPr>
          <a:xfrm>
            <a:off x="3520440" y="-1097280"/>
            <a:ext cx="9021854" cy="5074920"/>
          </a:xfrm>
          <a:prstGeom prst="rect">
            <a:avLst/>
          </a:prstGeom>
        </p:spPr>
      </p:pic>
      <p:sp>
        <p:nvSpPr>
          <p:cNvPr id="5" name="Shape 2"/>
          <p:cNvSpPr/>
          <p:nvPr/>
        </p:nvSpPr>
        <p:spPr>
          <a:xfrm>
            <a:off x="4683740" y="2449202"/>
            <a:ext cx="420624" cy="420624"/>
          </a:xfrm>
          <a:prstGeom prst="ellipse">
            <a:avLst/>
          </a:prstGeom>
          <a:solidFill>
            <a:schemeClr val="accent1">
              <a:alpha val="18000"/>
            </a:schemeClr>
          </a:solidFill>
          <a:ln/>
        </p:spPr>
      </p:sp>
      <p:sp>
        <p:nvSpPr>
          <p:cNvPr id="6" name="Shape 3"/>
          <p:cNvSpPr/>
          <p:nvPr/>
        </p:nvSpPr>
        <p:spPr>
          <a:xfrm>
            <a:off x="4756892" y="2522354"/>
            <a:ext cx="274320" cy="274320"/>
          </a:xfrm>
          <a:prstGeom prst="ellipse">
            <a:avLst/>
          </a:prstGeom>
          <a:solidFill>
            <a:schemeClr val="accent1"/>
          </a:solidFill>
          <a:ln w="15875">
            <a:solidFill>
              <a:schemeClr val="bg1"/>
            </a:solidFill>
            <a:prstDash val="solid"/>
          </a:ln>
        </p:spPr>
      </p:sp>
      <p:sp>
        <p:nvSpPr>
          <p:cNvPr id="7" name="Text 4"/>
          <p:cNvSpPr txBox="1"/>
          <p:nvPr/>
        </p:nvSpPr>
        <p:spPr>
          <a:xfrm>
            <a:off x="4756892" y="252235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Shape 5"/>
          <p:cNvSpPr/>
          <p:nvPr/>
        </p:nvSpPr>
        <p:spPr>
          <a:xfrm>
            <a:off x="5530236" y="2026292"/>
            <a:ext cx="420624" cy="420624"/>
          </a:xfrm>
          <a:prstGeom prst="ellipse">
            <a:avLst/>
          </a:prstGeom>
          <a:solidFill>
            <a:schemeClr val="accent1">
              <a:alpha val="18000"/>
            </a:schemeClr>
          </a:solidFill>
          <a:ln/>
        </p:spPr>
      </p:sp>
      <p:sp>
        <p:nvSpPr>
          <p:cNvPr id="9" name="Shape 6"/>
          <p:cNvSpPr/>
          <p:nvPr/>
        </p:nvSpPr>
        <p:spPr>
          <a:xfrm>
            <a:off x="5603388" y="2099444"/>
            <a:ext cx="274320" cy="274320"/>
          </a:xfrm>
          <a:prstGeom prst="ellipse">
            <a:avLst/>
          </a:prstGeom>
          <a:solidFill>
            <a:schemeClr val="accent1"/>
          </a:solidFill>
          <a:ln w="15875">
            <a:solidFill>
              <a:schemeClr val="bg1"/>
            </a:solidFill>
            <a:prstDash val="solid"/>
          </a:ln>
        </p:spPr>
      </p:sp>
      <p:sp>
        <p:nvSpPr>
          <p:cNvPr id="10" name="Text 7"/>
          <p:cNvSpPr txBox="1"/>
          <p:nvPr/>
        </p:nvSpPr>
        <p:spPr>
          <a:xfrm>
            <a:off x="5603388" y="209944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Shape 8"/>
          <p:cNvSpPr/>
          <p:nvPr/>
        </p:nvSpPr>
        <p:spPr>
          <a:xfrm>
            <a:off x="6954597" y="1313773"/>
            <a:ext cx="420624" cy="420624"/>
          </a:xfrm>
          <a:prstGeom prst="ellipse">
            <a:avLst/>
          </a:prstGeom>
          <a:solidFill>
            <a:schemeClr val="accent1">
              <a:alpha val="18000"/>
            </a:schemeClr>
          </a:solidFill>
          <a:ln/>
        </p:spPr>
      </p:sp>
      <p:sp>
        <p:nvSpPr>
          <p:cNvPr id="12" name="Shape 9"/>
          <p:cNvSpPr/>
          <p:nvPr/>
        </p:nvSpPr>
        <p:spPr>
          <a:xfrm>
            <a:off x="7027749" y="1386925"/>
            <a:ext cx="274320" cy="274320"/>
          </a:xfrm>
          <a:prstGeom prst="ellipse">
            <a:avLst/>
          </a:prstGeom>
          <a:solidFill>
            <a:schemeClr val="accent1"/>
          </a:solidFill>
          <a:ln w="15875">
            <a:solidFill>
              <a:schemeClr val="bg1"/>
            </a:solidFill>
            <a:prstDash val="solid"/>
          </a:ln>
        </p:spPr>
      </p:sp>
      <p:sp>
        <p:nvSpPr>
          <p:cNvPr id="13" name="Text 10"/>
          <p:cNvSpPr txBox="1"/>
          <p:nvPr/>
        </p:nvSpPr>
        <p:spPr>
          <a:xfrm>
            <a:off x="7027749" y="1386925"/>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 name="Shape 11"/>
          <p:cNvSpPr/>
          <p:nvPr/>
        </p:nvSpPr>
        <p:spPr>
          <a:xfrm>
            <a:off x="8150248" y="1710294"/>
            <a:ext cx="420624" cy="420624"/>
          </a:xfrm>
          <a:prstGeom prst="ellipse">
            <a:avLst/>
          </a:prstGeom>
          <a:solidFill>
            <a:schemeClr val="accent1">
              <a:alpha val="18000"/>
            </a:schemeClr>
          </a:solidFill>
          <a:ln/>
        </p:spPr>
      </p:sp>
      <p:sp>
        <p:nvSpPr>
          <p:cNvPr id="15" name="Shape 12"/>
          <p:cNvSpPr/>
          <p:nvPr/>
        </p:nvSpPr>
        <p:spPr>
          <a:xfrm>
            <a:off x="8223400" y="1783446"/>
            <a:ext cx="274320" cy="274320"/>
          </a:xfrm>
          <a:prstGeom prst="ellipse">
            <a:avLst/>
          </a:prstGeom>
          <a:solidFill>
            <a:schemeClr val="accent1"/>
          </a:solidFill>
          <a:ln w="15875">
            <a:solidFill>
              <a:schemeClr val="bg1"/>
            </a:solidFill>
            <a:prstDash val="solid"/>
          </a:ln>
        </p:spPr>
      </p:sp>
      <p:sp>
        <p:nvSpPr>
          <p:cNvPr id="16" name="Text 13"/>
          <p:cNvSpPr txBox="1"/>
          <p:nvPr/>
        </p:nvSpPr>
        <p:spPr>
          <a:xfrm>
            <a:off x="8223400" y="178344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7" name="Shape 14"/>
          <p:cNvSpPr/>
          <p:nvPr/>
        </p:nvSpPr>
        <p:spPr>
          <a:xfrm>
            <a:off x="9883164" y="2577090"/>
            <a:ext cx="420624" cy="420624"/>
          </a:xfrm>
          <a:prstGeom prst="ellipse">
            <a:avLst/>
          </a:prstGeom>
          <a:solidFill>
            <a:schemeClr val="accent1">
              <a:alpha val="18000"/>
            </a:schemeClr>
          </a:solidFill>
          <a:ln/>
        </p:spPr>
      </p:sp>
      <p:sp>
        <p:nvSpPr>
          <p:cNvPr id="18" name="Shape 15"/>
          <p:cNvSpPr/>
          <p:nvPr/>
        </p:nvSpPr>
        <p:spPr>
          <a:xfrm>
            <a:off x="9956316" y="2650242"/>
            <a:ext cx="274320" cy="274320"/>
          </a:xfrm>
          <a:prstGeom prst="ellipse">
            <a:avLst/>
          </a:prstGeom>
          <a:solidFill>
            <a:schemeClr val="accent1"/>
          </a:solidFill>
          <a:ln w="15875">
            <a:solidFill>
              <a:schemeClr val="bg1"/>
            </a:solidFill>
            <a:prstDash val="solid"/>
          </a:ln>
        </p:spPr>
      </p:sp>
      <p:sp>
        <p:nvSpPr>
          <p:cNvPr id="19" name="Text 16"/>
          <p:cNvSpPr txBox="1"/>
          <p:nvPr/>
        </p:nvSpPr>
        <p:spPr>
          <a:xfrm>
            <a:off x="9956316" y="265024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0" name="Shape 17"/>
          <p:cNvSpPr/>
          <p:nvPr/>
        </p:nvSpPr>
        <p:spPr>
          <a:xfrm>
            <a:off x="7170450" y="2835573"/>
            <a:ext cx="420624" cy="420624"/>
          </a:xfrm>
          <a:prstGeom prst="ellipse">
            <a:avLst/>
          </a:prstGeom>
          <a:solidFill>
            <a:schemeClr val="accent1">
              <a:alpha val="18000"/>
            </a:schemeClr>
          </a:solidFill>
          <a:ln/>
        </p:spPr>
      </p:sp>
      <p:sp>
        <p:nvSpPr>
          <p:cNvPr id="21" name="Shape 18"/>
          <p:cNvSpPr/>
          <p:nvPr/>
        </p:nvSpPr>
        <p:spPr>
          <a:xfrm>
            <a:off x="7243602" y="2908725"/>
            <a:ext cx="274320" cy="274320"/>
          </a:xfrm>
          <a:prstGeom prst="ellipse">
            <a:avLst/>
          </a:prstGeom>
          <a:solidFill>
            <a:schemeClr val="accent1"/>
          </a:solidFill>
          <a:ln w="15875">
            <a:solidFill>
              <a:schemeClr val="bg1"/>
            </a:solidFill>
            <a:prstDash val="solid"/>
          </a:ln>
        </p:spPr>
      </p:sp>
      <p:sp>
        <p:nvSpPr>
          <p:cNvPr id="22" name="Text 19"/>
          <p:cNvSpPr txBox="1"/>
          <p:nvPr/>
        </p:nvSpPr>
        <p:spPr>
          <a:xfrm>
            <a:off x="7243602" y="2908725"/>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3" name="Shape 20"/>
          <p:cNvSpPr/>
          <p:nvPr/>
        </p:nvSpPr>
        <p:spPr>
          <a:xfrm>
            <a:off x="548640" y="1572768"/>
            <a:ext cx="3291840" cy="2171925"/>
          </a:xfrm>
          <a:prstGeom prst="roundRect">
            <a:avLst>
              <a:gd name="adj" fmla="val 6736"/>
            </a:avLst>
          </a:prstGeom>
          <a:solidFill>
            <a:schemeClr val="bg1"/>
          </a:solidFill>
          <a:ln/>
          <a:effectLst>
            <a:outerShdw sx="100000" sy="100000" kx="0" ky="0" algn="bl" rotWithShape="0" blurRad="203200" dist="38100" dir="5400000">
              <a:srgbClr val="0A1628">
                <a:alpha val="10000"/>
              </a:srgbClr>
            </a:outerShdw>
          </a:effectLst>
        </p:spPr>
      </p:sp>
      <p:sp>
        <p:nvSpPr>
          <p:cNvPr id="24" name="Shape 21"/>
          <p:cNvSpPr/>
          <p:nvPr/>
        </p:nvSpPr>
        <p:spPr>
          <a:xfrm>
            <a:off x="694944" y="1719072"/>
            <a:ext cx="256032" cy="256032"/>
          </a:xfrm>
          <a:prstGeom prst="ellipse">
            <a:avLst/>
          </a:prstGeom>
          <a:solidFill>
            <a:schemeClr val="accent1"/>
          </a:solidFill>
          <a:ln/>
        </p:spPr>
      </p:sp>
      <p:sp>
        <p:nvSpPr>
          <p:cNvPr id="25" name="Text 22"/>
          <p:cNvSpPr txBox="1"/>
          <p:nvPr/>
        </p:nvSpPr>
        <p:spPr>
          <a:xfrm>
            <a:off x="694944" y="1719072"/>
            <a:ext cx="256032" cy="25603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6" name="Text 23"/>
          <p:cNvSpPr txBox="1"/>
          <p:nvPr/>
        </p:nvSpPr>
        <p:spPr>
          <a:xfrm>
            <a:off x="1042416" y="1682496"/>
            <a:ext cx="2670048" cy="310896"/>
          </a:xfrm>
          <a:prstGeom prst="rect">
            <a:avLst/>
          </a:prstGeom>
          <a:noFill/>
          <a:ln/>
        </p:spPr>
        <p:txBody>
          <a:bodyPr wrap="square" lIns="0" tIns="0" rIns="0" bIns="0" rtlCol="0" anchor="ctr"/>
          <a:lstStyle/>
          <a:p>
            <a:pPr indent="0" marL="0">
              <a:buNone/>
            </a:pPr>
            <a:r>
              <a:rPr lang="en-US" sz="1500" b="1" dirty="0">
                <a:solidFill>
                  <a:schemeClr val="tx1"/>
                </a:solidFill>
              </a:rPr>
              <a:t>Enrol before travel</a:t>
            </a:r>
            <a:endParaRPr lang="en-US" sz="1500" dirty="0"/>
          </a:p>
        </p:txBody>
      </p:sp>
      <p:pic>
        <p:nvPicPr>
          <p:cNvPr id="27" name="Image 1" descr="preencoded.png">    </p:cNvPr>
          <p:cNvPicPr>
            <a:picLocks noChangeAspect="1"/>
          </p:cNvPicPr>
          <p:nvPr/>
        </p:nvPicPr>
        <p:blipFill>
          <a:blip r:embed="rId2"/>
          <a:stretch>
            <a:fillRect/>
          </a:stretch>
        </p:blipFill>
        <p:spPr>
          <a:xfrm>
            <a:off x="722376" y="2048256"/>
            <a:ext cx="201168" cy="201168"/>
          </a:xfrm>
          <a:prstGeom prst="rect">
            <a:avLst/>
          </a:prstGeom>
        </p:spPr>
      </p:pic>
      <p:sp>
        <p:nvSpPr>
          <p:cNvPr id="28" name="Text 24"/>
          <p:cNvSpPr txBox="1"/>
          <p:nvPr/>
        </p:nvSpPr>
        <p:spPr>
          <a:xfrm>
            <a:off x="1042416" y="2011680"/>
            <a:ext cx="2670048" cy="274320"/>
          </a:xfrm>
          <a:prstGeom prst="rect">
            <a:avLst/>
          </a:prstGeom>
          <a:noFill/>
          <a:ln/>
        </p:spPr>
        <p:txBody>
          <a:bodyPr wrap="square" lIns="0" tIns="0" rIns="0" bIns="0" rtlCol="0" anchor="ctr"/>
          <a:lstStyle/>
          <a:p>
            <a:pPr indent="0" marL="0">
              <a:buNone/>
            </a:pPr>
            <a:r>
              <a:rPr lang="en-US" sz="1200" b="1" dirty="0">
                <a:solidFill>
                  <a:schemeClr val="accent1"/>
                </a:solidFill>
              </a:rPr>
              <a:t>FastPass Mobile App</a:t>
            </a:r>
            <a:endParaRPr lang="en-US" sz="1200" dirty="0"/>
          </a:p>
        </p:txBody>
      </p:sp>
      <p:pic>
        <p:nvPicPr>
          <p:cNvPr id="29" name="FastPass Mobile App" descr="/tmp/claude-0/-home-user-sgqy/b70fb111-7300-56ba-abe4-4b6e17d8c33e/scratchpad/assets/v5/t1w.png">    </p:cNvPr>
          <p:cNvPicPr>
            <a:picLocks noChangeAspect="1"/>
          </p:cNvPicPr>
          <p:nvPr/>
        </p:nvPicPr>
        <p:blipFill>
          <a:blip r:embed="rId3"/>
          <a:srcRect l="0" r="0" t="0" b="0"/>
          <a:stretch/>
        </p:blipFill>
        <p:spPr>
          <a:xfrm>
            <a:off x="640080" y="2286000"/>
            <a:ext cx="3108960" cy="1367253"/>
          </a:xfrm>
          <a:prstGeom prst="rect">
            <a:avLst/>
          </a:prstGeom>
        </p:spPr>
      </p:pic>
      <p:sp>
        <p:nvSpPr>
          <p:cNvPr id="30" name="Shape 25"/>
          <p:cNvSpPr/>
          <p:nvPr/>
        </p:nvSpPr>
        <p:spPr>
          <a:xfrm>
            <a:off x="2039112" y="3698973"/>
            <a:ext cx="310896" cy="310896"/>
          </a:xfrm>
          <a:prstGeom prst="ellipse">
            <a:avLst/>
          </a:prstGeom>
          <a:solidFill>
            <a:schemeClr val="accent1"/>
          </a:solidFill>
          <a:ln w="19050">
            <a:solidFill>
              <a:schemeClr val="bg1"/>
            </a:solidFill>
            <a:prstDash val="solid"/>
          </a:ln>
          <a:effectLst>
            <a:outerShdw sx="100000" sy="100000" kx="0" ky="0" algn="bl" rotWithShape="0" blurRad="203200" dist="38100" dir="5400000">
              <a:srgbClr val="0A1628">
                <a:alpha val="10000"/>
              </a:srgbClr>
            </a:outerShdw>
          </a:effectLst>
        </p:spPr>
      </p:sp>
      <p:pic>
        <p:nvPicPr>
          <p:cNvPr id="31" name="Image 3" descr="preencoded.png">    </p:cNvPr>
          <p:cNvPicPr>
            <a:picLocks noChangeAspect="1"/>
          </p:cNvPicPr>
          <p:nvPr/>
        </p:nvPicPr>
        <p:blipFill>
          <a:blip r:embed="rId4"/>
          <a:stretch>
            <a:fillRect/>
          </a:stretch>
        </p:blipFill>
        <p:spPr>
          <a:xfrm>
            <a:off x="2103120" y="3762981"/>
            <a:ext cx="182880" cy="182880"/>
          </a:xfrm>
          <a:prstGeom prst="rect">
            <a:avLst/>
          </a:prstGeom>
        </p:spPr>
      </p:pic>
      <p:sp>
        <p:nvSpPr>
          <p:cNvPr id="32" name="Shape 26"/>
          <p:cNvSpPr/>
          <p:nvPr/>
        </p:nvSpPr>
        <p:spPr>
          <a:xfrm>
            <a:off x="548640" y="3964149"/>
            <a:ext cx="3291840" cy="2308635"/>
          </a:xfrm>
          <a:prstGeom prst="roundRect">
            <a:avLst>
              <a:gd name="adj" fmla="val 6337"/>
            </a:avLst>
          </a:prstGeom>
          <a:solidFill>
            <a:schemeClr val="bg1"/>
          </a:solidFill>
          <a:ln/>
          <a:effectLst>
            <a:outerShdw sx="100000" sy="100000" kx="0" ky="0" algn="bl" rotWithShape="0" blurRad="203200" dist="38100" dir="5400000">
              <a:srgbClr val="0A1628">
                <a:alpha val="10000"/>
              </a:srgbClr>
            </a:outerShdw>
          </a:effectLst>
        </p:spPr>
      </p:sp>
      <p:sp>
        <p:nvSpPr>
          <p:cNvPr id="33" name="Shape 27"/>
          <p:cNvSpPr/>
          <p:nvPr/>
        </p:nvSpPr>
        <p:spPr>
          <a:xfrm>
            <a:off x="694944" y="4110453"/>
            <a:ext cx="256032" cy="256032"/>
          </a:xfrm>
          <a:prstGeom prst="ellipse">
            <a:avLst/>
          </a:prstGeom>
          <a:solidFill>
            <a:schemeClr val="accent1"/>
          </a:solidFill>
          <a:ln/>
        </p:spPr>
      </p:sp>
      <p:sp>
        <p:nvSpPr>
          <p:cNvPr id="34" name="Text 28"/>
          <p:cNvSpPr txBox="1"/>
          <p:nvPr/>
        </p:nvSpPr>
        <p:spPr>
          <a:xfrm>
            <a:off x="694944" y="4110453"/>
            <a:ext cx="256032" cy="25603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5" name="Text 29"/>
          <p:cNvSpPr txBox="1"/>
          <p:nvPr/>
        </p:nvSpPr>
        <p:spPr>
          <a:xfrm>
            <a:off x="1042416" y="4073877"/>
            <a:ext cx="950976" cy="310896"/>
          </a:xfrm>
          <a:prstGeom prst="rect">
            <a:avLst/>
          </a:prstGeom>
          <a:noFill/>
          <a:ln/>
        </p:spPr>
        <p:txBody>
          <a:bodyPr wrap="square" lIns="0" tIns="0" rIns="0" bIns="0" rtlCol="0" anchor="ctr"/>
          <a:lstStyle/>
          <a:p>
            <a:pPr indent="0" marL="0">
              <a:buNone/>
            </a:pPr>
            <a:r>
              <a:rPr lang="en-US" sz="1500" b="1" dirty="0">
                <a:solidFill>
                  <a:schemeClr val="tx1"/>
                </a:solidFill>
              </a:rPr>
              <a:t>Approach</a:t>
            </a:r>
            <a:endParaRPr lang="en-US" sz="1500" dirty="0"/>
          </a:p>
        </p:txBody>
      </p:sp>
      <p:pic>
        <p:nvPicPr>
          <p:cNvPr id="36" name="Image 4" descr="preencoded.png">    </p:cNvPr>
          <p:cNvPicPr>
            <a:picLocks noChangeAspect="1"/>
          </p:cNvPicPr>
          <p:nvPr/>
        </p:nvPicPr>
        <p:blipFill>
          <a:blip r:embed="rId5"/>
          <a:stretch>
            <a:fillRect/>
          </a:stretch>
        </p:blipFill>
        <p:spPr>
          <a:xfrm>
            <a:off x="722376" y="4439637"/>
            <a:ext cx="201168" cy="201168"/>
          </a:xfrm>
          <a:prstGeom prst="rect">
            <a:avLst/>
          </a:prstGeom>
        </p:spPr>
      </p:pic>
      <p:sp>
        <p:nvSpPr>
          <p:cNvPr id="37" name="Text 30"/>
          <p:cNvSpPr txBox="1"/>
          <p:nvPr/>
        </p:nvSpPr>
        <p:spPr>
          <a:xfrm>
            <a:off x="1042416" y="4403061"/>
            <a:ext cx="950976" cy="274320"/>
          </a:xfrm>
          <a:prstGeom prst="rect">
            <a:avLst/>
          </a:prstGeom>
          <a:noFill/>
          <a:ln/>
        </p:spPr>
        <p:txBody>
          <a:bodyPr wrap="square" lIns="0" tIns="0" rIns="0" bIns="0" rtlCol="0" anchor="ctr"/>
          <a:lstStyle/>
          <a:p>
            <a:pPr indent="0" marL="0">
              <a:buNone/>
            </a:pPr>
            <a:r>
              <a:rPr lang="en-US" sz="1200" b="1" dirty="0">
                <a:solidFill>
                  <a:schemeClr val="accent1"/>
                </a:solidFill>
              </a:rPr>
              <a:t>BLE pairing</a:t>
            </a:r>
            <a:endParaRPr lang="en-US" sz="1200" dirty="0"/>
          </a:p>
        </p:txBody>
      </p:sp>
      <p:sp>
        <p:nvSpPr>
          <p:cNvPr id="38" name="Shape 31"/>
          <p:cNvSpPr/>
          <p:nvPr/>
        </p:nvSpPr>
        <p:spPr>
          <a:xfrm>
            <a:off x="2103120" y="4110453"/>
            <a:ext cx="256032" cy="256032"/>
          </a:xfrm>
          <a:prstGeom prst="ellipse">
            <a:avLst/>
          </a:prstGeom>
          <a:solidFill>
            <a:schemeClr val="accent1"/>
          </a:solidFill>
          <a:ln/>
        </p:spPr>
      </p:sp>
      <p:sp>
        <p:nvSpPr>
          <p:cNvPr id="39" name="Text 32"/>
          <p:cNvSpPr txBox="1"/>
          <p:nvPr/>
        </p:nvSpPr>
        <p:spPr>
          <a:xfrm>
            <a:off x="2103120" y="4110453"/>
            <a:ext cx="256032" cy="25603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0" name="Text 33"/>
          <p:cNvSpPr txBox="1"/>
          <p:nvPr/>
        </p:nvSpPr>
        <p:spPr>
          <a:xfrm>
            <a:off x="2450592" y="4073877"/>
            <a:ext cx="1298448" cy="310896"/>
          </a:xfrm>
          <a:prstGeom prst="rect">
            <a:avLst/>
          </a:prstGeom>
          <a:noFill/>
          <a:ln/>
        </p:spPr>
        <p:txBody>
          <a:bodyPr wrap="square" lIns="0" tIns="0" rIns="0" bIns="0" rtlCol="0" anchor="ctr"/>
          <a:lstStyle/>
          <a:p>
            <a:pPr indent="0" marL="0">
              <a:buNone/>
            </a:pPr>
            <a:r>
              <a:rPr lang="en-US" sz="1500" b="1" dirty="0">
                <a:solidFill>
                  <a:schemeClr val="tx1"/>
                </a:solidFill>
              </a:rPr>
              <a:t>Walk through</a:t>
            </a:r>
            <a:endParaRPr lang="en-US" sz="1500" dirty="0"/>
          </a:p>
        </p:txBody>
      </p:sp>
      <p:pic>
        <p:nvPicPr>
          <p:cNvPr id="41" name="Image 5" descr="preencoded.png">    </p:cNvPr>
          <p:cNvPicPr>
            <a:picLocks noChangeAspect="1"/>
          </p:cNvPicPr>
          <p:nvPr/>
        </p:nvPicPr>
        <p:blipFill>
          <a:blip r:embed="rId6"/>
          <a:stretch>
            <a:fillRect/>
          </a:stretch>
        </p:blipFill>
        <p:spPr>
          <a:xfrm>
            <a:off x="2130552" y="4439637"/>
            <a:ext cx="201168" cy="201168"/>
          </a:xfrm>
          <a:prstGeom prst="rect">
            <a:avLst/>
          </a:prstGeom>
        </p:spPr>
      </p:pic>
      <p:sp>
        <p:nvSpPr>
          <p:cNvPr id="42" name="Text 34"/>
          <p:cNvSpPr txBox="1"/>
          <p:nvPr/>
        </p:nvSpPr>
        <p:spPr>
          <a:xfrm>
            <a:off x="2450592" y="4403061"/>
            <a:ext cx="1298448" cy="274320"/>
          </a:xfrm>
          <a:prstGeom prst="rect">
            <a:avLst/>
          </a:prstGeom>
          <a:noFill/>
          <a:ln/>
        </p:spPr>
        <p:txBody>
          <a:bodyPr wrap="square" lIns="0" tIns="0" rIns="0" bIns="0" rtlCol="0" anchor="ctr"/>
          <a:lstStyle/>
          <a:p>
            <a:pPr indent="0" marL="0">
              <a:buNone/>
            </a:pPr>
            <a:r>
              <a:rPr lang="en-US" sz="1200" b="1" dirty="0">
                <a:solidFill>
                  <a:schemeClr val="accent1"/>
                </a:solidFill>
              </a:rPr>
              <a:t>Biometric E-Gate</a:t>
            </a:r>
            <a:endParaRPr lang="en-US" sz="1200" dirty="0"/>
          </a:p>
        </p:txBody>
      </p:sp>
      <p:pic>
        <p:nvPicPr>
          <p:cNvPr id="43" name="FastPass Biometric E-Gate" descr="/tmp/claude-0/-home-user-sgqy/b70fb111-7300-56ba-abe4-4b6e17d8c33e/scratchpad/assets/v5/t3.png">    </p:cNvPr>
          <p:cNvPicPr>
            <a:picLocks noChangeAspect="1"/>
          </p:cNvPicPr>
          <p:nvPr/>
        </p:nvPicPr>
        <p:blipFill>
          <a:blip r:embed="rId7"/>
          <a:stretch>
            <a:fillRect/>
          </a:stretch>
        </p:blipFill>
        <p:spPr>
          <a:xfrm>
            <a:off x="640080" y="4677381"/>
            <a:ext cx="2161946" cy="1503963"/>
          </a:xfrm>
          <a:prstGeom prst="rect">
            <a:avLst/>
          </a:prstGeom>
        </p:spPr>
      </p:pic>
      <p:sp>
        <p:nvSpPr>
          <p:cNvPr id="44" name="Shape 35"/>
          <p:cNvSpPr/>
          <p:nvPr/>
        </p:nvSpPr>
        <p:spPr>
          <a:xfrm>
            <a:off x="2875178" y="4677381"/>
            <a:ext cx="873862" cy="1503963"/>
          </a:xfrm>
          <a:prstGeom prst="roundRect">
            <a:avLst>
              <a:gd name="adj" fmla="val 10464"/>
            </a:avLst>
          </a:prstGeom>
          <a:solidFill>
            <a:srgbClr val="0E1B2D"/>
          </a:solidFill>
          <a:ln w="12700">
            <a:solidFill>
              <a:schemeClr val="accent1"/>
            </a:solidFill>
            <a:prstDash val="solid"/>
          </a:ln>
        </p:spPr>
      </p:sp>
      <p:sp>
        <p:nvSpPr>
          <p:cNvPr id="45" name="Text 36"/>
          <p:cNvSpPr txBox="1"/>
          <p:nvPr/>
        </p:nvSpPr>
        <p:spPr>
          <a:xfrm>
            <a:off x="2875178" y="4787109"/>
            <a:ext cx="873862" cy="182880"/>
          </a:xfrm>
          <a:prstGeom prst="rect">
            <a:avLst/>
          </a:prstGeom>
          <a:noFill/>
          <a:ln/>
        </p:spPr>
        <p:txBody>
          <a:bodyPr wrap="square" lIns="0" tIns="0" rIns="0" bIns="0" rtlCol="0" anchor="ctr"/>
          <a:lstStyle/>
          <a:p>
            <a:pPr algn="ctr" indent="0" marL="0">
              <a:buNone/>
            </a:pPr>
            <a:r>
              <a:rPr lang="en-US" sz="800" b="1" spc="100" kern="0" dirty="0">
                <a:solidFill>
                  <a:srgbClr val="7FD3EE"/>
                </a:solidFill>
              </a:rPr>
              <a:t>STATUS TV</a:t>
            </a:r>
            <a:endParaRPr lang="en-US" sz="800" dirty="0"/>
          </a:p>
        </p:txBody>
      </p:sp>
      <p:sp>
        <p:nvSpPr>
          <p:cNvPr id="46" name="Shape 37"/>
          <p:cNvSpPr/>
          <p:nvPr/>
        </p:nvSpPr>
        <p:spPr>
          <a:xfrm>
            <a:off x="3120085" y="5061429"/>
            <a:ext cx="384048" cy="384048"/>
          </a:xfrm>
          <a:prstGeom prst="ellipse">
            <a:avLst/>
          </a:prstGeom>
          <a:solidFill>
            <a:srgbClr val="E7CDB4"/>
          </a:solidFill>
          <a:ln/>
        </p:spPr>
      </p:sp>
      <p:sp>
        <p:nvSpPr>
          <p:cNvPr id="47" name="Text 38"/>
          <p:cNvSpPr txBox="1"/>
          <p:nvPr/>
        </p:nvSpPr>
        <p:spPr>
          <a:xfrm>
            <a:off x="2875178" y="5518629"/>
            <a:ext cx="873862" cy="182880"/>
          </a:xfrm>
          <a:prstGeom prst="rect">
            <a:avLst/>
          </a:prstGeom>
          <a:noFill/>
          <a:ln/>
        </p:spPr>
        <p:txBody>
          <a:bodyPr wrap="square" lIns="0" tIns="0" rIns="0" bIns="0" rtlCol="0" anchor="ctr"/>
          <a:lstStyle/>
          <a:p>
            <a:pPr algn="ctr" indent="0" marL="0">
              <a:buNone/>
            </a:pPr>
            <a:r>
              <a:rPr lang="en-US" sz="900" b="1" dirty="0">
                <a:solidFill>
                  <a:srgbClr val="FFFFFF"/>
                </a:solidFill>
              </a:rPr>
              <a:t>TAN M. Y.</a:t>
            </a:r>
            <a:endParaRPr lang="en-US" sz="900" dirty="0"/>
          </a:p>
        </p:txBody>
      </p:sp>
      <p:sp>
        <p:nvSpPr>
          <p:cNvPr id="48" name="Text 39"/>
          <p:cNvSpPr txBox="1"/>
          <p:nvPr/>
        </p:nvSpPr>
        <p:spPr>
          <a:xfrm>
            <a:off x="2875178" y="5692365"/>
            <a:ext cx="873862" cy="146304"/>
          </a:xfrm>
          <a:prstGeom prst="rect">
            <a:avLst/>
          </a:prstGeom>
          <a:noFill/>
          <a:ln/>
        </p:spPr>
        <p:txBody>
          <a:bodyPr wrap="square" lIns="0" tIns="0" rIns="0" bIns="0" rtlCol="0" anchor="ctr"/>
          <a:lstStyle/>
          <a:p>
            <a:pPr algn="ctr" indent="0" marL="0">
              <a:buNone/>
            </a:pPr>
            <a:r>
              <a:rPr lang="en-US" sz="750" dirty="0">
                <a:solidFill>
                  <a:srgbClr val="9AA8BC"/>
                </a:solidFill>
              </a:rPr>
              <a:t>SQ 322 · B12</a:t>
            </a:r>
            <a:endParaRPr lang="en-US" sz="750" dirty="0"/>
          </a:p>
        </p:txBody>
      </p:sp>
      <p:sp>
        <p:nvSpPr>
          <p:cNvPr id="49" name="Shape 40"/>
          <p:cNvSpPr/>
          <p:nvPr/>
        </p:nvSpPr>
        <p:spPr>
          <a:xfrm>
            <a:off x="2939186" y="5870448"/>
            <a:ext cx="745846" cy="201168"/>
          </a:xfrm>
          <a:prstGeom prst="roundRect">
            <a:avLst>
              <a:gd name="adj" fmla="val 50000"/>
            </a:avLst>
          </a:prstGeom>
          <a:solidFill>
            <a:schemeClr val="accent2"/>
          </a:solidFill>
          <a:ln/>
        </p:spPr>
      </p:sp>
      <p:sp>
        <p:nvSpPr>
          <p:cNvPr id="50" name="Text 41"/>
          <p:cNvSpPr txBox="1"/>
          <p:nvPr/>
        </p:nvSpPr>
        <p:spPr>
          <a:xfrm>
            <a:off x="2939186" y="5870448"/>
            <a:ext cx="745846" cy="201168"/>
          </a:xfrm>
          <a:prstGeom prst="rect">
            <a:avLst/>
          </a:prstGeom>
          <a:noFill/>
          <a:ln/>
        </p:spPr>
        <p:txBody>
          <a:bodyPr wrap="square" lIns="0" tIns="0" rIns="0" bIns="0" rtlCol="0" anchor="ctr"/>
          <a:lstStyle/>
          <a:p>
            <a:pPr algn="ctr" indent="0" marL="0">
              <a:buNone/>
            </a:pPr>
            <a:r>
              <a:rPr lang="en-US" sz="800" b="1" spc="50" kern="0" dirty="0">
                <a:solidFill>
                  <a:srgbClr val="FFFFFF"/>
                </a:solidFill>
              </a:rPr>
              <a:t>CLEARED</a:t>
            </a:r>
            <a:endParaRPr lang="en-US" sz="800" dirty="0"/>
          </a:p>
        </p:txBody>
      </p:sp>
      <p:sp>
        <p:nvSpPr>
          <p:cNvPr id="51" name="Shape 42"/>
          <p:cNvSpPr/>
          <p:nvPr/>
        </p:nvSpPr>
        <p:spPr>
          <a:xfrm>
            <a:off x="4096512" y="3964149"/>
            <a:ext cx="2344826" cy="2308635"/>
          </a:xfrm>
          <a:prstGeom prst="roundRect">
            <a:avLst>
              <a:gd name="adj" fmla="val 6337"/>
            </a:avLst>
          </a:prstGeom>
          <a:solidFill>
            <a:schemeClr val="bg1"/>
          </a:solidFill>
          <a:ln/>
          <a:effectLst>
            <a:outerShdw sx="100000" sy="100000" kx="0" ky="0" algn="bl" rotWithShape="0" blurRad="203200" dist="38100" dir="5400000">
              <a:srgbClr val="0A1628">
                <a:alpha val="10000"/>
              </a:srgbClr>
            </a:outerShdw>
          </a:effectLst>
        </p:spPr>
      </p:sp>
      <p:sp>
        <p:nvSpPr>
          <p:cNvPr id="52" name="Shape 43"/>
          <p:cNvSpPr/>
          <p:nvPr/>
        </p:nvSpPr>
        <p:spPr>
          <a:xfrm>
            <a:off x="4242816" y="4110453"/>
            <a:ext cx="256032" cy="256032"/>
          </a:xfrm>
          <a:prstGeom prst="ellipse">
            <a:avLst/>
          </a:prstGeom>
          <a:solidFill>
            <a:schemeClr val="accent1"/>
          </a:solidFill>
          <a:ln/>
        </p:spPr>
      </p:sp>
      <p:sp>
        <p:nvSpPr>
          <p:cNvPr id="53" name="Text 44"/>
          <p:cNvSpPr txBox="1"/>
          <p:nvPr/>
        </p:nvSpPr>
        <p:spPr>
          <a:xfrm>
            <a:off x="4242816" y="4110453"/>
            <a:ext cx="256032" cy="25603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54" name="Text 45"/>
          <p:cNvSpPr txBox="1"/>
          <p:nvPr/>
        </p:nvSpPr>
        <p:spPr>
          <a:xfrm>
            <a:off x="4590288" y="4073877"/>
            <a:ext cx="1723034" cy="310896"/>
          </a:xfrm>
          <a:prstGeom prst="rect">
            <a:avLst/>
          </a:prstGeom>
          <a:noFill/>
          <a:ln/>
        </p:spPr>
        <p:txBody>
          <a:bodyPr wrap="square" lIns="0" tIns="0" rIns="0" bIns="0" rtlCol="0" anchor="ctr"/>
          <a:lstStyle/>
          <a:p>
            <a:pPr indent="0" marL="0">
              <a:buNone/>
            </a:pPr>
            <a:r>
              <a:rPr lang="en-US" sz="1500" b="1" dirty="0">
                <a:solidFill>
                  <a:schemeClr val="tx1"/>
                </a:solidFill>
              </a:rPr>
              <a:t>Pre-screen</a:t>
            </a:r>
            <a:endParaRPr lang="en-US" sz="1500" dirty="0"/>
          </a:p>
        </p:txBody>
      </p:sp>
      <p:pic>
        <p:nvPicPr>
          <p:cNvPr id="55" name="Image 7" descr="preencoded.png">    </p:cNvPr>
          <p:cNvPicPr>
            <a:picLocks noChangeAspect="1"/>
          </p:cNvPicPr>
          <p:nvPr/>
        </p:nvPicPr>
        <p:blipFill>
          <a:blip r:embed="rId8"/>
          <a:stretch>
            <a:fillRect/>
          </a:stretch>
        </p:blipFill>
        <p:spPr>
          <a:xfrm>
            <a:off x="4270248" y="4439637"/>
            <a:ext cx="201168" cy="201168"/>
          </a:xfrm>
          <a:prstGeom prst="rect">
            <a:avLst/>
          </a:prstGeom>
        </p:spPr>
      </p:pic>
      <p:sp>
        <p:nvSpPr>
          <p:cNvPr id="56" name="Text 46"/>
          <p:cNvSpPr txBox="1"/>
          <p:nvPr/>
        </p:nvSpPr>
        <p:spPr>
          <a:xfrm>
            <a:off x="4590288" y="4403061"/>
            <a:ext cx="1723034" cy="274320"/>
          </a:xfrm>
          <a:prstGeom prst="rect">
            <a:avLst/>
          </a:prstGeom>
          <a:noFill/>
          <a:ln/>
        </p:spPr>
        <p:txBody>
          <a:bodyPr wrap="square" lIns="0" tIns="0" rIns="0" bIns="0" rtlCol="0" anchor="ctr"/>
          <a:lstStyle/>
          <a:p>
            <a:pPr indent="0" marL="0">
              <a:buNone/>
            </a:pPr>
            <a:r>
              <a:rPr lang="en-US" sz="1200" b="1" dirty="0">
                <a:solidFill>
                  <a:schemeClr val="accent1"/>
                </a:solidFill>
              </a:rPr>
              <a:t>Profile Check reader</a:t>
            </a:r>
            <a:endParaRPr lang="en-US" sz="1200" dirty="0"/>
          </a:p>
        </p:txBody>
      </p:sp>
      <p:pic>
        <p:nvPicPr>
          <p:cNvPr id="57" name="Pre-Screening Profile Check" descr="/tmp/claude-0/-home-user-sgqy/b70fb111-7300-56ba-abe4-4b6e17d8c33e/scratchpad/assets/v5/t4.png">    </p:cNvPr>
          <p:cNvPicPr>
            <a:picLocks noChangeAspect="1"/>
          </p:cNvPicPr>
          <p:nvPr/>
        </p:nvPicPr>
        <p:blipFill>
          <a:blip r:embed="rId9"/>
          <a:stretch>
            <a:fillRect/>
          </a:stretch>
        </p:blipFill>
        <p:spPr>
          <a:xfrm>
            <a:off x="4187952" y="4677381"/>
            <a:ext cx="2161946" cy="1503963"/>
          </a:xfrm>
          <a:prstGeom prst="rect">
            <a:avLst/>
          </a:prstGeom>
        </p:spPr>
      </p:pic>
      <p:sp>
        <p:nvSpPr>
          <p:cNvPr id="58" name="Shape 47"/>
          <p:cNvSpPr/>
          <p:nvPr/>
        </p:nvSpPr>
        <p:spPr>
          <a:xfrm>
            <a:off x="6697370" y="3964149"/>
            <a:ext cx="2344826" cy="2308635"/>
          </a:xfrm>
          <a:prstGeom prst="roundRect">
            <a:avLst>
              <a:gd name="adj" fmla="val 6337"/>
            </a:avLst>
          </a:prstGeom>
          <a:solidFill>
            <a:schemeClr val="bg1"/>
          </a:solidFill>
          <a:ln/>
          <a:effectLst>
            <a:outerShdw sx="100000" sy="100000" kx="0" ky="0" algn="bl" rotWithShape="0" blurRad="203200" dist="38100" dir="5400000">
              <a:srgbClr val="0A1628">
                <a:alpha val="10000"/>
              </a:srgbClr>
            </a:outerShdw>
          </a:effectLst>
        </p:spPr>
      </p:sp>
      <p:sp>
        <p:nvSpPr>
          <p:cNvPr id="59" name="Shape 48"/>
          <p:cNvSpPr/>
          <p:nvPr/>
        </p:nvSpPr>
        <p:spPr>
          <a:xfrm>
            <a:off x="6843674" y="4110453"/>
            <a:ext cx="256032" cy="256032"/>
          </a:xfrm>
          <a:prstGeom prst="ellipse">
            <a:avLst/>
          </a:prstGeom>
          <a:solidFill>
            <a:schemeClr val="accent1"/>
          </a:solidFill>
          <a:ln/>
        </p:spPr>
      </p:sp>
      <p:sp>
        <p:nvSpPr>
          <p:cNvPr id="60" name="Text 49"/>
          <p:cNvSpPr txBox="1"/>
          <p:nvPr/>
        </p:nvSpPr>
        <p:spPr>
          <a:xfrm>
            <a:off x="6843674" y="4110453"/>
            <a:ext cx="256032" cy="25603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61" name="Text 50"/>
          <p:cNvSpPr txBox="1"/>
          <p:nvPr/>
        </p:nvSpPr>
        <p:spPr>
          <a:xfrm>
            <a:off x="7191146" y="4073877"/>
            <a:ext cx="1723034" cy="310896"/>
          </a:xfrm>
          <a:prstGeom prst="rect">
            <a:avLst/>
          </a:prstGeom>
          <a:noFill/>
          <a:ln/>
        </p:spPr>
        <p:txBody>
          <a:bodyPr wrap="square" lIns="0" tIns="0" rIns="0" bIns="0" rtlCol="0" anchor="ctr"/>
          <a:lstStyle/>
          <a:p>
            <a:pPr indent="0" marL="0">
              <a:buNone/>
            </a:pPr>
            <a:r>
              <a:rPr lang="en-US" sz="1500" b="1" dirty="0">
                <a:solidFill>
                  <a:schemeClr val="tx1"/>
                </a:solidFill>
              </a:rPr>
              <a:t>Board</a:t>
            </a:r>
            <a:endParaRPr lang="en-US" sz="1500" dirty="0"/>
          </a:p>
        </p:txBody>
      </p:sp>
      <p:pic>
        <p:nvPicPr>
          <p:cNvPr id="62" name="Image 9" descr="preencoded.png">    </p:cNvPr>
          <p:cNvPicPr>
            <a:picLocks noChangeAspect="1"/>
          </p:cNvPicPr>
          <p:nvPr/>
        </p:nvPicPr>
        <p:blipFill>
          <a:blip r:embed="rId10"/>
          <a:stretch>
            <a:fillRect/>
          </a:stretch>
        </p:blipFill>
        <p:spPr>
          <a:xfrm>
            <a:off x="6871106" y="4439637"/>
            <a:ext cx="201168" cy="201168"/>
          </a:xfrm>
          <a:prstGeom prst="rect">
            <a:avLst/>
          </a:prstGeom>
        </p:spPr>
      </p:pic>
      <p:sp>
        <p:nvSpPr>
          <p:cNvPr id="63" name="Text 51"/>
          <p:cNvSpPr txBox="1"/>
          <p:nvPr/>
        </p:nvSpPr>
        <p:spPr>
          <a:xfrm>
            <a:off x="7191146" y="4403061"/>
            <a:ext cx="1723034" cy="274320"/>
          </a:xfrm>
          <a:prstGeom prst="rect">
            <a:avLst/>
          </a:prstGeom>
          <a:noFill/>
          <a:ln/>
        </p:spPr>
        <p:txBody>
          <a:bodyPr wrap="square" lIns="0" tIns="0" rIns="0" bIns="0" rtlCol="0" anchor="ctr"/>
          <a:lstStyle/>
          <a:p>
            <a:pPr indent="0" marL="0">
              <a:buNone/>
            </a:pPr>
            <a:r>
              <a:rPr lang="en-US" sz="1200" b="1" dirty="0">
                <a:solidFill>
                  <a:schemeClr val="accent1"/>
                </a:solidFill>
              </a:rPr>
              <a:t>Smart Boarding Kiosk</a:t>
            </a:r>
            <a:endParaRPr lang="en-US" sz="1200" dirty="0"/>
          </a:p>
        </p:txBody>
      </p:sp>
      <p:pic>
        <p:nvPicPr>
          <p:cNvPr id="64" name="FastPass Smart Boarding Kiosk" descr="/tmp/claude-0/-home-user-sgqy/b70fb111-7300-56ba-abe4-4b6e17d8c33e/scratchpad/assets/v5/t5.png">    </p:cNvPr>
          <p:cNvPicPr>
            <a:picLocks noChangeAspect="1"/>
          </p:cNvPicPr>
          <p:nvPr/>
        </p:nvPicPr>
        <p:blipFill>
          <a:blip r:embed="rId11"/>
          <a:stretch>
            <a:fillRect/>
          </a:stretch>
        </p:blipFill>
        <p:spPr>
          <a:xfrm>
            <a:off x="6788810" y="4677381"/>
            <a:ext cx="2161946" cy="1503963"/>
          </a:xfrm>
          <a:prstGeom prst="rect">
            <a:avLst/>
          </a:prstGeom>
        </p:spPr>
      </p:pic>
      <p:sp>
        <p:nvSpPr>
          <p:cNvPr id="65" name="Shape 52"/>
          <p:cNvSpPr/>
          <p:nvPr/>
        </p:nvSpPr>
        <p:spPr>
          <a:xfrm>
            <a:off x="9298229" y="3964149"/>
            <a:ext cx="2344826" cy="2308635"/>
          </a:xfrm>
          <a:prstGeom prst="roundRect">
            <a:avLst>
              <a:gd name="adj" fmla="val 6337"/>
            </a:avLst>
          </a:prstGeom>
          <a:solidFill>
            <a:schemeClr val="accent6"/>
          </a:solidFill>
          <a:ln/>
          <a:effectLst>
            <a:outerShdw sx="100000" sy="100000" kx="0" ky="0" algn="bl" rotWithShape="0" blurRad="203200" dist="38100" dir="5400000">
              <a:srgbClr val="0A1628">
                <a:alpha val="10000"/>
              </a:srgbClr>
            </a:outerShdw>
          </a:effectLst>
        </p:spPr>
      </p:sp>
      <p:sp>
        <p:nvSpPr>
          <p:cNvPr id="66" name="Shape 53"/>
          <p:cNvSpPr/>
          <p:nvPr/>
        </p:nvSpPr>
        <p:spPr>
          <a:xfrm>
            <a:off x="9444533" y="4110453"/>
            <a:ext cx="256032" cy="256032"/>
          </a:xfrm>
          <a:prstGeom prst="ellipse">
            <a:avLst/>
          </a:prstGeom>
          <a:solidFill>
            <a:schemeClr val="bg1"/>
          </a:solidFill>
          <a:ln/>
        </p:spPr>
      </p:sp>
      <p:sp>
        <p:nvSpPr>
          <p:cNvPr id="67" name="Text 54"/>
          <p:cNvSpPr txBox="1"/>
          <p:nvPr/>
        </p:nvSpPr>
        <p:spPr>
          <a:xfrm>
            <a:off x="9444533" y="4110453"/>
            <a:ext cx="256032" cy="256032"/>
          </a:xfrm>
          <a:prstGeom prst="rect">
            <a:avLst/>
          </a:prstGeom>
          <a:noFill/>
          <a:ln/>
        </p:spPr>
        <p:txBody>
          <a:bodyPr wrap="square" lIns="0" tIns="0" rIns="0" bIns="0" rtlCol="0" anchor="ctr"/>
          <a:lstStyle/>
          <a:p>
            <a:pPr algn="ctr" indent="0" marL="0">
              <a:buNone/>
            </a:pPr>
            <a:r>
              <a:rPr lang="en-US" sz="1200" b="1" dirty="0">
                <a:solidFill>
                  <a:schemeClr val="accent6"/>
                </a:solidFill>
              </a:rPr>
              <a:t>6</a:t>
            </a:r>
            <a:endParaRPr lang="en-US" sz="1200" dirty="0"/>
          </a:p>
        </p:txBody>
      </p:sp>
      <p:sp>
        <p:nvSpPr>
          <p:cNvPr id="68" name="Text 55"/>
          <p:cNvSpPr txBox="1"/>
          <p:nvPr/>
        </p:nvSpPr>
        <p:spPr>
          <a:xfrm>
            <a:off x="9792005" y="4073877"/>
            <a:ext cx="1723034" cy="310896"/>
          </a:xfrm>
          <a:prstGeom prst="rect">
            <a:avLst/>
          </a:prstGeom>
          <a:noFill/>
          <a:ln/>
        </p:spPr>
        <p:txBody>
          <a:bodyPr wrap="square" lIns="0" tIns="0" rIns="0" bIns="0" rtlCol="0" anchor="ctr"/>
          <a:lstStyle/>
          <a:p>
            <a:pPr indent="0" marL="0">
              <a:buNone/>
            </a:pPr>
            <a:r>
              <a:rPr lang="en-US" sz="1500" b="1" dirty="0">
                <a:solidFill>
                  <a:schemeClr val="bg1"/>
                </a:solidFill>
              </a:rPr>
              <a:t>Oversee</a:t>
            </a:r>
            <a:endParaRPr lang="en-US" sz="1500" dirty="0"/>
          </a:p>
        </p:txBody>
      </p:sp>
      <p:pic>
        <p:nvPicPr>
          <p:cNvPr id="69" name="Image 11" descr="preencoded.png">    </p:cNvPr>
          <p:cNvPicPr>
            <a:picLocks noChangeAspect="1"/>
          </p:cNvPicPr>
          <p:nvPr/>
        </p:nvPicPr>
        <p:blipFill>
          <a:blip r:embed="rId12"/>
          <a:stretch>
            <a:fillRect/>
          </a:stretch>
        </p:blipFill>
        <p:spPr>
          <a:xfrm>
            <a:off x="9471965" y="4439637"/>
            <a:ext cx="201168" cy="201168"/>
          </a:xfrm>
          <a:prstGeom prst="rect">
            <a:avLst/>
          </a:prstGeom>
        </p:spPr>
      </p:pic>
      <p:sp>
        <p:nvSpPr>
          <p:cNvPr id="70" name="Text 56"/>
          <p:cNvSpPr txBox="1"/>
          <p:nvPr/>
        </p:nvSpPr>
        <p:spPr>
          <a:xfrm>
            <a:off x="9792005" y="4403061"/>
            <a:ext cx="1723034" cy="274320"/>
          </a:xfrm>
          <a:prstGeom prst="rect">
            <a:avLst/>
          </a:prstGeom>
          <a:noFill/>
          <a:ln/>
        </p:spPr>
        <p:txBody>
          <a:bodyPr wrap="square" lIns="0" tIns="0" rIns="0" bIns="0" rtlCol="0" anchor="ctr"/>
          <a:lstStyle/>
          <a:p>
            <a:pPr indent="0" marL="0">
              <a:buNone/>
            </a:pPr>
            <a:r>
              <a:rPr lang="en-US" sz="1200" b="1" dirty="0">
                <a:solidFill>
                  <a:srgbClr val="7FD3EE"/>
                </a:solidFill>
              </a:rPr>
              <a:t>AGIL® Secure ISMP</a:t>
            </a:r>
            <a:endParaRPr lang="en-US" sz="1200" dirty="0"/>
          </a:p>
        </p:txBody>
      </p:sp>
      <p:pic>
        <p:nvPicPr>
          <p:cNvPr id="71" name="AGIL Secure ISMP" descr="/tmp/claude-0/-home-user-sgqy/b70fb111-7300-56ba-abe4-4b6e17d8c33e/scratchpad/assets/v5/t6c.png">    </p:cNvPr>
          <p:cNvPicPr>
            <a:picLocks noChangeAspect="1"/>
          </p:cNvPicPr>
          <p:nvPr/>
        </p:nvPicPr>
        <p:blipFill>
          <a:blip r:embed="rId13"/>
          <a:stretch>
            <a:fillRect/>
          </a:stretch>
        </p:blipFill>
        <p:spPr>
          <a:xfrm>
            <a:off x="9389669" y="4677381"/>
            <a:ext cx="2161946" cy="1503963"/>
          </a:xfrm>
          <a:prstGeom prst="rect">
            <a:avLst/>
          </a:prstGeom>
        </p:spPr>
      </p:pic>
      <p:sp>
        <p:nvSpPr>
          <p:cNvPr id="72" name="Shape 57"/>
          <p:cNvSpPr/>
          <p:nvPr/>
        </p:nvSpPr>
        <p:spPr>
          <a:xfrm>
            <a:off x="3813048" y="5273915"/>
            <a:ext cx="310896" cy="310896"/>
          </a:xfrm>
          <a:prstGeom prst="ellipse">
            <a:avLst/>
          </a:prstGeom>
          <a:solidFill>
            <a:schemeClr val="accent1"/>
          </a:solidFill>
          <a:ln w="19050">
            <a:solidFill>
              <a:schemeClr val="bg1"/>
            </a:solidFill>
            <a:prstDash val="solid"/>
          </a:ln>
          <a:effectLst>
            <a:outerShdw sx="100000" sy="100000" kx="0" ky="0" algn="bl" rotWithShape="0" blurRad="203200" dist="38100" dir="5400000">
              <a:srgbClr val="0A1628">
                <a:alpha val="10000"/>
              </a:srgbClr>
            </a:outerShdw>
          </a:effectLst>
        </p:spPr>
      </p:sp>
      <p:pic>
        <p:nvPicPr>
          <p:cNvPr id="73" name="Image 13" descr="preencoded.png">    </p:cNvPr>
          <p:cNvPicPr>
            <a:picLocks noChangeAspect="1"/>
          </p:cNvPicPr>
          <p:nvPr/>
        </p:nvPicPr>
        <p:blipFill>
          <a:blip r:embed="rId14"/>
          <a:stretch>
            <a:fillRect/>
          </a:stretch>
        </p:blipFill>
        <p:spPr>
          <a:xfrm>
            <a:off x="3877056" y="5337923"/>
            <a:ext cx="182880" cy="182880"/>
          </a:xfrm>
          <a:prstGeom prst="rect">
            <a:avLst/>
          </a:prstGeom>
        </p:spPr>
      </p:pic>
      <p:sp>
        <p:nvSpPr>
          <p:cNvPr id="74" name="Shape 58"/>
          <p:cNvSpPr/>
          <p:nvPr/>
        </p:nvSpPr>
        <p:spPr>
          <a:xfrm>
            <a:off x="6413906" y="5273915"/>
            <a:ext cx="310896" cy="310896"/>
          </a:xfrm>
          <a:prstGeom prst="ellipse">
            <a:avLst/>
          </a:prstGeom>
          <a:solidFill>
            <a:schemeClr val="accent1"/>
          </a:solidFill>
          <a:ln w="19050">
            <a:solidFill>
              <a:schemeClr val="bg1"/>
            </a:solidFill>
            <a:prstDash val="solid"/>
          </a:ln>
          <a:effectLst>
            <a:outerShdw sx="100000" sy="100000" kx="0" ky="0" algn="bl" rotWithShape="0" blurRad="203200" dist="38100" dir="5400000">
              <a:srgbClr val="0A1628">
                <a:alpha val="10000"/>
              </a:srgbClr>
            </a:outerShdw>
          </a:effectLst>
        </p:spPr>
      </p:sp>
      <p:pic>
        <p:nvPicPr>
          <p:cNvPr id="75" name="Image 14" descr="preencoded.png">    </p:cNvPr>
          <p:cNvPicPr>
            <a:picLocks noChangeAspect="1"/>
          </p:cNvPicPr>
          <p:nvPr/>
        </p:nvPicPr>
        <p:blipFill>
          <a:blip r:embed="rId15"/>
          <a:stretch>
            <a:fillRect/>
          </a:stretch>
        </p:blipFill>
        <p:spPr>
          <a:xfrm>
            <a:off x="6477914" y="5337923"/>
            <a:ext cx="182880" cy="182880"/>
          </a:xfrm>
          <a:prstGeom prst="rect">
            <a:avLst/>
          </a:prstGeom>
        </p:spPr>
      </p:pic>
      <p:sp>
        <p:nvSpPr>
          <p:cNvPr id="76" name="Text 59"/>
          <p:cNvSpPr txBox="1"/>
          <p:nvPr/>
        </p:nvSpPr>
        <p:spPr>
          <a:xfrm>
            <a:off x="9298229" y="3689829"/>
            <a:ext cx="2344826" cy="219456"/>
          </a:xfrm>
          <a:prstGeom prst="rect">
            <a:avLst/>
          </a:prstGeom>
          <a:noFill/>
          <a:ln/>
        </p:spPr>
        <p:txBody>
          <a:bodyPr wrap="square" lIns="0" tIns="0" rIns="0" bIns="0" rtlCol="0" anchor="ctr"/>
          <a:lstStyle/>
          <a:p>
            <a:pPr algn="ctr" indent="0" marL="0">
              <a:buNone/>
            </a:pPr>
            <a:r>
              <a:rPr lang="en-US" sz="1000" b="1" spc="200" kern="0" dirty="0">
                <a:solidFill>
                  <a:schemeClr val="accent6"/>
                </a:solidFill>
              </a:rPr>
              <a:t>BEHIND EVERY STEP</a:t>
            </a:r>
            <a:endParaRPr lang="en-US" sz="10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FastPass ST Pearl">
  <a:themeElements>
    <a:clrScheme name="FastPass ST Pearl">
      <a:dk1>
        <a:srgbClr val="0B1526"/>
      </a:dk1>
      <a:lt1>
        <a:srgbClr val="FFFFFF"/>
      </a:lt1>
      <a:dk2>
        <a:srgbClr val="4A5870"/>
      </a:dk2>
      <a:lt2>
        <a:srgbClr val="F4F6F8"/>
      </a:lt2>
      <a:accent1>
        <a:srgbClr val="0B84AE"/>
      </a:accent1>
      <a:accent2>
        <a:srgbClr val="1E9E50"/>
      </a:accent2>
      <a:accent3>
        <a:srgbClr val="D97706"/>
      </a:accent3>
      <a:accent4>
        <a:srgbClr val="E3061A"/>
      </a:accent4>
      <a:accent5>
        <a:srgbClr val="E1E6ED"/>
      </a:accent5>
      <a:accent6>
        <a:srgbClr val="0B2545"/>
      </a:accent6>
      <a:hlink>
        <a:srgbClr val="0B84AE"/>
      </a:hlink>
      <a:folHlink>
        <a:srgbClr val="4A5870"/>
      </a:folHlink>
    </a:clrScheme>
    <a:fontScheme name="FastPass ST Pear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 Secure FastPass — curb-to-gate journey</dc:title>
  <dc:subject>PptxGenJS Presentation</dc:subject>
  <dc:creator>PptxGenJS</dc:creator>
  <cp:lastModifiedBy>PptxGenJS</cp:lastModifiedBy>
  <cp:revision>1</cp:revision>
  <dcterms:created xsi:type="dcterms:W3CDTF">2026-10-16T07:29:07Z</dcterms:created>
  <dcterms:modified xsi:type="dcterms:W3CDTF">2026-10-16T07:29:07Z</dcterms:modified>
</cp:coreProperties>
</file>