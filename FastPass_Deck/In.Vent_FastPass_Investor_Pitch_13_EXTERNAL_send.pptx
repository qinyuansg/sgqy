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600" r:id="rId35"/>
    <p:sldId id="601" r:id="rId36"/>
    <p:sldId id="602" r:id="rId37"/>
    <p:sldId id="603" r:id="rId38"/>
    <p:sldId id="604" r:id="rId39"/>
    <p:sldId id="605" r:id="rId40"/>
    <p:sldId id="606" r:id="rId41"/>
    <p:sldId id="607" r:id="rId42"/>
    <p:sldId id="608" r:id="rId43"/>
    <p:sldId id="609" r:id="rId44"/>
    <p:sldId id="610" r:id="rId45"/>
    <p:sldId id="611" r:id="rId46"/>
    <p:sldId id="612" r:id="rId47"/>
    <p:sldId id="613" r:id="rId48"/>
    <p:sldId id="614" r:id="rId49"/>
    <p:sldId id="615" r:id="rId50"/>
    <p:sldId id="616" r:id="rId51"/>
    <p:sldId id="617" r:id="rId52"/>
    <p:sldId id="618" r:id="rId53"/>
    <p:sldId id="619" r:id="rId54"/>
    <p:sldId id="620" r:id="rId55"/>
    <p:sldId id="621" r:id="rId56"/>
    <p:sldId id="622" r:id="rId57"/>
    <p:sldId id="623" r:id="rId58"/>
    <p:sldId id="624" r:id="rId59"/>
    <p:sldId id="625" r:id="rId60"/>
    <p:sldId id="626" r:id="rId61"/>
    <p:sldId id="627" r:id="rId62"/>
    <p:sldId id="628" r:id="rId63"/>
    <p:sldId id="629" r:id="rId64"/>
    <p:sldId id="630" r:id="rId65"/>
    <p:sldId id="631" r:id="rId66"/>
    <p:sldId id="632" r:id="rId67"/>
    <p:sldId id="633" r:id="rId68"/>
    <p:sldId id="634" r:id="rId69"/>
    <p:sldId id="635" r:id="rId70"/>
    <p:sldId id="636" r:id="rId71"/>
    <p:sldId id="637" r:id="rId72"/>
    <p:sldId id="638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C4D0"/>
    <a:srgbClr val="00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5" Type="http://schemas.openxmlformats.org/officeDocument/2006/relationships/slide" Target="slides/slide1.xml"/><Relationship Id="rId36" Type="http://schemas.openxmlformats.org/officeDocument/2006/relationships/slide" Target="slides/slide2.xml"/><Relationship Id="rId37" Type="http://schemas.openxmlformats.org/officeDocument/2006/relationships/slide" Target="slides/slide3.xml"/><Relationship Id="rId38" Type="http://schemas.openxmlformats.org/officeDocument/2006/relationships/slide" Target="slides/slide4.xml"/><Relationship Id="rId39" Type="http://schemas.openxmlformats.org/officeDocument/2006/relationships/slide" Target="slides/slide5.xml"/><Relationship Id="rId40" Type="http://schemas.openxmlformats.org/officeDocument/2006/relationships/slide" Target="slides/slide6.xml"/><Relationship Id="rId41" Type="http://schemas.openxmlformats.org/officeDocument/2006/relationships/slide" Target="slides/slide7.xml"/><Relationship Id="rId42" Type="http://schemas.openxmlformats.org/officeDocument/2006/relationships/slide" Target="slides/slide8.xml"/><Relationship Id="rId43" Type="http://schemas.openxmlformats.org/officeDocument/2006/relationships/slide" Target="slides/slide9.xml"/><Relationship Id="rId44" Type="http://schemas.openxmlformats.org/officeDocument/2006/relationships/slide" Target="slides/slide10.xml"/><Relationship Id="rId45" Type="http://schemas.openxmlformats.org/officeDocument/2006/relationships/slide" Target="slides/slide11.xml"/><Relationship Id="rId46" Type="http://schemas.openxmlformats.org/officeDocument/2006/relationships/slide" Target="slides/slide12.xml"/><Relationship Id="rId47" Type="http://schemas.openxmlformats.org/officeDocument/2006/relationships/slide" Target="slides/slide13.xml"/><Relationship Id="rId48" Type="http://schemas.openxmlformats.org/officeDocument/2006/relationships/slide" Target="slides/slide14.xml"/><Relationship Id="rId49" Type="http://schemas.openxmlformats.org/officeDocument/2006/relationships/slide" Target="slides/slide15.xml"/><Relationship Id="rId50" Type="http://schemas.openxmlformats.org/officeDocument/2006/relationships/slide" Target="slides/slide16.xml"/><Relationship Id="rId51" Type="http://schemas.openxmlformats.org/officeDocument/2006/relationships/slide" Target="slides/slide17.xml"/><Relationship Id="rId52" Type="http://schemas.openxmlformats.org/officeDocument/2006/relationships/slide" Target="slides/slide18.xml"/><Relationship Id="rId53" Type="http://schemas.openxmlformats.org/officeDocument/2006/relationships/slide" Target="slides/slide19.xml"/><Relationship Id="rId54" Type="http://schemas.openxmlformats.org/officeDocument/2006/relationships/slide" Target="slides/slide20.xml"/><Relationship Id="rId55" Type="http://schemas.openxmlformats.org/officeDocument/2006/relationships/slide" Target="slides/slide21.xml"/><Relationship Id="rId56" Type="http://schemas.openxmlformats.org/officeDocument/2006/relationships/slide" Target="slides/slide22.xml"/><Relationship Id="rId57" Type="http://schemas.openxmlformats.org/officeDocument/2006/relationships/slide" Target="slides/slide23.xml"/><Relationship Id="rId58" Type="http://schemas.openxmlformats.org/officeDocument/2006/relationships/slide" Target="slides/slide24.xml"/><Relationship Id="rId59" Type="http://schemas.openxmlformats.org/officeDocument/2006/relationships/slide" Target="slides/slide25.xml"/><Relationship Id="rId60" Type="http://schemas.openxmlformats.org/officeDocument/2006/relationships/slide" Target="slides/slide26.xml"/><Relationship Id="rId61" Type="http://schemas.openxmlformats.org/officeDocument/2006/relationships/slide" Target="slides/slide27.xml"/><Relationship Id="rId62" Type="http://schemas.openxmlformats.org/officeDocument/2006/relationships/slide" Target="slides/slide28.xml"/><Relationship Id="rId63" Type="http://schemas.openxmlformats.org/officeDocument/2006/relationships/slide" Target="slides/slide29.xml"/><Relationship Id="rId64" Type="http://schemas.openxmlformats.org/officeDocument/2006/relationships/slide" Target="slides/slide30.xml"/><Relationship Id="rId65" Type="http://schemas.openxmlformats.org/officeDocument/2006/relationships/slide" Target="slides/slide31.xml"/><Relationship Id="rId66" Type="http://schemas.openxmlformats.org/officeDocument/2006/relationships/slide" Target="slides/slide32.xml"/><Relationship Id="rId67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36.xml"/><Relationship Id="rId71" Type="http://schemas.openxmlformats.org/officeDocument/2006/relationships/slide" Target="slides/slide37.xml"/><Relationship Id="rId72" Type="http://schemas.openxmlformats.org/officeDocument/2006/relationships/slide" Target="slides/slide38.xml"/><Relationship Id="rId73" Type="http://schemas.openxmlformats.org/officeDocument/2006/relationships/slide" Target="slides/slide3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59EDD3-291C-45FC-C893-EF7FCF019A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EA241D-EAE3-60C0-E6C5-42EB154A94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3935D-AD2E-4E45-9F10-EE2611B3B8D1}" type="datetimeFigureOut">
              <a:rPr lang="en-SG" smtClean="0"/>
              <a:t>27/10/2026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560BA-040E-B009-AF38-ED3324EDB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67B00-12F8-8763-FB64-518FB91AEE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BD81B-A0DF-40C2-A45D-AEB8D215328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1801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7C30B-32FA-4F85-87F2-0EDBBAA5BFD5}" type="datetimeFigureOut"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D9013-D3CF-4749-A6CE-301E3BD661C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46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DEM11 · GMA News, 'NAIA hits record-high 52M passenger volume in 2025' (Jan 2026) · https://www.gmanetwork.com/news/topstories/nation/971370/naia-hits-record-high-52m-passenger-volume-in-2025/story/</a:t>
            </a:r>
          </a:p>
          <a:p>
            <a:r>
              <a:t>DEM10 · Singapore Ministry of Transport, 'Update on Development Plans for Changi Airport Terminal 5' (8 Jan 2025) · https://www.mot.gov.sg/news-resources/newsroom/update-on-development-plans-for-changi-airport-terminal-5/</a:t>
            </a:r>
          </a:p>
          <a:p>
            <a:r>
              <a:t>FAC14 · Prime Minister's Office Singapore, 'PM Lawrence Wong at the Changi Airport Terminal 5 Groundbreaking Ceremony' (14 May 2025) · https://www.pmo.gov.sg/Newsroom/PM-Lawrence-Wong-at-the-Changi-Airport-Terminal-5-Groundbreaking-Ceremony</a:t>
            </a:r>
          </a:p>
          <a:p>
            <a:r>
              <a:t>DEM9 · Dubai Media Office, 'Mohammed bin Rashid approves designs of new passenger terminal at Al Maktoum International Airport' (28 Apr 2024) · https://mediaoffice.ae/en/news/2024/april/28-04/al-maktoum-international-airport</a:t>
            </a:r>
          </a:p>
          <a:p>
            <a:r>
              <a:t>DEM9B · WAM, 'Al Maktoum International Airport development project achieves significant milestones' (15 Jun 2026) · https://www.wam.ae/en/article/c0qknce-maktoum-international-airport-development-project</a:t>
            </a:r>
          </a:p>
          <a:p>
            <a:r>
              <a:t>DEM13 · Singapore Ministry of Home Affairs, 'ICA Workplan Seminar 2025' (speech by Minister K Shanmugam) · https://www.mha.gov.sg/media-room/newsroom/ica-workplan-seminar-2025/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FAC4 · SITA press release, 'SITA research finds aviation's record technology investment hinges on one thing: data coordination' (Air Transport IT Insights 2025, 16 Apr 2026) · https://www.sita.aero/about-us/pressroom/news-releases/sita-research-finds-aviations-record-technology-investment-hinges-on-one-thing-data-coordination/</a:t>
            </a:r>
          </a:p>
          <a:p>
            <a:r>
              <a:t>WHY10 · SITA Passenger IT Insights 2025, 'Passengers Are Already Digital. This Is a Big Opportunity for Aviation' (GlobeNewswire, 7 Oct 2025) · https://www.globenewswire.com/news-release/2025/10/07/3162210/0/en/Passengers-Are-Already-Digital-This-Is-a-Big-Opportunity-for-Aviation.html</a:t>
            </a:r>
          </a:p>
          <a:p>
            <a:r>
              <a:t>WHY12 · ICA Annual Statistics Report 2025 · https://www.ica.gov.sg/docs/default-source/ica/stats/annual-stats-report/ica-annual-statistics-report-2025.pdf</a:t>
            </a:r>
          </a:p>
          <a:p>
            <a:r>
              <a:t>WHY11 · ICA media release, 'Passport-less clearance fully rolled out at Changi Airport' (24 Oct 2024) · https://www.ica.gov.sg/news-and-publications/newsroom/media-release/passport-less-clearance-fully-rolled-out-at-changi-airport</a:t>
            </a:r>
          </a:p>
          <a:p>
            <a:r>
              <a:t>COM2 · Amadeus press release, 'Indonesia replaces immigration barriers with Amadeus Seamless Corridors' (Nov 2025) · https://amadeus.com/en/newsroom/press-releases/indonesia-replaces-immigration-barriers-with-amadeus-seamless-corridors</a:t>
            </a:r>
          </a:p>
          <a:p>
            <a:r>
              <a:t>WHY6 · ICAO FALP/14-WP/21, 'Revised definitions and proposed standards and recommended practices for ICAO Digital Travel Credentials' (Apr 2026) · https://www.icao.int/sites/default/files/Meetings/FALP14/Working%20Papers/WP%2021%20-%20Revised%20definitions%20and%20proposed%20standards%20and%20recommended%20practices%20for%20ICAO%20Digital%20Travel%20Credentials/FALP14-WP-21.E.pdf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WHY13 · International Airport Review, 'Dubai's biometric Red Carpet processes more than 439,000 travellers in six months' (2026) · https://www.internationalairportreview.com/dubais-biometric-red-carpet-processes-more-than-439000-travellers-in-six-months/2136321.article</a:t>
            </a:r>
          </a:p>
          <a:p>
            <a:r>
              <a:t>WHY11 · ICA media release, 'Passport-less clearance fully rolled out at Changi Airport' (24 Oct 2024) · https://www.ica.gov.sg/news-and-publications/newsroom/media-release/passport-less-clearance-fully-rolled-out-at-changi-airport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COM5 · IDEMIA MFace brochure (Oct 2025) · https://www.idemia.com/wp-content/uploads/2025/10/mface-brochure-idemia-22102025.pdf</a:t>
            </a:r>
          </a:p>
          <a:p>
            <a:r>
              <a:t>COM2 · Amadeus press release, 'Indonesia replaces immigration barriers with Amadeus Seamless Corridors' (Nov 2025) · https://amadeus.com/en/newsroom/press-releases/indonesia-replaces-immigration-barriers-with-amadeus-seamless-corridors</a:t>
            </a:r>
          </a:p>
          <a:p>
            <a:r>
              <a:t>COM9 · NEC press release, walkthrough gates ordered by Japan's Immigration Services Agency (25 Mar 2025) · https://www.nec.com/en/press/202503/global_20250325_02.html</a:t>
            </a:r>
          </a:p>
          <a:p>
            <a:r>
              <a:t>COM8 · PhocusWire, 'Aruba preps full launch of passport-free arrivals process' · https://www.phocuswire.com/aruba-preps-full-launch-passport-free-arrivals-process</a:t>
            </a:r>
          </a:p>
          <a:p>
            <a:r>
              <a:t>COM7 · SITA Smart Path product page · https://www.sita.aero/smartpath</a:t>
            </a:r>
          </a:p>
          <a:p>
            <a:r>
              <a:t>COM10 · Singapore EDB, 'Thales redefines the airport journey with AI-powered biometrics' · https://www.edb.gov.sg/en/business-insights/insights/thales-redefines-the-airport-journey-with-ai-powered-biometrics.html</a:t>
            </a:r>
          </a:p>
          <a:p>
            <a:r>
              <a:t>COM3 · CORDIS, project 778571 Smart-Trust (2018–2020) · https://cordis.europa.eu/project/id/778571</a:t>
            </a:r>
          </a:p>
          <a:p>
            <a:r>
              <a:t>COM1 · Amadeus press release, 'Vision-Box biometrics acquisition complete' (Apr 2024) · https://amadeus.com/en/newsroom/press-releases/vision-box-biometrics-acquisition-complete</a:t>
            </a:r>
          </a:p>
          <a:p>
            <a:r>
              <a:t>COM14 · SITA press release, 'SITA becomes leader in airport solutions following Materna IPS acquisition' (Jul 2024) · https://www.sita.aero/pressroom/news-releases/sita-becomes-leader-in-airport-solutions-following-materna-ips-acquisition/</a:t>
            </a:r>
          </a:p>
          <a:p>
            <a:r>
              <a:t>WHY14 · Hamad International Airport, 'Hamad International Airport rolls out biometric travel across more than 700 touchpoints' (Jul 2026) · https://dohahamadairport.com/press-releases/news/hamad-international-airport-rolls-out-biometric-travel-across-more-700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FAC6 · MarketsandMarkets, 'Automated Border Control Market – Global Forecast to 2030' · https://www.marketsandmarkets.com/Market-Reports/automated-border-control-market-24899883.html</a:t>
            </a:r>
          </a:p>
          <a:p>
            <a:r>
              <a:t>FAC7 · MarketsandMarkets, 'Automated Border Control Market' key takeaways (same report) · https://www.marketsandmarkets.com/Market-Reports/automated-border-control-market-24899883.html</a:t>
            </a:r>
          </a:p>
          <a:p>
            <a:r>
              <a:t>FAC8 · Derived calculation from FAC6/FAC7 and the team's URS share estimates · https://www.marketsandmarkets.com/Market-Reports/automated-border-control-market-24899883.html</a:t>
            </a:r>
          </a:p>
          <a:p>
            <a:r>
              <a:t>DEM2 · ACI World, 'Global airport passenger traffic reaches record 9.8 billion in 2025' (23 Sep 2026) · https://aci.aero/2026/09/23/global-airport-passenger-traffic-reaches-record-9-8-billion-in-2025-airports-council-international-world-reports/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ROI8 · Information Centre of the Ministry of the Interior of Latvia, 'Installation of ABC gate at Riga International Airport' (No. VRS/IDF/2018/4) · https://www.ic.iem.gov.lv/en/projects/installation-abc-gate-riga-international-airport-no-vrsidf20184</a:t>
            </a:r>
          </a:p>
          <a:p>
            <a:r>
              <a:t>ROI9 · Aena press release, 'Aena adjudica por 90 millones de euros un acuerdo marco para el suministro de equipos automáticos de control de fronteras' (Dec 2017) · https://www.aena.es/es/prensa/aena-adjudica-por-90-millones-de-euros-un-acuerdo-marco-para-el---suministro-de-equipos-automaticos-de-control-de-fronteras-en-sus---aeropuertos.html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ROI5 · AviationPros (Riga Airport / State Border Guard of Latvia), 'New ABC Gates Make Border Crossing at Riga Airport Faster and More Convenient' · https://www.aviationpros.com/airports/airport-technology/press-release/21166019/riga-airport-new-abc-gates-make-border-crossing-at-riga-airport-faster-and-more-convenient</a:t>
            </a:r>
          </a:p>
          <a:p>
            <a:r>
              <a:t>ROI6 · UK Home Office, Border Force Aviation Forum minutes (Feb 2018) · https://assets.publishing.service.gov.uk/government/uploads/system/uploads/attachment_data/file/707604/Aviation-Forum-minutes-Feb-2018.pdf</a:t>
            </a:r>
          </a:p>
          <a:p>
            <a:r>
              <a:t>FAC13 · IATA press release, '2025 Global Passenger Survey: mobile and digital ID are the future of travel' (5 Nov 2025) · https://www.iata.org/en/pressroom/2025-releases/2025-11-05-02/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DEM11 · GMA News, 'NAIA hits record-high 52M passenger volume in 2025' (Jan 2026) · https://www.gmanetwork.com/news/topstories/nation/971370/naia-hits-record-high-52m-passenger-volume-in-2025/story/</a:t>
            </a:r>
          </a:p>
          <a:p>
            <a:r>
              <a:t>DEM10 · Singapore Ministry of Transport, 'Update on Development Plans for Changi Airport Terminal 5' (8 Jan 2025) · https://www.mot.gov.sg/news-resources/newsroom/update-on-development-plans-for-changi-airport-terminal-5/</a:t>
            </a:r>
          </a:p>
          <a:p>
            <a:r>
              <a:t>FAC14 · Prime Minister's Office Singapore, 'PM Lawrence Wong at the Changi Airport Terminal 5 Groundbreaking Ceremony' (14 May 2025) · https://www.pmo.gov.sg/Newsroom/PM-Lawrence-Wong-at-the-Changi-Airport-Terminal-5-Groundbreaking-Ceremony</a:t>
            </a:r>
          </a:p>
          <a:p>
            <a:r>
              <a:t>DEM9 · Dubai Media Office, 'Mohammed bin Rashid approves designs of new passenger terminal at Al Maktoum International Airport' (28 Apr 2024) · https://mediaoffice.ae/en/news/2024/april/28-04/al-maktoum-international-airport</a:t>
            </a:r>
          </a:p>
          <a:p>
            <a:r>
              <a:t>DEM9B · WAM, 'Al Maktoum International Airport development project achieves significant milestones' (15 Jun 2026) · https://www.wam.ae/en/article/c0qknce-maktoum-international-airport-development-project</a:t>
            </a:r>
          </a:p>
          <a:p>
            <a:r>
              <a:t>DEM13 · Singapore Ministry of Home Affairs, 'ICA Workplan Seminar 2025' (speech by Minister K Shanmugam) · https://www.mha.gov.sg/media-room/newsroom/ica-workplan-seminar-2025/</a:t>
            </a:r>
          </a:p>
          <a:p>
            <a:r>
              <a:t>FAC4 · SITA press release, 'SITA research finds aviation's record technology investment hinges on one thing: data coordination' (Air Transport IT Insights 2025, 16 Apr 2026) · https://www.sita.aero/about-us/pressroom/news-releases/sita-research-finds-aviations-record-technology-investment-hinges-on-one-thing-data-coordination/</a:t>
            </a:r>
          </a:p>
          <a:p>
            <a:r>
              <a:t>WHY10 · SITA Passenger IT Insights 2025, 'Passengers Are Already Digital. This Is a Big Opportunity for Aviation' (GlobeNewswire, 7 Oct 2025) · https://www.globenewswire.com/news-release/2025/10/07/3162210/0/en/Passengers-Are-Already-Digital-This-Is-a-Big-Opportunity-for-Aviation.html</a:t>
            </a:r>
          </a:p>
          <a:p>
            <a:r>
              <a:t>WHY12 · ICA Annual Statistics Report 2025 · https://www.ica.gov.sg/docs/default-source/ica/stats/annual-stats-report/ica-annual-statistics-report-2025.pdf</a:t>
            </a:r>
          </a:p>
          <a:p>
            <a:r>
              <a:t>WHY11 · ICA media release, 'Passport-less clearance fully rolled out at Changi Airport' (24 Oct 2024) · https://www.ica.gov.sg/news-and-publications/newsroom/media-release/passport-less-clearance-fully-rolled-out-at-changi-airport</a:t>
            </a:r>
          </a:p>
          <a:p>
            <a:r>
              <a:t>COM2 · Amadeus press release, 'Indonesia replaces immigration barriers with Amadeus Seamless Corridors' (Nov 2025) · https://amadeus.com/en/newsroom/press-releases/indonesia-replaces-immigration-barriers-with-amadeus-seamless-corridors</a:t>
            </a:r>
          </a:p>
          <a:p>
            <a:r>
              <a:t>WHY6 · ICAO FALP/14-WP/21, 'Revised definitions and proposed standards and recommended practices for ICAO Digital Travel Credentials' (Apr 2026) · https://www.icao.int/sites/default/files/Meetings/FALP14/Working%20Papers/WP%2021%20-%20Revised%20definitions%20and%20proposed%20standards%20and%20recommended%20practices%20for%20ICAO%20Digital%20Travel%20Credentials/FALP14-WP-21.E.pdf</a:t>
            </a:r>
          </a:p>
          <a:p>
            <a:r>
              <a:t>WHY13 · International Airport Review, 'Dubai's biometric Red Carpet processes more than 439,000 travellers in six months' (2026) · https://www.internationalairportreview.com/dubais-biometric-red-carpet-processes-more-than-439000-travellers-in-six-months/2136321.article</a:t>
            </a:r>
          </a:p>
          <a:p>
            <a:r>
              <a:t>WHY13B · Gulf News, 'Dubai's biometric Red-Carpet processes 745,188 travellers in eight months of 2026' · https://gulfnews.com/uae/dubais-biometric-red-carpet-processes-745188-travellers-in-eight-months-of-2026-1.500666738</a:t>
            </a:r>
          </a:p>
          <a:p>
            <a:r>
              <a:t>FAC12 · Paravision, 'Paravision collaborates with Emaratech to power Red Carpet Smart Corridor at Dubai International Airport' (Sep 2025) · https://www.paravision.ai/news/paravision-collaborates-with-emaratech-to-power-red-carpet-smart-corridor-at-dubai-international-airport/</a:t>
            </a:r>
          </a:p>
          <a:p>
            <a:r>
              <a:t>COM5 · IDEMIA MFace brochure (Oct 2025) · https://www.idemia.com/wp-content/uploads/2025/10/mface-brochure-idemia-22102025.pdf</a:t>
            </a:r>
          </a:p>
          <a:p>
            <a:r>
              <a:t>COM5B · IDEMIA press release, 'Zayed International Airport revolutionizes passenger experience: IDEMIA's biometric solutions, over 1 million passengers processed' (6 Mar 2024) · https://www.idemia.com/press-release/zayed-international-airport-revolutionizes-passenger-experience-idemias-biometric-solutions-over-1-million-passengers-processed-2024-03-06</a:t>
            </a:r>
          </a:p>
          <a:p>
            <a:r>
              <a:t>COM4 · IDEMIA press release, 'IDEMIA selected to supply Automated Border Control System' (9 May 2023) · https://idemia.com/press-release/idemia-selected-supply-automated-border-control-system-2023-05-09</a:t>
            </a:r>
          </a:p>
          <a:p>
            <a:r>
              <a:t>COM6 · IDEMIA, ID2Travel / Digital Travel Credential page · https://idemia.com/id2travel</a:t>
            </a:r>
          </a:p>
          <a:p>
            <a:r>
              <a:t>COM9 · NEC press release, walkthrough gates ordered by Japan's Immigration Services Agency (25 Mar 2025) · https://www.nec.com/en/press/202503/global_20250325_02.html</a:t>
            </a:r>
          </a:p>
          <a:p>
            <a:r>
              <a:t>COM8 · PhocusWire, 'Aruba preps full launch of passport-free arrivals process' · https://www.phocuswire.com/aruba-preps-full-launch-passport-free-arrivals-process</a:t>
            </a:r>
          </a:p>
          <a:p>
            <a:r>
              <a:t>COM7 · SITA Smart Path product page · https://www.sita.aero/smartpath</a:t>
            </a:r>
          </a:p>
          <a:p>
            <a:r>
              <a:t>COM10 · Singapore EDB, 'Thales redefines the airport journey with AI-powered biometrics' · https://www.edb.gov.sg/en/business-insights/insights/thales-redefines-the-airport-journey-with-ai-powered-biometrics.html</a:t>
            </a:r>
          </a:p>
          <a:p>
            <a:r>
              <a:t>COM3 · CORDIS, project 778571 Smart-Trust (2018–2020) · https://cordis.europa.eu/project/id/778571</a:t>
            </a:r>
          </a:p>
          <a:p>
            <a:r>
              <a:t>COM1 · Amadeus press release, 'Vision-Box biometrics acquisition complete' (Apr 2024) · https://amadeus.com/en/newsroom/press-releases/vision-box-biometrics-acquisition-complete</a:t>
            </a:r>
          </a:p>
          <a:p>
            <a:r>
              <a:t>COM14 · SITA press release, 'SITA becomes leader in airport solutions following Materna IPS acquisition' (Jul 2024) · https://www.sita.aero/pressroom/news-releases/sita-becomes-leader-in-airport-solutions-following-materna-ips-acquisition/</a:t>
            </a:r>
          </a:p>
          <a:p>
            <a:r>
              <a:t>COM14B · IN Groupe, 'IN Groupe successfully completes the acquisition of IDEMIA Smart Identity' (1 Jul 2025) · https://ingroupe.com/news/in-groupe-successfully-completes-the-acquisition-of-idemia-smart-identity-to-become-the-global-leader-in-secure-identity-solutions/</a:t>
            </a:r>
          </a:p>
          <a:p>
            <a:r>
              <a:t>COM14C · Thales press release, 'Thales completes acquisition of Gemalto' (Apr 2019) · https://www.thalesgroup.com/en/news-centre/press-releases/thales-completes-acquisition-gemalto-become-global-leader-digital</a:t>
            </a:r>
          </a:p>
          <a:p>
            <a:r>
              <a:t>WHY14 · Hamad International Airport, 'Hamad International Airport rolls out biometric travel across more than 700 touchpoints' (Jul 2026) · https://dohahamadairport.com/press-releases/news/hamad-international-airport-rolls-out-biometric-travel-across-more-700</a:t>
            </a:r>
          </a:p>
          <a:p>
            <a:r>
              <a:t>FAC6 · MarketsandMarkets, 'Automated Border Control Market – Global Forecast to 2030' · https://www.marketsandmarkets.com/Market-Reports/automated-border-control-market-24899883.html</a:t>
            </a:r>
          </a:p>
          <a:p>
            <a:r>
              <a:t>FAC7 · MarketsandMarkets, 'Automated Border Control Market' key takeaways (same report) · https://www.marketsandmarkets.com/Market-Reports/automated-border-control-market-24899883.html</a:t>
            </a:r>
          </a:p>
          <a:p>
            <a:r>
              <a:t>FAC8 · Derived calculation from FAC6/FAC7 and the team's URS share estimates · https://www.marketsandmarkets.com/Market-Reports/automated-border-control-market-24899883.html</a:t>
            </a:r>
          </a:p>
          <a:p>
            <a:r>
              <a:t>FAC9 · Research and Markets (Mordor Intelligence), 'Automated Border Control Market Share Analysis'; Lucintel ABC market · https://www.researchandmarkets.com/reports/5026050/automated-border-control-market-share</a:t>
            </a:r>
          </a:p>
          <a:p>
            <a:r>
              <a:t>DEM2 · ACI World, 'Global airport passenger traffic reaches record 9.8 billion in 2025' (23 Sep 2026) · https://aci.aero/2026/09/23/global-airport-passenger-traffic-reaches-record-9-8-billion-in-2025-airports-council-international-world-reports/</a:t>
            </a:r>
          </a:p>
          <a:p>
            <a:r>
              <a:t>DEM3 · IATA press release, 'Air Passenger Demand Slips 0.8% in August' (30 Sep 2026); see also the 29 Apr 2026 release for March · https://www.iata.org/en/pressroom/2026-releases/09-30-air-passenger-demand-slips-august/</a:t>
            </a:r>
          </a:p>
          <a:p>
            <a:r>
              <a:t>DEM4 · IATA, 'Middle East Disruptions and High Fuel Prices Halve Airline Industry Profitability' (7 Jun 2026) · https://www.iata.org/en/pressroom/2026-releases/06-07-middle-east-disruptions-high-fuel-prices-halve-airline-industry-profitability/</a:t>
            </a:r>
          </a:p>
          <a:p>
            <a:r>
              <a:t>DEM5 · ACI Asia-Pacific &amp; Middle East, 'Asia-Pacific and Middle East airports set for strong growth in passenger traffic' (Short-Term Forecast 2025–2028, c. Dec 2025) · https://www.aci-asiapac.aero/media-centre/news/asia-pacific-and-middle-east-airports-set-for-strong-growth-in-passenger-traffic</a:t>
            </a:r>
          </a:p>
          <a:p>
            <a:r>
              <a:t>DEM6 · ACI Asia-Pacific &amp; Middle East, 'Airports in Asia-Pacific &amp; Middle East to see US$240 billion investment in infrastructure expansion' (16 Apr 2025) · https://www.aci-asiapac.aero/media-centre/news/airports-in-asia-pacific-and-middle-east-to-see-ususd240-billion-investment-in-infrastructure-expansion</a:t>
            </a:r>
          </a:p>
          <a:p>
            <a:r>
              <a:t>FAC10 · International Airport Review, 'Airports in Asia-Pacific and Middle East to invest $240 billion in expansion by 2035' · https://www.internationalairportreview.com/news/259618/airports-in-asia-pacific-and-middle-east-to-invest-240-billion-in-expansion-by-2035/</a:t>
            </a:r>
          </a:p>
          <a:p>
            <a:r>
              <a:t>FAC5 · Airport World, 'Data co-ordination key to success of IT investment in aviation' (SITA Air Transport IT Insights 2025, Apr 2026) · https://airport-world.com/data-co-ordination-key-to-success-of-it-investment-in-aviation/</a:t>
            </a:r>
          </a:p>
          <a:p>
            <a:r>
              <a:t>DEM8 · Argaam, 'Saudi airport traffic rises to 140.9M passengers in 2025: GACA' · https://www.argaam.com/en/article/articledetail/id/1876411</a:t>
            </a:r>
          </a:p>
          <a:p>
            <a:r>
              <a:t>DEM12 · Khaosod English, 'Suvarnabhumi to open Auto Gates to 31 more nationalities' (17 Aug 2026) · https://www.khaosodenglish.com/featured/2026/08/17/suvarnabhumi-to-open-auto-gates-to-31-more-nationalities/</a:t>
            </a:r>
          </a:p>
          <a:p>
            <a:r>
              <a:t>DEM12B · Nation Thailand, Suvarnabhumi East Expansion targeted for 2030 (Sep 2025) · https://www.nationthailand.com/business/corporate/40055094</a:t>
            </a:r>
          </a:p>
          <a:p>
            <a:r>
              <a:t>ROI8 · Information Centre of the Ministry of the Interior of Latvia, 'Installation of ABC gate at Riga International Airport' (No. VRS/IDF/2018/4) · https://www.ic.iem.gov.lv/en/projects/installation-abc-gate-riga-international-airport-no-vrsidf20184</a:t>
            </a:r>
          </a:p>
          <a:p>
            <a:r>
              <a:t>ROI9 · Aena press release, 'Aena adjudica por 90 millones de euros un acuerdo marco para el suministro de equipos automáticos de control de fronteras' (Dec 2017) · https://www.aena.es/es/prensa/aena-adjudica-por-90-millones-de-euros-un-acuerdo-marco-para-el---suministro-de-equipos-automaticos-de-control-de-fronteras-en-sus---aeropuertos.html</a:t>
            </a:r>
          </a:p>
          <a:p>
            <a:r>
              <a:t>ROI5 · AviationPros (Riga Airport / State Border Guard of Latvia), 'New ABC Gates Make Border Crossing at Riga Airport Faster and More Convenient' · https://www.aviationpros.com/airports/airport-technology/press-release/21166019/riga-airport-new-abc-gates-make-border-crossing-at-riga-airport-faster-and-more-convenient</a:t>
            </a:r>
          </a:p>
          <a:p>
            <a:r>
              <a:t>ROI6 · UK Home Office, Border Force Aviation Forum minutes (Feb 2018) · https://assets.publishing.service.gov.uk/government/uploads/system/uploads/attachment_data/file/707604/Aviation-Forum-minutes-Feb-2018.pdf</a:t>
            </a:r>
          </a:p>
          <a:p>
            <a:r>
              <a:t>FAC13 · IATA press release, '2025 Global Passenger Survey: mobile and digital ID are the future of travel' (5 Nov 2025) · https://www.iata.org/en/pressroom/2025-releases/2025-11-05-02/</a:t>
            </a:r>
          </a:p>
          <a:p>
            <a:r>
              <a:t>WHY9 · IATA 2025 Global Passenger Survey (same release as FAC13) · https://www.iata.org/en/pressroom/2025-releases/2025-11-05-02/</a:t>
            </a:r>
          </a:p>
          <a:p>
            <a:r>
              <a:t>ROI12 · World Bank PPP Resource Center summary of ACI World Airport Economics Report (2021 edition, FY2019 data) · https://ppp.worldbank.org/node/6996</a:t>
            </a:r>
          </a:p>
          <a:p>
            <a:r>
              <a:t>ROI13 · ACI EUROPE, 'About ACI EUROPE' · https://www.aci-europe.org/about/</a:t>
            </a:r>
          </a:p>
          <a:p>
            <a:r>
              <a:t>ROI1 · Delta, 'Delta Expands Optional Facial Recognition Boarding to New Airports and More Customers' (Jun 2019) · https://pro.delta.com/content/corporate/us/en/news/news-archive/2019/june-2019/delta-expands-optional-facial-recognition-boarding-to-new-airpor.html</a:t>
            </a:r>
          </a:p>
          <a:p>
            <a:r>
              <a:t>ROI2 · Future Travel Experience, 'Biometric trial at Istanbul Airport reduces boarding times by 30%' (Apr 2021) · https://www.futuretravelexperience.com/2021/04/biometric-trial-at-istanbul-airport-reduces-boarding-times-by-30/</a:t>
            </a:r>
          </a:p>
          <a:p>
            <a:r>
              <a:t>ROI4 · Malay Mail, 'Passport-less clearance fully available at Changi Airport, average immigration clearance time of 10 seconds' (24 Oct 2024) · https://www.malaymail.com/news/singapore/2024/10/24/passport-less-clearance-fully-available-at-changi-airport-average-immigration-clearance-time-of-10-seconds/154699</a:t>
            </a:r>
          </a:p>
          <a:p>
            <a:r>
              <a:t>ROI11 · Welsh Government, 'Welsh Government invests £1m to improve border efficiency at Cardiff Airport' (Mar 2019) · https://www.gov.wales/welsh-government-invests-ps1m-improve-border-efficiency-cardiff-airport</a:t>
            </a:r>
          </a:p>
          <a:p>
            <a:r>
              <a:t>ROI14 · Axon Enterprise, Form 10-K FY2025 (SEC) · https://www.sec.gov/Archives/edgar/data/1069183/000162828026011360/axon-20251231.htm</a:t>
            </a:r>
          </a:p>
          <a:p>
            <a:r>
              <a:t>ROI14B · Axon press release, 'Axon reports Q3 2025 revenue of $711 million, up 31% year over year' (4 Nov 2025), via Axon investor relations · https://investor.axon.com/</a:t>
            </a:r>
          </a:p>
          <a:p>
            <a:r>
              <a:t>ROI15 · Evolv Technologies Holdings, Form 10-K FY2025 (SEC) · https://www.sec.gov/Archives/edgar/data/1805385/000180538526000012/evlv-20251231.htm</a:t>
            </a:r>
          </a:p>
          <a:p>
            <a:r>
              <a:t>ROI16 · Motorola Solutions, Form 10-K FY2025 (SEC) · https://www.sec.gov/Archives/edgar/data/68505/000006850526000010/msi-20251231.htm</a:t>
            </a:r>
          </a:p>
          <a:p>
            <a:r>
              <a:t>FAC15 · ABI Research, 'IDEMIA, Thales, and Vision-Box Take the Lead in ABI Research's Automated Border Control System Competitive Ranking' (Jul 2023) · https://abiresearch.com/press//idemia-thales-and-vision-box-take-the-lead-in-abi-researchs-automated-border-control-system-competitive-ranking?hsLang=en</a:t>
            </a:r>
          </a:p>
          <a:p>
            <a:r>
              <a:t>COM11 · Collins Aerospace newsroom, 'Collins deploys biometrics solution at Tokyo Haneda Airport' (Jul 2021) · https://www.collinsaerospace.com/newsroom/News/2021/07/Collins-deploys-biometrics-solution-Tokyo-Haneda-Airport</a:t>
            </a:r>
          </a:p>
          <a:p>
            <a:r>
              <a:t>COM12 · Indra press release, ABC systems for Aena (10 Dec 2018) · https://www.indracompany.com/sites/default/files/181210pr_abcs_aena.pdf</a:t>
            </a:r>
          </a:p>
          <a:p>
            <a:r>
              <a:t>COM13 · BigBear.ai newsroom, 'BigBear.ai completes Pangiam acquisition' · https://bigbear.ai/newsroom/bigbear-ai-completes-pangiam-acquisition/</a:t>
            </a:r>
          </a:p>
          <a:p>
            <a:r>
              <a:t>COM15 · FinTech Futures, 'US identity platform Persona hits $2bn valuation after $200m Series D' (Apr 2025) · https://www.fintechfutures.com/venture-capital-funding/us-identity-platform-persona-hits-2bn-valuation-after-200m-series-d</a:t>
            </a:r>
          </a:p>
          <a:p>
            <a:r>
              <a:t>COM15B · Renaissance Capital, 'Identity verification service Clear Secure prices IPO above the range at $31' (Jun 2021) · https://www.renaissancecapital.com/IPO-Center/News/83419/identity-verification-service-clear-secure-prices-ipo-above-the-range-at-31</a:t>
            </a:r>
          </a:p>
          <a:p>
            <a:r>
              <a:t>WHY1 · European Commission (DG HOME), 'Commission set launch date of the Entry/Exit System to 12 October 2025' (30 Jul 2025) · https://home-affairs.ec.europa.eu/news/commission-set-launch-date-entryexit-system-12-october-2025-2025-07-30_en</a:t>
            </a:r>
          </a:p>
          <a:p>
            <a:r>
              <a:t>WHY1B · European Commission, Entry/Exit System policy page (Smart Borders) · https://home-affairs.ec.europa.eu/policies/schengen-borders-and-visa/smart-borders/entry-exit-system_en</a:t>
            </a:r>
          </a:p>
          <a:p>
            <a:r>
              <a:t>WHY2 · The Local, 'Mayhem and chaos: Europe's airports demand urgent review of new border system' (18 Dec 2025) · https://www.thelocal.com/20251218/mayhem-and-chaos-europes-airports-demand-urgent-review-of-new-border-system</a:t>
            </a:r>
          </a:p>
          <a:p>
            <a:r>
              <a:t>WHY3 · European Commission, 'Commission proposes digital passports and ID cards for easier travel' (8 Oct 2024) · https://commission.europa.eu/news-and-media/news/commission-proposes-digital-passports-and-id-cards-easier-travel-2024-10-08-0_en</a:t>
            </a:r>
          </a:p>
          <a:p>
            <a:r>
              <a:t>WHY4 · European Commission, 'European Digital Identity (EUDI) Regulation' · https://digital-strategy.ec.europa.eu/en/policies/eudi-regulation</a:t>
            </a:r>
          </a:p>
          <a:p>
            <a:r>
              <a:t>WHY5 · ICAO TRIP Guide on the Digital Travel Credential, Part 1 (v1.0, Sep 2025) · https://www.icao.int/sites/default/files/TRIP/Publications/GM-ICAOTRIPGuide_DTC_p1.pdf</a:t>
            </a:r>
          </a:p>
          <a:p>
            <a:r>
              <a:t>WHY7 · Keesing Platform, 'Finland's Digital Travel Credential pilot program results' · https://platform.keesingtechnologies.com/finlands-digital-travel-credential-pilot-program-results/</a:t>
            </a:r>
          </a:p>
          <a:p>
            <a:r>
              <a:t>WHY8 · IATA press release, 'Fully Digital Travel Experience Closer to Reality' (30 Oct 2024) · https://www.iata.org/en/pressroom/2024-releases/2024-10-30-03/</a:t>
            </a:r>
          </a:p>
          <a:p>
            <a:r>
              <a:t>WHY15 · Federal Register 2025-19655, 'Collection of Biometric Data From Aliens Upon Entry to and Departure From the United States' (27 Oct 2025) · https://www.federalregister.gov/documents/2025/10/27/2025-19655/collection-of-biometric-data-from-aliens-upon-entry-to-and-departure-from-the-united-states</a:t>
            </a:r>
          </a:p>
          <a:p>
            <a:r>
              <a:t>WHY16 · Skift, 'New Apple Feature Stores Passport Info in Digital Wallet' (12 Nov 2025) · https://skift.com/2025/11/12/apple-digital-passport-id-tsa-travel/</a:t>
            </a:r>
          </a:p>
          <a:p>
            <a:r>
              <a:t>FAC2 · IATA press release, 'Air Travel Demand Will More Than Double by 2050' (17 Mar 2026) · https://www.iata.org/en/pressroom/2026-releases/2026-03-17-01/</a:t>
            </a:r>
          </a:p>
          <a:p>
            <a:r>
              <a:t>FAC1 · IATA, 'Global Outlook for Air Transport: A local sweet spot' (Dec 2023) · https://www.iata.org/en/iata-repository/publications/economic-reports/global-outlook-for-air-transport---december-2023---report/</a:t>
            </a:r>
          </a:p>
          <a:p>
            <a:r>
              <a:t>FAC3 · SITA press release, 'Aviation industry doubles down on cybersecurity as IT spend climbs to new highs' (Feb 2025) · https://www.sita.aero/about-us/pressroom/news-releases/aviation-industry-doubles-down-on-cybersecurity-as-it-spend-climbs-to-new-highs/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FAC6 · MarketsandMarkets, 'Automated Border Control Market – Global Forecast to 2030' · https://www.marketsandmarkets.com/Market-Reports/automated-border-control-market-24899883.html</a:t>
            </a:r>
          </a:p>
          <a:p>
            <a:r>
              <a:t>FAC7 · MarketsandMarkets, 'Automated Border Control Market' key takeaways (same report) · https://www.marketsandmarkets.com/Market-Reports/automated-border-control-market-24899883.html</a:t>
            </a:r>
          </a:p>
          <a:p>
            <a:r>
              <a:t>FAC8 · Derived calculation from FAC6/FAC7 and the team's URS share estimates · https://www.marketsandmarkets.com/Market-Reports/automated-border-control-market-24899883.html</a:t>
            </a:r>
          </a:p>
          <a:p>
            <a:r>
              <a:t>FAC9 · Research and Markets (Mordor Intelligence), 'Automated Border Control Market Share Analysis'; Lucintel ABC market · https://www.researchandmarkets.com/reports/5026050/automated-border-control-market-share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DEM11 · GMA News, 'NAIA hits record-high 52M passenger volume in 2025' (Jan 2026) · https://www.gmanetwork.com/news/topstories/nation/971370/naia-hits-record-high-52m-passenger-volume-in-2025/story/</a:t>
            </a:r>
          </a:p>
          <a:p>
            <a:r>
              <a:t>FAC5 · Airport World, 'Data co-ordination key to success of IT investment in aviation' (SITA Air Transport IT Insights 2025, Apr 2026) · https://airport-world.com/data-co-ordination-key-to-success-of-it-investment-in-aviation/</a:t>
            </a:r>
          </a:p>
          <a:p>
            <a:r>
              <a:t>FAC10 · International Airport Review, 'Airports in Asia-Pacific and Middle East to invest $240 billion in expansion by 2035' · https://www.internationalairportreview.com/news/259618/airports-in-asia-pacific-and-middle-east-to-invest-240-billion-in-expansion-by-2035/</a:t>
            </a:r>
          </a:p>
          <a:p>
            <a:r>
              <a:t>DEM6 · ACI Asia-Pacific &amp; Middle East, 'Airports in Asia-Pacific &amp; Middle East to see US$240 billion investment in infrastructure expansion' (16 Apr 2025) · https://www.aci-asiapac.aero/media-centre/news/airports-in-asia-pacific-and-middle-east-to-see-ususd240-billion-investment-in-infrastructure-expansion</a:t>
            </a:r>
          </a:p>
          <a:p>
            <a:r>
              <a:t>DEM2 · ACI World, 'Global airport passenger traffic reaches record 9.8 billion in 2025' (23 Sep 2026) · https://aci.aero/2026/09/23/global-airport-passenger-traffic-reaches-record-9-8-billion-in-2025-airports-council-international-world-reports/</a:t>
            </a:r>
          </a:p>
          <a:p>
            <a:r>
              <a:t>DEM3 · IATA press release, 'Air Passenger Demand Slips 0.8% in August' (30 Sep 2026); see also the 29 Apr 2026 release for March · https://www.iata.org/en/pressroom/2026-releases/09-30-air-passenger-demand-slips-august/</a:t>
            </a:r>
          </a:p>
          <a:p>
            <a:r>
              <a:t>DEM4 · IATA, 'Middle East Disruptions and High Fuel Prices Halve Airline Industry Profitability' (7 Jun 2026) · https://www.iata.org/en/pressroom/2026-releases/06-07-middle-east-disruptions-high-fuel-prices-halve-airline-industry-profitability/</a:t>
            </a:r>
          </a:p>
          <a:p>
            <a:r>
              <a:t>DEM5 · ACI Asia-Pacific &amp; Middle East, 'Asia-Pacific and Middle East airports set for strong growth in passenger traffic' (Short-Term Forecast 2025–2028, c. Dec 2025) · https://www.aci-asiapac.aero/media-centre/news/asia-pacific-and-middle-east-airports-set-for-strong-growth-in-passenger-traffic</a:t>
            </a:r>
          </a:p>
          <a:p>
            <a:r>
              <a:t>DEM8 · Argaam, 'Saudi airport traffic rises to 140.9M passengers in 2025: GACA' · https://www.argaam.com/en/article/articledetail/id/1876411</a:t>
            </a:r>
          </a:p>
          <a:p>
            <a:r>
              <a:t>DEM9 · Dubai Media Office, 'Mohammed bin Rashid approves designs of new passenger terminal at Al Maktoum International Airport' (28 Apr 2024) · https://mediaoffice.ae/en/news/2024/april/28-04/al-maktoum-international-airport</a:t>
            </a:r>
          </a:p>
          <a:p>
            <a:r>
              <a:t>DEM9B · WAM, 'Al Maktoum International Airport development project achieves significant milestones' (15 Jun 2026) · https://www.wam.ae/en/article/c0qknce-maktoum-international-airport-development-project</a:t>
            </a:r>
          </a:p>
          <a:p>
            <a:r>
              <a:t>DEM12 · Khaosod English, 'Suvarnabhumi to open Auto Gates to 31 more nationalities' (17 Aug 2026) · https://www.khaosodenglish.com/featured/2026/08/17/suvarnabhumi-to-open-auto-gates-to-31-more-nationalities/</a:t>
            </a:r>
          </a:p>
          <a:p>
            <a:r>
              <a:t>DEM12B · Nation Thailand, Suvarnabhumi East Expansion targeted for 2030 (Sep 2025) · https://www.nationthailand.com/business/corporate/40055094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COM1 · Amadeus press release, 'Vision-Box biometrics acquisition complete' (Apr 2024) · https://amadeus.com/en/newsroom/press-releases/vision-box-biometrics-acquisition-complete</a:t>
            </a:r>
          </a:p>
          <a:p>
            <a:r>
              <a:t>COM2 · Amadeus press release, 'Indonesia replaces immigration barriers with Amadeus Seamless Corridors' (Nov 2025) · https://amadeus.com/en/newsroom/press-releases/indonesia-replaces-immigration-barriers-with-amadeus-seamless-corridors</a:t>
            </a:r>
          </a:p>
          <a:p>
            <a:r>
              <a:t>COM3 · CORDIS, project 778571 Smart-Trust (2018–2020) · https://cordis.europa.eu/project/id/778571</a:t>
            </a:r>
          </a:p>
          <a:p>
            <a:r>
              <a:t>COM4 · IDEMIA press release, 'IDEMIA selected to supply Automated Border Control System' (9 May 2023) · https://idemia.com/press-release/idemia-selected-supply-automated-border-control-system-2023-05-09</a:t>
            </a:r>
          </a:p>
          <a:p>
            <a:r>
              <a:t>COM5 · IDEMIA MFace brochure (Oct 2025) · https://www.idemia.com/wp-content/uploads/2025/10/mface-brochure-idemia-22102025.pdf</a:t>
            </a:r>
          </a:p>
          <a:p>
            <a:r>
              <a:t>COM5B · IDEMIA press release, 'Zayed International Airport revolutionizes passenger experience: IDEMIA's biometric solutions, over 1 million passengers processed' (6 Mar 2024) · https://www.idemia.com/press-release/zayed-international-airport-revolutionizes-passenger-experience-idemias-biometric-solutions-over-1-million-passengers-processed-2024-03-06</a:t>
            </a:r>
          </a:p>
          <a:p>
            <a:r>
              <a:t>COM6 · IDEMIA, ID2Travel / Digital Travel Credential page · https://idemia.com/id2travel</a:t>
            </a:r>
          </a:p>
          <a:p>
            <a:r>
              <a:t>COM7 · SITA Smart Path product page · https://www.sita.aero/smartpath</a:t>
            </a:r>
          </a:p>
          <a:p>
            <a:r>
              <a:t>COM8 · PhocusWire, 'Aruba preps full launch of passport-free arrivals process' · https://www.phocuswire.com/aruba-preps-full-launch-passport-free-arrivals-process</a:t>
            </a:r>
          </a:p>
          <a:p>
            <a:r>
              <a:t>COM9 · NEC press release, walkthrough gates ordered by Japan's Immigration Services Agency (25 Mar 2025) · https://www.nec.com/en/press/202503/global_20250325_02.html</a:t>
            </a:r>
          </a:p>
          <a:p>
            <a:r>
              <a:t>COM10 · Singapore EDB, 'Thales redefines the airport journey with AI-powered biometrics' · https://www.edb.gov.sg/en/business-insights/insights/thales-redefines-the-airport-journey-with-ai-powered-biometrics.html</a:t>
            </a:r>
          </a:p>
          <a:p>
            <a:r>
              <a:t>COM11 · Collins Aerospace newsroom, 'Collins deploys biometrics solution at Tokyo Haneda Airport' (Jul 2021) · https://www.collinsaerospace.com/newsroom/News/2021/07/Collins-deploys-biometrics-solution-Tokyo-Haneda-Airport</a:t>
            </a:r>
          </a:p>
          <a:p>
            <a:r>
              <a:t>COM12 · Indra press release, ABC systems for Aena (10 Dec 2018) · https://www.indracompany.com/sites/default/files/181210pr_abcs_aena.pdf</a:t>
            </a:r>
          </a:p>
          <a:p>
            <a:r>
              <a:t>COM14 · SITA press release, 'SITA becomes leader in airport solutions following Materna IPS acquisition' (Jul 2024) · https://www.sita.aero/pressroom/news-releases/sita-becomes-leader-in-airport-solutions-following-materna-ips-acquisition/</a:t>
            </a:r>
          </a:p>
          <a:p>
            <a:r>
              <a:t>FAC15 · ABI Research, 'IDEMIA, Thales, and Vision-Box Take the Lead in ABI Research's Automated Border Control System Competitive Ranking' (Jul 2023) · https://abiresearch.com/press//idemia-thales-and-vision-box-take-the-lead-in-abi-researchs-automated-border-control-system-competitive-ranking?hsLang=en</a:t>
            </a:r>
          </a:p>
          <a:p>
            <a:r>
              <a:t>WHY14 · Hamad International Airport, 'Hamad International Airport rolls out biometric travel across more than 700 touchpoints' (Jul 2026) · https://dohahamadairport.com/press-releases/news/hamad-international-airport-rolls-out-biometric-travel-across-more-700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WHY11 · ICA media release, 'Passport-less clearance fully rolled out at Changi Airport' (24 Oct 2024) · https://www.ica.gov.sg/news-and-publications/newsroom/media-release/passport-less-clearance-fully-rolled-out-at-changi-airport</a:t>
            </a:r>
          </a:p>
          <a:p>
            <a:r>
              <a:t>WHY13 · International Airport Review, 'Dubai's biometric Red Carpet processes more than 439,000 travellers in six months' (2026) · https://www.internationalairportreview.com/dubais-biometric-red-carpet-processes-more-than-439000-travellers-in-six-months/2136321.article</a:t>
            </a:r>
          </a:p>
          <a:p>
            <a:r>
              <a:t>WHY13B · Gulf News, 'Dubai's biometric Red-Carpet processes 745,188 travellers in eight months of 2026' · https://gulfnews.com/uae/dubais-biometric-red-carpet-processes-745188-travellers-in-eight-months-of-2026-1.500666738</a:t>
            </a:r>
          </a:p>
          <a:p>
            <a:r>
              <a:t>FAC12 · Paravision, 'Paravision collaborates with Emaratech to power Red Carpet Smart Corridor at Dubai International Airport' (Sep 2025) · https://www.paravision.ai/news/paravision-collaborates-with-emaratech-to-power-red-carpet-smart-corridor-at-dubai-international-airport/</a:t>
            </a:r>
          </a:p>
          <a:p>
            <a:r>
              <a:t>WHY14 · Hamad International Airport, 'Hamad International Airport rolls out biometric travel across more than 700 touchpoints' (Jul 2026) · https://dohahamadairport.com/press-releases/news/hamad-international-airport-rolls-out-biometric-travel-across-more-700</a:t>
            </a:r>
          </a:p>
          <a:p>
            <a:r>
              <a:t>FAC15 · ABI Research, 'IDEMIA, Thales, and Vision-Box Take the Lead in ABI Research's Automated Border Control System Competitive Ranking' (Jul 2023) · https://abiresearch.com/press//idemia-thales-and-vision-box-take-the-lead-in-abi-researchs-automated-border-control-system-competitive-ranking?hsLang=en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COM1 · Amadeus press release, 'Vision-Box biometrics acquisition complete' (Apr 2024) · https://amadeus.com/en/newsroom/press-releases/vision-box-biometrics-acquisition-complete</a:t>
            </a:r>
          </a:p>
          <a:p>
            <a:r>
              <a:t>COM13 · BigBear.ai newsroom, 'BigBear.ai completes Pangiam acquisition' · https://bigbear.ai/newsroom/bigbear-ai-completes-pangiam-acquisition/</a:t>
            </a:r>
          </a:p>
          <a:p>
            <a:r>
              <a:t>COM14 · SITA press release, 'SITA becomes leader in airport solutions following Materna IPS acquisition' (Jul 2024) · https://www.sita.aero/pressroom/news-releases/sita-becomes-leader-in-airport-solutions-following-materna-ips-acquisition/</a:t>
            </a:r>
          </a:p>
          <a:p>
            <a:r>
              <a:t>COM14B · IN Groupe, 'IN Groupe successfully completes the acquisition of IDEMIA Smart Identity' (1 Jul 2025) · https://ingroupe.com/news/in-groupe-successfully-completes-the-acquisition-of-idemia-smart-identity-to-become-the-global-leader-in-secure-identity-solutions/</a:t>
            </a:r>
          </a:p>
          <a:p>
            <a:r>
              <a:t>COM14C · Thales press release, 'Thales completes acquisition of Gemalto' (Apr 2019) · https://www.thalesgroup.com/en/news-centre/press-releases/thales-completes-acquisition-gemalto-become-global-leader-digital</a:t>
            </a:r>
          </a:p>
          <a:p>
            <a:r>
              <a:t>COM15 · FinTech Futures, 'US identity platform Persona hits $2bn valuation after $200m Series D' (Apr 2025) · https://www.fintechfutures.com/venture-capital-funding/us-identity-platform-persona-hits-2bn-valuation-after-200m-series-d</a:t>
            </a:r>
          </a:p>
          <a:p>
            <a:r>
              <a:t>COM15B · Renaissance Capital, 'Identity verification service Clear Secure prices IPO above the range at $31' (Jun 2021) · https://www.renaissancecapital.com/IPO-Center/News/83419/identity-verification-service-clear-secure-prices-ipo-above-the-range-at-31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ROI2 · Future Travel Experience, 'Biometric trial at Istanbul Airport reduces boarding times by 30%' (Apr 2021) · https://www.futuretravelexperience.com/2021/04/biometric-trial-at-istanbul-airport-reduces-boarding-times-by-30/</a:t>
            </a:r>
          </a:p>
          <a:p>
            <a:r>
              <a:t>ROI4 · Malay Mail, 'Passport-less clearance fully available at Changi Airport, average immigration clearance time of 10 seconds' (24 Oct 2024) · https://www.malaymail.com/news/singapore/2024/10/24/passport-less-clearance-fully-available-at-changi-airport-average-immigration-clearance-time-of-10-seconds/154699</a:t>
            </a:r>
          </a:p>
          <a:p>
            <a:r>
              <a:t>ROI5 · AviationPros (Riga Airport / State Border Guard of Latvia), 'New ABC Gates Make Border Crossing at Riga Airport Faster and More Convenient' · https://www.aviationpros.com/airports/airport-technology/press-release/21166019/riga-airport-new-abc-gates-make-border-crossing-at-riga-airport-faster-and-more-convenient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WHY9 · IATA 2025 Global Passenger Survey (same release as FAC13) · https://www.iata.org/en/pressroom/2025-releases/2025-11-05-02/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WHY1 · European Commission (DG HOME), 'Commission set launch date of the Entry/Exit System to 12 October 2025' (30 Jul 2025) · https://home-affairs.ec.europa.eu/news/commission-set-launch-date-entryexit-system-12-october-2025-2025-07-30_en</a:t>
            </a:r>
          </a:p>
          <a:p>
            <a:r>
              <a:t>WHY1B · European Commission, Entry/Exit System policy page (Smart Borders) · https://home-affairs.ec.europa.eu/policies/schengen-borders-and-visa/smart-borders/entry-exit-system_en</a:t>
            </a:r>
          </a:p>
          <a:p>
            <a:r>
              <a:t>WHY2 · The Local, 'Mayhem and chaos: Europe's airports demand urgent review of new border system' (18 Dec 2025) · https://www.thelocal.com/20251218/mayhem-and-chaos-europes-airports-demand-urgent-review-of-new-border-system</a:t>
            </a:r>
          </a:p>
          <a:p>
            <a:r>
              <a:t>WHY3 · European Commission, 'Commission proposes digital passports and ID cards for easier travel' (8 Oct 2024) · https://commission.europa.eu/news-and-media/news/commission-proposes-digital-passports-and-id-cards-easier-travel-2024-10-08-0_en</a:t>
            </a:r>
          </a:p>
          <a:p>
            <a:r>
              <a:t>WHY4 · European Commission, 'European Digital Identity (EUDI) Regulation' · https://digital-strategy.ec.europa.eu/en/policies/eudi-regulation</a:t>
            </a:r>
          </a:p>
          <a:p>
            <a:r>
              <a:t>WHY5 · ICAO TRIP Guide on the Digital Travel Credential, Part 1 (v1.0, Sep 2025) · https://www.icao.int/sites/default/files/TRIP/Publications/GM-ICAOTRIPGuide_DTC_p1.pdf</a:t>
            </a:r>
          </a:p>
          <a:p>
            <a:r>
              <a:t>WHY6 · ICAO FALP/14-WP/21, 'Revised definitions and proposed standards and recommended practices for ICAO Digital Travel Credentials' (Apr 2026) · https://www.icao.int/sites/default/files/Meetings/FALP14/Working%20Papers/WP%2021%20-%20Revised%20definitions%20and%20proposed%20standards%20and%20recommended%20practices%20for%20ICAO%20Digital%20Travel%20Credentials/FALP14-WP-21.E.pdf</a:t>
            </a:r>
          </a:p>
          <a:p>
            <a:r>
              <a:t>WHY7 · Keesing Platform, 'Finland's Digital Travel Credential pilot program results' · https://platform.keesingtechnologies.com/finlands-digital-travel-credential-pilot-program-results/</a:t>
            </a:r>
          </a:p>
          <a:p>
            <a:r>
              <a:t>WHY8 · IATA press release, 'Fully Digital Travel Experience Closer to Reality' (30 Oct 2024) · https://www.iata.org/en/pressroom/2024-releases/2024-10-30-03/</a:t>
            </a:r>
          </a:p>
          <a:p>
            <a:r>
              <a:t>WHY15 · Federal Register 2025-19655, 'Collection of Biometric Data From Aliens Upon Entry to and Departure From the United States' (27 Oct 2025) · https://www.federalregister.gov/documents/2025/10/27/2025-19655/collection-of-biometric-data-from-aliens-upon-entry-to-and-departure-from-the-united-states</a:t>
            </a:r>
          </a:p>
          <a:p>
            <a:r>
              <a:t>WHY16 · Skift, 'New Apple Feature Stores Passport Info in Digital Wallet' (12 Nov 2025) · https://skift.com/2025/11/12/apple-digital-passport-id-tsa-travel/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DEM2 · ACI World, 'Global airport passenger traffic reaches record 9.8 billion in 2025' (23 Sep 2026) · https://aci.aero/2026/09/23/global-airport-passenger-traffic-reaches-record-9-8-billion-in-2025-airports-council-international-world-reports/</a:t>
            </a:r>
          </a:p>
          <a:p>
            <a:r>
              <a:t>DEM3 · IATA press release, 'Air Passenger Demand Slips 0.8% in August' (30 Sep 2026); see also the 29 Apr 2026 release for March · https://www.iata.org/en/pressroom/2026-releases/09-30-air-passenger-demand-slips-august/</a:t>
            </a:r>
          </a:p>
          <a:p>
            <a:r>
              <a:t>DEM4 · IATA, 'Middle East Disruptions and High Fuel Prices Halve Airline Industry Profitability' (7 Jun 2026) · https://www.iata.org/en/pressroom/2026-releases/06-07-middle-east-disruptions-high-fuel-prices-halve-airline-industry-profitability/</a:t>
            </a:r>
          </a:p>
          <a:p>
            <a:r>
              <a:t>DEM9 · Dubai Media Office, 'Mohammed bin Rashid approves designs of new passenger terminal at Al Maktoum International Airport' (28 Apr 2024) · https://mediaoffice.ae/en/news/2024/april/28-04/al-maktoum-international-airport</a:t>
            </a:r>
          </a:p>
          <a:p>
            <a:r>
              <a:t>DEM9B · WAM, 'Al Maktoum International Airport development project achieves significant milestones' (15 Jun 2026) · https://www.wam.ae/en/article/c0qknce-maktoum-international-airport-development-project</a:t>
            </a:r>
          </a:p>
          <a:p>
            <a:r>
              <a:t>WHY2 · The Local, 'Mayhem and chaos: Europe's airports demand urgent review of new border system' (18 Dec 2025) · https://www.thelocal.com/20251218/mayhem-and-chaos-europes-airports-demand-urgent-review-of-new-border-system</a:t>
            </a:r>
          </a:p>
          <a:p>
            <a:r>
              <a:t>WHY7 · Keesing Platform, 'Finland's Digital Travel Credential pilot program results' · https://platform.keesingtechnologies.com/finlands-digital-travel-credential-pilot-program-results/</a:t>
            </a:r>
          </a:p>
          <a:p>
            <a:r>
              <a:t>FAC13 · IATA press release, '2025 Global Passenger Survey: mobile and digital ID are the future of travel' (5 Nov 2025) · https://www.iata.org/en/pressroom/2025-releases/2025-11-05-02/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FAC4 · SITA press release, 'SITA research finds aviation's record technology investment hinges on one thing: data coordination' (Air Transport IT Insights 2025, 16 Apr 2026) · https://www.sita.aero/about-us/pressroom/news-releases/sita-research-finds-aviations-record-technology-investment-hinges-on-one-thing-data-coordination/</a:t>
            </a:r>
          </a:p>
          <a:p>
            <a:r>
              <a:t>WHY14 · Hamad International Airport, 'Hamad International Airport rolls out biometric travel across more than 700 touchpoints' (Jul 2026) · https://dohahamadairport.com/press-releases/news/hamad-international-airport-rolls-out-biometric-travel-across-more-700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ROI8 · Information Centre of the Ministry of the Interior of Latvia, 'Installation of ABC gate at Riga International Airport' (No. VRS/IDF/2018/4) · https://www.ic.iem.gov.lv/en/projects/installation-abc-gate-riga-international-airport-no-vrsidf20184</a:t>
            </a:r>
          </a:p>
          <a:p>
            <a:r>
              <a:t>ROI9 · Aena press release, 'Aena adjudica por 90 millones de euros un acuerdo marco para el suministro de equipos automáticos de control de fronteras' (Dec 2017) · https://www.aena.es/es/prensa/aena-adjudica-por-90-millones-de-euros-un-acuerdo-marco-para-el---suministro-de-equipos-automaticos-de-control-de-fronteras-en-sus---aeropuertos.html</a:t>
            </a:r>
          </a:p>
          <a:p>
            <a:r>
              <a:t>ROI11 · Welsh Government, 'Welsh Government invests £1m to improve border efficiency at Cardiff Airport' (Mar 2019) · https://www.gov.wales/welsh-government-invests-ps1m-improve-border-efficiency-cardiff-airport</a:t>
            </a:r>
          </a:p>
          <a:p>
            <a:r>
              <a:t>ROI5 · AviationPros (Riga Airport / State Border Guard of Latvia), 'New ABC Gates Make Border Crossing at Riga Airport Faster and More Convenient' · https://www.aviationpros.com/airports/airport-technology/press-release/21166019/riga-airport-new-abc-gates-make-border-crossing-at-riga-airport-faster-and-more-convenient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FAC2 · IATA press release, 'Air Travel Demand Will More Than Double by 2050' (17 Mar 2026) · https://www.iata.org/en/pressroom/2026-releases/2026-03-17-01/</a:t>
            </a:r>
          </a:p>
          <a:p>
            <a:r>
              <a:t>ROI1 · Delta, 'Delta Expands Optional Facial Recognition Boarding to New Airports and More Customers' (Jun 2019) · https://pro.delta.com/content/corporate/us/en/news/news-archive/2019/june-2019/delta-expands-optional-facial-recognition-boarding-to-new-airpor.html</a:t>
            </a:r>
          </a:p>
          <a:p>
            <a:r>
              <a:t>ROI2 · Future Travel Experience, 'Biometric trial at Istanbul Airport reduces boarding times by 30%' (Apr 2021) · https://www.futuretravelexperience.com/2021/04/biometric-trial-at-istanbul-airport-reduces-boarding-times-by-30/</a:t>
            </a:r>
          </a:p>
          <a:p>
            <a:r>
              <a:t>ROI4 · Malay Mail, 'Passport-less clearance fully available at Changi Airport, average immigration clearance time of 10 seconds' (24 Oct 2024) · https://www.malaymail.com/news/singapore/2024/10/24/passport-less-clearance-fully-available-at-changi-airport-average-immigration-clearance-time-of-10-seconds/154699</a:t>
            </a:r>
          </a:p>
          <a:p>
            <a:r>
              <a:t>ROI12 · World Bank PPP Resource Center summary of ACI World Airport Economics Report (2021 edition, FY2019 data) · https://ppp.worldbank.org/node/6996</a:t>
            </a:r>
          </a:p>
          <a:p>
            <a:r>
              <a:t>ROI13 · ACI EUROPE, 'About ACI EUROPE' · https://www.aci-europe.org/about/</a:t>
            </a:r>
          </a:p>
          <a:p>
            <a:r>
              <a:t>ROI14 · Axon Enterprise, Form 10-K FY2025 (SEC) · https://www.sec.gov/Archives/edgar/data/1069183/000162828026011360/axon-20251231.htm</a:t>
            </a:r>
          </a:p>
          <a:p>
            <a:r>
              <a:t>ROI14B · Axon press release, 'Axon reports Q3 2025 revenue of $711 million, up 31% year over year' (4 Nov 2025), via Axon investor relations · https://investor.axon.com/</a:t>
            </a:r>
          </a:p>
          <a:p>
            <a:r>
              <a:t>ROI15 · Evolv Technologies Holdings, Form 10-K FY2025 (SEC) · https://www.sec.gov/Archives/edgar/data/1805385/000180538526000012/evlv-20251231.htm</a:t>
            </a:r>
          </a:p>
          <a:p>
            <a:r>
              <a:t>ROI16 · Motorola Solutions, Form 10-K FY2025 (SEC) · https://www.sec.gov/Archives/edgar/data/68505/000006850526000010/msi-20251231.htm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DEM6 · ACI Asia-Pacific &amp; Middle East, 'Airports in Asia-Pacific &amp; Middle East to see US$240 billion investment in infrastructure expansion' (16 Apr 2025) · https://www.aci-asiapac.aero/media-centre/news/airports-in-asia-pacific-and-middle-east-to-see-ususd240-billion-investment-in-infrastructure-expansion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ROI8 · Information Centre of the Ministry of the Interior of Latvia, 'Installation of ABC gate at Riga International Airport' (No. VRS/IDF/2018/4) · https://www.ic.iem.gov.lv/en/projects/installation-abc-gate-riga-international-airport-no-vrsidf20184</a:t>
            </a:r>
          </a:p>
          <a:p>
            <a:r>
              <a:t>ROI9 · Aena press release, 'Aena adjudica por 90 millones de euros un acuerdo marco para el suministro de equipos automáticos de control de fronteras' (Dec 2017) · https://www.aena.es/es/prensa/aena-adjudica-por-90-millones-de-euros-un-acuerdo-marco-para-el---suministro-de-equipos-automaticos-de-control-de-fronteras-en-sus---aeropuertos.html</a:t>
            </a:r>
          </a:p>
          <a:p>
            <a:r>
              <a:t>ROI11 · Welsh Government, 'Welsh Government invests £1m to improve border efficiency at Cardiff Airport' (Mar 2019) · https://www.gov.wales/welsh-government-invests-ps1m-improve-border-efficiency-cardiff-airport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DEM2 · ACI World, 'Global airport passenger traffic reaches record 9.8 billion in 2025' (23 Sep 2026) · https://aci.aero/2026/09/23/global-airport-passenger-traffic-reaches-record-9-8-billion-in-2025-airports-council-international-world-reports/</a:t>
            </a:r>
          </a:p>
          <a:p>
            <a:r>
              <a:t>DEM9 · Dubai Media Office, 'Mohammed bin Rashid approves designs of new passenger terminal at Al Maktoum International Airport' (28 Apr 2024) · https://mediaoffice.ae/en/news/2024/april/28-04/al-maktoum-international-airport</a:t>
            </a:r>
          </a:p>
          <a:p>
            <a:r>
              <a:t>DEM9B · WAM, 'Al Maktoum International Airport development project achieves significant milestones' (15 Jun 2026) · https://www.wam.ae/en/article/c0qknce-maktoum-international-airport-development-project</a:t>
            </a:r>
          </a:p>
          <a:p>
            <a:r>
              <a:t>WHY14 · Hamad International Airport, 'Hamad International Airport rolls out biometric travel across more than 700 touchpoints' (Jul 2026) · https://dohahamadairport.com/press-releases/news/hamad-international-airport-rolls-out-biometric-travel-across-more-700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37" y="373412"/>
            <a:ext cx="3077240" cy="924165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619759" y="2666273"/>
            <a:ext cx="9482183" cy="13542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This is over slide option 1, </a:t>
            </a:r>
            <a:br>
              <a:rPr lang="en-US"/>
            </a:br>
            <a:r>
              <a:rPr lang="en-US"/>
              <a:t>title font is Arial Black in 30pt 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760" y="4067747"/>
            <a:ext cx="9699897" cy="46166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subtitle, date or presenter’s name, use font Arial in 18pt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619760" y="6248400"/>
            <a:ext cx="7339875" cy="276935"/>
          </a:xfrm>
        </p:spPr>
        <p:txBody>
          <a:bodyPr wrap="square">
            <a:spAutoFit/>
          </a:bodyPr>
          <a:lstStyle>
            <a:lvl1pPr marL="0" indent="0">
              <a:buNone/>
              <a:defRPr sz="13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Remember to classify your document – use font Arial in 10pt </a:t>
            </a:r>
          </a:p>
        </p:txBody>
      </p:sp>
    </p:spTree>
    <p:extLst>
      <p:ext uri="{BB962C8B-B14F-4D97-AF65-F5344CB8AC3E}">
        <p14:creationId xmlns:p14="http://schemas.microsoft.com/office/powerpoint/2010/main" val="3227731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7160" cy="1673352"/>
          </a:xfrm>
          <a:prstGeom prst="rect">
            <a:avLst/>
          </a:prstGeom>
        </p:spPr>
      </p:pic>
      <p:pic>
        <p:nvPicPr>
          <p:cNvPr id="3" name="Image 1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384048"/>
            <a:ext cx="1920240" cy="576072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400"/>
          </a:p>
        </p:txBody>
      </p:sp>
      <p:sp>
        <p:nvSpPr>
          <p:cNvPr id="5" name="Text 0"/>
          <p:cNvSpPr>
            <a:spLocks noGrp="1"/>
          </p:cNvSpPr>
          <p:nvPr>
            <p:ph type="title" idx="103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33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2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14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2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1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14.png"/><Relationship Id="rId4" Type="http://schemas.openxmlformats.org/officeDocument/2006/relationships/image" Target="../media/image75.png"/><Relationship Id="rId5" Type="http://schemas.openxmlformats.org/officeDocument/2006/relationships/image" Target="../media/image31.png"/><Relationship Id="rId6" Type="http://schemas.openxmlformats.org/officeDocument/2006/relationships/image" Target="../media/image77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2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14.png"/><Relationship Id="rId4" Type="http://schemas.openxmlformats.org/officeDocument/2006/relationships/image" Target="../media/image75.png"/><Relationship Id="rId5" Type="http://schemas.openxmlformats.org/officeDocument/2006/relationships/image" Target="../media/image78.png"/><Relationship Id="rId6" Type="http://schemas.openxmlformats.org/officeDocument/2006/relationships/image" Target="../media/image32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2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14.png"/><Relationship Id="rId4" Type="http://schemas.openxmlformats.org/officeDocument/2006/relationships/image" Target="../media/image75.png"/><Relationship Id="rId5" Type="http://schemas.openxmlformats.org/officeDocument/2006/relationships/image" Target="../media/image79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3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8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7.png"/><Relationship Id="rId10" Type="http://schemas.openxmlformats.org/officeDocument/2006/relationships/notesSlide" Target="../notesSlides/notesSlide3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83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64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3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7.png"/><Relationship Id="rId11" Type="http://schemas.openxmlformats.org/officeDocument/2006/relationships/notesSlide" Target="../notesSlides/notesSlide3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5.png"/><Relationship Id="rId3" Type="http://schemas.openxmlformats.org/officeDocument/2006/relationships/notesSlide" Target="../notesSlides/notesSlide37.xml"/><Relationship Id="rId4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8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1.xml"/><Relationship Id="rId8" Type="http://schemas.openxmlformats.org/officeDocument/2006/relationships/slide" Target="slide23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3.xml"/><Relationship Id="rId16" Type="http://schemas.openxmlformats.org/officeDocument/2006/relationships/slide" Target="slide35.xml"/><Relationship Id="rId17" Type="http://schemas.openxmlformats.org/officeDocument/2006/relationships/slide" Target="slide36.xml"/><Relationship Id="rId18" Type="http://schemas.openxmlformats.org/officeDocument/2006/relationships/slide" Target="slide37.xml"/><Relationship Id="rId19" Type="http://schemas.openxmlformats.org/officeDocument/2006/relationships/slide" Target="slide39.xml"/><Relationship Id="rId20" Type="http://schemas.openxmlformats.org/officeDocument/2006/relationships/slide" Target="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Relationship Id="rId5" Type="http://schemas.openxmlformats.org/officeDocument/2006/relationships/slide" Target="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8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81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40.xml"/><Relationship Id="rId10" Type="http://schemas.openxmlformats.org/officeDocument/2006/relationships/slide" Target="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9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1.xml"/><Relationship Id="rId6" Type="http://schemas.openxmlformats.org/officeDocument/2006/relationships/slide" Target="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2.xml"/><Relationship Id="rId5" Type="http://schemas.openxmlformats.org/officeDocument/2006/relationships/slide" Target="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3.xml"/><Relationship Id="rId5" Type="http://schemas.openxmlformats.org/officeDocument/2006/relationships/slide" Target="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4.xml"/><Relationship Id="rId5" Type="http://schemas.openxmlformats.org/officeDocument/2006/relationships/slide" Target="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5.xml"/><Relationship Id="rId5" Type="http://schemas.openxmlformats.org/officeDocument/2006/relationships/slide" Target="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6.xml"/><Relationship Id="rId5" Type="http://schemas.openxmlformats.org/officeDocument/2006/relationships/slide" Target="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81.png"/><Relationship Id="rId10" Type="http://schemas.openxmlformats.org/officeDocument/2006/relationships/image" Target="../media/image7.png"/><Relationship Id="rId11" Type="http://schemas.openxmlformats.org/officeDocument/2006/relationships/notesSlide" Target="../notesSlides/notesSlide47.xml"/><Relationship Id="rId12" Type="http://schemas.openxmlformats.org/officeDocument/2006/relationships/slide" Target="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8.xml"/><Relationship Id="rId5" Type="http://schemas.openxmlformats.org/officeDocument/2006/relationships/slide" Target="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9.xml"/><Relationship Id="rId5" Type="http://schemas.openxmlformats.org/officeDocument/2006/relationships/slide" Target="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0.xml"/><Relationship Id="rId5" Type="http://schemas.openxmlformats.org/officeDocument/2006/relationships/slide" Target="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1.xml"/><Relationship Id="rId5" Type="http://schemas.openxmlformats.org/officeDocument/2006/relationships/slide" Target="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2.xml"/><Relationship Id="rId5" Type="http://schemas.openxmlformats.org/officeDocument/2006/relationships/slide" Target="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3.xml"/><Relationship Id="rId5" Type="http://schemas.openxmlformats.org/officeDocument/2006/relationships/slide" Target="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4.xml"/><Relationship Id="rId5" Type="http://schemas.openxmlformats.org/officeDocument/2006/relationships/slide" Target="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5.xml"/><Relationship Id="rId5" Type="http://schemas.openxmlformats.org/officeDocument/2006/relationships/slide" Target="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6.xml"/><Relationship Id="rId5" Type="http://schemas.openxmlformats.org/officeDocument/2006/relationships/slide" Target="slide1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7.xml"/><Relationship Id="rId5" Type="http://schemas.openxmlformats.org/officeDocument/2006/relationships/slide" Target="slide1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8.xml"/><Relationship Id="rId5" Type="http://schemas.openxmlformats.org/officeDocument/2006/relationships/slide" Target="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9.xml"/><Relationship Id="rId5" Type="http://schemas.openxmlformats.org/officeDocument/2006/relationships/slide" Target="slide1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0.xml"/><Relationship Id="rId5" Type="http://schemas.openxmlformats.org/officeDocument/2006/relationships/slide" Target="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!!eyebrow"/>
          <p:cNvSpPr txBox="1"/>
          <p:nvPr/>
        </p:nvSpPr>
        <p:spPr>
          <a:xfrm>
            <a:off x="548640" y="1463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+mj-lt"/>
              </a:rPr>
              <a:t>INVESTOR PITCH · [DATE]</a:t>
            </a:r>
            <a:endParaRPr lang="en-US" sz="14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+mj-lt"/>
              </a:rPr>
              <a:t>AGIL® Secure FastPass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Departure capacity without building a terminal.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74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[Name], Chief Product Officer  ·  [Name], Chief Marketing Officer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5532120"/>
            <a:ext cx="6464697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532120"/>
            <a:ext cx="64646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Raising [US$X M]  ·  lane live [Qx 2027]  ·  paid order [Qx 2028]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Problem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Up to four ID checks per departure, most staffed.</a:t>
            </a:r>
            <a:endParaRPr lang="en-US" sz="34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Airports are running out of space; border agencies, out of people.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1901952"/>
            <a:ext cx="26746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566928" y="1993392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566928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950976" y="1901952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26"/>
                </a:solidFill>
              </a:rPr>
              <a:t>Check-in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2692908" y="1975104"/>
            <a:ext cx="329184" cy="329184"/>
          </a:xfrm>
          <a:prstGeom prst="ellipse">
            <a:avLst/>
          </a:prstGeom>
          <a:solidFill>
            <a:srgbClr val="FDE6E8"/>
          </a:solidFill>
          <a:ln/>
        </p:spPr>
      </p:sp>
      <p:pic>
        <p:nvPicPr>
          <p:cNvPr id="13" name="Image 0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2048256"/>
            <a:ext cx="182880" cy="1828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314700" y="1901952"/>
            <a:ext cx="26746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3424428" y="1993392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3424428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3808476" y="1901952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26"/>
                </a:solidFill>
              </a:rPr>
              <a:t>Immigration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550408" y="1975104"/>
            <a:ext cx="329184" cy="329184"/>
          </a:xfrm>
          <a:prstGeom prst="ellipse">
            <a:avLst/>
          </a:prstGeom>
          <a:solidFill>
            <a:srgbClr val="FDE6E8"/>
          </a:solidFill>
          <a:ln/>
        </p:spPr>
      </p:sp>
      <p:pic>
        <p:nvPicPr>
          <p:cNvPr id="19" name="Image 1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048256"/>
            <a:ext cx="182880" cy="18288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172200" y="1901952"/>
            <a:ext cx="26746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281928" y="1993392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6281928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665976" y="1901952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26"/>
                </a:solidFill>
              </a:rPr>
              <a:t>Security screening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407908" y="1975104"/>
            <a:ext cx="329184" cy="329184"/>
          </a:xfrm>
          <a:prstGeom prst="ellipse">
            <a:avLst/>
          </a:prstGeom>
          <a:solidFill>
            <a:srgbClr val="FDE6E8"/>
          </a:solidFill>
          <a:ln/>
        </p:spPr>
      </p:sp>
      <p:pic>
        <p:nvPicPr>
          <p:cNvPr id="25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048256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029700" y="1901952"/>
            <a:ext cx="26746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139428" y="1993392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9139428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9523476" y="1901952"/>
            <a:ext cx="1714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526"/>
                </a:solidFill>
              </a:rPr>
              <a:t>Boarding gate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11265408" y="1975104"/>
            <a:ext cx="329184" cy="329184"/>
          </a:xfrm>
          <a:prstGeom prst="ellipse">
            <a:avLst/>
          </a:prstGeom>
          <a:solidFill>
            <a:srgbClr val="FDE6E8"/>
          </a:solidFill>
          <a:ln/>
        </p:spPr>
      </p:sp>
      <p:pic>
        <p:nvPicPr>
          <p:cNvPr id="31" name="Image 3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048256"/>
            <a:ext cx="182880" cy="182880"/>
          </a:xfrm>
          <a:prstGeom prst="rect">
            <a:avLst/>
          </a:prstGeom>
        </p:spPr>
      </p:pic>
      <p:pic>
        <p:nvPicPr>
          <p:cNvPr id="32" name="Today: departure journey without FastPass" descr="Isometric airport today: queues and staff at check-in, immigration, security screening and boarding g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597" y="2432304"/>
            <a:ext cx="6808500" cy="210312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3455832" y="3788272"/>
            <a:ext cx="310896" cy="310896"/>
          </a:xfrm>
          <a:prstGeom prst="ellipse">
            <a:avLst/>
          </a:prstGeom>
          <a:solidFill>
            <a:srgbClr val="E3061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3455832" y="3788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4475324" y="3331995"/>
            <a:ext cx="310896" cy="310896"/>
          </a:xfrm>
          <a:prstGeom prst="ellipse">
            <a:avLst/>
          </a:prstGeom>
          <a:solidFill>
            <a:srgbClr val="E3061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4475324" y="33319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7" name="Shape 27"/>
          <p:cNvSpPr/>
          <p:nvPr/>
        </p:nvSpPr>
        <p:spPr>
          <a:xfrm>
            <a:off x="6350335" y="3203668"/>
            <a:ext cx="310896" cy="310896"/>
          </a:xfrm>
          <a:prstGeom prst="ellipse">
            <a:avLst/>
          </a:prstGeom>
          <a:solidFill>
            <a:srgbClr val="E3061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6350335" y="32036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7811846" y="3624297"/>
            <a:ext cx="310896" cy="310896"/>
          </a:xfrm>
          <a:prstGeom prst="ellipse">
            <a:avLst/>
          </a:prstGeom>
          <a:solidFill>
            <a:srgbClr val="E3061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7811846" y="36242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2691597" y="2450592"/>
            <a:ext cx="101981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2691597" y="2450592"/>
            <a:ext cx="1019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Illustrative</a:t>
            </a:r>
            <a:endParaRPr lang="en-US" sz="1400" dirty="0"/>
          </a:p>
        </p:txBody>
      </p:sp>
      <p:sp>
        <p:nvSpPr>
          <p:cNvPr id="43" name="Shape 33"/>
          <p:cNvSpPr/>
          <p:nvPr/>
        </p:nvSpPr>
        <p:spPr>
          <a:xfrm>
            <a:off x="9582912" y="2651760"/>
            <a:ext cx="2121408" cy="864108"/>
          </a:xfrm>
          <a:prstGeom prst="roundRect">
            <a:avLst>
              <a:gd name="adj" fmla="val 846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4" name="Text 34"/>
          <p:cNvSpPr txBox="1"/>
          <p:nvPr/>
        </p:nvSpPr>
        <p:spPr>
          <a:xfrm>
            <a:off x="9720072" y="2761488"/>
            <a:ext cx="184708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≥4 staff per checkpoint workflow (internal estimate)</a:t>
            </a:r>
            <a:endParaRPr lang="en-US" sz="1400" dirty="0"/>
          </a:p>
        </p:txBody>
      </p:sp>
      <p:sp>
        <p:nvSpPr>
          <p:cNvPr id="45" name="Shape 35"/>
          <p:cNvSpPr/>
          <p:nvPr/>
        </p:nvSpPr>
        <p:spPr>
          <a:xfrm flipV="1">
            <a:off x="6917263" y="3083814"/>
            <a:ext cx="2665649" cy="229582"/>
          </a:xfrm>
          <a:prstGeom prst="line">
            <a:avLst/>
          </a:prstGeom>
          <a:noFill/>
          <a:ln w="15875">
            <a:solidFill>
              <a:srgbClr val="0B2545"/>
            </a:solidFill>
            <a:prstDash val="solid"/>
            <a:tailEnd type="oval"/>
          </a:ln>
        </p:spPr>
      </p:sp>
      <p:sp>
        <p:nvSpPr>
          <p:cNvPr id="46" name="Text 36"/>
          <p:cNvSpPr txBox="1"/>
          <p:nvPr/>
        </p:nvSpPr>
        <p:spPr>
          <a:xfrm>
            <a:off x="457200" y="45537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2545"/>
                </a:solidFill>
              </a:rPr>
              <a:t>AIRPORT</a:t>
            </a:r>
            <a:endParaRPr lang="en-US" sz="1400" dirty="0"/>
          </a:p>
        </p:txBody>
      </p:sp>
      <p:sp>
        <p:nvSpPr>
          <p:cNvPr id="47" name="Shape 37"/>
          <p:cNvSpPr/>
          <p:nvPr/>
        </p:nvSpPr>
        <p:spPr>
          <a:xfrm>
            <a:off x="1600200" y="4663440"/>
            <a:ext cx="6263640" cy="914"/>
          </a:xfrm>
          <a:prstGeom prst="line">
            <a:avLst/>
          </a:prstGeom>
          <a:noFill/>
          <a:ln w="9525">
            <a:solidFill>
              <a:srgbClr val="0B2545">
                <a:alpha val="40000"/>
              </a:srgbClr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8138160" y="45537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2545"/>
                </a:solidFill>
              </a:rPr>
              <a:t>BORDER AGENCY</a:t>
            </a:r>
            <a:endParaRPr lang="en-US" sz="1400" dirty="0"/>
          </a:p>
        </p:txBody>
      </p:sp>
      <p:sp>
        <p:nvSpPr>
          <p:cNvPr id="49" name="Shape 39"/>
          <p:cNvSpPr/>
          <p:nvPr/>
        </p:nvSpPr>
        <p:spPr>
          <a:xfrm>
            <a:off x="10241280" y="4663440"/>
            <a:ext cx="1463040" cy="914"/>
          </a:xfrm>
          <a:prstGeom prst="line">
            <a:avLst/>
          </a:prstGeom>
          <a:noFill/>
          <a:ln w="9525">
            <a:solidFill>
              <a:srgbClr val="0B2545">
                <a:alpha val="40000"/>
              </a:srgbClr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457200" y="4791456"/>
            <a:ext cx="356616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640080" y="4974336"/>
            <a:ext cx="457200" cy="457200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52" name="Image 5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5074920"/>
            <a:ext cx="256032" cy="256032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234440" y="482803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2545"/>
                </a:solidFill>
              </a:rPr>
              <a:t>~1.5×</a:t>
            </a:r>
            <a:endParaRPr lang="en-US" sz="5400" dirty="0"/>
          </a:p>
        </p:txBody>
      </p:sp>
      <p:sp>
        <p:nvSpPr>
          <p:cNvPr id="54" name="Text 43"/>
          <p:cNvSpPr txBox="1"/>
          <p:nvPr/>
        </p:nvSpPr>
        <p:spPr>
          <a:xfrm>
            <a:off x="640080" y="559612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870"/>
                </a:solidFill>
              </a:rPr>
              <a:t>Manila: 52M passengers through terminals built for ~35M</a:t>
            </a:r>
            <a:endParaRPr lang="en-US" sz="1600" dirty="0"/>
          </a:p>
        </p:txBody>
      </p:sp>
      <p:sp>
        <p:nvSpPr>
          <p:cNvPr id="55" name="Shape 44"/>
          <p:cNvSpPr/>
          <p:nvPr/>
        </p:nvSpPr>
        <p:spPr>
          <a:xfrm>
            <a:off x="4297680" y="4791456"/>
            <a:ext cx="356616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4480560" y="4974336"/>
            <a:ext cx="457200" cy="457200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57" name="Image 6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5074920"/>
            <a:ext cx="256032" cy="256032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5074920" y="482803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2545"/>
                </a:solidFill>
              </a:rPr>
              <a:t>8–10</a:t>
            </a:r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 yrs</a:t>
            </a:r>
            <a:endParaRPr lang="en-US" sz="5400" dirty="0"/>
          </a:p>
        </p:txBody>
      </p:sp>
      <p:sp>
        <p:nvSpPr>
          <p:cNvPr id="59" name="Text 47"/>
          <p:cNvSpPr txBox="1"/>
          <p:nvPr/>
        </p:nvSpPr>
        <p:spPr>
          <a:xfrm>
            <a:off x="4480560" y="559612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870"/>
                </a:solidFill>
              </a:rPr>
              <a:t>to add a terminal: Changi T5 and Dubai DWC</a:t>
            </a:r>
            <a:endParaRPr lang="en-US" sz="1600" dirty="0"/>
          </a:p>
        </p:txBody>
      </p:sp>
      <p:sp>
        <p:nvSpPr>
          <p:cNvPr id="60" name="Shape 48"/>
          <p:cNvSpPr/>
          <p:nvPr/>
        </p:nvSpPr>
        <p:spPr>
          <a:xfrm>
            <a:off x="8138160" y="4791456"/>
            <a:ext cx="356616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61" name="Text 49"/>
          <p:cNvSpPr txBox="1"/>
          <p:nvPr/>
        </p:nvSpPr>
        <p:spPr>
          <a:xfrm>
            <a:off x="8321040" y="4882896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2545"/>
                </a:solidFill>
              </a:rPr>
              <a:t>“ICA's manpower cannot keep growing indefinitely.”</a:t>
            </a:r>
            <a:endParaRPr lang="en-US" sz="2000" dirty="0"/>
          </a:p>
        </p:txBody>
      </p:sp>
      <p:sp>
        <p:nvSpPr>
          <p:cNvPr id="62" name="Shape 50"/>
          <p:cNvSpPr/>
          <p:nvPr/>
        </p:nvSpPr>
        <p:spPr>
          <a:xfrm>
            <a:off x="8321040" y="5660136"/>
            <a:ext cx="384048" cy="384048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63" name="Image 7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531" y="5744627"/>
            <a:ext cx="215067" cy="215067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8796528" y="56327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Singapore Home Affairs Minister, 2025</a:t>
            </a:r>
            <a:endParaRPr lang="en-US" sz="1400" dirty="0"/>
          </a:p>
        </p:txBody>
      </p:sp>
      <p:sp>
        <p:nvSpPr>
          <p:cNvPr id="65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GMA News (Jan 2026) · Singapore MOT (Jan 2025) · Dubai Media Office (Apr 2024) &amp; WAM (Jun 2026) · MHA, ICA Workplan Seminar 2025 · Staff count: internal estimate</a:t>
            </a:r>
            <a:endParaRPr lang="en-US" sz="900" dirty="0"/>
          </a:p>
        </p:txBody>
      </p:sp>
      <p:sp>
        <p:nvSpPr>
          <p:cNvPr id="66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2  |</a:t>
            </a:r>
            <a:endParaRPr lang="en-US" sz="1200" dirty="0"/>
          </a:p>
        </p:txBody>
      </p:sp>
      <p:grpSp>
        <p:nvGrpSpPr>
          <p:cNvPr id="67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68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69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Why now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Borders went biometric; passports are going mobile.</a:t>
            </a:r>
            <a:endParaRPr lang="en-US" sz="34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Buyers, travellers and standards moved in 2024–26.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192024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685800" y="2121408"/>
            <a:ext cx="548640" cy="548640"/>
          </a:xfrm>
          <a:prstGeom prst="ellipse">
            <a:avLst/>
          </a:prstGeom>
          <a:solidFill>
            <a:srgbClr val="0B84AE"/>
          </a:solidFill>
          <a:ln/>
        </p:spPr>
      </p:sp>
      <p:pic>
        <p:nvPicPr>
          <p:cNvPr id="10" name="Image 0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2242109"/>
            <a:ext cx="307238" cy="30723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17320" y="2157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54%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2331720" y="2194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today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685800" y="270662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B84AE"/>
                </a:solidFill>
              </a:rPr>
              <a:t>→ 83%</a:t>
            </a:r>
            <a:endParaRPr lang="en-US" sz="5600" dirty="0"/>
          </a:p>
        </p:txBody>
      </p:sp>
      <p:sp>
        <p:nvSpPr>
          <p:cNvPr id="14" name="Text 8"/>
          <p:cNvSpPr txBox="1"/>
          <p:nvPr/>
        </p:nvSpPr>
        <p:spPr>
          <a:xfrm>
            <a:off x="685800" y="36210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surveyed airports with biometric borders (2028, expected)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4297680" y="192024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526280" y="2121408"/>
            <a:ext cx="548640" cy="548640"/>
          </a:xfrm>
          <a:prstGeom prst="ellipse">
            <a:avLst/>
          </a:prstGeom>
          <a:solidFill>
            <a:srgbClr val="0B84AE"/>
          </a:solidFill>
          <a:ln/>
        </p:spPr>
      </p:sp>
      <p:pic>
        <p:nvPicPr>
          <p:cNvPr id="17" name="Image 1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981" y="2242109"/>
            <a:ext cx="307238" cy="30723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26280" y="270662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B2545"/>
                </a:solidFill>
              </a:rPr>
              <a:t>79%</a:t>
            </a:r>
            <a:endParaRPr lang="en-US" sz="6000" dirty="0"/>
          </a:p>
        </p:txBody>
      </p:sp>
      <p:sp>
        <p:nvSpPr>
          <p:cNvPr id="19" name="Text 12"/>
          <p:cNvSpPr txBox="1"/>
          <p:nvPr/>
        </p:nvSpPr>
        <p:spPr>
          <a:xfrm>
            <a:off x="4526280" y="36210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of passengers surveyed ready for a phone passport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8138160" y="192024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366760" y="2121408"/>
            <a:ext cx="548640" cy="548640"/>
          </a:xfrm>
          <a:prstGeom prst="ellipse">
            <a:avLst/>
          </a:prstGeom>
          <a:solidFill>
            <a:srgbClr val="0B84AE"/>
          </a:solidFill>
          <a:ln/>
        </p:spPr>
      </p:sp>
      <p:pic>
        <p:nvPicPr>
          <p:cNvPr id="22" name="Image 2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2242109"/>
            <a:ext cx="307238" cy="30723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366760" y="270662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B2545"/>
                </a:solidFill>
              </a:rPr>
              <a:t>~127M</a:t>
            </a:r>
            <a:endParaRPr lang="en-US" sz="6000" dirty="0"/>
          </a:p>
        </p:txBody>
      </p:sp>
      <p:sp>
        <p:nvSpPr>
          <p:cNvPr id="24" name="Text 16"/>
          <p:cNvSpPr txBox="1"/>
          <p:nvPr/>
        </p:nvSpPr>
        <p:spPr>
          <a:xfrm>
            <a:off x="8366760" y="36210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passport-less clearances in Singapore, 2025</a:t>
            </a:r>
            <a:endParaRPr lang="en-US" sz="1800" dirty="0"/>
          </a:p>
        </p:txBody>
      </p:sp>
      <p:sp>
        <p:nvSpPr>
          <p:cNvPr id="25" name="Shape 17"/>
          <p:cNvSpPr/>
          <p:nvPr/>
        </p:nvSpPr>
        <p:spPr>
          <a:xfrm>
            <a:off x="457200" y="5394960"/>
            <a:ext cx="11247120" cy="914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1755648" y="5321808"/>
            <a:ext cx="146304" cy="146304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365760" y="4681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Sep 2024</a:t>
            </a:r>
            <a:pPr algn="ctr"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 · Changi passport-less,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all terminals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4407408" y="5321808"/>
            <a:ext cx="146304" cy="146304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3017520" y="5559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Nov 2025</a:t>
            </a:r>
            <a:pPr algn="ctr"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 · Indonesia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walk-through corridors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7059168" y="5321808"/>
            <a:ext cx="146304" cy="146304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5669280" y="4681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Apr 2026</a:t>
            </a:r>
            <a:pPr algn="ctr"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 · ICAO drafts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phone-credential standards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9665208" y="5276088"/>
            <a:ext cx="237744" cy="237744"/>
          </a:xfrm>
          <a:prstGeom prst="ellipse">
            <a:avLst/>
          </a:prstGeom>
          <a:solidFill>
            <a:srgbClr val="0B84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321040" y="5559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84AE"/>
                </a:solidFill>
              </a:rPr>
              <a:t>2027</a:t>
            </a:r>
            <a:pPr algn="ctr" indent="0" marL="0">
              <a:buNone/>
            </a:pPr>
            <a:r>
              <a:rPr lang="en-US" sz="1400" dirty="0">
                <a:solidFill>
                  <a:srgbClr val="0B84AE"/>
                </a:solidFill>
              </a:rPr>
              <a:t> · FastPass pilot (target)</a:t>
            </a:r>
            <a:endParaRPr lang="en-US" sz="1400" dirty="0"/>
          </a:p>
        </p:txBody>
      </p:sp>
      <p:sp>
        <p:nvSpPr>
          <p:cNvPr id="34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SITA Air Transport IT Insights 2025 (Apr 2026) · SITA Passenger IT Insights 2025 (Oct 2025) · ICA (Oct 2024; 2025 statistics) · Amadeus (Nov 2025) · ICAO FALP/14-WP/21 (proposed, not adopted)</a:t>
            </a:r>
            <a:endParaRPr lang="en-US" sz="900" dirty="0"/>
          </a:p>
        </p:txBody>
      </p:sp>
      <p:sp>
        <p:nvSpPr>
          <p:cNvPr id="35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3  |</a:t>
            </a:r>
            <a:endParaRPr lang="en-US" sz="1200" dirty="0"/>
          </a:p>
        </p:txBody>
      </p:sp>
      <p:grpSp>
        <p:nvGrpSpPr>
          <p:cNvPr id="36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37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Our insight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Phone in the pocket + face in stride = cleared.</a:t>
            </a:r>
            <a:endParaRPr lang="en-US" sz="34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Corridors match a stored face. We add the phone you carry.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3032608" y="1993392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9" name="Image 0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862" y="2428646"/>
            <a:ext cx="683971" cy="683971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2666848" y="36210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526"/>
                </a:solidFill>
              </a:rPr>
              <a:t>Device credential</a:t>
            </a:r>
            <a:endParaRPr lang="en-US" sz="2000" dirty="0"/>
          </a:p>
        </p:txBody>
      </p:sp>
      <p:sp>
        <p:nvSpPr>
          <p:cNvPr id="11" name="Text 5"/>
          <p:cNvSpPr txBox="1"/>
          <p:nvPr/>
        </p:nvSpPr>
        <p:spPr>
          <a:xfrm>
            <a:off x="4587088" y="24048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2545"/>
                </a:solidFill>
              </a:rPr>
              <a:t>+</a:t>
            </a:r>
            <a:endParaRPr lang="en-US" sz="4000" dirty="0"/>
          </a:p>
        </p:txBody>
      </p:sp>
      <p:sp>
        <p:nvSpPr>
          <p:cNvPr id="12" name="Shape 6"/>
          <p:cNvSpPr/>
          <p:nvPr/>
        </p:nvSpPr>
        <p:spPr>
          <a:xfrm>
            <a:off x="5318608" y="1993392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13" name="Image 1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862" y="2428646"/>
            <a:ext cx="683971" cy="683971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952848" y="36210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526"/>
                </a:solidFill>
              </a:rPr>
              <a:t>Live face</a:t>
            </a:r>
            <a:endParaRPr lang="en-US" sz="2000" dirty="0"/>
          </a:p>
        </p:txBody>
      </p:sp>
      <p:sp>
        <p:nvSpPr>
          <p:cNvPr id="15" name="Text 8"/>
          <p:cNvSpPr txBox="1"/>
          <p:nvPr/>
        </p:nvSpPr>
        <p:spPr>
          <a:xfrm>
            <a:off x="6873088" y="24048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2545"/>
                </a:solidFill>
              </a:rPr>
              <a:t>=</a:t>
            </a:r>
            <a:endParaRPr lang="en-US" sz="4000" dirty="0"/>
          </a:p>
        </p:txBody>
      </p:sp>
      <p:sp>
        <p:nvSpPr>
          <p:cNvPr id="16" name="Shape 9"/>
          <p:cNvSpPr/>
          <p:nvPr/>
        </p:nvSpPr>
        <p:spPr>
          <a:xfrm>
            <a:off x="7604608" y="1993392"/>
            <a:ext cx="1554480" cy="1554480"/>
          </a:xfrm>
          <a:prstGeom prst="ellipse">
            <a:avLst/>
          </a:prstGeom>
          <a:solidFill>
            <a:srgbClr val="1E9E50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17" name="Image 2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862" y="2428646"/>
            <a:ext cx="683971" cy="683971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238848" y="36210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E50"/>
                </a:solidFill>
              </a:rPr>
              <a:t>Cleared</a:t>
            </a:r>
            <a:endParaRPr lang="en-US" sz="2000" dirty="0"/>
          </a:p>
        </p:txBody>
      </p:sp>
      <p:sp>
        <p:nvSpPr>
          <p:cNvPr id="19" name="Text 11"/>
          <p:cNvSpPr txBox="1"/>
          <p:nvPr/>
        </p:nvSpPr>
        <p:spPr>
          <a:xfrm>
            <a:off x="1962151" y="4005072"/>
            <a:ext cx="428285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B2545"/>
                </a:solidFill>
              </a:rPr>
              <a:t>Up to </a:t>
            </a:r>
            <a:pPr indent="0" marL="0">
              <a:buNone/>
            </a:pPr>
            <a:r>
              <a:rPr lang="en-US" sz="6000" b="1" dirty="0">
                <a:solidFill>
                  <a:srgbClr val="D97706"/>
                </a:solidFill>
              </a:rPr>
              <a:t>4</a:t>
            </a:r>
            <a:pPr indent="0" marL="0">
              <a:buNone/>
            </a:pPr>
            <a:r>
              <a:rPr lang="en-US" sz="6000" b="1" dirty="0">
                <a:solidFill>
                  <a:srgbClr val="0B2545"/>
                </a:solidFill>
              </a:rPr>
              <a:t> → </a:t>
            </a:r>
            <a:pPr indent="0" marL="0">
              <a:buNone/>
            </a:pPr>
            <a:r>
              <a:rPr lang="en-US" sz="6000" b="1" dirty="0">
                <a:solidFill>
                  <a:srgbClr val="0B84AE"/>
                </a:solidFill>
              </a:rPr>
              <a:t>0</a:t>
            </a:r>
            <a:endParaRPr lang="en-US" sz="6000" dirty="0"/>
          </a:p>
        </p:txBody>
      </p:sp>
      <p:sp>
        <p:nvSpPr>
          <p:cNvPr id="20" name="Text 12"/>
          <p:cNvSpPr txBox="1"/>
          <p:nvPr/>
        </p:nvSpPr>
        <p:spPr>
          <a:xfrm>
            <a:off x="6427888" y="4041648"/>
            <a:ext cx="3801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document stops at full rollout (target)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pilot lane: 1 → 0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4901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870"/>
                </a:solidFill>
              </a:rPr>
              <a:t>Two factors by design; independent tests at M2.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2314065" y="5394960"/>
            <a:ext cx="7563564" cy="51206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3" name="Text 15"/>
          <p:cNvSpPr txBox="1"/>
          <p:nvPr/>
        </p:nvSpPr>
        <p:spPr>
          <a:xfrm>
            <a:off x="2314065" y="5394960"/>
            <a:ext cx="75635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Our bet, tested at M1: a second factor opens walk-through to more travellers.</a:t>
            </a:r>
            <a:endParaRPr lang="en-US" sz="1600" dirty="0"/>
          </a:p>
        </p:txBody>
      </p:sp>
      <p:sp>
        <p:nvSpPr>
          <p:cNvPr id="24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Walk-through example: Dubai Red Carpet corridor, pre-registered, face only (GDRFA via International Airport Review, 2026) · Eligibility limits today: ICA (Oct 2024)</a:t>
            </a:r>
            <a:endParaRPr lang="en-US" sz="900" dirty="0"/>
          </a:p>
        </p:txBody>
      </p:sp>
      <p:sp>
        <p:nvSpPr>
          <p:cNvPr id="25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4  |</a:t>
            </a:r>
            <a:endParaRPr lang="en-US" sz="1200" dirty="0"/>
          </a:p>
        </p:txBody>
      </p:sp>
      <p:grpSp>
        <p:nvGrpSpPr>
          <p:cNvPr id="26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27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pic>
        <p:nvPicPr>
          <p:cNvPr id="5" name="!!scene" descr="Illustration: departure journey map with Fast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!!bh0"/>
          <p:cNvSpPr/>
          <p:nvPr/>
        </p:nvSpPr>
        <p:spPr>
          <a:xfrm>
            <a:off x="1609344" y="4829861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7" name="!!bc0"/>
          <p:cNvSpPr/>
          <p:nvPr/>
        </p:nvSpPr>
        <p:spPr>
          <a:xfrm>
            <a:off x="1700784" y="4921301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!!bt0"/>
          <p:cNvSpPr txBox="1"/>
          <p:nvPr/>
        </p:nvSpPr>
        <p:spPr>
          <a:xfrm>
            <a:off x="1700784" y="49213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!!bh1"/>
          <p:cNvSpPr/>
          <p:nvPr/>
        </p:nvSpPr>
        <p:spPr>
          <a:xfrm>
            <a:off x="4678070" y="3295498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0" name="!!bc1"/>
          <p:cNvSpPr/>
          <p:nvPr/>
        </p:nvSpPr>
        <p:spPr>
          <a:xfrm>
            <a:off x="4769510" y="3386938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!!bt1"/>
          <p:cNvSpPr txBox="1"/>
          <p:nvPr/>
        </p:nvSpPr>
        <p:spPr>
          <a:xfrm>
            <a:off x="4769510" y="33869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!!bh2"/>
          <p:cNvSpPr/>
          <p:nvPr/>
        </p:nvSpPr>
        <p:spPr>
          <a:xfrm>
            <a:off x="8635594" y="5002682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3" name="!!bc2"/>
          <p:cNvSpPr/>
          <p:nvPr/>
        </p:nvSpPr>
        <p:spPr>
          <a:xfrm>
            <a:off x="8727034" y="5094122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!!bt2"/>
          <p:cNvSpPr txBox="1"/>
          <p:nvPr/>
        </p:nvSpPr>
        <p:spPr>
          <a:xfrm>
            <a:off x="8727034" y="50941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!!bh3"/>
          <p:cNvSpPr/>
          <p:nvPr/>
        </p:nvSpPr>
        <p:spPr>
          <a:xfrm>
            <a:off x="4969764" y="5351983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6" name="!!bc3"/>
          <p:cNvSpPr/>
          <p:nvPr/>
        </p:nvSpPr>
        <p:spPr>
          <a:xfrm>
            <a:off x="5061204" y="5443423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!!bt3"/>
          <p:cNvSpPr txBox="1"/>
          <p:nvPr/>
        </p:nvSpPr>
        <p:spPr>
          <a:xfrm>
            <a:off x="5061204" y="54434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18" name="!!mask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9" name="!!illusA"/>
          <p:cNvSpPr/>
          <p:nvPr/>
        </p:nvSpPr>
        <p:spPr>
          <a:xfrm>
            <a:off x="457200" y="5815584"/>
            <a:ext cx="1029795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20" name="!!illusAt"/>
          <p:cNvSpPr txBox="1"/>
          <p:nvPr/>
        </p:nvSpPr>
        <p:spPr>
          <a:xfrm>
            <a:off x="457200" y="5815584"/>
            <a:ext cx="1029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Illustration</a:t>
            </a:r>
            <a:endParaRPr lang="en-US" sz="1400" dirty="0"/>
          </a:p>
        </p:txBody>
      </p:sp>
      <p:sp>
        <p:nvSpPr>
          <p:cNvPr id="21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Product walkthrough</a:t>
            </a:r>
            <a:endParaRPr lang="en-US" sz="1600" dirty="0"/>
          </a:p>
        </p:txBody>
      </p:sp>
      <p:sp>
        <p:nvSpPr>
          <p:cNvPr id="22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One traveller, four checks, no documents shown.</a:t>
            </a:r>
            <a:endParaRPr lang="en-US" sz="3400" dirty="0"/>
          </a:p>
        </p:txBody>
      </p:sp>
      <p:sp>
        <p:nvSpPr>
          <p:cNvPr id="23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Illustrated walkthrough of the prototype shown at Singapore Airshow, Feb 2026.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457200" y="1920240"/>
            <a:ext cx="26746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66928" y="2093976"/>
            <a:ext cx="310896" cy="310896"/>
          </a:xfrm>
          <a:prstGeom prst="ellipse">
            <a:avLst/>
          </a:prstGeom>
          <a:solidFill>
            <a:srgbClr val="1E9E50"/>
          </a:solidFill>
          <a:ln/>
        </p:spPr>
      </p:sp>
      <p:pic>
        <p:nvPicPr>
          <p:cNvPr id="26" name="Image 2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25" y="2162373"/>
            <a:ext cx="174102" cy="1741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69264" y="1956816"/>
            <a:ext cx="20711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Check-in → </a:t>
            </a:r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enrol in app [+ airline online check-in]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3314700" y="1920240"/>
            <a:ext cx="26746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424428" y="2093976"/>
            <a:ext cx="310896" cy="310896"/>
          </a:xfrm>
          <a:prstGeom prst="ellipse">
            <a:avLst/>
          </a:prstGeom>
          <a:solidFill>
            <a:srgbClr val="1E9E50"/>
          </a:solidFill>
          <a:ln/>
        </p:spPr>
      </p:sp>
      <p:pic>
        <p:nvPicPr>
          <p:cNvPr id="30" name="Image 3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825" y="2162373"/>
            <a:ext cx="174102" cy="17410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826764" y="1956816"/>
            <a:ext cx="20711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Immigration → </a:t>
            </a:r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Bluetooth (BLE) lane + e-gate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172200" y="1920240"/>
            <a:ext cx="26746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281928" y="2093976"/>
            <a:ext cx="310896" cy="310896"/>
          </a:xfrm>
          <a:prstGeom prst="ellipse">
            <a:avLst/>
          </a:prstGeom>
          <a:solidFill>
            <a:srgbClr val="1E9E50"/>
          </a:solidFill>
          <a:ln/>
        </p:spPr>
      </p:sp>
      <p:pic>
        <p:nvPicPr>
          <p:cNvPr id="34" name="Image 4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325" y="2162373"/>
            <a:ext cx="174102" cy="17410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684264" y="1956816"/>
            <a:ext cx="20711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Security ID → </a:t>
            </a:r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Nova Plus reader; bags still X-rayed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9029700" y="1920240"/>
            <a:ext cx="26746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9139428" y="2093976"/>
            <a:ext cx="310896" cy="310896"/>
          </a:xfrm>
          <a:prstGeom prst="ellipse">
            <a:avLst/>
          </a:prstGeom>
          <a:solidFill>
            <a:srgbClr val="1E9E50"/>
          </a:solidFill>
          <a:ln/>
        </p:spPr>
      </p:sp>
      <p:pic>
        <p:nvPicPr>
          <p:cNvPr id="38" name="Image 5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825" y="2162373"/>
            <a:ext cx="174102" cy="174102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541764" y="1956816"/>
            <a:ext cx="20711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Boarding → </a:t>
            </a:r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kiosk: face + phone</a:t>
            </a:r>
            <a:endParaRPr lang="en-US" sz="1400" dirty="0"/>
          </a:p>
        </p:txBody>
      </p:sp>
      <p:sp>
        <p:nvSpPr>
          <p:cNvPr id="40" name="Shape 29"/>
          <p:cNvSpPr/>
          <p:nvPr/>
        </p:nvSpPr>
        <p:spPr>
          <a:xfrm>
            <a:off x="5490972" y="5434279"/>
            <a:ext cx="4059575" cy="32918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1" name="Text 30"/>
          <p:cNvSpPr txBox="1"/>
          <p:nvPr/>
        </p:nvSpPr>
        <p:spPr>
          <a:xfrm>
            <a:off x="5490972" y="5434279"/>
            <a:ext cx="4059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Behind every step: AGIL® Secure Platform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2130552" y="4921301"/>
            <a:ext cx="145980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3" name="Text 32"/>
          <p:cNvSpPr txBox="1"/>
          <p:nvPr/>
        </p:nvSpPr>
        <p:spPr>
          <a:xfrm>
            <a:off x="2130552" y="4921301"/>
            <a:ext cx="14598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Enrol at home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5199278" y="3386938"/>
            <a:ext cx="14035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5" name="Text 34"/>
          <p:cNvSpPr txBox="1"/>
          <p:nvPr/>
        </p:nvSpPr>
        <p:spPr>
          <a:xfrm>
            <a:off x="5199278" y="3386938"/>
            <a:ext cx="1403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Walk through</a:t>
            </a:r>
            <a:endParaRPr lang="en-US" sz="1400" dirty="0"/>
          </a:p>
        </p:txBody>
      </p:sp>
      <p:sp>
        <p:nvSpPr>
          <p:cNvPr id="46" name="Shape 35"/>
          <p:cNvSpPr/>
          <p:nvPr/>
        </p:nvSpPr>
        <p:spPr>
          <a:xfrm>
            <a:off x="9156802" y="5094122"/>
            <a:ext cx="189005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7" name="Text 36"/>
          <p:cNvSpPr txBox="1"/>
          <p:nvPr/>
        </p:nvSpPr>
        <p:spPr>
          <a:xfrm>
            <a:off x="9156802" y="5094122"/>
            <a:ext cx="1890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Pre-screen + board</a:t>
            </a:r>
            <a:endParaRPr lang="en-US" sz="1400" dirty="0"/>
          </a:p>
        </p:txBody>
      </p:sp>
      <p:sp>
        <p:nvSpPr>
          <p:cNvPr id="48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899"/>
                </a:solidFill>
                <a:latin typeface="+mj-lt"/>
              </a:rPr>
              <a:t>Illustration of the prototype; controlled demo conditions. Eligibility set by each border agency. Traveller data synthetic; app screens are specimens.</a:t>
            </a:r>
            <a:endParaRPr lang="en-US" sz="1000" dirty="0"/>
          </a:p>
        </p:txBody>
      </p:sp>
      <p:sp>
        <p:nvSpPr>
          <p:cNvPr id="49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5  |</a:t>
            </a:r>
            <a:endParaRPr lang="en-US" sz="1200" dirty="0"/>
          </a:p>
        </p:txBody>
      </p:sp>
      <p:grpSp>
        <p:nvGrpSpPr>
          <p:cNvPr id="50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51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52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pic>
        <p:nvPicPr>
          <p:cNvPr id="5" name="!!scene" descr="Illustration: departure journey map with Fast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60" y="-5715000"/>
            <a:ext cx="24383390" cy="13716000"/>
          </a:xfrm>
          <a:prstGeom prst="rect">
            <a:avLst/>
          </a:prstGeom>
        </p:spPr>
      </p:pic>
      <p:sp>
        <p:nvSpPr>
          <p:cNvPr id="6" name="!!bh0"/>
          <p:cNvSpPr/>
          <p:nvPr/>
        </p:nvSpPr>
        <p:spPr>
          <a:xfrm>
            <a:off x="3182112" y="4045306"/>
            <a:ext cx="786384" cy="786384"/>
          </a:xfrm>
          <a:prstGeom prst="ellipse">
            <a:avLst/>
          </a:prstGeom>
          <a:solidFill>
            <a:srgbClr val="0B84AE">
              <a:alpha val="30000"/>
            </a:srgbClr>
          </a:solidFill>
          <a:ln/>
        </p:spPr>
      </p:sp>
      <p:sp>
        <p:nvSpPr>
          <p:cNvPr id="7" name="!!bc0"/>
          <p:cNvSpPr/>
          <p:nvPr/>
        </p:nvSpPr>
        <p:spPr>
          <a:xfrm>
            <a:off x="3419856" y="4283050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!!bt0"/>
          <p:cNvSpPr txBox="1"/>
          <p:nvPr/>
        </p:nvSpPr>
        <p:spPr>
          <a:xfrm>
            <a:off x="3419856" y="42830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!!bh1"/>
          <p:cNvSpPr/>
          <p:nvPr/>
        </p:nvSpPr>
        <p:spPr>
          <a:xfrm>
            <a:off x="9465869" y="1122883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0" name="!!bc1"/>
          <p:cNvSpPr/>
          <p:nvPr/>
        </p:nvSpPr>
        <p:spPr>
          <a:xfrm>
            <a:off x="9557309" y="1214323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!!bt1"/>
          <p:cNvSpPr txBox="1"/>
          <p:nvPr/>
        </p:nvSpPr>
        <p:spPr>
          <a:xfrm>
            <a:off x="9557309" y="12143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!!bh2"/>
          <p:cNvSpPr/>
          <p:nvPr/>
        </p:nvSpPr>
        <p:spPr>
          <a:xfrm>
            <a:off x="17380915" y="4537253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3" name="!!bc2"/>
          <p:cNvSpPr/>
          <p:nvPr/>
        </p:nvSpPr>
        <p:spPr>
          <a:xfrm>
            <a:off x="17472355" y="4628693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!!bt2"/>
          <p:cNvSpPr txBox="1"/>
          <p:nvPr/>
        </p:nvSpPr>
        <p:spPr>
          <a:xfrm>
            <a:off x="17472355" y="46286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!!bh3"/>
          <p:cNvSpPr/>
          <p:nvPr/>
        </p:nvSpPr>
        <p:spPr>
          <a:xfrm>
            <a:off x="10049256" y="5235854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6" name="!!bc3"/>
          <p:cNvSpPr/>
          <p:nvPr/>
        </p:nvSpPr>
        <p:spPr>
          <a:xfrm>
            <a:off x="10140696" y="5327294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!!bt3"/>
          <p:cNvSpPr txBox="1"/>
          <p:nvPr/>
        </p:nvSpPr>
        <p:spPr>
          <a:xfrm>
            <a:off x="10140696" y="53272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18" name="!!mask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9" name="!!illus"/>
          <p:cNvSpPr/>
          <p:nvPr/>
        </p:nvSpPr>
        <p:spPr>
          <a:xfrm>
            <a:off x="4983480" y="5870448"/>
            <a:ext cx="1029795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20" name="!!illust"/>
          <p:cNvSpPr txBox="1"/>
          <p:nvPr/>
        </p:nvSpPr>
        <p:spPr>
          <a:xfrm>
            <a:off x="4983480" y="5870448"/>
            <a:ext cx="1029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Illustration</a:t>
            </a:r>
            <a:endParaRPr lang="en-US" sz="1400" dirty="0"/>
          </a:p>
        </p:txBody>
      </p:sp>
      <p:sp>
        <p:nvSpPr>
          <p:cNvPr id="21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Product walkthrough</a:t>
            </a:r>
            <a:endParaRPr lang="en-US" sz="1600" dirty="0"/>
          </a:p>
        </p:txBody>
      </p:sp>
      <p:sp>
        <p:nvSpPr>
          <p:cNvPr id="22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1 · Enrol once, at home</a:t>
            </a:r>
            <a:endParaRPr lang="en-US" sz="3400" dirty="0"/>
          </a:p>
        </p:txBody>
      </p:sp>
      <p:sp>
        <p:nvSpPr>
          <p:cNvPr id="23" name="!!pb0"/>
          <p:cNvSpPr/>
          <p:nvPr/>
        </p:nvSpPr>
        <p:spPr>
          <a:xfrm>
            <a:off x="6309360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24" name="!!pb1"/>
          <p:cNvSpPr/>
          <p:nvPr/>
        </p:nvSpPr>
        <p:spPr>
          <a:xfrm>
            <a:off x="7676388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D5DCE5"/>
          </a:solidFill>
          <a:ln/>
        </p:spPr>
      </p:sp>
      <p:sp>
        <p:nvSpPr>
          <p:cNvPr id="25" name="!!pb2"/>
          <p:cNvSpPr/>
          <p:nvPr/>
        </p:nvSpPr>
        <p:spPr>
          <a:xfrm>
            <a:off x="9043416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D5DCE5"/>
          </a:solidFill>
          <a:ln/>
        </p:spPr>
      </p:sp>
      <p:sp>
        <p:nvSpPr>
          <p:cNvPr id="26" name="!!pb3"/>
          <p:cNvSpPr/>
          <p:nvPr/>
        </p:nvSpPr>
        <p:spPr>
          <a:xfrm>
            <a:off x="10410444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D5DCE5"/>
          </a:solidFill>
          <a:ln/>
        </p:spPr>
      </p:sp>
      <p:sp>
        <p:nvSpPr>
          <p:cNvPr id="27" name="Shape 20"/>
          <p:cNvSpPr/>
          <p:nvPr/>
        </p:nvSpPr>
        <p:spPr>
          <a:xfrm>
            <a:off x="6309360" y="2139696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28" name="!!pimg5b" descr="FastPass app screens (specimen data)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09360" y="2139696"/>
            <a:ext cx="5394960" cy="3017520"/>
          </a:xfrm>
          <a:prstGeom prst="rect">
            <a:avLst/>
          </a:prstGeom>
        </p:spPr>
      </p:pic>
      <p:sp>
        <p:nvSpPr>
          <p:cNvPr id="29" name="!!cap5b"/>
          <p:cNvSpPr txBox="1"/>
          <p:nvPr/>
        </p:nvSpPr>
        <p:spPr>
          <a:xfrm>
            <a:off x="6309360" y="5266944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526"/>
                </a:solidFill>
              </a:rPr>
              <a:t>Passport scan and selfie, once. Encrypted on the phone; SDK for airline apps.</a:t>
            </a:r>
            <a:endParaRPr lang="en-US" sz="1800" dirty="0"/>
          </a:p>
        </p:txBody>
      </p:sp>
      <p:sp>
        <p:nvSpPr>
          <p:cNvPr id="30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899"/>
                </a:solidFill>
                <a:latin typeface="+mj-lt"/>
              </a:rPr>
              <a:t>Illustration of the prototype; controlled demo conditions. Eligibility set by each border agency. Traveller data synthetic; app screens are specimens.</a:t>
            </a:r>
            <a:endParaRPr lang="en-US" sz="1000" dirty="0"/>
          </a:p>
        </p:txBody>
      </p:sp>
      <p:sp>
        <p:nvSpPr>
          <p:cNvPr id="31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5  |</a:t>
            </a:r>
            <a:endParaRPr lang="en-US" sz="1200" dirty="0"/>
          </a:p>
        </p:txBody>
      </p:sp>
      <p:grpSp>
        <p:nvGrpSpPr>
          <p:cNvPr id="32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pic>
        <p:nvPicPr>
          <p:cNvPr id="5" name="!!scene" descr="Illustration: departure journey map with Fast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0760" y="-3246120"/>
            <a:ext cx="24383390" cy="13716000"/>
          </a:xfrm>
          <a:prstGeom prst="rect">
            <a:avLst/>
          </a:prstGeom>
        </p:spPr>
      </p:pic>
      <p:sp>
        <p:nvSpPr>
          <p:cNvPr id="6" name="!!bh0"/>
          <p:cNvSpPr/>
          <p:nvPr/>
        </p:nvSpPr>
        <p:spPr>
          <a:xfrm>
            <a:off x="-2615184" y="6660490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7" name="!!bc0"/>
          <p:cNvSpPr/>
          <p:nvPr/>
        </p:nvSpPr>
        <p:spPr>
          <a:xfrm>
            <a:off x="-2523744" y="6751930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!!bt0"/>
          <p:cNvSpPr txBox="1"/>
          <p:nvPr/>
        </p:nvSpPr>
        <p:spPr>
          <a:xfrm>
            <a:off x="-2523744" y="67519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!!bh1"/>
          <p:cNvSpPr/>
          <p:nvPr/>
        </p:nvSpPr>
        <p:spPr>
          <a:xfrm>
            <a:off x="3375965" y="3445459"/>
            <a:ext cx="786384" cy="786384"/>
          </a:xfrm>
          <a:prstGeom prst="ellipse">
            <a:avLst/>
          </a:prstGeom>
          <a:solidFill>
            <a:srgbClr val="0B84AE">
              <a:alpha val="30000"/>
            </a:srgbClr>
          </a:solidFill>
          <a:ln/>
        </p:spPr>
      </p:sp>
      <p:sp>
        <p:nvSpPr>
          <p:cNvPr id="10" name="!!bc1"/>
          <p:cNvSpPr/>
          <p:nvPr/>
        </p:nvSpPr>
        <p:spPr>
          <a:xfrm>
            <a:off x="3613709" y="3683203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!!bt1"/>
          <p:cNvSpPr txBox="1"/>
          <p:nvPr/>
        </p:nvSpPr>
        <p:spPr>
          <a:xfrm>
            <a:off x="3613709" y="36832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!!bh2"/>
          <p:cNvSpPr/>
          <p:nvPr/>
        </p:nvSpPr>
        <p:spPr>
          <a:xfrm>
            <a:off x="11437315" y="7006133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3" name="!!bc2"/>
          <p:cNvSpPr/>
          <p:nvPr/>
        </p:nvSpPr>
        <p:spPr>
          <a:xfrm>
            <a:off x="11528755" y="7097573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!!bt2"/>
          <p:cNvSpPr txBox="1"/>
          <p:nvPr/>
        </p:nvSpPr>
        <p:spPr>
          <a:xfrm>
            <a:off x="11528755" y="70975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!!bh3"/>
          <p:cNvSpPr/>
          <p:nvPr/>
        </p:nvSpPr>
        <p:spPr>
          <a:xfrm>
            <a:off x="4105656" y="7704734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6" name="!!bc3"/>
          <p:cNvSpPr/>
          <p:nvPr/>
        </p:nvSpPr>
        <p:spPr>
          <a:xfrm>
            <a:off x="4197096" y="7796174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!!bt3"/>
          <p:cNvSpPr txBox="1"/>
          <p:nvPr/>
        </p:nvSpPr>
        <p:spPr>
          <a:xfrm>
            <a:off x="4197096" y="77961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18" name="!!mask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9" name="!!illus"/>
          <p:cNvSpPr/>
          <p:nvPr/>
        </p:nvSpPr>
        <p:spPr>
          <a:xfrm>
            <a:off x="4983480" y="5870448"/>
            <a:ext cx="1029795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20" name="!!illust"/>
          <p:cNvSpPr txBox="1"/>
          <p:nvPr/>
        </p:nvSpPr>
        <p:spPr>
          <a:xfrm>
            <a:off x="4983480" y="5870448"/>
            <a:ext cx="1029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Illustration</a:t>
            </a:r>
            <a:endParaRPr lang="en-US" sz="1400" dirty="0"/>
          </a:p>
        </p:txBody>
      </p:sp>
      <p:sp>
        <p:nvSpPr>
          <p:cNvPr id="21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Product walkthrough</a:t>
            </a:r>
            <a:endParaRPr lang="en-US" sz="1600" dirty="0"/>
          </a:p>
        </p:txBody>
      </p:sp>
      <p:sp>
        <p:nvSpPr>
          <p:cNvPr id="22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2 · Walk through: phone + face = cleared</a:t>
            </a:r>
            <a:endParaRPr lang="en-US" sz="3400" dirty="0"/>
          </a:p>
        </p:txBody>
      </p:sp>
      <p:sp>
        <p:nvSpPr>
          <p:cNvPr id="23" name="!!pb0"/>
          <p:cNvSpPr/>
          <p:nvPr/>
        </p:nvSpPr>
        <p:spPr>
          <a:xfrm>
            <a:off x="6309360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24" name="!!pb1"/>
          <p:cNvSpPr/>
          <p:nvPr/>
        </p:nvSpPr>
        <p:spPr>
          <a:xfrm>
            <a:off x="7676388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25" name="!!pb2"/>
          <p:cNvSpPr/>
          <p:nvPr/>
        </p:nvSpPr>
        <p:spPr>
          <a:xfrm>
            <a:off x="9043416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D5DCE5"/>
          </a:solidFill>
          <a:ln/>
        </p:spPr>
      </p:sp>
      <p:sp>
        <p:nvSpPr>
          <p:cNvPr id="26" name="!!pb3"/>
          <p:cNvSpPr/>
          <p:nvPr/>
        </p:nvSpPr>
        <p:spPr>
          <a:xfrm>
            <a:off x="10410444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D5DCE5"/>
          </a:solidFill>
          <a:ln/>
        </p:spPr>
      </p:sp>
      <p:sp>
        <p:nvSpPr>
          <p:cNvPr id="27" name="Shape 20"/>
          <p:cNvSpPr/>
          <p:nvPr/>
        </p:nvSpPr>
        <p:spPr>
          <a:xfrm>
            <a:off x="6309360" y="2139696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28" name="!!pimg5c" descr="FastPass lane and biometric e-gat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09360" y="2139696"/>
            <a:ext cx="5394960" cy="301752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0025487" y="2267712"/>
            <a:ext cx="1550817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10025487" y="2267712"/>
            <a:ext cx="15508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[Photo / Render]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6812280" y="3407054"/>
            <a:ext cx="6115507" cy="2768803"/>
          </a:xfrm>
          <a:prstGeom prst="arc">
            <a:avLst>
              <a:gd name="adj1" fmla="val 10800000"/>
              <a:gd name="adj2" fmla="val 16200000"/>
            </a:avLst>
          </a:prstGeom>
          <a:noFill/>
          <a:ln w="38100">
            <a:solidFill>
              <a:srgbClr val="35C3EA"/>
            </a:solidFill>
            <a:prstDash val="sysDot"/>
          </a:ln>
        </p:spPr>
      </p:sp>
      <p:sp>
        <p:nvSpPr>
          <p:cNvPr id="32" name="Shape 24"/>
          <p:cNvSpPr/>
          <p:nvPr/>
        </p:nvSpPr>
        <p:spPr>
          <a:xfrm>
            <a:off x="6611112" y="4590288"/>
            <a:ext cx="402336" cy="402336"/>
          </a:xfrm>
          <a:prstGeom prst="ellipse">
            <a:avLst/>
          </a:prstGeom>
          <a:solidFill>
            <a:srgbClr val="0B84AE"/>
          </a:solidFill>
          <a:ln/>
        </p:spPr>
      </p:sp>
      <p:pic>
        <p:nvPicPr>
          <p:cNvPr id="33" name="Image 3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626" y="4678802"/>
            <a:ext cx="225308" cy="225308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7086600" y="4636008"/>
            <a:ext cx="2715705" cy="310896"/>
          </a:xfrm>
          <a:prstGeom prst="roundRect">
            <a:avLst>
              <a:gd name="adj" fmla="val 50000"/>
            </a:avLst>
          </a:prstGeom>
          <a:solidFill>
            <a:srgbClr val="0E1B2D">
              <a:alpha val="90000"/>
            </a:srgbClr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7086600" y="4636008"/>
            <a:ext cx="27157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D3EE"/>
                </a:solidFill>
              </a:rPr>
              <a:t>BLE pairing, phone in pocket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6583680" y="2322576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0E1B2D"/>
          </a:solidFill>
          <a:ln w="15875">
            <a:solidFill>
              <a:srgbClr val="1E9E5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7" name="Text 28"/>
          <p:cNvSpPr txBox="1"/>
          <p:nvPr/>
        </p:nvSpPr>
        <p:spPr>
          <a:xfrm>
            <a:off x="6693408" y="237744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AA8BC"/>
                </a:solidFill>
              </a:rPr>
              <a:t>STATUS TV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6693408" y="2670048"/>
            <a:ext cx="1655064" cy="310896"/>
          </a:xfrm>
          <a:prstGeom prst="roundRect">
            <a:avLst>
              <a:gd name="adj" fmla="val 50000"/>
            </a:avLst>
          </a:prstGeom>
          <a:solidFill>
            <a:srgbClr val="1E9E50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6693408" y="2670048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#0412 · CLEARED</a:t>
            </a:r>
            <a:endParaRPr lang="en-US" sz="1400" dirty="0"/>
          </a:p>
        </p:txBody>
      </p:sp>
      <p:sp>
        <p:nvSpPr>
          <p:cNvPr id="40" name="!!cap5c"/>
          <p:cNvSpPr txBox="1"/>
          <p:nvPr/>
        </p:nvSpPr>
        <p:spPr>
          <a:xfrm>
            <a:off x="6309360" y="52669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[X] s per traveller, prototype, controlled conditions [measure or delete]</a:t>
            </a:r>
            <a:endParaRPr lang="en-US" sz="1400" dirty="0"/>
          </a:p>
        </p:txBody>
      </p:sp>
      <p:sp>
        <p:nvSpPr>
          <p:cNvPr id="41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899"/>
                </a:solidFill>
                <a:latin typeface="+mj-lt"/>
              </a:rPr>
              <a:t>Illustration of the prototype; controlled demo conditions. Eligibility set by each border agency. Traveller data synthetic; app screens are specimens.</a:t>
            </a:r>
            <a:endParaRPr lang="en-US" sz="1000" dirty="0"/>
          </a:p>
        </p:txBody>
      </p:sp>
      <p:sp>
        <p:nvSpPr>
          <p:cNvPr id="42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5  |</a:t>
            </a:r>
            <a:endParaRPr lang="en-US" sz="1200" dirty="0"/>
          </a:p>
        </p:txBody>
      </p:sp>
      <p:grpSp>
        <p:nvGrpSpPr>
          <p:cNvPr id="43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44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45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pic>
        <p:nvPicPr>
          <p:cNvPr id="5" name="!!scene" descr="Illustration: departure journey map with Fast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21240" y="-3758184"/>
            <a:ext cx="19506712" cy="10972800"/>
          </a:xfrm>
          <a:prstGeom prst="rect">
            <a:avLst/>
          </a:prstGeom>
        </p:spPr>
      </p:pic>
      <p:sp>
        <p:nvSpPr>
          <p:cNvPr id="6" name="!!bh0"/>
          <p:cNvSpPr/>
          <p:nvPr/>
        </p:nvSpPr>
        <p:spPr>
          <a:xfrm>
            <a:off x="-7198157" y="4117726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7" name="!!bc0"/>
          <p:cNvSpPr/>
          <p:nvPr/>
        </p:nvSpPr>
        <p:spPr>
          <a:xfrm>
            <a:off x="-7106717" y="4209166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!!bt0"/>
          <p:cNvSpPr txBox="1"/>
          <p:nvPr/>
        </p:nvSpPr>
        <p:spPr>
          <a:xfrm>
            <a:off x="-7106717" y="42091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!!bh1"/>
          <p:cNvSpPr/>
          <p:nvPr/>
        </p:nvSpPr>
        <p:spPr>
          <a:xfrm>
            <a:off x="-2288195" y="1662745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0" name="!!bc1"/>
          <p:cNvSpPr/>
          <p:nvPr/>
        </p:nvSpPr>
        <p:spPr>
          <a:xfrm>
            <a:off x="-2196755" y="1754185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!!bt1"/>
          <p:cNvSpPr txBox="1"/>
          <p:nvPr/>
        </p:nvSpPr>
        <p:spPr>
          <a:xfrm>
            <a:off x="-2196755" y="17541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!!bh2"/>
          <p:cNvSpPr/>
          <p:nvPr/>
        </p:nvSpPr>
        <p:spPr>
          <a:xfrm>
            <a:off x="3897539" y="4247937"/>
            <a:ext cx="786384" cy="786384"/>
          </a:xfrm>
          <a:prstGeom prst="ellipse">
            <a:avLst/>
          </a:prstGeom>
          <a:solidFill>
            <a:srgbClr val="0B84AE">
              <a:alpha val="30000"/>
            </a:srgbClr>
          </a:solidFill>
          <a:ln/>
        </p:spPr>
      </p:sp>
      <p:sp>
        <p:nvSpPr>
          <p:cNvPr id="13" name="!!bc2"/>
          <p:cNvSpPr/>
          <p:nvPr/>
        </p:nvSpPr>
        <p:spPr>
          <a:xfrm>
            <a:off x="4135283" y="4485681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!!bt2"/>
          <p:cNvSpPr txBox="1"/>
          <p:nvPr/>
        </p:nvSpPr>
        <p:spPr>
          <a:xfrm>
            <a:off x="4135283" y="44856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!!bh3"/>
          <p:cNvSpPr/>
          <p:nvPr/>
        </p:nvSpPr>
        <p:spPr>
          <a:xfrm>
            <a:off x="-1821485" y="4953122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6" name="!!bc3"/>
          <p:cNvSpPr/>
          <p:nvPr/>
        </p:nvSpPr>
        <p:spPr>
          <a:xfrm>
            <a:off x="-1730045" y="5044562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!!bt3"/>
          <p:cNvSpPr txBox="1"/>
          <p:nvPr/>
        </p:nvSpPr>
        <p:spPr>
          <a:xfrm>
            <a:off x="-1730045" y="50445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18" name="!!mask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9" name="!!illus"/>
          <p:cNvSpPr/>
          <p:nvPr/>
        </p:nvSpPr>
        <p:spPr>
          <a:xfrm>
            <a:off x="4983480" y="5870448"/>
            <a:ext cx="1029795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20" name="!!illust"/>
          <p:cNvSpPr txBox="1"/>
          <p:nvPr/>
        </p:nvSpPr>
        <p:spPr>
          <a:xfrm>
            <a:off x="4983480" y="5870448"/>
            <a:ext cx="1029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Illustration</a:t>
            </a:r>
            <a:endParaRPr lang="en-US" sz="1400" dirty="0"/>
          </a:p>
        </p:txBody>
      </p:sp>
      <p:sp>
        <p:nvSpPr>
          <p:cNvPr id="21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Product walkthrough</a:t>
            </a:r>
            <a:endParaRPr lang="en-US" sz="1600" dirty="0"/>
          </a:p>
        </p:txBody>
      </p:sp>
      <p:sp>
        <p:nvSpPr>
          <p:cNvPr id="22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3 · Pre-screen and board by face + phone</a:t>
            </a:r>
            <a:endParaRPr lang="en-US" sz="3400" dirty="0"/>
          </a:p>
        </p:txBody>
      </p:sp>
      <p:sp>
        <p:nvSpPr>
          <p:cNvPr id="23" name="!!pb0"/>
          <p:cNvSpPr/>
          <p:nvPr/>
        </p:nvSpPr>
        <p:spPr>
          <a:xfrm>
            <a:off x="6309360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24" name="!!pb1"/>
          <p:cNvSpPr/>
          <p:nvPr/>
        </p:nvSpPr>
        <p:spPr>
          <a:xfrm>
            <a:off x="7676388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25" name="!!pb2"/>
          <p:cNvSpPr/>
          <p:nvPr/>
        </p:nvSpPr>
        <p:spPr>
          <a:xfrm>
            <a:off x="9043416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26" name="!!pb3"/>
          <p:cNvSpPr/>
          <p:nvPr/>
        </p:nvSpPr>
        <p:spPr>
          <a:xfrm>
            <a:off x="10410444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D5DCE5"/>
          </a:solidFill>
          <a:ln/>
        </p:spPr>
      </p:sp>
      <p:sp>
        <p:nvSpPr>
          <p:cNvPr id="27" name="Shape 20"/>
          <p:cNvSpPr/>
          <p:nvPr/>
        </p:nvSpPr>
        <p:spPr>
          <a:xfrm>
            <a:off x="6309360" y="2139696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28" name="!!pimg5d" descr="Smart Boarding Kios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09360" y="2139696"/>
            <a:ext cx="5394960" cy="301752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434737" y="2267712"/>
            <a:ext cx="214156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9434737" y="2267712"/>
            <a:ext cx="2141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Smart Boarding Kiosk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6400800" y="3536740"/>
            <a:ext cx="1719072" cy="1529036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32" name="Image 3" descr="Nova Plus read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573316"/>
            <a:ext cx="1645920" cy="114498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437376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Nova Plus reader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6400800" y="3536740"/>
            <a:ext cx="1719072" cy="1529036"/>
          </a:xfrm>
          <a:prstGeom prst="roundRect">
            <a:avLst>
              <a:gd name="adj" fmla="val 3588"/>
            </a:avLst>
          </a:prstGeom>
          <a:ln w="9525">
            <a:solidFill>
              <a:srgbClr val="E1E6ED"/>
            </a:solidFill>
            <a:prstDash val="solid"/>
          </a:ln>
        </p:spPr>
      </p:sp>
      <p:sp>
        <p:nvSpPr>
          <p:cNvPr id="35" name="!!cap5d"/>
          <p:cNvSpPr txBox="1"/>
          <p:nvPr/>
        </p:nvSpPr>
        <p:spPr>
          <a:xfrm>
            <a:off x="6309360" y="5266944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526"/>
                </a:solidFill>
              </a:rPr>
              <a:t>Nova Plus re-confirms identity before X-ray. Boarding needs airline departure-control integration.</a:t>
            </a:r>
            <a:endParaRPr lang="en-US" sz="1800" dirty="0"/>
          </a:p>
        </p:txBody>
      </p:sp>
      <p:sp>
        <p:nvSpPr>
          <p:cNvPr id="36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899"/>
                </a:solidFill>
                <a:latin typeface="+mj-lt"/>
              </a:rPr>
              <a:t>Illustration of the prototype; controlled demo conditions. Eligibility set by each border agency. Traveller data synthetic; app screens are specimens.</a:t>
            </a:r>
            <a:endParaRPr lang="en-US" sz="1000" dirty="0"/>
          </a:p>
        </p:txBody>
      </p:sp>
      <p:sp>
        <p:nvSpPr>
          <p:cNvPr id="37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5  |</a:t>
            </a:r>
            <a:endParaRPr lang="en-US" sz="1200" dirty="0"/>
          </a:p>
        </p:txBody>
      </p:sp>
      <p:grpSp>
        <p:nvGrpSpPr>
          <p:cNvPr id="38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39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pic>
        <p:nvPicPr>
          <p:cNvPr id="5" name="!!scene" descr="Illustration: departure journey map with Fast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0840" y="-6812280"/>
            <a:ext cx="24383390" cy="13716000"/>
          </a:xfrm>
          <a:prstGeom prst="rect">
            <a:avLst/>
          </a:prstGeom>
        </p:spPr>
      </p:pic>
      <p:sp>
        <p:nvSpPr>
          <p:cNvPr id="6" name="!!bh0"/>
          <p:cNvSpPr/>
          <p:nvPr/>
        </p:nvSpPr>
        <p:spPr>
          <a:xfrm>
            <a:off x="-3255264" y="3094330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7" name="!!bc0"/>
          <p:cNvSpPr/>
          <p:nvPr/>
        </p:nvSpPr>
        <p:spPr>
          <a:xfrm>
            <a:off x="-3163824" y="3185770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!!bt0"/>
          <p:cNvSpPr txBox="1"/>
          <p:nvPr/>
        </p:nvSpPr>
        <p:spPr>
          <a:xfrm>
            <a:off x="-3163824" y="31857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!!bh1"/>
          <p:cNvSpPr/>
          <p:nvPr/>
        </p:nvSpPr>
        <p:spPr>
          <a:xfrm>
            <a:off x="2882189" y="25603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0" name="!!bc1"/>
          <p:cNvSpPr/>
          <p:nvPr/>
        </p:nvSpPr>
        <p:spPr>
          <a:xfrm>
            <a:off x="2973629" y="117043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!!bt1"/>
          <p:cNvSpPr txBox="1"/>
          <p:nvPr/>
        </p:nvSpPr>
        <p:spPr>
          <a:xfrm>
            <a:off x="2973629" y="1170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!!bh2"/>
          <p:cNvSpPr/>
          <p:nvPr/>
        </p:nvSpPr>
        <p:spPr>
          <a:xfrm>
            <a:off x="10797235" y="3439973"/>
            <a:ext cx="493776" cy="493776"/>
          </a:xfrm>
          <a:prstGeom prst="ellipse">
            <a:avLst/>
          </a:prstGeom>
          <a:solidFill>
            <a:srgbClr val="0B84AE">
              <a:alpha val="16000"/>
            </a:srgbClr>
          </a:solidFill>
          <a:ln/>
        </p:spPr>
      </p:sp>
      <p:sp>
        <p:nvSpPr>
          <p:cNvPr id="13" name="!!bc2"/>
          <p:cNvSpPr/>
          <p:nvPr/>
        </p:nvSpPr>
        <p:spPr>
          <a:xfrm>
            <a:off x="10888675" y="3531413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!!bt2"/>
          <p:cNvSpPr txBox="1"/>
          <p:nvPr/>
        </p:nvSpPr>
        <p:spPr>
          <a:xfrm>
            <a:off x="10888675" y="35314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!!bh3"/>
          <p:cNvSpPr/>
          <p:nvPr/>
        </p:nvSpPr>
        <p:spPr>
          <a:xfrm>
            <a:off x="3319272" y="3992270"/>
            <a:ext cx="786384" cy="786384"/>
          </a:xfrm>
          <a:prstGeom prst="ellipse">
            <a:avLst/>
          </a:prstGeom>
          <a:solidFill>
            <a:srgbClr val="0B84AE">
              <a:alpha val="30000"/>
            </a:srgbClr>
          </a:solidFill>
          <a:ln/>
        </p:spPr>
      </p:sp>
      <p:sp>
        <p:nvSpPr>
          <p:cNvPr id="16" name="!!bc3"/>
          <p:cNvSpPr/>
          <p:nvPr/>
        </p:nvSpPr>
        <p:spPr>
          <a:xfrm>
            <a:off x="3557016" y="4230014"/>
            <a:ext cx="310896" cy="310896"/>
          </a:xfrm>
          <a:prstGeom prst="ellipse">
            <a:avLst/>
          </a:prstGeom>
          <a:solidFill>
            <a:srgbClr val="0B84A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!!bt3"/>
          <p:cNvSpPr txBox="1"/>
          <p:nvPr/>
        </p:nvSpPr>
        <p:spPr>
          <a:xfrm>
            <a:off x="3557016" y="42300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18" name="!!mask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9" name="!!illus"/>
          <p:cNvSpPr/>
          <p:nvPr/>
        </p:nvSpPr>
        <p:spPr>
          <a:xfrm>
            <a:off x="4983480" y="5870448"/>
            <a:ext cx="1029795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20" name="!!illust"/>
          <p:cNvSpPr txBox="1"/>
          <p:nvPr/>
        </p:nvSpPr>
        <p:spPr>
          <a:xfrm>
            <a:off x="4983480" y="5870448"/>
            <a:ext cx="1029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Illustration</a:t>
            </a:r>
            <a:endParaRPr lang="en-US" sz="1400" dirty="0"/>
          </a:p>
        </p:txBody>
      </p:sp>
      <p:sp>
        <p:nvSpPr>
          <p:cNvPr id="21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Product walkthrough</a:t>
            </a:r>
            <a:endParaRPr lang="en-US" sz="1600" dirty="0"/>
          </a:p>
        </p:txBody>
      </p:sp>
      <p:sp>
        <p:nvSpPr>
          <p:cNvPr id="22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4 · Officers act only on exceptions</a:t>
            </a:r>
            <a:endParaRPr lang="en-US" sz="3400" dirty="0"/>
          </a:p>
        </p:txBody>
      </p:sp>
      <p:sp>
        <p:nvSpPr>
          <p:cNvPr id="23" name="!!pb0"/>
          <p:cNvSpPr/>
          <p:nvPr/>
        </p:nvSpPr>
        <p:spPr>
          <a:xfrm>
            <a:off x="6309360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24" name="!!pb1"/>
          <p:cNvSpPr/>
          <p:nvPr/>
        </p:nvSpPr>
        <p:spPr>
          <a:xfrm>
            <a:off x="7676388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25" name="!!pb2"/>
          <p:cNvSpPr/>
          <p:nvPr/>
        </p:nvSpPr>
        <p:spPr>
          <a:xfrm>
            <a:off x="9043416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26" name="!!pb3"/>
          <p:cNvSpPr/>
          <p:nvPr/>
        </p:nvSpPr>
        <p:spPr>
          <a:xfrm>
            <a:off x="10410444" y="1938528"/>
            <a:ext cx="1293876" cy="73152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27" name="!!pimg5e"/>
          <p:cNvSpPr/>
          <p:nvPr/>
        </p:nvSpPr>
        <p:spPr>
          <a:xfrm>
            <a:off x="6309360" y="2139696"/>
            <a:ext cx="5394960" cy="3035808"/>
          </a:xfrm>
          <a:prstGeom prst="roundRect">
            <a:avLst>
              <a:gd name="adj" fmla="val 3012"/>
            </a:avLst>
          </a:prstGeom>
          <a:solidFill>
            <a:srgbClr val="0E1B2D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6437376" y="2231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9CB4"/>
                </a:solidFill>
              </a:rPr>
              <a:t>Time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178040" y="2231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9CB4"/>
                </a:solidFill>
              </a:rPr>
              <a:t>Traveller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9052560" y="2231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9CB4"/>
                </a:solidFill>
              </a:rPr>
              <a:t>ID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9829800" y="2231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9CB4"/>
                </a:solidFill>
              </a:rPr>
              <a:t>Lane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10332720" y="2231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9CB4"/>
                </a:solidFill>
              </a:rPr>
              <a:t>Status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382512" y="2560320"/>
            <a:ext cx="5248656" cy="658368"/>
          </a:xfrm>
          <a:prstGeom prst="roundRect">
            <a:avLst>
              <a:gd name="adj" fmla="val 8333"/>
            </a:avLst>
          </a:prstGeom>
          <a:solidFill>
            <a:srgbClr val="40181F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37376" y="258775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10:12:41</a:t>
            </a:r>
            <a:endParaRPr lang="en-US" sz="1400" dirty="0"/>
          </a:p>
        </p:txBody>
      </p:sp>
      <p:pic>
        <p:nvPicPr>
          <p:cNvPr id="35" name="Image 2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624328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443216" y="258775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6"/>
                </a:solidFill>
              </a:rPr>
              <a:t>TRAVELLER 0413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9052560" y="25877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••••0413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9829800" y="258775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1</a:t>
            </a:r>
            <a:endParaRPr lang="en-US" sz="1400" dirty="0"/>
          </a:p>
        </p:txBody>
      </p:sp>
      <p:sp>
        <p:nvSpPr>
          <p:cNvPr id="39" name="Shape 31"/>
          <p:cNvSpPr/>
          <p:nvPr/>
        </p:nvSpPr>
        <p:spPr>
          <a:xfrm>
            <a:off x="10332720" y="2624328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10332720" y="26243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EXCEPTION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7443216" y="2898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93"/>
                </a:solidFill>
              </a:rPr>
              <a:t>No BLE credential</a:t>
            </a:r>
            <a:endParaRPr lang="en-US" sz="1400" dirty="0"/>
          </a:p>
        </p:txBody>
      </p:sp>
      <p:sp>
        <p:nvSpPr>
          <p:cNvPr id="42" name="Shape 34"/>
          <p:cNvSpPr/>
          <p:nvPr/>
        </p:nvSpPr>
        <p:spPr>
          <a:xfrm>
            <a:off x="9052560" y="2916936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9052560" y="2916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Officer review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10515600" y="29169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CB4"/>
                </a:solidFill>
              </a:rPr>
              <a:t>mock-up</a:t>
            </a:r>
            <a:endParaRPr lang="en-US" sz="1400" dirty="0"/>
          </a:p>
        </p:txBody>
      </p:sp>
      <p:sp>
        <p:nvSpPr>
          <p:cNvPr id="45" name="Shape 37"/>
          <p:cNvSpPr/>
          <p:nvPr/>
        </p:nvSpPr>
        <p:spPr>
          <a:xfrm>
            <a:off x="6382512" y="3246120"/>
            <a:ext cx="5248656" cy="329184"/>
          </a:xfrm>
          <a:prstGeom prst="roundRect">
            <a:avLst>
              <a:gd name="adj" fmla="val 16667"/>
            </a:avLst>
          </a:prstGeom>
          <a:solidFill>
            <a:srgbClr val="1C2A3F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6437376" y="324612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10:12:34</a:t>
            </a:r>
            <a:endParaRPr lang="en-US" sz="1400" dirty="0"/>
          </a:p>
        </p:txBody>
      </p:sp>
      <p:pic>
        <p:nvPicPr>
          <p:cNvPr id="47" name="Image 3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300984"/>
            <a:ext cx="219456" cy="219456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443216" y="324612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6"/>
                </a:solidFill>
              </a:rPr>
              <a:t>TRAVELLER 0412</a:t>
            </a:r>
            <a:endParaRPr lang="en-US" sz="1400" dirty="0"/>
          </a:p>
        </p:txBody>
      </p:sp>
      <p:sp>
        <p:nvSpPr>
          <p:cNvPr id="49" name="Text 40"/>
          <p:cNvSpPr txBox="1"/>
          <p:nvPr/>
        </p:nvSpPr>
        <p:spPr>
          <a:xfrm>
            <a:off x="9052560" y="32461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••••0412</a:t>
            </a:r>
            <a:endParaRPr lang="en-US" sz="1400" dirty="0"/>
          </a:p>
        </p:txBody>
      </p:sp>
      <p:sp>
        <p:nvSpPr>
          <p:cNvPr id="50" name="Text 41"/>
          <p:cNvSpPr txBox="1"/>
          <p:nvPr/>
        </p:nvSpPr>
        <p:spPr>
          <a:xfrm>
            <a:off x="9829800" y="32461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1</a:t>
            </a:r>
            <a:endParaRPr lang="en-US" sz="1400" dirty="0"/>
          </a:p>
        </p:txBody>
      </p:sp>
      <p:sp>
        <p:nvSpPr>
          <p:cNvPr id="51" name="Shape 42"/>
          <p:cNvSpPr/>
          <p:nvPr/>
        </p:nvSpPr>
        <p:spPr>
          <a:xfrm>
            <a:off x="10332720" y="328269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E9E50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10332720" y="32826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CLEARED</a:t>
            </a:r>
            <a:endParaRPr lang="en-US" sz="1400" dirty="0"/>
          </a:p>
        </p:txBody>
      </p:sp>
      <p:sp>
        <p:nvSpPr>
          <p:cNvPr id="53" name="Shape 44"/>
          <p:cNvSpPr/>
          <p:nvPr/>
        </p:nvSpPr>
        <p:spPr>
          <a:xfrm>
            <a:off x="6382512" y="3602736"/>
            <a:ext cx="5248656" cy="329184"/>
          </a:xfrm>
          <a:prstGeom prst="roundRect">
            <a:avLst>
              <a:gd name="adj" fmla="val 16667"/>
            </a:avLst>
          </a:prstGeom>
          <a:solidFill>
            <a:srgbClr val="1C2A3F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6437376" y="3602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10:12:31</a:t>
            </a:r>
            <a:endParaRPr lang="en-US" sz="1400" dirty="0"/>
          </a:p>
        </p:txBody>
      </p:sp>
      <p:pic>
        <p:nvPicPr>
          <p:cNvPr id="55" name="Image 4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657600"/>
            <a:ext cx="219456" cy="21945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7443216" y="360273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6"/>
                </a:solidFill>
              </a:rPr>
              <a:t>TRAVELLER 0411</a:t>
            </a:r>
            <a:endParaRPr lang="en-US" sz="1400" dirty="0"/>
          </a:p>
        </p:txBody>
      </p:sp>
      <p:sp>
        <p:nvSpPr>
          <p:cNvPr id="57" name="Text 47"/>
          <p:cNvSpPr txBox="1"/>
          <p:nvPr/>
        </p:nvSpPr>
        <p:spPr>
          <a:xfrm>
            <a:off x="9052560" y="3602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••••0411</a:t>
            </a:r>
            <a:endParaRPr lang="en-US" sz="1400" dirty="0"/>
          </a:p>
        </p:txBody>
      </p:sp>
      <p:sp>
        <p:nvSpPr>
          <p:cNvPr id="58" name="Text 48"/>
          <p:cNvSpPr txBox="1"/>
          <p:nvPr/>
        </p:nvSpPr>
        <p:spPr>
          <a:xfrm>
            <a:off x="9829800" y="36027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2</a:t>
            </a:r>
            <a:endParaRPr lang="en-US" sz="1400" dirty="0"/>
          </a:p>
        </p:txBody>
      </p:sp>
      <p:sp>
        <p:nvSpPr>
          <p:cNvPr id="59" name="Shape 49"/>
          <p:cNvSpPr/>
          <p:nvPr/>
        </p:nvSpPr>
        <p:spPr>
          <a:xfrm>
            <a:off x="10332720" y="363931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E9E50"/>
          </a:solidFill>
          <a:ln/>
        </p:spPr>
      </p:sp>
      <p:sp>
        <p:nvSpPr>
          <p:cNvPr id="60" name="Text 50"/>
          <p:cNvSpPr txBox="1"/>
          <p:nvPr/>
        </p:nvSpPr>
        <p:spPr>
          <a:xfrm>
            <a:off x="10332720" y="3639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CLEARED</a:t>
            </a:r>
            <a:endParaRPr lang="en-US" sz="1400" dirty="0"/>
          </a:p>
        </p:txBody>
      </p:sp>
      <p:sp>
        <p:nvSpPr>
          <p:cNvPr id="61" name="Shape 51"/>
          <p:cNvSpPr/>
          <p:nvPr/>
        </p:nvSpPr>
        <p:spPr>
          <a:xfrm>
            <a:off x="6382512" y="3959352"/>
            <a:ext cx="5248656" cy="329184"/>
          </a:xfrm>
          <a:prstGeom prst="roundRect">
            <a:avLst>
              <a:gd name="adj" fmla="val 16667"/>
            </a:avLst>
          </a:prstGeom>
          <a:solidFill>
            <a:srgbClr val="1C2A3F"/>
          </a:solidFill>
          <a:ln/>
        </p:spPr>
      </p:sp>
      <p:sp>
        <p:nvSpPr>
          <p:cNvPr id="62" name="Text 52"/>
          <p:cNvSpPr txBox="1"/>
          <p:nvPr/>
        </p:nvSpPr>
        <p:spPr>
          <a:xfrm>
            <a:off x="6437376" y="395935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10:12:27</a:t>
            </a:r>
            <a:endParaRPr lang="en-US" sz="1400" dirty="0"/>
          </a:p>
        </p:txBody>
      </p:sp>
      <p:pic>
        <p:nvPicPr>
          <p:cNvPr id="63" name="Image 5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014216"/>
            <a:ext cx="219456" cy="219456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7443216" y="3959352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6"/>
                </a:solidFill>
              </a:rPr>
              <a:t>TRAVELLER 0410</a:t>
            </a:r>
            <a:endParaRPr lang="en-US" sz="1400" dirty="0"/>
          </a:p>
        </p:txBody>
      </p:sp>
      <p:sp>
        <p:nvSpPr>
          <p:cNvPr id="65" name="Text 54"/>
          <p:cNvSpPr txBox="1"/>
          <p:nvPr/>
        </p:nvSpPr>
        <p:spPr>
          <a:xfrm>
            <a:off x="9052560" y="39593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••••0410</a:t>
            </a:r>
            <a:endParaRPr lang="en-US" sz="1400" dirty="0"/>
          </a:p>
        </p:txBody>
      </p:sp>
      <p:sp>
        <p:nvSpPr>
          <p:cNvPr id="66" name="Text 55"/>
          <p:cNvSpPr txBox="1"/>
          <p:nvPr/>
        </p:nvSpPr>
        <p:spPr>
          <a:xfrm>
            <a:off x="9829800" y="395935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1</a:t>
            </a:r>
            <a:endParaRPr lang="en-US" sz="1400" dirty="0"/>
          </a:p>
        </p:txBody>
      </p:sp>
      <p:sp>
        <p:nvSpPr>
          <p:cNvPr id="67" name="Shape 56"/>
          <p:cNvSpPr/>
          <p:nvPr/>
        </p:nvSpPr>
        <p:spPr>
          <a:xfrm>
            <a:off x="10332720" y="399592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E9E50"/>
          </a:solidFill>
          <a:ln/>
        </p:spPr>
      </p:sp>
      <p:sp>
        <p:nvSpPr>
          <p:cNvPr id="68" name="Text 57"/>
          <p:cNvSpPr txBox="1"/>
          <p:nvPr/>
        </p:nvSpPr>
        <p:spPr>
          <a:xfrm>
            <a:off x="10332720" y="3995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CLEARED</a:t>
            </a:r>
            <a:endParaRPr lang="en-US" sz="1400" dirty="0"/>
          </a:p>
        </p:txBody>
      </p:sp>
      <p:sp>
        <p:nvSpPr>
          <p:cNvPr id="69" name="Shape 58"/>
          <p:cNvSpPr/>
          <p:nvPr/>
        </p:nvSpPr>
        <p:spPr>
          <a:xfrm>
            <a:off x="6382512" y="4315968"/>
            <a:ext cx="5248656" cy="329184"/>
          </a:xfrm>
          <a:prstGeom prst="roundRect">
            <a:avLst>
              <a:gd name="adj" fmla="val 16667"/>
            </a:avLst>
          </a:prstGeom>
          <a:solidFill>
            <a:srgbClr val="1C2A3F"/>
          </a:solidFill>
          <a:ln/>
        </p:spPr>
      </p:sp>
      <p:sp>
        <p:nvSpPr>
          <p:cNvPr id="70" name="Text 59"/>
          <p:cNvSpPr txBox="1"/>
          <p:nvPr/>
        </p:nvSpPr>
        <p:spPr>
          <a:xfrm>
            <a:off x="6437376" y="43159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10:12:22</a:t>
            </a:r>
            <a:endParaRPr lang="en-US" sz="1400" dirty="0"/>
          </a:p>
        </p:txBody>
      </p:sp>
      <p:pic>
        <p:nvPicPr>
          <p:cNvPr id="71" name="Image 6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370832"/>
            <a:ext cx="219456" cy="219456"/>
          </a:xfrm>
          <a:prstGeom prst="rect">
            <a:avLst/>
          </a:prstGeom>
        </p:spPr>
      </p:pic>
      <p:sp>
        <p:nvSpPr>
          <p:cNvPr id="72" name="Text 60"/>
          <p:cNvSpPr txBox="1"/>
          <p:nvPr/>
        </p:nvSpPr>
        <p:spPr>
          <a:xfrm>
            <a:off x="7443216" y="431596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6"/>
                </a:solidFill>
              </a:rPr>
              <a:t>TRAVELLER 0409</a:t>
            </a:r>
            <a:endParaRPr lang="en-US" sz="1400" dirty="0"/>
          </a:p>
        </p:txBody>
      </p:sp>
      <p:sp>
        <p:nvSpPr>
          <p:cNvPr id="73" name="Text 61"/>
          <p:cNvSpPr txBox="1"/>
          <p:nvPr/>
        </p:nvSpPr>
        <p:spPr>
          <a:xfrm>
            <a:off x="9052560" y="43159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••••0409</a:t>
            </a:r>
            <a:endParaRPr lang="en-US" sz="1400" dirty="0"/>
          </a:p>
        </p:txBody>
      </p:sp>
      <p:sp>
        <p:nvSpPr>
          <p:cNvPr id="74" name="Text 62"/>
          <p:cNvSpPr txBox="1"/>
          <p:nvPr/>
        </p:nvSpPr>
        <p:spPr>
          <a:xfrm>
            <a:off x="9829800" y="43159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2</a:t>
            </a:r>
            <a:endParaRPr lang="en-US" sz="1400" dirty="0"/>
          </a:p>
        </p:txBody>
      </p:sp>
      <p:sp>
        <p:nvSpPr>
          <p:cNvPr id="75" name="Shape 63"/>
          <p:cNvSpPr/>
          <p:nvPr/>
        </p:nvSpPr>
        <p:spPr>
          <a:xfrm>
            <a:off x="10332720" y="43525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E9E50"/>
          </a:solidFill>
          <a:ln/>
        </p:spPr>
      </p:sp>
      <p:sp>
        <p:nvSpPr>
          <p:cNvPr id="76" name="Text 64"/>
          <p:cNvSpPr txBox="1"/>
          <p:nvPr/>
        </p:nvSpPr>
        <p:spPr>
          <a:xfrm>
            <a:off x="10332720" y="4352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CLEARED</a:t>
            </a:r>
            <a:endParaRPr lang="en-US" sz="1400" dirty="0"/>
          </a:p>
        </p:txBody>
      </p:sp>
      <p:sp>
        <p:nvSpPr>
          <p:cNvPr id="77" name="Shape 65"/>
          <p:cNvSpPr/>
          <p:nvPr/>
        </p:nvSpPr>
        <p:spPr>
          <a:xfrm>
            <a:off x="6382512" y="4672584"/>
            <a:ext cx="5248656" cy="329184"/>
          </a:xfrm>
          <a:prstGeom prst="roundRect">
            <a:avLst>
              <a:gd name="adj" fmla="val 16667"/>
            </a:avLst>
          </a:prstGeom>
          <a:solidFill>
            <a:srgbClr val="1C2A3F"/>
          </a:solidFill>
          <a:ln/>
        </p:spPr>
      </p:sp>
      <p:sp>
        <p:nvSpPr>
          <p:cNvPr id="78" name="Text 66"/>
          <p:cNvSpPr txBox="1"/>
          <p:nvPr/>
        </p:nvSpPr>
        <p:spPr>
          <a:xfrm>
            <a:off x="6437376" y="46725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10:12:18</a:t>
            </a:r>
            <a:endParaRPr lang="en-US" sz="1400" dirty="0"/>
          </a:p>
        </p:txBody>
      </p:sp>
      <p:pic>
        <p:nvPicPr>
          <p:cNvPr id="79" name="Image 7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727448"/>
            <a:ext cx="219456" cy="219456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7443216" y="4672584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6"/>
                </a:solidFill>
              </a:rPr>
              <a:t>TRAVELLER 0408</a:t>
            </a:r>
            <a:endParaRPr lang="en-US" sz="1400" dirty="0"/>
          </a:p>
        </p:txBody>
      </p:sp>
      <p:sp>
        <p:nvSpPr>
          <p:cNvPr id="81" name="Text 68"/>
          <p:cNvSpPr txBox="1"/>
          <p:nvPr/>
        </p:nvSpPr>
        <p:spPr>
          <a:xfrm>
            <a:off x="9052560" y="46725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••••0408</a:t>
            </a:r>
            <a:endParaRPr lang="en-US" sz="1400" dirty="0"/>
          </a:p>
        </p:txBody>
      </p:sp>
      <p:sp>
        <p:nvSpPr>
          <p:cNvPr id="82" name="Text 69"/>
          <p:cNvSpPr txBox="1"/>
          <p:nvPr/>
        </p:nvSpPr>
        <p:spPr>
          <a:xfrm>
            <a:off x="9829800" y="46725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</a:rPr>
              <a:t>1</a:t>
            </a:r>
            <a:endParaRPr lang="en-US" sz="1400" dirty="0"/>
          </a:p>
        </p:txBody>
      </p:sp>
      <p:sp>
        <p:nvSpPr>
          <p:cNvPr id="83" name="Shape 70"/>
          <p:cNvSpPr/>
          <p:nvPr/>
        </p:nvSpPr>
        <p:spPr>
          <a:xfrm>
            <a:off x="10332720" y="470916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E9E50"/>
          </a:solidFill>
          <a:ln/>
        </p:spPr>
      </p:sp>
      <p:sp>
        <p:nvSpPr>
          <p:cNvPr id="84" name="Text 71"/>
          <p:cNvSpPr txBox="1"/>
          <p:nvPr/>
        </p:nvSpPr>
        <p:spPr>
          <a:xfrm>
            <a:off x="10332720" y="4709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CLEARED</a:t>
            </a:r>
            <a:endParaRPr lang="en-US" sz="1400" dirty="0"/>
          </a:p>
        </p:txBody>
      </p:sp>
      <p:sp>
        <p:nvSpPr>
          <p:cNvPr id="85" name="!!cap5e"/>
          <p:cNvSpPr txBox="1"/>
          <p:nvPr/>
        </p:nvSpPr>
        <p:spPr>
          <a:xfrm>
            <a:off x="6309360" y="526694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526"/>
                </a:solidFill>
              </a:rPr>
              <a:t>Clearance events sit beside CCTV, access control and incidents.</a:t>
            </a:r>
            <a:endParaRPr lang="en-US" sz="1800" dirty="0"/>
          </a:p>
        </p:txBody>
      </p:sp>
      <p:sp>
        <p:nvSpPr>
          <p:cNvPr id="86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899"/>
                </a:solidFill>
                <a:latin typeface="+mj-lt"/>
              </a:rPr>
              <a:t>Illustration of the prototype; controlled demo conditions. Eligibility set by each border agency. Traveller data synthetic; app screens are specimens.</a:t>
            </a:r>
            <a:endParaRPr lang="en-US" sz="1000" dirty="0"/>
          </a:p>
        </p:txBody>
      </p:sp>
      <p:sp>
        <p:nvSpPr>
          <p:cNvPr id="87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5  |</a:t>
            </a:r>
            <a:endParaRPr lang="en-US" sz="1200" dirty="0"/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89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90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Traction &amp; learning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Built and shown live. Next proof: one airport lane.</a:t>
            </a:r>
            <a:endParaRPr lang="en-US" sz="34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Pre-revenue; no pilot or letter of intent signed yet.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1920240"/>
            <a:ext cx="2103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9" name="Image 0" descr="Ap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1920240"/>
            <a:ext cx="2103120" cy="111556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21208" y="2697480"/>
            <a:ext cx="1010091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521208" y="2697480"/>
            <a:ext cx="1010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Specimen</a:t>
            </a:r>
            <a:endParaRPr lang="en-US" sz="1400" dirty="0"/>
          </a:p>
        </p:txBody>
      </p:sp>
      <p:sp>
        <p:nvSpPr>
          <p:cNvPr id="12" name="Text 6"/>
          <p:cNvSpPr txBox="1"/>
          <p:nvPr/>
        </p:nvSpPr>
        <p:spPr>
          <a:xfrm>
            <a:off x="45720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App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2743200" y="1920240"/>
            <a:ext cx="2103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14" name="Image 1" descr="E-gate + B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43200" y="1920240"/>
            <a:ext cx="2103120" cy="1115568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2807208" y="2697480"/>
            <a:ext cx="1514241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6" name="Text 9"/>
          <p:cNvSpPr txBox="1"/>
          <p:nvPr/>
        </p:nvSpPr>
        <p:spPr>
          <a:xfrm>
            <a:off x="2807208" y="2697480"/>
            <a:ext cx="1514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[Photo / Render]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274320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E-gate + BLE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029200" y="1920240"/>
            <a:ext cx="2103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19" name="Image 2" descr="Nova Plu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0" y="1920240"/>
            <a:ext cx="2103120" cy="111556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093208" y="2697480"/>
            <a:ext cx="1514241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5093208" y="2697480"/>
            <a:ext cx="1514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[Photo / Render]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502920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Nova Plus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7315200" y="1920240"/>
            <a:ext cx="2103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24" name="Image 3" descr="Kios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15200" y="1920240"/>
            <a:ext cx="2103120" cy="1115568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379208" y="2697480"/>
            <a:ext cx="1514241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7379208" y="2697480"/>
            <a:ext cx="1514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[Photo / Render]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31520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Kiosk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9601200" y="1920240"/>
            <a:ext cx="2103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29" name="Image 4" descr="Platform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601200" y="1920240"/>
            <a:ext cx="2103120" cy="111556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665208" y="2697480"/>
            <a:ext cx="90122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1" name="Text 21"/>
          <p:cNvSpPr txBox="1"/>
          <p:nvPr/>
        </p:nvSpPr>
        <p:spPr>
          <a:xfrm>
            <a:off x="9665208" y="2697480"/>
            <a:ext cx="90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Mock-up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960120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Platform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457200" y="3584448"/>
            <a:ext cx="374904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4" name="Text 24"/>
          <p:cNvSpPr txBox="1"/>
          <p:nvPr/>
        </p:nvSpPr>
        <p:spPr>
          <a:xfrm>
            <a:off x="685800" y="385876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B2545"/>
                </a:solidFill>
              </a:rPr>
              <a:t>[N]</a:t>
            </a:r>
            <a:endParaRPr lang="en-US" sz="7200" dirty="0"/>
          </a:p>
        </p:txBody>
      </p:sp>
      <p:sp>
        <p:nvSpPr>
          <p:cNvPr id="35" name="Text 25"/>
          <p:cNvSpPr txBox="1"/>
          <p:nvPr/>
        </p:nvSpPr>
        <p:spPr>
          <a:xfrm>
            <a:off x="685800" y="50657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870"/>
                </a:solidFill>
              </a:rPr>
              <a:t>airports and border agencies in pilot talks</a:t>
            </a:r>
            <a:endParaRPr lang="en-US" sz="1600" dirty="0"/>
          </a:p>
        </p:txBody>
      </p:sp>
      <p:sp>
        <p:nvSpPr>
          <p:cNvPr id="36" name="Shape 26"/>
          <p:cNvSpPr/>
          <p:nvPr/>
        </p:nvSpPr>
        <p:spPr>
          <a:xfrm>
            <a:off x="4572000" y="3584448"/>
            <a:ext cx="713232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7" name="Text 27"/>
          <p:cNvSpPr txBox="1"/>
          <p:nvPr/>
        </p:nvSpPr>
        <p:spPr>
          <a:xfrm>
            <a:off x="4846320" y="376732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26"/>
                </a:solidFill>
              </a:rPr>
              <a:t>Pilot scorecard, agreed before go-live</a:t>
            </a:r>
            <a:endParaRPr lang="en-US" sz="1800" dirty="0"/>
          </a:p>
        </p:txBody>
      </p:sp>
      <p:sp>
        <p:nvSpPr>
          <p:cNvPr id="38" name="Shape 28"/>
          <p:cNvSpPr/>
          <p:nvPr/>
        </p:nvSpPr>
        <p:spPr>
          <a:xfrm>
            <a:off x="4846320" y="4261104"/>
            <a:ext cx="2260775" cy="402336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4846320" y="4261104"/>
            <a:ext cx="2260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Throughput vs e-gate</a:t>
            </a:r>
            <a:endParaRPr lang="en-US" sz="1600" dirty="0"/>
          </a:p>
        </p:txBody>
      </p:sp>
      <p:sp>
        <p:nvSpPr>
          <p:cNvPr id="40" name="Shape 30"/>
          <p:cNvSpPr/>
          <p:nvPr/>
        </p:nvSpPr>
        <p:spPr>
          <a:xfrm>
            <a:off x="7235111" y="4261104"/>
            <a:ext cx="1691854" cy="402336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7235111" y="4261104"/>
            <a:ext cx="1691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Officer minutes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9054981" y="4261104"/>
            <a:ext cx="2350667" cy="402336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9054981" y="4261104"/>
            <a:ext cx="23506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False accepts / rejects</a:t>
            </a:r>
            <a:endParaRPr lang="en-US" sz="1600" dirty="0"/>
          </a:p>
        </p:txBody>
      </p:sp>
      <p:sp>
        <p:nvSpPr>
          <p:cNvPr id="44" name="Shape 34"/>
          <p:cNvSpPr/>
          <p:nvPr/>
        </p:nvSpPr>
        <p:spPr>
          <a:xfrm>
            <a:off x="4846320" y="4773168"/>
            <a:ext cx="1255292" cy="402336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4846320" y="4773168"/>
            <a:ext cx="12552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Enrolment</a:t>
            </a:r>
            <a:endParaRPr lang="en-US" sz="1600" dirty="0"/>
          </a:p>
        </p:txBody>
      </p:sp>
      <p:sp>
        <p:nvSpPr>
          <p:cNvPr id="46" name="Shape 36"/>
          <p:cNvSpPr/>
          <p:nvPr/>
        </p:nvSpPr>
        <p:spPr>
          <a:xfrm>
            <a:off x="6229628" y="4773168"/>
            <a:ext cx="4028257" cy="402336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6229628" y="4773168"/>
            <a:ext cx="40282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Kerb-to-gate (full-rollout target −20–30%)</a:t>
            </a:r>
            <a:endParaRPr lang="en-US" sz="1600" dirty="0"/>
          </a:p>
        </p:txBody>
      </p:sp>
      <p:sp>
        <p:nvSpPr>
          <p:cNvPr id="48" name="Shape 38"/>
          <p:cNvSpPr/>
          <p:nvPr/>
        </p:nvSpPr>
        <p:spPr>
          <a:xfrm>
            <a:off x="4846320" y="5394960"/>
            <a:ext cx="4649966" cy="438912"/>
          </a:xfrm>
          <a:prstGeom prst="roundRect">
            <a:avLst>
              <a:gd name="adj" fmla="val 50000"/>
            </a:avLst>
          </a:prstGeom>
          <a:solidFill>
            <a:srgbClr val="E6F2F7"/>
          </a:solidFill>
          <a:ln w="15875">
            <a:solidFill>
              <a:srgbClr val="0B84AE"/>
            </a:solidFill>
            <a:prstDash val="solid"/>
          </a:ln>
        </p:spPr>
      </p:sp>
      <p:pic>
        <p:nvPicPr>
          <p:cNvPr id="49" name="Image 5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5477256"/>
            <a:ext cx="274320" cy="274320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5340096" y="5394960"/>
            <a:ext cx="41927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Staffed fallback lane and officer override</a:t>
            </a:r>
            <a:endParaRPr lang="en-US" sz="1600" dirty="0"/>
          </a:p>
        </p:txBody>
      </p:sp>
      <p:sp>
        <p:nvSpPr>
          <p:cNvPr id="51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Tiles: product images [photo / render, confirm], specimen and mock-up screens · Company record: Singapore Airshow, Feb 2026 · Full scorecard, baseline and go/no-go: A7</a:t>
            </a:r>
            <a:endParaRPr lang="en-US" sz="900" dirty="0"/>
          </a:p>
        </p:txBody>
      </p:sp>
      <p:sp>
        <p:nvSpPr>
          <p:cNvPr id="52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6  |</a:t>
            </a:r>
            <a:endParaRPr lang="en-US" sz="1200" dirty="0"/>
          </a:p>
        </p:txBody>
      </p:sp>
      <p:grpSp>
        <p:nvGrpSpPr>
          <p:cNvPr id="53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54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55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Competition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Others match faces in stride. We add the phone.</a:t>
            </a:r>
            <a:endParaRPr lang="en-US" sz="34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Our wedge: two factors, nothing taken out, plus the security control room.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960120" y="1938528"/>
            <a:ext cx="3552444" cy="1792224"/>
          </a:xfrm>
          <a:prstGeom prst="roundRect">
            <a:avLst>
              <a:gd name="adj" fmla="val 4082"/>
            </a:avLst>
          </a:prstGeom>
          <a:solidFill>
            <a:srgbClr val="EEF1F5"/>
          </a:solidFill>
          <a:ln/>
        </p:spPr>
      </p:sp>
      <p:sp>
        <p:nvSpPr>
          <p:cNvPr id="9" name="Shape 4"/>
          <p:cNvSpPr/>
          <p:nvPr/>
        </p:nvSpPr>
        <p:spPr>
          <a:xfrm>
            <a:off x="4585716" y="1938528"/>
            <a:ext cx="3552444" cy="1792224"/>
          </a:xfrm>
          <a:prstGeom prst="roundRect">
            <a:avLst>
              <a:gd name="adj" fmla="val 4082"/>
            </a:avLst>
          </a:prstGeom>
          <a:solidFill>
            <a:srgbClr val="E6F2F7"/>
          </a:solidFill>
          <a:ln w="15875">
            <a:solidFill>
              <a:srgbClr val="0B84A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60120" y="3803904"/>
            <a:ext cx="3552444" cy="1792224"/>
          </a:xfrm>
          <a:prstGeom prst="roundRect">
            <a:avLst>
              <a:gd name="adj" fmla="val 4082"/>
            </a:avLst>
          </a:prstGeom>
          <a:solidFill>
            <a:srgbClr val="EEF1F5"/>
          </a:solidFill>
          <a:ln/>
        </p:spPr>
      </p:sp>
      <p:sp>
        <p:nvSpPr>
          <p:cNvPr id="11" name="Shape 6"/>
          <p:cNvSpPr/>
          <p:nvPr/>
        </p:nvSpPr>
        <p:spPr>
          <a:xfrm>
            <a:off x="4585716" y="3803904"/>
            <a:ext cx="3552444" cy="1792224"/>
          </a:xfrm>
          <a:prstGeom prst="roundRect">
            <a:avLst>
              <a:gd name="adj" fmla="val 4082"/>
            </a:avLst>
          </a:prstGeom>
          <a:solidFill>
            <a:srgbClr val="EEF1F5"/>
          </a:solidFill>
          <a:ln/>
        </p:spPr>
      </p:sp>
      <p:sp>
        <p:nvSpPr>
          <p:cNvPr id="12" name="Shape 7"/>
          <p:cNvSpPr/>
          <p:nvPr/>
        </p:nvSpPr>
        <p:spPr>
          <a:xfrm>
            <a:off x="960120" y="5705856"/>
            <a:ext cx="7178040" cy="914"/>
          </a:xfrm>
          <a:prstGeom prst="line">
            <a:avLst/>
          </a:prstGeom>
          <a:noFill/>
          <a:ln w="15875">
            <a:solidFill>
              <a:srgbClr val="4A5870"/>
            </a:solidFill>
            <a:prstDash val="solid"/>
            <a:tailEnd type="triangle"/>
          </a:ln>
        </p:spPr>
      </p:sp>
      <p:sp>
        <p:nvSpPr>
          <p:cNvPr id="13" name="Text 8"/>
          <p:cNvSpPr txBox="1"/>
          <p:nvPr/>
        </p:nvSpPr>
        <p:spPr>
          <a:xfrm>
            <a:off x="960120" y="575157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Stop and present  →  Clear in stride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50392" y="1938528"/>
            <a:ext cx="914" cy="3657600"/>
          </a:xfrm>
          <a:prstGeom prst="line">
            <a:avLst/>
          </a:prstGeom>
          <a:noFill/>
          <a:ln w="15875">
            <a:solidFill>
              <a:srgbClr val="4A5870"/>
            </a:solidFill>
            <a:prstDash val="solid"/>
            <a:headEnd type="triangle"/>
          </a:ln>
        </p:spPr>
      </p:sp>
      <p:sp>
        <p:nvSpPr>
          <p:cNvPr id="15" name="Text 10"/>
          <p:cNvSpPr txBox="1"/>
          <p:nvPr/>
        </p:nvSpPr>
        <p:spPr>
          <a:xfrm rot="16200000">
            <a:off x="-1563624" y="3813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Stored face only  →  Face + a credential you carry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1188720" y="2231136"/>
            <a:ext cx="130064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188720" y="2231136"/>
            <a:ext cx="13006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ABC e-gates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188720" y="2670048"/>
            <a:ext cx="188023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188720" y="2670048"/>
            <a:ext cx="188023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SITA/Indicio (Aruba)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188720" y="4096512"/>
            <a:ext cx="160356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188720" y="4096512"/>
            <a:ext cx="16035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SITA Smart Path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1188720" y="4535424"/>
            <a:ext cx="174521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188720" y="4535424"/>
            <a:ext cx="1745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Thales Fly to Gate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814316" y="4096512"/>
            <a:ext cx="148808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814316" y="4096512"/>
            <a:ext cx="14880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IDEMIA MFace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814316" y="4535424"/>
            <a:ext cx="178472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814316" y="4535424"/>
            <a:ext cx="17847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Amadeus corridors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4814316" y="4974336"/>
            <a:ext cx="20315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814316" y="4974336"/>
            <a:ext cx="2031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NEC (after kiosk step)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4860036" y="2231136"/>
            <a:ext cx="1367861" cy="402336"/>
          </a:xfrm>
          <a:prstGeom prst="roundRect">
            <a:avLst>
              <a:gd name="adj" fmla="val 50000"/>
            </a:avLst>
          </a:prstGeom>
          <a:solidFill>
            <a:srgbClr val="0B84AE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860036" y="2231136"/>
            <a:ext cx="13678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FastPass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4860036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84AE"/>
                </a:solidFill>
              </a:rPr>
              <a:t>immigration lane, prototype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4896612" y="3182112"/>
            <a:ext cx="146304" cy="146304"/>
          </a:xfrm>
          <a:prstGeom prst="ellipse">
            <a:avLst/>
          </a:prstGeom>
          <a:ln w="15875">
            <a:solidFill>
              <a:srgbClr val="8A94A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134356" y="3118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Smart-Trust (EU pilot, 2018–20)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8412480" y="2670048"/>
            <a:ext cx="3291840" cy="2615184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8595360" y="27980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526"/>
                </a:solidFill>
              </a:rPr>
              <a:t>Our wedge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4A5870"/>
                </a:solidFill>
              </a:rPr>
              <a:t>(to prove in the pilot)</a:t>
            </a:r>
            <a:endParaRPr lang="en-US" sz="1400" dirty="0"/>
          </a:p>
        </p:txBody>
      </p:sp>
      <p:pic>
        <p:nvPicPr>
          <p:cNvPr id="37" name="Image 0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538728"/>
            <a:ext cx="237744" cy="23774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924544" y="349300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Two factors, nothing taken out, in stride</a:t>
            </a:r>
            <a:endParaRPr lang="en-US" sz="1600" dirty="0"/>
          </a:p>
        </p:txBody>
      </p:sp>
      <p:pic>
        <p:nvPicPr>
          <p:cNvPr id="39" name="Image 1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087368"/>
            <a:ext cx="237744" cy="23774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924544" y="404164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Clearance events in the security control room</a:t>
            </a:r>
            <a:endParaRPr lang="en-US" sz="1600" dirty="0"/>
          </a:p>
        </p:txBody>
      </p:sp>
      <p:pic>
        <p:nvPicPr>
          <p:cNvPr id="41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636008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924544" y="459028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Starts with one lane in an existing terminal</a:t>
            </a:r>
            <a:endParaRPr lang="en-US" sz="1600" dirty="0"/>
          </a:p>
        </p:txBody>
      </p:sp>
      <p:sp>
        <p:nvSpPr>
          <p:cNvPr id="43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Placement from public sources; 'not found' ≠ 'cannot'. IDEMIA · SITA · PhocusWire · Singapore EDB · Amadeus · NEC · CORDIS 778571 · Detail: A4</a:t>
            </a:r>
            <a:endParaRPr lang="en-US" sz="900" dirty="0"/>
          </a:p>
        </p:txBody>
      </p:sp>
      <p:sp>
        <p:nvSpPr>
          <p:cNvPr id="44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7  |</a:t>
            </a:r>
            <a:endParaRPr lang="en-US" sz="1200" dirty="0"/>
          </a:p>
        </p:txBody>
      </p:sp>
      <p:grpSp>
        <p:nvGrpSpPr>
          <p:cNvPr id="45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46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Market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+mj-lt"/>
              </a:rPr>
              <a:t>US$42–94M a year by 2030, and lanes are only the wedge.</a:t>
            </a:r>
            <a:endParaRPr lang="en-US" sz="32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Deliberately narrow: e-gate and kiosk spend only, two regions.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1938528"/>
            <a:ext cx="6400800" cy="6400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40080" y="1938528"/>
            <a:ext cx="138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US$4.18B</a:t>
            </a:r>
            <a:endParaRPr lang="en-US" sz="2200" dirty="0"/>
          </a:p>
        </p:txBody>
      </p:sp>
      <p:sp>
        <p:nvSpPr>
          <p:cNvPr id="10" name="Text 5"/>
          <p:cNvSpPr txBox="1"/>
          <p:nvPr/>
        </p:nvSpPr>
        <p:spPr>
          <a:xfrm>
            <a:off x="2157760" y="19385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airport ABC market, 2030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 flipH="1">
            <a:off x="6291072" y="1883664"/>
            <a:ext cx="146304" cy="74980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 flipH="1">
            <a:off x="6409944" y="1883664"/>
            <a:ext cx="146304" cy="749808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× 10–15%  </a:t>
            </a:r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Middle East + SE Asia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573165" y="2615184"/>
            <a:ext cx="525834" cy="256032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573165" y="2615184"/>
            <a:ext cx="525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est.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2907792"/>
            <a:ext cx="3840480" cy="640080"/>
          </a:xfrm>
          <a:prstGeom prst="rect">
            <a:avLst/>
          </a:prstGeom>
          <a:solidFill>
            <a:srgbClr val="3E5C8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40080" y="2907792"/>
            <a:ext cx="20796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US$0.42–0.63B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3575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× 10–15%  </a:t>
            </a:r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FastPass-serviceable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573165" y="3584448"/>
            <a:ext cx="525834" cy="256032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573165" y="3584448"/>
            <a:ext cx="5258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est.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3877056"/>
            <a:ext cx="2194560" cy="640080"/>
          </a:xfrm>
          <a:prstGeom prst="rect">
            <a:avLst/>
          </a:prstGeom>
          <a:solidFill>
            <a:srgbClr val="0B84AE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40080" y="3877056"/>
            <a:ext cx="164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US$42–94M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2834640" y="387705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≈ 1–2.25% of the airport market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967728" y="2121408"/>
            <a:ext cx="115828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E1E6ED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967728" y="2121408"/>
            <a:ext cx="1158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Not to scale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4956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Where it grows (hypothesis)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457200" y="5340096"/>
            <a:ext cx="2894076" cy="548640"/>
          </a:xfrm>
          <a:prstGeom prst="homePlate">
            <a:avLst/>
          </a:prstGeom>
          <a:solidFill>
            <a:srgbClr val="0B84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94360" y="5340096"/>
            <a:ext cx="2299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 + SEA lanes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3241548" y="5340096"/>
            <a:ext cx="2894076" cy="548640"/>
          </a:xfrm>
          <a:prstGeom prst="chevron">
            <a:avLst/>
          </a:prstGeom>
          <a:solidFill>
            <a:srgbClr val="5FA9C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25596" y="5340096"/>
            <a:ext cx="2299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Every touchpoint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025896" y="5340096"/>
            <a:ext cx="2894076" cy="548640"/>
          </a:xfrm>
          <a:prstGeom prst="chevron">
            <a:avLst/>
          </a:prstGeom>
          <a:solidFill>
            <a:srgbClr val="9CC6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409944" y="5340096"/>
            <a:ext cx="2299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Airports worldwide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8810244" y="5340096"/>
            <a:ext cx="2894076" cy="548640"/>
          </a:xfrm>
          <a:prstGeom prst="chevron">
            <a:avLst/>
          </a:prstGeom>
          <a:solidFill>
            <a:srgbClr val="C5D6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194292" y="5340096"/>
            <a:ext cx="2299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Other borders [confirm]</a:t>
            </a:r>
            <a:endParaRPr lang="en-US" sz="1600" dirty="0"/>
          </a:p>
        </p:txBody>
      </p:sp>
      <p:sp>
        <p:nvSpPr>
          <p:cNvPr id="35" name="!!foot"/>
          <p:cNvSpPr txBox="1"/>
          <p:nvPr/>
        </p:nvSpPr>
        <p:spPr>
          <a:xfrm>
            <a:off x="960120" y="6272784"/>
            <a:ext cx="10744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Per year, 2030: US$5.03B × 83.1% = US$4.18B; × 10–15% × 10–15% = US$42–94M (midpoint ~US$65M at 12.5% × 12.5%). Shares: internal team estimates.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ABC = e-gates and kiosks, mostly one-off hardware; 83.1% is the 2025 airport share applied to 2030. MarketsandMarkets, Automated Border Control Market to 2030.</a:t>
            </a:r>
            <a:endParaRPr lang="en-US" sz="900" dirty="0"/>
          </a:p>
        </p:txBody>
      </p:sp>
      <p:sp>
        <p:nvSpPr>
          <p:cNvPr id="36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8  |</a:t>
            </a:r>
            <a:endParaRPr lang="en-US" sz="1200" dirty="0"/>
          </a:p>
        </p:txBody>
      </p:sp>
      <p:grpSp>
        <p:nvGrpSpPr>
          <p:cNvPr id="37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38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39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Business model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Land one lane. Hardware once, software every year.</a:t>
            </a:r>
            <a:endParaRPr lang="en-US" sz="34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One standard product core, reused across airports, is how margins grow.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731520" y="2212848"/>
            <a:ext cx="8435340" cy="914"/>
          </a:xfrm>
          <a:prstGeom prst="line">
            <a:avLst/>
          </a:prstGeom>
          <a:noFill/>
          <a:ln w="25400">
            <a:solidFill>
              <a:srgbClr val="0B84AE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502920" y="1984248"/>
            <a:ext cx="457200" cy="457200"/>
          </a:xfrm>
          <a:prstGeom prst="ellipse">
            <a:avLst/>
          </a:prstGeom>
          <a:solidFill>
            <a:srgbClr val="0B84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029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2560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Pilot lane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1 lane, 1 group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[paid / co-funded]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314700" y="1984248"/>
            <a:ext cx="457200" cy="457200"/>
          </a:xfrm>
          <a:prstGeom prst="ellipse">
            <a:avLst/>
          </a:prstGeom>
          <a:solidFill>
            <a:srgbClr val="0B84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31470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3268980" y="2560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Terminal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26898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more lanes + platform licence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126480" y="1984248"/>
            <a:ext cx="457200" cy="457200"/>
          </a:xfrm>
          <a:prstGeom prst="ellipse">
            <a:avLst/>
          </a:prstGeom>
          <a:solidFill>
            <a:srgbClr val="0B84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1264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080760" y="2560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Airport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08076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every touchpoint, one platform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938260" y="1984248"/>
            <a:ext cx="457200" cy="457200"/>
          </a:xfrm>
          <a:prstGeom prst="ellipse">
            <a:avLst/>
          </a:prstGeom>
          <a:solidFill>
            <a:srgbClr val="0B84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93826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892540" y="2560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Portfolio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89254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more airports, one core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365760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Revenue per lane (illustrative, not a forecast)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822960" y="5285232"/>
            <a:ext cx="960120" cy="384048"/>
          </a:xfrm>
          <a:prstGeom prst="rect">
            <a:avLst/>
          </a:prstGeom>
          <a:solidFill>
            <a:srgbClr val="0B84AE"/>
          </a:solidFill>
          <a:ln/>
        </p:spPr>
      </p:sp>
      <p:sp>
        <p:nvSpPr>
          <p:cNvPr id="27" name="Shape 22"/>
          <p:cNvSpPr/>
          <p:nvPr/>
        </p:nvSpPr>
        <p:spPr>
          <a:xfrm>
            <a:off x="822960" y="4142232"/>
            <a:ext cx="9601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22960" y="57241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Y1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2240280" y="5285232"/>
            <a:ext cx="960120" cy="384048"/>
          </a:xfrm>
          <a:prstGeom prst="rect">
            <a:avLst/>
          </a:prstGeom>
          <a:solidFill>
            <a:srgbClr val="0B84AE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2240280" y="57241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Y2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3657600" y="5285232"/>
            <a:ext cx="960120" cy="384048"/>
          </a:xfrm>
          <a:prstGeom prst="rect">
            <a:avLst/>
          </a:prstGeom>
          <a:solidFill>
            <a:srgbClr val="0B84AE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3657600" y="57241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Y3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074920" y="5285232"/>
            <a:ext cx="960120" cy="384048"/>
          </a:xfrm>
          <a:prstGeom prst="rect">
            <a:avLst/>
          </a:prstGeom>
          <a:solidFill>
            <a:srgbClr val="0B84AE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074920" y="57241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Y4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6492240" y="5285232"/>
            <a:ext cx="960120" cy="384048"/>
          </a:xfrm>
          <a:prstGeom prst="rect">
            <a:avLst/>
          </a:prstGeom>
          <a:solidFill>
            <a:srgbClr val="0B84AE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492240" y="57241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Y5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640080" y="5669280"/>
            <a:ext cx="6995160" cy="914"/>
          </a:xfrm>
          <a:prstGeom prst="line">
            <a:avLst/>
          </a:prstGeom>
          <a:noFill/>
          <a:ln w="12700">
            <a:solidFill>
              <a:srgbClr val="4A587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063240" y="4151376"/>
            <a:ext cx="164592" cy="16459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300984" y="40782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One-off: hardware + implementation</a:t>
            </a:r>
            <a:endParaRPr lang="en-US" sz="1400" dirty="0"/>
          </a:p>
        </p:txBody>
      </p:sp>
      <p:sp>
        <p:nvSpPr>
          <p:cNvPr id="40" name="Shape 35"/>
          <p:cNvSpPr/>
          <p:nvPr/>
        </p:nvSpPr>
        <p:spPr>
          <a:xfrm>
            <a:off x="6459137" y="4151376"/>
            <a:ext cx="164592" cy="164592"/>
          </a:xfrm>
          <a:prstGeom prst="rect">
            <a:avLst/>
          </a:prstGeom>
          <a:solidFill>
            <a:srgbClr val="0B84AE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6696881" y="40782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Yearly: software + SLA support</a:t>
            </a:r>
            <a:endParaRPr lang="en-US" sz="1400" dirty="0"/>
          </a:p>
        </p:txBody>
      </p:sp>
      <p:sp>
        <p:nvSpPr>
          <p:cNvPr id="42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Revenue lines from the team's commercial model · Tender price anchors (Riga, Aena) and margin comparables: A11</a:t>
            </a:r>
            <a:endParaRPr lang="en-US" sz="900" dirty="0"/>
          </a:p>
        </p:txBody>
      </p:sp>
      <p:sp>
        <p:nvSpPr>
          <p:cNvPr id="43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9  |</a:t>
            </a:r>
            <a:endParaRPr lang="en-US" sz="1200" dirty="0"/>
          </a:p>
        </p:txBody>
      </p:sp>
      <p:grpSp>
        <p:nvGrpSpPr>
          <p:cNvPr id="44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45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46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Buyer case &amp; go-to-market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Airport buys capacity. Agency gains officer time.</a:t>
            </a:r>
            <a:endParaRPr lang="en-US" sz="34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Payback is agreed per payer, before go-live.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2545"/>
                </a:solidFill>
              </a:rPr>
              <a:t>BUYS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457200" y="2212848"/>
            <a:ext cx="25603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11" name="Image 0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49631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07008" y="2395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Airport operator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640080" y="29809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more departures per lane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3057144" y="2688336"/>
            <a:ext cx="256032" cy="256032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5" name="Image 1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471" y="2744663"/>
            <a:ext cx="143378" cy="14337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352800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2545"/>
                </a:solidFill>
              </a:rPr>
              <a:t>APPROVES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3352800" y="2212848"/>
            <a:ext cx="25603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3535680" y="2395728"/>
            <a:ext cx="457200" cy="457200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19" name="Image 2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264" y="2496312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102608" y="2395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Border agency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3535680" y="29809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officers on exceptions only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952744" y="2688336"/>
            <a:ext cx="256032" cy="256032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3" name="Image 3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071" y="2744663"/>
            <a:ext cx="143378" cy="14337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248400" y="2212848"/>
            <a:ext cx="25603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6431280" y="2395728"/>
            <a:ext cx="457200" cy="457200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26" name="Image 4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864" y="2496312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998208" y="2395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Airline</a:t>
            </a:r>
            <a:endParaRPr lang="en-US" sz="1600" dirty="0"/>
          </a:p>
        </p:txBody>
      </p:sp>
      <p:sp>
        <p:nvSpPr>
          <p:cNvPr id="28" name="Text 18"/>
          <p:cNvSpPr txBox="1"/>
          <p:nvPr/>
        </p:nvSpPr>
        <p:spPr>
          <a:xfrm>
            <a:off x="6431280" y="29809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enrolment in its app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8848344" y="2688336"/>
            <a:ext cx="256032" cy="256032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0" name="Image 5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671" y="2744663"/>
            <a:ext cx="143378" cy="143378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9144000" y="2212848"/>
            <a:ext cx="25603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9326880" y="2395728"/>
            <a:ext cx="457200" cy="457200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33" name="Image 6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464" y="2496312"/>
            <a:ext cx="256032" cy="25603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9893808" y="2395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Traveller</a:t>
            </a:r>
            <a:endParaRPr lang="en-US" sz="1600" dirty="0"/>
          </a:p>
        </p:txBody>
      </p:sp>
      <p:sp>
        <p:nvSpPr>
          <p:cNvPr id="35" name="Text 23"/>
          <p:cNvSpPr txBox="1"/>
          <p:nvPr/>
        </p:nvSpPr>
        <p:spPr>
          <a:xfrm>
            <a:off x="9326880" y="29809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enrols once, no documents</a:t>
            </a:r>
            <a:endParaRPr lang="en-US" sz="1400" dirty="0"/>
          </a:p>
        </p:txBody>
      </p:sp>
      <p:sp>
        <p:nvSpPr>
          <p:cNvPr id="36" name="Shape 24"/>
          <p:cNvSpPr/>
          <p:nvPr/>
        </p:nvSpPr>
        <p:spPr>
          <a:xfrm>
            <a:off x="457200" y="3749040"/>
            <a:ext cx="11247120" cy="2286000"/>
          </a:xfrm>
          <a:prstGeom prst="roundRect">
            <a:avLst>
              <a:gd name="adj" fmla="val 4800"/>
            </a:avLst>
          </a:prstGeom>
          <a:solidFill>
            <a:srgbClr val="EEF1F5"/>
          </a:solidFill>
          <a:ln/>
        </p:spPr>
      </p:sp>
      <p:sp>
        <p:nvSpPr>
          <p:cNvPr id="37" name="Text 25"/>
          <p:cNvSpPr txBox="1"/>
          <p:nvPr/>
        </p:nvSpPr>
        <p:spPr>
          <a:xfrm>
            <a:off x="685800" y="3877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870"/>
                </a:solidFill>
              </a:rPr>
              <a:t>E-gate benchmark, not FastPass</a:t>
            </a:r>
            <a:endParaRPr lang="en-US" sz="1400" dirty="0"/>
          </a:p>
        </p:txBody>
      </p:sp>
      <p:sp>
        <p:nvSpPr>
          <p:cNvPr id="38" name="Shape 26"/>
          <p:cNvSpPr/>
          <p:nvPr/>
        </p:nvSpPr>
        <p:spPr>
          <a:xfrm>
            <a:off x="685800" y="4261104"/>
            <a:ext cx="5486400" cy="402336"/>
          </a:xfrm>
          <a:prstGeom prst="rect">
            <a:avLst/>
          </a:prstGeom>
          <a:solidFill>
            <a:srgbClr val="A3ACBA"/>
          </a:solidFill>
          <a:ln/>
        </p:spPr>
      </p:sp>
      <p:sp>
        <p:nvSpPr>
          <p:cNvPr id="39" name="Text 27"/>
          <p:cNvSpPr txBox="1"/>
          <p:nvPr/>
        </p:nvSpPr>
        <p:spPr>
          <a:xfrm>
            <a:off x="822960" y="42611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E-gate · up to 180/hr</a:t>
            </a:r>
            <a:endParaRPr lang="en-US" sz="1400" dirty="0"/>
          </a:p>
        </p:txBody>
      </p:sp>
      <p:sp>
        <p:nvSpPr>
          <p:cNvPr id="40" name="Shape 28"/>
          <p:cNvSpPr/>
          <p:nvPr/>
        </p:nvSpPr>
        <p:spPr>
          <a:xfrm>
            <a:off x="685800" y="4754880"/>
            <a:ext cx="2011680" cy="402336"/>
          </a:xfrm>
          <a:prstGeom prst="rect">
            <a:avLst/>
          </a:prstGeom>
          <a:solidFill>
            <a:srgbClr val="A3ACBA"/>
          </a:solidFill>
          <a:ln/>
        </p:spPr>
      </p:sp>
      <p:sp>
        <p:nvSpPr>
          <p:cNvPr id="41" name="Text 29"/>
          <p:cNvSpPr txBox="1"/>
          <p:nvPr/>
        </p:nvSpPr>
        <p:spPr>
          <a:xfrm>
            <a:off x="2834640" y="475488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870"/>
                </a:solidFill>
              </a:rPr>
              <a:t>Staffed booth · 60–70/hr</a:t>
            </a:r>
            <a:endParaRPr lang="en-US" sz="1400" dirty="0"/>
          </a:p>
        </p:txBody>
      </p:sp>
      <p:sp>
        <p:nvSpPr>
          <p:cNvPr id="42" name="Shape 30"/>
          <p:cNvSpPr/>
          <p:nvPr/>
        </p:nvSpPr>
        <p:spPr>
          <a:xfrm>
            <a:off x="6720840" y="4023360"/>
            <a:ext cx="914" cy="1737360"/>
          </a:xfrm>
          <a:prstGeom prst="line">
            <a:avLst/>
          </a:prstGeom>
          <a:noFill/>
          <a:ln w="12700">
            <a:solidFill>
              <a:srgbClr val="C9D1DC"/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7132320" y="39502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1 officer 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4–10 e-gates</a:t>
            </a:r>
            <a:endParaRPr lang="en-US" sz="2800" dirty="0"/>
          </a:p>
        </p:txBody>
      </p:sp>
      <p:sp>
        <p:nvSpPr>
          <p:cNvPr id="44" name="Shape 32"/>
          <p:cNvSpPr/>
          <p:nvPr/>
        </p:nvSpPr>
        <p:spPr>
          <a:xfrm>
            <a:off x="7132320" y="516636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B84AE"/>
            </a:solidFill>
            <a:prstDash val="dash"/>
          </a:ln>
        </p:spPr>
      </p:sp>
      <p:sp>
        <p:nvSpPr>
          <p:cNvPr id="45" name="Text 33"/>
          <p:cNvSpPr txBox="1"/>
          <p:nvPr/>
        </p:nvSpPr>
        <p:spPr>
          <a:xfrm>
            <a:off x="7296912" y="51663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84AE"/>
                </a:solidFill>
              </a:rPr>
              <a:t>FastPass: [X]/hr target, vs this baseline</a:t>
            </a:r>
            <a:endParaRPr lang="en-US" sz="1400" dirty="0"/>
          </a:p>
        </p:txBody>
      </p:sp>
      <p:sp>
        <p:nvSpPr>
          <p:cNvPr id="46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Riga Airport / State Border Guard of Latvia (AviationPros) · UK Border Force Aviation Forum minutes (Feb 2018) · Payback per payer: A11 · Target filter: A3</a:t>
            </a:r>
            <a:endParaRPr lang="en-US" sz="900" dirty="0"/>
          </a:p>
        </p:txBody>
      </p:sp>
      <p:sp>
        <p:nvSpPr>
          <p:cNvPr id="47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10  |</a:t>
            </a:r>
            <a:endParaRPr lang="en-US" sz="1200" dirty="0"/>
          </a:p>
        </p:txBody>
      </p:sp>
      <p:grpSp>
        <p:nvGrpSpPr>
          <p:cNvPr id="48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49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50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Team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526"/>
                </a:solidFill>
                <a:latin typeface="+mj-lt"/>
              </a:rPr>
              <a:t>The team that built and demoed the prototype.</a:t>
            </a:r>
            <a:endParaRPr lang="en-US" sz="34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Three ST Engineering business areas; venture-built via STEV / In.Vent [structure TBC].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1920240"/>
            <a:ext cx="21945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594360" y="2057400"/>
            <a:ext cx="731520" cy="731520"/>
          </a:xfrm>
          <a:prstGeom prst="ellipse">
            <a:avLst/>
          </a:prstGeom>
          <a:solidFill>
            <a:srgbClr val="DDE3EA"/>
          </a:solidFill>
          <a:ln/>
        </p:spPr>
      </p:sp>
      <p:pic>
        <p:nvPicPr>
          <p:cNvPr id="10" name="Image 0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221992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21031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[Name]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1453896" y="2505456"/>
            <a:ext cx="146304" cy="146304"/>
          </a:xfrm>
          <a:prstGeom prst="ellipse">
            <a:avLst/>
          </a:prstGeom>
          <a:ln w="15875">
            <a:solidFill>
              <a:srgbClr val="8A94A6"/>
            </a:solidFill>
            <a:prstDash val="dash"/>
          </a:ln>
        </p:spPr>
      </p:sp>
      <p:sp>
        <p:nvSpPr>
          <p:cNvPr id="13" name="Text 7"/>
          <p:cNvSpPr txBox="1"/>
          <p:nvPr/>
        </p:nvSpPr>
        <p:spPr>
          <a:xfrm>
            <a:off x="1664208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[FT / PT]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594360" y="287121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84AE"/>
                </a:solidFill>
              </a:rPr>
              <a:t>[Venture lead / GM]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594360" y="336499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[proof, ≤5 words]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2743200" y="1920240"/>
            <a:ext cx="21945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2880360" y="2057400"/>
            <a:ext cx="731520" cy="731520"/>
          </a:xfrm>
          <a:prstGeom prst="ellipse">
            <a:avLst/>
          </a:prstGeom>
          <a:solidFill>
            <a:srgbClr val="DDE3EA"/>
          </a:solidFill>
          <a:ln/>
        </p:spPr>
      </p:sp>
      <p:pic>
        <p:nvPicPr>
          <p:cNvPr id="18" name="Image 1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2221992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721608" y="21031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[Name]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3739896" y="2505456"/>
            <a:ext cx="146304" cy="146304"/>
          </a:xfrm>
          <a:prstGeom prst="ellipse">
            <a:avLst/>
          </a:prstGeom>
          <a:ln w="15875">
            <a:solidFill>
              <a:srgbClr val="8A94A6"/>
            </a:solidFill>
            <a:prstDash val="dash"/>
          </a:ln>
        </p:spPr>
      </p:sp>
      <p:sp>
        <p:nvSpPr>
          <p:cNvPr id="21" name="Text 14"/>
          <p:cNvSpPr txBox="1"/>
          <p:nvPr/>
        </p:nvSpPr>
        <p:spPr>
          <a:xfrm>
            <a:off x="3950208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[FT / PT]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2880360" y="287121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84AE"/>
                </a:solidFill>
              </a:rPr>
              <a:t>Product (CPO)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2880360" y="336499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[proof]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029200" y="1920240"/>
            <a:ext cx="21945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166360" y="2057400"/>
            <a:ext cx="731520" cy="731520"/>
          </a:xfrm>
          <a:prstGeom prst="ellipse">
            <a:avLst/>
          </a:prstGeom>
          <a:solidFill>
            <a:srgbClr val="DDE3EA"/>
          </a:solidFill>
          <a:ln/>
        </p:spPr>
      </p:sp>
      <p:pic>
        <p:nvPicPr>
          <p:cNvPr id="26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221992"/>
            <a:ext cx="402336" cy="4023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007608" y="21031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[Name]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025896" y="2505456"/>
            <a:ext cx="146304" cy="146304"/>
          </a:xfrm>
          <a:prstGeom prst="ellipse">
            <a:avLst/>
          </a:prstGeom>
          <a:ln w="15875">
            <a:solidFill>
              <a:srgbClr val="8A94A6"/>
            </a:solidFill>
            <a:prstDash val="dash"/>
          </a:ln>
        </p:spPr>
      </p:sp>
      <p:sp>
        <p:nvSpPr>
          <p:cNvPr id="29" name="Text 21"/>
          <p:cNvSpPr txBox="1"/>
          <p:nvPr/>
        </p:nvSpPr>
        <p:spPr>
          <a:xfrm>
            <a:off x="6236208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[FT / PT]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5166360" y="287121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84AE"/>
                </a:solidFill>
              </a:rPr>
              <a:t>Marketing (CMO)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5166360" y="336499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[proof]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457200" y="3913632"/>
            <a:ext cx="21945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594360" y="4050792"/>
            <a:ext cx="731520" cy="731520"/>
          </a:xfrm>
          <a:prstGeom prst="ellipse">
            <a:avLst/>
          </a:prstGeom>
          <a:solidFill>
            <a:srgbClr val="DDE3EA"/>
          </a:solidFill>
          <a:ln/>
        </p:spPr>
      </p:sp>
      <p:pic>
        <p:nvPicPr>
          <p:cNvPr id="34" name="Image 3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215384"/>
            <a:ext cx="402336" cy="40233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435608" y="40965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[Name]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1453896" y="4498848"/>
            <a:ext cx="146304" cy="146304"/>
          </a:xfrm>
          <a:prstGeom prst="ellipse">
            <a:avLst/>
          </a:prstGeom>
          <a:ln w="15875">
            <a:solidFill>
              <a:srgbClr val="8A94A6"/>
            </a:solidFill>
            <a:prstDash val="dash"/>
          </a:ln>
        </p:spPr>
      </p:sp>
      <p:sp>
        <p:nvSpPr>
          <p:cNvPr id="37" name="Text 28"/>
          <p:cNvSpPr txBox="1"/>
          <p:nvPr/>
        </p:nvSpPr>
        <p:spPr>
          <a:xfrm>
            <a:off x="1664208" y="4425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[FT / PT]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594360" y="48646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84AE"/>
                </a:solidFill>
              </a:rPr>
              <a:t>[Technology: biometrics, BLE, platform]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594360" y="535838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[proof]</a:t>
            </a:r>
            <a:endParaRPr lang="en-US" sz="1400" dirty="0"/>
          </a:p>
        </p:txBody>
      </p:sp>
      <p:sp>
        <p:nvSpPr>
          <p:cNvPr id="40" name="Shape 31"/>
          <p:cNvSpPr/>
          <p:nvPr/>
        </p:nvSpPr>
        <p:spPr>
          <a:xfrm>
            <a:off x="2743200" y="3913632"/>
            <a:ext cx="21945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2880360" y="4050792"/>
            <a:ext cx="731520" cy="731520"/>
          </a:xfrm>
          <a:prstGeom prst="ellipse">
            <a:avLst/>
          </a:prstGeom>
          <a:solidFill>
            <a:srgbClr val="FFF4E5"/>
          </a:solidFill>
          <a:ln/>
        </p:spPr>
      </p:sp>
      <p:pic>
        <p:nvPicPr>
          <p:cNvPr id="42" name="Image 4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294" y="4211726"/>
            <a:ext cx="409651" cy="409651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3721608" y="42428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Open role</a:t>
            </a:r>
            <a:endParaRPr lang="en-US" sz="1600" dirty="0"/>
          </a:p>
        </p:txBody>
      </p:sp>
      <p:sp>
        <p:nvSpPr>
          <p:cNvPr id="44" name="Text 34"/>
          <p:cNvSpPr txBox="1"/>
          <p:nvPr/>
        </p:nvSpPr>
        <p:spPr>
          <a:xfrm>
            <a:off x="2880360" y="4828032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Hiring now: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commercial lead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+ certification &amp; privacy lead (this round)</a:t>
            </a:r>
            <a:endParaRPr lang="en-US" sz="1400" dirty="0"/>
          </a:p>
        </p:txBody>
      </p:sp>
      <p:sp>
        <p:nvSpPr>
          <p:cNvPr id="45" name="Shape 35"/>
          <p:cNvSpPr/>
          <p:nvPr/>
        </p:nvSpPr>
        <p:spPr>
          <a:xfrm>
            <a:off x="5029200" y="3913632"/>
            <a:ext cx="21945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5166360" y="4050792"/>
            <a:ext cx="731520" cy="731520"/>
          </a:xfrm>
          <a:prstGeom prst="ellipse">
            <a:avLst/>
          </a:prstGeom>
          <a:solidFill>
            <a:srgbClr val="F1F4F8"/>
          </a:solidFill>
          <a:ln/>
        </p:spPr>
      </p:sp>
      <p:pic>
        <p:nvPicPr>
          <p:cNvPr id="47" name="Image 5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294" y="4211726"/>
            <a:ext cx="409651" cy="409651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007608" y="42428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</a:rPr>
              <a:t>Advisors</a:t>
            </a:r>
            <a:endParaRPr lang="en-US" sz="1600" dirty="0"/>
          </a:p>
        </p:txBody>
      </p:sp>
      <p:sp>
        <p:nvSpPr>
          <p:cNvPr id="49" name="Text 38"/>
          <p:cNvSpPr txBox="1"/>
          <p:nvPr/>
        </p:nvSpPr>
        <p:spPr>
          <a:xfrm>
            <a:off x="5166360" y="486460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[border-agency official]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[airport operations executive]</a:t>
            </a:r>
            <a:endParaRPr lang="en-US" sz="1400" dirty="0"/>
          </a:p>
        </p:txBody>
      </p:sp>
      <p:sp>
        <p:nvSpPr>
          <p:cNvPr id="50" name="Shape 39"/>
          <p:cNvSpPr/>
          <p:nvPr/>
        </p:nvSpPr>
        <p:spPr>
          <a:xfrm>
            <a:off x="475488" y="5916168"/>
            <a:ext cx="137160" cy="1371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1" name="Text 40"/>
          <p:cNvSpPr txBox="1"/>
          <p:nvPr/>
        </p:nvSpPr>
        <p:spPr>
          <a:xfrm>
            <a:off x="667512" y="5852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full-time</a:t>
            </a:r>
            <a:endParaRPr lang="en-US" sz="1400" dirty="0"/>
          </a:p>
        </p:txBody>
      </p:sp>
      <p:sp>
        <p:nvSpPr>
          <p:cNvPr id="52" name="Shape 41"/>
          <p:cNvSpPr/>
          <p:nvPr/>
        </p:nvSpPr>
        <p:spPr>
          <a:xfrm>
            <a:off x="7498080" y="1920240"/>
            <a:ext cx="4206240" cy="3895344"/>
          </a:xfrm>
          <a:prstGeom prst="roundRect">
            <a:avLst>
              <a:gd name="adj" fmla="val 328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53" name="Text 42"/>
          <p:cNvSpPr txBox="1"/>
          <p:nvPr/>
        </p:nvSpPr>
        <p:spPr>
          <a:xfrm>
            <a:off x="7772400" y="2121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an investor would own</a:t>
            </a:r>
            <a:endParaRPr lang="en-US" sz="1700" dirty="0"/>
          </a:p>
        </p:txBody>
      </p:sp>
      <p:sp>
        <p:nvSpPr>
          <p:cNvPr id="54" name="Shape 43"/>
          <p:cNvSpPr/>
          <p:nvPr/>
        </p:nvSpPr>
        <p:spPr>
          <a:xfrm>
            <a:off x="7772400" y="2743200"/>
            <a:ext cx="420624" cy="420624"/>
          </a:xfrm>
          <a:prstGeom prst="ellipse">
            <a:avLst/>
          </a:prstGeom>
          <a:solidFill>
            <a:srgbClr val="1D3C66"/>
          </a:solidFill>
          <a:ln/>
        </p:spPr>
      </p:sp>
      <p:pic>
        <p:nvPicPr>
          <p:cNvPr id="55" name="Image 6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937" y="2835737"/>
            <a:ext cx="235549" cy="235549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8321040" y="26883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Structure: [NewCo / internal venture, TBC]</a:t>
            </a:r>
            <a:endParaRPr lang="en-US" sz="1400" dirty="0"/>
          </a:p>
        </p:txBody>
      </p:sp>
      <p:sp>
        <p:nvSpPr>
          <p:cNvPr id="57" name="Shape 45"/>
          <p:cNvSpPr/>
          <p:nvPr/>
        </p:nvSpPr>
        <p:spPr>
          <a:xfrm>
            <a:off x="7772400" y="3474720"/>
            <a:ext cx="420624" cy="420624"/>
          </a:xfrm>
          <a:prstGeom prst="ellipse">
            <a:avLst/>
          </a:prstGeom>
          <a:solidFill>
            <a:srgbClr val="1D3C66"/>
          </a:solidFill>
          <a:ln/>
        </p:spPr>
      </p:sp>
      <p:pic>
        <p:nvPicPr>
          <p:cNvPr id="58" name="Image 7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4937" y="3567257"/>
            <a:ext cx="235549" cy="235549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8321040" y="34198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IP and platform owner: [TBC]</a:t>
            </a:r>
            <a:endParaRPr lang="en-US" sz="1400" dirty="0"/>
          </a:p>
        </p:txBody>
      </p:sp>
      <p:sp>
        <p:nvSpPr>
          <p:cNvPr id="60" name="Shape 47"/>
          <p:cNvSpPr/>
          <p:nvPr/>
        </p:nvSpPr>
        <p:spPr>
          <a:xfrm>
            <a:off x="7772400" y="4206240"/>
            <a:ext cx="420624" cy="420624"/>
          </a:xfrm>
          <a:prstGeom prst="ellipse">
            <a:avLst/>
          </a:prstGeom>
          <a:solidFill>
            <a:srgbClr val="1D3C66"/>
          </a:solidFill>
          <a:ln/>
        </p:spPr>
      </p:sp>
      <p:pic>
        <p:nvPicPr>
          <p:cNvPr id="61" name="Image 8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4937" y="4298777"/>
            <a:ext cx="235549" cy="235549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8321040" y="41513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Group supply on arm's-length terms [TBC]</a:t>
            </a:r>
            <a:endParaRPr lang="en-US" sz="1400" dirty="0"/>
          </a:p>
        </p:txBody>
      </p:sp>
      <p:sp>
        <p:nvSpPr>
          <p:cNvPr id="63" name="Shape 49"/>
          <p:cNvSpPr/>
          <p:nvPr/>
        </p:nvSpPr>
        <p:spPr>
          <a:xfrm>
            <a:off x="7772400" y="4937760"/>
            <a:ext cx="420624" cy="420624"/>
          </a:xfrm>
          <a:prstGeom prst="ellipse">
            <a:avLst/>
          </a:prstGeom>
          <a:solidFill>
            <a:srgbClr val="1D3C66"/>
          </a:solidFill>
          <a:ln/>
        </p:spPr>
      </p:sp>
      <p:pic>
        <p:nvPicPr>
          <p:cNvPr id="64" name="Image 9" descr="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4937" y="5030297"/>
            <a:ext cx="235549" cy="235549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8321040" y="488289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35+ years of secure delivery (company claim)</a:t>
            </a:r>
            <a:endParaRPr lang="en-US" sz="1400" dirty="0"/>
          </a:p>
        </p:txBody>
      </p:sp>
      <p:sp>
        <p:nvSpPr>
          <p:cNvPr id="66" name="!!foot"/>
          <p:cNvSpPr txBox="1"/>
          <p:nvPr/>
        </p:nvSpPr>
        <p:spPr>
          <a:xfrm>
            <a:off x="960120" y="635508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Business areas: Smart Security &amp; Automation · Smart Utilities &amp; Infrastructure · Urban Solutions</a:t>
            </a:r>
            <a:endParaRPr lang="en-US" sz="900" dirty="0"/>
          </a:p>
        </p:txBody>
      </p:sp>
      <p:sp>
        <p:nvSpPr>
          <p:cNvPr id="67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11  |</a:t>
            </a:r>
            <a:endParaRPr lang="en-US" sz="1200" dirty="0"/>
          </a:p>
        </p:txBody>
      </p:sp>
      <p:grpSp>
        <p:nvGrpSpPr>
          <p:cNvPr id="68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69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!!eyebrow"/>
          <p:cNvSpPr txBox="1"/>
          <p:nvPr/>
        </p:nvSpPr>
        <p:spPr>
          <a:xfrm>
            <a:off x="548640" y="713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+mj-lt"/>
              </a:rPr>
              <a:t>THE ASK</a:t>
            </a:r>
            <a:endParaRPr lang="en-US" sz="14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102412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+mj-lt"/>
              </a:rPr>
              <a:t>[US$X M] from first lane to first paid order by [2028].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934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[N] months of runway; each milestone retires a named risk.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121408"/>
            <a:ext cx="2542032" cy="1993392"/>
          </a:xfrm>
          <a:prstGeom prst="roundRect">
            <a:avLst>
              <a:gd name="adj" fmla="val 5505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M1 · [Qx 2027]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68833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Pilot signed: airport + agency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3232" y="3511296"/>
            <a:ext cx="2212848" cy="914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Risk retired: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agency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27248" y="299008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575" y="3046415"/>
            <a:ext cx="143378" cy="14337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19856" y="2121408"/>
            <a:ext cx="2542032" cy="1993392"/>
          </a:xfrm>
          <a:prstGeom prst="roundRect">
            <a:avLst>
              <a:gd name="adj" fmla="val 5505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557016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M2 · [Qx 2027]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84448" y="268833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Lane live, independent tests passed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584448" y="3511296"/>
            <a:ext cx="2212848" cy="914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584448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Risk retired: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998464" y="299008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791" y="3046415"/>
            <a:ext cx="143378" cy="14337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91072" y="2121408"/>
            <a:ext cx="2542032" cy="1993392"/>
          </a:xfrm>
          <a:prstGeom prst="roundRect">
            <a:avLst>
              <a:gd name="adj" fmla="val 5505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28232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M3 · [Qx 2028]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55664" y="268833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KPIs read out; miss → stop or redesign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455664" y="3511296"/>
            <a:ext cx="2212848" cy="914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55664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Risk retired: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operational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869680" y="299008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007" y="3046415"/>
            <a:ext cx="143378" cy="14337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162288" y="2121408"/>
            <a:ext cx="2542032" cy="1993392"/>
          </a:xfrm>
          <a:prstGeom prst="roundRect">
            <a:avLst>
              <a:gd name="adj" fmla="val 5505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299448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M4 · [Qx 2028]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9326880" y="268833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First paid multi-lane order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9326880" y="3511296"/>
            <a:ext cx="2212848" cy="914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326880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Risk retired: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commercial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548640" y="4389120"/>
            <a:ext cx="6217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777240" y="44988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</a:rPr>
              <a:t>Today we ask for</a:t>
            </a:r>
            <a:endParaRPr lang="en-US" sz="1700" dirty="0"/>
          </a:p>
        </p:txBody>
      </p:sp>
      <p:sp>
        <p:nvSpPr>
          <p:cNvPr id="34" name="Text 28"/>
          <p:cNvSpPr txBox="1"/>
          <p:nvPr/>
        </p:nvSpPr>
        <p:spPr>
          <a:xfrm>
            <a:off x="777240" y="4901184"/>
            <a:ext cx="5852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4556"/>
                </a:solidFill>
              </a:rPr>
              <a:t>1   [A US$X M round, [instrument]]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4556"/>
                </a:solidFill>
              </a:rPr>
              <a:t>2   [Help hiring a commercial lead]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7178040" y="43891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trusted identity layer for every checkpoint.</a:t>
            </a:r>
            <a:endParaRPr lang="en-US" sz="2600" dirty="0"/>
          </a:p>
        </p:txBody>
      </p:sp>
      <p:sp>
        <p:nvSpPr>
          <p:cNvPr id="36" name="!!foot"/>
          <p:cNvSpPr txBox="1"/>
          <p:nvPr/>
        </p:nvSpPr>
        <p:spPr>
          <a:xfrm>
            <a:off x="960120" y="6327648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</a:rPr>
              <a:t>[Structure: NewCo · IP assigned / licensed · ST Engineering as shareholder / supplier] · [Name, role, email]</a:t>
            </a:r>
            <a:endParaRPr lang="en-US" sz="1200" dirty="0"/>
          </a:p>
        </p:txBody>
      </p:sp>
      <p:sp>
        <p:nvSpPr>
          <p:cNvPr id="37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</a:rPr>
              <a:t>12  |</a:t>
            </a:r>
            <a:endParaRPr lang="en-US" sz="1200" dirty="0"/>
          </a:p>
        </p:txBody>
      </p:sp>
      <p:sp>
        <p:nvSpPr>
          <p:cNvPr id="38" name="!!appxlink">
            <a:hlinkClick action="ppaction://hlinksldjump" r:id="rId4"/>
          </p:cNvPr>
          <p:cNvSpPr/>
          <p:nvPr/>
        </p:nvSpPr>
        <p:spPr>
          <a:xfrm>
            <a:off x="11658600" y="6355080"/>
            <a:ext cx="4572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Appendix: backup for diligence and Q&amp;A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Click a row to open it. Every external figure is mapped to a source in A1.</a:t>
            </a:r>
            <a:endParaRPr lang="en-US" sz="1800" dirty="0"/>
          </a:p>
        </p:txBody>
      </p:sp>
      <p:sp>
        <p:nvSpPr>
          <p:cNvPr id="8" name="!!lnk-A1">
            <a:hlinkClick action="ppaction://hlinksldjump" r:id="rId5"/>
          </p:cNvPr>
          <p:cNvSpPr/>
          <p:nvPr/>
        </p:nvSpPr>
        <p:spPr>
          <a:xfrm>
            <a:off x="457200" y="192024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621792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A1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123444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Source map</a:t>
            </a:r>
            <a:endParaRPr lang="en-US" sz="1600" dirty="0"/>
          </a:p>
        </p:txBody>
      </p:sp>
      <p:sp>
        <p:nvSpPr>
          <p:cNvPr id="11" name="!!lnk-A2a">
            <a:hlinkClick action="ppaction://hlinksldjump" r:id="rId6"/>
          </p:cNvPr>
          <p:cNvSpPr/>
          <p:nvPr/>
        </p:nvSpPr>
        <p:spPr>
          <a:xfrm>
            <a:off x="457200" y="244602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621792" y="24460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A2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24460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Full journey, hardware and the BLE lane</a:t>
            </a:r>
            <a:endParaRPr lang="en-US" sz="1600" dirty="0"/>
          </a:p>
        </p:txBody>
      </p:sp>
      <p:sp>
        <p:nvSpPr>
          <p:cNvPr id="14" name="!!lnk-A3a">
            <a:hlinkClick action="ppaction://hlinksldjump" r:id="rId7"/>
          </p:cNvPr>
          <p:cNvSpPr/>
          <p:nvPr/>
        </p:nvSpPr>
        <p:spPr>
          <a:xfrm>
            <a:off x="457200" y="297180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621792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A3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Market maths, segment and regional context</a:t>
            </a:r>
            <a:endParaRPr lang="en-US" sz="1600" dirty="0"/>
          </a:p>
        </p:txBody>
      </p:sp>
      <p:sp>
        <p:nvSpPr>
          <p:cNvPr id="17" name="!!lnk-A4a">
            <a:hlinkClick action="ppaction://hlinksldjump" r:id="rId8"/>
          </p:cNvPr>
          <p:cNvSpPr/>
          <p:nvPr/>
        </p:nvSpPr>
        <p:spPr>
          <a:xfrm>
            <a:off x="457200" y="349758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621792" y="34975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A4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234440" y="34975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Competitor matrix, evidence and moat</a:t>
            </a:r>
            <a:endParaRPr lang="en-US" sz="1600" dirty="0"/>
          </a:p>
        </p:txBody>
      </p:sp>
      <p:sp>
        <p:nvSpPr>
          <p:cNvPr id="20" name="!!lnk-A5">
            <a:hlinkClick action="ppaction://hlinksldjump" r:id="rId9"/>
          </p:cNvPr>
          <p:cNvSpPr/>
          <p:nvPr/>
        </p:nvSpPr>
        <p:spPr>
          <a:xfrm>
            <a:off x="457200" y="402336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21792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A5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23444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Category exits and consolidation</a:t>
            </a:r>
            <a:endParaRPr lang="en-US" sz="1600" dirty="0"/>
          </a:p>
        </p:txBody>
      </p:sp>
      <p:sp>
        <p:nvSpPr>
          <p:cNvPr id="23" name="!!lnk-A6">
            <a:hlinkClick action="ppaction://hlinksldjump" r:id="rId10"/>
          </p:cNvPr>
          <p:cNvSpPr/>
          <p:nvPr/>
        </p:nvSpPr>
        <p:spPr>
          <a:xfrm>
            <a:off x="457200" y="454914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621792" y="45491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A6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1234440" y="45491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AGIL® Secure Platform detail</a:t>
            </a:r>
            <a:endParaRPr lang="en-US" sz="1600" dirty="0"/>
          </a:p>
        </p:txBody>
      </p:sp>
      <p:sp>
        <p:nvSpPr>
          <p:cNvPr id="26" name="!!lnk-A7a">
            <a:hlinkClick action="ppaction://hlinksldjump" r:id="rId11"/>
          </p:cNvPr>
          <p:cNvSpPr/>
          <p:nvPr/>
        </p:nvSpPr>
        <p:spPr>
          <a:xfrm>
            <a:off x="457200" y="507492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621792" y="5074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A7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1234440" y="5074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Pilot design and full scorecard</a:t>
            </a:r>
            <a:endParaRPr lang="en-US" sz="1600" dirty="0"/>
          </a:p>
        </p:txBody>
      </p:sp>
      <p:sp>
        <p:nvSpPr>
          <p:cNvPr id="29" name="!!lnk-A8">
            <a:hlinkClick action="ppaction://hlinksldjump" r:id="rId12"/>
          </p:cNvPr>
          <p:cNvSpPr/>
          <p:nvPr/>
        </p:nvSpPr>
        <p:spPr>
          <a:xfrm>
            <a:off x="457200" y="560070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621792" y="56007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A8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1234440" y="56007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Trust, privacy and security</a:t>
            </a:r>
            <a:endParaRPr lang="en-US" sz="1600" dirty="0"/>
          </a:p>
        </p:txBody>
      </p:sp>
      <p:sp>
        <p:nvSpPr>
          <p:cNvPr id="32" name="!!lnk-A9">
            <a:hlinkClick action="ppaction://hlinksldjump" r:id="rId13"/>
          </p:cNvPr>
          <p:cNvSpPr/>
          <p:nvPr/>
        </p:nvSpPr>
        <p:spPr>
          <a:xfrm>
            <a:off x="6217920" y="192024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3" name="Text 28"/>
          <p:cNvSpPr txBox="1"/>
          <p:nvPr/>
        </p:nvSpPr>
        <p:spPr>
          <a:xfrm>
            <a:off x="6382512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A9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699516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Regulatory and standards path</a:t>
            </a:r>
            <a:endParaRPr lang="en-US" sz="1600" dirty="0"/>
          </a:p>
        </p:txBody>
      </p:sp>
      <p:sp>
        <p:nvSpPr>
          <p:cNvPr id="35" name="!!lnk-A10a">
            <a:hlinkClick action="ppaction://hlinksldjump" r:id="rId14"/>
          </p:cNvPr>
          <p:cNvSpPr/>
          <p:nvPr/>
        </p:nvSpPr>
        <p:spPr>
          <a:xfrm>
            <a:off x="6217920" y="244602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6382512" y="24460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A10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6995160" y="24460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Risks and the milestone that retires each</a:t>
            </a:r>
            <a:endParaRPr lang="en-US" sz="1600" dirty="0"/>
          </a:p>
        </p:txBody>
      </p:sp>
      <p:sp>
        <p:nvSpPr>
          <p:cNvPr id="38" name="!!lnk-A11a">
            <a:hlinkClick action="ppaction://hlinksldjump" r:id="rId15"/>
          </p:cNvPr>
          <p:cNvSpPr/>
          <p:nvPr/>
        </p:nvSpPr>
        <p:spPr>
          <a:xfrm>
            <a:off x="6217920" y="297180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6382512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A11</a:t>
            </a:r>
            <a:endParaRPr lang="en-US" sz="1600" dirty="0"/>
          </a:p>
        </p:txBody>
      </p:sp>
      <p:sp>
        <p:nvSpPr>
          <p:cNvPr id="40" name="Text 35"/>
          <p:cNvSpPr txBox="1"/>
          <p:nvPr/>
        </p:nvSpPr>
        <p:spPr>
          <a:xfrm>
            <a:off x="699516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Unit economics, payback per payer and plan</a:t>
            </a:r>
            <a:endParaRPr lang="en-US" sz="1600" dirty="0"/>
          </a:p>
        </p:txBody>
      </p:sp>
      <p:sp>
        <p:nvSpPr>
          <p:cNvPr id="41" name="!!lnk-A12">
            <a:hlinkClick action="ppaction://hlinksldjump" r:id="rId16"/>
          </p:cNvPr>
          <p:cNvSpPr/>
          <p:nvPr/>
        </p:nvSpPr>
        <p:spPr>
          <a:xfrm>
            <a:off x="6217920" y="349758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2" name="Text 37"/>
          <p:cNvSpPr txBox="1"/>
          <p:nvPr/>
        </p:nvSpPr>
        <p:spPr>
          <a:xfrm>
            <a:off x="6382512" y="34975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A12</a:t>
            </a:r>
            <a:endParaRPr lang="en-US" sz="1600" dirty="0"/>
          </a:p>
        </p:txBody>
      </p:sp>
      <p:sp>
        <p:nvSpPr>
          <p:cNvPr id="43" name="Text 38"/>
          <p:cNvSpPr txBox="1"/>
          <p:nvPr/>
        </p:nvSpPr>
        <p:spPr>
          <a:xfrm>
            <a:off x="6995160" y="34975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Team detail and what an investor would own</a:t>
            </a:r>
            <a:endParaRPr lang="en-US" sz="1600" dirty="0"/>
          </a:p>
        </p:txBody>
      </p:sp>
      <p:sp>
        <p:nvSpPr>
          <p:cNvPr id="44" name="!!lnk-A13">
            <a:hlinkClick action="ppaction://hlinksldjump" r:id="rId17"/>
          </p:cNvPr>
          <p:cNvSpPr/>
          <p:nvPr/>
        </p:nvSpPr>
        <p:spPr>
          <a:xfrm>
            <a:off x="6217920" y="402336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5" name="Text 40"/>
          <p:cNvSpPr txBox="1"/>
          <p:nvPr/>
        </p:nvSpPr>
        <p:spPr>
          <a:xfrm>
            <a:off x="6382512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A13</a:t>
            </a:r>
            <a:endParaRPr lang="en-US" sz="1600" dirty="0"/>
          </a:p>
        </p:txBody>
      </p:sp>
      <p:sp>
        <p:nvSpPr>
          <p:cNvPr id="46" name="Text 41"/>
          <p:cNvSpPr txBox="1"/>
          <p:nvPr/>
        </p:nvSpPr>
        <p:spPr>
          <a:xfrm>
            <a:off x="699516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Assumptions register</a:t>
            </a:r>
            <a:endParaRPr lang="en-US" sz="1600" dirty="0"/>
          </a:p>
        </p:txBody>
      </p:sp>
      <p:sp>
        <p:nvSpPr>
          <p:cNvPr id="47" name="!!lnk-A14a">
            <a:hlinkClick action="ppaction://hlinksldjump" r:id="rId18"/>
          </p:cNvPr>
          <p:cNvSpPr/>
          <p:nvPr/>
        </p:nvSpPr>
        <p:spPr>
          <a:xfrm>
            <a:off x="6217920" y="454914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8" name="Text 43"/>
          <p:cNvSpPr txBox="1"/>
          <p:nvPr/>
        </p:nvSpPr>
        <p:spPr>
          <a:xfrm>
            <a:off x="6382512" y="45491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A14</a:t>
            </a:r>
            <a:endParaRPr lang="en-US" sz="1600" dirty="0"/>
          </a:p>
        </p:txBody>
      </p:sp>
      <p:sp>
        <p:nvSpPr>
          <p:cNvPr id="49" name="Text 44"/>
          <p:cNvSpPr txBox="1"/>
          <p:nvPr/>
        </p:nvSpPr>
        <p:spPr>
          <a:xfrm>
            <a:off x="6995160" y="45491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Investor FAQ: ten questions we expect</a:t>
            </a:r>
            <a:endParaRPr lang="en-US" sz="1600" dirty="0"/>
          </a:p>
        </p:txBody>
      </p:sp>
      <p:sp>
        <p:nvSpPr>
          <p:cNvPr id="50" name="!!lnk-A15">
            <a:hlinkClick action="ppaction://hlinksldjump" r:id="rId19"/>
          </p:cNvPr>
          <p:cNvSpPr/>
          <p:nvPr/>
        </p:nvSpPr>
        <p:spPr>
          <a:xfrm>
            <a:off x="6217920" y="507492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51" name="Text 46"/>
          <p:cNvSpPr txBox="1"/>
          <p:nvPr/>
        </p:nvSpPr>
        <p:spPr>
          <a:xfrm>
            <a:off x="6382512" y="5074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4AE"/>
                </a:solidFill>
              </a:rPr>
              <a:t>A15</a:t>
            </a:r>
            <a:endParaRPr lang="en-US" sz="1600" dirty="0"/>
          </a:p>
        </p:txBody>
      </p:sp>
      <p:sp>
        <p:nvSpPr>
          <p:cNvPr id="52" name="Text 47"/>
          <p:cNvSpPr txBox="1"/>
          <p:nvPr/>
        </p:nvSpPr>
        <p:spPr>
          <a:xfrm>
            <a:off x="6995160" y="5074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526"/>
                </a:solidFill>
              </a:rPr>
              <a:t>Roadmap and vision options</a:t>
            </a:r>
            <a:endParaRPr lang="en-US" sz="1600" dirty="0"/>
          </a:p>
        </p:txBody>
      </p:sp>
      <p:sp>
        <p:nvSpPr>
          <p:cNvPr id="53" name="!!asklink">
            <a:hlinkClick action="ppaction://hlinksldjump" r:id="rId20"/>
          </p:cNvPr>
          <p:cNvSpPr txBox="1"/>
          <p:nvPr/>
        </p:nvSpPr>
        <p:spPr>
          <a:xfrm>
            <a:off x="10058400" y="6355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Back to the ask</a:t>
            </a:r>
            <a:endParaRPr lang="en-US" sz="1000" dirty="0"/>
          </a:p>
        </p:txBody>
      </p:sp>
      <p:grpSp>
        <p:nvGrpSpPr>
          <p:cNvPr id="54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55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56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A1  Source map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Every external number maps to one source.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Short tags on slides; this slide's notes list all 78 sources (id · title · URL).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A1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3627620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40080" y="2066544"/>
            <a:ext cx="32618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Main deck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393696"/>
            <a:ext cx="3261860" cy="274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S2 · DEM11, DEM10, FAC14, DEM9, DEM9B, DEM13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S3 · FAC4, WHY10, WHY12, WHY11, COM2, WHY6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S4 · WHY13, WHY11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S7 · COM5, COM2, COM9, COM8, COM7, COM10, COM3, COM1, COM14, WHY14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S8 · FAC6, FAC7, FAC8, DEM2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S9 · ROI8, ROI9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S10 · ROI5, ROI6, FAC13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267700" y="1920240"/>
            <a:ext cx="7436620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450580" y="2066544"/>
            <a:ext cx="70708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Appendix and Q&amp;A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450580" y="2393696"/>
            <a:ext cx="7070860" cy="258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A3 · FAC5, FAC6–FAC9, FAC10/DEM6, DEM2–DEM5, DEM8, DEM9, DEM9B, DEM11, DEM12, DEM12B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A4 · COM1–COM12, COM5B, COM14, FAC12, FAC15, WHY11, WHY13, WHY13B, WHY14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A5 · COM1, COM13, COM14, COM14B, COM14C, COM15, COM15B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A7 · ROI2, ROI4, ROI5   |   A8 · WHY9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A9 · WHY1, WHY1B, WHY2–WHY8, WHY15, WHY16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A10 · DEM2–DEM4, DEM9, DEM9B, FAC4, WHY2, WHY7, WHY14, FAC13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A11 · FAC2, ROI1, ROI2, ROI4, ROI5, ROI8, ROI9, ROI11–ROI16, ROI14B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A13 · DEM6   |   A14 · DEM2, DEM9, DEM9B, WHY14, ROI8, ROI9, ROI11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548640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640080" y="5504688"/>
            <a:ext cx="10881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How sources are handled: </a:t>
            </a:r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each slide carries short source tags and its notes hold the full entries; where sources conflict we use the conservative value (NAIA 35M; IATA about three in four; Dubai 3.4 s, GDRFA); internal estimates are labelled as such (A13). Click-checked against primary pages: [dd mmm 2026].</a:t>
            </a:r>
            <a:endParaRPr lang="en-US" sz="1400" dirty="0"/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19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A2  Full journey and hardware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Six steps, five modules, one platform.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Every step and module, with live status per module [to confirm].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A2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10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11" name="Image 0" descr="FastPass Mobile Ap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1920240"/>
            <a:ext cx="2103120" cy="11430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66928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84AE"/>
                </a:solidFill>
              </a:rPr>
              <a:t>1 · Enrol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566928" y="33741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FastPass Mobile App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38862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54864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[Shown live / concept]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2743200" y="192024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17" name="Image 1" descr="BLE lane + biometric e‑gat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43200" y="1920240"/>
            <a:ext cx="2103120" cy="11430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852928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84AE"/>
                </a:solidFill>
              </a:rPr>
              <a:t>2–3 · Approach, walk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2852928" y="33741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BLE lane + biometric e‑gate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2834640" y="38862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283464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[Shown live / concept]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029200" y="192024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23" name="Image 2" descr="Nova Plus check; X-ray still applie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0" y="1920240"/>
            <a:ext cx="2103120" cy="11430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138928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84AE"/>
                </a:solidFill>
              </a:rPr>
              <a:t>4 · Pre-screen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5138928" y="33741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Nova Plus check; X-ray still applies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5120640" y="38862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12064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[Shown live / concept]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7315200" y="192024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29" name="Image 3" descr="Smart Boarding Kios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15200" y="1920240"/>
            <a:ext cx="2103120" cy="11430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424928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84AE"/>
                </a:solidFill>
              </a:rPr>
              <a:t>5 · Board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7424928" y="33741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Smart Boarding Kiosk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7406640" y="38862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740664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[Shown live / concept]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9601200" y="192024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35" name="Image 4" descr="AGIL® Secure Platform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601200" y="1920240"/>
            <a:ext cx="2103120" cy="11430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710928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84AE"/>
                </a:solidFill>
              </a:rPr>
              <a:t>6 · Oversee</a:t>
            </a:r>
            <a:endParaRPr lang="en-US" sz="1400" dirty="0"/>
          </a:p>
        </p:txBody>
      </p:sp>
      <p:sp>
        <p:nvSpPr>
          <p:cNvPr id="37" name="Text 27"/>
          <p:cNvSpPr txBox="1"/>
          <p:nvPr/>
        </p:nvSpPr>
        <p:spPr>
          <a:xfrm>
            <a:off x="9710928" y="33741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526"/>
                </a:solidFill>
              </a:rPr>
              <a:t>AGIL® Secure Platform</a:t>
            </a:r>
            <a:endParaRPr lang="en-US" sz="1400" dirty="0"/>
          </a:p>
        </p:txBody>
      </p:sp>
      <p:sp>
        <p:nvSpPr>
          <p:cNvPr id="38" name="Shape 28"/>
          <p:cNvSpPr/>
          <p:nvPr/>
        </p:nvSpPr>
        <p:spPr>
          <a:xfrm>
            <a:off x="9692640" y="38862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969264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[Shown live / concept]</a:t>
            </a:r>
            <a:endParaRPr lang="en-US" sz="1400" dirty="0"/>
          </a:p>
        </p:txBody>
      </p:sp>
      <p:sp>
        <p:nvSpPr>
          <p:cNvPr id="40" name="Shape 30"/>
          <p:cNvSpPr/>
          <p:nvPr/>
        </p:nvSpPr>
        <p:spPr>
          <a:xfrm>
            <a:off x="457200" y="4389120"/>
            <a:ext cx="3159105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1" name="Text 31"/>
          <p:cNvSpPr txBox="1"/>
          <p:nvPr/>
        </p:nvSpPr>
        <p:spPr>
          <a:xfrm>
            <a:off x="640080" y="4535424"/>
            <a:ext cx="27933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What travellers carry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640080" y="4862576"/>
            <a:ext cx="2793345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No documents shown at checkpoints for enrolled, eligible travellers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The passport is still carried as required (ICAO DTC Type 1)</a:t>
            </a:r>
            <a:endParaRPr lang="en-US" sz="1400" dirty="0"/>
          </a:p>
        </p:txBody>
      </p:sp>
      <p:sp>
        <p:nvSpPr>
          <p:cNvPr id="43" name="Shape 33"/>
          <p:cNvSpPr/>
          <p:nvPr/>
        </p:nvSpPr>
        <p:spPr>
          <a:xfrm>
            <a:off x="3799185" y="4389120"/>
            <a:ext cx="333461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4" name="Text 34"/>
          <p:cNvSpPr txBox="1"/>
          <p:nvPr/>
        </p:nvSpPr>
        <p:spPr>
          <a:xfrm>
            <a:off x="3982065" y="4535424"/>
            <a:ext cx="29688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Check-in coverage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3982065" y="4862576"/>
            <a:ext cx="2968850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No module is a check-in or bag-drop device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Check-in = app enrolment + airline online check-in [confirm]; bag drop out of scope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7316675" y="4389120"/>
            <a:ext cx="4387645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47" name="Text 37"/>
          <p:cNvSpPr txBox="1"/>
          <p:nvPr/>
        </p:nvSpPr>
        <p:spPr>
          <a:xfrm>
            <a:off x="7499555" y="4535424"/>
            <a:ext cx="40218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Counts reconciled</a:t>
            </a:r>
            <a:endParaRPr lang="en-US" sz="1600" dirty="0"/>
          </a:p>
        </p:txBody>
      </p:sp>
      <p:sp>
        <p:nvSpPr>
          <p:cNvPr id="48" name="Text 38"/>
          <p:cNvSpPr txBox="1"/>
          <p:nvPr/>
        </p:nvSpPr>
        <p:spPr>
          <a:xfrm>
            <a:off x="7499555" y="4862576"/>
            <a:ext cx="4021885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4 checks · 5 modules · 6 steps · 1 platform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Walkthrough 1–4 = steps 1 · 2–3 · 4–5 · 6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AI luggage scanning: roadmap (A15)</a:t>
            </a:r>
            <a:endParaRPr lang="en-US" sz="1400" dirty="0"/>
          </a:p>
        </p:txBody>
      </p:sp>
      <p:sp>
        <p:nvSpPr>
          <p:cNvPr id="49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All demo screens show specimen or synthetic data · Image types [photo / render] to confirm</a:t>
            </a:r>
            <a:endParaRPr lang="en-US" sz="900" dirty="0"/>
          </a:p>
        </p:txBody>
      </p:sp>
      <p:grpSp>
        <p:nvGrpSpPr>
          <p:cNvPr id="50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51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52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A2  BLE lane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The FastPass lane: BLE beacon plus a face camera.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Prototype lane hardware. Image type [photo / render] to confirm.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A2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6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4970033" cy="4224528"/>
          </a:xfrm>
          <a:prstGeom prst="roundRect">
            <a:avLst>
              <a:gd name="adj" fmla="val 2597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11" name="Image 0" descr="FastPass lane hardw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4970033" cy="42245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52405" y="251664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LED accent light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soft glow along the handrail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 flipV="1">
            <a:off x="5427233" y="2331720"/>
            <a:ext cx="411480" cy="10973"/>
          </a:xfrm>
          <a:prstGeom prst="line">
            <a:avLst/>
          </a:prstGeom>
          <a:noFill/>
          <a:ln w="15875">
            <a:solidFill>
              <a:srgbClr val="0B84AE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5381513" y="2296973"/>
            <a:ext cx="91440" cy="91440"/>
          </a:xfrm>
          <a:prstGeom prst="ellipse">
            <a:avLst/>
          </a:prstGeom>
          <a:solidFill>
            <a:srgbClr val="0B84AE"/>
          </a:solidFill>
          <a:ln/>
        </p:spPr>
      </p:sp>
      <p:sp>
        <p:nvSpPr>
          <p:cNvPr id="15" name="Shape 9"/>
          <p:cNvSpPr/>
          <p:nvPr/>
        </p:nvSpPr>
        <p:spPr>
          <a:xfrm>
            <a:off x="5838713" y="1965960"/>
            <a:ext cx="2880360" cy="753466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5975873" y="2020824"/>
            <a:ext cx="265176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FR pylon gantry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Pylon, G/R/B lights and face camera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27233" y="2954007"/>
            <a:ext cx="411480" cy="222619"/>
          </a:xfrm>
          <a:prstGeom prst="line">
            <a:avLst/>
          </a:prstGeom>
          <a:noFill/>
          <a:ln w="15875">
            <a:solidFill>
              <a:srgbClr val="0B84AE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381513" y="2908287"/>
            <a:ext cx="91440" cy="91440"/>
          </a:xfrm>
          <a:prstGeom prst="ellipse">
            <a:avLst/>
          </a:prstGeom>
          <a:solidFill>
            <a:srgbClr val="0B84AE"/>
          </a:solidFill>
          <a:ln/>
        </p:spPr>
      </p:sp>
      <p:sp>
        <p:nvSpPr>
          <p:cNvPr id="19" name="Shape 13"/>
          <p:cNvSpPr/>
          <p:nvPr/>
        </p:nvSpPr>
        <p:spPr>
          <a:xfrm>
            <a:off x="5838713" y="2810866"/>
            <a:ext cx="2880360" cy="753466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5975873" y="2865730"/>
            <a:ext cx="265176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Flexible mounting angle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Adjusts to gate layouts and user heights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 flipV="1">
            <a:off x="5427233" y="4021531"/>
            <a:ext cx="411480" cy="483126"/>
          </a:xfrm>
          <a:prstGeom prst="line">
            <a:avLst/>
          </a:prstGeom>
          <a:noFill/>
          <a:ln w="15875">
            <a:solidFill>
              <a:srgbClr val="0B84A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381513" y="4458937"/>
            <a:ext cx="91440" cy="91440"/>
          </a:xfrm>
          <a:prstGeom prst="ellipse">
            <a:avLst/>
          </a:prstGeom>
          <a:solidFill>
            <a:srgbClr val="0B84AE"/>
          </a:solidFill>
          <a:ln/>
        </p:spPr>
      </p:sp>
      <p:sp>
        <p:nvSpPr>
          <p:cNvPr id="23" name="Shape 17"/>
          <p:cNvSpPr/>
          <p:nvPr/>
        </p:nvSpPr>
        <p:spPr>
          <a:xfrm>
            <a:off x="5838713" y="3655771"/>
            <a:ext cx="2880360" cy="753466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5975873" y="3710635"/>
            <a:ext cx="265176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Pylon mounted on the floor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Permanent setup for stability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 flipV="1">
            <a:off x="5427233" y="4866437"/>
            <a:ext cx="411480" cy="50733"/>
          </a:xfrm>
          <a:prstGeom prst="line">
            <a:avLst/>
          </a:prstGeom>
          <a:noFill/>
          <a:ln w="15875">
            <a:solidFill>
              <a:srgbClr val="0B84A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381513" y="4871450"/>
            <a:ext cx="91440" cy="91440"/>
          </a:xfrm>
          <a:prstGeom prst="ellipse">
            <a:avLst/>
          </a:prstGeom>
          <a:solidFill>
            <a:srgbClr val="0B84AE"/>
          </a:solidFill>
          <a:ln/>
        </p:spPr>
      </p:sp>
      <p:sp>
        <p:nvSpPr>
          <p:cNvPr id="27" name="Shape 21"/>
          <p:cNvSpPr/>
          <p:nvPr/>
        </p:nvSpPr>
        <p:spPr>
          <a:xfrm>
            <a:off x="5838713" y="4500677"/>
            <a:ext cx="2880360" cy="753466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5975873" y="4555541"/>
            <a:ext cx="265176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BLE beacon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Pairs with the phone; proximity detection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427233" y="5473814"/>
            <a:ext cx="411480" cy="237529"/>
          </a:xfrm>
          <a:prstGeom prst="line">
            <a:avLst/>
          </a:prstGeom>
          <a:noFill/>
          <a:ln w="15875">
            <a:solidFill>
              <a:srgbClr val="0B84A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381513" y="5428094"/>
            <a:ext cx="91440" cy="91440"/>
          </a:xfrm>
          <a:prstGeom prst="ellipse">
            <a:avLst/>
          </a:prstGeom>
          <a:solidFill>
            <a:srgbClr val="0B84AE"/>
          </a:solidFill>
          <a:ln/>
        </p:spPr>
      </p:sp>
      <p:sp>
        <p:nvSpPr>
          <p:cNvPr id="31" name="Shape 25"/>
          <p:cNvSpPr/>
          <p:nvPr/>
        </p:nvSpPr>
        <p:spPr>
          <a:xfrm>
            <a:off x="5838713" y="5345582"/>
            <a:ext cx="2880360" cy="753466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5975873" y="5400446"/>
            <a:ext cx="265176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Indicator light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Colour-coded system status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901953" y="1920240"/>
            <a:ext cx="2802367" cy="4224528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5875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9066545" y="2048256"/>
            <a:ext cx="25280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Design intent [CTO to confirm]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9066545" y="2743200"/>
            <a:ext cx="252804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The lane challenges the credential on the paired phone, not just a beacon.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The live face must match that credential.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Wrong pairing → exception to an officer, never a false accept.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Officers see the exception in AGIL® Secure Platform.</a:t>
            </a:r>
            <a:endParaRPr lang="en-US" sz="1600" dirty="0"/>
          </a:p>
        </p:txBody>
      </p:sp>
      <p:grpSp>
        <p:nvGrpSpPr>
          <p:cNvPr id="36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37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A3  Market maths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Recompute the beachhead: US$42–94M a year in 2030.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Every input and step, plus what the figure does not cover.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A3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3627120" cy="4251960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4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Funnel, per year in 2030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393696"/>
            <a:ext cx="326136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US$5,030M × 83.1% = US$4,180M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× 10–15% = US$418–627M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× 10–15% = US$41.8–94.0M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Midpoint at 12.5% × 12.5% = US$65.3M (mean of the range: US$68M)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To scale: 0.8–1.9% of global ABC, 1.0–2.25% of airport ABC (hence 'Not to scale')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267200" y="1920240"/>
            <a:ext cx="3627120" cy="4251960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45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Other readings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450080" y="2393696"/>
            <a:ext cx="3261360" cy="195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Cumulative 2026–30 (US$19.5B path): US$162–365M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2025 base (US$2.56B): US$21–48M a year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Each 1-point change in either share: ≈ US$4.2–6.3M a year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Independent estimates: ABC US$5.0–5.4B by 2030 (low confidence)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450080" y="4448048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Input labels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450080" y="4775200"/>
            <a:ext cx="3261360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83.1% = 2025 airport share, applied to 2030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Asia-Pacific 32.6% (2024) includes China, Japan, India: not a proxy for SEA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77200" y="1920240"/>
            <a:ext cx="3627120" cy="4251960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26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Scope caveat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60080" y="2393696"/>
            <a:ext cx="3261360" cy="169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ABC = border e-gates and kiosks, mostly one-off hardware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FastPass software, check-in, pre-screen, boarding and the platform sit outside it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So the beachhead understates scope, but it is not a software market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260080" y="4184396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Bottom-up cross-check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260080" y="4511548"/>
            <a:ext cx="3261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[N] airports × [N] lanes × US$[X] one-off + US$[Y]/yr = US$[Z]M a year; must reconcile with the top-down</a:t>
            </a:r>
            <a:endParaRPr lang="en-US" sz="1400" dirty="0"/>
          </a:p>
        </p:txBody>
      </p:sp>
      <p:sp>
        <p:nvSpPr>
          <p:cNvPr id="23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MarketsandMarkets, Automated Border Control Market to 2030 · Research and Markets / Mordor; Lucintel · Shares: internal team estimates</a:t>
            </a:r>
            <a:endParaRPr lang="en-US" sz="900" dirty="0"/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25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A3  Segment and region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Who we target first, and the 2026 headwind.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Proposed first segment; regional data behind the pilot-market choice.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A3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3454400" cy="4251960"/>
          </a:xfrm>
          <a:prstGeom prst="roundRect">
            <a:avLst>
              <a:gd name="adj" fmla="val 3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40080" y="2066544"/>
            <a:ext cx="3088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Segment (proposed)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393696"/>
            <a:ext cx="3088640" cy="233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'Congested international gateways that cannot add a terminal soon'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Filter: brownfield · at or above design capacity at peak · no incumbent end-to-end biometric programme (not Changi, DXB, Doha) · Group relationship · regulator open to pilots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Test NAIA-type gateways (~50M passengers). First three: [A] · [B] · [C]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094480" y="1920240"/>
            <a:ext cx="3454400" cy="4251960"/>
          </a:xfrm>
          <a:prstGeom prst="roundRect">
            <a:avLst>
              <a:gd name="adj" fmla="val 3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277360" y="2066544"/>
            <a:ext cx="3088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Brownfield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277360" y="2393696"/>
            <a:ext cx="3088640" cy="169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~78% of ME/SEA airport projects are brownfield: internal team figure [state whether it counts projects]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ACI APAC &amp; MID: 57% of US$240B capex 2025–2035 goes to brownfield, by value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Different metrics: never merge them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277360" y="4184396"/>
            <a:ext cx="3088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Wider pool, not TAM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277360" y="4511548"/>
            <a:ext cx="3088640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Airports spent US$14.8B on IT in 2025, 7.3% of revenue (SITA)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731760" y="1920240"/>
            <a:ext cx="3972560" cy="4251960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914640" y="2066544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2026 regional context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914640" y="2393696"/>
            <a:ext cx="36068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ME airport traffic −21% in H1 2026 (ACI); ME carriers −14.2% YoY in Aug (IATA)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IATA: ME demand −11.4% for 2026; ACI +5.4%/yr (2025–28) is pre-war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Saudi: 140.9M passengers in 2025; Jeddah ~107% of design capacity [verify]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Bangkok: 47% still need an officer; East Expansion slipped to 2030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Dubai DWC phase 1 opens 2032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914640" y="4711700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So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7914640" y="5038852"/>
            <a:ext cx="3606800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Sell efficiency, not growth; SEA or dual-region pilot as the hedge</a:t>
            </a:r>
            <a:endParaRPr lang="en-US" sz="1400" dirty="0"/>
          </a:p>
        </p:txBody>
      </p:sp>
      <p:sp>
        <p:nvSpPr>
          <p:cNvPr id="23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ACI World · ACI APAC &amp; MID · IATA (Jun, Sep 2026) · Argaam / GACA · Khaosod English · Nation Thailand · Dubai Media Office · WAM · SITA · ~78%: internal team figure</a:t>
            </a:r>
            <a:endParaRPr lang="en-US" sz="900" dirty="0"/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25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A4  Competitor matrix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Competitor matrix behind the slide-7 map.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Public sources only; 'not found in public sources' ≠ 'cannot'.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A4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463040"/>
                <a:gridCol w="1783080"/>
                <a:gridCol w="1463040"/>
                <a:gridCol w="1600200"/>
                <a:gridCol w="3154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Vendor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Face in stride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Credential in lane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Stays in pocket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Ops platform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Notable deployments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IDEMIA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Yes (MFace)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Yes, e-gate (stop)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Not found [verify]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[verify]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Singapore ABCS (May 2023); Zayed &gt;1M (vendor); ID2Travel app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SITA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 (stop-and-look)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Yes, Aruba (tap, stop)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 (tap)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[verify]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Smart Path on NEC at Frankfurt; Hamad 'Fast Pass' (Jul 2026)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Amadeus / Vision-Box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Yes (corridors)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Pilot only (Smart-Trust, 2018–20)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[verify]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Yes (Orchestra)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Indonesia: &gt;30/min per corridor (vendor); DXB T3 (2020); Smart-Trust EU pilot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NEC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Yes (after kiosk step)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None found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[verify]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Japan ISA: Kansai, Narita, Haneda (Apr 2025)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Thales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 (pod, stop)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Not in lane [verify]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 [verify]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[verify]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Fly to Gate: 600+ touchpoints, 7 Adani airports (vendor)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Collins · Indra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 (stop-and-look)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Yes, document (stop)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[verify]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SelfPass, Haneda (2021); Indra ABC at Aena (2018)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84AE"/>
                          </a:solidFill>
                        </a:rPr>
                        <a:t>FastPass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84AE"/>
                          </a:solidFill>
                        </a:rPr>
                        <a:t>Yes (prototype)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84AE"/>
                          </a:solidFill>
                        </a:rPr>
                        <a:t>Yes, phone credential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84AE"/>
                          </a:solidFill>
                        </a:rPr>
                        <a:t>By design (BLE) [CTO]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84AE"/>
                          </a:solidFill>
                        </a:rPr>
                        <a:t>Yes, AGIL® Secure Platform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84AE"/>
                          </a:solidFill>
                        </a:rPr>
                        <a:t>Prototype shown Feb 2026; no deployments yet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7"/>
                    </a:solidFill>
                  </a:tcPr>
                </a:tc>
              </a:tr>
            </a:tbl>
          </a:graphicData>
        </a:graphic>
      </p:graphicFrame>
      <p:sp>
        <p:nvSpPr>
          <p:cNvPr id="11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IDEMIA · SITA · PhocusWire · Amadeus · NEC · Singapore EDB (Thales) · Collins · Indra · CORDIS 778571 · Hamad International · ABI Research (Jul 2023)</a:t>
            </a:r>
            <a:endParaRPr lang="en-US" sz="900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13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A4  Evidence and moat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Market evidence and the moat to build.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Agencies and airports are possible buyers, so they are not plotted as rivals.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A4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6146800" cy="3207258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40080" y="2066544"/>
            <a:ext cx="57810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Market evidence (not plotted)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425446"/>
            <a:ext cx="5781040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Dubai GDRFA Red Carpet: 745,188 travellers Jan–Aug 2026; 3.4 s vs 12.5 s (GDRFA; Paravision ~14 s); face only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Hamad 'Fast Pass' (Qatar Airways + SITA): 700+ touchpoints, app enrolment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Changi ICA passport-less: 25 s → 10 s; foreign visitors on departure only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ICA and HTX are not partners; Changi is market evidence only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Leaders by ranking: IDEMIA, Thales, Vision-Box (ABI Research, Jul 2023)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786880" y="1920240"/>
            <a:ext cx="4917440" cy="3207258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6969760" y="2066544"/>
            <a:ext cx="45516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Moat to build (honest)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969760" y="2425446"/>
            <a:ext cx="4551680" cy="200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Accreditation earned in the pilot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Control-room integration: a switching cost only where security ops run on AGIL® Secure Platform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Government-grade delivery in ME/SEA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IP: [state the actual status]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Why not copied in 12 months: [team answer]</a:t>
            </a:r>
            <a:endParaRPr lang="en-US" sz="1600" dirty="0"/>
          </a:p>
        </p:txBody>
      </p:sp>
      <p:sp>
        <p:nvSpPr>
          <p:cNvPr id="16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Gulf News (2026) · International Airport Review (2026) · Paravision · Hamad International / SITA (Jul 2026) · ICA (Oct 2024) · ABI Research (Jul 2023)</a:t>
            </a:r>
            <a:endParaRPr lang="en-US" sz="900" dirty="0"/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18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A5  Category exits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The identity layer produces real outcomes.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Comps for context, not a valuation of FastPass.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A5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31720"/>
                <a:gridCol w="443484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Amadeus–Vision-Box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~€320M EV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~16× 2023 normalised EBITDA (per The Corner); ~€70M expected 2023 revenue (~4.6×, derived); ~470 staff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Apr 2024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BigBear.ai–Pangiam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~US$70M, all-stock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Announced Nov 2023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Early 2024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SITA–Materna IPS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Not disclosed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Airport solutions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IN Groupe–IDEMIA Smart Identity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Not disclosed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Jul 2025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Thales–Gemalto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€4.8B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Apr 2019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Persona Series 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US$200M at US$2B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Co-led by Founders Fund and Ribbit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Apr 2025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CLEAR Secure IPO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US$409M raised at US$31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38 airports at IPO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Jun 2021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685800" y="5532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These are comps for the category, not a valuation of FastPass.</a:t>
            </a:r>
            <a:endParaRPr lang="en-US" sz="1600" dirty="0"/>
          </a:p>
        </p:txBody>
      </p:sp>
      <p:sp>
        <p:nvSpPr>
          <p:cNvPr id="13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Amadeus (Apr 2024) · The Corner (EBITDA multiple) · BigBear.ai (2024) · SITA (Jul 2024) · IN Groupe (Jul 2025) · Thales (Apr 2019) · FinTech Futures (Apr 2025) · Renaissance Capital (Jun 2021)</a:t>
            </a:r>
            <a:endParaRPr lang="en-US" sz="900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15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A6  Platform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AGIL® Secure Platform: the command layer behind every step.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Six capabilities. The AI recommends; the officer decides [confirm].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A6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12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2514600" y="3200400"/>
            <a:ext cx="1737360" cy="173736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2560320" y="3611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AGIL Secure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Platform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3383280" y="2926080"/>
            <a:ext cx="914" cy="274320"/>
          </a:xfrm>
          <a:prstGeom prst="line">
            <a:avLst/>
          </a:prstGeom>
          <a:noFill/>
          <a:ln w="12700">
            <a:solidFill>
              <a:srgbClr val="0B84AE"/>
            </a:solidFill>
            <a:prstDash val="dash"/>
          </a:ln>
        </p:spPr>
      </p:sp>
      <p:sp>
        <p:nvSpPr>
          <p:cNvPr id="13" name="Shape 8"/>
          <p:cNvSpPr/>
          <p:nvPr/>
        </p:nvSpPr>
        <p:spPr>
          <a:xfrm>
            <a:off x="3108960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661" y="2498141"/>
            <a:ext cx="307238" cy="30723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108960" y="2377440"/>
            <a:ext cx="548640" cy="548640"/>
          </a:xfrm>
          <a:prstGeom prst="ellipse">
            <a:avLst/>
          </a:prstGeom>
          <a:ln w="15875">
            <a:solidFill>
              <a:srgbClr val="0B84AE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2377440" y="1993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Traveller transactions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 flipV="1">
            <a:off x="4135579" y="3497580"/>
            <a:ext cx="237568" cy="137160"/>
          </a:xfrm>
          <a:prstGeom prst="line">
            <a:avLst/>
          </a:prstGeom>
          <a:noFill/>
          <a:ln w="12700">
            <a:solidFill>
              <a:srgbClr val="0B84AE"/>
            </a:solidFill>
            <a:prstDash val="dash"/>
          </a:ln>
        </p:spPr>
      </p:sp>
      <p:sp>
        <p:nvSpPr>
          <p:cNvPr id="18" name="Shape 12"/>
          <p:cNvSpPr/>
          <p:nvPr/>
        </p:nvSpPr>
        <p:spPr>
          <a:xfrm>
            <a:off x="4336395" y="30861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096" y="3206801"/>
            <a:ext cx="307238" cy="30723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336395" y="3086100"/>
            <a:ext cx="548640" cy="548640"/>
          </a:xfrm>
          <a:prstGeom prst="ellipse">
            <a:avLst/>
          </a:prstGeom>
          <a:ln w="15875">
            <a:solidFill>
              <a:srgbClr val="0B84AE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4958187" y="30861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Lane &amp; gate control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4135579" y="4503420"/>
            <a:ext cx="237568" cy="137160"/>
          </a:xfrm>
          <a:prstGeom prst="line">
            <a:avLst/>
          </a:prstGeom>
          <a:noFill/>
          <a:ln w="12700">
            <a:solidFill>
              <a:srgbClr val="0B84AE"/>
            </a:solidFill>
            <a:prstDash val="dash"/>
          </a:ln>
        </p:spPr>
      </p:sp>
      <p:sp>
        <p:nvSpPr>
          <p:cNvPr id="23" name="Shape 16"/>
          <p:cNvSpPr/>
          <p:nvPr/>
        </p:nvSpPr>
        <p:spPr>
          <a:xfrm>
            <a:off x="4336395" y="45034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096" y="4624121"/>
            <a:ext cx="307238" cy="30723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336395" y="4503420"/>
            <a:ext cx="548640" cy="548640"/>
          </a:xfrm>
          <a:prstGeom prst="ellipse">
            <a:avLst/>
          </a:prstGeom>
          <a:ln w="15875">
            <a:solidFill>
              <a:srgbClr val="0B84AE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4958187" y="45034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Exception management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3383280" y="4937760"/>
            <a:ext cx="914" cy="274320"/>
          </a:xfrm>
          <a:prstGeom prst="line">
            <a:avLst/>
          </a:prstGeom>
          <a:noFill/>
          <a:ln w="12700">
            <a:solidFill>
              <a:srgbClr val="0B84AE"/>
            </a:solidFill>
            <a:prstDash val="dash"/>
          </a:ln>
        </p:spPr>
      </p:sp>
      <p:sp>
        <p:nvSpPr>
          <p:cNvPr id="28" name="Shape 20"/>
          <p:cNvSpPr/>
          <p:nvPr/>
        </p:nvSpPr>
        <p:spPr>
          <a:xfrm>
            <a:off x="3108960" y="5212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9661" y="5332781"/>
            <a:ext cx="307238" cy="30723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3108960" y="5212080"/>
            <a:ext cx="548640" cy="548640"/>
          </a:xfrm>
          <a:prstGeom prst="ellipse">
            <a:avLst/>
          </a:prstGeom>
          <a:ln w="15875">
            <a:solidFill>
              <a:srgbClr val="0B84AE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2377440" y="57972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Assistive AI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 flipV="1">
            <a:off x="2393413" y="4503420"/>
            <a:ext cx="237568" cy="137160"/>
          </a:xfrm>
          <a:prstGeom prst="line">
            <a:avLst/>
          </a:prstGeom>
          <a:noFill/>
          <a:ln w="12700">
            <a:solidFill>
              <a:srgbClr val="0B84AE"/>
            </a:solidFill>
            <a:prstDash val="dash"/>
          </a:ln>
        </p:spPr>
      </p:sp>
      <p:sp>
        <p:nvSpPr>
          <p:cNvPr id="33" name="Shape 24"/>
          <p:cNvSpPr/>
          <p:nvPr/>
        </p:nvSpPr>
        <p:spPr>
          <a:xfrm>
            <a:off x="1881525" y="45034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2226" y="4624121"/>
            <a:ext cx="307238" cy="307238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1881525" y="4503420"/>
            <a:ext cx="548640" cy="548640"/>
          </a:xfrm>
          <a:prstGeom prst="ellipse">
            <a:avLst/>
          </a:prstGeom>
          <a:ln w="15875">
            <a:solidFill>
              <a:srgbClr val="0B84AE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482493" y="45034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3D operational view</a:t>
            </a:r>
            <a:endParaRPr lang="en-US" sz="1400" dirty="0"/>
          </a:p>
        </p:txBody>
      </p:sp>
      <p:sp>
        <p:nvSpPr>
          <p:cNvPr id="37" name="Shape 27"/>
          <p:cNvSpPr/>
          <p:nvPr/>
        </p:nvSpPr>
        <p:spPr>
          <a:xfrm>
            <a:off x="2393413" y="3497580"/>
            <a:ext cx="237568" cy="137160"/>
          </a:xfrm>
          <a:prstGeom prst="line">
            <a:avLst/>
          </a:prstGeom>
          <a:noFill/>
          <a:ln w="12700">
            <a:solidFill>
              <a:srgbClr val="0B84AE"/>
            </a:solidFill>
            <a:prstDash val="dash"/>
          </a:ln>
        </p:spPr>
      </p:sp>
      <p:sp>
        <p:nvSpPr>
          <p:cNvPr id="38" name="Shape 28"/>
          <p:cNvSpPr/>
          <p:nvPr/>
        </p:nvSpPr>
        <p:spPr>
          <a:xfrm>
            <a:off x="1881525" y="30861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5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2226" y="3206801"/>
            <a:ext cx="307238" cy="307238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1881525" y="3086100"/>
            <a:ext cx="548640" cy="548640"/>
          </a:xfrm>
          <a:prstGeom prst="ellipse">
            <a:avLst/>
          </a:prstGeom>
          <a:ln w="15875">
            <a:solidFill>
              <a:srgbClr val="0B84AE"/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482493" y="30861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526"/>
                </a:solidFill>
              </a:rPr>
              <a:t>Video analytics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7540943" y="1920240"/>
            <a:ext cx="3023235" cy="2103120"/>
          </a:xfrm>
          <a:prstGeom prst="roundRect">
            <a:avLst>
              <a:gd name="adj" fmla="val 5217"/>
            </a:avLst>
          </a:prstGeom>
          <a:solidFill>
            <a:srgbClr val="0E1B2D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pic>
        <p:nvPicPr>
          <p:cNvPr id="43" name="Image 6" descr="Synthetic clearance lo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0943" y="1920240"/>
            <a:ext cx="3023235" cy="210312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400800" y="41605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Human in the loop: the AI recommends, the officer decides, every decision logged [confirm]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Integrations: CCTV, access control, incident management [list systems, confirm]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Third-party gates via open interfaces [confirm]: decides whether biometric-border airports are an installed base to upgrade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Demo screens use synthetic data only</a:t>
            </a:r>
            <a:endParaRPr lang="en-US" sz="1400" dirty="0"/>
          </a:p>
        </p:txBody>
      </p:sp>
      <p:grpSp>
        <p:nvGrpSpPr>
          <p:cNvPr id="45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46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A7  Pilot design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Pilot design: one airport, one group, one lane.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Scope, fallback and the exits that define M2 and M3. Full scorecard: A7b.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A7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3627120" cy="33279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4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Scope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393696"/>
            <a:ext cx="3261360" cy="2644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One airport [name], one traveller group [set by the border agency], one lane, [N] months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[Paid / co-funded]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Payer and procurement route [to validate]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Converts a lane or adds one; floor space [agree]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Baseline on the existing lane for [N] weeks; scorecard signed by airport and agency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267200" y="1920240"/>
            <a:ext cx="3627120" cy="33279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45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Fallback and officer control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450080" y="2393696"/>
            <a:ext cx="3261360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Staffed lane beside every FastPass lane; documents accepted anywhere; nobody forced into biometrics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Covers dead phone, BLE congestion, wrong phone paired, face no-match, tailgating, outage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Children without phones, wheelchair users, assisted travellers: [design]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Exception → officer review → manual clearance or referral; logged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77200" y="1920240"/>
            <a:ext cx="3627120" cy="33279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5875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26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Milestone exits and trigger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60080" y="2393696"/>
            <a:ext cx="3261360" cy="2644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M2 exit: lane live + independent ISO/IEC 19795 and 30107-3 tests + BLE relay and mis-pairing tests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M3 exit: KPIs met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KPIs met → airport decides on [N] lanes for US$[X] within [N] months [if in the agreement]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KPIs missed → stop or redesign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Prototype to date: match [X s] · false-reject [X%] · [X/lane/hr] · BLE pairing [X%], or scripted demo</a:t>
            </a:r>
            <a:endParaRPr lang="en-US" sz="140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20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A7  Pilot scorecard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Pilot scorecard: targets set now, measured live.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Baseline, target and go / no-go agreed with the airport and agency before go-live.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A7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828800"/>
                <a:gridCol w="1828800"/>
                <a:gridCol w="1828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Measure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Go / no-go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Throughput (travellers / lane / hr) vs measured e-gate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Immigration seconds per traveller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Kerb-to-gate minutes (full-rollout team target −20–30%)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False-accept (impostor) rate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False-reject rate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BLE pairing, phone locked or backgrounded (iOS, Android)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Mis-pairing rate in a crowded lane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Exceptions per 100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Officer minutes per 100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Enrolment vs break-even uptake per lane [X%]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Lane availability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Traveller satisfaction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Custom-engineering days (margin proxy)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[measure]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[X]</a:t>
                      </a:r>
                      <a:endParaRPr lang="en-US" sz="14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870"/>
                </a:solidFill>
              </a:rPr>
              <a:t>Benchmarks, not FastPass claims: e-gate 180/hr vs booth 60–70 (Riga) · Changi 25 s → 10 s · boarding −30% (SITA / Turkish trial)</a:t>
            </a:r>
            <a:endParaRPr lang="en-US" sz="1400" dirty="0"/>
          </a:p>
        </p:txBody>
      </p:sp>
      <p:sp>
        <p:nvSpPr>
          <p:cNvPr id="12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AviationPros (Riga Airport / State Border Guard of Latvia) · Malay Mail (Oct 2024) · Future Travel Experience (Apr 2021)</a:t>
            </a:r>
            <a:endParaRPr lang="en-US" sz="900" dirty="0"/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14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A8  Trust, privacy and security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Trust, privacy and security: design intent and test plan.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Design intent, test plan and data protection. Bracketed items await CTO sign-off.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A8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3627120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5875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4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Second-factor binding [CTO]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393696"/>
            <a:ext cx="3261360" cy="195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The lane challenges the credential on the paired phone, not just a beacon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The live face must match that credential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Wrong pairing → exception to an officer, never a false accept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Where the face match runs and what crosses the BLE link [confirm]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267200" y="1920240"/>
            <a:ext cx="3627120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45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Enrolment and testing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450080" y="2393696"/>
            <a:ext cx="3261360" cy="2644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Passport chip read with ICAO 9303 passive authentication, or data-page OCR [confirm]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Liveness selfie; credential encrypted on the device [enclave / keystore]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Tests [plan]: ISO/IEC 30107-3, ISO/IEC 19795, demographic accuracy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Face algorithm [own / licensed] and NIST FRTE standing [confirm]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BLE threats: wrong phone, relay, spoofed beacons, tailgating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77200" y="1920240"/>
            <a:ext cx="3627120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26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Privacy and trust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60080" y="2393696"/>
            <a:ext cx="32613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Opt-in at enrolment; retention; data controller per deployment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PDPA (SG), PDPL (UAE, Saudi), PDPA (MY, TH), PDP Law (ID), GDPR [verify]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Public displays: sequence number + CLEARED only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42% of hesitant travellers would reconsider if data protection were guaranteed (IATA GPS 2025)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5632704"/>
            <a:ext cx="9542631" cy="42062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57200" y="5632704"/>
            <a:ext cx="95426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Design principles: Trusted by design · Easy to adopt (SDK) · Connected ecosystem · AI-assisted decisions</a:t>
            </a:r>
            <a:endParaRPr lang="en-US" sz="1400" dirty="0"/>
          </a:p>
        </p:txBody>
      </p:sp>
      <p:sp>
        <p:nvSpPr>
          <p:cNvPr id="21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IATA Global Passenger Survey 2025 · ICAO Doc 9303 · ISO/IEC 30107-3 · ISO/IEC 19795 · NIST FRTE</a:t>
            </a:r>
            <a:endParaRPr lang="en-US" sz="900" dirty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23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A9  Regulatory path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How an agency could accept a phone-held credential.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Standards status, precedents and the certification plan per country.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A9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3510116" cy="33279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40080" y="2066544"/>
            <a:ext cx="31443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ICAO Digital Travel Credential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393696"/>
            <a:ext cx="3144356" cy="169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Type 1 (passport still carried): specs endorsed 2020; State implementation guide v1.0, Sep 2025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Annex 9 SARPs proposed at FALP/14, Apr 2026: not adopted; to the Air Transport Committee, fall 2026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Types 2 and 3: not ready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150196" y="1920240"/>
            <a:ext cx="3861128" cy="33279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333076" y="2066544"/>
            <a:ext cx="349536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EU and US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333076" y="2393696"/>
            <a:ext cx="3495368" cy="2644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EES: progressive from 12 Oct 2025; fully operational 10 Apr 2026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ACI Europe: ~70% longer processing (Commission disputes)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EU Digital Travel app ~2030; EUDI wallets end-2026 (identity, not passports)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US: CBP may require face biometrics from non-citizens on entry and exit (from 26 Dec 2025)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Apple Digital ID: TSA beta, 250+ airports, domestic only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94204" y="1920240"/>
            <a:ext cx="3510116" cy="33279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377084" y="2066544"/>
            <a:ext cx="31443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Precedents and our plan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77084" y="2393696"/>
            <a:ext cx="3144356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Finland border-guard DTC pilot: 355 checks, ~8 s; 90% would reuse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IATA One ID wallet + biometrics proof of concept, Hong Kong–Narita (Oct 2024)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Who approves on-the-move clearance per country: [agency, process, owner]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Certification roadmap and launch eligibility: [per country]</a:t>
            </a:r>
            <a:endParaRPr lang="en-US" sz="1400" dirty="0"/>
          </a:p>
        </p:txBody>
      </p:sp>
      <p:sp>
        <p:nvSpPr>
          <p:cNvPr id="19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ICAO (FALP/14; DTC guide) · European Commission · The Local / ACI Europe · Federal Register · Skift · Keesing · IATA (Oct 2024)</a:t>
            </a:r>
            <a:endParaRPr lang="en-US" sz="900" dirty="0"/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21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2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A10  Risks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Risks you will raise, and the milestone that retires each.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Agency, technical, privacy, adoption, payer, market and flow risks.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A10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6172200"/>
                <a:gridCol w="1508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Retired at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Agency declines the phone credential, or sees no value in a second factor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Co-design the pilot with the agency; align to ICAO DTC Type 1; Finland DTC precedent. No value → stop or redesign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Accuracy, spoofing, wrong-phone pairing, relay attack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Independent ISO/IEC 19795 and 30107-3 tests; BLE mis-pairing and relay tests; face must match the paired credential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M2 exit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Privacy and data protection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Credential encrypted on the phone; opt-in; controller and retention per country [legal review]; no personal data on displays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Enrolment cold start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Airline-app SDK; eligible segments; enrolment is an M3 KPI vs break-even uptake [X%]; ~3 in 4 travellers willing (IATA)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Payer mismatch: airport buys, agency saves officer time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Payback split per payer and budget holder; procurement route per country; co-funding at M1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Middle East 2026 traffic shock (airports −21% H1; carriers −14.2% Aug; IATA −11.4% for 2026)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SEA or dual-region pilot; sell efficiency, not growth; long-cycle builds continue (DWC 2032)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M1 market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Flow failure like EES (~70% longer, per ACI Europe; disputed)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Redesign the flow, not just the gate; staffed fallback lane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ACI World (Sep 2026) · IATA (Jun, Sep 2026) · The Local / ACI Europe (Dec 2025) · Keesing (Finland DTC) · IATA GPS 2025 · Dubai Media Office · WAM (Jun 2026)</a:t>
            </a:r>
            <a:endParaRPr lang="en-US" sz="900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13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A10  Risks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Risks you will raise, and the milestone that retires each.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Competitive, procurement, brand, IP and delivery risks.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A10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6172200"/>
                <a:gridCol w="1508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Retired at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Incumbents win the replacement cycle first (SITA: 83% of surveyed airports biometric by 2028)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Retrofit onto installed third-party gates [CTO to confirm]; else target the replacement cycle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M1–M2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Incumbents copy the device factor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Accreditation earned in the pilot; control-room integration; [IP]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M3–M4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Procurement cycle longer than runway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Innovation-pilot route; Group channel; runway sized to [X–Y] months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Brand: Hamad / Qatar Airways / SITA 'Fast Pass' (Jul 2026)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Trademark and naming check in ME/SEA classes; fallback names ready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Before launch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Freedom to operate on the BLE lane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Patent / FTO review before any 'proprietary' claim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Before launch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Matching bias · cyber attack · airline DCS integration delay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[mitigation for each]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[TBC]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SITA (Apr 2026) · Hamad International (Jul 2026)</a:t>
            </a:r>
            <a:endParaRPr lang="en-US" sz="900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13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A11  Unit economics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Unit economics and payback per payer (placeholders).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FastPass values stay bracketed until a pilot prices them and Finance validates them.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A11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3400425" cy="3400806"/>
          </a:xfrm>
          <a:prstGeom prst="roundRect">
            <a:avLst>
              <a:gd name="adj" fmla="val 32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40080" y="2066544"/>
            <a:ext cx="30346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Per lane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425446"/>
            <a:ext cx="3034665" cy="2104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Hardware US$[X] one-off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Implementation [X%]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Software US$[Y] / lane / yr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SLA support US$[Z] / yr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Gross margin per line [X%]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Recurring share by year 3 [X%]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Blended gross margin [X%]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040505" y="1920240"/>
            <a:ext cx="4080510" cy="3400806"/>
          </a:xfrm>
          <a:prstGeom prst="roundRect">
            <a:avLst>
              <a:gd name="adj" fmla="val 3227"/>
            </a:avLst>
          </a:prstGeom>
          <a:solidFill>
            <a:srgbClr val="FFFFFF"/>
          </a:solidFill>
          <a:ln w="15875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223385" y="2066544"/>
            <a:ext cx="3714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Payback per payer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223385" y="2425446"/>
            <a:ext cx="3714750" cy="268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Airport: added departures / lane / hr × [value per departure] + airport-staff hours redeployed, vs lane cost US$[X] = [N] months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Agency: officer-hours redeployed [N] × loaded cost [US$/hr] = [N] months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Stated as incremental over the existing e-gate baseline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Where the agency gains, co-funding is part of M1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303895" y="1920240"/>
            <a:ext cx="3400425" cy="3400806"/>
          </a:xfrm>
          <a:prstGeom prst="roundRect">
            <a:avLst>
              <a:gd name="adj" fmla="val 32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486775" y="2066544"/>
            <a:ext cx="30346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Who pays: precedents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86775" y="2425446"/>
            <a:ext cx="3034665" cy="268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Aena (airport operator) ran an ABC framework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Riga: Interior Ministry and an EU fund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Cardiff: up to £1M from the Welsh Government (Border Force funds e-gates only above 2M inbound)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Route per target country: [to validate]</a:t>
            </a:r>
            <a:endParaRPr lang="en-US" sz="1600" dirty="0"/>
          </a:p>
        </p:txBody>
      </p:sp>
      <p:sp>
        <p:nvSpPr>
          <p:cNvPr id="19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Aena (Dec 2017) · Latvian Ministry of the Interior (Riga) · Welsh Government (Mar 2019) · Payback inputs: [Finance]</a:t>
            </a:r>
            <a:endParaRPr lang="en-US" sz="900" dirty="0"/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21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2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A11  Benchmarks and plan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Cost anchors, margin comparables and the 5-year plan.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Public anchors and large-company comparables: context only, not FastPass prices.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A11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3627120" cy="4251960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4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Public cost anchors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393696"/>
            <a:ext cx="3261360" cy="126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~€140–235k per unit (2017–18 tenders)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Aena: EUR 90M ÷ 652 max units ≈ €138k (incl. kiosks)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Riga: EUR 1.87M ÷ 8 gates ≈ €234k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3757676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Margin and mix (context)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4084828"/>
            <a:ext cx="3261360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Axon: software &amp; services ~74% GM (Q3 2025) vs 59.7% blended (FY2025)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Evolv: subscription 56% GM, hardware bundled: a caution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Motorola Solutions: software &amp; services 38% of revenue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67200" y="1920240"/>
            <a:ext cx="3627120" cy="4251960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445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Buyer ROI context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450080" y="2393696"/>
            <a:ext cx="3261360" cy="2593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~60% of airport opex is staff and contracted services (ACI FY2019; not all labour)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~20% of opex is security-related (ACI Europe)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Changi 25 s → 10 s; −30% boarding (SITA / IST); ~9 min per wide-body boarding (Delta)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Illustrative: 1 officer × 4 gates × 180/hr ≈ 720 pax/hr, vs 60–70 at a booth (not a FastPass claim)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77200" y="1920240"/>
            <a:ext cx="3627120" cy="4251960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260080" y="2066544"/>
            <a:ext cx="32613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5-year plan and demand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60080" y="2393696"/>
            <a:ext cx="3261360" cy="2116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5-year plan (internal estimate; Finance to validate): lanes, revenue, recurring %, gross margin, burn, break-even year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The ask derives from a bottom-up cost of M1–M4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IATA (Mar 2026): air travel demand more than doubles by 2050 (3.1% CAGR)</a:t>
            </a:r>
            <a:endParaRPr lang="en-US" sz="1400" dirty="0"/>
          </a:p>
        </p:txBody>
      </p:sp>
      <p:sp>
        <p:nvSpPr>
          <p:cNvPr id="21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Aena · Riga · Axon (Q3 2025; FY2025) · Evolv · Motorola · ACI (via World Bank) · ACI Europe · Malay Mail · FTE · Delta · IATA (Mar 2026)</a:t>
            </a:r>
            <a:endParaRPr lang="en-US" sz="900" dirty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23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A12  Team and structure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Team detail and what an investor would own.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Who is full-time, how the venture is set up, and what an investor owns.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A12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3454400" cy="33279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640080" y="2066544"/>
            <a:ext cx="3088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Team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2393696"/>
            <a:ext cx="3088640" cy="2644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Bios: [name, role, track record, full-time status, equity] × 4 leads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Advisors: [names]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Hires this round: commercial lead (airport / border-agency sales); certification &amp; privacy lead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Concept to Airshow prototype: [N] months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Drawn from Smart Security &amp; Automation, Smart Utilities &amp; Infrastructure and Urban Solutions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094480" y="1920240"/>
            <a:ext cx="3454400" cy="33279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277360" y="2066544"/>
            <a:ext cx="3088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Why a venture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277360" y="2393696"/>
            <a:ext cx="3088640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[Rationale]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277360" y="2803652"/>
            <a:ext cx="30886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Channel conflict [TBC]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277360" y="3130804"/>
            <a:ext cx="3088640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Can FastPass sell through non-ST integrators?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And into airports where other ST Engineering units compete?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How are related-party sales handled?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731760" y="1920240"/>
            <a:ext cx="3972560" cy="33279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5875">
            <a:solidFill>
              <a:srgbClr val="0B84AE"/>
            </a:solidFill>
            <a:prstDash val="solid"/>
          </a:ln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914640" y="2066544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What an investor would own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914640" y="2393696"/>
            <a:ext cx="3606800" cy="2430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Structure: [NewCo spin-out or internal venture via STEV / In.Vent]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IP and platform rights: [assigned or exclusively licensed]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Cap table: [placeholder]; ST Engineering as [shareholder / supplier / channel]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Group supply on arm's-length terms; no parent veto on an exit [TBC]</a:t>
            </a:r>
            <a:endParaRPr lang="en-US" sz="14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526"/>
                </a:solidFill>
              </a:rPr>
              <a:t>Face-matching algorithm: [own / licensed, confirm]</a:t>
            </a:r>
            <a:endParaRPr lang="en-US" sz="1400" dirty="0"/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22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A13  Assumptions register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Every internal number, labelled and owned.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Every internal estimate, with its label, owner and validation plan.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A13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114800"/>
                <a:gridCol w="2926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Validation · owner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Up to 4 document checks per departure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Process framing (domestic: no immigration)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[CPO]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Up to 4 → 0 at full rollout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Design target; pilot is 1 → 0 at immigration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[CPO]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≥4 staff per checkpoint workflow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Internal estimate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Pilot baseline · [COO]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10–15% ME + SEA share of airport ABC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Internal team estimate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Method [to document] · [CMO]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10–15% FastPass-serviceable share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Internal team estimate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Method [to document] · [CMO]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20–30% less kerb-to-gate time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Team target, unvalidated (full rollout)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Pilot baseline · [CPO]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~78% brownfield (team figure)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Unsourced; shown beside ACI's 57% (by value)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[CMO]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35+ years of secure delivery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Company claim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Prototype shown end to end, Feb 2026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Company record; live status per module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[CTO]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Every [X] price, margin, KPI, date, count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Placeholder until confirmed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[owner]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!!foot"/>
          <p:cNvSpPr txBox="1"/>
          <p:nvPr/>
        </p:nvSpPr>
        <p:spPr>
          <a:xfrm>
            <a:off x="960120" y="6355080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899"/>
                </a:solidFill>
                <a:latin typeface="+mj-lt"/>
              </a:rPr>
              <a:t>ACI Asia-Pacific &amp; Middle East (57% brownfield, by value) · All other rows: internal</a:t>
            </a:r>
            <a:endParaRPr lang="en-US" sz="900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13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A14  Investor FAQ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Ten questions we expect, answered plainly.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Ownership, scale, demand, payer and measured gain.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A14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680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Short answer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What would I own?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Not decided yet. For outside money we expect a NewCo, IP assigned or exclusively licensed, full-time leads with equity and arm's-length Group supply (A12). Structure and IP terms are fixed before any outside close [TBC].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Is this venture-scale?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The US$42–94M is a deliberately narrow beachhead: ABC e-gates and kiosks in two regions. The path to US$100M+ (every touchpoint, software, other airports and borders) is a hypothesis the pilot must open.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Which agency has asked for a second factor?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None yet. That is the bet M1 tests, and if agencies don't value it we stop or redesign.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Who pays: airport or agency?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It differs by country (Aena, Riga, Cardiff precedents). We compute payback per payer and structure the pilot with the budget holder (A11).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What's your measured gain over an e-gate?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Not measured yet. The pilot measures throughput against the existing e-gate baseline, with a go / no-go agreed in advance.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1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A14  Investor FAQ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Ten questions we expect, answered plainly.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Demo, security, brand, market and the ask.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A14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680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Short answer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Was the demo real?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It is an illustrated walkthrough of the prototype demonstrated end to end at the Airshow. Real footage: [show / none]. Measured: [figures / none yet].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How is Bluetooth a second factor? Relay or mis-pairing?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Design intent: a cryptographic challenge to the paired phone's credential, plus a face match to that credential [CTO]. Independent tests are M2's exit criteria.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Can you use the name 'Fast Pass'?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Hamad, Qatar Airways and SITA launched it in Jul 2026. Our trademark review is [status], and fallback names are ready.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Why lead with the Middle East after −21% in H1 2026?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We sell efficiency, not growth; an SEA or dual-region pilot is the hedge; build-outs like DWC 2032 continue.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526"/>
                          </a:solidFill>
                        </a:rPr>
                        <a:t>How much, and what's true at the end?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526"/>
                          </a:solidFill>
                        </a:rPr>
                        <a:t>[US$X M] over [N] months buys M1–M4. In 12 months: a signed pilot and a live lane (M1–M2); the KPI readout (M3) follows by [Qx 2028]. Not revenue.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1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Rectangle 36">
            <a:extLst>
              <a:ext uri="{FF2B5EF4-FFF2-40B4-BE49-F238E27FC236}">
                <a16:creationId xmlns:a16="http://schemas.microsoft.com/office/drawing/2014/main" id="{2D75D72A-5E42-6AD7-C821-6798F2A53DEB}"/>
              </a:ext>
            </a:extLst>
          </p:cNvPr>
          <p:cNvSpPr/>
          <p:nvPr/>
        </p:nvSpPr>
        <p:spPr>
          <a:xfrm>
            <a:off x="-1498" y="0"/>
            <a:ext cx="12192001" cy="6858000"/>
          </a:xfrm>
          <a:prstGeom prst="rect">
            <a:avLst/>
          </a:prstGeom>
          <a:gradFill flip="none" rotWithShape="1">
            <a:gsLst>
              <a:gs pos="10000">
                <a:srgbClr val="6930C3">
                  <a:alpha val="30000"/>
                </a:srgbClr>
              </a:gs>
              <a:gs pos="25000">
                <a:srgbClr val="48BFE3">
                  <a:alpha val="30000"/>
                </a:srgbClr>
              </a:gs>
              <a:gs pos="40000">
                <a:srgbClr val="80FFDB">
                  <a:alpha val="30000"/>
                </a:srgb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>
              <a:latin typeface="+mj-lt"/>
            </a:endParaRPr>
          </a:p>
        </p:txBody>
      </p:sp>
      <p:pic>
        <p:nvPicPr>
          <p:cNvPr id="4" name="Picture 2" descr="A white background with curves&#10;&#10;AI-generated content may be incorrect.">
            <a:extLst>
              <a:ext uri="{FF2B5EF4-FFF2-40B4-BE49-F238E27FC236}">
                <a16:creationId xmlns:a16="http://schemas.microsoft.com/office/drawing/2014/main" id="{2D92F304-B958-3B26-9458-0CBC99C59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91" y="-5645"/>
            <a:ext cx="12192001" cy="6863645"/>
          </a:xfrm>
          <a:prstGeom prst="rect">
            <a:avLst/>
          </a:prstGeom>
        </p:spPr>
      </p:pic>
      <p:sp>
        <p:nvSpPr>
          <p:cNvPr id="5" name="!!eyebrow"/>
          <p:cNvSpPr txBox="1"/>
          <p:nvPr/>
        </p:nvSpPr>
        <p:spPr>
          <a:xfrm>
            <a:off x="4297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0613"/>
                </a:solidFill>
                <a:latin typeface="+mj-lt"/>
              </a:rPr>
              <a:t>Appendix · A15  Roadmap and vision</a:t>
            </a:r>
            <a:endParaRPr lang="en-US" sz="1600" dirty="0"/>
          </a:p>
        </p:txBody>
      </p:sp>
      <p:sp>
        <p:nvSpPr>
          <p:cNvPr id="6" name="!!title"/>
          <p:cNvSpPr txBox="1"/>
          <p:nvPr/>
        </p:nvSpPr>
        <p:spPr>
          <a:xfrm>
            <a:off x="411480" y="868680"/>
            <a:ext cx="11292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526"/>
                </a:solidFill>
                <a:latin typeface="+mj-lt"/>
              </a:rPr>
              <a:t>The trusted identity layer for every checkpoint.</a:t>
            </a:r>
            <a:endParaRPr lang="en-US" sz="2800" dirty="0"/>
          </a:p>
        </p:txBody>
      </p:sp>
      <p:sp>
        <p:nvSpPr>
          <p:cNvPr id="7" name="!!sub"/>
          <p:cNvSpPr txBox="1"/>
          <p:nvPr/>
        </p:nvSpPr>
        <p:spPr>
          <a:xfrm>
            <a:off x="429768" y="14630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  <a:latin typeface="+mj-lt"/>
              </a:rPr>
              <a:t>Future options, kept out of the main pitch. Airports first.</a:t>
            </a:r>
            <a:endParaRPr lang="en-US" sz="1800" dirty="0"/>
          </a:p>
        </p:txBody>
      </p:sp>
      <p:sp>
        <p:nvSpPr>
          <p:cNvPr id="8" name="!!beat"/>
          <p:cNvSpPr txBox="1"/>
          <p:nvPr/>
        </p:nvSpPr>
        <p:spPr>
          <a:xfrm>
            <a:off x="329184" y="63550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4750"/>
                </a:solidFill>
                <a:latin typeface="+mj-lt"/>
              </a:rPr>
              <a:t>A15  |</a:t>
            </a:r>
            <a:endParaRPr lang="en-US" sz="1200" dirty="0"/>
          </a:p>
        </p:txBody>
      </p:sp>
      <p:sp>
        <p:nvSpPr>
          <p:cNvPr id="9" name="!!idxlink">
            <a:hlinkClick action="ppaction://hlinksldjump" r:id="rId5"/>
          </p:cNvPr>
          <p:cNvSpPr txBox="1"/>
          <p:nvPr/>
        </p:nvSpPr>
        <p:spPr>
          <a:xfrm>
            <a:off x="10378440" y="6355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B84AE"/>
                </a:solidFill>
              </a:rPr>
              <a:t>Appendix index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1920240"/>
            <a:ext cx="1124712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731520" y="1920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Vision: no documents shown at any checkpoint a person crosses. Airports first.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457200" y="2788920"/>
            <a:ext cx="36271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640080" y="2935224"/>
            <a:ext cx="32613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Next capabilities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294126"/>
            <a:ext cx="3261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Accept airline-issued, ICAO DTC and EUDI wallet credentials as the device factor via the SDK [CTO to confirm]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Arrivals and transit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Lounge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267200" y="2788920"/>
            <a:ext cx="36271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4450080" y="2935224"/>
            <a:ext cx="32613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Technology options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450080" y="3294126"/>
            <a:ext cx="3261360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LiDAR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Iris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E-concierge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AI luggage scanning ('FastPass AI Scanning')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077200" y="2788920"/>
            <a:ext cx="36271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A1628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260080" y="2935224"/>
            <a:ext cx="32613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New markets, in order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60080" y="3294126"/>
            <a:ext cx="326136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1 → Congested airports worldwide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2 → Seaports, cruise and land borders</a:t>
            </a:r>
            <a:endParaRPr lang="en-US" sz="16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B1526"/>
                </a:solidFill>
              </a:rPr>
              <a:t>3 → Secure campuses [to confirm]</a:t>
            </a:r>
            <a:endParaRPr lang="en-US" sz="1600" dirty="0"/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26590DE3-0914-4932-0004-B2BDE2D31811}"/>
              </a:ext>
            </a:extLst>
          </p:cNvPr>
          <p:cNvGrpSpPr/>
          <p:nvPr/>
        </p:nvGrpSpPr>
        <p:grpSpPr>
          <a:xfrm>
            <a:off x="-2" y="0"/>
            <a:ext cx="11896603" cy="1600200"/>
            <a:chOff x="-1" y="0"/>
            <a:chExt cx="8922452" cy="1200150"/>
          </a:xfrm>
        </p:grpSpPr>
        <p:pic>
          <p:nvPicPr>
            <p:cNvPr id="22" name="Picture 5">
              <a:extLst>
                <a:ext uri="{FF2B5EF4-FFF2-40B4-BE49-F238E27FC236}">
                  <a16:creationId xmlns:a16="http://schemas.microsoft.com/office/drawing/2014/main" id="{C614EB9B-E4EB-E86A-1BAA-C1BC2EFB86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0240" y="155813"/>
              <a:ext cx="1822211" cy="547251"/>
            </a:xfrm>
            <a:prstGeom prst="rect">
              <a:avLst/>
            </a:prstGeom>
          </p:spPr>
        </p:pic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5E03CAB3-2064-38EA-4DEE-4EC09ACF3CB7}"/>
                </a:ext>
              </a:extLst>
            </p:cNvPr>
            <p:cNvSpPr/>
            <p:nvPr userDrawn="1"/>
          </p:nvSpPr>
          <p:spPr>
            <a:xfrm flipV="1">
              <a:off x="-1" y="0"/>
              <a:ext cx="102870" cy="1200150"/>
            </a:xfrm>
            <a:prstGeom prst="rect">
              <a:avLst/>
            </a:prstGeom>
            <a:gradFill>
              <a:gsLst>
                <a:gs pos="100000">
                  <a:srgbClr val="E30613"/>
                </a:gs>
                <a:gs pos="0">
                  <a:srgbClr val="EC4750">
                    <a:alpha val="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351">
                <a:latin typeface="+mj-l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DAE19BDA24DF479223A523DC1EAC22" ma:contentTypeVersion="15" ma:contentTypeDescription="Create a new document." ma:contentTypeScope="" ma:versionID="f2d37794f9fe5706fdf315496084d6c9">
  <xsd:schema xmlns:xsd="http://www.w3.org/2001/XMLSchema" xmlns:xs="http://www.w3.org/2001/XMLSchema" xmlns:p="http://schemas.microsoft.com/office/2006/metadata/properties" xmlns:ns1="http://schemas.microsoft.com/sharepoint/v3" xmlns:ns2="59b4f843-a728-4593-8a1f-3b60800c0505" xmlns:ns3="195576e3-6fc6-4cc7-a52f-8a1a90fc6d57" targetNamespace="http://schemas.microsoft.com/office/2006/metadata/properties" ma:root="true" ma:fieldsID="bc42a6b90df392b895de16f18821551c" ns1:_="" ns2:_="" ns3:_="">
    <xsd:import namespace="http://schemas.microsoft.com/sharepoint/v3"/>
    <xsd:import namespace="59b4f843-a728-4593-8a1f-3b60800c0505"/>
    <xsd:import namespace="195576e3-6fc6-4cc7-a52f-8a1a90fc6d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b4f843-a728-4593-8a1f-3b60800c05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0df6263-beb7-4e3d-b782-8d1ca9c8aa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5576e3-6fc6-4cc7-a52f-8a1a90fc6d5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3a38f4b-5bcc-4500-af1f-c24ca71b5c0a}" ma:internalName="TaxCatchAll" ma:showField="CatchAllData" ma:web="195576e3-6fc6-4cc7-a52f-8a1a90fc6d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59b4f843-a728-4593-8a1f-3b60800c0505">
      <Terms xmlns="http://schemas.microsoft.com/office/infopath/2007/PartnerControls"/>
    </lcf76f155ced4ddcb4097134ff3c332f>
    <_ip_UnifiedCompliancePolicyProperties xmlns="http://schemas.microsoft.com/sharepoint/v3" xsi:nil="true"/>
    <TaxCatchAll xmlns="195576e3-6fc6-4cc7-a52f-8a1a90fc6d57" xsi:nil="true"/>
  </documentManagement>
</p:properties>
</file>

<file path=customXml/itemProps1.xml><?xml version="1.0" encoding="utf-8"?>
<ds:datastoreItem xmlns:ds="http://schemas.openxmlformats.org/officeDocument/2006/customXml" ds:itemID="{19AC9C15-0E1C-405D-9198-763B7011C7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35FA44-63C2-4ACA-A444-489731DA04FA}">
  <ds:schemaRefs>
    <ds:schemaRef ds:uri="195576e3-6fc6-4cc7-a52f-8a1a90fc6d57"/>
    <ds:schemaRef ds:uri="59b4f843-a728-4593-8a1f-3b60800c050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5C1C97A-0FBF-46FC-87F3-807B2E089C9B}">
  <ds:schemaRefs>
    <ds:schemaRef ds:uri="195576e3-6fc6-4cc7-a52f-8a1a90fc6d57"/>
    <ds:schemaRef ds:uri="59b4f843-a728-4593-8a1f-3b60800c05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39</Slides>
  <Notes>39</Notes>
  <HiddenSlides>0</HiddenSlides>
  <ScaleCrop>false</ScaleCrop>
  <HeadingPairs>
    <vt:vector size="2" baseType="variant">
      <vt:variant>
        <vt:lpstr>Slide Titles</vt:lpstr>
      </vt:variant>
      <vt:variant>
        <vt:i4>39</vt:i4>
      </vt:variant>
    </vt:vector>
  </HeadingPairs>
  <TitlesOfParts>
    <vt:vector size="39" baseType="lpstr">
      <vt:lpstr>AGIL® Secure FastPass</vt:lpstr>
      <vt:lpstr>Up to four ID checks per departure, most staffed.</vt:lpstr>
      <vt:lpstr>Borders went biometric; passports are going mobile.</vt:lpstr>
      <vt:lpstr>Phone in the pocket + face in stride = cleared.</vt:lpstr>
      <vt:lpstr>One traveller, four checks, no documents shown.</vt:lpstr>
      <vt:lpstr>1 · Enrol once, at home</vt:lpstr>
      <vt:lpstr>2 · Walk through: phone + face = cleared</vt:lpstr>
      <vt:lpstr>3 · Pre-screen and board by face + phone</vt:lpstr>
      <vt:lpstr>4 · Officers act only on exceptions</vt:lpstr>
      <vt:lpstr>Built and shown live. Next proof: one airport lane.</vt:lpstr>
      <vt:lpstr>Others match faces in stride. We add the phone.</vt:lpstr>
      <vt:lpstr>US$42–94M a year by 2030, and lanes are only the wedge.</vt:lpstr>
      <vt:lpstr>Land one lane. Hardware once, software every year.</vt:lpstr>
      <vt:lpstr>Airport buys capacity. Agency gains officer time.</vt:lpstr>
      <vt:lpstr>The team that built and demoed the prototype.</vt:lpstr>
      <vt:lpstr>[US$X M] from first lane to first paid order by [2028].</vt:lpstr>
      <vt:lpstr>Appendix: backup for diligence and Q&amp;A</vt:lpstr>
      <vt:lpstr>Every external number maps to one source.</vt:lpstr>
      <vt:lpstr>Six steps, five modules, one platform.</vt:lpstr>
      <vt:lpstr>The FastPass lane: BLE beacon plus a face camera.</vt:lpstr>
      <vt:lpstr>Recompute the beachhead: US$42–94M a year in 2030.</vt:lpstr>
      <vt:lpstr>Who we target first, and the 2026 headwind.</vt:lpstr>
      <vt:lpstr>Competitor matrix behind the slide-7 map.</vt:lpstr>
      <vt:lpstr>Market evidence and the moat to build.</vt:lpstr>
      <vt:lpstr>The identity layer produces real outcomes.</vt:lpstr>
      <vt:lpstr>AGIL® Secure Platform: the command layer behind every step.</vt:lpstr>
      <vt:lpstr>Pilot design: one airport, one group, one lane.</vt:lpstr>
      <vt:lpstr>Pilot scorecard: targets set now, measured live.</vt:lpstr>
      <vt:lpstr>Trust, privacy and security: design intent and test plan.</vt:lpstr>
      <vt:lpstr>How an agency could accept a phone-held credential.</vt:lpstr>
      <vt:lpstr>Risks you will raise, and the milestone that retires each.</vt:lpstr>
      <vt:lpstr>Risks you will raise, and the milestone that retires each.</vt:lpstr>
      <vt:lpstr>Unit economics and payback per payer (placeholders).</vt:lpstr>
      <vt:lpstr>Cost anchors, margin comparables and the 5-year plan.</vt:lpstr>
      <vt:lpstr>Team detail and what an investor would own.</vt:lpstr>
      <vt:lpstr>Every internal number, labelled and owned.</vt:lpstr>
      <vt:lpstr>Ten questions we expect, answered plainly.</vt:lpstr>
      <vt:lpstr>Ten questions we expect, answered plainly.</vt:lpstr>
      <vt:lpstr>The trusted identity layer for every checkpoint.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AGIL® Secure FastPass — Investor Pitch 13</dc:title>
  <dc:creator>Zhang Qinyuan</dc:creator>
  <cp:revision>1</cp:revision>
  <dcterms:created xsi:type="dcterms:W3CDTF">2026-07-07T02:13:40Z</dcterms:created>
  <dcterms:modified xsi:type="dcterms:W3CDTF">2026-10-27T16:00:23Z</dcterms:modified>
  <dc:subject>Investor pitch, 10 minutes + appendix A1–A15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0x01010031DAE19BDA24DF479223A523DC1EAC22</vt:lpwstr>
  </property>
  <property fmtid="{D5CDD505-2E9C-101B-9397-08002B2CF9AE}" pid="3" name="MSIP_Label_a043ec3a-92eb-434b-bfcd-dd5fcd578c71_Enabled">
    <vt:lpwstr>true</vt:lpwstr>
  </property>
  <property fmtid="{D5CDD505-2E9C-101B-9397-08002B2CF9AE}" pid="4" name="MSIP_Label_a043ec3a-92eb-434b-bfcd-dd5fcd578c71_SetDate">
    <vt:lpwstr>2026-07-07T02:14:00Z</vt:lpwstr>
  </property>
  <property fmtid="{D5CDD505-2E9C-101B-9397-08002B2CF9AE}" pid="5" name="MSIP_Label_a043ec3a-92eb-434b-bfcd-dd5fcd578c71_Method">
    <vt:lpwstr>Privileged</vt:lpwstr>
  </property>
  <property fmtid="{D5CDD505-2E9C-101B-9397-08002B2CF9AE}" pid="6" name="MSIP_Label_a043ec3a-92eb-434b-bfcd-dd5fcd578c71_Name">
    <vt:lpwstr>Group_Unrestricted</vt:lpwstr>
  </property>
  <property fmtid="{D5CDD505-2E9C-101B-9397-08002B2CF9AE}" pid="7" name="MSIP_Label_a043ec3a-92eb-434b-bfcd-dd5fcd578c71_SiteId">
    <vt:lpwstr>82fac8d8-49c2-492d-9f67-7d9e5b66144e</vt:lpwstr>
  </property>
  <property fmtid="{D5CDD505-2E9C-101B-9397-08002B2CF9AE}" pid="8" name="MSIP_Label_a043ec3a-92eb-434b-bfcd-dd5fcd578c71_ActionId">
    <vt:lpwstr>18312b41-4cf1-42d6-90d8-012795db9c2e</vt:lpwstr>
  </property>
  <property fmtid="{D5CDD505-2E9C-101B-9397-08002B2CF9AE}" pid="9" name="MSIP_Label_a043ec3a-92eb-434b-bfcd-dd5fcd578c71_ContentBits">
    <vt:lpwstr>0</vt:lpwstr>
  </property>
  <property fmtid="{D5CDD505-2E9C-101B-9397-08002B2CF9AE}" pid="10" name="MSIP_Label_a043ec3a-92eb-434b-bfcd-dd5fcd578c71_Tag">
    <vt:lpwstr>10, 0, 1, 2</vt:lpwstr>
  </property>
  <property fmtid="{D5CDD505-2E9C-101B-9397-08002B2CF9AE}" pid="11" name="MediaServiceImageTags">
    <vt:lpwstr/>
  </property>
</Properties>
</file>