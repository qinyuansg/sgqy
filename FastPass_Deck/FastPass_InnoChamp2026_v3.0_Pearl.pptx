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b6655965-811e-0e96-e52c-a1e749f73191}">
          <p14:sldIdLst>
            <p14:sldId id="256"/>
            <p14:sldId id="257"/>
            <p14:sldId id="258"/>
            <p14:sldId id="259"/>
            <p14:sldId id="260"/>
            <p14:sldId id="261"/>
            <p14:sldId id="262"/>
            <p14:sldId id="263"/>
            <p14:sldId id="264"/>
            <p14:sldId id="265"/>
            <p14:sldId id="266"/>
          </p14:sldIdLst>
        </p14:section>
        <p14:section name="References &amp; Q&amp;A" id="{f7bcde3f-d877-1732-05af-db6113714246}">
          <p14:sldIdLst>
            <p14:sldId id="267"/>
            <p14:sldId id="268"/>
            <p14:sldId id="269"/>
            <p14:sldId id="270"/>
            <p14:sldId id="271"/>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[0:00–0:10]  AGIL® Secure FastPass: curb to gate on one verified identity — two-factor, privacy-first, modular.
TIME PLAN (8-min slot, last on agenda): 1 Title 0:10 · 2 Problem 0:50 · 3 Market 0:55 · 4 Journey 1 0:45 · 5 Journey 2 0:45 · 6 Innovation 0:50 · 7 Impact 0:40 · 8 GTM 0:55 · 9 Collaboration &amp; barriers 0:50 · 10 Ask 0:40 · 11 Close 0:05 ≈ 7:25. Suggested split: presenter A slides 1–6, presenter B slides 7–11.
Judges (division heads) score 4 × 10 points: Innovativeness · Market potential &amp; business impact (cross-BA collaboration = 30% of it) · Time to market · Entry barriers. Every slide's eyebrow names the criterion it earns.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[0:10–1:00]  PAIN FIRST (CEO feedback: articulate the service-delivery pain, not industry stats).
• Demand: passengers double by 2040 — 7.8 bn, +4.2% a year (IATA, Dec 2023) [R1].
• Supply: airports cannot build fast enough. Changi's T5 broke ground in 2025 and opens in the mid-2030s — a decade for new capacity [R2]. (CMO framing: throughput rises faster than terminals and runways can be built.)
• Today a departing passenger stops four times — check-in, immigration, screening, boarding — and every manned lane ties up ~3 staff on routine checks [I1].
• Data: airports do not want to hold passenger biometrics; data-protection rules make it a liability [I10, Invent interviews].
Line to land: "The only way to add capacity this decade is to make every existing lane work harder — without adding people or data risk."
Q&amp;A: IATA's newer forecasts (2025–26) keep long-term growth but over longer horizons; the 2040 figure is the Dec 2023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[1:00–1:55]  MARKET (CEO: which market, which customers, what revenue; CMO: shift from features to market and sales).
• Target: Middle East and Southeast Asia — highest airport growth and lower privacy resistance. Europe and the US are deliberately out of scope for now (privacy resistance, strict data laws).
• Sizing, bottom-up: automated border control US$2.56B (2025) → US$5.03B (2030), 14.4% a year [R3]; airports are 83.1% of it [R4]; ME + SEA ≈ 10–15% and FastPass can address ~¼ of that [I2] → US$500–700M over 2026–30, ≈ US$100–140M a year.
• Demand signal: ~70% of airlines plan biometric ID management by 2026 [R5]; Asia-Pacific leads passenger growth (≈4.8% a year to 2043) [R6].
• Who buys depends on governance: operator-led airports (Changi, Narita) buy directly; at airline-led Gulf hubs we embed in the airline app; private concessions (e.g. Philippines) buy through the concessionaire.
NOT on slide: the US$40B e-gate TAM — source still unverified (Riley).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[1:55–2:40]  THE JOURNEY (CEO + CMO: show the physical airport journey, not app screens).
1. Enrol at home — passport MRZ + selfie in the app (or inside the airport/airline app via our SDK). The credential is encrypted at rest on the phone.
2. Approach — a BLE beacon pairs the phone to the lane as the traveller walks up. No tapping.
3. Walk through — the FR pylon matches the live face to the phone's template on the move: two factors. Green light, lane stays open; on an exception the lane closes and an officer is alerted.
Keep it to the three numbers — the picture explains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[2:40–3:25]  4. Pre-screening — the Nova+ reader verifies identity and retrieves the clearance profile before bags enter X-ray, so exceptions surface early.
5. Smart boarding — face plus phone clears the kiosk; no passport scan, no boarding pass.
6. Live oversight — AGIL® Secure ISMP is one pane of glass across lanes, incidents, CCTV and passenger flow. Exceptions go to officer tablets; 2–3 manual counters remain for edge cases.
Bridge: "So what is genuinely new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[3:25–4:15]  INNOVATIVENESS (10 pts). CEO: "Everybody knows the turnstile is not the magic. The magic is the clearance method."
• Two factors on the move: the phone credential (BLE) plus the live face. Peers we saw at PT Asia mostly do face-only (1FA) [I9]. That is our unique point.
• No biometric liability: passport and face template stay encrypted on the traveller's phone; the airport stores no biometric database. This answers "who owns the data" — the airport doesn't have to.
• Plugs into existing apps: we ship an SDK so the airport or airline owns the app (the app is an enabler, not the product). Modular — links to immigration only where local policy allows; never "standalone vs immigration".
• Converged: every clearance sits beside CCTV, access control and incidents in ISMP.
• AI in the offering and in development: face recognition on the move, ISMP AI co-pilot that correlates related alarms and guides SOPs [I11]; AI-assisted engineering cut selected front-end effort ~50% [I7].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[4:15–4:55]  BUSINESS IMPACT — three stakeholders (CMO), one memorable number (Gareth's own takeaway at the Airshow: "I reduce three men").
• Passengers: curb to gate in 8–11 minutes (target — we validate it at the airport demo) [I4]. No queue, no passport at each stop.
• Operators: automating the four touchpoints frees ~3 staff per lane [I1] and adds capacity without new terminal space — the productivity and ROI story.
• Security: one pane of glass in ISMP across every lane and incident.
Keep 3–6 s passage and 30–50% throughput for Q&amp;A only (design targets, not yet field-measured).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[4:55–5:50]  TIME TO MARKET (10 pts) + "effort to scale fast" (plans for the next 12 months, international requirements, sales network).
CEO: "After 12 months we still have no pilot" — so this slide commits to one.
WHO BUYS: airport operators first; hub airlines where they lead (governance, slide 3). HOW WE SELL: an SDK inside their app, sold via Group Sales and local partners in ME &amp; SEA (confirm named contacts with Riley/William — Gareth will ask whether Sales is involved). WHAT THEY PAY: lanes one-off, ISMP licence recurring, integration, lifecycle support — priced against the ~3 staff each lane saves.
[ACTION: insert target price points after the Sales sync.]
NEXT 12 MONTHS: Q4 2026 airport demo (AGIL® Secure software) → Q1 2027 productise — offline credentials, redundancy, back-end integration (CEO: "still a demo") → Apr 2027 PT World Amsterdam (target) → H1 2027 first paid pilot with Group Sales → H2 2027 add lanes plus screening and boarding modules.
Speed comes from reusing the live ISMP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[5:50–6:40]  MARKET POTENTIAL — collaborative initiative across BAs is 30% of that 10-point criterion — plus ENTRY BARRIERS (10 pts).
COLLABORATION: one product team across Smart Security &amp; Automation, Smart Utilities &amp; Infrastructure and Urban Solutions — product management, mobile engineering, biometric integration, e-gate engineering, the ISMP platform team — with Group Sales now in the loop. [Confirm each unit's named contribution before the pitch; this is where the 30% weighting is earned.]
BARRIERS: owned IP across the credential workflow, lane logic and ISMP; 35+ years of government-grade delivery; a specialised set-up that converges clearance with CCTV, access control and intrusion; and the Group's sales reach in ME &amp; SEA with existing ISMP accounts to cross-sell.
EXCO QUESTION "How do we benchmark against Idemia?": they lead on portfolio breadth (baggage, concierge, clearance, big install base); we lead on two-factor clearance and converged security operations, at a modular entry price. Detail in Appendix B2.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[6:40–7:20]  CEO: "Summary must be a sequence: product is ready, clear go-to-market, enhancements, price point — and what do we need STMG to support? Money, resource."
Recap: real pain · focused US$100–140M a year market · working prototype shown at Singapore Airshow 2026 · hard to copy (two-factor, privacy-first, converged).
ASKS: (1) productisation funding to turn the demo into an operational product — offline mode, redundancy, back-end integration [insert S$ amount]; (2) a launch customer — Group Sales to co-own a paid ME/SEA pilot in 2027; (3) a global stage — PT World Amsterdam, April 2027.
Close: "FastPass is ready to pilot. With your support, our first paying airport is within 12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[7:20–7:25]  Thank you. References and Q&amp;A backup follow (R1–R2, B1–B7).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Q&amp;A. R1–R2 trace every figure in the pitch to a URL or an internal owner. Footers on each pitch slide cite these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notes on external sources:
R1 IATA's Dec 2023 outlook: 7.8 bn passengers by 2040. IATA has since published newer forecasts (Aug 2025: 3.9% a year to 2034; Mar 2026: more than double by 2050). If challenged: "the direction is the same — demand outgrows capacity."
R3/R4 MarketsandMarkets editions differ slightly (US$2.56B→5.03B vs 2.57B→5.04B). Mordor Intelligence sizes 2025 at US$2.36B. We use the conservative press-release figures.
R2 Changi T5: works resumed 2022 after a two-year pandemic pause; groundbreaking May 2025; opening mid-2030s.
REMOVED: the 48% cross-silo statistic from v1.3 — not found in SITA's published material. NOT USED: the US$40B e-gate TAM (from a Sales chart; source to be confirmed with Riley).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register to answer "where does that number come from?". Anything marked Target or Internal estimate should be framed as such when challenged. Close the two amber items before 22 Oct.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Positions agreed in the 14 Oct reviews:
• Never say "standalone" vs immigration. Position: open and modular — compatible with immigration integration depending on localised policy; link at enrolment where agreed.
• Singapore is unique (tight ICA–airport integration). Elsewhere, airports don't want to own passport/biometric data — that is the problem the on-phone credential solves.
• Offline, redundancy and back-end linkage are acknowledged gaps (CEO); answer with the productisation plan, not a claim.
• Identity validation: FastPass can support QR/2FA validation against airline (IATA) data and watchlists via the airport or airline app (Sales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Idemia PaXpress SmartLane brochure (12/2025), pages 4, 6, 8–10. Idemia also claims privacy by design, so lead with two-factor and converged operations rather than privacy alone. CEO context: Idemia has already integrated with immigration (ICA) for ABC gates and offers baggage, concierge and clearance — Exco has asked how we benchmark against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ISMP is the operational backbone: passenger log, lane control, exception workflow, AI co-pilot (in design), 3D digital twin and physical security. Swap in the incident-management and digital-twin screenshots from the airshow build when available (CEO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CEO: "Still a demo — offline, mobile, redundancy and back-end linkage are not considered yet." This slide shows the plan. LiDAR feedback: move to onboard-processing units that send insights to the back end. Feedback loop: backboard screen showing identity/clearance (airshow build) and an AI assistant screen for corrective prompts (e.g. remove glasses). Adjacencies from Invent: front-to-back baggage (e.g. Veovo-style partners), rail (UWB/palm), seaports.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the US$40B e-gate figure from the Sales chart: not used until the source is confirmed. Our serviceable market is deliberately conservative and fully traceable.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Hardware is the enabler, not the pitch (CEO). Use this only if asked about the lane. Camera note: test higher-resolution, lens-flexible cameras for on-the-move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I7 (engineering metrics, submission §6) and I11 (ISMP AI co-pilot in design: tailgating triggers co-pilot notifications and downstream door locking; up to four related alarms correlated into one SOP-guided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FP_HERO-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FP_CONTENT-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FP_DIVIDER-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P_HE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sgqy/b70fb111-7300-56ba-abe4-4b6e17d8c33e/scratchpad/assets/common/logo_color.png">    </p:cNvPr>
          <p:cNvPicPr>
            <a:picLocks noChangeAspect="1"/>
          </p:cNvPicPr>
          <p:nvPr/>
        </p:nvPicPr>
        <p:blipFill>
          <a:blip r:embed="rId1"/>
          <a:stretch>
            <a:fillRect/>
          </a:stretch>
        </p:blipFill>
        <p:spPr>
          <a:xfrm>
            <a:off x="548640" y="502920"/>
            <a:ext cx="1463040" cy="438912"/>
          </a:xfrm>
          <a:prstGeom prst="rect">
            <a:avLst/>
          </a:prstGeom>
        </p:spPr>
      </p:pic>
      <p:sp>
        <p:nvSpPr>
          <p:cNvPr id="3" name="Text 0"/>
          <p:cNvSpPr/>
          <p:nvPr>
            <p:ph idx="101" type="body" hasCustomPrompt="1"/>
          </p:nvPr>
        </p:nvSpPr>
        <p:spPr>
          <a:xfrm>
            <a:off x="548640" y="2057400"/>
            <a:ext cx="5852160" cy="292608"/>
          </a:xfrm>
          <a:prstGeom prst="rect">
            <a:avLst/>
          </a:prstGeom>
          <a:noFill/>
          <a:ln/>
        </p:spPr>
        <p:txBody>
          <a:bodyPr wrap="square" rtlCol="0"/>
          <a:lstStyle>
            <a:lvl1pPr algn="l" indent="0" marL="0">
              <a:buNone/>
              <a:defRPr lang="en-US" sz="1200" b="1" spc="300" kern="0" dirty="0">
                <a:solidFill>
                  <a:schemeClr val="accent1"/>
                </a:solidFill>
              </a:defRPr>
            </a:lvl1pPr>
          </a:lstStyle>
          <a:p>
            <a:pPr algn="l" indent="0" marL="0">
              <a:buNone/>
            </a:pPr>
            <a:endParaRPr lang="en-US" sz="1200" dirty="0"/>
          </a:p>
        </p:txBody>
      </p:sp>
      <p:sp>
        <p:nvSpPr>
          <p:cNvPr id="4" name="Text 0"/>
          <p:cNvSpPr/>
          <p:nvPr>
            <p:ph idx="102" type="title" hasCustomPrompt="1"/>
          </p:nvPr>
        </p:nvSpPr>
        <p:spPr>
          <a:xfrm>
            <a:off x="548640" y="2423160"/>
            <a:ext cx="6035040" cy="1600200"/>
          </a:xfrm>
          <a:prstGeom prst="rect">
            <a:avLst/>
          </a:prstGeom>
          <a:noFill/>
          <a:ln/>
        </p:spPr>
        <p:txBody>
          <a:bodyPr wrap="square" rtlCol="0"/>
          <a:lstStyle>
            <a:lvl1pPr algn="l" indent="0" marL="0">
              <a:lnSpc>
                <a:spcPct val="92000"/>
              </a:lnSpc>
              <a:buNone/>
              <a:defRPr lang="en-US" sz="5400" b="1" dirty="0">
                <a:solidFill>
                  <a:schemeClr val="tx1"/>
                </a:solidFill>
              </a:defRPr>
            </a:lvl1pPr>
          </a:lstStyle>
          <a:p>
            <a:pPr algn="l" indent="0" marL="0">
              <a:lnSpc>
                <a:spcPct val="92000"/>
              </a:lnSpc>
              <a:buNone/>
            </a:pPr>
            <a:endParaRPr lang="en-US" sz="5400" dirty="0"/>
          </a:p>
        </p:txBody>
      </p:sp>
      <p:sp>
        <p:nvSpPr>
          <p:cNvPr id="5" name="Text 0"/>
          <p:cNvSpPr/>
          <p:nvPr>
            <p:ph idx="103" type="body" hasCustomPrompt="1"/>
          </p:nvPr>
        </p:nvSpPr>
        <p:spPr>
          <a:xfrm>
            <a:off x="548640" y="4114800"/>
            <a:ext cx="4663440" cy="822960"/>
          </a:xfrm>
          <a:prstGeom prst="rect">
            <a:avLst/>
          </a:prstGeom>
          <a:noFill/>
          <a:ln/>
        </p:spPr>
        <p:txBody>
          <a:bodyPr wrap="square" rtlCol="0"/>
          <a:lstStyle>
            <a:lvl1pPr algn="l" indent="0" marL="0">
              <a:buNone/>
              <a:defRPr lang="en-US" sz="2000" dirty="0">
                <a:solidFill>
                  <a:schemeClr val="tx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P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sgqy/b70fb111-7300-56ba-abe4-4b6e17d8c33e/scratchpad/assets/common/logo_color.png">    </p:cNvPr>
          <p:cNvPicPr>
            <a:picLocks noChangeAspect="1"/>
          </p:cNvPicPr>
          <p:nvPr/>
        </p:nvPicPr>
        <p:blipFill>
          <a:blip r:embed="rId1"/>
          <a:stretch>
            <a:fillRect/>
          </a:stretch>
        </p:blipFill>
        <p:spPr>
          <a:xfrm>
            <a:off x="10362895" y="429768"/>
            <a:ext cx="1280160" cy="384048"/>
          </a:xfrm>
          <a:prstGeom prst="rect">
            <a:avLst/>
          </a:prstGeom>
        </p:spPr>
      </p:pic>
      <p:sp>
        <p:nvSpPr>
          <p:cNvPr id="3" name="Shape 0"/>
          <p:cNvSpPr/>
          <p:nvPr/>
        </p:nvSpPr>
        <p:spPr>
          <a:xfrm>
            <a:off x="548640" y="554126"/>
            <a:ext cx="91440" cy="91440"/>
          </a:xfrm>
          <a:prstGeom prst="rect">
            <a:avLst>
              <a:gd name="adj" fmla="val 50000"/>
            </a:avLst>
          </a:prstGeom>
          <a:solidFill>
            <a:schemeClr val="accent1"/>
          </a:solidFill>
          <a:ln/>
        </p:spPr>
      </p:sp>
      <p:sp>
        <p:nvSpPr>
          <p:cNvPr id="4" name="Text 1"/>
          <p:cNvSpPr/>
          <p:nvPr>
            <p:ph idx="102" type="body" hasCustomPrompt="1"/>
          </p:nvPr>
        </p:nvSpPr>
        <p:spPr>
          <a:xfrm>
            <a:off x="731520" y="457200"/>
            <a:ext cx="8229600" cy="292608"/>
          </a:xfrm>
          <a:prstGeom prst="rect">
            <a:avLst/>
          </a:prstGeom>
          <a:noFill/>
          <a:ln/>
        </p:spPr>
        <p:txBody>
          <a:bodyPr wrap="square" rtlCol="0"/>
          <a:lstStyle>
            <a:lvl1pPr algn="l" indent="0" marL="0">
              <a:buNone/>
              <a:defRPr lang="en-US" sz="1100" b="1" spc="300" kern="0" dirty="0">
                <a:solidFill>
                  <a:schemeClr val="accent1"/>
                </a:solidFill>
              </a:defRPr>
            </a:lvl1pPr>
          </a:lstStyle>
          <a:p>
            <a:pPr algn="l" indent="0" marL="0">
              <a:buNone/>
            </a:pPr>
            <a:endParaRPr lang="en-US" sz="1100" dirty="0"/>
          </a:p>
        </p:txBody>
      </p:sp>
      <p:sp>
        <p:nvSpPr>
          <p:cNvPr id="5" name="Text 1"/>
          <p:cNvSpPr/>
          <p:nvPr>
            <p:ph idx="103" type="title" hasCustomPrompt="1"/>
          </p:nvPr>
        </p:nvSpPr>
        <p:spPr>
          <a:xfrm>
            <a:off x="548640" y="768096"/>
            <a:ext cx="9509760" cy="6400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6" name="Text 1"/>
          <p:cNvSpPr/>
          <p:nvPr>
            <p:ph idx="104" type="body" hasCustomPrompt="1"/>
          </p:nvPr>
        </p:nvSpPr>
        <p:spPr>
          <a:xfrm>
            <a:off x="548640" y="1444752"/>
            <a:ext cx="10789920" cy="384048"/>
          </a:xfrm>
          <a:prstGeom prst="rect">
            <a:avLst/>
          </a:prstGeom>
          <a:noFill/>
          <a:ln/>
        </p:spPr>
        <p:txBody>
          <a:bodyPr wrap="square" rtlCol="0"/>
          <a:lstStyle>
            <a:lvl1pPr algn="l" indent="0" marL="0">
              <a:buNone/>
              <a:defRPr lang="en-US" sz="1600" dirty="0">
                <a:solidFill>
                  <a:schemeClr val="tx2"/>
                </a:solidFill>
              </a:defRPr>
            </a:lvl1pPr>
          </a:lstStyle>
          <a:p>
            <a:pPr algn="l" indent="0" marL="0">
              <a:buNone/>
            </a:pPr>
            <a:endParaRPr lang="en-US" sz="1600" dirty="0"/>
          </a:p>
        </p:txBody>
      </p:sp>
      <p:sp>
        <p:nvSpPr>
          <p:cNvPr id="7" name="Text 1"/>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AGIL® Secure FastPass  ·  InnoChamp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P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sgqy/b70fb111-7300-56ba-abe4-4b6e17d8c33e/scratchpad/assets/common/logo_color.png">    </p:cNvPr>
          <p:cNvPicPr>
            <a:picLocks noChangeAspect="1"/>
          </p:cNvPicPr>
          <p:nvPr/>
        </p:nvPicPr>
        <p:blipFill>
          <a:blip r:embed="rId1"/>
          <a:stretch>
            <a:fillRect/>
          </a:stretch>
        </p:blipFill>
        <p:spPr>
          <a:xfrm>
            <a:off x="548640" y="502920"/>
            <a:ext cx="1463040" cy="438912"/>
          </a:xfrm>
          <a:prstGeom prst="rect">
            <a:avLst/>
          </a:prstGeom>
        </p:spPr>
      </p:pic>
      <p:sp>
        <p:nvSpPr>
          <p:cNvPr id="3" name="Text 0"/>
          <p:cNvSpPr/>
          <p:nvPr>
            <p:ph idx="101" type="body" hasCustomPrompt="1"/>
          </p:nvPr>
        </p:nvSpPr>
        <p:spPr>
          <a:xfrm>
            <a:off x="548640" y="2331720"/>
            <a:ext cx="5486400" cy="292608"/>
          </a:xfrm>
          <a:prstGeom prst="rect">
            <a:avLst/>
          </a:prstGeom>
          <a:noFill/>
          <a:ln/>
        </p:spPr>
        <p:txBody>
          <a:bodyPr wrap="square" rtlCol="0"/>
          <a:lstStyle>
            <a:lvl1pPr algn="l" indent="0" marL="0">
              <a:buNone/>
              <a:defRPr lang="en-US" sz="1200" b="1" spc="300" kern="0" dirty="0">
                <a:solidFill>
                  <a:schemeClr val="accent1"/>
                </a:solidFill>
              </a:defRPr>
            </a:lvl1pPr>
          </a:lstStyle>
          <a:p>
            <a:pPr algn="l" indent="0" marL="0">
              <a:buNone/>
            </a:pPr>
            <a:endParaRPr lang="en-US" sz="1200" dirty="0"/>
          </a:p>
        </p:txBody>
      </p:sp>
      <p:sp>
        <p:nvSpPr>
          <p:cNvPr id="4" name="Text 0"/>
          <p:cNvSpPr/>
          <p:nvPr>
            <p:ph idx="102" type="title" hasCustomPrompt="1"/>
          </p:nvPr>
        </p:nvSpPr>
        <p:spPr>
          <a:xfrm>
            <a:off x="548640" y="2697480"/>
            <a:ext cx="5669280" cy="914400"/>
          </a:xfrm>
          <a:prstGeom prst="rect">
            <a:avLst/>
          </a:prstGeom>
          <a:noFill/>
          <a:ln/>
        </p:spPr>
        <p:txBody>
          <a:bodyPr wrap="square" rtlCol="0"/>
          <a:lstStyle>
            <a:lvl1pPr algn="l" indent="0" marL="0">
              <a:buNone/>
              <a:defRPr lang="en-US" sz="4800" b="1" dirty="0">
                <a:solidFill>
                  <a:schemeClr val="tx1"/>
                </a:solidFill>
              </a:defRPr>
            </a:lvl1pPr>
          </a:lstStyle>
          <a:p>
            <a:pPr algn="l" indent="0" marL="0">
              <a:buNone/>
            </a:pPr>
            <a:endParaRPr lang="en-US" sz="4800" dirty="0"/>
          </a:p>
        </p:txBody>
      </p:sp>
      <p:sp>
        <p:nvSpPr>
          <p:cNvPr id="5" name="Text 0"/>
          <p:cNvSpPr/>
          <p:nvPr>
            <p:ph idx="103" type="body" hasCustomPrompt="1"/>
          </p:nvPr>
        </p:nvSpPr>
        <p:spPr>
          <a:xfrm>
            <a:off x="548640" y="3657600"/>
            <a:ext cx="5486400" cy="457200"/>
          </a:xfrm>
          <a:prstGeom prst="rect">
            <a:avLst/>
          </a:prstGeom>
          <a:noFill/>
          <a:ln/>
        </p:spPr>
        <p:txBody>
          <a:bodyPr wrap="square" rtlCol="0"/>
          <a:lstStyle>
            <a:lvl1pPr algn="l" indent="0" marL="0">
              <a:buNone/>
              <a:defRPr lang="en-US" sz="2000" dirty="0">
                <a:solidFill>
                  <a:schemeClr val="tx2"/>
                </a:solidFill>
              </a:defRPr>
            </a:lvl1pPr>
          </a:lstStyle>
          <a:p>
            <a:pPr algn="l" indent="0" marL="0">
              <a:buNone/>
            </a:pPr>
            <a:endParaRPr lang="en-US" sz="2000" dirty="0"/>
          </a:p>
        </p:txBody>
      </p:sp>
      <p:sp>
        <p:nvSpPr>
          <p:cNvPr id="6"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AGIL® Secure FastPass  ·  InnoChamp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3.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3.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gif"/><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www.iata.org/en/iata-repository/publications/economic-reports/global-outlook-for-air-transport---december-2023---report/" TargetMode="External"/><Relationship Id="rId2" Type="http://schemas.openxmlformats.org/officeDocument/2006/relationships/hyperlink" Target="https://www.mot.gov.sg/news-resources/newsroom/update-on-development-plans-for-changi-airport-terminal-5/" TargetMode="External"/><Relationship Id="rId3" Type="http://schemas.openxmlformats.org/officeDocument/2006/relationships/hyperlink" Target="https://www.marketsandmarkets.com/PressReleases/automated-border-control.asp" TargetMode="External"/><Relationship Id="rId4" Type="http://schemas.openxmlformats.org/officeDocument/2006/relationships/hyperlink" Target="https://www.marketsandmarkets.com/ResearchInsight/automated-border-control-market-size.asp" TargetMode="External"/><Relationship Id="rId5" Type="http://schemas.openxmlformats.org/officeDocument/2006/relationships/hyperlink" Target="https://www.sita.aero/resources/surveys-reports/air-transport-it-insights-2024/" TargetMode="External"/><Relationship Id="rId6" Type="http://schemas.openxmlformats.org/officeDocument/2006/relationships/hyperlink" Target="https://www.scmp.com/news/world/middle-east/article/3271055/global-airline-traffic-forecast-double-20-years-led-asia-middle-east" TargetMode="External"/><Relationship Id="rId7" Type="http://schemas.openxmlformats.org/officeDocument/2006/relationships/hyperlink" Target="https://www.sita.aero/resources/surveys-reports/air-transport-it-insights-2025/airports/" TargetMode="External"/><Relationship Id="rId8" Type="http://schemas.openxmlformats.org/officeDocument/2006/relationships/hyperlink" Target="https://na.idemia.com" TargetMode="External"/><Relationship Id="rId9" Type="http://schemas.openxmlformats.org/officeDocument/2006/relationships/slideLayout" Target="../slideLayouts/slideLayout3.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slideLayout" Target="../slideLayouts/slideLayout3.xml"/><Relationship Id="rId1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3.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3.xml"/><Relationship Id="rId7"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065215" y="1051560"/>
            <a:ext cx="5577840" cy="4754880"/>
          </a:xfrm>
          <a:prstGeom prst="roundRect">
            <a:avLst>
              <a:gd name="adj" fmla="val 4231"/>
            </a:avLst>
          </a:prstGeom>
          <a:solidFill>
            <a:srgbClr val="2A2A2A"/>
          </a:solidFill>
          <a:ln/>
          <a:effectLst>
            <a:outerShdw sx="100000" sy="100000" kx="0" ky="0" algn="bl" rotWithShape="0" blurRad="381000" dist="127000" dir="5400000">
              <a:srgbClr val="0A1628">
                <a:alpha val="18000"/>
              </a:srgbClr>
            </a:outerShdw>
          </a:effectLst>
        </p:spPr>
      </p:sp>
      <p:pic>
        <p:nvPicPr>
          <p:cNvPr id="3" name="Hero — FastPass lane" descr="/tmp/claude-0/-home-user-sgqy/b70fb111-7300-56ba-abe4-4b6e17d8c33e/scratchpad/assets/common/hero_tile.png">    </p:cNvPr>
          <p:cNvPicPr>
            <a:picLocks noChangeAspect="1"/>
          </p:cNvPicPr>
          <p:nvPr/>
        </p:nvPicPr>
        <p:blipFill>
          <a:blip r:embed="rId1"/>
          <a:stretch>
            <a:fillRect/>
          </a:stretch>
        </p:blipFill>
        <p:spPr>
          <a:xfrm>
            <a:off x="6065215" y="1051560"/>
            <a:ext cx="5577840" cy="4754880"/>
          </a:xfrm>
          <a:prstGeom prst="rect">
            <a:avLst/>
          </a:prstGeom>
        </p:spPr>
      </p:pic>
      <p:sp>
        <p:nvSpPr>
          <p:cNvPr id="4" name="Text 0"/>
          <p:cNvSpPr/>
          <p:nvPr>
            <p:ph idx="101" type="body" hasCustomPrompt="1"/>
          </p:nvPr>
        </p:nvSpPr>
        <p:spPr>
          <a:xfrm>
            <a:off x="548640" y="2057400"/>
            <a:ext cx="5852160" cy="292608"/>
          </a:xfrm>
          <a:prstGeom prst="rect">
            <a:avLst/>
          </a:prstGeom>
          <a:noFill/>
          <a:ln/>
        </p:spPr>
        <p:txBody>
          <a:bodyPr wrap="square" lIns="0" tIns="0" rIns="0" bIns="0" rtlCol="0" anchor="ctr"/>
          <a:lstStyle/>
          <a:p>
            <a:pPr algn="l" indent="0" marL="0">
              <a:buNone/>
            </a:pPr>
            <a:r>
              <a:rPr lang="en-US" sz="1200" b="1" spc="300" kern="0" dirty="0">
                <a:solidFill>
                  <a:schemeClr val="accent1"/>
                </a:solidFill>
              </a:rPr>
              <a:t>INNOCHAMP 2026  ·  PRODUCT CATEGORY</a:t>
            </a:r>
            <a:endParaRPr lang="en-US" sz="1200" dirty="0"/>
          </a:p>
        </p:txBody>
      </p:sp>
      <p:sp>
        <p:nvSpPr>
          <p:cNvPr id="5" name="Text 0"/>
          <p:cNvSpPr/>
          <p:nvPr>
            <p:ph idx="102" type="title" hasCustomPrompt="1"/>
          </p:nvPr>
        </p:nvSpPr>
        <p:spPr>
          <a:xfrm>
            <a:off x="548640" y="2423160"/>
            <a:ext cx="6035040" cy="1600200"/>
          </a:xfrm>
          <a:prstGeom prst="rect">
            <a:avLst/>
          </a:prstGeom>
          <a:noFill/>
          <a:ln/>
        </p:spPr>
        <p:txBody>
          <a:bodyPr wrap="square" lIns="0" tIns="0" rIns="0" bIns="0" rtlCol="0" anchor="t"/>
          <a:lstStyle/>
          <a:p>
            <a:pPr algn="l" indent="0" marL="0">
              <a:lnSpc>
                <a:spcPct val="92000"/>
              </a:lnSpc>
              <a:buNone/>
            </a:pPr>
            <a:r>
              <a:rPr lang="en-US" sz="5400" b="1" dirty="0">
                <a:solidFill>
                  <a:schemeClr val="tx1"/>
                </a:solidFill>
              </a:rPr>
              <a:t>AGIL® Secure</a:t>
            </a:r>
            <a:endParaRPr lang="en-US" sz="5400" dirty="0"/>
          </a:p>
          <a:p>
            <a:pPr algn="l" indent="0" marL="0">
              <a:lnSpc>
                <a:spcPct val="92000"/>
              </a:lnSpc>
              <a:buNone/>
            </a:pPr>
            <a:r>
              <a:rPr lang="en-US" sz="5400" b="1" dirty="0">
                <a:solidFill>
                  <a:schemeClr val="tx1"/>
                </a:solidFill>
              </a:rPr>
              <a:t>FastPass</a:t>
            </a:r>
            <a:endParaRPr lang="en-US" sz="5400" dirty="0"/>
          </a:p>
        </p:txBody>
      </p:sp>
      <p:sp>
        <p:nvSpPr>
          <p:cNvPr id="6" name="Text 0"/>
          <p:cNvSpPr/>
          <p:nvPr>
            <p:ph idx="103" type="body" hasCustomPrompt="1"/>
          </p:nvPr>
        </p:nvSpPr>
        <p:spPr>
          <a:xfrm>
            <a:off x="548640" y="4114800"/>
            <a:ext cx="4663440" cy="822960"/>
          </a:xfrm>
          <a:prstGeom prst="rect">
            <a:avLst/>
          </a:prstGeom>
          <a:noFill/>
          <a:ln/>
        </p:spPr>
        <p:txBody>
          <a:bodyPr wrap="square" lIns="0" tIns="0" rIns="0" bIns="0" rtlCol="0" anchor="t"/>
          <a:lstStyle/>
          <a:p>
            <a:pPr algn="l" indent="0" marL="0">
              <a:buNone/>
            </a:pPr>
            <a:r>
              <a:rPr lang="en-US" sz="2000" dirty="0">
                <a:solidFill>
                  <a:schemeClr val="tx2"/>
                </a:solidFill>
              </a:rPr>
              <a:t>Curb to gate on one verified identity.</a:t>
            </a:r>
            <a:endParaRPr lang="en-US" sz="2000" dirty="0"/>
          </a:p>
        </p:txBody>
      </p:sp>
      <p:sp>
        <p:nvSpPr>
          <p:cNvPr id="7" name="Shape 4"/>
          <p:cNvSpPr/>
          <p:nvPr/>
        </p:nvSpPr>
        <p:spPr>
          <a:xfrm>
            <a:off x="548640" y="5074920"/>
            <a:ext cx="1325880" cy="365760"/>
          </a:xfrm>
          <a:prstGeom prst="roundRect">
            <a:avLst>
              <a:gd name="adj" fmla="val 50000"/>
            </a:avLst>
          </a:prstGeom>
          <a:solidFill>
            <a:schemeClr val="accent1">
              <a:alpha val="10000"/>
            </a:schemeClr>
          </a:solidFill>
          <a:ln w="9525">
            <a:solidFill>
              <a:schemeClr val="accent1">
                <a:alpha val="60000"/>
              </a:schemeClr>
            </a:solidFill>
            <a:prstDash val="solid"/>
          </a:ln>
        </p:spPr>
      </p:sp>
      <p:sp>
        <p:nvSpPr>
          <p:cNvPr id="8" name="Text 5"/>
          <p:cNvSpPr txBox="1"/>
          <p:nvPr/>
        </p:nvSpPr>
        <p:spPr>
          <a:xfrm>
            <a:off x="548640" y="5074920"/>
            <a:ext cx="1325880" cy="365760"/>
          </a:xfrm>
          <a:prstGeom prst="rect">
            <a:avLst/>
          </a:prstGeom>
          <a:noFill/>
          <a:ln/>
        </p:spPr>
        <p:txBody>
          <a:bodyPr wrap="square" lIns="0" tIns="0" rIns="0" bIns="0" rtlCol="0" anchor="ctr"/>
          <a:lstStyle/>
          <a:p>
            <a:pPr algn="ctr" indent="0" marL="0">
              <a:buNone/>
            </a:pPr>
            <a:r>
              <a:rPr lang="en-US" sz="1300" b="1" dirty="0">
                <a:solidFill>
                  <a:schemeClr val="accent1"/>
                </a:solidFill>
              </a:rPr>
              <a:t>Two-factor</a:t>
            </a:r>
            <a:endParaRPr lang="en-US" sz="1300" dirty="0"/>
          </a:p>
        </p:txBody>
      </p:sp>
      <p:sp>
        <p:nvSpPr>
          <p:cNvPr id="9" name="Shape 6"/>
          <p:cNvSpPr/>
          <p:nvPr/>
        </p:nvSpPr>
        <p:spPr>
          <a:xfrm>
            <a:off x="2011680" y="5074920"/>
            <a:ext cx="1371600" cy="365760"/>
          </a:xfrm>
          <a:prstGeom prst="roundRect">
            <a:avLst>
              <a:gd name="adj" fmla="val 50000"/>
            </a:avLst>
          </a:prstGeom>
          <a:solidFill>
            <a:schemeClr val="accent1">
              <a:alpha val="10000"/>
            </a:schemeClr>
          </a:solidFill>
          <a:ln w="9525">
            <a:solidFill>
              <a:schemeClr val="accent1">
                <a:alpha val="60000"/>
              </a:schemeClr>
            </a:solidFill>
            <a:prstDash val="solid"/>
          </a:ln>
        </p:spPr>
      </p:sp>
      <p:sp>
        <p:nvSpPr>
          <p:cNvPr id="10" name="Text 7"/>
          <p:cNvSpPr txBox="1"/>
          <p:nvPr/>
        </p:nvSpPr>
        <p:spPr>
          <a:xfrm>
            <a:off x="2011680" y="5074920"/>
            <a:ext cx="1371600" cy="365760"/>
          </a:xfrm>
          <a:prstGeom prst="rect">
            <a:avLst/>
          </a:prstGeom>
          <a:noFill/>
          <a:ln/>
        </p:spPr>
        <p:txBody>
          <a:bodyPr wrap="square" lIns="0" tIns="0" rIns="0" bIns="0" rtlCol="0" anchor="ctr"/>
          <a:lstStyle/>
          <a:p>
            <a:pPr algn="ctr" indent="0" marL="0">
              <a:buNone/>
            </a:pPr>
            <a:r>
              <a:rPr lang="en-US" sz="1300" b="1" dirty="0">
                <a:solidFill>
                  <a:schemeClr val="accent1"/>
                </a:solidFill>
              </a:rPr>
              <a:t>Privacy-first</a:t>
            </a:r>
            <a:endParaRPr lang="en-US" sz="1300" dirty="0"/>
          </a:p>
        </p:txBody>
      </p:sp>
      <p:sp>
        <p:nvSpPr>
          <p:cNvPr id="11" name="Shape 8"/>
          <p:cNvSpPr/>
          <p:nvPr/>
        </p:nvSpPr>
        <p:spPr>
          <a:xfrm>
            <a:off x="3520440" y="5074920"/>
            <a:ext cx="1051560" cy="365760"/>
          </a:xfrm>
          <a:prstGeom prst="roundRect">
            <a:avLst>
              <a:gd name="adj" fmla="val 50000"/>
            </a:avLst>
          </a:prstGeom>
          <a:solidFill>
            <a:schemeClr val="accent1">
              <a:alpha val="10000"/>
            </a:schemeClr>
          </a:solidFill>
          <a:ln w="9525">
            <a:solidFill>
              <a:schemeClr val="accent1">
                <a:alpha val="60000"/>
              </a:schemeClr>
            </a:solidFill>
            <a:prstDash val="solid"/>
          </a:ln>
        </p:spPr>
      </p:sp>
      <p:sp>
        <p:nvSpPr>
          <p:cNvPr id="12" name="Text 9"/>
          <p:cNvSpPr txBox="1"/>
          <p:nvPr/>
        </p:nvSpPr>
        <p:spPr>
          <a:xfrm>
            <a:off x="3520440" y="5074920"/>
            <a:ext cx="1051560" cy="365760"/>
          </a:xfrm>
          <a:prstGeom prst="rect">
            <a:avLst/>
          </a:prstGeom>
          <a:noFill/>
          <a:ln/>
        </p:spPr>
        <p:txBody>
          <a:bodyPr wrap="square" lIns="0" tIns="0" rIns="0" bIns="0" rtlCol="0" anchor="ctr"/>
          <a:lstStyle/>
          <a:p>
            <a:pPr algn="ctr" indent="0" marL="0">
              <a:buNone/>
            </a:pPr>
            <a:r>
              <a:rPr lang="en-US" sz="1300" b="1" dirty="0">
                <a:solidFill>
                  <a:schemeClr val="accent1"/>
                </a:solidFill>
              </a:rPr>
              <a:t>Modular</a:t>
            </a:r>
            <a:endParaRPr lang="en-US" sz="1300" dirty="0"/>
          </a:p>
        </p:txBody>
      </p:sp>
      <p:sp>
        <p:nvSpPr>
          <p:cNvPr id="13" name="Text 10"/>
          <p:cNvSpPr txBox="1"/>
          <p:nvPr/>
        </p:nvSpPr>
        <p:spPr>
          <a:xfrm>
            <a:off x="548640" y="6126480"/>
            <a:ext cx="5669280" cy="274320"/>
          </a:xfrm>
          <a:prstGeom prst="rect">
            <a:avLst/>
          </a:prstGeom>
          <a:noFill/>
          <a:ln/>
        </p:spPr>
        <p:txBody>
          <a:bodyPr wrap="square" lIns="0" tIns="0" rIns="0" bIns="0" rtlCol="0" anchor="ctr"/>
          <a:lstStyle/>
          <a:p>
            <a:pPr indent="0" marL="0">
              <a:buNone/>
            </a:pPr>
            <a:r>
              <a:rPr lang="en-US" sz="1100" dirty="0">
                <a:solidFill>
                  <a:schemeClr val="accent4"/>
                </a:solidFill>
              </a:rPr>
              <a:t>Smart Security &amp; Automation  ·  Smart Utilities &amp; Infrastructure  ·  Urban Solutions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MARKET NEEDS</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Demand doubles. Terminals take a decade</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Every departure still means four stops, and airports cannot build their way out.</a:t>
            </a:r>
            <a:endParaRPr lang="en-US" sz="1600" dirty="0"/>
          </a:p>
        </p:txBody>
      </p:sp>
      <p:sp>
        <p:nvSpPr>
          <p:cNvPr id="5" name="Shape 3"/>
          <p:cNvSpPr/>
          <p:nvPr/>
        </p:nvSpPr>
        <p:spPr>
          <a:xfrm>
            <a:off x="1051560" y="2542032"/>
            <a:ext cx="10104120" cy="0"/>
          </a:xfrm>
          <a:prstGeom prst="line">
            <a:avLst/>
          </a:prstGeom>
          <a:noFill/>
          <a:ln w="25400">
            <a:solidFill>
              <a:schemeClr val="accent5"/>
            </a:solidFill>
            <a:prstDash val="solid"/>
          </a:ln>
        </p:spPr>
      </p:sp>
      <p:sp>
        <p:nvSpPr>
          <p:cNvPr id="6" name="Shape 4"/>
          <p:cNvSpPr/>
          <p:nvPr/>
        </p:nvSpPr>
        <p:spPr>
          <a:xfrm>
            <a:off x="548640" y="2313432"/>
            <a:ext cx="457200" cy="457200"/>
          </a:xfrm>
          <a:prstGeom prst="ellipse">
            <a:avLst/>
          </a:prstGeom>
          <a:solidFill>
            <a:schemeClr val="accent4">
              <a:alpha val="12000"/>
            </a:schemeClr>
          </a:solidFill>
          <a:ln/>
        </p:spPr>
      </p:sp>
      <p:pic>
        <p:nvPicPr>
          <p:cNvPr id="7" name="Image 0" descr="preencoded.png">    </p:cNvPr>
          <p:cNvPicPr>
            <a:picLocks noChangeAspect="1"/>
          </p:cNvPicPr>
          <p:nvPr/>
        </p:nvPicPr>
        <p:blipFill>
          <a:blip r:embed="rId1"/>
          <a:stretch>
            <a:fillRect/>
          </a:stretch>
        </p:blipFill>
        <p:spPr>
          <a:xfrm>
            <a:off x="653796" y="2418588"/>
            <a:ext cx="246888" cy="246888"/>
          </a:xfrm>
          <a:prstGeom prst="rect">
            <a:avLst/>
          </a:prstGeom>
        </p:spPr>
      </p:pic>
      <p:sp>
        <p:nvSpPr>
          <p:cNvPr id="8" name="Shape 5"/>
          <p:cNvSpPr/>
          <p:nvPr/>
        </p:nvSpPr>
        <p:spPr>
          <a:xfrm>
            <a:off x="11185855" y="2313432"/>
            <a:ext cx="457200" cy="457200"/>
          </a:xfrm>
          <a:prstGeom prst="ellipse">
            <a:avLst/>
          </a:prstGeom>
          <a:solidFill>
            <a:schemeClr val="accent4">
              <a:alpha val="12000"/>
            </a:schemeClr>
          </a:solidFill>
          <a:ln/>
        </p:spPr>
      </p:sp>
      <p:pic>
        <p:nvPicPr>
          <p:cNvPr id="9" name="Image 1" descr="preencoded.png">    </p:cNvPr>
          <p:cNvPicPr>
            <a:picLocks noChangeAspect="1"/>
          </p:cNvPicPr>
          <p:nvPr/>
        </p:nvPicPr>
        <p:blipFill>
          <a:blip r:embed="rId2"/>
          <a:stretch>
            <a:fillRect/>
          </a:stretch>
        </p:blipFill>
        <p:spPr>
          <a:xfrm>
            <a:off x="11291011" y="2418588"/>
            <a:ext cx="246888" cy="246888"/>
          </a:xfrm>
          <a:prstGeom prst="rect">
            <a:avLst/>
          </a:prstGeom>
        </p:spPr>
      </p:pic>
      <p:sp>
        <p:nvSpPr>
          <p:cNvPr id="10" name="Shape 6"/>
          <p:cNvSpPr/>
          <p:nvPr/>
        </p:nvSpPr>
        <p:spPr>
          <a:xfrm>
            <a:off x="1911096" y="2304288"/>
            <a:ext cx="475488" cy="475488"/>
          </a:xfrm>
          <a:prstGeom prst="octagon">
            <a:avLst/>
          </a:prstGeom>
          <a:solidFill>
            <a:schemeClr val="accent3"/>
          </a:solidFill>
          <a:ln/>
        </p:spPr>
      </p:sp>
      <p:pic>
        <p:nvPicPr>
          <p:cNvPr id="11" name="Image 2" descr="preencoded.png">    </p:cNvPr>
          <p:cNvPicPr>
            <a:picLocks noChangeAspect="1"/>
          </p:cNvPicPr>
          <p:nvPr/>
        </p:nvPicPr>
        <p:blipFill>
          <a:blip r:embed="rId3"/>
          <a:stretch>
            <a:fillRect/>
          </a:stretch>
        </p:blipFill>
        <p:spPr>
          <a:xfrm>
            <a:off x="2011680" y="2404872"/>
            <a:ext cx="274320" cy="274320"/>
          </a:xfrm>
          <a:prstGeom prst="rect">
            <a:avLst/>
          </a:prstGeom>
        </p:spPr>
      </p:pic>
      <p:sp>
        <p:nvSpPr>
          <p:cNvPr id="12" name="Text 7"/>
          <p:cNvSpPr txBox="1"/>
          <p:nvPr/>
        </p:nvSpPr>
        <p:spPr>
          <a:xfrm>
            <a:off x="960120" y="2889504"/>
            <a:ext cx="2377440" cy="274320"/>
          </a:xfrm>
          <a:prstGeom prst="rect">
            <a:avLst/>
          </a:prstGeom>
          <a:noFill/>
          <a:ln/>
        </p:spPr>
        <p:txBody>
          <a:bodyPr wrap="square" lIns="0" tIns="0" rIns="0" bIns="0" rtlCol="0" anchor="t"/>
          <a:lstStyle/>
          <a:p>
            <a:pPr algn="ctr" indent="0" marL="0">
              <a:buNone/>
            </a:pPr>
            <a:r>
              <a:rPr lang="en-US" sz="1500" b="1" dirty="0">
                <a:solidFill>
                  <a:schemeClr val="tx1"/>
                </a:solidFill>
              </a:rPr>
              <a:t>Check-in</a:t>
            </a:r>
            <a:endParaRPr lang="en-US" sz="1500" dirty="0"/>
          </a:p>
        </p:txBody>
      </p:sp>
      <p:sp>
        <p:nvSpPr>
          <p:cNvPr id="13" name="Text 8"/>
          <p:cNvSpPr txBox="1"/>
          <p:nvPr/>
        </p:nvSpPr>
        <p:spPr>
          <a:xfrm>
            <a:off x="960120" y="3163824"/>
            <a:ext cx="2377440" cy="237744"/>
          </a:xfrm>
          <a:prstGeom prst="rect">
            <a:avLst/>
          </a:prstGeom>
          <a:noFill/>
          <a:ln/>
        </p:spPr>
        <p:txBody>
          <a:bodyPr wrap="square" lIns="0" tIns="0" rIns="0" bIns="0" rtlCol="0" anchor="t"/>
          <a:lstStyle/>
          <a:p>
            <a:pPr algn="ctr" indent="0" marL="0">
              <a:buNone/>
            </a:pPr>
            <a:r>
              <a:rPr lang="en-US" sz="1200" dirty="0">
                <a:solidFill>
                  <a:schemeClr val="tx2"/>
                </a:solidFill>
              </a:rPr>
              <a:t>Document check</a:t>
            </a:r>
            <a:endParaRPr lang="en-US" sz="1200" dirty="0"/>
          </a:p>
        </p:txBody>
      </p:sp>
      <p:sp>
        <p:nvSpPr>
          <p:cNvPr id="14" name="Shape 9"/>
          <p:cNvSpPr/>
          <p:nvPr/>
        </p:nvSpPr>
        <p:spPr>
          <a:xfrm>
            <a:off x="4544568" y="2304288"/>
            <a:ext cx="475488" cy="475488"/>
          </a:xfrm>
          <a:prstGeom prst="octagon">
            <a:avLst/>
          </a:prstGeom>
          <a:solidFill>
            <a:schemeClr val="accent3"/>
          </a:solidFill>
          <a:ln/>
        </p:spPr>
      </p:sp>
      <p:pic>
        <p:nvPicPr>
          <p:cNvPr id="15" name="Image 3" descr="preencoded.png">    </p:cNvPr>
          <p:cNvPicPr>
            <a:picLocks noChangeAspect="1"/>
          </p:cNvPicPr>
          <p:nvPr/>
        </p:nvPicPr>
        <p:blipFill>
          <a:blip r:embed="rId4"/>
          <a:stretch>
            <a:fillRect/>
          </a:stretch>
        </p:blipFill>
        <p:spPr>
          <a:xfrm>
            <a:off x="4645152" y="2404872"/>
            <a:ext cx="274320" cy="274320"/>
          </a:xfrm>
          <a:prstGeom prst="rect">
            <a:avLst/>
          </a:prstGeom>
        </p:spPr>
      </p:pic>
      <p:sp>
        <p:nvSpPr>
          <p:cNvPr id="16" name="Text 10"/>
          <p:cNvSpPr txBox="1"/>
          <p:nvPr/>
        </p:nvSpPr>
        <p:spPr>
          <a:xfrm>
            <a:off x="3593592" y="2889504"/>
            <a:ext cx="2377440" cy="274320"/>
          </a:xfrm>
          <a:prstGeom prst="rect">
            <a:avLst/>
          </a:prstGeom>
          <a:noFill/>
          <a:ln/>
        </p:spPr>
        <p:txBody>
          <a:bodyPr wrap="square" lIns="0" tIns="0" rIns="0" bIns="0" rtlCol="0" anchor="t"/>
          <a:lstStyle/>
          <a:p>
            <a:pPr algn="ctr" indent="0" marL="0">
              <a:buNone/>
            </a:pPr>
            <a:r>
              <a:rPr lang="en-US" sz="1500" b="1" dirty="0">
                <a:solidFill>
                  <a:schemeClr val="tx1"/>
                </a:solidFill>
              </a:rPr>
              <a:t>Immigration</a:t>
            </a:r>
            <a:endParaRPr lang="en-US" sz="1500" dirty="0"/>
          </a:p>
        </p:txBody>
      </p:sp>
      <p:sp>
        <p:nvSpPr>
          <p:cNvPr id="17" name="Text 11"/>
          <p:cNvSpPr txBox="1"/>
          <p:nvPr/>
        </p:nvSpPr>
        <p:spPr>
          <a:xfrm>
            <a:off x="3593592" y="3163824"/>
            <a:ext cx="2377440" cy="237744"/>
          </a:xfrm>
          <a:prstGeom prst="rect">
            <a:avLst/>
          </a:prstGeom>
          <a:noFill/>
          <a:ln/>
        </p:spPr>
        <p:txBody>
          <a:bodyPr wrap="square" lIns="0" tIns="0" rIns="0" bIns="0" rtlCol="0" anchor="t"/>
          <a:lstStyle/>
          <a:p>
            <a:pPr algn="ctr" indent="0" marL="0">
              <a:buNone/>
            </a:pPr>
            <a:r>
              <a:rPr lang="en-US" sz="1200" dirty="0">
                <a:solidFill>
                  <a:schemeClr val="tx2"/>
                </a:solidFill>
              </a:rPr>
              <a:t>Passport + officer</a:t>
            </a:r>
            <a:endParaRPr lang="en-US" sz="1200" dirty="0"/>
          </a:p>
        </p:txBody>
      </p:sp>
      <p:sp>
        <p:nvSpPr>
          <p:cNvPr id="18" name="Shape 12"/>
          <p:cNvSpPr/>
          <p:nvPr/>
        </p:nvSpPr>
        <p:spPr>
          <a:xfrm>
            <a:off x="7178040" y="2304288"/>
            <a:ext cx="475488" cy="475488"/>
          </a:xfrm>
          <a:prstGeom prst="octagon">
            <a:avLst/>
          </a:prstGeom>
          <a:solidFill>
            <a:schemeClr val="accent3"/>
          </a:solidFill>
          <a:ln/>
        </p:spPr>
      </p:sp>
      <p:pic>
        <p:nvPicPr>
          <p:cNvPr id="19" name="Image 4" descr="preencoded.png">    </p:cNvPr>
          <p:cNvPicPr>
            <a:picLocks noChangeAspect="1"/>
          </p:cNvPicPr>
          <p:nvPr/>
        </p:nvPicPr>
        <p:blipFill>
          <a:blip r:embed="rId5"/>
          <a:stretch>
            <a:fillRect/>
          </a:stretch>
        </p:blipFill>
        <p:spPr>
          <a:xfrm>
            <a:off x="7278624" y="2404872"/>
            <a:ext cx="274320" cy="274320"/>
          </a:xfrm>
          <a:prstGeom prst="rect">
            <a:avLst/>
          </a:prstGeom>
        </p:spPr>
      </p:pic>
      <p:sp>
        <p:nvSpPr>
          <p:cNvPr id="20" name="Text 13"/>
          <p:cNvSpPr txBox="1"/>
          <p:nvPr/>
        </p:nvSpPr>
        <p:spPr>
          <a:xfrm>
            <a:off x="6227064" y="2889504"/>
            <a:ext cx="2377440" cy="274320"/>
          </a:xfrm>
          <a:prstGeom prst="rect">
            <a:avLst/>
          </a:prstGeom>
          <a:noFill/>
          <a:ln/>
        </p:spPr>
        <p:txBody>
          <a:bodyPr wrap="square" lIns="0" tIns="0" rIns="0" bIns="0" rtlCol="0" anchor="t"/>
          <a:lstStyle/>
          <a:p>
            <a:pPr algn="ctr" indent="0" marL="0">
              <a:buNone/>
            </a:pPr>
            <a:r>
              <a:rPr lang="en-US" sz="1500" b="1" dirty="0">
                <a:solidFill>
                  <a:schemeClr val="tx1"/>
                </a:solidFill>
              </a:rPr>
              <a:t>Security screening</a:t>
            </a:r>
            <a:endParaRPr lang="en-US" sz="1500" dirty="0"/>
          </a:p>
        </p:txBody>
      </p:sp>
      <p:sp>
        <p:nvSpPr>
          <p:cNvPr id="21" name="Text 14"/>
          <p:cNvSpPr txBox="1"/>
          <p:nvPr/>
        </p:nvSpPr>
        <p:spPr>
          <a:xfrm>
            <a:off x="6227064" y="3163824"/>
            <a:ext cx="2377440" cy="237744"/>
          </a:xfrm>
          <a:prstGeom prst="rect">
            <a:avLst/>
          </a:prstGeom>
          <a:noFill/>
          <a:ln/>
        </p:spPr>
        <p:txBody>
          <a:bodyPr wrap="square" lIns="0" tIns="0" rIns="0" bIns="0" rtlCol="0" anchor="t"/>
          <a:lstStyle/>
          <a:p>
            <a:pPr algn="ctr" indent="0" marL="0">
              <a:buNone/>
            </a:pPr>
            <a:r>
              <a:rPr lang="en-US" sz="1200" dirty="0">
                <a:solidFill>
                  <a:schemeClr val="tx2"/>
                </a:solidFill>
              </a:rPr>
              <a:t>ID + boarding pass</a:t>
            </a:r>
            <a:endParaRPr lang="en-US" sz="1200" dirty="0"/>
          </a:p>
        </p:txBody>
      </p:sp>
      <p:sp>
        <p:nvSpPr>
          <p:cNvPr id="22" name="Shape 15"/>
          <p:cNvSpPr/>
          <p:nvPr/>
        </p:nvSpPr>
        <p:spPr>
          <a:xfrm>
            <a:off x="9811512" y="2304288"/>
            <a:ext cx="475488" cy="475488"/>
          </a:xfrm>
          <a:prstGeom prst="octagon">
            <a:avLst/>
          </a:prstGeom>
          <a:solidFill>
            <a:schemeClr val="accent3"/>
          </a:solidFill>
          <a:ln/>
        </p:spPr>
      </p:sp>
      <p:pic>
        <p:nvPicPr>
          <p:cNvPr id="23" name="Image 5" descr="preencoded.png">    </p:cNvPr>
          <p:cNvPicPr>
            <a:picLocks noChangeAspect="1"/>
          </p:cNvPicPr>
          <p:nvPr/>
        </p:nvPicPr>
        <p:blipFill>
          <a:blip r:embed="rId6"/>
          <a:stretch>
            <a:fillRect/>
          </a:stretch>
        </p:blipFill>
        <p:spPr>
          <a:xfrm>
            <a:off x="9912096" y="2404872"/>
            <a:ext cx="274320" cy="274320"/>
          </a:xfrm>
          <a:prstGeom prst="rect">
            <a:avLst/>
          </a:prstGeom>
        </p:spPr>
      </p:pic>
      <p:sp>
        <p:nvSpPr>
          <p:cNvPr id="24" name="Text 16"/>
          <p:cNvSpPr txBox="1"/>
          <p:nvPr/>
        </p:nvSpPr>
        <p:spPr>
          <a:xfrm>
            <a:off x="8860536" y="2889504"/>
            <a:ext cx="2377440" cy="274320"/>
          </a:xfrm>
          <a:prstGeom prst="rect">
            <a:avLst/>
          </a:prstGeom>
          <a:noFill/>
          <a:ln/>
        </p:spPr>
        <p:txBody>
          <a:bodyPr wrap="square" lIns="0" tIns="0" rIns="0" bIns="0" rtlCol="0" anchor="t"/>
          <a:lstStyle/>
          <a:p>
            <a:pPr algn="ctr" indent="0" marL="0">
              <a:buNone/>
            </a:pPr>
            <a:r>
              <a:rPr lang="en-US" sz="1500" b="1" dirty="0">
                <a:solidFill>
                  <a:schemeClr val="tx1"/>
                </a:solidFill>
              </a:rPr>
              <a:t>Boarding gate</a:t>
            </a:r>
            <a:endParaRPr lang="en-US" sz="1500" dirty="0"/>
          </a:p>
        </p:txBody>
      </p:sp>
      <p:sp>
        <p:nvSpPr>
          <p:cNvPr id="25" name="Text 17"/>
          <p:cNvSpPr txBox="1"/>
          <p:nvPr/>
        </p:nvSpPr>
        <p:spPr>
          <a:xfrm>
            <a:off x="8860536" y="3163824"/>
            <a:ext cx="2377440" cy="237744"/>
          </a:xfrm>
          <a:prstGeom prst="rect">
            <a:avLst/>
          </a:prstGeom>
          <a:noFill/>
          <a:ln/>
        </p:spPr>
        <p:txBody>
          <a:bodyPr wrap="square" lIns="0" tIns="0" rIns="0" bIns="0" rtlCol="0" anchor="t"/>
          <a:lstStyle/>
          <a:p>
            <a:pPr algn="ctr" indent="0" marL="0">
              <a:buNone/>
            </a:pPr>
            <a:r>
              <a:rPr lang="en-US" sz="1200" dirty="0">
                <a:solidFill>
                  <a:schemeClr val="tx2"/>
                </a:solidFill>
              </a:rPr>
              <a:t>Passport + boarding pass</a:t>
            </a:r>
            <a:endParaRPr lang="en-US" sz="1200" dirty="0"/>
          </a:p>
        </p:txBody>
      </p:sp>
      <p:sp>
        <p:nvSpPr>
          <p:cNvPr id="26" name="Shape 18"/>
          <p:cNvSpPr/>
          <p:nvPr/>
        </p:nvSpPr>
        <p:spPr>
          <a:xfrm>
            <a:off x="548640" y="3749040"/>
            <a:ext cx="2567864" cy="2212848"/>
          </a:xfrm>
          <a:prstGeom prst="roundRect">
            <a:avLst>
              <a:gd name="adj" fmla="val 6612"/>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27" name="Text 19"/>
          <p:cNvSpPr txBox="1"/>
          <p:nvPr/>
        </p:nvSpPr>
        <p:spPr>
          <a:xfrm>
            <a:off x="822960" y="3968496"/>
            <a:ext cx="1645920" cy="731520"/>
          </a:xfrm>
          <a:prstGeom prst="rect">
            <a:avLst/>
          </a:prstGeom>
          <a:noFill/>
          <a:ln/>
        </p:spPr>
        <p:txBody>
          <a:bodyPr wrap="square" lIns="0" tIns="0" rIns="0" bIns="0" rtlCol="0" anchor="ctr"/>
          <a:lstStyle/>
          <a:p>
            <a:pPr indent="0" marL="0">
              <a:buNone/>
            </a:pPr>
            <a:r>
              <a:rPr lang="en-US" sz="4000" b="1" dirty="0">
                <a:solidFill>
                  <a:schemeClr val="tx1"/>
                </a:solidFill>
              </a:rPr>
              <a:t>2×</a:t>
            </a:r>
            <a:endParaRPr lang="en-US" sz="4000" dirty="0"/>
          </a:p>
        </p:txBody>
      </p:sp>
      <p:sp>
        <p:nvSpPr>
          <p:cNvPr id="28" name="Shape 20"/>
          <p:cNvSpPr/>
          <p:nvPr/>
        </p:nvSpPr>
        <p:spPr>
          <a:xfrm>
            <a:off x="2421560" y="4059936"/>
            <a:ext cx="420624" cy="420624"/>
          </a:xfrm>
          <a:prstGeom prst="ellipse">
            <a:avLst/>
          </a:prstGeom>
          <a:solidFill>
            <a:schemeClr val="accent1">
              <a:alpha val="12000"/>
            </a:schemeClr>
          </a:solidFill>
          <a:ln/>
        </p:spPr>
      </p:sp>
      <p:pic>
        <p:nvPicPr>
          <p:cNvPr id="29" name="Image 6" descr="preencoded.png">    </p:cNvPr>
          <p:cNvPicPr>
            <a:picLocks noChangeAspect="1"/>
          </p:cNvPicPr>
          <p:nvPr/>
        </p:nvPicPr>
        <p:blipFill>
          <a:blip r:embed="rId7"/>
          <a:stretch>
            <a:fillRect/>
          </a:stretch>
        </p:blipFill>
        <p:spPr>
          <a:xfrm>
            <a:off x="2518303" y="4156680"/>
            <a:ext cx="227137" cy="227137"/>
          </a:xfrm>
          <a:prstGeom prst="rect">
            <a:avLst/>
          </a:prstGeom>
        </p:spPr>
      </p:pic>
      <p:sp>
        <p:nvSpPr>
          <p:cNvPr id="30" name="Text 21"/>
          <p:cNvSpPr txBox="1"/>
          <p:nvPr/>
        </p:nvSpPr>
        <p:spPr>
          <a:xfrm>
            <a:off x="822960" y="4754880"/>
            <a:ext cx="2019224" cy="502920"/>
          </a:xfrm>
          <a:prstGeom prst="rect">
            <a:avLst/>
          </a:prstGeom>
          <a:noFill/>
          <a:ln/>
        </p:spPr>
        <p:txBody>
          <a:bodyPr wrap="square" lIns="0" tIns="0" rIns="0" bIns="0" rtlCol="0" anchor="t"/>
          <a:lstStyle/>
          <a:p>
            <a:pPr indent="0" marL="0">
              <a:buNone/>
            </a:pPr>
            <a:r>
              <a:rPr lang="en-US" sz="1500" b="1" dirty="0">
                <a:solidFill>
                  <a:schemeClr val="tx1"/>
                </a:solidFill>
              </a:rPr>
              <a:t>passengers by 2040</a:t>
            </a:r>
            <a:endParaRPr lang="en-US" sz="1500" dirty="0"/>
          </a:p>
        </p:txBody>
      </p:sp>
      <p:sp>
        <p:nvSpPr>
          <p:cNvPr id="31" name="Text 22"/>
          <p:cNvSpPr txBox="1"/>
          <p:nvPr/>
        </p:nvSpPr>
        <p:spPr>
          <a:xfrm>
            <a:off x="822960" y="5285232"/>
            <a:ext cx="2019224" cy="548640"/>
          </a:xfrm>
          <a:prstGeom prst="rect">
            <a:avLst/>
          </a:prstGeom>
          <a:noFill/>
          <a:ln/>
        </p:spPr>
        <p:txBody>
          <a:bodyPr wrap="square" lIns="0" tIns="0" rIns="0" bIns="0" rtlCol="0" anchor="t"/>
          <a:lstStyle/>
          <a:p>
            <a:pPr indent="0" marL="0">
              <a:buNone/>
            </a:pPr>
            <a:r>
              <a:rPr lang="en-US" sz="1400" dirty="0">
                <a:solidFill>
                  <a:schemeClr val="tx2"/>
                </a:solidFill>
              </a:rPr>
              <a:t>7.8 bn a year, growing 4.2% annually</a:t>
            </a:r>
            <a:endParaRPr lang="en-US" sz="1400" dirty="0"/>
          </a:p>
        </p:txBody>
      </p:sp>
      <p:sp>
        <p:nvSpPr>
          <p:cNvPr id="32" name="Shape 23"/>
          <p:cNvSpPr/>
          <p:nvPr/>
        </p:nvSpPr>
        <p:spPr>
          <a:xfrm>
            <a:off x="3390824" y="3749040"/>
            <a:ext cx="2567864" cy="2212848"/>
          </a:xfrm>
          <a:prstGeom prst="roundRect">
            <a:avLst>
              <a:gd name="adj" fmla="val 6612"/>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33" name="Text 24"/>
          <p:cNvSpPr txBox="1"/>
          <p:nvPr/>
        </p:nvSpPr>
        <p:spPr>
          <a:xfrm>
            <a:off x="3665144" y="3968496"/>
            <a:ext cx="1645920" cy="731520"/>
          </a:xfrm>
          <a:prstGeom prst="rect">
            <a:avLst/>
          </a:prstGeom>
          <a:noFill/>
          <a:ln/>
        </p:spPr>
        <p:txBody>
          <a:bodyPr wrap="square" lIns="0" tIns="0" rIns="0" bIns="0" rtlCol="0" anchor="ctr"/>
          <a:lstStyle/>
          <a:p>
            <a:pPr indent="0" marL="0">
              <a:buNone/>
            </a:pPr>
            <a:r>
              <a:rPr lang="en-US" sz="4000" b="1" dirty="0">
                <a:solidFill>
                  <a:schemeClr val="tx1"/>
                </a:solidFill>
              </a:rPr>
              <a:t>2030s</a:t>
            </a:r>
            <a:endParaRPr lang="en-US" sz="4000" dirty="0"/>
          </a:p>
        </p:txBody>
      </p:sp>
      <p:sp>
        <p:nvSpPr>
          <p:cNvPr id="34" name="Shape 25"/>
          <p:cNvSpPr/>
          <p:nvPr/>
        </p:nvSpPr>
        <p:spPr>
          <a:xfrm>
            <a:off x="5263744" y="4059936"/>
            <a:ext cx="420624" cy="420624"/>
          </a:xfrm>
          <a:prstGeom prst="ellipse">
            <a:avLst/>
          </a:prstGeom>
          <a:solidFill>
            <a:schemeClr val="accent1">
              <a:alpha val="12000"/>
            </a:schemeClr>
          </a:solidFill>
          <a:ln/>
        </p:spPr>
      </p:sp>
      <p:pic>
        <p:nvPicPr>
          <p:cNvPr id="35" name="Image 7" descr="preencoded.png">    </p:cNvPr>
          <p:cNvPicPr>
            <a:picLocks noChangeAspect="1"/>
          </p:cNvPicPr>
          <p:nvPr/>
        </p:nvPicPr>
        <p:blipFill>
          <a:blip r:embed="rId8"/>
          <a:stretch>
            <a:fillRect/>
          </a:stretch>
        </p:blipFill>
        <p:spPr>
          <a:xfrm>
            <a:off x="5360487" y="4156680"/>
            <a:ext cx="227137" cy="227137"/>
          </a:xfrm>
          <a:prstGeom prst="rect">
            <a:avLst/>
          </a:prstGeom>
        </p:spPr>
      </p:pic>
      <p:sp>
        <p:nvSpPr>
          <p:cNvPr id="36" name="Text 26"/>
          <p:cNvSpPr txBox="1"/>
          <p:nvPr/>
        </p:nvSpPr>
        <p:spPr>
          <a:xfrm>
            <a:off x="3665144" y="4754880"/>
            <a:ext cx="2019224" cy="502920"/>
          </a:xfrm>
          <a:prstGeom prst="rect">
            <a:avLst/>
          </a:prstGeom>
          <a:noFill/>
          <a:ln/>
        </p:spPr>
        <p:txBody>
          <a:bodyPr wrap="square" lIns="0" tIns="0" rIns="0" bIns="0" rtlCol="0" anchor="t"/>
          <a:lstStyle/>
          <a:p>
            <a:pPr indent="0" marL="0">
              <a:buNone/>
            </a:pPr>
            <a:r>
              <a:rPr lang="en-US" sz="1500" b="1" dirty="0">
                <a:solidFill>
                  <a:schemeClr val="tx1"/>
                </a:solidFill>
              </a:rPr>
              <a:t>before Changi’s next terminal opens</a:t>
            </a:r>
            <a:endParaRPr lang="en-US" sz="1500" dirty="0"/>
          </a:p>
        </p:txBody>
      </p:sp>
      <p:sp>
        <p:nvSpPr>
          <p:cNvPr id="37" name="Text 27"/>
          <p:cNvSpPr txBox="1"/>
          <p:nvPr/>
        </p:nvSpPr>
        <p:spPr>
          <a:xfrm>
            <a:off x="3665144" y="5285232"/>
            <a:ext cx="2019224" cy="548640"/>
          </a:xfrm>
          <a:prstGeom prst="rect">
            <a:avLst/>
          </a:prstGeom>
          <a:noFill/>
          <a:ln/>
        </p:spPr>
        <p:txBody>
          <a:bodyPr wrap="square" lIns="0" tIns="0" rIns="0" bIns="0" rtlCol="0" anchor="t"/>
          <a:lstStyle/>
          <a:p>
            <a:pPr indent="0" marL="0">
              <a:buNone/>
            </a:pPr>
            <a:r>
              <a:rPr lang="en-US" sz="1400" dirty="0">
                <a:solidFill>
                  <a:schemeClr val="tx2"/>
                </a:solidFill>
              </a:rPr>
              <a:t>T5: ground broken 2025, opens mid-2030s</a:t>
            </a:r>
            <a:endParaRPr lang="en-US" sz="1400" dirty="0"/>
          </a:p>
        </p:txBody>
      </p:sp>
      <p:sp>
        <p:nvSpPr>
          <p:cNvPr id="38" name="Shape 28"/>
          <p:cNvSpPr/>
          <p:nvPr/>
        </p:nvSpPr>
        <p:spPr>
          <a:xfrm>
            <a:off x="6233008" y="3749040"/>
            <a:ext cx="2567864" cy="2212848"/>
          </a:xfrm>
          <a:prstGeom prst="roundRect">
            <a:avLst>
              <a:gd name="adj" fmla="val 6612"/>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39" name="Text 29"/>
          <p:cNvSpPr txBox="1"/>
          <p:nvPr/>
        </p:nvSpPr>
        <p:spPr>
          <a:xfrm>
            <a:off x="6507328" y="3968496"/>
            <a:ext cx="1645920" cy="731520"/>
          </a:xfrm>
          <a:prstGeom prst="rect">
            <a:avLst/>
          </a:prstGeom>
          <a:noFill/>
          <a:ln/>
        </p:spPr>
        <p:txBody>
          <a:bodyPr wrap="square" lIns="0" tIns="0" rIns="0" bIns="0" rtlCol="0" anchor="ctr"/>
          <a:lstStyle/>
          <a:p>
            <a:pPr indent="0" marL="0">
              <a:buNone/>
            </a:pPr>
            <a:r>
              <a:rPr lang="en-US" sz="4000" b="1" dirty="0">
                <a:solidFill>
                  <a:schemeClr val="tx1"/>
                </a:solidFill>
              </a:rPr>
              <a:t>~3</a:t>
            </a:r>
            <a:endParaRPr lang="en-US" sz="4000" dirty="0"/>
          </a:p>
        </p:txBody>
      </p:sp>
      <p:sp>
        <p:nvSpPr>
          <p:cNvPr id="40" name="Shape 30"/>
          <p:cNvSpPr/>
          <p:nvPr/>
        </p:nvSpPr>
        <p:spPr>
          <a:xfrm>
            <a:off x="8105927" y="4059936"/>
            <a:ext cx="420624" cy="420624"/>
          </a:xfrm>
          <a:prstGeom prst="ellipse">
            <a:avLst/>
          </a:prstGeom>
          <a:solidFill>
            <a:schemeClr val="accent3">
              <a:alpha val="12000"/>
            </a:schemeClr>
          </a:solidFill>
          <a:ln/>
        </p:spPr>
      </p:sp>
      <p:pic>
        <p:nvPicPr>
          <p:cNvPr id="41" name="Image 8" descr="preencoded.png">    </p:cNvPr>
          <p:cNvPicPr>
            <a:picLocks noChangeAspect="1"/>
          </p:cNvPicPr>
          <p:nvPr/>
        </p:nvPicPr>
        <p:blipFill>
          <a:blip r:embed="rId9"/>
          <a:stretch>
            <a:fillRect/>
          </a:stretch>
        </p:blipFill>
        <p:spPr>
          <a:xfrm>
            <a:off x="8202671" y="4156680"/>
            <a:ext cx="227137" cy="227137"/>
          </a:xfrm>
          <a:prstGeom prst="rect">
            <a:avLst/>
          </a:prstGeom>
        </p:spPr>
      </p:pic>
      <p:sp>
        <p:nvSpPr>
          <p:cNvPr id="42" name="Text 31"/>
          <p:cNvSpPr txBox="1"/>
          <p:nvPr/>
        </p:nvSpPr>
        <p:spPr>
          <a:xfrm>
            <a:off x="6507328" y="4754880"/>
            <a:ext cx="2019224" cy="502920"/>
          </a:xfrm>
          <a:prstGeom prst="rect">
            <a:avLst/>
          </a:prstGeom>
          <a:noFill/>
          <a:ln/>
        </p:spPr>
        <p:txBody>
          <a:bodyPr wrap="square" lIns="0" tIns="0" rIns="0" bIns="0" rtlCol="0" anchor="t"/>
          <a:lstStyle/>
          <a:p>
            <a:pPr indent="0" marL="0">
              <a:buNone/>
            </a:pPr>
            <a:r>
              <a:rPr lang="en-US" sz="1500" b="1" dirty="0">
                <a:solidFill>
                  <a:schemeClr val="tx1"/>
                </a:solidFill>
              </a:rPr>
              <a:t>staff per manned lane</a:t>
            </a:r>
            <a:endParaRPr lang="en-US" sz="1500" dirty="0"/>
          </a:p>
        </p:txBody>
      </p:sp>
      <p:sp>
        <p:nvSpPr>
          <p:cNvPr id="43" name="Text 32"/>
          <p:cNvSpPr txBox="1"/>
          <p:nvPr/>
        </p:nvSpPr>
        <p:spPr>
          <a:xfrm>
            <a:off x="6507328" y="5285232"/>
            <a:ext cx="2019224" cy="548640"/>
          </a:xfrm>
          <a:prstGeom prst="rect">
            <a:avLst/>
          </a:prstGeom>
          <a:noFill/>
          <a:ln/>
        </p:spPr>
        <p:txBody>
          <a:bodyPr wrap="square" lIns="0" tIns="0" rIns="0" bIns="0" rtlCol="0" anchor="t"/>
          <a:lstStyle/>
          <a:p>
            <a:pPr indent="0" marL="0">
              <a:buNone/>
            </a:pPr>
            <a:r>
              <a:rPr lang="en-US" sz="1400" dirty="0">
                <a:solidFill>
                  <a:schemeClr val="tx2"/>
                </a:solidFill>
              </a:rPr>
              <a:t>On routine ID checks at every stop</a:t>
            </a:r>
            <a:endParaRPr lang="en-US" sz="1400" dirty="0"/>
          </a:p>
        </p:txBody>
      </p:sp>
      <p:sp>
        <p:nvSpPr>
          <p:cNvPr id="44" name="Shape 33"/>
          <p:cNvSpPr/>
          <p:nvPr/>
        </p:nvSpPr>
        <p:spPr>
          <a:xfrm>
            <a:off x="9075191" y="3749040"/>
            <a:ext cx="2567864" cy="2212848"/>
          </a:xfrm>
          <a:prstGeom prst="roundRect">
            <a:avLst>
              <a:gd name="adj" fmla="val 6612"/>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45" name="Text 34"/>
          <p:cNvSpPr txBox="1"/>
          <p:nvPr/>
        </p:nvSpPr>
        <p:spPr>
          <a:xfrm>
            <a:off x="9349511" y="3968496"/>
            <a:ext cx="1645920" cy="731520"/>
          </a:xfrm>
          <a:prstGeom prst="rect">
            <a:avLst/>
          </a:prstGeom>
          <a:noFill/>
          <a:ln/>
        </p:spPr>
        <p:txBody>
          <a:bodyPr wrap="square" lIns="0" tIns="0" rIns="0" bIns="0" rtlCol="0" anchor="ctr"/>
          <a:lstStyle/>
          <a:p>
            <a:pPr indent="0" marL="0">
              <a:buNone/>
            </a:pPr>
            <a:r>
              <a:rPr lang="en-US" sz="4000" b="1" dirty="0">
                <a:solidFill>
                  <a:schemeClr val="tx1"/>
                </a:solidFill>
              </a:rPr>
              <a:t>None</a:t>
            </a:r>
            <a:endParaRPr lang="en-US" sz="4000" dirty="0"/>
          </a:p>
        </p:txBody>
      </p:sp>
      <p:sp>
        <p:nvSpPr>
          <p:cNvPr id="46" name="Shape 35"/>
          <p:cNvSpPr/>
          <p:nvPr/>
        </p:nvSpPr>
        <p:spPr>
          <a:xfrm>
            <a:off x="10948111" y="4059936"/>
            <a:ext cx="420624" cy="420624"/>
          </a:xfrm>
          <a:prstGeom prst="ellipse">
            <a:avLst/>
          </a:prstGeom>
          <a:solidFill>
            <a:schemeClr val="accent1">
              <a:alpha val="12000"/>
            </a:schemeClr>
          </a:solidFill>
          <a:ln/>
        </p:spPr>
      </p:sp>
      <p:pic>
        <p:nvPicPr>
          <p:cNvPr id="47" name="Image 9" descr="preencoded.png">    </p:cNvPr>
          <p:cNvPicPr>
            <a:picLocks noChangeAspect="1"/>
          </p:cNvPicPr>
          <p:nvPr/>
        </p:nvPicPr>
        <p:blipFill>
          <a:blip r:embed="rId10"/>
          <a:stretch>
            <a:fillRect/>
          </a:stretch>
        </p:blipFill>
        <p:spPr>
          <a:xfrm>
            <a:off x="11044855" y="4156680"/>
            <a:ext cx="227137" cy="227137"/>
          </a:xfrm>
          <a:prstGeom prst="rect">
            <a:avLst/>
          </a:prstGeom>
        </p:spPr>
      </p:pic>
      <p:sp>
        <p:nvSpPr>
          <p:cNvPr id="48" name="Text 36"/>
          <p:cNvSpPr txBox="1"/>
          <p:nvPr/>
        </p:nvSpPr>
        <p:spPr>
          <a:xfrm>
            <a:off x="9349511" y="4754880"/>
            <a:ext cx="2019224" cy="502920"/>
          </a:xfrm>
          <a:prstGeom prst="rect">
            <a:avLst/>
          </a:prstGeom>
          <a:noFill/>
          <a:ln/>
        </p:spPr>
        <p:txBody>
          <a:bodyPr wrap="square" lIns="0" tIns="0" rIns="0" bIns="0" rtlCol="0" anchor="t"/>
          <a:lstStyle/>
          <a:p>
            <a:pPr indent="0" marL="0">
              <a:buNone/>
            </a:pPr>
            <a:r>
              <a:rPr lang="en-US" sz="1500" b="1" dirty="0">
                <a:solidFill>
                  <a:schemeClr val="tx1"/>
                </a:solidFill>
              </a:rPr>
              <a:t>of the biometric data airports want to keep</a:t>
            </a:r>
            <a:endParaRPr lang="en-US" sz="1500" dirty="0"/>
          </a:p>
        </p:txBody>
      </p:sp>
      <p:sp>
        <p:nvSpPr>
          <p:cNvPr id="49" name="Text 37"/>
          <p:cNvSpPr txBox="1"/>
          <p:nvPr/>
        </p:nvSpPr>
        <p:spPr>
          <a:xfrm>
            <a:off x="9349511" y="5285232"/>
            <a:ext cx="2019224" cy="548640"/>
          </a:xfrm>
          <a:prstGeom prst="rect">
            <a:avLst/>
          </a:prstGeom>
          <a:noFill/>
          <a:ln/>
        </p:spPr>
        <p:txBody>
          <a:bodyPr wrap="square" lIns="0" tIns="0" rIns="0" bIns="0" rtlCol="0" anchor="t"/>
          <a:lstStyle/>
          <a:p>
            <a:pPr indent="0" marL="0">
              <a:buNone/>
            </a:pPr>
            <a:r>
              <a:rPr lang="en-US" sz="1400" dirty="0">
                <a:solidFill>
                  <a:schemeClr val="tx2"/>
                </a:solidFill>
              </a:rPr>
              <a:t>Data-protection rules make storing it a liability</a:t>
            </a:r>
            <a:endParaRPr lang="en-US" sz="1400" dirty="0"/>
          </a:p>
        </p:txBody>
      </p:sp>
      <p:sp>
        <p:nvSpPr>
          <p:cNvPr id="50" name="Text 38"/>
          <p:cNvSpPr txBox="1"/>
          <p:nvPr/>
        </p:nvSpPr>
        <p:spPr>
          <a:xfrm>
            <a:off x="548640" y="6089904"/>
            <a:ext cx="11094415" cy="237744"/>
          </a:xfrm>
          <a:prstGeom prst="rect">
            <a:avLst/>
          </a:prstGeom>
          <a:noFill/>
          <a:ln/>
        </p:spPr>
        <p:txBody>
          <a:bodyPr wrap="square" lIns="0" tIns="0" rIns="0" bIns="0" rtlCol="0" anchor="ctr"/>
          <a:lstStyle/>
          <a:p>
            <a:pPr indent="0" marL="0">
              <a:buNone/>
            </a:pPr>
            <a:r>
              <a:rPr lang="en-US" sz="1000" dirty="0">
                <a:solidFill>
                  <a:schemeClr val="accent4"/>
                </a:solidFill>
              </a:rPr>
              <a:t>Sources: R1 IATA Global Outlook (Dec 2023) · R2 Singapore MOT, Changi T5 update · I1, I10 internal (ops assessment, Invent interviews). See References.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MARKET POTENTIAL</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A focused US$100–140M a year market</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We target the Middle East and Southeast Asia: fastest growth, lower privacy resistance.</a:t>
            </a:r>
            <a:endParaRPr lang="en-US" sz="1600" dirty="0"/>
          </a:p>
        </p:txBody>
      </p:sp>
      <p:sp>
        <p:nvSpPr>
          <p:cNvPr id="5" name="Shape 3"/>
          <p:cNvSpPr/>
          <p:nvPr/>
        </p:nvSpPr>
        <p:spPr>
          <a:xfrm>
            <a:off x="548640" y="2157984"/>
            <a:ext cx="5760720" cy="658368"/>
          </a:xfrm>
          <a:prstGeom prst="roundRect">
            <a:avLst>
              <a:gd name="adj" fmla="val 22222"/>
            </a:avLst>
          </a:prstGeom>
          <a:solidFill>
            <a:schemeClr val="accent1">
              <a:alpha val="18000"/>
            </a:schemeClr>
          </a:solidFill>
          <a:ln/>
        </p:spPr>
      </p:sp>
      <p:sp>
        <p:nvSpPr>
          <p:cNvPr id="6" name="Text 4"/>
          <p:cNvSpPr txBox="1"/>
          <p:nvPr/>
        </p:nvSpPr>
        <p:spPr>
          <a:xfrm>
            <a:off x="548640" y="2157984"/>
            <a:ext cx="5760720" cy="658368"/>
          </a:xfrm>
          <a:prstGeom prst="rect">
            <a:avLst/>
          </a:prstGeom>
          <a:noFill/>
          <a:ln/>
        </p:spPr>
        <p:txBody>
          <a:bodyPr wrap="square" lIns="0" tIns="0" rIns="0" bIns="0" rtlCol="0" anchor="ctr"/>
          <a:lstStyle/>
          <a:p>
            <a:pPr algn="ctr" indent="0" marL="0">
              <a:buNone/>
            </a:pPr>
            <a:r>
              <a:rPr lang="en-US" sz="2100" b="1" dirty="0">
                <a:solidFill>
                  <a:schemeClr val="tx1"/>
                </a:solidFill>
              </a:rPr>
              <a:t>US$5.0B</a:t>
            </a:r>
            <a:pPr algn="ctr" indent="0" marL="0">
              <a:buNone/>
            </a:pPr>
            <a:r>
              <a:rPr lang="en-US" sz="1500" dirty="0">
                <a:solidFill>
                  <a:schemeClr val="tx1"/>
                </a:solidFill>
              </a:rPr>
              <a:t>  global ABC market by 2030</a:t>
            </a:r>
            <a:endParaRPr lang="en-US" sz="1400" dirty="0"/>
          </a:p>
        </p:txBody>
      </p:sp>
      <p:sp>
        <p:nvSpPr>
          <p:cNvPr id="7" name="Shape 5"/>
          <p:cNvSpPr/>
          <p:nvPr/>
        </p:nvSpPr>
        <p:spPr>
          <a:xfrm>
            <a:off x="1028700" y="2944368"/>
            <a:ext cx="4800600" cy="658368"/>
          </a:xfrm>
          <a:prstGeom prst="roundRect">
            <a:avLst>
              <a:gd name="adj" fmla="val 22222"/>
            </a:avLst>
          </a:prstGeom>
          <a:solidFill>
            <a:schemeClr val="accent1">
              <a:alpha val="30000"/>
            </a:schemeClr>
          </a:solidFill>
          <a:ln/>
        </p:spPr>
      </p:sp>
      <p:sp>
        <p:nvSpPr>
          <p:cNvPr id="8" name="Text 6"/>
          <p:cNvSpPr txBox="1"/>
          <p:nvPr/>
        </p:nvSpPr>
        <p:spPr>
          <a:xfrm>
            <a:off x="1028700" y="2944368"/>
            <a:ext cx="4800600" cy="658368"/>
          </a:xfrm>
          <a:prstGeom prst="rect">
            <a:avLst/>
          </a:prstGeom>
          <a:noFill/>
          <a:ln/>
        </p:spPr>
        <p:txBody>
          <a:bodyPr wrap="square" lIns="0" tIns="0" rIns="0" bIns="0" rtlCol="0" anchor="ctr"/>
          <a:lstStyle/>
          <a:p>
            <a:pPr algn="ctr" indent="0" marL="0">
              <a:buNone/>
            </a:pPr>
            <a:r>
              <a:rPr lang="en-US" sz="2100" b="1" dirty="0">
                <a:solidFill>
                  <a:schemeClr val="tx1"/>
                </a:solidFill>
              </a:rPr>
              <a:t>83%</a:t>
            </a:r>
            <a:pPr algn="ctr" indent="0" marL="0">
              <a:buNone/>
            </a:pPr>
            <a:r>
              <a:rPr lang="en-US" sz="1500" dirty="0">
                <a:solidFill>
                  <a:schemeClr val="tx1"/>
                </a:solidFill>
              </a:rPr>
              <a:t>  of it at airports</a:t>
            </a:r>
            <a:endParaRPr lang="en-US" sz="1400" dirty="0"/>
          </a:p>
        </p:txBody>
      </p:sp>
      <p:sp>
        <p:nvSpPr>
          <p:cNvPr id="9" name="Shape 7"/>
          <p:cNvSpPr/>
          <p:nvPr/>
        </p:nvSpPr>
        <p:spPr>
          <a:xfrm>
            <a:off x="1508760" y="3730752"/>
            <a:ext cx="3840480" cy="658368"/>
          </a:xfrm>
          <a:prstGeom prst="roundRect">
            <a:avLst>
              <a:gd name="adj" fmla="val 22222"/>
            </a:avLst>
          </a:prstGeom>
          <a:solidFill>
            <a:schemeClr val="accent1">
              <a:alpha val="48000"/>
            </a:schemeClr>
          </a:solidFill>
          <a:ln/>
        </p:spPr>
      </p:sp>
      <p:sp>
        <p:nvSpPr>
          <p:cNvPr id="10" name="Text 8"/>
          <p:cNvSpPr txBox="1"/>
          <p:nvPr/>
        </p:nvSpPr>
        <p:spPr>
          <a:xfrm>
            <a:off x="1508760" y="3730752"/>
            <a:ext cx="3840480" cy="658368"/>
          </a:xfrm>
          <a:prstGeom prst="rect">
            <a:avLst/>
          </a:prstGeom>
          <a:noFill/>
          <a:ln/>
        </p:spPr>
        <p:txBody>
          <a:bodyPr wrap="square" lIns="0" tIns="0" rIns="0" bIns="0" rtlCol="0" anchor="ctr"/>
          <a:lstStyle/>
          <a:p>
            <a:pPr algn="ctr" indent="0" marL="0">
              <a:buNone/>
            </a:pPr>
            <a:r>
              <a:rPr lang="en-US" sz="2100" b="1" dirty="0">
                <a:solidFill>
                  <a:schemeClr val="tx1"/>
                </a:solidFill>
              </a:rPr>
              <a:t>10–15%</a:t>
            </a:r>
            <a:pPr algn="ctr" indent="0" marL="0">
              <a:buNone/>
            </a:pPr>
            <a:r>
              <a:rPr lang="en-US" sz="1500" dirty="0">
                <a:solidFill>
                  <a:schemeClr val="tx1"/>
                </a:solidFill>
              </a:rPr>
              <a:t>  Middle East + SE Asia</a:t>
            </a:r>
            <a:endParaRPr lang="en-US" sz="1400" dirty="0"/>
          </a:p>
        </p:txBody>
      </p:sp>
      <p:sp>
        <p:nvSpPr>
          <p:cNvPr id="11" name="Shape 9"/>
          <p:cNvSpPr/>
          <p:nvPr/>
        </p:nvSpPr>
        <p:spPr>
          <a:xfrm>
            <a:off x="1988820" y="4517136"/>
            <a:ext cx="2880360" cy="658368"/>
          </a:xfrm>
          <a:prstGeom prst="roundRect">
            <a:avLst>
              <a:gd name="adj" fmla="val 22222"/>
            </a:avLst>
          </a:prstGeom>
          <a:solidFill>
            <a:schemeClr val="accent1"/>
          </a:solidFill>
          <a:ln/>
        </p:spPr>
      </p:sp>
      <p:sp>
        <p:nvSpPr>
          <p:cNvPr id="12" name="Text 10"/>
          <p:cNvSpPr txBox="1"/>
          <p:nvPr/>
        </p:nvSpPr>
        <p:spPr>
          <a:xfrm>
            <a:off x="1988820" y="4517136"/>
            <a:ext cx="2880360" cy="658368"/>
          </a:xfrm>
          <a:prstGeom prst="rect">
            <a:avLst/>
          </a:prstGeom>
          <a:noFill/>
          <a:ln/>
        </p:spPr>
        <p:txBody>
          <a:bodyPr wrap="square" lIns="0" tIns="0" rIns="0" bIns="0" rtlCol="0" anchor="ctr"/>
          <a:lstStyle/>
          <a:p>
            <a:pPr algn="ctr" indent="0" marL="0">
              <a:buNone/>
            </a:pPr>
            <a:r>
              <a:rPr lang="en-US" sz="2100" b="1" dirty="0">
                <a:solidFill>
                  <a:schemeClr val="bg2"/>
                </a:solidFill>
              </a:rPr>
              <a:t>≈25%</a:t>
            </a:r>
            <a:pPr algn="ctr" indent="0" marL="0">
              <a:buNone/>
            </a:pPr>
            <a:r>
              <a:rPr lang="en-US" sz="1500" dirty="0">
                <a:solidFill>
                  <a:schemeClr val="bg2"/>
                </a:solidFill>
              </a:rPr>
              <a:t>  FastPass share</a:t>
            </a:r>
            <a:endParaRPr lang="en-US" sz="1400" dirty="0"/>
          </a:p>
        </p:txBody>
      </p:sp>
      <p:sp>
        <p:nvSpPr>
          <p:cNvPr id="13" name="Text 11"/>
          <p:cNvSpPr txBox="1"/>
          <p:nvPr/>
        </p:nvSpPr>
        <p:spPr>
          <a:xfrm>
            <a:off x="548640" y="5340096"/>
            <a:ext cx="5760720" cy="256032"/>
          </a:xfrm>
          <a:prstGeom prst="rect">
            <a:avLst/>
          </a:prstGeom>
          <a:noFill/>
          <a:ln/>
        </p:spPr>
        <p:txBody>
          <a:bodyPr wrap="square" lIns="0" tIns="0" rIns="0" bIns="0" rtlCol="0" anchor="ctr"/>
          <a:lstStyle/>
          <a:p>
            <a:pPr algn="ctr" indent="0" marL="0">
              <a:buNone/>
            </a:pPr>
            <a:r>
              <a:rPr lang="en-US" sz="1200" dirty="0">
                <a:solidFill>
                  <a:schemeClr val="tx2"/>
                </a:solidFill>
              </a:rPr>
              <a:t>ABC market: US$2.56B (2025) → US$5.03B (2030), 14.4% a year</a:t>
            </a:r>
            <a:endParaRPr lang="en-US" sz="1200" dirty="0"/>
          </a:p>
        </p:txBody>
      </p:sp>
      <p:sp>
        <p:nvSpPr>
          <p:cNvPr id="14" name="Text 12"/>
          <p:cNvSpPr txBox="1"/>
          <p:nvPr/>
        </p:nvSpPr>
        <p:spPr>
          <a:xfrm>
            <a:off x="548640" y="5614416"/>
            <a:ext cx="5760720" cy="402336"/>
          </a:xfrm>
          <a:prstGeom prst="rect">
            <a:avLst/>
          </a:prstGeom>
          <a:noFill/>
          <a:ln/>
        </p:spPr>
        <p:txBody>
          <a:bodyPr wrap="square" lIns="0" tIns="0" rIns="0" bIns="0" rtlCol="0" anchor="t"/>
          <a:lstStyle/>
          <a:p>
            <a:pPr algn="ctr" indent="0" marL="0">
              <a:buNone/>
            </a:pPr>
            <a:r>
              <a:rPr lang="en-US" sz="1200" dirty="0">
                <a:solidFill>
                  <a:schemeClr val="tx2"/>
                </a:solidFill>
              </a:rPr>
              <a:t>Demand signal: ~70% of airlines plan biometric ID by 2026; Asia-Pacific leads passenger growth</a:t>
            </a:r>
            <a:endParaRPr lang="en-US" sz="1200" dirty="0"/>
          </a:p>
        </p:txBody>
      </p:sp>
      <p:sp>
        <p:nvSpPr>
          <p:cNvPr id="15" name="Shape 13"/>
          <p:cNvSpPr/>
          <p:nvPr/>
        </p:nvSpPr>
        <p:spPr>
          <a:xfrm>
            <a:off x="6675120" y="2157984"/>
            <a:ext cx="4967935" cy="1938528"/>
          </a:xfrm>
          <a:prstGeom prst="roundRect">
            <a:avLst>
              <a:gd name="adj" fmla="val 8491"/>
            </a:avLst>
          </a:prstGeom>
          <a:solidFill>
            <a:schemeClr val="accent6"/>
          </a:solidFill>
          <a:ln/>
          <a:effectLst>
            <a:outerShdw sx="100000" sy="100000" kx="0" ky="0" algn="bl" rotWithShape="0" blurRad="177800" dist="38100" dir="5400000">
              <a:srgbClr val="0A1628">
                <a:alpha val="8000"/>
              </a:srgbClr>
            </a:outerShdw>
          </a:effectLst>
        </p:spPr>
      </p:sp>
      <p:sp>
        <p:nvSpPr>
          <p:cNvPr id="16" name="Text 14"/>
          <p:cNvSpPr txBox="1"/>
          <p:nvPr/>
        </p:nvSpPr>
        <p:spPr>
          <a:xfrm>
            <a:off x="7040880" y="2359152"/>
            <a:ext cx="4236415" cy="274320"/>
          </a:xfrm>
          <a:prstGeom prst="rect">
            <a:avLst/>
          </a:prstGeom>
          <a:noFill/>
          <a:ln/>
        </p:spPr>
        <p:txBody>
          <a:bodyPr wrap="square" lIns="0" tIns="0" rIns="0" bIns="0" rtlCol="0" anchor="ctr"/>
          <a:lstStyle/>
          <a:p>
            <a:pPr indent="0" marL="0">
              <a:buNone/>
            </a:pPr>
            <a:r>
              <a:rPr lang="en-US" sz="1100" b="1" spc="200" kern="0" dirty="0">
                <a:solidFill>
                  <a:schemeClr val="accent5"/>
                </a:solidFill>
              </a:rPr>
              <a:t>SERVICEABLE MARKET  ·  2026–2030</a:t>
            </a:r>
            <a:endParaRPr lang="en-US" sz="1100" dirty="0"/>
          </a:p>
        </p:txBody>
      </p:sp>
      <p:sp>
        <p:nvSpPr>
          <p:cNvPr id="17" name="Text 15"/>
          <p:cNvSpPr txBox="1"/>
          <p:nvPr/>
        </p:nvSpPr>
        <p:spPr>
          <a:xfrm>
            <a:off x="7040880" y="2651760"/>
            <a:ext cx="4236415" cy="731520"/>
          </a:xfrm>
          <a:prstGeom prst="rect">
            <a:avLst/>
          </a:prstGeom>
          <a:noFill/>
          <a:ln/>
        </p:spPr>
        <p:txBody>
          <a:bodyPr wrap="square" lIns="0" tIns="0" rIns="0" bIns="0" rtlCol="0" anchor="ctr"/>
          <a:lstStyle/>
          <a:p>
            <a:pPr indent="0" marL="0">
              <a:buNone/>
            </a:pPr>
            <a:r>
              <a:rPr lang="en-US" sz="4400" b="1" dirty="0">
                <a:solidFill>
                  <a:schemeClr val="bg1"/>
                </a:solidFill>
              </a:rPr>
              <a:t>US$500–700M</a:t>
            </a:r>
            <a:endParaRPr lang="en-US" sz="4400" dirty="0"/>
          </a:p>
        </p:txBody>
      </p:sp>
      <p:sp>
        <p:nvSpPr>
          <p:cNvPr id="18" name="Text 16"/>
          <p:cNvSpPr txBox="1"/>
          <p:nvPr/>
        </p:nvSpPr>
        <p:spPr>
          <a:xfrm>
            <a:off x="7040880" y="3401568"/>
            <a:ext cx="4236415" cy="310896"/>
          </a:xfrm>
          <a:prstGeom prst="rect">
            <a:avLst/>
          </a:prstGeom>
          <a:noFill/>
          <a:ln/>
        </p:spPr>
        <p:txBody>
          <a:bodyPr wrap="square" lIns="0" tIns="0" rIns="0" bIns="0" rtlCol="0" anchor="ctr"/>
          <a:lstStyle/>
          <a:p>
            <a:pPr indent="0" marL="0">
              <a:buNone/>
            </a:pPr>
            <a:r>
              <a:rPr lang="en-US" sz="1800" dirty="0">
                <a:solidFill>
                  <a:schemeClr val="bg1"/>
                </a:solidFill>
              </a:rPr>
              <a:t>≈ US$100–140M addressable every year</a:t>
            </a:r>
            <a:endParaRPr lang="en-US" sz="1800" dirty="0"/>
          </a:p>
        </p:txBody>
      </p:sp>
      <p:sp>
        <p:nvSpPr>
          <p:cNvPr id="19" name="Text 17"/>
          <p:cNvSpPr txBox="1"/>
          <p:nvPr/>
        </p:nvSpPr>
        <p:spPr>
          <a:xfrm>
            <a:off x="7040880" y="3712464"/>
            <a:ext cx="4236415" cy="256032"/>
          </a:xfrm>
          <a:prstGeom prst="rect">
            <a:avLst/>
          </a:prstGeom>
          <a:noFill/>
          <a:ln/>
        </p:spPr>
        <p:txBody>
          <a:bodyPr wrap="square" lIns="0" tIns="0" rIns="0" bIns="0" rtlCol="0" anchor="ctr"/>
          <a:lstStyle/>
          <a:p>
            <a:pPr indent="0" marL="0">
              <a:buNone/>
            </a:pPr>
            <a:r>
              <a:rPr lang="en-US" sz="1200" dirty="0">
                <a:solidFill>
                  <a:schemeClr val="accent5"/>
                </a:solidFill>
              </a:rPr>
              <a:t>Lanes, platform software, integration and services</a:t>
            </a:r>
            <a:endParaRPr lang="en-US" sz="1200" dirty="0"/>
          </a:p>
        </p:txBody>
      </p:sp>
      <p:sp>
        <p:nvSpPr>
          <p:cNvPr id="20" name="Shape 18"/>
          <p:cNvSpPr/>
          <p:nvPr/>
        </p:nvSpPr>
        <p:spPr>
          <a:xfrm>
            <a:off x="6675120" y="4279392"/>
            <a:ext cx="4967935" cy="1700784"/>
          </a:xfrm>
          <a:prstGeom prst="roundRect">
            <a:avLst>
              <a:gd name="adj" fmla="val 8602"/>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21" name="Text 19"/>
          <p:cNvSpPr txBox="1"/>
          <p:nvPr/>
        </p:nvSpPr>
        <p:spPr>
          <a:xfrm>
            <a:off x="6995160" y="4407408"/>
            <a:ext cx="4327855"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WHO BUYS DEPENDS ON GOVERNANCE</a:t>
            </a:r>
            <a:endParaRPr lang="en-US" sz="1100" dirty="0"/>
          </a:p>
        </p:txBody>
      </p:sp>
      <p:pic>
        <p:nvPicPr>
          <p:cNvPr id="22" name="Image 0" descr="preencoded.png">    </p:cNvPr>
          <p:cNvPicPr>
            <a:picLocks noChangeAspect="1"/>
          </p:cNvPicPr>
          <p:nvPr/>
        </p:nvPicPr>
        <p:blipFill>
          <a:blip r:embed="rId1"/>
          <a:stretch>
            <a:fillRect/>
          </a:stretch>
        </p:blipFill>
        <p:spPr>
          <a:xfrm>
            <a:off x="7004304" y="4773168"/>
            <a:ext cx="237744" cy="237744"/>
          </a:xfrm>
          <a:prstGeom prst="rect">
            <a:avLst/>
          </a:prstGeom>
        </p:spPr>
      </p:pic>
      <p:sp>
        <p:nvSpPr>
          <p:cNvPr id="23" name="Text 20"/>
          <p:cNvSpPr txBox="1"/>
          <p:nvPr/>
        </p:nvSpPr>
        <p:spPr>
          <a:xfrm>
            <a:off x="7388352" y="4700016"/>
            <a:ext cx="4053535" cy="402336"/>
          </a:xfrm>
          <a:prstGeom prst="rect">
            <a:avLst/>
          </a:prstGeom>
          <a:noFill/>
          <a:ln/>
        </p:spPr>
        <p:txBody>
          <a:bodyPr wrap="square" lIns="0" tIns="0" rIns="0" bIns="0" rtlCol="0" anchor="ctr"/>
          <a:lstStyle/>
          <a:p>
            <a:pPr indent="0" marL="0">
              <a:buNone/>
            </a:pPr>
            <a:r>
              <a:rPr lang="en-US" sz="1300" b="1" dirty="0">
                <a:solidFill>
                  <a:schemeClr val="tx1"/>
                </a:solidFill>
              </a:rPr>
              <a:t>Operator-led airports</a:t>
            </a:r>
            <a:endParaRPr lang="en-US" sz="1400" dirty="0"/>
          </a:p>
          <a:p>
            <a:pPr indent="0" marL="0">
              <a:buNone/>
            </a:pPr>
            <a:r>
              <a:rPr lang="en-US" sz="1150" dirty="0">
                <a:solidFill>
                  <a:schemeClr val="tx2"/>
                </a:solidFill>
              </a:rPr>
              <a:t>e.g. Changi, Narita: the operator buys</a:t>
            </a:r>
            <a:endParaRPr lang="en-US" sz="1400" dirty="0"/>
          </a:p>
        </p:txBody>
      </p:sp>
      <p:pic>
        <p:nvPicPr>
          <p:cNvPr id="24" name="Image 1" descr="preencoded.png">    </p:cNvPr>
          <p:cNvPicPr>
            <a:picLocks noChangeAspect="1"/>
          </p:cNvPicPr>
          <p:nvPr/>
        </p:nvPicPr>
        <p:blipFill>
          <a:blip r:embed="rId2"/>
          <a:stretch>
            <a:fillRect/>
          </a:stretch>
        </p:blipFill>
        <p:spPr>
          <a:xfrm>
            <a:off x="7004304" y="5193792"/>
            <a:ext cx="237744" cy="237744"/>
          </a:xfrm>
          <a:prstGeom prst="rect">
            <a:avLst/>
          </a:prstGeom>
        </p:spPr>
      </p:pic>
      <p:sp>
        <p:nvSpPr>
          <p:cNvPr id="25" name="Text 21"/>
          <p:cNvSpPr txBox="1"/>
          <p:nvPr/>
        </p:nvSpPr>
        <p:spPr>
          <a:xfrm>
            <a:off x="7388352" y="5120640"/>
            <a:ext cx="4053535" cy="402336"/>
          </a:xfrm>
          <a:prstGeom prst="rect">
            <a:avLst/>
          </a:prstGeom>
          <a:noFill/>
          <a:ln/>
        </p:spPr>
        <p:txBody>
          <a:bodyPr wrap="square" lIns="0" tIns="0" rIns="0" bIns="0" rtlCol="0" anchor="ctr"/>
          <a:lstStyle/>
          <a:p>
            <a:pPr indent="0" marL="0">
              <a:buNone/>
            </a:pPr>
            <a:r>
              <a:rPr lang="en-US" sz="1300" b="1" dirty="0">
                <a:solidFill>
                  <a:schemeClr val="tx1"/>
                </a:solidFill>
              </a:rPr>
              <a:t>Airline-led hubs</a:t>
            </a:r>
            <a:endParaRPr lang="en-US" sz="1400" dirty="0"/>
          </a:p>
          <a:p>
            <a:pPr indent="0" marL="0">
              <a:buNone/>
            </a:pPr>
            <a:r>
              <a:rPr lang="en-US" sz="1150" dirty="0">
                <a:solidFill>
                  <a:schemeClr val="tx2"/>
                </a:solidFill>
              </a:rPr>
              <a:t>Gulf hubs: embed in the airline app</a:t>
            </a:r>
            <a:endParaRPr lang="en-US" sz="1400" dirty="0"/>
          </a:p>
        </p:txBody>
      </p:sp>
      <p:pic>
        <p:nvPicPr>
          <p:cNvPr id="26" name="Image 2" descr="preencoded.png">    </p:cNvPr>
          <p:cNvPicPr>
            <a:picLocks noChangeAspect="1"/>
          </p:cNvPicPr>
          <p:nvPr/>
        </p:nvPicPr>
        <p:blipFill>
          <a:blip r:embed="rId3"/>
          <a:stretch>
            <a:fillRect/>
          </a:stretch>
        </p:blipFill>
        <p:spPr>
          <a:xfrm>
            <a:off x="7004304" y="5614416"/>
            <a:ext cx="237744" cy="237744"/>
          </a:xfrm>
          <a:prstGeom prst="rect">
            <a:avLst/>
          </a:prstGeom>
        </p:spPr>
      </p:pic>
      <p:sp>
        <p:nvSpPr>
          <p:cNvPr id="27" name="Text 22"/>
          <p:cNvSpPr txBox="1"/>
          <p:nvPr/>
        </p:nvSpPr>
        <p:spPr>
          <a:xfrm>
            <a:off x="7388352" y="5541264"/>
            <a:ext cx="4053535" cy="402336"/>
          </a:xfrm>
          <a:prstGeom prst="rect">
            <a:avLst/>
          </a:prstGeom>
          <a:noFill/>
          <a:ln/>
        </p:spPr>
        <p:txBody>
          <a:bodyPr wrap="square" lIns="0" tIns="0" rIns="0" bIns="0" rtlCol="0" anchor="ctr"/>
          <a:lstStyle/>
          <a:p>
            <a:pPr indent="0" marL="0">
              <a:buNone/>
            </a:pPr>
            <a:r>
              <a:rPr lang="en-US" sz="1300" b="1" dirty="0">
                <a:solidFill>
                  <a:schemeClr val="tx1"/>
                </a:solidFill>
              </a:rPr>
              <a:t>Private concessions</a:t>
            </a:r>
            <a:endParaRPr lang="en-US" sz="1400" dirty="0"/>
          </a:p>
          <a:p>
            <a:pPr indent="0" marL="0">
              <a:buNone/>
            </a:pPr>
            <a:r>
              <a:rPr lang="en-US" sz="1150" dirty="0">
                <a:solidFill>
                  <a:schemeClr val="tx2"/>
                </a:solidFill>
              </a:rPr>
              <a:t>e.g. Philippines: the concessionaire buys</a:t>
            </a:r>
            <a:endParaRPr lang="en-US" sz="1400" dirty="0"/>
          </a:p>
        </p:txBody>
      </p:sp>
      <p:sp>
        <p:nvSpPr>
          <p:cNvPr id="28" name="Text 23"/>
          <p:cNvSpPr txBox="1"/>
          <p:nvPr/>
        </p:nvSpPr>
        <p:spPr>
          <a:xfrm>
            <a:off x="548640" y="6089904"/>
            <a:ext cx="11094415" cy="237744"/>
          </a:xfrm>
          <a:prstGeom prst="rect">
            <a:avLst/>
          </a:prstGeom>
          <a:noFill/>
          <a:ln/>
        </p:spPr>
        <p:txBody>
          <a:bodyPr wrap="square" lIns="0" tIns="0" rIns="0" bIns="0" rtlCol="0" anchor="ctr"/>
          <a:lstStyle/>
          <a:p>
            <a:pPr indent="0" marL="0">
              <a:buNone/>
            </a:pPr>
            <a:r>
              <a:rPr lang="en-US" sz="1000" dirty="0">
                <a:solidFill>
                  <a:schemeClr val="accent4"/>
                </a:solidFill>
              </a:rPr>
              <a:t>Sources: R3–R4 MarketsandMarkets (2025) · R5 SITA IT Insights (2024) · R6 IATA regional outlook. ME+SEA and FastPass shares: I2 URS estimate. See References.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Journey scene 1" descr="/tmp/claude-0/-home-user-sgqy/b70fb111-7300-56ba-abe4-4b6e17d8c33e/scratchpad/journey/s1_pearl.png">    </p:cNvPr>
          <p:cNvPicPr>
            <a:picLocks noChangeAspect="1"/>
          </p:cNvPicPr>
          <p:nvPr/>
        </p:nvPicPr>
        <p:blipFill>
          <a:blip r:embed="rId1"/>
          <a:stretch>
            <a:fillRect/>
          </a:stretch>
        </p:blipFill>
        <p:spPr>
          <a:xfrm>
            <a:off x="0" y="0"/>
            <a:ext cx="12191695" cy="6858000"/>
          </a:xfrm>
          <a:prstGeom prst="rect">
            <a:avLst/>
          </a:prstGeom>
        </p:spPr>
      </p:pic>
      <p:sp>
        <p:nvSpPr>
          <p:cNvPr id="3"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THE SOLUTION  ·  CURB TO GATE 1 OF 2</a:t>
            </a:r>
            <a:endParaRPr lang="en-US" sz="1100" dirty="0"/>
          </a:p>
        </p:txBody>
      </p:sp>
      <p:sp>
        <p:nvSpPr>
          <p:cNvPr id="4"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Enrol at home. Walk through immigration</a:t>
            </a:r>
            <a:endParaRPr lang="en-US" sz="3400" dirty="0"/>
          </a:p>
        </p:txBody>
      </p:sp>
      <p:sp>
        <p:nvSpPr>
          <p:cNvPr id="5"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Create the credential on the phone once, then walk through without stopping.</a:t>
            </a:r>
            <a:endParaRPr lang="en-US" sz="1600" dirty="0"/>
          </a:p>
        </p:txBody>
      </p:sp>
      <p:sp>
        <p:nvSpPr>
          <p:cNvPr id="6" name="Shape 3"/>
          <p:cNvSpPr/>
          <p:nvPr/>
        </p:nvSpPr>
        <p:spPr>
          <a:xfrm>
            <a:off x="2331720" y="3401568"/>
            <a:ext cx="566928" cy="1650492"/>
          </a:xfrm>
          <a:prstGeom prst="line">
            <a:avLst/>
          </a:prstGeom>
          <a:noFill/>
          <a:ln w="12700">
            <a:solidFill>
              <a:schemeClr val="accent1">
                <a:alpha val="85000"/>
              </a:schemeClr>
            </a:solidFill>
            <a:prstDash val="solid"/>
          </a:ln>
        </p:spPr>
      </p:sp>
      <p:sp>
        <p:nvSpPr>
          <p:cNvPr id="7" name="Shape 4"/>
          <p:cNvSpPr/>
          <p:nvPr/>
        </p:nvSpPr>
        <p:spPr>
          <a:xfrm>
            <a:off x="5058461" y="3973068"/>
            <a:ext cx="1113739" cy="1330452"/>
          </a:xfrm>
          <a:prstGeom prst="line">
            <a:avLst/>
          </a:prstGeom>
          <a:noFill/>
          <a:ln w="12700">
            <a:solidFill>
              <a:schemeClr val="accent1">
                <a:alpha val="85000"/>
              </a:schemeClr>
            </a:solidFill>
            <a:prstDash val="solid"/>
          </a:ln>
        </p:spPr>
      </p:sp>
      <p:sp>
        <p:nvSpPr>
          <p:cNvPr id="8" name="Shape 5"/>
          <p:cNvSpPr/>
          <p:nvPr/>
        </p:nvSpPr>
        <p:spPr>
          <a:xfrm>
            <a:off x="6974129" y="3014777"/>
            <a:ext cx="2124151" cy="1511503"/>
          </a:xfrm>
          <a:prstGeom prst="line">
            <a:avLst/>
          </a:prstGeom>
          <a:noFill/>
          <a:ln w="12700">
            <a:solidFill>
              <a:schemeClr val="accent1">
                <a:alpha val="85000"/>
              </a:schemeClr>
            </a:solidFill>
            <a:prstDash val="solid"/>
          </a:ln>
        </p:spPr>
      </p:sp>
      <p:sp>
        <p:nvSpPr>
          <p:cNvPr id="9" name="Shape 6"/>
          <p:cNvSpPr/>
          <p:nvPr/>
        </p:nvSpPr>
        <p:spPr>
          <a:xfrm flipV="1">
            <a:off x="1751990" y="3049638"/>
            <a:ext cx="2593525" cy="1746390"/>
          </a:xfrm>
          <a:prstGeom prst="line">
            <a:avLst/>
          </a:prstGeom>
          <a:noFill/>
          <a:ln w="12700">
            <a:solidFill>
              <a:schemeClr val="accent1"/>
            </a:solidFill>
            <a:prstDash val="dash"/>
          </a:ln>
        </p:spPr>
      </p:sp>
      <p:sp>
        <p:nvSpPr>
          <p:cNvPr id="10" name="Shape 7"/>
          <p:cNvSpPr/>
          <p:nvPr/>
        </p:nvSpPr>
        <p:spPr>
          <a:xfrm>
            <a:off x="1706270" y="4750308"/>
            <a:ext cx="91440" cy="91440"/>
          </a:xfrm>
          <a:prstGeom prst="ellipse">
            <a:avLst/>
          </a:prstGeom>
          <a:solidFill>
            <a:schemeClr val="accent1"/>
          </a:solidFill>
          <a:ln/>
        </p:spPr>
      </p:sp>
      <p:sp>
        <p:nvSpPr>
          <p:cNvPr id="11" name="Shape 8"/>
          <p:cNvSpPr/>
          <p:nvPr/>
        </p:nvSpPr>
        <p:spPr>
          <a:xfrm>
            <a:off x="4197096" y="2139696"/>
            <a:ext cx="1207008" cy="1207008"/>
          </a:xfrm>
          <a:prstGeom prst="ellipse">
            <a:avLst/>
          </a:prstGeom>
          <a:solidFill>
            <a:schemeClr val="bg2"/>
          </a:solidFill>
          <a:ln w="19050">
            <a:solidFill>
              <a:schemeClr val="accent1"/>
            </a:solidFill>
            <a:prstDash val="solid"/>
          </a:ln>
          <a:effectLst>
            <a:outerShdw sx="100000" sy="100000" kx="0" ky="0" algn="bl" rotWithShape="0" blurRad="177800" dist="38100" dir="5400000">
              <a:srgbClr val="0A1628">
                <a:alpha val="8000"/>
              </a:srgbClr>
            </a:outerShdw>
          </a:effectLst>
        </p:spPr>
      </p:sp>
      <p:pic>
        <p:nvPicPr>
          <p:cNvPr id="12" name="Image 1" descr="/tmp/claude-0/-home-user-sgqy/b70fb111-7300-56ba-abe4-4b6e17d8c33e/scratchpad/journey/b_app.png">    </p:cNvPr>
          <p:cNvPicPr>
            <a:picLocks noChangeAspect="1"/>
          </p:cNvPicPr>
          <p:nvPr/>
        </p:nvPicPr>
        <p:blipFill>
          <a:blip r:embed="rId2"/>
          <a:stretch>
            <a:fillRect/>
          </a:stretch>
        </p:blipFill>
        <p:spPr>
          <a:xfrm>
            <a:off x="4251960" y="2194560"/>
            <a:ext cx="1097280" cy="1097280"/>
          </a:xfrm>
          <a:prstGeom prst="rect">
            <a:avLst/>
          </a:prstGeom>
        </p:spPr>
      </p:pic>
      <p:sp>
        <p:nvSpPr>
          <p:cNvPr id="13" name="Shape 9"/>
          <p:cNvSpPr/>
          <p:nvPr/>
        </p:nvSpPr>
        <p:spPr>
          <a:xfrm flipV="1">
            <a:off x="8269834" y="2601238"/>
            <a:ext cx="1448219" cy="239802"/>
          </a:xfrm>
          <a:prstGeom prst="line">
            <a:avLst/>
          </a:prstGeom>
          <a:noFill/>
          <a:ln w="12700">
            <a:solidFill>
              <a:schemeClr val="accent1"/>
            </a:solidFill>
            <a:prstDash val="dash"/>
          </a:ln>
        </p:spPr>
      </p:sp>
      <p:sp>
        <p:nvSpPr>
          <p:cNvPr id="14" name="Shape 10"/>
          <p:cNvSpPr/>
          <p:nvPr/>
        </p:nvSpPr>
        <p:spPr>
          <a:xfrm>
            <a:off x="8224114" y="2795321"/>
            <a:ext cx="91440" cy="91440"/>
          </a:xfrm>
          <a:prstGeom prst="ellipse">
            <a:avLst/>
          </a:prstGeom>
          <a:solidFill>
            <a:schemeClr val="accent1"/>
          </a:solidFill>
          <a:ln/>
        </p:spPr>
      </p:sp>
      <p:sp>
        <p:nvSpPr>
          <p:cNvPr id="15" name="Shape 11"/>
          <p:cNvSpPr/>
          <p:nvPr/>
        </p:nvSpPr>
        <p:spPr>
          <a:xfrm>
            <a:off x="9656064" y="1929384"/>
            <a:ext cx="1170432" cy="1170432"/>
          </a:xfrm>
          <a:prstGeom prst="ellipse">
            <a:avLst/>
          </a:prstGeom>
          <a:solidFill>
            <a:schemeClr val="bg2"/>
          </a:solidFill>
          <a:ln w="19050">
            <a:solidFill>
              <a:schemeClr val="accent1"/>
            </a:solidFill>
            <a:prstDash val="solid"/>
          </a:ln>
          <a:effectLst>
            <a:outerShdw sx="100000" sy="100000" kx="0" ky="0" algn="bl" rotWithShape="0" blurRad="177800" dist="38100" dir="5400000">
              <a:srgbClr val="0A1628">
                <a:alpha val="8000"/>
              </a:srgbClr>
            </a:outerShdw>
          </a:effectLst>
        </p:spPr>
      </p:sp>
      <p:pic>
        <p:nvPicPr>
          <p:cNvPr id="16" name="Image 2" descr="/tmp/claude-0/-home-user-sgqy/b70fb111-7300-56ba-abe4-4b6e17d8c33e/scratchpad/journey/b_pylon.png">    </p:cNvPr>
          <p:cNvPicPr>
            <a:picLocks noChangeAspect="1"/>
          </p:cNvPicPr>
          <p:nvPr/>
        </p:nvPicPr>
        <p:blipFill>
          <a:blip r:embed="rId3"/>
          <a:stretch>
            <a:fillRect/>
          </a:stretch>
        </p:blipFill>
        <p:spPr>
          <a:xfrm>
            <a:off x="9710928" y="1984248"/>
            <a:ext cx="1060704" cy="1060704"/>
          </a:xfrm>
          <a:prstGeom prst="rect">
            <a:avLst/>
          </a:prstGeom>
        </p:spPr>
      </p:pic>
      <p:sp>
        <p:nvSpPr>
          <p:cNvPr id="17" name="Shape 12"/>
          <p:cNvSpPr/>
          <p:nvPr/>
        </p:nvSpPr>
        <p:spPr>
          <a:xfrm flipV="1">
            <a:off x="5341925" y="2999232"/>
            <a:ext cx="327355" cy="307238"/>
          </a:xfrm>
          <a:prstGeom prst="line">
            <a:avLst/>
          </a:prstGeom>
          <a:noFill/>
          <a:ln w="9525">
            <a:solidFill>
              <a:schemeClr val="accent1"/>
            </a:solidFill>
            <a:prstDash val="dash"/>
          </a:ln>
        </p:spPr>
      </p:sp>
      <p:sp>
        <p:nvSpPr>
          <p:cNvPr id="18" name="Shape 13"/>
          <p:cNvSpPr/>
          <p:nvPr/>
        </p:nvSpPr>
        <p:spPr>
          <a:xfrm>
            <a:off x="5305349" y="3269894"/>
            <a:ext cx="73152" cy="73152"/>
          </a:xfrm>
          <a:prstGeom prst="ellipse">
            <a:avLst/>
          </a:prstGeom>
          <a:solidFill>
            <a:schemeClr val="accent1"/>
          </a:solidFill>
          <a:ln/>
        </p:spPr>
      </p:sp>
      <p:sp>
        <p:nvSpPr>
          <p:cNvPr id="19" name="Shape 14"/>
          <p:cNvSpPr/>
          <p:nvPr/>
        </p:nvSpPr>
        <p:spPr>
          <a:xfrm>
            <a:off x="5504688" y="2724912"/>
            <a:ext cx="1097280" cy="274320"/>
          </a:xfrm>
          <a:prstGeom prst="roundRect">
            <a:avLst>
              <a:gd name="adj" fmla="val 50000"/>
            </a:avLst>
          </a:prstGeom>
          <a:solidFill>
            <a:schemeClr val="bg2"/>
          </a:solidFill>
          <a:ln w="9525">
            <a:solidFill>
              <a:schemeClr val="accent1">
                <a:alpha val="70000"/>
              </a:schemeClr>
            </a:solidFill>
            <a:prstDash val="solid"/>
          </a:ln>
          <a:effectLst>
            <a:outerShdw sx="100000" sy="100000" kx="0" ky="0" algn="bl" rotWithShape="0" blurRad="177800" dist="38100" dir="5400000">
              <a:srgbClr val="0A1628">
                <a:alpha val="8000"/>
              </a:srgbClr>
            </a:outerShdw>
          </a:effectLst>
        </p:spPr>
      </p:sp>
      <p:sp>
        <p:nvSpPr>
          <p:cNvPr id="20" name="Text 15"/>
          <p:cNvSpPr txBox="1"/>
          <p:nvPr/>
        </p:nvSpPr>
        <p:spPr>
          <a:xfrm>
            <a:off x="5504688" y="2724912"/>
            <a:ext cx="1097280" cy="274320"/>
          </a:xfrm>
          <a:prstGeom prst="rect">
            <a:avLst/>
          </a:prstGeom>
          <a:noFill/>
          <a:ln/>
        </p:spPr>
        <p:txBody>
          <a:bodyPr wrap="square" lIns="0" tIns="0" rIns="0" bIns="0" rtlCol="0" anchor="ctr"/>
          <a:lstStyle/>
          <a:p>
            <a:pPr algn="ctr" indent="0" marL="0">
              <a:buNone/>
            </a:pPr>
            <a:r>
              <a:rPr lang="en-US" sz="1100" b="1" dirty="0">
                <a:solidFill>
                  <a:schemeClr val="accent1"/>
                </a:solidFill>
              </a:rPr>
              <a:t>BLE beacon</a:t>
            </a:r>
            <a:endParaRPr lang="en-US" sz="1100" dirty="0"/>
          </a:p>
        </p:txBody>
      </p:sp>
      <p:sp>
        <p:nvSpPr>
          <p:cNvPr id="21" name="Shape 16"/>
          <p:cNvSpPr/>
          <p:nvPr/>
        </p:nvSpPr>
        <p:spPr>
          <a:xfrm>
            <a:off x="548640" y="2103120"/>
            <a:ext cx="3063240" cy="1298448"/>
          </a:xfrm>
          <a:prstGeom prst="roundRect">
            <a:avLst>
              <a:gd name="adj" fmla="val 11268"/>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22" name="Shape 17"/>
          <p:cNvSpPr/>
          <p:nvPr/>
        </p:nvSpPr>
        <p:spPr>
          <a:xfrm>
            <a:off x="749808" y="2286000"/>
            <a:ext cx="347472" cy="347472"/>
          </a:xfrm>
          <a:prstGeom prst="ellipse">
            <a:avLst/>
          </a:prstGeom>
          <a:solidFill>
            <a:schemeClr val="accent1"/>
          </a:solidFill>
          <a:ln/>
        </p:spPr>
      </p:sp>
      <p:sp>
        <p:nvSpPr>
          <p:cNvPr id="23" name="Text 18"/>
          <p:cNvSpPr txBox="1"/>
          <p:nvPr/>
        </p:nvSpPr>
        <p:spPr>
          <a:xfrm>
            <a:off x="749808" y="2286000"/>
            <a:ext cx="347472" cy="347472"/>
          </a:xfrm>
          <a:prstGeom prst="rect">
            <a:avLst/>
          </a:prstGeom>
          <a:noFill/>
          <a:ln/>
        </p:spPr>
        <p:txBody>
          <a:bodyPr wrap="square" lIns="0" tIns="0" rIns="0" bIns="0" rtlCol="0" anchor="ctr"/>
          <a:lstStyle/>
          <a:p>
            <a:pPr algn="ctr" indent="0" marL="0">
              <a:buNone/>
            </a:pPr>
            <a:r>
              <a:rPr lang="en-US" sz="1300" b="1" dirty="0">
                <a:solidFill>
                  <a:schemeClr val="bg2"/>
                </a:solidFill>
              </a:rPr>
              <a:t>1</a:t>
            </a:r>
            <a:endParaRPr lang="en-US" sz="1300" dirty="0"/>
          </a:p>
        </p:txBody>
      </p:sp>
      <p:sp>
        <p:nvSpPr>
          <p:cNvPr id="24" name="Text 19"/>
          <p:cNvSpPr txBox="1"/>
          <p:nvPr/>
        </p:nvSpPr>
        <p:spPr>
          <a:xfrm>
            <a:off x="1207008" y="2276856"/>
            <a:ext cx="2240280" cy="365760"/>
          </a:xfrm>
          <a:prstGeom prst="rect">
            <a:avLst/>
          </a:prstGeom>
          <a:noFill/>
          <a:ln/>
        </p:spPr>
        <p:txBody>
          <a:bodyPr wrap="square" lIns="0" tIns="0" rIns="0" bIns="0" rtlCol="0" anchor="ctr"/>
          <a:lstStyle/>
          <a:p>
            <a:pPr indent="0" marL="0">
              <a:buNone/>
            </a:pPr>
            <a:r>
              <a:rPr lang="en-US" sz="1500" b="1" dirty="0">
                <a:solidFill>
                  <a:schemeClr val="tx1"/>
                </a:solidFill>
              </a:rPr>
              <a:t>Enrol at home</a:t>
            </a:r>
            <a:endParaRPr lang="en-US" sz="1500" dirty="0"/>
          </a:p>
        </p:txBody>
      </p:sp>
      <p:sp>
        <p:nvSpPr>
          <p:cNvPr id="25" name="Text 20"/>
          <p:cNvSpPr txBox="1"/>
          <p:nvPr/>
        </p:nvSpPr>
        <p:spPr>
          <a:xfrm>
            <a:off x="749808" y="2724912"/>
            <a:ext cx="2679192" cy="566928"/>
          </a:xfrm>
          <a:prstGeom prst="rect">
            <a:avLst/>
          </a:prstGeom>
          <a:noFill/>
          <a:ln/>
        </p:spPr>
        <p:txBody>
          <a:bodyPr wrap="square" lIns="0" tIns="0" rIns="0" bIns="0" rtlCol="0" anchor="t"/>
          <a:lstStyle/>
          <a:p>
            <a:pPr indent="0" marL="0">
              <a:buNone/>
            </a:pPr>
            <a:r>
              <a:rPr lang="en-US" sz="1300" dirty="0">
                <a:solidFill>
                  <a:schemeClr val="tx2"/>
                </a:solidFill>
              </a:rPr>
              <a:t>Scan the passport and a selfie in the app. The credential stays encrypted on the phone.</a:t>
            </a:r>
            <a:endParaRPr lang="en-US" sz="1300" dirty="0"/>
          </a:p>
        </p:txBody>
      </p:sp>
      <p:sp>
        <p:nvSpPr>
          <p:cNvPr id="26" name="Shape 21"/>
          <p:cNvSpPr/>
          <p:nvPr/>
        </p:nvSpPr>
        <p:spPr>
          <a:xfrm>
            <a:off x="5897880" y="5266944"/>
            <a:ext cx="3017520" cy="1042416"/>
          </a:xfrm>
          <a:prstGeom prst="roundRect">
            <a:avLst>
              <a:gd name="adj" fmla="val 14035"/>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27" name="Shape 22"/>
          <p:cNvSpPr/>
          <p:nvPr/>
        </p:nvSpPr>
        <p:spPr>
          <a:xfrm>
            <a:off x="6099048" y="5449824"/>
            <a:ext cx="347472" cy="347472"/>
          </a:xfrm>
          <a:prstGeom prst="ellipse">
            <a:avLst/>
          </a:prstGeom>
          <a:solidFill>
            <a:schemeClr val="accent1"/>
          </a:solidFill>
          <a:ln/>
        </p:spPr>
      </p:sp>
      <p:sp>
        <p:nvSpPr>
          <p:cNvPr id="28" name="Text 23"/>
          <p:cNvSpPr txBox="1"/>
          <p:nvPr/>
        </p:nvSpPr>
        <p:spPr>
          <a:xfrm>
            <a:off x="6099048" y="5449824"/>
            <a:ext cx="347472" cy="347472"/>
          </a:xfrm>
          <a:prstGeom prst="rect">
            <a:avLst/>
          </a:prstGeom>
          <a:noFill/>
          <a:ln/>
        </p:spPr>
        <p:txBody>
          <a:bodyPr wrap="square" lIns="0" tIns="0" rIns="0" bIns="0" rtlCol="0" anchor="ctr"/>
          <a:lstStyle/>
          <a:p>
            <a:pPr algn="ctr" indent="0" marL="0">
              <a:buNone/>
            </a:pPr>
            <a:r>
              <a:rPr lang="en-US" sz="1300" b="1" dirty="0">
                <a:solidFill>
                  <a:schemeClr val="bg2"/>
                </a:solidFill>
              </a:rPr>
              <a:t>2</a:t>
            </a:r>
            <a:endParaRPr lang="en-US" sz="1300" dirty="0"/>
          </a:p>
        </p:txBody>
      </p:sp>
      <p:sp>
        <p:nvSpPr>
          <p:cNvPr id="29" name="Text 24"/>
          <p:cNvSpPr txBox="1"/>
          <p:nvPr/>
        </p:nvSpPr>
        <p:spPr>
          <a:xfrm>
            <a:off x="6556248" y="5440680"/>
            <a:ext cx="2194560" cy="365760"/>
          </a:xfrm>
          <a:prstGeom prst="rect">
            <a:avLst/>
          </a:prstGeom>
          <a:noFill/>
          <a:ln/>
        </p:spPr>
        <p:txBody>
          <a:bodyPr wrap="square" lIns="0" tIns="0" rIns="0" bIns="0" rtlCol="0" anchor="ctr"/>
          <a:lstStyle/>
          <a:p>
            <a:pPr indent="0" marL="0">
              <a:buNone/>
            </a:pPr>
            <a:r>
              <a:rPr lang="en-US" sz="1500" b="1" dirty="0">
                <a:solidFill>
                  <a:schemeClr val="tx1"/>
                </a:solidFill>
              </a:rPr>
              <a:t>Approach the lane</a:t>
            </a:r>
            <a:endParaRPr lang="en-US" sz="1500" dirty="0"/>
          </a:p>
        </p:txBody>
      </p:sp>
      <p:sp>
        <p:nvSpPr>
          <p:cNvPr id="30" name="Text 25"/>
          <p:cNvSpPr txBox="1"/>
          <p:nvPr/>
        </p:nvSpPr>
        <p:spPr>
          <a:xfrm>
            <a:off x="6099048" y="5888736"/>
            <a:ext cx="2633472" cy="310896"/>
          </a:xfrm>
          <a:prstGeom prst="rect">
            <a:avLst/>
          </a:prstGeom>
          <a:noFill/>
          <a:ln/>
        </p:spPr>
        <p:txBody>
          <a:bodyPr wrap="square" lIns="0" tIns="0" rIns="0" bIns="0" rtlCol="0" anchor="t"/>
          <a:lstStyle/>
          <a:p>
            <a:pPr indent="0" marL="0">
              <a:buNone/>
            </a:pPr>
            <a:r>
              <a:rPr lang="en-US" sz="1300" dirty="0">
                <a:solidFill>
                  <a:schemeClr val="tx2"/>
                </a:solidFill>
              </a:rPr>
              <a:t>A BLE beacon pairs the phone to the lane as it nears.</a:t>
            </a:r>
            <a:endParaRPr lang="en-US" sz="1300" dirty="0"/>
          </a:p>
        </p:txBody>
      </p:sp>
      <p:sp>
        <p:nvSpPr>
          <p:cNvPr id="31" name="Shape 26"/>
          <p:cNvSpPr/>
          <p:nvPr/>
        </p:nvSpPr>
        <p:spPr>
          <a:xfrm>
            <a:off x="9098280" y="4206240"/>
            <a:ext cx="2542032" cy="1481328"/>
          </a:xfrm>
          <a:prstGeom prst="roundRect">
            <a:avLst>
              <a:gd name="adj" fmla="val 9877"/>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32" name="Shape 27"/>
          <p:cNvSpPr/>
          <p:nvPr/>
        </p:nvSpPr>
        <p:spPr>
          <a:xfrm>
            <a:off x="9299448" y="4389120"/>
            <a:ext cx="347472" cy="347472"/>
          </a:xfrm>
          <a:prstGeom prst="ellipse">
            <a:avLst/>
          </a:prstGeom>
          <a:solidFill>
            <a:schemeClr val="accent1"/>
          </a:solidFill>
          <a:ln/>
        </p:spPr>
      </p:sp>
      <p:sp>
        <p:nvSpPr>
          <p:cNvPr id="33" name="Text 28"/>
          <p:cNvSpPr txBox="1"/>
          <p:nvPr/>
        </p:nvSpPr>
        <p:spPr>
          <a:xfrm>
            <a:off x="9299448" y="4389120"/>
            <a:ext cx="347472" cy="347472"/>
          </a:xfrm>
          <a:prstGeom prst="rect">
            <a:avLst/>
          </a:prstGeom>
          <a:noFill/>
          <a:ln/>
        </p:spPr>
        <p:txBody>
          <a:bodyPr wrap="square" lIns="0" tIns="0" rIns="0" bIns="0" rtlCol="0" anchor="ctr"/>
          <a:lstStyle/>
          <a:p>
            <a:pPr algn="ctr" indent="0" marL="0">
              <a:buNone/>
            </a:pPr>
            <a:r>
              <a:rPr lang="en-US" sz="1300" b="1" dirty="0">
                <a:solidFill>
                  <a:schemeClr val="bg2"/>
                </a:solidFill>
              </a:rPr>
              <a:t>3</a:t>
            </a:r>
            <a:endParaRPr lang="en-US" sz="1300" dirty="0"/>
          </a:p>
        </p:txBody>
      </p:sp>
      <p:sp>
        <p:nvSpPr>
          <p:cNvPr id="34" name="Text 29"/>
          <p:cNvSpPr txBox="1"/>
          <p:nvPr/>
        </p:nvSpPr>
        <p:spPr>
          <a:xfrm>
            <a:off x="9756648" y="4379976"/>
            <a:ext cx="1719072" cy="365760"/>
          </a:xfrm>
          <a:prstGeom prst="rect">
            <a:avLst/>
          </a:prstGeom>
          <a:noFill/>
          <a:ln/>
        </p:spPr>
        <p:txBody>
          <a:bodyPr wrap="square" lIns="0" tIns="0" rIns="0" bIns="0" rtlCol="0" anchor="ctr"/>
          <a:lstStyle/>
          <a:p>
            <a:pPr indent="0" marL="0">
              <a:buNone/>
            </a:pPr>
            <a:r>
              <a:rPr lang="en-US" sz="1500" b="1" dirty="0">
                <a:solidFill>
                  <a:schemeClr val="tx1"/>
                </a:solidFill>
              </a:rPr>
              <a:t>Walk through</a:t>
            </a:r>
            <a:endParaRPr lang="en-US" sz="1500" dirty="0"/>
          </a:p>
        </p:txBody>
      </p:sp>
      <p:sp>
        <p:nvSpPr>
          <p:cNvPr id="35" name="Text 30"/>
          <p:cNvSpPr txBox="1"/>
          <p:nvPr/>
        </p:nvSpPr>
        <p:spPr>
          <a:xfrm>
            <a:off x="9299448" y="4828032"/>
            <a:ext cx="2157984" cy="749808"/>
          </a:xfrm>
          <a:prstGeom prst="rect">
            <a:avLst/>
          </a:prstGeom>
          <a:noFill/>
          <a:ln/>
        </p:spPr>
        <p:txBody>
          <a:bodyPr wrap="square" lIns="0" tIns="0" rIns="0" bIns="0" rtlCol="0" anchor="t"/>
          <a:lstStyle/>
          <a:p>
            <a:pPr indent="0" marL="0">
              <a:buNone/>
            </a:pPr>
            <a:r>
              <a:rPr lang="en-US" sz="1300" dirty="0">
                <a:solidFill>
                  <a:schemeClr val="tx2"/>
                </a:solidFill>
              </a:rPr>
              <a:t>The FR pylon matches face to phone on the move. Green means go; exceptions alert an officer.</a:t>
            </a:r>
            <a:endParaRPr lang="en-US" sz="1300" dirty="0"/>
          </a:p>
        </p:txBody>
      </p:sp>
      <p:sp>
        <p:nvSpPr>
          <p:cNvPr id="36" name="Shape 31"/>
          <p:cNvSpPr/>
          <p:nvPr/>
        </p:nvSpPr>
        <p:spPr>
          <a:xfrm>
            <a:off x="2618842" y="4772254"/>
            <a:ext cx="559613" cy="559613"/>
          </a:xfrm>
          <a:prstGeom prst="ellipse">
            <a:avLst/>
          </a:prstGeom>
          <a:solidFill>
            <a:schemeClr val="accent1">
              <a:alpha val="16000"/>
            </a:schemeClr>
          </a:solidFill>
          <a:ln/>
        </p:spPr>
      </p:sp>
      <p:sp>
        <p:nvSpPr>
          <p:cNvPr id="37" name="Shape 32"/>
          <p:cNvSpPr/>
          <p:nvPr/>
        </p:nvSpPr>
        <p:spPr>
          <a:xfrm>
            <a:off x="2734056" y="4887468"/>
            <a:ext cx="329184" cy="329184"/>
          </a:xfrm>
          <a:prstGeom prst="ellipse">
            <a:avLst/>
          </a:prstGeom>
          <a:solidFill>
            <a:schemeClr val="accent1"/>
          </a:solidFill>
          <a:ln w="19050">
            <a:solidFill>
              <a:schemeClr val="bg2"/>
            </a:solidFill>
            <a:prstDash val="solid"/>
          </a:ln>
        </p:spPr>
      </p:sp>
      <p:sp>
        <p:nvSpPr>
          <p:cNvPr id="38" name="Text 33"/>
          <p:cNvSpPr txBox="1"/>
          <p:nvPr/>
        </p:nvSpPr>
        <p:spPr>
          <a:xfrm>
            <a:off x="2734056" y="4887468"/>
            <a:ext cx="329184" cy="329184"/>
          </a:xfrm>
          <a:prstGeom prst="rect">
            <a:avLst/>
          </a:prstGeom>
          <a:noFill/>
          <a:ln/>
        </p:spPr>
        <p:txBody>
          <a:bodyPr wrap="square" lIns="0" tIns="0" rIns="0" bIns="0" rtlCol="0" anchor="ctr"/>
          <a:lstStyle/>
          <a:p>
            <a:pPr algn="ctr" indent="0" marL="0">
              <a:buNone/>
            </a:pPr>
            <a:r>
              <a:rPr lang="en-US" sz="1300" b="1" dirty="0">
                <a:solidFill>
                  <a:schemeClr val="bg2"/>
                </a:solidFill>
              </a:rPr>
              <a:t>1</a:t>
            </a:r>
            <a:endParaRPr lang="en-US" sz="1300" dirty="0"/>
          </a:p>
        </p:txBody>
      </p:sp>
      <p:sp>
        <p:nvSpPr>
          <p:cNvPr id="39" name="Shape 34"/>
          <p:cNvSpPr/>
          <p:nvPr/>
        </p:nvSpPr>
        <p:spPr>
          <a:xfrm>
            <a:off x="4778654" y="3693262"/>
            <a:ext cx="559613" cy="559613"/>
          </a:xfrm>
          <a:prstGeom prst="ellipse">
            <a:avLst/>
          </a:prstGeom>
          <a:solidFill>
            <a:schemeClr val="accent1">
              <a:alpha val="16000"/>
            </a:schemeClr>
          </a:solidFill>
          <a:ln/>
        </p:spPr>
      </p:sp>
      <p:sp>
        <p:nvSpPr>
          <p:cNvPr id="40" name="Shape 35"/>
          <p:cNvSpPr/>
          <p:nvPr/>
        </p:nvSpPr>
        <p:spPr>
          <a:xfrm>
            <a:off x="4893869" y="3808476"/>
            <a:ext cx="329184" cy="329184"/>
          </a:xfrm>
          <a:prstGeom prst="ellipse">
            <a:avLst/>
          </a:prstGeom>
          <a:solidFill>
            <a:schemeClr val="accent1"/>
          </a:solidFill>
          <a:ln w="19050">
            <a:solidFill>
              <a:schemeClr val="bg2"/>
            </a:solidFill>
            <a:prstDash val="solid"/>
          </a:ln>
        </p:spPr>
      </p:sp>
      <p:sp>
        <p:nvSpPr>
          <p:cNvPr id="41" name="Text 36"/>
          <p:cNvSpPr txBox="1"/>
          <p:nvPr/>
        </p:nvSpPr>
        <p:spPr>
          <a:xfrm>
            <a:off x="4893869" y="3808476"/>
            <a:ext cx="329184" cy="329184"/>
          </a:xfrm>
          <a:prstGeom prst="rect">
            <a:avLst/>
          </a:prstGeom>
          <a:noFill/>
          <a:ln/>
        </p:spPr>
        <p:txBody>
          <a:bodyPr wrap="square" lIns="0" tIns="0" rIns="0" bIns="0" rtlCol="0" anchor="ctr"/>
          <a:lstStyle/>
          <a:p>
            <a:pPr algn="ctr" indent="0" marL="0">
              <a:buNone/>
            </a:pPr>
            <a:r>
              <a:rPr lang="en-US" sz="1300" b="1" dirty="0">
                <a:solidFill>
                  <a:schemeClr val="bg2"/>
                </a:solidFill>
              </a:rPr>
              <a:t>2</a:t>
            </a:r>
            <a:endParaRPr lang="en-US" sz="1300" dirty="0"/>
          </a:p>
        </p:txBody>
      </p:sp>
      <p:sp>
        <p:nvSpPr>
          <p:cNvPr id="42" name="Shape 37"/>
          <p:cNvSpPr/>
          <p:nvPr/>
        </p:nvSpPr>
        <p:spPr>
          <a:xfrm>
            <a:off x="6694322" y="2734970"/>
            <a:ext cx="559613" cy="559613"/>
          </a:xfrm>
          <a:prstGeom prst="ellipse">
            <a:avLst/>
          </a:prstGeom>
          <a:solidFill>
            <a:schemeClr val="accent1">
              <a:alpha val="16000"/>
            </a:schemeClr>
          </a:solidFill>
          <a:ln/>
        </p:spPr>
      </p:sp>
      <p:sp>
        <p:nvSpPr>
          <p:cNvPr id="43" name="Shape 38"/>
          <p:cNvSpPr/>
          <p:nvPr/>
        </p:nvSpPr>
        <p:spPr>
          <a:xfrm>
            <a:off x="6809537" y="2850185"/>
            <a:ext cx="329184" cy="329184"/>
          </a:xfrm>
          <a:prstGeom prst="ellipse">
            <a:avLst/>
          </a:prstGeom>
          <a:solidFill>
            <a:schemeClr val="accent1"/>
          </a:solidFill>
          <a:ln w="19050">
            <a:solidFill>
              <a:schemeClr val="bg2"/>
            </a:solidFill>
            <a:prstDash val="solid"/>
          </a:ln>
        </p:spPr>
      </p:sp>
      <p:sp>
        <p:nvSpPr>
          <p:cNvPr id="44" name="Text 39"/>
          <p:cNvSpPr txBox="1"/>
          <p:nvPr/>
        </p:nvSpPr>
        <p:spPr>
          <a:xfrm>
            <a:off x="6809537" y="2850185"/>
            <a:ext cx="329184" cy="329184"/>
          </a:xfrm>
          <a:prstGeom prst="rect">
            <a:avLst/>
          </a:prstGeom>
          <a:noFill/>
          <a:ln/>
        </p:spPr>
        <p:txBody>
          <a:bodyPr wrap="square" lIns="0" tIns="0" rIns="0" bIns="0" rtlCol="0" anchor="ctr"/>
          <a:lstStyle/>
          <a:p>
            <a:pPr algn="ctr" indent="0" marL="0">
              <a:buNone/>
            </a:pPr>
            <a:r>
              <a:rPr lang="en-US" sz="1300" b="1" dirty="0">
                <a:solidFill>
                  <a:schemeClr val="bg2"/>
                </a:solidFill>
              </a:rPr>
              <a:t>3</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Journey scene 2" descr="/tmp/claude-0/-home-user-sgqy/b70fb111-7300-56ba-abe4-4b6e17d8c33e/scratchpad/journey/s2_pearl.png">    </p:cNvPr>
          <p:cNvPicPr>
            <a:picLocks noChangeAspect="1"/>
          </p:cNvPicPr>
          <p:nvPr/>
        </p:nvPicPr>
        <p:blipFill>
          <a:blip r:embed="rId1"/>
          <a:stretch>
            <a:fillRect/>
          </a:stretch>
        </p:blipFill>
        <p:spPr>
          <a:xfrm>
            <a:off x="0" y="0"/>
            <a:ext cx="12191695" cy="6858000"/>
          </a:xfrm>
          <a:prstGeom prst="rect">
            <a:avLst/>
          </a:prstGeom>
        </p:spPr>
      </p:pic>
      <p:sp>
        <p:nvSpPr>
          <p:cNvPr id="3"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THE SOLUTION  ·  CURB TO GATE 2 OF 2</a:t>
            </a:r>
            <a:endParaRPr lang="en-US" sz="1100" dirty="0"/>
          </a:p>
        </p:txBody>
      </p:sp>
      <p:sp>
        <p:nvSpPr>
          <p:cNvPr id="4"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Screened, boarded, always supervised</a:t>
            </a:r>
            <a:endParaRPr lang="en-US" sz="3400" dirty="0"/>
          </a:p>
        </p:txBody>
      </p:sp>
      <p:sp>
        <p:nvSpPr>
          <p:cNvPr id="5"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One identity clears screening and boarding while ISMP watches every step.</a:t>
            </a:r>
            <a:endParaRPr lang="en-US" sz="1600" dirty="0"/>
          </a:p>
        </p:txBody>
      </p:sp>
      <p:sp>
        <p:nvSpPr>
          <p:cNvPr id="6" name="Shape 3"/>
          <p:cNvSpPr/>
          <p:nvPr/>
        </p:nvSpPr>
        <p:spPr>
          <a:xfrm>
            <a:off x="1737360" y="3401568"/>
            <a:ext cx="1026871" cy="1580998"/>
          </a:xfrm>
          <a:prstGeom prst="line">
            <a:avLst/>
          </a:prstGeom>
          <a:noFill/>
          <a:ln w="12700">
            <a:solidFill>
              <a:schemeClr val="accent1">
                <a:alpha val="85000"/>
              </a:schemeClr>
            </a:solidFill>
            <a:prstDash val="solid"/>
          </a:ln>
        </p:spPr>
      </p:sp>
      <p:sp>
        <p:nvSpPr>
          <p:cNvPr id="7" name="Shape 4"/>
          <p:cNvSpPr/>
          <p:nvPr/>
        </p:nvSpPr>
        <p:spPr>
          <a:xfrm>
            <a:off x="6812280" y="2958084"/>
            <a:ext cx="2286000" cy="928116"/>
          </a:xfrm>
          <a:prstGeom prst="line">
            <a:avLst/>
          </a:prstGeom>
          <a:noFill/>
          <a:ln w="12700">
            <a:solidFill>
              <a:schemeClr val="accent1">
                <a:alpha val="85000"/>
              </a:schemeClr>
            </a:solidFill>
            <a:prstDash val="solid"/>
          </a:ln>
        </p:spPr>
      </p:sp>
      <p:sp>
        <p:nvSpPr>
          <p:cNvPr id="8" name="Shape 5"/>
          <p:cNvSpPr/>
          <p:nvPr/>
        </p:nvSpPr>
        <p:spPr>
          <a:xfrm>
            <a:off x="7635240" y="4913071"/>
            <a:ext cx="1463040" cy="527609"/>
          </a:xfrm>
          <a:prstGeom prst="line">
            <a:avLst/>
          </a:prstGeom>
          <a:noFill/>
          <a:ln w="12700">
            <a:solidFill>
              <a:schemeClr val="accent1">
                <a:alpha val="85000"/>
              </a:schemeClr>
            </a:solidFill>
            <a:prstDash val="solid"/>
          </a:ln>
        </p:spPr>
      </p:sp>
      <p:sp>
        <p:nvSpPr>
          <p:cNvPr id="9" name="Shape 6"/>
          <p:cNvSpPr/>
          <p:nvPr/>
        </p:nvSpPr>
        <p:spPr>
          <a:xfrm>
            <a:off x="1639697" y="4275644"/>
            <a:ext cx="844728" cy="229605"/>
          </a:xfrm>
          <a:prstGeom prst="line">
            <a:avLst/>
          </a:prstGeom>
          <a:noFill/>
          <a:ln w="12700">
            <a:solidFill>
              <a:schemeClr val="accent1"/>
            </a:solidFill>
            <a:prstDash val="dash"/>
          </a:ln>
        </p:spPr>
      </p:sp>
      <p:sp>
        <p:nvSpPr>
          <p:cNvPr id="10" name="Shape 7"/>
          <p:cNvSpPr/>
          <p:nvPr/>
        </p:nvSpPr>
        <p:spPr>
          <a:xfrm>
            <a:off x="2438705" y="4459529"/>
            <a:ext cx="91440" cy="91440"/>
          </a:xfrm>
          <a:prstGeom prst="ellipse">
            <a:avLst/>
          </a:prstGeom>
          <a:solidFill>
            <a:schemeClr val="accent1"/>
          </a:solidFill>
          <a:ln/>
        </p:spPr>
      </p:sp>
      <p:sp>
        <p:nvSpPr>
          <p:cNvPr id="11" name="Shape 8"/>
          <p:cNvSpPr/>
          <p:nvPr/>
        </p:nvSpPr>
        <p:spPr>
          <a:xfrm>
            <a:off x="722376" y="3666744"/>
            <a:ext cx="987552" cy="987552"/>
          </a:xfrm>
          <a:prstGeom prst="ellipse">
            <a:avLst/>
          </a:prstGeom>
          <a:solidFill>
            <a:schemeClr val="bg2"/>
          </a:solidFill>
          <a:ln w="19050">
            <a:solidFill>
              <a:schemeClr val="accent1"/>
            </a:solidFill>
            <a:prstDash val="solid"/>
          </a:ln>
          <a:effectLst>
            <a:outerShdw sx="100000" sy="100000" kx="0" ky="0" algn="bl" rotWithShape="0" blurRad="177800" dist="38100" dir="5400000">
              <a:srgbClr val="0A1628">
                <a:alpha val="8000"/>
              </a:srgbClr>
            </a:outerShdw>
          </a:effectLst>
        </p:spPr>
      </p:sp>
      <p:pic>
        <p:nvPicPr>
          <p:cNvPr id="12" name="Image 1" descr="/tmp/claude-0/-home-user-sgqy/b70fb111-7300-56ba-abe4-4b6e17d8c33e/scratchpad/journey/b_nova.png">    </p:cNvPr>
          <p:cNvPicPr>
            <a:picLocks noChangeAspect="1"/>
          </p:cNvPicPr>
          <p:nvPr/>
        </p:nvPicPr>
        <p:blipFill>
          <a:blip r:embed="rId2"/>
          <a:stretch>
            <a:fillRect/>
          </a:stretch>
        </p:blipFill>
        <p:spPr>
          <a:xfrm>
            <a:off x="777240" y="3721608"/>
            <a:ext cx="877824" cy="877824"/>
          </a:xfrm>
          <a:prstGeom prst="rect">
            <a:avLst/>
          </a:prstGeom>
        </p:spPr>
      </p:pic>
      <p:sp>
        <p:nvSpPr>
          <p:cNvPr id="13" name="Shape 9"/>
          <p:cNvSpPr/>
          <p:nvPr/>
        </p:nvSpPr>
        <p:spPr>
          <a:xfrm flipV="1">
            <a:off x="5277671" y="4700016"/>
            <a:ext cx="1292293" cy="774690"/>
          </a:xfrm>
          <a:prstGeom prst="line">
            <a:avLst/>
          </a:prstGeom>
          <a:noFill/>
          <a:ln w="12700">
            <a:solidFill>
              <a:schemeClr val="accent1"/>
            </a:solidFill>
            <a:prstDash val="dash"/>
          </a:ln>
        </p:spPr>
      </p:sp>
      <p:sp>
        <p:nvSpPr>
          <p:cNvPr id="14" name="Shape 10"/>
          <p:cNvSpPr/>
          <p:nvPr/>
        </p:nvSpPr>
        <p:spPr>
          <a:xfrm>
            <a:off x="6524244" y="4654296"/>
            <a:ext cx="91440" cy="91440"/>
          </a:xfrm>
          <a:prstGeom prst="ellipse">
            <a:avLst/>
          </a:prstGeom>
          <a:solidFill>
            <a:schemeClr val="accent1"/>
          </a:solidFill>
          <a:ln/>
        </p:spPr>
      </p:sp>
      <p:sp>
        <p:nvSpPr>
          <p:cNvPr id="15" name="Shape 11"/>
          <p:cNvSpPr/>
          <p:nvPr/>
        </p:nvSpPr>
        <p:spPr>
          <a:xfrm>
            <a:off x="4288536" y="5175504"/>
            <a:ext cx="1115568" cy="1115568"/>
          </a:xfrm>
          <a:prstGeom prst="ellipse">
            <a:avLst/>
          </a:prstGeom>
          <a:solidFill>
            <a:schemeClr val="bg2"/>
          </a:solidFill>
          <a:ln w="19050">
            <a:solidFill>
              <a:schemeClr val="accent1"/>
            </a:solidFill>
            <a:prstDash val="solid"/>
          </a:ln>
          <a:effectLst>
            <a:outerShdw sx="100000" sy="100000" kx="0" ky="0" algn="bl" rotWithShape="0" blurRad="177800" dist="38100" dir="5400000">
              <a:srgbClr val="0A1628">
                <a:alpha val="8000"/>
              </a:srgbClr>
            </a:outerShdw>
          </a:effectLst>
        </p:spPr>
      </p:sp>
      <p:pic>
        <p:nvPicPr>
          <p:cNvPr id="16" name="Image 2" descr="/tmp/claude-0/-home-user-sgqy/b70fb111-7300-56ba-abe4-4b6e17d8c33e/scratchpad/journey/b_ismp.png">    </p:cNvPr>
          <p:cNvPicPr>
            <a:picLocks noChangeAspect="1"/>
          </p:cNvPicPr>
          <p:nvPr/>
        </p:nvPicPr>
        <p:blipFill>
          <a:blip r:embed="rId3"/>
          <a:stretch>
            <a:fillRect/>
          </a:stretch>
        </p:blipFill>
        <p:spPr>
          <a:xfrm>
            <a:off x="4343400" y="5230368"/>
            <a:ext cx="1005840" cy="1005840"/>
          </a:xfrm>
          <a:prstGeom prst="rect">
            <a:avLst/>
          </a:prstGeom>
        </p:spPr>
      </p:pic>
      <p:sp>
        <p:nvSpPr>
          <p:cNvPr id="17" name="Shape 12"/>
          <p:cNvSpPr/>
          <p:nvPr/>
        </p:nvSpPr>
        <p:spPr>
          <a:xfrm flipV="1">
            <a:off x="3331159" y="3401568"/>
            <a:ext cx="600761" cy="311810"/>
          </a:xfrm>
          <a:prstGeom prst="line">
            <a:avLst/>
          </a:prstGeom>
          <a:noFill/>
          <a:ln w="9525">
            <a:solidFill>
              <a:schemeClr val="accent1"/>
            </a:solidFill>
            <a:prstDash val="dash"/>
          </a:ln>
        </p:spPr>
      </p:sp>
      <p:sp>
        <p:nvSpPr>
          <p:cNvPr id="18" name="Shape 13"/>
          <p:cNvSpPr/>
          <p:nvPr/>
        </p:nvSpPr>
        <p:spPr>
          <a:xfrm>
            <a:off x="3294583" y="3676802"/>
            <a:ext cx="73152" cy="73152"/>
          </a:xfrm>
          <a:prstGeom prst="ellipse">
            <a:avLst/>
          </a:prstGeom>
          <a:solidFill>
            <a:schemeClr val="accent1"/>
          </a:solidFill>
          <a:ln/>
        </p:spPr>
      </p:sp>
      <p:sp>
        <p:nvSpPr>
          <p:cNvPr id="19" name="Shape 14"/>
          <p:cNvSpPr/>
          <p:nvPr/>
        </p:nvSpPr>
        <p:spPr>
          <a:xfrm>
            <a:off x="3703320" y="3127248"/>
            <a:ext cx="2011680" cy="274320"/>
          </a:xfrm>
          <a:prstGeom prst="roundRect">
            <a:avLst>
              <a:gd name="adj" fmla="val 50000"/>
            </a:avLst>
          </a:prstGeom>
          <a:solidFill>
            <a:schemeClr val="bg2"/>
          </a:solidFill>
          <a:ln w="9525">
            <a:solidFill>
              <a:schemeClr val="accent1">
                <a:alpha val="70000"/>
              </a:schemeClr>
            </a:solidFill>
            <a:prstDash val="solid"/>
          </a:ln>
          <a:effectLst>
            <a:outerShdw sx="100000" sy="100000" kx="0" ky="0" algn="bl" rotWithShape="0" blurRad="177800" dist="38100" dir="5400000">
              <a:srgbClr val="0A1628">
                <a:alpha val="8000"/>
              </a:srgbClr>
            </a:outerShdw>
          </a:effectLst>
        </p:spPr>
      </p:sp>
      <p:sp>
        <p:nvSpPr>
          <p:cNvPr id="20" name="Text 15"/>
          <p:cNvSpPr txBox="1"/>
          <p:nvPr/>
        </p:nvSpPr>
        <p:spPr>
          <a:xfrm>
            <a:off x="3703320" y="3127248"/>
            <a:ext cx="2011680" cy="274320"/>
          </a:xfrm>
          <a:prstGeom prst="rect">
            <a:avLst/>
          </a:prstGeom>
          <a:noFill/>
          <a:ln/>
        </p:spPr>
        <p:txBody>
          <a:bodyPr wrap="square" lIns="0" tIns="0" rIns="0" bIns="0" rtlCol="0" anchor="ctr"/>
          <a:lstStyle/>
          <a:p>
            <a:pPr algn="ctr" indent="0" marL="0">
              <a:buNone/>
            </a:pPr>
            <a:r>
              <a:rPr lang="en-US" sz="1100" b="1" dirty="0">
                <a:solidFill>
                  <a:schemeClr val="accent1"/>
                </a:solidFill>
              </a:rPr>
              <a:t>Exception: officer alerted</a:t>
            </a:r>
            <a:endParaRPr lang="en-US" sz="1100" dirty="0"/>
          </a:p>
        </p:txBody>
      </p:sp>
      <p:sp>
        <p:nvSpPr>
          <p:cNvPr id="21" name="Shape 16"/>
          <p:cNvSpPr/>
          <p:nvPr/>
        </p:nvSpPr>
        <p:spPr>
          <a:xfrm>
            <a:off x="548640" y="2103120"/>
            <a:ext cx="2971800" cy="1298448"/>
          </a:xfrm>
          <a:prstGeom prst="roundRect">
            <a:avLst>
              <a:gd name="adj" fmla="val 11268"/>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22" name="Shape 17"/>
          <p:cNvSpPr/>
          <p:nvPr/>
        </p:nvSpPr>
        <p:spPr>
          <a:xfrm>
            <a:off x="749808" y="2286000"/>
            <a:ext cx="347472" cy="347472"/>
          </a:xfrm>
          <a:prstGeom prst="ellipse">
            <a:avLst/>
          </a:prstGeom>
          <a:solidFill>
            <a:schemeClr val="accent1"/>
          </a:solidFill>
          <a:ln/>
        </p:spPr>
      </p:sp>
      <p:sp>
        <p:nvSpPr>
          <p:cNvPr id="23" name="Text 18"/>
          <p:cNvSpPr txBox="1"/>
          <p:nvPr/>
        </p:nvSpPr>
        <p:spPr>
          <a:xfrm>
            <a:off x="749808" y="2286000"/>
            <a:ext cx="347472" cy="347472"/>
          </a:xfrm>
          <a:prstGeom prst="rect">
            <a:avLst/>
          </a:prstGeom>
          <a:noFill/>
          <a:ln/>
        </p:spPr>
        <p:txBody>
          <a:bodyPr wrap="square" lIns="0" tIns="0" rIns="0" bIns="0" rtlCol="0" anchor="ctr"/>
          <a:lstStyle/>
          <a:p>
            <a:pPr algn="ctr" indent="0" marL="0">
              <a:buNone/>
            </a:pPr>
            <a:r>
              <a:rPr lang="en-US" sz="1300" b="1" dirty="0">
                <a:solidFill>
                  <a:schemeClr val="bg2"/>
                </a:solidFill>
              </a:rPr>
              <a:t>4</a:t>
            </a:r>
            <a:endParaRPr lang="en-US" sz="1300" dirty="0"/>
          </a:p>
        </p:txBody>
      </p:sp>
      <p:sp>
        <p:nvSpPr>
          <p:cNvPr id="24" name="Text 19"/>
          <p:cNvSpPr txBox="1"/>
          <p:nvPr/>
        </p:nvSpPr>
        <p:spPr>
          <a:xfrm>
            <a:off x="1207008" y="2276856"/>
            <a:ext cx="2148840" cy="365760"/>
          </a:xfrm>
          <a:prstGeom prst="rect">
            <a:avLst/>
          </a:prstGeom>
          <a:noFill/>
          <a:ln/>
        </p:spPr>
        <p:txBody>
          <a:bodyPr wrap="square" lIns="0" tIns="0" rIns="0" bIns="0" rtlCol="0" anchor="ctr"/>
          <a:lstStyle/>
          <a:p>
            <a:pPr indent="0" marL="0">
              <a:buNone/>
            </a:pPr>
            <a:r>
              <a:rPr lang="en-US" sz="1500" b="1" dirty="0">
                <a:solidFill>
                  <a:schemeClr val="tx1"/>
                </a:solidFill>
              </a:rPr>
              <a:t>Pre-screening check</a:t>
            </a:r>
            <a:endParaRPr lang="en-US" sz="1500" dirty="0"/>
          </a:p>
        </p:txBody>
      </p:sp>
      <p:sp>
        <p:nvSpPr>
          <p:cNvPr id="25" name="Text 20"/>
          <p:cNvSpPr txBox="1"/>
          <p:nvPr/>
        </p:nvSpPr>
        <p:spPr>
          <a:xfrm>
            <a:off x="749808" y="2724912"/>
            <a:ext cx="2587752" cy="566928"/>
          </a:xfrm>
          <a:prstGeom prst="rect">
            <a:avLst/>
          </a:prstGeom>
          <a:noFill/>
          <a:ln/>
        </p:spPr>
        <p:txBody>
          <a:bodyPr wrap="square" lIns="0" tIns="0" rIns="0" bIns="0" rtlCol="0" anchor="t"/>
          <a:lstStyle/>
          <a:p>
            <a:pPr indent="0" marL="0">
              <a:buNone/>
            </a:pPr>
            <a:r>
              <a:rPr lang="en-US" sz="1300" dirty="0">
                <a:solidFill>
                  <a:schemeClr val="tx2"/>
                </a:solidFill>
              </a:rPr>
              <a:t>Before bags reach X-ray, the Nova+ reader confirms identity and pulls the clearance profile.</a:t>
            </a:r>
            <a:endParaRPr lang="en-US" sz="1300" dirty="0"/>
          </a:p>
        </p:txBody>
      </p:sp>
      <p:sp>
        <p:nvSpPr>
          <p:cNvPr id="26" name="Shape 21"/>
          <p:cNvSpPr/>
          <p:nvPr/>
        </p:nvSpPr>
        <p:spPr>
          <a:xfrm>
            <a:off x="9098280" y="3566160"/>
            <a:ext cx="2542032" cy="1298448"/>
          </a:xfrm>
          <a:prstGeom prst="roundRect">
            <a:avLst>
              <a:gd name="adj" fmla="val 11268"/>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27" name="Shape 22"/>
          <p:cNvSpPr/>
          <p:nvPr/>
        </p:nvSpPr>
        <p:spPr>
          <a:xfrm>
            <a:off x="9299448" y="3749040"/>
            <a:ext cx="347472" cy="347472"/>
          </a:xfrm>
          <a:prstGeom prst="ellipse">
            <a:avLst/>
          </a:prstGeom>
          <a:solidFill>
            <a:schemeClr val="accent1"/>
          </a:solidFill>
          <a:ln/>
        </p:spPr>
      </p:sp>
      <p:sp>
        <p:nvSpPr>
          <p:cNvPr id="28" name="Text 23"/>
          <p:cNvSpPr txBox="1"/>
          <p:nvPr/>
        </p:nvSpPr>
        <p:spPr>
          <a:xfrm>
            <a:off x="9299448" y="3749040"/>
            <a:ext cx="347472" cy="347472"/>
          </a:xfrm>
          <a:prstGeom prst="rect">
            <a:avLst/>
          </a:prstGeom>
          <a:noFill/>
          <a:ln/>
        </p:spPr>
        <p:txBody>
          <a:bodyPr wrap="square" lIns="0" tIns="0" rIns="0" bIns="0" rtlCol="0" anchor="ctr"/>
          <a:lstStyle/>
          <a:p>
            <a:pPr algn="ctr" indent="0" marL="0">
              <a:buNone/>
            </a:pPr>
            <a:r>
              <a:rPr lang="en-US" sz="1300" b="1" dirty="0">
                <a:solidFill>
                  <a:schemeClr val="bg2"/>
                </a:solidFill>
              </a:rPr>
              <a:t>5</a:t>
            </a:r>
            <a:endParaRPr lang="en-US" sz="1300" dirty="0"/>
          </a:p>
        </p:txBody>
      </p:sp>
      <p:sp>
        <p:nvSpPr>
          <p:cNvPr id="29" name="Text 24"/>
          <p:cNvSpPr txBox="1"/>
          <p:nvPr/>
        </p:nvSpPr>
        <p:spPr>
          <a:xfrm>
            <a:off x="9756648" y="3739896"/>
            <a:ext cx="1719072" cy="365760"/>
          </a:xfrm>
          <a:prstGeom prst="rect">
            <a:avLst/>
          </a:prstGeom>
          <a:noFill/>
          <a:ln/>
        </p:spPr>
        <p:txBody>
          <a:bodyPr wrap="square" lIns="0" tIns="0" rIns="0" bIns="0" rtlCol="0" anchor="ctr"/>
          <a:lstStyle/>
          <a:p>
            <a:pPr indent="0" marL="0">
              <a:buNone/>
            </a:pPr>
            <a:r>
              <a:rPr lang="en-US" sz="1500" b="1" dirty="0">
                <a:solidFill>
                  <a:schemeClr val="tx1"/>
                </a:solidFill>
              </a:rPr>
              <a:t>Smart boarding</a:t>
            </a:r>
            <a:endParaRPr lang="en-US" sz="1500" dirty="0"/>
          </a:p>
        </p:txBody>
      </p:sp>
      <p:sp>
        <p:nvSpPr>
          <p:cNvPr id="30" name="Text 25"/>
          <p:cNvSpPr txBox="1"/>
          <p:nvPr/>
        </p:nvSpPr>
        <p:spPr>
          <a:xfrm>
            <a:off x="9299448" y="4187952"/>
            <a:ext cx="2157984" cy="566928"/>
          </a:xfrm>
          <a:prstGeom prst="rect">
            <a:avLst/>
          </a:prstGeom>
          <a:noFill/>
          <a:ln/>
        </p:spPr>
        <p:txBody>
          <a:bodyPr wrap="square" lIns="0" tIns="0" rIns="0" bIns="0" rtlCol="0" anchor="t"/>
          <a:lstStyle/>
          <a:p>
            <a:pPr indent="0" marL="0">
              <a:buNone/>
            </a:pPr>
            <a:r>
              <a:rPr lang="en-US" sz="1300" dirty="0">
                <a:solidFill>
                  <a:schemeClr val="tx2"/>
                </a:solidFill>
              </a:rPr>
              <a:t>Face plus phone clears the boarding kiosk. No passport, no boarding pass.</a:t>
            </a:r>
            <a:endParaRPr lang="en-US" sz="1300" dirty="0"/>
          </a:p>
        </p:txBody>
      </p:sp>
      <p:sp>
        <p:nvSpPr>
          <p:cNvPr id="31" name="Shape 26"/>
          <p:cNvSpPr/>
          <p:nvPr/>
        </p:nvSpPr>
        <p:spPr>
          <a:xfrm>
            <a:off x="9098280" y="5001768"/>
            <a:ext cx="2542032" cy="1298448"/>
          </a:xfrm>
          <a:prstGeom prst="roundRect">
            <a:avLst>
              <a:gd name="adj" fmla="val 11268"/>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32" name="Shape 27"/>
          <p:cNvSpPr/>
          <p:nvPr/>
        </p:nvSpPr>
        <p:spPr>
          <a:xfrm>
            <a:off x="9299448" y="5184648"/>
            <a:ext cx="347472" cy="347472"/>
          </a:xfrm>
          <a:prstGeom prst="ellipse">
            <a:avLst/>
          </a:prstGeom>
          <a:solidFill>
            <a:schemeClr val="accent1"/>
          </a:solidFill>
          <a:ln/>
        </p:spPr>
      </p:sp>
      <p:sp>
        <p:nvSpPr>
          <p:cNvPr id="33" name="Text 28"/>
          <p:cNvSpPr txBox="1"/>
          <p:nvPr/>
        </p:nvSpPr>
        <p:spPr>
          <a:xfrm>
            <a:off x="9299448" y="5184648"/>
            <a:ext cx="347472" cy="347472"/>
          </a:xfrm>
          <a:prstGeom prst="rect">
            <a:avLst/>
          </a:prstGeom>
          <a:noFill/>
          <a:ln/>
        </p:spPr>
        <p:txBody>
          <a:bodyPr wrap="square" lIns="0" tIns="0" rIns="0" bIns="0" rtlCol="0" anchor="ctr"/>
          <a:lstStyle/>
          <a:p>
            <a:pPr algn="ctr" indent="0" marL="0">
              <a:buNone/>
            </a:pPr>
            <a:r>
              <a:rPr lang="en-US" sz="1300" b="1" dirty="0">
                <a:solidFill>
                  <a:schemeClr val="bg2"/>
                </a:solidFill>
              </a:rPr>
              <a:t>6</a:t>
            </a:r>
            <a:endParaRPr lang="en-US" sz="1300" dirty="0"/>
          </a:p>
        </p:txBody>
      </p:sp>
      <p:sp>
        <p:nvSpPr>
          <p:cNvPr id="34" name="Text 29"/>
          <p:cNvSpPr txBox="1"/>
          <p:nvPr/>
        </p:nvSpPr>
        <p:spPr>
          <a:xfrm>
            <a:off x="9756648" y="5175504"/>
            <a:ext cx="1719072" cy="365760"/>
          </a:xfrm>
          <a:prstGeom prst="rect">
            <a:avLst/>
          </a:prstGeom>
          <a:noFill/>
          <a:ln/>
        </p:spPr>
        <p:txBody>
          <a:bodyPr wrap="square" lIns="0" tIns="0" rIns="0" bIns="0" rtlCol="0" anchor="ctr"/>
          <a:lstStyle/>
          <a:p>
            <a:pPr indent="0" marL="0">
              <a:buNone/>
            </a:pPr>
            <a:r>
              <a:rPr lang="en-US" sz="1500" b="1" dirty="0">
                <a:solidFill>
                  <a:schemeClr val="tx1"/>
                </a:solidFill>
              </a:rPr>
              <a:t>Live oversight</a:t>
            </a:r>
            <a:endParaRPr lang="en-US" sz="1500" dirty="0"/>
          </a:p>
        </p:txBody>
      </p:sp>
      <p:sp>
        <p:nvSpPr>
          <p:cNvPr id="35" name="Text 30"/>
          <p:cNvSpPr txBox="1"/>
          <p:nvPr/>
        </p:nvSpPr>
        <p:spPr>
          <a:xfrm>
            <a:off x="9299448" y="5623560"/>
            <a:ext cx="2157984" cy="566928"/>
          </a:xfrm>
          <a:prstGeom prst="rect">
            <a:avLst/>
          </a:prstGeom>
          <a:noFill/>
          <a:ln/>
        </p:spPr>
        <p:txBody>
          <a:bodyPr wrap="square" lIns="0" tIns="0" rIns="0" bIns="0" rtlCol="0" anchor="t"/>
          <a:lstStyle/>
          <a:p>
            <a:pPr indent="0" marL="0">
              <a:buNone/>
            </a:pPr>
            <a:r>
              <a:rPr lang="en-US" sz="1300" dirty="0">
                <a:solidFill>
                  <a:schemeClr val="tx2"/>
                </a:solidFill>
              </a:rPr>
              <a:t>ISMP tracks every touchpoint and routes exceptions to officer tablets.</a:t>
            </a:r>
            <a:endParaRPr lang="en-US" sz="1300" dirty="0"/>
          </a:p>
        </p:txBody>
      </p:sp>
      <p:sp>
        <p:nvSpPr>
          <p:cNvPr id="36" name="Shape 31"/>
          <p:cNvSpPr/>
          <p:nvPr/>
        </p:nvSpPr>
        <p:spPr>
          <a:xfrm>
            <a:off x="2484425" y="4702759"/>
            <a:ext cx="559613" cy="559613"/>
          </a:xfrm>
          <a:prstGeom prst="ellipse">
            <a:avLst/>
          </a:prstGeom>
          <a:solidFill>
            <a:schemeClr val="accent1">
              <a:alpha val="16000"/>
            </a:schemeClr>
          </a:solidFill>
          <a:ln/>
        </p:spPr>
      </p:sp>
      <p:sp>
        <p:nvSpPr>
          <p:cNvPr id="37" name="Shape 32"/>
          <p:cNvSpPr/>
          <p:nvPr/>
        </p:nvSpPr>
        <p:spPr>
          <a:xfrm>
            <a:off x="2599639" y="4817974"/>
            <a:ext cx="329184" cy="329184"/>
          </a:xfrm>
          <a:prstGeom prst="ellipse">
            <a:avLst/>
          </a:prstGeom>
          <a:solidFill>
            <a:schemeClr val="accent1"/>
          </a:solidFill>
          <a:ln w="19050">
            <a:solidFill>
              <a:schemeClr val="bg2"/>
            </a:solidFill>
            <a:prstDash val="solid"/>
          </a:ln>
        </p:spPr>
      </p:sp>
      <p:sp>
        <p:nvSpPr>
          <p:cNvPr id="38" name="Text 33"/>
          <p:cNvSpPr txBox="1"/>
          <p:nvPr/>
        </p:nvSpPr>
        <p:spPr>
          <a:xfrm>
            <a:off x="2599639" y="4817974"/>
            <a:ext cx="329184" cy="329184"/>
          </a:xfrm>
          <a:prstGeom prst="rect">
            <a:avLst/>
          </a:prstGeom>
          <a:noFill/>
          <a:ln/>
        </p:spPr>
        <p:txBody>
          <a:bodyPr wrap="square" lIns="0" tIns="0" rIns="0" bIns="0" rtlCol="0" anchor="ctr"/>
          <a:lstStyle/>
          <a:p>
            <a:pPr algn="ctr" indent="0" marL="0">
              <a:buNone/>
            </a:pPr>
            <a:r>
              <a:rPr lang="en-US" sz="1300" b="1" dirty="0">
                <a:solidFill>
                  <a:schemeClr val="bg2"/>
                </a:solidFill>
              </a:rPr>
              <a:t>4</a:t>
            </a:r>
            <a:endParaRPr lang="en-US" sz="1300" dirty="0"/>
          </a:p>
        </p:txBody>
      </p:sp>
      <p:sp>
        <p:nvSpPr>
          <p:cNvPr id="39" name="Shape 34"/>
          <p:cNvSpPr/>
          <p:nvPr/>
        </p:nvSpPr>
        <p:spPr>
          <a:xfrm>
            <a:off x="6532474" y="2678278"/>
            <a:ext cx="559613" cy="559613"/>
          </a:xfrm>
          <a:prstGeom prst="ellipse">
            <a:avLst/>
          </a:prstGeom>
          <a:solidFill>
            <a:schemeClr val="accent1">
              <a:alpha val="16000"/>
            </a:schemeClr>
          </a:solidFill>
          <a:ln/>
        </p:spPr>
      </p:sp>
      <p:sp>
        <p:nvSpPr>
          <p:cNvPr id="40" name="Shape 35"/>
          <p:cNvSpPr/>
          <p:nvPr/>
        </p:nvSpPr>
        <p:spPr>
          <a:xfrm>
            <a:off x="6647688" y="2793492"/>
            <a:ext cx="329184" cy="329184"/>
          </a:xfrm>
          <a:prstGeom prst="ellipse">
            <a:avLst/>
          </a:prstGeom>
          <a:solidFill>
            <a:schemeClr val="accent1"/>
          </a:solidFill>
          <a:ln w="19050">
            <a:solidFill>
              <a:schemeClr val="bg2"/>
            </a:solidFill>
            <a:prstDash val="solid"/>
          </a:ln>
        </p:spPr>
      </p:sp>
      <p:sp>
        <p:nvSpPr>
          <p:cNvPr id="41" name="Text 36"/>
          <p:cNvSpPr txBox="1"/>
          <p:nvPr/>
        </p:nvSpPr>
        <p:spPr>
          <a:xfrm>
            <a:off x="6647688" y="2793492"/>
            <a:ext cx="329184" cy="329184"/>
          </a:xfrm>
          <a:prstGeom prst="rect">
            <a:avLst/>
          </a:prstGeom>
          <a:noFill/>
          <a:ln/>
        </p:spPr>
        <p:txBody>
          <a:bodyPr wrap="square" lIns="0" tIns="0" rIns="0" bIns="0" rtlCol="0" anchor="ctr"/>
          <a:lstStyle/>
          <a:p>
            <a:pPr algn="ctr" indent="0" marL="0">
              <a:buNone/>
            </a:pPr>
            <a:r>
              <a:rPr lang="en-US" sz="1300" b="1" dirty="0">
                <a:solidFill>
                  <a:schemeClr val="bg2"/>
                </a:solidFill>
              </a:rPr>
              <a:t>5</a:t>
            </a:r>
            <a:endParaRPr lang="en-US" sz="1300" dirty="0"/>
          </a:p>
        </p:txBody>
      </p:sp>
      <p:sp>
        <p:nvSpPr>
          <p:cNvPr id="42" name="Shape 37"/>
          <p:cNvSpPr/>
          <p:nvPr/>
        </p:nvSpPr>
        <p:spPr>
          <a:xfrm>
            <a:off x="7355434" y="4633265"/>
            <a:ext cx="559613" cy="559613"/>
          </a:xfrm>
          <a:prstGeom prst="ellipse">
            <a:avLst/>
          </a:prstGeom>
          <a:solidFill>
            <a:schemeClr val="accent1">
              <a:alpha val="16000"/>
            </a:schemeClr>
          </a:solidFill>
          <a:ln/>
        </p:spPr>
      </p:sp>
      <p:sp>
        <p:nvSpPr>
          <p:cNvPr id="43" name="Shape 38"/>
          <p:cNvSpPr/>
          <p:nvPr/>
        </p:nvSpPr>
        <p:spPr>
          <a:xfrm>
            <a:off x="7470648" y="4748479"/>
            <a:ext cx="329184" cy="329184"/>
          </a:xfrm>
          <a:prstGeom prst="ellipse">
            <a:avLst/>
          </a:prstGeom>
          <a:solidFill>
            <a:schemeClr val="accent1"/>
          </a:solidFill>
          <a:ln w="19050">
            <a:solidFill>
              <a:schemeClr val="bg2"/>
            </a:solidFill>
            <a:prstDash val="solid"/>
          </a:ln>
        </p:spPr>
      </p:sp>
      <p:sp>
        <p:nvSpPr>
          <p:cNvPr id="44" name="Text 39"/>
          <p:cNvSpPr txBox="1"/>
          <p:nvPr/>
        </p:nvSpPr>
        <p:spPr>
          <a:xfrm>
            <a:off x="7470648" y="4748479"/>
            <a:ext cx="329184" cy="329184"/>
          </a:xfrm>
          <a:prstGeom prst="rect">
            <a:avLst/>
          </a:prstGeom>
          <a:noFill/>
          <a:ln/>
        </p:spPr>
        <p:txBody>
          <a:bodyPr wrap="square" lIns="0" tIns="0" rIns="0" bIns="0" rtlCol="0" anchor="ctr"/>
          <a:lstStyle/>
          <a:p>
            <a:pPr algn="ctr" indent="0" marL="0">
              <a:buNone/>
            </a:pPr>
            <a:r>
              <a:rPr lang="en-US" sz="1300" b="1" dirty="0">
                <a:solidFill>
                  <a:schemeClr val="bg2"/>
                </a:solidFill>
              </a:rPr>
              <a:t>6</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INNOVATIVENESS</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The magic is the credential, not the gate</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A two-factor mobile biometric credential that airports deploy without holding biometric data.</a:t>
            </a:r>
            <a:endParaRPr lang="en-US" sz="1600" dirty="0"/>
          </a:p>
        </p:txBody>
      </p:sp>
      <p:sp>
        <p:nvSpPr>
          <p:cNvPr id="5" name="Shape 3"/>
          <p:cNvSpPr/>
          <p:nvPr/>
        </p:nvSpPr>
        <p:spPr>
          <a:xfrm>
            <a:off x="548640" y="2103120"/>
            <a:ext cx="4800600" cy="3931920"/>
          </a:xfrm>
          <a:prstGeom prst="roundRect">
            <a:avLst>
              <a:gd name="adj" fmla="val 3721"/>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6" name="Text 4"/>
          <p:cNvSpPr txBox="1"/>
          <p:nvPr/>
        </p:nvSpPr>
        <p:spPr>
          <a:xfrm>
            <a:off x="868680" y="2286000"/>
            <a:ext cx="41148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TWO FACTORS, ONE STRIDE</a:t>
            </a:r>
            <a:endParaRPr lang="en-US" sz="1100" dirty="0"/>
          </a:p>
        </p:txBody>
      </p:sp>
      <p:sp>
        <p:nvSpPr>
          <p:cNvPr id="7" name="Shape 5"/>
          <p:cNvSpPr/>
          <p:nvPr/>
        </p:nvSpPr>
        <p:spPr>
          <a:xfrm>
            <a:off x="868680" y="2743200"/>
            <a:ext cx="1051560" cy="1051560"/>
          </a:xfrm>
          <a:prstGeom prst="ellipse">
            <a:avLst/>
          </a:prstGeom>
          <a:solidFill>
            <a:schemeClr val="accent1">
              <a:alpha val="12000"/>
            </a:schemeClr>
          </a:solidFill>
          <a:ln w="15875">
            <a:solidFill>
              <a:schemeClr val="accent1"/>
            </a:solidFill>
            <a:prstDash val="solid"/>
          </a:ln>
        </p:spPr>
      </p:sp>
      <p:pic>
        <p:nvPicPr>
          <p:cNvPr id="8" name="Image 0" descr="preencoded.png">    </p:cNvPr>
          <p:cNvPicPr>
            <a:picLocks noChangeAspect="1"/>
          </p:cNvPicPr>
          <p:nvPr/>
        </p:nvPicPr>
        <p:blipFill>
          <a:blip r:embed="rId1"/>
          <a:stretch>
            <a:fillRect/>
          </a:stretch>
        </p:blipFill>
        <p:spPr>
          <a:xfrm>
            <a:off x="1143000" y="3017520"/>
            <a:ext cx="502920" cy="502920"/>
          </a:xfrm>
          <a:prstGeom prst="rect">
            <a:avLst/>
          </a:prstGeom>
        </p:spPr>
      </p:pic>
      <p:sp>
        <p:nvSpPr>
          <p:cNvPr id="9" name="Text 6"/>
          <p:cNvSpPr txBox="1"/>
          <p:nvPr/>
        </p:nvSpPr>
        <p:spPr>
          <a:xfrm>
            <a:off x="685800" y="3886200"/>
            <a:ext cx="1417320" cy="502920"/>
          </a:xfrm>
          <a:prstGeom prst="rect">
            <a:avLst/>
          </a:prstGeom>
          <a:noFill/>
          <a:ln/>
        </p:spPr>
        <p:txBody>
          <a:bodyPr wrap="square" lIns="0" tIns="0" rIns="0" bIns="0" rtlCol="0" anchor="t"/>
          <a:lstStyle/>
          <a:p>
            <a:pPr algn="ctr" indent="0" marL="0">
              <a:buNone/>
            </a:pPr>
            <a:r>
              <a:rPr lang="en-US" sz="1200" b="1" dirty="0">
                <a:solidFill>
                  <a:schemeClr val="tx1"/>
                </a:solidFill>
              </a:rPr>
              <a:t>Device credential</a:t>
            </a:r>
            <a:endParaRPr lang="en-US" sz="1200" dirty="0"/>
          </a:p>
          <a:p>
            <a:pPr algn="ctr" indent="0" marL="0">
              <a:buNone/>
            </a:pPr>
            <a:r>
              <a:rPr lang="en-US" sz="1200" dirty="0">
                <a:solidFill>
                  <a:schemeClr val="tx2"/>
                </a:solidFill>
              </a:rPr>
              <a:t>via BLE</a:t>
            </a:r>
            <a:endParaRPr lang="en-US" sz="1200" dirty="0"/>
          </a:p>
        </p:txBody>
      </p:sp>
      <p:sp>
        <p:nvSpPr>
          <p:cNvPr id="10" name="Text 7"/>
          <p:cNvSpPr txBox="1"/>
          <p:nvPr/>
        </p:nvSpPr>
        <p:spPr>
          <a:xfrm>
            <a:off x="1920240" y="3017520"/>
            <a:ext cx="457200" cy="502920"/>
          </a:xfrm>
          <a:prstGeom prst="rect">
            <a:avLst/>
          </a:prstGeom>
          <a:noFill/>
          <a:ln/>
        </p:spPr>
        <p:txBody>
          <a:bodyPr wrap="square" lIns="0" tIns="0" rIns="0" bIns="0" rtlCol="0" anchor="ctr"/>
          <a:lstStyle/>
          <a:p>
            <a:pPr algn="ctr" indent="0" marL="0">
              <a:buNone/>
            </a:pPr>
            <a:r>
              <a:rPr lang="en-US" sz="2600" b="1" dirty="0">
                <a:solidFill>
                  <a:schemeClr val="accent4"/>
                </a:solidFill>
              </a:rPr>
              <a:t>+</a:t>
            </a:r>
            <a:endParaRPr lang="en-US" sz="2600" dirty="0"/>
          </a:p>
        </p:txBody>
      </p:sp>
      <p:sp>
        <p:nvSpPr>
          <p:cNvPr id="11" name="Shape 8"/>
          <p:cNvSpPr/>
          <p:nvPr/>
        </p:nvSpPr>
        <p:spPr>
          <a:xfrm>
            <a:off x="2377440" y="2743200"/>
            <a:ext cx="1051560" cy="1051560"/>
          </a:xfrm>
          <a:prstGeom prst="ellipse">
            <a:avLst/>
          </a:prstGeom>
          <a:solidFill>
            <a:schemeClr val="accent1">
              <a:alpha val="12000"/>
            </a:schemeClr>
          </a:solidFill>
          <a:ln w="15875">
            <a:solidFill>
              <a:schemeClr val="accent1"/>
            </a:solidFill>
            <a:prstDash val="solid"/>
          </a:ln>
        </p:spPr>
      </p:sp>
      <p:pic>
        <p:nvPicPr>
          <p:cNvPr id="12" name="Image 1" descr="preencoded.png">    </p:cNvPr>
          <p:cNvPicPr>
            <a:picLocks noChangeAspect="1"/>
          </p:cNvPicPr>
          <p:nvPr/>
        </p:nvPicPr>
        <p:blipFill>
          <a:blip r:embed="rId2"/>
          <a:stretch>
            <a:fillRect/>
          </a:stretch>
        </p:blipFill>
        <p:spPr>
          <a:xfrm>
            <a:off x="2651760" y="3017520"/>
            <a:ext cx="502920" cy="502920"/>
          </a:xfrm>
          <a:prstGeom prst="rect">
            <a:avLst/>
          </a:prstGeom>
        </p:spPr>
      </p:pic>
      <p:sp>
        <p:nvSpPr>
          <p:cNvPr id="13" name="Text 9"/>
          <p:cNvSpPr txBox="1"/>
          <p:nvPr/>
        </p:nvSpPr>
        <p:spPr>
          <a:xfrm>
            <a:off x="2194560" y="3886200"/>
            <a:ext cx="1417320" cy="502920"/>
          </a:xfrm>
          <a:prstGeom prst="rect">
            <a:avLst/>
          </a:prstGeom>
          <a:noFill/>
          <a:ln/>
        </p:spPr>
        <p:txBody>
          <a:bodyPr wrap="square" lIns="0" tIns="0" rIns="0" bIns="0" rtlCol="0" anchor="t"/>
          <a:lstStyle/>
          <a:p>
            <a:pPr algn="ctr" indent="0" marL="0">
              <a:buNone/>
            </a:pPr>
            <a:r>
              <a:rPr lang="en-US" sz="1200" b="1" dirty="0">
                <a:solidFill>
                  <a:schemeClr val="tx1"/>
                </a:solidFill>
              </a:rPr>
              <a:t>Live face</a:t>
            </a:r>
            <a:endParaRPr lang="en-US" sz="1200" dirty="0"/>
          </a:p>
          <a:p>
            <a:pPr algn="ctr" indent="0" marL="0">
              <a:buNone/>
            </a:pPr>
            <a:r>
              <a:rPr lang="en-US" sz="1200" dirty="0">
                <a:solidFill>
                  <a:schemeClr val="tx2"/>
                </a:solidFill>
              </a:rPr>
              <a:t>on the move</a:t>
            </a:r>
            <a:endParaRPr lang="en-US" sz="1200" dirty="0"/>
          </a:p>
        </p:txBody>
      </p:sp>
      <p:sp>
        <p:nvSpPr>
          <p:cNvPr id="14" name="Text 10"/>
          <p:cNvSpPr txBox="1"/>
          <p:nvPr/>
        </p:nvSpPr>
        <p:spPr>
          <a:xfrm>
            <a:off x="3429000" y="3017520"/>
            <a:ext cx="457200" cy="502920"/>
          </a:xfrm>
          <a:prstGeom prst="rect">
            <a:avLst/>
          </a:prstGeom>
          <a:noFill/>
          <a:ln/>
        </p:spPr>
        <p:txBody>
          <a:bodyPr wrap="square" lIns="0" tIns="0" rIns="0" bIns="0" rtlCol="0" anchor="ctr"/>
          <a:lstStyle/>
          <a:p>
            <a:pPr algn="ctr" indent="0" marL="0">
              <a:buNone/>
            </a:pPr>
            <a:r>
              <a:rPr lang="en-US" sz="2600" b="1" dirty="0">
                <a:solidFill>
                  <a:schemeClr val="accent4"/>
                </a:solidFill>
              </a:rPr>
              <a:t>=</a:t>
            </a:r>
            <a:endParaRPr lang="en-US" sz="2600" dirty="0"/>
          </a:p>
        </p:txBody>
      </p:sp>
      <p:sp>
        <p:nvSpPr>
          <p:cNvPr id="15" name="Shape 11"/>
          <p:cNvSpPr/>
          <p:nvPr/>
        </p:nvSpPr>
        <p:spPr>
          <a:xfrm>
            <a:off x="3886200" y="2743200"/>
            <a:ext cx="1051560" cy="1051560"/>
          </a:xfrm>
          <a:prstGeom prst="ellipse">
            <a:avLst/>
          </a:prstGeom>
          <a:solidFill>
            <a:schemeClr val="accent2">
              <a:alpha val="12000"/>
            </a:schemeClr>
          </a:solidFill>
          <a:ln w="15875">
            <a:solidFill>
              <a:schemeClr val="accent2"/>
            </a:solidFill>
            <a:prstDash val="solid"/>
          </a:ln>
        </p:spPr>
      </p:sp>
      <p:pic>
        <p:nvPicPr>
          <p:cNvPr id="16" name="Image 2" descr="preencoded.png">    </p:cNvPr>
          <p:cNvPicPr>
            <a:picLocks noChangeAspect="1"/>
          </p:cNvPicPr>
          <p:nvPr/>
        </p:nvPicPr>
        <p:blipFill>
          <a:blip r:embed="rId3"/>
          <a:stretch>
            <a:fillRect/>
          </a:stretch>
        </p:blipFill>
        <p:spPr>
          <a:xfrm>
            <a:off x="4160520" y="3017520"/>
            <a:ext cx="502920" cy="502920"/>
          </a:xfrm>
          <a:prstGeom prst="rect">
            <a:avLst/>
          </a:prstGeom>
        </p:spPr>
      </p:pic>
      <p:sp>
        <p:nvSpPr>
          <p:cNvPr id="17" name="Text 12"/>
          <p:cNvSpPr txBox="1"/>
          <p:nvPr/>
        </p:nvSpPr>
        <p:spPr>
          <a:xfrm>
            <a:off x="3703320" y="3886200"/>
            <a:ext cx="1417320" cy="502920"/>
          </a:xfrm>
          <a:prstGeom prst="rect">
            <a:avLst/>
          </a:prstGeom>
          <a:noFill/>
          <a:ln/>
        </p:spPr>
        <p:txBody>
          <a:bodyPr wrap="square" lIns="0" tIns="0" rIns="0" bIns="0" rtlCol="0" anchor="t"/>
          <a:lstStyle/>
          <a:p>
            <a:pPr algn="ctr" indent="0" marL="0">
              <a:buNone/>
            </a:pPr>
            <a:r>
              <a:rPr lang="en-US" sz="1200" b="1" dirty="0">
                <a:solidFill>
                  <a:schemeClr val="tx1"/>
                </a:solidFill>
              </a:rPr>
              <a:t>Cleared</a:t>
            </a:r>
            <a:endParaRPr lang="en-US" sz="1200" dirty="0"/>
          </a:p>
          <a:p>
            <a:pPr algn="ctr" indent="0" marL="0">
              <a:buNone/>
            </a:pPr>
            <a:r>
              <a:rPr lang="en-US" sz="1200" dirty="0">
                <a:solidFill>
                  <a:schemeClr val="tx2"/>
                </a:solidFill>
              </a:rPr>
              <a:t>lane stays open</a:t>
            </a:r>
            <a:endParaRPr lang="en-US" sz="1200" dirty="0"/>
          </a:p>
        </p:txBody>
      </p:sp>
      <p:sp>
        <p:nvSpPr>
          <p:cNvPr id="18" name="Shape 13"/>
          <p:cNvSpPr/>
          <p:nvPr/>
        </p:nvSpPr>
        <p:spPr>
          <a:xfrm>
            <a:off x="868680" y="4645152"/>
            <a:ext cx="4160520" cy="0"/>
          </a:xfrm>
          <a:prstGeom prst="line">
            <a:avLst/>
          </a:prstGeom>
          <a:noFill/>
          <a:ln w="9525">
            <a:solidFill>
              <a:schemeClr val="accent5"/>
            </a:solidFill>
            <a:prstDash val="solid"/>
          </a:ln>
        </p:spPr>
      </p:sp>
      <p:pic>
        <p:nvPicPr>
          <p:cNvPr id="19" name="Image 3" descr="preencoded.png">    </p:cNvPr>
          <p:cNvPicPr>
            <a:picLocks noChangeAspect="1"/>
          </p:cNvPicPr>
          <p:nvPr/>
        </p:nvPicPr>
        <p:blipFill>
          <a:blip r:embed="rId4"/>
          <a:stretch>
            <a:fillRect/>
          </a:stretch>
        </p:blipFill>
        <p:spPr>
          <a:xfrm>
            <a:off x="868680" y="4828032"/>
            <a:ext cx="274320" cy="274320"/>
          </a:xfrm>
          <a:prstGeom prst="rect">
            <a:avLst/>
          </a:prstGeom>
        </p:spPr>
      </p:pic>
      <p:sp>
        <p:nvSpPr>
          <p:cNvPr id="20" name="Text 14"/>
          <p:cNvSpPr txBox="1"/>
          <p:nvPr/>
        </p:nvSpPr>
        <p:spPr>
          <a:xfrm>
            <a:off x="1280160" y="4791456"/>
            <a:ext cx="3749040" cy="347472"/>
          </a:xfrm>
          <a:prstGeom prst="rect">
            <a:avLst/>
          </a:prstGeom>
          <a:noFill/>
          <a:ln/>
        </p:spPr>
        <p:txBody>
          <a:bodyPr wrap="square" lIns="0" tIns="0" rIns="0" bIns="0" rtlCol="0" anchor="ctr"/>
          <a:lstStyle/>
          <a:p>
            <a:pPr indent="0" marL="0">
              <a:buNone/>
            </a:pPr>
            <a:r>
              <a:rPr lang="en-US" sz="1300" b="1" dirty="0">
                <a:solidFill>
                  <a:schemeClr val="tx1"/>
                </a:solidFill>
              </a:rPr>
              <a:t>Typical walk-through  </a:t>
            </a:r>
            <a:pPr indent="0" marL="0">
              <a:buNone/>
            </a:pPr>
            <a:r>
              <a:rPr lang="en-US" sz="1300" dirty="0">
                <a:solidFill>
                  <a:schemeClr val="tx2"/>
                </a:solidFill>
              </a:rPr>
              <a:t>face only (1FA)</a:t>
            </a:r>
            <a:endParaRPr lang="en-US" sz="1300" dirty="0"/>
          </a:p>
        </p:txBody>
      </p:sp>
      <p:pic>
        <p:nvPicPr>
          <p:cNvPr id="21" name="Image 4" descr="preencoded.png">    </p:cNvPr>
          <p:cNvPicPr>
            <a:picLocks noChangeAspect="1"/>
          </p:cNvPicPr>
          <p:nvPr/>
        </p:nvPicPr>
        <p:blipFill>
          <a:blip r:embed="rId5"/>
          <a:stretch>
            <a:fillRect/>
          </a:stretch>
        </p:blipFill>
        <p:spPr>
          <a:xfrm>
            <a:off x="868680" y="5303520"/>
            <a:ext cx="274320" cy="274320"/>
          </a:xfrm>
          <a:prstGeom prst="rect">
            <a:avLst/>
          </a:prstGeom>
        </p:spPr>
      </p:pic>
      <p:sp>
        <p:nvSpPr>
          <p:cNvPr id="22" name="Text 15"/>
          <p:cNvSpPr txBox="1"/>
          <p:nvPr/>
        </p:nvSpPr>
        <p:spPr>
          <a:xfrm>
            <a:off x="1280160" y="5266944"/>
            <a:ext cx="3749040" cy="347472"/>
          </a:xfrm>
          <a:prstGeom prst="rect">
            <a:avLst/>
          </a:prstGeom>
          <a:noFill/>
          <a:ln/>
        </p:spPr>
        <p:txBody>
          <a:bodyPr wrap="square" lIns="0" tIns="0" rIns="0" bIns="0" rtlCol="0" anchor="ctr"/>
          <a:lstStyle/>
          <a:p>
            <a:pPr indent="0" marL="0">
              <a:buNone/>
            </a:pPr>
            <a:r>
              <a:rPr lang="en-US" sz="1300" b="1" dirty="0">
                <a:solidFill>
                  <a:schemeClr val="tx1"/>
                </a:solidFill>
              </a:rPr>
              <a:t>FastPass  </a:t>
            </a:r>
            <a:pPr indent="0" marL="0">
              <a:buNone/>
            </a:pPr>
            <a:r>
              <a:rPr lang="en-US" sz="1300" dirty="0">
                <a:solidFill>
                  <a:schemeClr val="tx2"/>
                </a:solidFill>
              </a:rPr>
              <a:t>face + phone (2FA), on the move</a:t>
            </a:r>
            <a:endParaRPr lang="en-US" sz="1300" dirty="0"/>
          </a:p>
        </p:txBody>
      </p:sp>
      <p:sp>
        <p:nvSpPr>
          <p:cNvPr id="23" name="Shape 16"/>
          <p:cNvSpPr/>
          <p:nvPr/>
        </p:nvSpPr>
        <p:spPr>
          <a:xfrm>
            <a:off x="5715000" y="2157984"/>
            <a:ext cx="457200" cy="457200"/>
          </a:xfrm>
          <a:prstGeom prst="ellipse">
            <a:avLst/>
          </a:prstGeom>
          <a:solidFill>
            <a:schemeClr val="accent1">
              <a:alpha val="12000"/>
            </a:schemeClr>
          </a:solidFill>
          <a:ln/>
        </p:spPr>
      </p:sp>
      <p:pic>
        <p:nvPicPr>
          <p:cNvPr id="24" name="Image 5" descr="preencoded.png">    </p:cNvPr>
          <p:cNvPicPr>
            <a:picLocks noChangeAspect="1"/>
          </p:cNvPicPr>
          <p:nvPr/>
        </p:nvPicPr>
        <p:blipFill>
          <a:blip r:embed="rId6"/>
          <a:stretch>
            <a:fillRect/>
          </a:stretch>
        </p:blipFill>
        <p:spPr>
          <a:xfrm>
            <a:off x="5820156" y="2263140"/>
            <a:ext cx="246888" cy="246888"/>
          </a:xfrm>
          <a:prstGeom prst="rect">
            <a:avLst/>
          </a:prstGeom>
        </p:spPr>
      </p:pic>
      <p:sp>
        <p:nvSpPr>
          <p:cNvPr id="25" name="Text 17"/>
          <p:cNvSpPr txBox="1"/>
          <p:nvPr/>
        </p:nvSpPr>
        <p:spPr>
          <a:xfrm>
            <a:off x="6355080" y="2139696"/>
            <a:ext cx="5257800" cy="292608"/>
          </a:xfrm>
          <a:prstGeom prst="rect">
            <a:avLst/>
          </a:prstGeom>
          <a:noFill/>
          <a:ln/>
        </p:spPr>
        <p:txBody>
          <a:bodyPr wrap="square" lIns="0" tIns="0" rIns="0" bIns="0" rtlCol="0" anchor="ctr"/>
          <a:lstStyle/>
          <a:p>
            <a:pPr indent="0" marL="0">
              <a:buNone/>
            </a:pPr>
            <a:r>
              <a:rPr lang="en-US" sz="1600" b="1" dirty="0">
                <a:solidFill>
                  <a:schemeClr val="tx1"/>
                </a:solidFill>
              </a:rPr>
              <a:t>No biometric liability</a:t>
            </a:r>
            <a:endParaRPr lang="en-US" sz="1600" dirty="0"/>
          </a:p>
        </p:txBody>
      </p:sp>
      <p:sp>
        <p:nvSpPr>
          <p:cNvPr id="26" name="Text 18"/>
          <p:cNvSpPr txBox="1"/>
          <p:nvPr/>
        </p:nvSpPr>
        <p:spPr>
          <a:xfrm>
            <a:off x="6355080" y="2450592"/>
            <a:ext cx="5257800" cy="502920"/>
          </a:xfrm>
          <a:prstGeom prst="rect">
            <a:avLst/>
          </a:prstGeom>
          <a:noFill/>
          <a:ln/>
        </p:spPr>
        <p:txBody>
          <a:bodyPr wrap="square" lIns="0" tIns="0" rIns="0" bIns="0" rtlCol="0" anchor="t"/>
          <a:lstStyle/>
          <a:p>
            <a:pPr indent="0" marL="0">
              <a:buNone/>
            </a:pPr>
            <a:r>
              <a:rPr lang="en-US" sz="1400" dirty="0">
                <a:solidFill>
                  <a:schemeClr val="tx2"/>
                </a:solidFill>
              </a:rPr>
              <a:t>Credentials stay encrypted on the phone; the airport keeps none.</a:t>
            </a:r>
            <a:endParaRPr lang="en-US" sz="1400" dirty="0"/>
          </a:p>
        </p:txBody>
      </p:sp>
      <p:sp>
        <p:nvSpPr>
          <p:cNvPr id="27" name="Shape 19"/>
          <p:cNvSpPr/>
          <p:nvPr/>
        </p:nvSpPr>
        <p:spPr>
          <a:xfrm>
            <a:off x="5715000" y="3108960"/>
            <a:ext cx="457200" cy="457200"/>
          </a:xfrm>
          <a:prstGeom prst="ellipse">
            <a:avLst/>
          </a:prstGeom>
          <a:solidFill>
            <a:schemeClr val="accent1">
              <a:alpha val="12000"/>
            </a:schemeClr>
          </a:solidFill>
          <a:ln/>
        </p:spPr>
      </p:sp>
      <p:pic>
        <p:nvPicPr>
          <p:cNvPr id="28" name="Image 6" descr="preencoded.png">    </p:cNvPr>
          <p:cNvPicPr>
            <a:picLocks noChangeAspect="1"/>
          </p:cNvPicPr>
          <p:nvPr/>
        </p:nvPicPr>
        <p:blipFill>
          <a:blip r:embed="rId7"/>
          <a:stretch>
            <a:fillRect/>
          </a:stretch>
        </p:blipFill>
        <p:spPr>
          <a:xfrm>
            <a:off x="5820156" y="3214116"/>
            <a:ext cx="246888" cy="246888"/>
          </a:xfrm>
          <a:prstGeom prst="rect">
            <a:avLst/>
          </a:prstGeom>
        </p:spPr>
      </p:pic>
      <p:sp>
        <p:nvSpPr>
          <p:cNvPr id="29" name="Text 20"/>
          <p:cNvSpPr txBox="1"/>
          <p:nvPr/>
        </p:nvSpPr>
        <p:spPr>
          <a:xfrm>
            <a:off x="6355080" y="3090672"/>
            <a:ext cx="5257800" cy="292608"/>
          </a:xfrm>
          <a:prstGeom prst="rect">
            <a:avLst/>
          </a:prstGeom>
          <a:noFill/>
          <a:ln/>
        </p:spPr>
        <p:txBody>
          <a:bodyPr wrap="square" lIns="0" tIns="0" rIns="0" bIns="0" rtlCol="0" anchor="ctr"/>
          <a:lstStyle/>
          <a:p>
            <a:pPr indent="0" marL="0">
              <a:buNone/>
            </a:pPr>
            <a:r>
              <a:rPr lang="en-US" sz="1600" b="1" dirty="0">
                <a:solidFill>
                  <a:schemeClr val="tx1"/>
                </a:solidFill>
              </a:rPr>
              <a:t>Plugs into existing apps</a:t>
            </a:r>
            <a:endParaRPr lang="en-US" sz="1600" dirty="0"/>
          </a:p>
        </p:txBody>
      </p:sp>
      <p:sp>
        <p:nvSpPr>
          <p:cNvPr id="30" name="Text 21"/>
          <p:cNvSpPr txBox="1"/>
          <p:nvPr/>
        </p:nvSpPr>
        <p:spPr>
          <a:xfrm>
            <a:off x="6355080" y="3401568"/>
            <a:ext cx="5257800" cy="502920"/>
          </a:xfrm>
          <a:prstGeom prst="rect">
            <a:avLst/>
          </a:prstGeom>
          <a:noFill/>
          <a:ln/>
        </p:spPr>
        <p:txBody>
          <a:bodyPr wrap="square" lIns="0" tIns="0" rIns="0" bIns="0" rtlCol="0" anchor="t"/>
          <a:lstStyle/>
          <a:p>
            <a:pPr indent="0" marL="0">
              <a:buNone/>
            </a:pPr>
            <a:r>
              <a:rPr lang="en-US" sz="1400" dirty="0">
                <a:solidFill>
                  <a:schemeClr val="tx2"/>
                </a:solidFill>
              </a:rPr>
              <a:t>SDK inside the airport or airline app; links to immigration only where policy allows.</a:t>
            </a:r>
            <a:endParaRPr lang="en-US" sz="1400" dirty="0"/>
          </a:p>
        </p:txBody>
      </p:sp>
      <p:sp>
        <p:nvSpPr>
          <p:cNvPr id="31" name="Shape 22"/>
          <p:cNvSpPr/>
          <p:nvPr/>
        </p:nvSpPr>
        <p:spPr>
          <a:xfrm>
            <a:off x="5715000" y="4059936"/>
            <a:ext cx="457200" cy="457200"/>
          </a:xfrm>
          <a:prstGeom prst="ellipse">
            <a:avLst/>
          </a:prstGeom>
          <a:solidFill>
            <a:schemeClr val="accent1">
              <a:alpha val="12000"/>
            </a:schemeClr>
          </a:solidFill>
          <a:ln/>
        </p:spPr>
      </p:sp>
      <p:pic>
        <p:nvPicPr>
          <p:cNvPr id="32" name="Image 7" descr="preencoded.png">    </p:cNvPr>
          <p:cNvPicPr>
            <a:picLocks noChangeAspect="1"/>
          </p:cNvPicPr>
          <p:nvPr/>
        </p:nvPicPr>
        <p:blipFill>
          <a:blip r:embed="rId8"/>
          <a:stretch>
            <a:fillRect/>
          </a:stretch>
        </p:blipFill>
        <p:spPr>
          <a:xfrm>
            <a:off x="5820156" y="4165092"/>
            <a:ext cx="246888" cy="246888"/>
          </a:xfrm>
          <a:prstGeom prst="rect">
            <a:avLst/>
          </a:prstGeom>
        </p:spPr>
      </p:pic>
      <p:sp>
        <p:nvSpPr>
          <p:cNvPr id="33" name="Text 23"/>
          <p:cNvSpPr txBox="1"/>
          <p:nvPr/>
        </p:nvSpPr>
        <p:spPr>
          <a:xfrm>
            <a:off x="6355080" y="4041648"/>
            <a:ext cx="5257800" cy="292608"/>
          </a:xfrm>
          <a:prstGeom prst="rect">
            <a:avLst/>
          </a:prstGeom>
          <a:noFill/>
          <a:ln/>
        </p:spPr>
        <p:txBody>
          <a:bodyPr wrap="square" lIns="0" tIns="0" rIns="0" bIns="0" rtlCol="0" anchor="ctr"/>
          <a:lstStyle/>
          <a:p>
            <a:pPr indent="0" marL="0">
              <a:buNone/>
            </a:pPr>
            <a:r>
              <a:rPr lang="en-US" sz="1600" b="1" dirty="0">
                <a:solidFill>
                  <a:schemeClr val="tx1"/>
                </a:solidFill>
              </a:rPr>
              <a:t>Converged with security ops</a:t>
            </a:r>
            <a:endParaRPr lang="en-US" sz="1600" dirty="0"/>
          </a:p>
        </p:txBody>
      </p:sp>
      <p:sp>
        <p:nvSpPr>
          <p:cNvPr id="34" name="Text 24"/>
          <p:cNvSpPr txBox="1"/>
          <p:nvPr/>
        </p:nvSpPr>
        <p:spPr>
          <a:xfrm>
            <a:off x="6355080" y="4352544"/>
            <a:ext cx="5257800" cy="502920"/>
          </a:xfrm>
          <a:prstGeom prst="rect">
            <a:avLst/>
          </a:prstGeom>
          <a:noFill/>
          <a:ln/>
        </p:spPr>
        <p:txBody>
          <a:bodyPr wrap="square" lIns="0" tIns="0" rIns="0" bIns="0" rtlCol="0" anchor="t"/>
          <a:lstStyle/>
          <a:p>
            <a:pPr indent="0" marL="0">
              <a:buNone/>
            </a:pPr>
            <a:r>
              <a:rPr lang="en-US" sz="1400" dirty="0">
                <a:solidFill>
                  <a:schemeClr val="tx2"/>
                </a:solidFill>
              </a:rPr>
              <a:t>Clearance events sit beside CCTV, access control and incident data in ISMP.</a:t>
            </a:r>
            <a:endParaRPr lang="en-US" sz="1400" dirty="0"/>
          </a:p>
        </p:txBody>
      </p:sp>
      <p:sp>
        <p:nvSpPr>
          <p:cNvPr id="35" name="Shape 25"/>
          <p:cNvSpPr/>
          <p:nvPr/>
        </p:nvSpPr>
        <p:spPr>
          <a:xfrm>
            <a:off x="5715000" y="5010912"/>
            <a:ext cx="457200" cy="457200"/>
          </a:xfrm>
          <a:prstGeom prst="ellipse">
            <a:avLst/>
          </a:prstGeom>
          <a:solidFill>
            <a:schemeClr val="accent1">
              <a:alpha val="12000"/>
            </a:schemeClr>
          </a:solidFill>
          <a:ln/>
        </p:spPr>
      </p:sp>
      <p:pic>
        <p:nvPicPr>
          <p:cNvPr id="36" name="Image 8" descr="preencoded.png">    </p:cNvPr>
          <p:cNvPicPr>
            <a:picLocks noChangeAspect="1"/>
          </p:cNvPicPr>
          <p:nvPr/>
        </p:nvPicPr>
        <p:blipFill>
          <a:blip r:embed="rId9"/>
          <a:stretch>
            <a:fillRect/>
          </a:stretch>
        </p:blipFill>
        <p:spPr>
          <a:xfrm>
            <a:off x="5820156" y="5116068"/>
            <a:ext cx="246888" cy="246888"/>
          </a:xfrm>
          <a:prstGeom prst="rect">
            <a:avLst/>
          </a:prstGeom>
        </p:spPr>
      </p:pic>
      <p:sp>
        <p:nvSpPr>
          <p:cNvPr id="37" name="Text 26"/>
          <p:cNvSpPr txBox="1"/>
          <p:nvPr/>
        </p:nvSpPr>
        <p:spPr>
          <a:xfrm>
            <a:off x="6355080" y="4992624"/>
            <a:ext cx="5257800" cy="292608"/>
          </a:xfrm>
          <a:prstGeom prst="rect">
            <a:avLst/>
          </a:prstGeom>
          <a:noFill/>
          <a:ln/>
        </p:spPr>
        <p:txBody>
          <a:bodyPr wrap="square" lIns="0" tIns="0" rIns="0" bIns="0" rtlCol="0" anchor="ctr"/>
          <a:lstStyle/>
          <a:p>
            <a:pPr indent="0" marL="0">
              <a:buNone/>
            </a:pPr>
            <a:r>
              <a:rPr lang="en-US" sz="1600" b="1" dirty="0">
                <a:solidFill>
                  <a:schemeClr val="tx1"/>
                </a:solidFill>
              </a:rPr>
              <a:t>AI in the product and the build</a:t>
            </a:r>
            <a:endParaRPr lang="en-US" sz="1600" dirty="0"/>
          </a:p>
        </p:txBody>
      </p:sp>
      <p:sp>
        <p:nvSpPr>
          <p:cNvPr id="38" name="Text 27"/>
          <p:cNvSpPr txBox="1"/>
          <p:nvPr/>
        </p:nvSpPr>
        <p:spPr>
          <a:xfrm>
            <a:off x="6355080" y="5303520"/>
            <a:ext cx="5257800" cy="502920"/>
          </a:xfrm>
          <a:prstGeom prst="rect">
            <a:avLst/>
          </a:prstGeom>
          <a:noFill/>
          <a:ln/>
        </p:spPr>
        <p:txBody>
          <a:bodyPr wrap="square" lIns="0" tIns="0" rIns="0" bIns="0" rtlCol="0" anchor="t"/>
          <a:lstStyle/>
          <a:p>
            <a:pPr indent="0" marL="0">
              <a:buNone/>
            </a:pPr>
            <a:r>
              <a:rPr lang="en-US" sz="1400" dirty="0">
                <a:solidFill>
                  <a:schemeClr val="tx2"/>
                </a:solidFill>
              </a:rPr>
              <a:t>Face recognition on the move, an AI co-pilot for alarms, ~50% less front-end effort.</a:t>
            </a:r>
            <a:endParaRPr lang="en-US" sz="1400" dirty="0"/>
          </a:p>
        </p:txBody>
      </p:sp>
      <p:sp>
        <p:nvSpPr>
          <p:cNvPr id="39" name="Text 28"/>
          <p:cNvSpPr txBox="1"/>
          <p:nvPr/>
        </p:nvSpPr>
        <p:spPr>
          <a:xfrm>
            <a:off x="548640" y="6089904"/>
            <a:ext cx="11094415" cy="237744"/>
          </a:xfrm>
          <a:prstGeom prst="rect">
            <a:avLst/>
          </a:prstGeom>
          <a:noFill/>
          <a:ln/>
        </p:spPr>
        <p:txBody>
          <a:bodyPr wrap="square" lIns="0" tIns="0" rIns="0" bIns="0" rtlCol="0" anchor="ctr"/>
          <a:lstStyle/>
          <a:p>
            <a:pPr indent="0" marL="0">
              <a:buNone/>
            </a:pPr>
            <a:r>
              <a:rPr lang="en-US" sz="1000" dirty="0">
                <a:solidFill>
                  <a:schemeClr val="accent4"/>
                </a:solidFill>
              </a:rPr>
              <a:t>Sources: I9 peer benchmark (PT Asia, R8 Idemia brochure) · I7 AI engineering efficiency (internal) · I11 ISMP AI co-pilot (in design). See References.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BUSINESS IMPACT</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Three fewer staff per lane. Zero stops</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Watch the loop: today’s traveller stops four times; the FastPass traveller keeps walking.</a:t>
            </a:r>
            <a:endParaRPr lang="en-US" sz="1600" dirty="0"/>
          </a:p>
        </p:txBody>
      </p:sp>
      <p:sp>
        <p:nvSpPr>
          <p:cNvPr id="5" name="Shape 3"/>
          <p:cNvSpPr/>
          <p:nvPr/>
        </p:nvSpPr>
        <p:spPr>
          <a:xfrm>
            <a:off x="548640" y="2084832"/>
            <a:ext cx="11094415" cy="1938528"/>
          </a:xfrm>
          <a:prstGeom prst="roundRect">
            <a:avLst>
              <a:gd name="adj" fmla="val 7547"/>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6" name="Text 4"/>
          <p:cNvSpPr txBox="1"/>
          <p:nvPr/>
        </p:nvSpPr>
        <p:spPr>
          <a:xfrm>
            <a:off x="3900830" y="2231136"/>
            <a:ext cx="1463040" cy="237744"/>
          </a:xfrm>
          <a:prstGeom prst="rect">
            <a:avLst/>
          </a:prstGeom>
          <a:noFill/>
          <a:ln/>
        </p:spPr>
        <p:txBody>
          <a:bodyPr wrap="square" lIns="0" tIns="0" rIns="0" bIns="0" rtlCol="0" anchor="ctr"/>
          <a:lstStyle/>
          <a:p>
            <a:pPr algn="ctr" indent="0" marL="0">
              <a:buNone/>
            </a:pPr>
            <a:r>
              <a:rPr lang="en-US" sz="1100" b="1" spc="100" kern="0" dirty="0">
                <a:solidFill>
                  <a:schemeClr val="accent4"/>
                </a:solidFill>
              </a:rPr>
              <a:t>Check-in</a:t>
            </a:r>
            <a:endParaRPr lang="en-US" sz="1100" dirty="0"/>
          </a:p>
        </p:txBody>
      </p:sp>
      <p:sp>
        <p:nvSpPr>
          <p:cNvPr id="7" name="Text 5"/>
          <p:cNvSpPr txBox="1"/>
          <p:nvPr/>
        </p:nvSpPr>
        <p:spPr>
          <a:xfrm>
            <a:off x="5515661" y="2231136"/>
            <a:ext cx="1463040" cy="237744"/>
          </a:xfrm>
          <a:prstGeom prst="rect">
            <a:avLst/>
          </a:prstGeom>
          <a:noFill/>
          <a:ln/>
        </p:spPr>
        <p:txBody>
          <a:bodyPr wrap="square" lIns="0" tIns="0" rIns="0" bIns="0" rtlCol="0" anchor="ctr"/>
          <a:lstStyle/>
          <a:p>
            <a:pPr algn="ctr" indent="0" marL="0">
              <a:buNone/>
            </a:pPr>
            <a:r>
              <a:rPr lang="en-US" sz="1100" b="1" spc="100" kern="0" dirty="0">
                <a:solidFill>
                  <a:schemeClr val="accent4"/>
                </a:solidFill>
              </a:rPr>
              <a:t>Immigration</a:t>
            </a:r>
            <a:endParaRPr lang="en-US" sz="1100" dirty="0"/>
          </a:p>
        </p:txBody>
      </p:sp>
      <p:sp>
        <p:nvSpPr>
          <p:cNvPr id="8" name="Text 6"/>
          <p:cNvSpPr txBox="1"/>
          <p:nvPr/>
        </p:nvSpPr>
        <p:spPr>
          <a:xfrm>
            <a:off x="7130491" y="2231136"/>
            <a:ext cx="1463040" cy="237744"/>
          </a:xfrm>
          <a:prstGeom prst="rect">
            <a:avLst/>
          </a:prstGeom>
          <a:noFill/>
          <a:ln/>
        </p:spPr>
        <p:txBody>
          <a:bodyPr wrap="square" lIns="0" tIns="0" rIns="0" bIns="0" rtlCol="0" anchor="ctr"/>
          <a:lstStyle/>
          <a:p>
            <a:pPr algn="ctr" indent="0" marL="0">
              <a:buNone/>
            </a:pPr>
            <a:r>
              <a:rPr lang="en-US" sz="1100" b="1" spc="100" kern="0" dirty="0">
                <a:solidFill>
                  <a:schemeClr val="accent4"/>
                </a:solidFill>
              </a:rPr>
              <a:t>Screening</a:t>
            </a:r>
            <a:endParaRPr lang="en-US" sz="1100" dirty="0"/>
          </a:p>
        </p:txBody>
      </p:sp>
      <p:sp>
        <p:nvSpPr>
          <p:cNvPr id="9" name="Text 7"/>
          <p:cNvSpPr txBox="1"/>
          <p:nvPr/>
        </p:nvSpPr>
        <p:spPr>
          <a:xfrm>
            <a:off x="8745322" y="2231136"/>
            <a:ext cx="1463040" cy="237744"/>
          </a:xfrm>
          <a:prstGeom prst="rect">
            <a:avLst/>
          </a:prstGeom>
          <a:noFill/>
          <a:ln/>
        </p:spPr>
        <p:txBody>
          <a:bodyPr wrap="square" lIns="0" tIns="0" rIns="0" bIns="0" rtlCol="0" anchor="ctr"/>
          <a:lstStyle/>
          <a:p>
            <a:pPr algn="ctr" indent="0" marL="0">
              <a:buNone/>
            </a:pPr>
            <a:r>
              <a:rPr lang="en-US" sz="1100" b="1" spc="100" kern="0" dirty="0">
                <a:solidFill>
                  <a:schemeClr val="accent4"/>
                </a:solidFill>
              </a:rPr>
              <a:t>Boarding</a:t>
            </a:r>
            <a:endParaRPr lang="en-US" sz="1100" dirty="0"/>
          </a:p>
        </p:txBody>
      </p:sp>
      <p:pic>
        <p:nvPicPr>
          <p:cNvPr id="10" name="Today vs FastPass loop" descr="/tmp/claude-0/-home-user-sgqy/b70fb111-7300-56ba-abe4-4b6e17d8c33e/scratchpad/assets/pearl/flow_compare.gif">    </p:cNvPr>
          <p:cNvPicPr>
            <a:picLocks noChangeAspect="1"/>
          </p:cNvPicPr>
          <p:nvPr/>
        </p:nvPicPr>
        <p:blipFill>
          <a:blip r:embed="rId1"/>
          <a:stretch>
            <a:fillRect/>
          </a:stretch>
        </p:blipFill>
        <p:spPr>
          <a:xfrm>
            <a:off x="2788920" y="2542032"/>
            <a:ext cx="8531352" cy="1371600"/>
          </a:xfrm>
          <a:prstGeom prst="rect">
            <a:avLst/>
          </a:prstGeom>
        </p:spPr>
      </p:pic>
      <p:sp>
        <p:nvSpPr>
          <p:cNvPr id="11" name="Text 8"/>
          <p:cNvSpPr txBox="1"/>
          <p:nvPr/>
        </p:nvSpPr>
        <p:spPr>
          <a:xfrm>
            <a:off x="822960" y="2670048"/>
            <a:ext cx="1828800" cy="292608"/>
          </a:xfrm>
          <a:prstGeom prst="rect">
            <a:avLst/>
          </a:prstGeom>
          <a:noFill/>
          <a:ln/>
        </p:spPr>
        <p:txBody>
          <a:bodyPr wrap="square" lIns="0" tIns="0" rIns="0" bIns="0" rtlCol="0" anchor="ctr"/>
          <a:lstStyle/>
          <a:p>
            <a:pPr indent="0" marL="0">
              <a:buNone/>
            </a:pPr>
            <a:r>
              <a:rPr lang="en-US" sz="1700" b="1" dirty="0">
                <a:solidFill>
                  <a:schemeClr val="tx1"/>
                </a:solidFill>
              </a:rPr>
              <a:t>Today</a:t>
            </a:r>
            <a:endParaRPr lang="en-US" sz="1700" dirty="0"/>
          </a:p>
        </p:txBody>
      </p:sp>
      <p:sp>
        <p:nvSpPr>
          <p:cNvPr id="12" name="Text 9"/>
          <p:cNvSpPr txBox="1"/>
          <p:nvPr/>
        </p:nvSpPr>
        <p:spPr>
          <a:xfrm>
            <a:off x="822960" y="2962656"/>
            <a:ext cx="1920240" cy="237744"/>
          </a:xfrm>
          <a:prstGeom prst="rect">
            <a:avLst/>
          </a:prstGeom>
          <a:noFill/>
          <a:ln/>
        </p:spPr>
        <p:txBody>
          <a:bodyPr wrap="square" lIns="0" tIns="0" rIns="0" bIns="0" rtlCol="0" anchor="ctr"/>
          <a:lstStyle/>
          <a:p>
            <a:pPr indent="0" marL="0">
              <a:buNone/>
            </a:pPr>
            <a:r>
              <a:rPr lang="en-US" sz="1200" dirty="0">
                <a:solidFill>
                  <a:schemeClr val="accent3"/>
                </a:solidFill>
              </a:rPr>
              <a:t>4 stops · ~3 staff per lane</a:t>
            </a:r>
            <a:endParaRPr lang="en-US" sz="1200" dirty="0"/>
          </a:p>
        </p:txBody>
      </p:sp>
      <p:sp>
        <p:nvSpPr>
          <p:cNvPr id="13" name="Text 10"/>
          <p:cNvSpPr txBox="1"/>
          <p:nvPr/>
        </p:nvSpPr>
        <p:spPr>
          <a:xfrm>
            <a:off x="822960" y="3291840"/>
            <a:ext cx="1920240" cy="292608"/>
          </a:xfrm>
          <a:prstGeom prst="rect">
            <a:avLst/>
          </a:prstGeom>
          <a:noFill/>
          <a:ln/>
        </p:spPr>
        <p:txBody>
          <a:bodyPr wrap="square" lIns="0" tIns="0" rIns="0" bIns="0" rtlCol="0" anchor="ctr"/>
          <a:lstStyle/>
          <a:p>
            <a:pPr indent="0" marL="0">
              <a:buNone/>
            </a:pPr>
            <a:r>
              <a:rPr lang="en-US" sz="1700" b="1" dirty="0">
                <a:solidFill>
                  <a:schemeClr val="accent1"/>
                </a:solidFill>
              </a:rPr>
              <a:t>With FastPass</a:t>
            </a:r>
            <a:endParaRPr lang="en-US" sz="1700" dirty="0"/>
          </a:p>
        </p:txBody>
      </p:sp>
      <p:sp>
        <p:nvSpPr>
          <p:cNvPr id="14" name="Text 11"/>
          <p:cNvSpPr txBox="1"/>
          <p:nvPr/>
        </p:nvSpPr>
        <p:spPr>
          <a:xfrm>
            <a:off x="822960" y="3584448"/>
            <a:ext cx="1965960" cy="237744"/>
          </a:xfrm>
          <a:prstGeom prst="rect">
            <a:avLst/>
          </a:prstGeom>
          <a:noFill/>
          <a:ln/>
        </p:spPr>
        <p:txBody>
          <a:bodyPr wrap="square" lIns="0" tIns="0" rIns="0" bIns="0" rtlCol="0" anchor="ctr"/>
          <a:lstStyle/>
          <a:p>
            <a:pPr indent="0" marL="0">
              <a:buNone/>
            </a:pPr>
            <a:r>
              <a:rPr lang="en-US" sz="1200" dirty="0">
                <a:solidFill>
                  <a:schemeClr val="accent2"/>
                </a:solidFill>
              </a:rPr>
              <a:t>0 stops · exceptions only</a:t>
            </a:r>
            <a:endParaRPr lang="en-US" sz="1200" dirty="0"/>
          </a:p>
        </p:txBody>
      </p:sp>
      <p:sp>
        <p:nvSpPr>
          <p:cNvPr id="15" name="Shape 12"/>
          <p:cNvSpPr/>
          <p:nvPr/>
        </p:nvSpPr>
        <p:spPr>
          <a:xfrm>
            <a:off x="548640" y="4224528"/>
            <a:ext cx="3515258" cy="1847088"/>
          </a:xfrm>
          <a:prstGeom prst="roundRect">
            <a:avLst>
              <a:gd name="adj" fmla="val 7921"/>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16" name="Shape 13"/>
          <p:cNvSpPr/>
          <p:nvPr/>
        </p:nvSpPr>
        <p:spPr>
          <a:xfrm>
            <a:off x="822960" y="4453128"/>
            <a:ext cx="384048" cy="384048"/>
          </a:xfrm>
          <a:prstGeom prst="ellipse">
            <a:avLst/>
          </a:prstGeom>
          <a:solidFill>
            <a:schemeClr val="accent1">
              <a:alpha val="12000"/>
            </a:schemeClr>
          </a:solidFill>
          <a:ln/>
        </p:spPr>
      </p:sp>
      <p:pic>
        <p:nvPicPr>
          <p:cNvPr id="17" name="Image 1" descr="preencoded.png">    </p:cNvPr>
          <p:cNvPicPr>
            <a:picLocks noChangeAspect="1"/>
          </p:cNvPicPr>
          <p:nvPr/>
        </p:nvPicPr>
        <p:blipFill>
          <a:blip r:embed="rId2"/>
          <a:stretch>
            <a:fillRect/>
          </a:stretch>
        </p:blipFill>
        <p:spPr>
          <a:xfrm>
            <a:off x="911291" y="4541459"/>
            <a:ext cx="207386" cy="207386"/>
          </a:xfrm>
          <a:prstGeom prst="rect">
            <a:avLst/>
          </a:prstGeom>
        </p:spPr>
      </p:pic>
      <p:sp>
        <p:nvSpPr>
          <p:cNvPr id="18" name="Text 14"/>
          <p:cNvSpPr txBox="1"/>
          <p:nvPr/>
        </p:nvSpPr>
        <p:spPr>
          <a:xfrm>
            <a:off x="1316736" y="4453128"/>
            <a:ext cx="2509418" cy="384048"/>
          </a:xfrm>
          <a:prstGeom prst="rect">
            <a:avLst/>
          </a:prstGeom>
          <a:noFill/>
          <a:ln/>
        </p:spPr>
        <p:txBody>
          <a:bodyPr wrap="square" lIns="0" tIns="0" rIns="0" bIns="0" rtlCol="0" anchor="ctr"/>
          <a:lstStyle/>
          <a:p>
            <a:pPr indent="0" marL="0">
              <a:buNone/>
            </a:pPr>
            <a:r>
              <a:rPr lang="en-US" sz="1100" b="1" spc="200" kern="0" dirty="0">
                <a:solidFill>
                  <a:schemeClr val="accent1"/>
                </a:solidFill>
              </a:rPr>
              <a:t>PASSENGERS</a:t>
            </a:r>
            <a:endParaRPr lang="en-US" sz="1100" dirty="0"/>
          </a:p>
        </p:txBody>
      </p:sp>
      <p:sp>
        <p:nvSpPr>
          <p:cNvPr id="19" name="Text 15"/>
          <p:cNvSpPr txBox="1"/>
          <p:nvPr/>
        </p:nvSpPr>
        <p:spPr>
          <a:xfrm>
            <a:off x="822960" y="4901184"/>
            <a:ext cx="3058058" cy="512064"/>
          </a:xfrm>
          <a:prstGeom prst="rect">
            <a:avLst/>
          </a:prstGeom>
          <a:noFill/>
          <a:ln/>
        </p:spPr>
        <p:txBody>
          <a:bodyPr wrap="square" lIns="0" tIns="0" rIns="0" bIns="0" rtlCol="0" anchor="ctr"/>
          <a:lstStyle/>
          <a:p>
            <a:pPr indent="0" marL="0">
              <a:buNone/>
            </a:pPr>
            <a:r>
              <a:rPr lang="en-US" sz="3200" b="1" dirty="0">
                <a:solidFill>
                  <a:schemeClr val="tx1"/>
                </a:solidFill>
              </a:rPr>
              <a:t>8–11 min</a:t>
            </a:r>
            <a:endParaRPr lang="en-US" sz="3200" dirty="0"/>
          </a:p>
        </p:txBody>
      </p:sp>
      <p:sp>
        <p:nvSpPr>
          <p:cNvPr id="20" name="Text 16"/>
          <p:cNvSpPr txBox="1"/>
          <p:nvPr/>
        </p:nvSpPr>
        <p:spPr>
          <a:xfrm>
            <a:off x="822960" y="5413248"/>
            <a:ext cx="3058058" cy="256032"/>
          </a:xfrm>
          <a:prstGeom prst="rect">
            <a:avLst/>
          </a:prstGeom>
          <a:noFill/>
          <a:ln/>
        </p:spPr>
        <p:txBody>
          <a:bodyPr wrap="square" lIns="0" tIns="0" rIns="0" bIns="0" rtlCol="0" anchor="ctr"/>
          <a:lstStyle/>
          <a:p>
            <a:pPr indent="0" marL="0">
              <a:buNone/>
            </a:pPr>
            <a:r>
              <a:rPr lang="en-US" sz="1400" b="1" dirty="0">
                <a:solidFill>
                  <a:schemeClr val="tx1"/>
                </a:solidFill>
              </a:rPr>
              <a:t>curb to gate (target)</a:t>
            </a:r>
            <a:endParaRPr lang="en-US" sz="1400" dirty="0"/>
          </a:p>
        </p:txBody>
      </p:sp>
      <p:sp>
        <p:nvSpPr>
          <p:cNvPr id="21" name="Text 17"/>
          <p:cNvSpPr txBox="1"/>
          <p:nvPr/>
        </p:nvSpPr>
        <p:spPr>
          <a:xfrm>
            <a:off x="822960" y="5687568"/>
            <a:ext cx="3058058" cy="274320"/>
          </a:xfrm>
          <a:prstGeom prst="rect">
            <a:avLst/>
          </a:prstGeom>
          <a:noFill/>
          <a:ln/>
        </p:spPr>
        <p:txBody>
          <a:bodyPr wrap="square" lIns="0" tIns="0" rIns="0" bIns="0" rtlCol="0" anchor="ctr"/>
          <a:lstStyle/>
          <a:p>
            <a:pPr indent="0" marL="0">
              <a:buNone/>
            </a:pPr>
            <a:r>
              <a:rPr lang="en-US" sz="1300" dirty="0">
                <a:solidFill>
                  <a:schemeClr val="tx2"/>
                </a:solidFill>
              </a:rPr>
              <a:t>No queues, no passport at each stop</a:t>
            </a:r>
            <a:endParaRPr lang="en-US" sz="1300" dirty="0"/>
          </a:p>
        </p:txBody>
      </p:sp>
      <p:sp>
        <p:nvSpPr>
          <p:cNvPr id="22" name="Shape 18"/>
          <p:cNvSpPr/>
          <p:nvPr/>
        </p:nvSpPr>
        <p:spPr>
          <a:xfrm>
            <a:off x="4338218" y="4224528"/>
            <a:ext cx="3515258" cy="1847088"/>
          </a:xfrm>
          <a:prstGeom prst="roundRect">
            <a:avLst>
              <a:gd name="adj" fmla="val 7921"/>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23" name="Shape 19"/>
          <p:cNvSpPr/>
          <p:nvPr/>
        </p:nvSpPr>
        <p:spPr>
          <a:xfrm>
            <a:off x="4612538" y="4453128"/>
            <a:ext cx="384048" cy="384048"/>
          </a:xfrm>
          <a:prstGeom prst="ellipse">
            <a:avLst/>
          </a:prstGeom>
          <a:solidFill>
            <a:schemeClr val="accent1">
              <a:alpha val="12000"/>
            </a:schemeClr>
          </a:solidFill>
          <a:ln/>
        </p:spPr>
      </p:sp>
      <p:pic>
        <p:nvPicPr>
          <p:cNvPr id="24" name="Image 2" descr="preencoded.png">    </p:cNvPr>
          <p:cNvPicPr>
            <a:picLocks noChangeAspect="1"/>
          </p:cNvPicPr>
          <p:nvPr/>
        </p:nvPicPr>
        <p:blipFill>
          <a:blip r:embed="rId3"/>
          <a:stretch>
            <a:fillRect/>
          </a:stretch>
        </p:blipFill>
        <p:spPr>
          <a:xfrm>
            <a:off x="4700869" y="4541459"/>
            <a:ext cx="207386" cy="207386"/>
          </a:xfrm>
          <a:prstGeom prst="rect">
            <a:avLst/>
          </a:prstGeom>
        </p:spPr>
      </p:pic>
      <p:sp>
        <p:nvSpPr>
          <p:cNvPr id="25" name="Text 20"/>
          <p:cNvSpPr txBox="1"/>
          <p:nvPr/>
        </p:nvSpPr>
        <p:spPr>
          <a:xfrm>
            <a:off x="5106314" y="4453128"/>
            <a:ext cx="2509418" cy="384048"/>
          </a:xfrm>
          <a:prstGeom prst="rect">
            <a:avLst/>
          </a:prstGeom>
          <a:noFill/>
          <a:ln/>
        </p:spPr>
        <p:txBody>
          <a:bodyPr wrap="square" lIns="0" tIns="0" rIns="0" bIns="0" rtlCol="0" anchor="ctr"/>
          <a:lstStyle/>
          <a:p>
            <a:pPr indent="0" marL="0">
              <a:buNone/>
            </a:pPr>
            <a:r>
              <a:rPr lang="en-US" sz="1100" b="1" spc="200" kern="0" dirty="0">
                <a:solidFill>
                  <a:schemeClr val="accent1"/>
                </a:solidFill>
              </a:rPr>
              <a:t>OPERATORS</a:t>
            </a:r>
            <a:endParaRPr lang="en-US" sz="1100" dirty="0"/>
          </a:p>
        </p:txBody>
      </p:sp>
      <p:sp>
        <p:nvSpPr>
          <p:cNvPr id="26" name="Text 21"/>
          <p:cNvSpPr txBox="1"/>
          <p:nvPr/>
        </p:nvSpPr>
        <p:spPr>
          <a:xfrm>
            <a:off x="4612538" y="4901184"/>
            <a:ext cx="3058058" cy="512064"/>
          </a:xfrm>
          <a:prstGeom prst="rect">
            <a:avLst/>
          </a:prstGeom>
          <a:noFill/>
          <a:ln/>
        </p:spPr>
        <p:txBody>
          <a:bodyPr wrap="square" lIns="0" tIns="0" rIns="0" bIns="0" rtlCol="0" anchor="ctr"/>
          <a:lstStyle/>
          <a:p>
            <a:pPr indent="0" marL="0">
              <a:buNone/>
            </a:pPr>
            <a:r>
              <a:rPr lang="en-US" sz="3200" b="1" dirty="0">
                <a:solidFill>
                  <a:schemeClr val="tx1"/>
                </a:solidFill>
              </a:rPr>
              <a:t>3 fewer</a:t>
            </a:r>
            <a:endParaRPr lang="en-US" sz="3200" dirty="0"/>
          </a:p>
        </p:txBody>
      </p:sp>
      <p:sp>
        <p:nvSpPr>
          <p:cNvPr id="27" name="Text 22"/>
          <p:cNvSpPr txBox="1"/>
          <p:nvPr/>
        </p:nvSpPr>
        <p:spPr>
          <a:xfrm>
            <a:off x="4612538" y="5413248"/>
            <a:ext cx="3058058" cy="256032"/>
          </a:xfrm>
          <a:prstGeom prst="rect">
            <a:avLst/>
          </a:prstGeom>
          <a:noFill/>
          <a:ln/>
        </p:spPr>
        <p:txBody>
          <a:bodyPr wrap="square" lIns="0" tIns="0" rIns="0" bIns="0" rtlCol="0" anchor="ctr"/>
          <a:lstStyle/>
          <a:p>
            <a:pPr indent="0" marL="0">
              <a:buNone/>
            </a:pPr>
            <a:r>
              <a:rPr lang="en-US" sz="1400" b="1" dirty="0">
                <a:solidFill>
                  <a:schemeClr val="tx1"/>
                </a:solidFill>
              </a:rPr>
              <a:t>staff per lane</a:t>
            </a:r>
            <a:endParaRPr lang="en-US" sz="1400" dirty="0"/>
          </a:p>
        </p:txBody>
      </p:sp>
      <p:sp>
        <p:nvSpPr>
          <p:cNvPr id="28" name="Text 23"/>
          <p:cNvSpPr txBox="1"/>
          <p:nvPr/>
        </p:nvSpPr>
        <p:spPr>
          <a:xfrm>
            <a:off x="4612538" y="5687568"/>
            <a:ext cx="3058058" cy="274320"/>
          </a:xfrm>
          <a:prstGeom prst="rect">
            <a:avLst/>
          </a:prstGeom>
          <a:noFill/>
          <a:ln/>
        </p:spPr>
        <p:txBody>
          <a:bodyPr wrap="square" lIns="0" tIns="0" rIns="0" bIns="0" rtlCol="0" anchor="ctr"/>
          <a:lstStyle/>
          <a:p>
            <a:pPr indent="0" marL="0">
              <a:buNone/>
            </a:pPr>
            <a:r>
              <a:rPr lang="en-US" sz="1300" dirty="0">
                <a:solidFill>
                  <a:schemeClr val="tx2"/>
                </a:solidFill>
              </a:rPr>
              <a:t>More capacity without new terminal space</a:t>
            </a:r>
            <a:endParaRPr lang="en-US" sz="1300" dirty="0"/>
          </a:p>
        </p:txBody>
      </p:sp>
      <p:sp>
        <p:nvSpPr>
          <p:cNvPr id="29" name="Shape 24"/>
          <p:cNvSpPr/>
          <p:nvPr/>
        </p:nvSpPr>
        <p:spPr>
          <a:xfrm>
            <a:off x="8127797" y="4224528"/>
            <a:ext cx="3515258" cy="1847088"/>
          </a:xfrm>
          <a:prstGeom prst="roundRect">
            <a:avLst>
              <a:gd name="adj" fmla="val 7921"/>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30" name="Shape 25"/>
          <p:cNvSpPr/>
          <p:nvPr/>
        </p:nvSpPr>
        <p:spPr>
          <a:xfrm>
            <a:off x="8402117" y="4453128"/>
            <a:ext cx="384048" cy="384048"/>
          </a:xfrm>
          <a:prstGeom prst="ellipse">
            <a:avLst/>
          </a:prstGeom>
          <a:solidFill>
            <a:schemeClr val="accent1">
              <a:alpha val="12000"/>
            </a:schemeClr>
          </a:solidFill>
          <a:ln/>
        </p:spPr>
      </p:sp>
      <p:pic>
        <p:nvPicPr>
          <p:cNvPr id="31" name="Image 3" descr="preencoded.png">    </p:cNvPr>
          <p:cNvPicPr>
            <a:picLocks noChangeAspect="1"/>
          </p:cNvPicPr>
          <p:nvPr/>
        </p:nvPicPr>
        <p:blipFill>
          <a:blip r:embed="rId4"/>
          <a:stretch>
            <a:fillRect/>
          </a:stretch>
        </p:blipFill>
        <p:spPr>
          <a:xfrm>
            <a:off x="8490448" y="4541459"/>
            <a:ext cx="207386" cy="207386"/>
          </a:xfrm>
          <a:prstGeom prst="rect">
            <a:avLst/>
          </a:prstGeom>
        </p:spPr>
      </p:pic>
      <p:sp>
        <p:nvSpPr>
          <p:cNvPr id="32" name="Text 26"/>
          <p:cNvSpPr txBox="1"/>
          <p:nvPr/>
        </p:nvSpPr>
        <p:spPr>
          <a:xfrm>
            <a:off x="8895893" y="4453128"/>
            <a:ext cx="2509418" cy="384048"/>
          </a:xfrm>
          <a:prstGeom prst="rect">
            <a:avLst/>
          </a:prstGeom>
          <a:noFill/>
          <a:ln/>
        </p:spPr>
        <p:txBody>
          <a:bodyPr wrap="square" lIns="0" tIns="0" rIns="0" bIns="0" rtlCol="0" anchor="ctr"/>
          <a:lstStyle/>
          <a:p>
            <a:pPr indent="0" marL="0">
              <a:buNone/>
            </a:pPr>
            <a:r>
              <a:rPr lang="en-US" sz="1100" b="1" spc="200" kern="0" dirty="0">
                <a:solidFill>
                  <a:schemeClr val="accent1"/>
                </a:solidFill>
              </a:rPr>
              <a:t>SECURITY</a:t>
            </a:r>
            <a:endParaRPr lang="en-US" sz="1100" dirty="0"/>
          </a:p>
        </p:txBody>
      </p:sp>
      <p:sp>
        <p:nvSpPr>
          <p:cNvPr id="33" name="Text 27"/>
          <p:cNvSpPr txBox="1"/>
          <p:nvPr/>
        </p:nvSpPr>
        <p:spPr>
          <a:xfrm>
            <a:off x="8402117" y="4901184"/>
            <a:ext cx="3058058" cy="512064"/>
          </a:xfrm>
          <a:prstGeom prst="rect">
            <a:avLst/>
          </a:prstGeom>
          <a:noFill/>
          <a:ln/>
        </p:spPr>
        <p:txBody>
          <a:bodyPr wrap="square" lIns="0" tIns="0" rIns="0" bIns="0" rtlCol="0" anchor="ctr"/>
          <a:lstStyle/>
          <a:p>
            <a:pPr indent="0" marL="0">
              <a:buNone/>
            </a:pPr>
            <a:r>
              <a:rPr lang="en-US" sz="3200" b="1" dirty="0">
                <a:solidFill>
                  <a:schemeClr val="tx1"/>
                </a:solidFill>
              </a:rPr>
              <a:t>1 view</a:t>
            </a:r>
            <a:endParaRPr lang="en-US" sz="3200" dirty="0"/>
          </a:p>
        </p:txBody>
      </p:sp>
      <p:sp>
        <p:nvSpPr>
          <p:cNvPr id="34" name="Text 28"/>
          <p:cNvSpPr txBox="1"/>
          <p:nvPr/>
        </p:nvSpPr>
        <p:spPr>
          <a:xfrm>
            <a:off x="8402117" y="5413248"/>
            <a:ext cx="3058058" cy="256032"/>
          </a:xfrm>
          <a:prstGeom prst="rect">
            <a:avLst/>
          </a:prstGeom>
          <a:noFill/>
          <a:ln/>
        </p:spPr>
        <p:txBody>
          <a:bodyPr wrap="square" lIns="0" tIns="0" rIns="0" bIns="0" rtlCol="0" anchor="ctr"/>
          <a:lstStyle/>
          <a:p>
            <a:pPr indent="0" marL="0">
              <a:buNone/>
            </a:pPr>
            <a:r>
              <a:rPr lang="en-US" sz="1400" b="1" dirty="0">
                <a:solidFill>
                  <a:schemeClr val="tx1"/>
                </a:solidFill>
              </a:rPr>
              <a:t>of every lane and incident</a:t>
            </a:r>
            <a:endParaRPr lang="en-US" sz="1400" dirty="0"/>
          </a:p>
        </p:txBody>
      </p:sp>
      <p:sp>
        <p:nvSpPr>
          <p:cNvPr id="35" name="Text 29"/>
          <p:cNvSpPr txBox="1"/>
          <p:nvPr/>
        </p:nvSpPr>
        <p:spPr>
          <a:xfrm>
            <a:off x="8402117" y="5687568"/>
            <a:ext cx="3058058" cy="274320"/>
          </a:xfrm>
          <a:prstGeom prst="rect">
            <a:avLst/>
          </a:prstGeom>
          <a:noFill/>
          <a:ln/>
        </p:spPr>
        <p:txBody>
          <a:bodyPr wrap="square" lIns="0" tIns="0" rIns="0" bIns="0" rtlCol="0" anchor="ctr"/>
          <a:lstStyle/>
          <a:p>
            <a:pPr indent="0" marL="0">
              <a:buNone/>
            </a:pPr>
            <a:r>
              <a:rPr lang="en-US" sz="1300" dirty="0">
                <a:solidFill>
                  <a:schemeClr val="tx2"/>
                </a:solidFill>
              </a:rPr>
              <a:t>One pane of glass in AGIL® Secure ISMP</a:t>
            </a:r>
            <a:endParaRPr lang="en-US" sz="1300" dirty="0"/>
          </a:p>
        </p:txBody>
      </p:sp>
      <p:sp>
        <p:nvSpPr>
          <p:cNvPr id="36" name="Text 30"/>
          <p:cNvSpPr txBox="1"/>
          <p:nvPr/>
        </p:nvSpPr>
        <p:spPr>
          <a:xfrm>
            <a:off x="548640" y="6089904"/>
            <a:ext cx="11094415" cy="237744"/>
          </a:xfrm>
          <a:prstGeom prst="rect">
            <a:avLst/>
          </a:prstGeom>
          <a:noFill/>
          <a:ln/>
        </p:spPr>
        <p:txBody>
          <a:bodyPr wrap="square" lIns="0" tIns="0" rIns="0" bIns="0" rtlCol="0" anchor="ctr"/>
          <a:lstStyle/>
          <a:p>
            <a:pPr indent="0" marL="0">
              <a:buNone/>
            </a:pPr>
            <a:r>
              <a:rPr lang="en-US" sz="1000" dirty="0">
                <a:solidFill>
                  <a:schemeClr val="accent4"/>
                </a:solidFill>
              </a:rPr>
              <a:t>Sources: I1 staffing estimate (ops assessment, Singapore Airshow feedback) · I4 curb-to-gate target (Sales review, to validate at airport demo). See References.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TIME TO MARKET</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From demo to paid pilot in 12 months</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Who buys, how we sell and what ships next, built on the live AGIL® Secure ISMP core.</a:t>
            </a:r>
            <a:endParaRPr lang="en-US" sz="1600" dirty="0"/>
          </a:p>
        </p:txBody>
      </p:sp>
      <p:sp>
        <p:nvSpPr>
          <p:cNvPr id="5" name="Shape 3"/>
          <p:cNvSpPr/>
          <p:nvPr/>
        </p:nvSpPr>
        <p:spPr>
          <a:xfrm>
            <a:off x="548640" y="2084832"/>
            <a:ext cx="5440680" cy="3310128"/>
          </a:xfrm>
          <a:prstGeom prst="roundRect">
            <a:avLst>
              <a:gd name="adj" fmla="val 4420"/>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6" name="Shape 4"/>
          <p:cNvSpPr/>
          <p:nvPr/>
        </p:nvSpPr>
        <p:spPr>
          <a:xfrm>
            <a:off x="822960" y="2267712"/>
            <a:ext cx="420624" cy="420624"/>
          </a:xfrm>
          <a:prstGeom prst="ellipse">
            <a:avLst/>
          </a:prstGeom>
          <a:solidFill>
            <a:schemeClr val="accent1">
              <a:alpha val="12000"/>
            </a:schemeClr>
          </a:solidFill>
          <a:ln/>
        </p:spPr>
      </p:sp>
      <p:pic>
        <p:nvPicPr>
          <p:cNvPr id="7" name="Image 0" descr="preencoded.png">    </p:cNvPr>
          <p:cNvPicPr>
            <a:picLocks noChangeAspect="1"/>
          </p:cNvPicPr>
          <p:nvPr/>
        </p:nvPicPr>
        <p:blipFill>
          <a:blip r:embed="rId1"/>
          <a:stretch>
            <a:fillRect/>
          </a:stretch>
        </p:blipFill>
        <p:spPr>
          <a:xfrm>
            <a:off x="919704" y="2364456"/>
            <a:ext cx="227137" cy="227137"/>
          </a:xfrm>
          <a:prstGeom prst="rect">
            <a:avLst/>
          </a:prstGeom>
        </p:spPr>
      </p:pic>
      <p:sp>
        <p:nvSpPr>
          <p:cNvPr id="8" name="Text 5"/>
          <p:cNvSpPr txBox="1"/>
          <p:nvPr/>
        </p:nvSpPr>
        <p:spPr>
          <a:xfrm>
            <a:off x="1371600" y="2267712"/>
            <a:ext cx="4434840" cy="420624"/>
          </a:xfrm>
          <a:prstGeom prst="rect">
            <a:avLst/>
          </a:prstGeom>
          <a:noFill/>
          <a:ln/>
        </p:spPr>
        <p:txBody>
          <a:bodyPr wrap="square" lIns="0" tIns="0" rIns="0" bIns="0" rtlCol="0" anchor="ctr"/>
          <a:lstStyle/>
          <a:p>
            <a:pPr indent="0" marL="0">
              <a:buNone/>
            </a:pPr>
            <a:r>
              <a:rPr lang="en-US" sz="1700" b="1" dirty="0">
                <a:solidFill>
                  <a:schemeClr val="tx1"/>
                </a:solidFill>
              </a:rPr>
              <a:t>How we win the first customers</a:t>
            </a:r>
            <a:endParaRPr lang="en-US" sz="1700" dirty="0"/>
          </a:p>
        </p:txBody>
      </p:sp>
      <p:sp>
        <p:nvSpPr>
          <p:cNvPr id="9" name="Text 6"/>
          <p:cNvSpPr txBox="1"/>
          <p:nvPr/>
        </p:nvSpPr>
        <p:spPr>
          <a:xfrm>
            <a:off x="822960" y="2852928"/>
            <a:ext cx="4892040" cy="219456"/>
          </a:xfrm>
          <a:prstGeom prst="rect">
            <a:avLst/>
          </a:prstGeom>
          <a:noFill/>
          <a:ln/>
        </p:spPr>
        <p:txBody>
          <a:bodyPr wrap="square" lIns="0" tIns="0" rIns="0" bIns="0" rtlCol="0" anchor="ctr"/>
          <a:lstStyle/>
          <a:p>
            <a:pPr indent="0" marL="0">
              <a:buNone/>
            </a:pPr>
            <a:r>
              <a:rPr lang="en-US" sz="1100" b="1" spc="150" kern="0" dirty="0">
                <a:solidFill>
                  <a:schemeClr val="accent1"/>
                </a:solidFill>
              </a:rPr>
              <a:t>WHO BUYS</a:t>
            </a:r>
            <a:endParaRPr lang="en-US" sz="1100" dirty="0"/>
          </a:p>
        </p:txBody>
      </p:sp>
      <p:sp>
        <p:nvSpPr>
          <p:cNvPr id="10" name="Text 7"/>
          <p:cNvSpPr txBox="1"/>
          <p:nvPr/>
        </p:nvSpPr>
        <p:spPr>
          <a:xfrm>
            <a:off x="822960" y="3081528"/>
            <a:ext cx="4983480" cy="329184"/>
          </a:xfrm>
          <a:prstGeom prst="rect">
            <a:avLst/>
          </a:prstGeom>
          <a:noFill/>
          <a:ln/>
        </p:spPr>
        <p:txBody>
          <a:bodyPr wrap="square" lIns="0" tIns="0" rIns="0" bIns="0" rtlCol="0" anchor="ctr"/>
          <a:lstStyle/>
          <a:p>
            <a:pPr indent="0" marL="0">
              <a:buNone/>
            </a:pPr>
            <a:r>
              <a:rPr lang="en-US" sz="1400" dirty="0">
                <a:solidFill>
                  <a:schemeClr val="tx1"/>
                </a:solidFill>
              </a:rPr>
              <a:t>Airport operators first; hub airlines where they lead</a:t>
            </a:r>
            <a:endParaRPr lang="en-US" sz="1400" dirty="0"/>
          </a:p>
        </p:txBody>
      </p:sp>
      <p:sp>
        <p:nvSpPr>
          <p:cNvPr id="11" name="Text 8"/>
          <p:cNvSpPr txBox="1"/>
          <p:nvPr/>
        </p:nvSpPr>
        <p:spPr>
          <a:xfrm>
            <a:off x="822960" y="3474720"/>
            <a:ext cx="4892040" cy="219456"/>
          </a:xfrm>
          <a:prstGeom prst="rect">
            <a:avLst/>
          </a:prstGeom>
          <a:noFill/>
          <a:ln/>
        </p:spPr>
        <p:txBody>
          <a:bodyPr wrap="square" lIns="0" tIns="0" rIns="0" bIns="0" rtlCol="0" anchor="ctr"/>
          <a:lstStyle/>
          <a:p>
            <a:pPr indent="0" marL="0">
              <a:buNone/>
            </a:pPr>
            <a:r>
              <a:rPr lang="en-US" sz="1100" b="1" spc="150" kern="0" dirty="0">
                <a:solidFill>
                  <a:schemeClr val="accent1"/>
                </a:solidFill>
              </a:rPr>
              <a:t>HOW WE SELL</a:t>
            </a:r>
            <a:endParaRPr lang="en-US" sz="1100" dirty="0"/>
          </a:p>
        </p:txBody>
      </p:sp>
      <p:sp>
        <p:nvSpPr>
          <p:cNvPr id="12" name="Text 9"/>
          <p:cNvSpPr txBox="1"/>
          <p:nvPr/>
        </p:nvSpPr>
        <p:spPr>
          <a:xfrm>
            <a:off x="822960" y="3703320"/>
            <a:ext cx="4983480" cy="329184"/>
          </a:xfrm>
          <a:prstGeom prst="rect">
            <a:avLst/>
          </a:prstGeom>
          <a:noFill/>
          <a:ln/>
        </p:spPr>
        <p:txBody>
          <a:bodyPr wrap="square" lIns="0" tIns="0" rIns="0" bIns="0" rtlCol="0" anchor="ctr"/>
          <a:lstStyle/>
          <a:p>
            <a:pPr indent="0" marL="0">
              <a:buNone/>
            </a:pPr>
            <a:r>
              <a:rPr lang="en-US" sz="1400" dirty="0">
                <a:solidFill>
                  <a:schemeClr val="tx1"/>
                </a:solidFill>
              </a:rPr>
              <a:t>SDK in their app, via Group Sales and partners in ME &amp; SEA</a:t>
            </a:r>
            <a:endParaRPr lang="en-US" sz="1400" dirty="0"/>
          </a:p>
        </p:txBody>
      </p:sp>
      <p:sp>
        <p:nvSpPr>
          <p:cNvPr id="13" name="Text 10"/>
          <p:cNvSpPr txBox="1"/>
          <p:nvPr/>
        </p:nvSpPr>
        <p:spPr>
          <a:xfrm>
            <a:off x="822960" y="4096512"/>
            <a:ext cx="4892040" cy="219456"/>
          </a:xfrm>
          <a:prstGeom prst="rect">
            <a:avLst/>
          </a:prstGeom>
          <a:noFill/>
          <a:ln/>
        </p:spPr>
        <p:txBody>
          <a:bodyPr wrap="square" lIns="0" tIns="0" rIns="0" bIns="0" rtlCol="0" anchor="ctr"/>
          <a:lstStyle/>
          <a:p>
            <a:pPr indent="0" marL="0">
              <a:buNone/>
            </a:pPr>
            <a:r>
              <a:rPr lang="en-US" sz="1100" b="1" spc="150" kern="0" dirty="0">
                <a:solidFill>
                  <a:schemeClr val="accent1"/>
                </a:solidFill>
              </a:rPr>
              <a:t>WHAT THEY PAY</a:t>
            </a:r>
            <a:endParaRPr lang="en-US" sz="1100" dirty="0"/>
          </a:p>
        </p:txBody>
      </p:sp>
      <p:sp>
        <p:nvSpPr>
          <p:cNvPr id="14" name="Text 11"/>
          <p:cNvSpPr txBox="1"/>
          <p:nvPr/>
        </p:nvSpPr>
        <p:spPr>
          <a:xfrm>
            <a:off x="822960" y="4325112"/>
            <a:ext cx="4983480" cy="329184"/>
          </a:xfrm>
          <a:prstGeom prst="rect">
            <a:avLst/>
          </a:prstGeom>
          <a:noFill/>
          <a:ln/>
        </p:spPr>
        <p:txBody>
          <a:bodyPr wrap="square" lIns="0" tIns="0" rIns="0" bIns="0" rtlCol="0" anchor="ctr"/>
          <a:lstStyle/>
          <a:p>
            <a:pPr indent="0" marL="0">
              <a:buNone/>
            </a:pPr>
            <a:r>
              <a:rPr lang="en-US" sz="1400" dirty="0">
                <a:solidFill>
                  <a:schemeClr val="tx1"/>
                </a:solidFill>
              </a:rPr>
              <a:t>Lanes (one-off), ISMP licence (recurring), integration, support</a:t>
            </a:r>
            <a:endParaRPr lang="en-US" sz="1400" dirty="0"/>
          </a:p>
        </p:txBody>
      </p:sp>
      <p:sp>
        <p:nvSpPr>
          <p:cNvPr id="15" name="Text 12"/>
          <p:cNvSpPr txBox="1"/>
          <p:nvPr/>
        </p:nvSpPr>
        <p:spPr>
          <a:xfrm>
            <a:off x="822960" y="4718304"/>
            <a:ext cx="4892040" cy="219456"/>
          </a:xfrm>
          <a:prstGeom prst="rect">
            <a:avLst/>
          </a:prstGeom>
          <a:noFill/>
          <a:ln/>
        </p:spPr>
        <p:txBody>
          <a:bodyPr wrap="square" lIns="0" tIns="0" rIns="0" bIns="0" rtlCol="0" anchor="ctr"/>
          <a:lstStyle/>
          <a:p>
            <a:pPr indent="0" marL="0">
              <a:buNone/>
            </a:pPr>
            <a:r>
              <a:rPr lang="en-US" sz="1100" b="1" spc="150" kern="0" dirty="0">
                <a:solidFill>
                  <a:schemeClr val="accent1"/>
                </a:solidFill>
              </a:rPr>
              <a:t>PRICE ANCHOR</a:t>
            </a:r>
            <a:endParaRPr lang="en-US" sz="1100" dirty="0"/>
          </a:p>
        </p:txBody>
      </p:sp>
      <p:sp>
        <p:nvSpPr>
          <p:cNvPr id="16" name="Text 13"/>
          <p:cNvSpPr txBox="1"/>
          <p:nvPr/>
        </p:nvSpPr>
        <p:spPr>
          <a:xfrm>
            <a:off x="822960" y="4946904"/>
            <a:ext cx="4983480" cy="329184"/>
          </a:xfrm>
          <a:prstGeom prst="rect">
            <a:avLst/>
          </a:prstGeom>
          <a:noFill/>
          <a:ln/>
        </p:spPr>
        <p:txBody>
          <a:bodyPr wrap="square" lIns="0" tIns="0" rIns="0" bIns="0" rtlCol="0" anchor="ctr"/>
          <a:lstStyle/>
          <a:p>
            <a:pPr indent="0" marL="0">
              <a:buNone/>
            </a:pPr>
            <a:r>
              <a:rPr lang="en-US" sz="1400" dirty="0">
                <a:solidFill>
                  <a:schemeClr val="tx1"/>
                </a:solidFill>
              </a:rPr>
              <a:t>Against the ~3 staff each lane saves</a:t>
            </a:r>
            <a:endParaRPr lang="en-US" sz="1400" dirty="0"/>
          </a:p>
        </p:txBody>
      </p:sp>
      <p:sp>
        <p:nvSpPr>
          <p:cNvPr id="17" name="Shape 14"/>
          <p:cNvSpPr/>
          <p:nvPr/>
        </p:nvSpPr>
        <p:spPr>
          <a:xfrm>
            <a:off x="6263640" y="2084832"/>
            <a:ext cx="5379415" cy="3310128"/>
          </a:xfrm>
          <a:prstGeom prst="roundRect">
            <a:avLst>
              <a:gd name="adj" fmla="val 4420"/>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18" name="Shape 15"/>
          <p:cNvSpPr/>
          <p:nvPr/>
        </p:nvSpPr>
        <p:spPr>
          <a:xfrm>
            <a:off x="6537960" y="2267712"/>
            <a:ext cx="420624" cy="420624"/>
          </a:xfrm>
          <a:prstGeom prst="ellipse">
            <a:avLst/>
          </a:prstGeom>
          <a:solidFill>
            <a:schemeClr val="accent1">
              <a:alpha val="12000"/>
            </a:schemeClr>
          </a:solidFill>
          <a:ln/>
        </p:spPr>
      </p:sp>
      <p:pic>
        <p:nvPicPr>
          <p:cNvPr id="19" name="Image 1" descr="preencoded.png">    </p:cNvPr>
          <p:cNvPicPr>
            <a:picLocks noChangeAspect="1"/>
          </p:cNvPicPr>
          <p:nvPr/>
        </p:nvPicPr>
        <p:blipFill>
          <a:blip r:embed="rId2"/>
          <a:stretch>
            <a:fillRect/>
          </a:stretch>
        </p:blipFill>
        <p:spPr>
          <a:xfrm>
            <a:off x="6634704" y="2364456"/>
            <a:ext cx="227137" cy="227137"/>
          </a:xfrm>
          <a:prstGeom prst="rect">
            <a:avLst/>
          </a:prstGeom>
        </p:spPr>
      </p:pic>
      <p:sp>
        <p:nvSpPr>
          <p:cNvPr id="20" name="Text 16"/>
          <p:cNvSpPr txBox="1"/>
          <p:nvPr/>
        </p:nvSpPr>
        <p:spPr>
          <a:xfrm>
            <a:off x="7086600" y="2267712"/>
            <a:ext cx="4373575" cy="420624"/>
          </a:xfrm>
          <a:prstGeom prst="rect">
            <a:avLst/>
          </a:prstGeom>
          <a:noFill/>
          <a:ln/>
        </p:spPr>
        <p:txBody>
          <a:bodyPr wrap="square" lIns="0" tIns="0" rIns="0" bIns="0" rtlCol="0" anchor="ctr"/>
          <a:lstStyle/>
          <a:p>
            <a:pPr indent="0" marL="0">
              <a:buNone/>
            </a:pPr>
            <a:r>
              <a:rPr lang="en-US" sz="1700" b="1" dirty="0">
                <a:solidFill>
                  <a:schemeClr val="tx1"/>
                </a:solidFill>
              </a:rPr>
              <a:t>Next 12 months</a:t>
            </a:r>
            <a:endParaRPr lang="en-US" sz="1700" dirty="0"/>
          </a:p>
        </p:txBody>
      </p:sp>
      <p:sp>
        <p:nvSpPr>
          <p:cNvPr id="21" name="Shape 17"/>
          <p:cNvSpPr/>
          <p:nvPr/>
        </p:nvSpPr>
        <p:spPr>
          <a:xfrm>
            <a:off x="6656832" y="3017520"/>
            <a:ext cx="0" cy="2048256"/>
          </a:xfrm>
          <a:prstGeom prst="line">
            <a:avLst/>
          </a:prstGeom>
          <a:noFill/>
          <a:ln w="19050">
            <a:solidFill>
              <a:schemeClr val="accent5"/>
            </a:solidFill>
            <a:prstDash val="solid"/>
          </a:ln>
        </p:spPr>
      </p:sp>
      <p:sp>
        <p:nvSpPr>
          <p:cNvPr id="22" name="Shape 18"/>
          <p:cNvSpPr/>
          <p:nvPr/>
        </p:nvSpPr>
        <p:spPr>
          <a:xfrm>
            <a:off x="6565392" y="2944368"/>
            <a:ext cx="182880" cy="182880"/>
          </a:xfrm>
          <a:prstGeom prst="ellipse">
            <a:avLst/>
          </a:prstGeom>
          <a:solidFill>
            <a:schemeClr val="accent1"/>
          </a:solidFill>
          <a:ln w="15875">
            <a:solidFill>
              <a:schemeClr val="accent1"/>
            </a:solidFill>
            <a:prstDash val="solid"/>
          </a:ln>
        </p:spPr>
      </p:sp>
      <p:sp>
        <p:nvSpPr>
          <p:cNvPr id="23" name="Text 19"/>
          <p:cNvSpPr txBox="1"/>
          <p:nvPr/>
        </p:nvSpPr>
        <p:spPr>
          <a:xfrm>
            <a:off x="6949440" y="2871216"/>
            <a:ext cx="914400" cy="329184"/>
          </a:xfrm>
          <a:prstGeom prst="rect">
            <a:avLst/>
          </a:prstGeom>
          <a:noFill/>
          <a:ln/>
        </p:spPr>
        <p:txBody>
          <a:bodyPr wrap="square" lIns="0" tIns="0" rIns="0" bIns="0" rtlCol="0" anchor="ctr"/>
          <a:lstStyle/>
          <a:p>
            <a:pPr indent="0" marL="0">
              <a:buNone/>
            </a:pPr>
            <a:r>
              <a:rPr lang="en-US" sz="1100" b="1" spc="100" kern="0" dirty="0">
                <a:solidFill>
                  <a:schemeClr val="accent1"/>
                </a:solidFill>
              </a:rPr>
              <a:t>Q4 2026</a:t>
            </a:r>
            <a:endParaRPr lang="en-US" sz="1100" dirty="0"/>
          </a:p>
        </p:txBody>
      </p:sp>
      <p:sp>
        <p:nvSpPr>
          <p:cNvPr id="24" name="Text 20"/>
          <p:cNvSpPr txBox="1"/>
          <p:nvPr/>
        </p:nvSpPr>
        <p:spPr>
          <a:xfrm>
            <a:off x="7863840" y="2871216"/>
            <a:ext cx="3596335" cy="329184"/>
          </a:xfrm>
          <a:prstGeom prst="rect">
            <a:avLst/>
          </a:prstGeom>
          <a:noFill/>
          <a:ln/>
        </p:spPr>
        <p:txBody>
          <a:bodyPr wrap="square" lIns="0" tIns="0" rIns="0" bIns="0" rtlCol="0" anchor="ctr"/>
          <a:lstStyle/>
          <a:p>
            <a:pPr indent="0" marL="0">
              <a:buNone/>
            </a:pPr>
            <a:r>
              <a:rPr lang="en-US" sz="1400" dirty="0">
                <a:solidFill>
                  <a:schemeClr val="tx1"/>
                </a:solidFill>
              </a:rPr>
              <a:t>Live airport demonstration</a:t>
            </a:r>
            <a:endParaRPr lang="en-US" sz="1400" dirty="0"/>
          </a:p>
        </p:txBody>
      </p:sp>
      <p:sp>
        <p:nvSpPr>
          <p:cNvPr id="25" name="Shape 21"/>
          <p:cNvSpPr/>
          <p:nvPr/>
        </p:nvSpPr>
        <p:spPr>
          <a:xfrm>
            <a:off x="6565392" y="3456432"/>
            <a:ext cx="182880" cy="182880"/>
          </a:xfrm>
          <a:prstGeom prst="ellipse">
            <a:avLst/>
          </a:prstGeom>
          <a:solidFill>
            <a:schemeClr val="bg2"/>
          </a:solidFill>
          <a:ln w="15875">
            <a:solidFill>
              <a:schemeClr val="accent1"/>
            </a:solidFill>
            <a:prstDash val="solid"/>
          </a:ln>
        </p:spPr>
      </p:sp>
      <p:sp>
        <p:nvSpPr>
          <p:cNvPr id="26" name="Text 22"/>
          <p:cNvSpPr txBox="1"/>
          <p:nvPr/>
        </p:nvSpPr>
        <p:spPr>
          <a:xfrm>
            <a:off x="6949440" y="3383280"/>
            <a:ext cx="914400" cy="329184"/>
          </a:xfrm>
          <a:prstGeom prst="rect">
            <a:avLst/>
          </a:prstGeom>
          <a:noFill/>
          <a:ln/>
        </p:spPr>
        <p:txBody>
          <a:bodyPr wrap="square" lIns="0" tIns="0" rIns="0" bIns="0" rtlCol="0" anchor="ctr"/>
          <a:lstStyle/>
          <a:p>
            <a:pPr indent="0" marL="0">
              <a:buNone/>
            </a:pPr>
            <a:r>
              <a:rPr lang="en-US" sz="1100" b="1" spc="100" kern="0" dirty="0">
                <a:solidFill>
                  <a:schemeClr val="accent1"/>
                </a:solidFill>
              </a:rPr>
              <a:t>Q1 2027</a:t>
            </a:r>
            <a:endParaRPr lang="en-US" sz="1100" dirty="0"/>
          </a:p>
        </p:txBody>
      </p:sp>
      <p:sp>
        <p:nvSpPr>
          <p:cNvPr id="27" name="Text 23"/>
          <p:cNvSpPr txBox="1"/>
          <p:nvPr/>
        </p:nvSpPr>
        <p:spPr>
          <a:xfrm>
            <a:off x="7863840" y="3383280"/>
            <a:ext cx="3596335" cy="329184"/>
          </a:xfrm>
          <a:prstGeom prst="rect">
            <a:avLst/>
          </a:prstGeom>
          <a:noFill/>
          <a:ln/>
        </p:spPr>
        <p:txBody>
          <a:bodyPr wrap="square" lIns="0" tIns="0" rIns="0" bIns="0" rtlCol="0" anchor="ctr"/>
          <a:lstStyle/>
          <a:p>
            <a:pPr indent="0" marL="0">
              <a:buNone/>
            </a:pPr>
            <a:r>
              <a:rPr lang="en-US" sz="1400" dirty="0">
                <a:solidFill>
                  <a:schemeClr val="tx1"/>
                </a:solidFill>
              </a:rPr>
              <a:t>Productise: offline, redundancy, back-end</a:t>
            </a:r>
            <a:endParaRPr lang="en-US" sz="1400" dirty="0"/>
          </a:p>
        </p:txBody>
      </p:sp>
      <p:sp>
        <p:nvSpPr>
          <p:cNvPr id="28" name="Shape 24"/>
          <p:cNvSpPr/>
          <p:nvPr/>
        </p:nvSpPr>
        <p:spPr>
          <a:xfrm>
            <a:off x="6565392" y="3968496"/>
            <a:ext cx="182880" cy="182880"/>
          </a:xfrm>
          <a:prstGeom prst="ellipse">
            <a:avLst/>
          </a:prstGeom>
          <a:solidFill>
            <a:schemeClr val="bg2"/>
          </a:solidFill>
          <a:ln w="15875">
            <a:solidFill>
              <a:schemeClr val="accent1"/>
            </a:solidFill>
            <a:prstDash val="solid"/>
          </a:ln>
        </p:spPr>
      </p:sp>
      <p:sp>
        <p:nvSpPr>
          <p:cNvPr id="29" name="Text 25"/>
          <p:cNvSpPr txBox="1"/>
          <p:nvPr/>
        </p:nvSpPr>
        <p:spPr>
          <a:xfrm>
            <a:off x="6949440" y="3895344"/>
            <a:ext cx="914400" cy="329184"/>
          </a:xfrm>
          <a:prstGeom prst="rect">
            <a:avLst/>
          </a:prstGeom>
          <a:noFill/>
          <a:ln/>
        </p:spPr>
        <p:txBody>
          <a:bodyPr wrap="square" lIns="0" tIns="0" rIns="0" bIns="0" rtlCol="0" anchor="ctr"/>
          <a:lstStyle/>
          <a:p>
            <a:pPr indent="0" marL="0">
              <a:buNone/>
            </a:pPr>
            <a:r>
              <a:rPr lang="en-US" sz="1100" b="1" spc="100" kern="0" dirty="0">
                <a:solidFill>
                  <a:schemeClr val="accent1"/>
                </a:solidFill>
              </a:rPr>
              <a:t>Apr 2027</a:t>
            </a:r>
            <a:endParaRPr lang="en-US" sz="1100" dirty="0"/>
          </a:p>
        </p:txBody>
      </p:sp>
      <p:sp>
        <p:nvSpPr>
          <p:cNvPr id="30" name="Text 26"/>
          <p:cNvSpPr txBox="1"/>
          <p:nvPr/>
        </p:nvSpPr>
        <p:spPr>
          <a:xfrm>
            <a:off x="7863840" y="3895344"/>
            <a:ext cx="3596335" cy="329184"/>
          </a:xfrm>
          <a:prstGeom prst="rect">
            <a:avLst/>
          </a:prstGeom>
          <a:noFill/>
          <a:ln/>
        </p:spPr>
        <p:txBody>
          <a:bodyPr wrap="square" lIns="0" tIns="0" rIns="0" bIns="0" rtlCol="0" anchor="ctr"/>
          <a:lstStyle/>
          <a:p>
            <a:pPr indent="0" marL="0">
              <a:buNone/>
            </a:pPr>
            <a:r>
              <a:rPr lang="en-US" sz="1400" dirty="0">
                <a:solidFill>
                  <a:schemeClr val="tx1"/>
                </a:solidFill>
              </a:rPr>
              <a:t>Passenger Terminal World, Amsterdam</a:t>
            </a:r>
            <a:endParaRPr lang="en-US" sz="1400" dirty="0"/>
          </a:p>
        </p:txBody>
      </p:sp>
      <p:sp>
        <p:nvSpPr>
          <p:cNvPr id="31" name="Shape 27"/>
          <p:cNvSpPr/>
          <p:nvPr/>
        </p:nvSpPr>
        <p:spPr>
          <a:xfrm>
            <a:off x="6565392" y="4480560"/>
            <a:ext cx="182880" cy="182880"/>
          </a:xfrm>
          <a:prstGeom prst="ellipse">
            <a:avLst/>
          </a:prstGeom>
          <a:solidFill>
            <a:schemeClr val="bg2"/>
          </a:solidFill>
          <a:ln w="15875">
            <a:solidFill>
              <a:schemeClr val="accent1"/>
            </a:solidFill>
            <a:prstDash val="solid"/>
          </a:ln>
        </p:spPr>
      </p:sp>
      <p:sp>
        <p:nvSpPr>
          <p:cNvPr id="32" name="Text 28"/>
          <p:cNvSpPr txBox="1"/>
          <p:nvPr/>
        </p:nvSpPr>
        <p:spPr>
          <a:xfrm>
            <a:off x="6949440" y="4407408"/>
            <a:ext cx="914400" cy="329184"/>
          </a:xfrm>
          <a:prstGeom prst="rect">
            <a:avLst/>
          </a:prstGeom>
          <a:noFill/>
          <a:ln/>
        </p:spPr>
        <p:txBody>
          <a:bodyPr wrap="square" lIns="0" tIns="0" rIns="0" bIns="0" rtlCol="0" anchor="ctr"/>
          <a:lstStyle/>
          <a:p>
            <a:pPr indent="0" marL="0">
              <a:buNone/>
            </a:pPr>
            <a:r>
              <a:rPr lang="en-US" sz="1100" b="1" spc="100" kern="0" dirty="0">
                <a:solidFill>
                  <a:schemeClr val="accent1"/>
                </a:solidFill>
              </a:rPr>
              <a:t>H1 2027</a:t>
            </a:r>
            <a:endParaRPr lang="en-US" sz="1100" dirty="0"/>
          </a:p>
        </p:txBody>
      </p:sp>
      <p:sp>
        <p:nvSpPr>
          <p:cNvPr id="33" name="Text 29"/>
          <p:cNvSpPr txBox="1"/>
          <p:nvPr/>
        </p:nvSpPr>
        <p:spPr>
          <a:xfrm>
            <a:off x="7863840" y="4407408"/>
            <a:ext cx="3596335" cy="329184"/>
          </a:xfrm>
          <a:prstGeom prst="rect">
            <a:avLst/>
          </a:prstGeom>
          <a:noFill/>
          <a:ln/>
        </p:spPr>
        <p:txBody>
          <a:bodyPr wrap="square" lIns="0" tIns="0" rIns="0" bIns="0" rtlCol="0" anchor="ctr"/>
          <a:lstStyle/>
          <a:p>
            <a:pPr indent="0" marL="0">
              <a:buNone/>
            </a:pPr>
            <a:r>
              <a:rPr lang="en-US" sz="1400" dirty="0">
                <a:solidFill>
                  <a:schemeClr val="tx1"/>
                </a:solidFill>
              </a:rPr>
              <a:t>First paid pilot in ME/SEA with Group Sales</a:t>
            </a:r>
            <a:endParaRPr lang="en-US" sz="1400" dirty="0"/>
          </a:p>
        </p:txBody>
      </p:sp>
      <p:sp>
        <p:nvSpPr>
          <p:cNvPr id="34" name="Shape 30"/>
          <p:cNvSpPr/>
          <p:nvPr/>
        </p:nvSpPr>
        <p:spPr>
          <a:xfrm>
            <a:off x="6565392" y="4992624"/>
            <a:ext cx="182880" cy="182880"/>
          </a:xfrm>
          <a:prstGeom prst="ellipse">
            <a:avLst/>
          </a:prstGeom>
          <a:solidFill>
            <a:schemeClr val="bg2"/>
          </a:solidFill>
          <a:ln w="15875">
            <a:solidFill>
              <a:schemeClr val="accent1"/>
            </a:solidFill>
            <a:prstDash val="solid"/>
          </a:ln>
        </p:spPr>
      </p:sp>
      <p:sp>
        <p:nvSpPr>
          <p:cNvPr id="35" name="Text 31"/>
          <p:cNvSpPr txBox="1"/>
          <p:nvPr/>
        </p:nvSpPr>
        <p:spPr>
          <a:xfrm>
            <a:off x="6949440" y="4919472"/>
            <a:ext cx="914400" cy="329184"/>
          </a:xfrm>
          <a:prstGeom prst="rect">
            <a:avLst/>
          </a:prstGeom>
          <a:noFill/>
          <a:ln/>
        </p:spPr>
        <p:txBody>
          <a:bodyPr wrap="square" lIns="0" tIns="0" rIns="0" bIns="0" rtlCol="0" anchor="ctr"/>
          <a:lstStyle/>
          <a:p>
            <a:pPr indent="0" marL="0">
              <a:buNone/>
            </a:pPr>
            <a:r>
              <a:rPr lang="en-US" sz="1100" b="1" spc="100" kern="0" dirty="0">
                <a:solidFill>
                  <a:schemeClr val="accent1"/>
                </a:solidFill>
              </a:rPr>
              <a:t>H2 2027</a:t>
            </a:r>
            <a:endParaRPr lang="en-US" sz="1100" dirty="0"/>
          </a:p>
        </p:txBody>
      </p:sp>
      <p:sp>
        <p:nvSpPr>
          <p:cNvPr id="36" name="Text 32"/>
          <p:cNvSpPr txBox="1"/>
          <p:nvPr/>
        </p:nvSpPr>
        <p:spPr>
          <a:xfrm>
            <a:off x="7863840" y="4919472"/>
            <a:ext cx="3596335" cy="329184"/>
          </a:xfrm>
          <a:prstGeom prst="rect">
            <a:avLst/>
          </a:prstGeom>
          <a:noFill/>
          <a:ln/>
        </p:spPr>
        <p:txBody>
          <a:bodyPr wrap="square" lIns="0" tIns="0" rIns="0" bIns="0" rtlCol="0" anchor="ctr"/>
          <a:lstStyle/>
          <a:p>
            <a:pPr indent="0" marL="0">
              <a:buNone/>
            </a:pPr>
            <a:r>
              <a:rPr lang="en-US" sz="1400" dirty="0">
                <a:solidFill>
                  <a:schemeClr val="tx1"/>
                </a:solidFill>
              </a:rPr>
              <a:t>Add lanes, screening and boarding modules</a:t>
            </a:r>
            <a:endParaRPr lang="en-US" sz="1400" dirty="0"/>
          </a:p>
        </p:txBody>
      </p:sp>
      <p:sp>
        <p:nvSpPr>
          <p:cNvPr id="37" name="Shape 33"/>
          <p:cNvSpPr/>
          <p:nvPr/>
        </p:nvSpPr>
        <p:spPr>
          <a:xfrm>
            <a:off x="548640" y="5559552"/>
            <a:ext cx="11094415" cy="512064"/>
          </a:xfrm>
          <a:prstGeom prst="roundRect">
            <a:avLst>
              <a:gd name="adj" fmla="val 50000"/>
            </a:avLst>
          </a:prstGeom>
          <a:solidFill>
            <a:schemeClr val="accent1">
              <a:alpha val="9000"/>
            </a:schemeClr>
          </a:solidFill>
          <a:ln w="9525">
            <a:solidFill>
              <a:schemeClr val="accent1">
                <a:alpha val="45000"/>
              </a:schemeClr>
            </a:solidFill>
            <a:prstDash val="solid"/>
          </a:ln>
        </p:spPr>
      </p:sp>
      <p:pic>
        <p:nvPicPr>
          <p:cNvPr id="38" name="Image 2" descr="preencoded.png">    </p:cNvPr>
          <p:cNvPicPr>
            <a:picLocks noChangeAspect="1"/>
          </p:cNvPicPr>
          <p:nvPr/>
        </p:nvPicPr>
        <p:blipFill>
          <a:blip r:embed="rId3"/>
          <a:stretch>
            <a:fillRect/>
          </a:stretch>
        </p:blipFill>
        <p:spPr>
          <a:xfrm>
            <a:off x="777240" y="5669280"/>
            <a:ext cx="292608" cy="292608"/>
          </a:xfrm>
          <a:prstGeom prst="rect">
            <a:avLst/>
          </a:prstGeom>
        </p:spPr>
      </p:pic>
      <p:sp>
        <p:nvSpPr>
          <p:cNvPr id="39" name="Text 34"/>
          <p:cNvSpPr txBox="1"/>
          <p:nvPr/>
        </p:nvSpPr>
        <p:spPr>
          <a:xfrm>
            <a:off x="1234440" y="5559552"/>
            <a:ext cx="10225735" cy="512064"/>
          </a:xfrm>
          <a:prstGeom prst="rect">
            <a:avLst/>
          </a:prstGeom>
          <a:noFill/>
          <a:ln/>
        </p:spPr>
        <p:txBody>
          <a:bodyPr wrap="square" lIns="0" tIns="0" rIns="0" bIns="0" rtlCol="0" anchor="ctr"/>
          <a:lstStyle/>
          <a:p>
            <a:pPr indent="0" marL="0">
              <a:buNone/>
            </a:pPr>
            <a:r>
              <a:rPr lang="en-US" sz="1300" b="1" dirty="0">
                <a:solidFill>
                  <a:schemeClr val="tx1"/>
                </a:solidFill>
              </a:rPr>
              <a:t>Built for international buyers:  </a:t>
            </a:r>
            <a:pPr indent="0" marL="0">
              <a:buNone/>
            </a:pPr>
            <a:r>
              <a:rPr lang="en-US" sz="1300" dirty="0">
                <a:solidFill>
                  <a:schemeClr val="tx2"/>
                </a:solidFill>
              </a:rPr>
              <a:t>regional data-protection rules, airport governance models, 2–3 manual counters for exceptions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COLLABORATION  ·  BARRIERS TO ENTRY</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One cross-unit team. Hard to copy</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Three business units and Group Sales built FastPass; that depth is what rivals lack.</a:t>
            </a:r>
            <a:endParaRPr lang="en-US" sz="1600" dirty="0"/>
          </a:p>
        </p:txBody>
      </p:sp>
      <p:sp>
        <p:nvSpPr>
          <p:cNvPr id="5" name="Shape 3"/>
          <p:cNvSpPr/>
          <p:nvPr/>
        </p:nvSpPr>
        <p:spPr>
          <a:xfrm>
            <a:off x="845820" y="2235708"/>
            <a:ext cx="2148840" cy="2148840"/>
          </a:xfrm>
          <a:prstGeom prst="ellipse">
            <a:avLst/>
          </a:prstGeom>
          <a:solidFill>
            <a:schemeClr val="accent1">
              <a:alpha val="14000"/>
            </a:schemeClr>
          </a:solidFill>
          <a:ln w="12700">
            <a:solidFill>
              <a:schemeClr val="accent1">
                <a:alpha val="70000"/>
              </a:schemeClr>
            </a:solidFill>
            <a:prstDash val="solid"/>
          </a:ln>
        </p:spPr>
      </p:sp>
      <p:sp>
        <p:nvSpPr>
          <p:cNvPr id="6" name="Shape 4"/>
          <p:cNvSpPr/>
          <p:nvPr/>
        </p:nvSpPr>
        <p:spPr>
          <a:xfrm>
            <a:off x="2354580" y="2235708"/>
            <a:ext cx="2148840" cy="2148840"/>
          </a:xfrm>
          <a:prstGeom prst="ellipse">
            <a:avLst/>
          </a:prstGeom>
          <a:solidFill>
            <a:schemeClr val="accent2">
              <a:alpha val="14000"/>
            </a:schemeClr>
          </a:solidFill>
          <a:ln w="12700">
            <a:solidFill>
              <a:schemeClr val="accent2">
                <a:alpha val="70000"/>
              </a:schemeClr>
            </a:solidFill>
            <a:prstDash val="solid"/>
          </a:ln>
        </p:spPr>
      </p:sp>
      <p:sp>
        <p:nvSpPr>
          <p:cNvPr id="7" name="Shape 5"/>
          <p:cNvSpPr/>
          <p:nvPr/>
        </p:nvSpPr>
        <p:spPr>
          <a:xfrm>
            <a:off x="1595628" y="3497580"/>
            <a:ext cx="2148840" cy="2148840"/>
          </a:xfrm>
          <a:prstGeom prst="ellipse">
            <a:avLst/>
          </a:prstGeom>
          <a:solidFill>
            <a:schemeClr val="tx2">
              <a:alpha val="14000"/>
            </a:schemeClr>
          </a:solidFill>
          <a:ln w="12700">
            <a:solidFill>
              <a:schemeClr val="tx2">
                <a:alpha val="70000"/>
              </a:schemeClr>
            </a:solidFill>
            <a:prstDash val="solid"/>
          </a:ln>
        </p:spPr>
      </p:sp>
      <p:sp>
        <p:nvSpPr>
          <p:cNvPr id="8" name="Text 6"/>
          <p:cNvSpPr txBox="1"/>
          <p:nvPr/>
        </p:nvSpPr>
        <p:spPr>
          <a:xfrm>
            <a:off x="868680" y="2697480"/>
            <a:ext cx="1417320" cy="548640"/>
          </a:xfrm>
          <a:prstGeom prst="rect">
            <a:avLst/>
          </a:prstGeom>
          <a:noFill/>
          <a:ln/>
        </p:spPr>
        <p:txBody>
          <a:bodyPr wrap="square" lIns="0" tIns="0" rIns="0" bIns="0" rtlCol="0" anchor="ctr"/>
          <a:lstStyle/>
          <a:p>
            <a:pPr algn="ctr" indent="0" marL="0">
              <a:buNone/>
            </a:pPr>
            <a:r>
              <a:rPr lang="en-US" sz="1200" b="1" dirty="0">
                <a:solidFill>
                  <a:schemeClr val="tx1"/>
                </a:solidFill>
              </a:rPr>
              <a:t>Smart Security &amp; Automation</a:t>
            </a:r>
            <a:endParaRPr lang="en-US" sz="1200" dirty="0"/>
          </a:p>
        </p:txBody>
      </p:sp>
      <p:sp>
        <p:nvSpPr>
          <p:cNvPr id="9" name="Text 7"/>
          <p:cNvSpPr txBox="1"/>
          <p:nvPr/>
        </p:nvSpPr>
        <p:spPr>
          <a:xfrm>
            <a:off x="3108960" y="2697480"/>
            <a:ext cx="1417320" cy="548640"/>
          </a:xfrm>
          <a:prstGeom prst="rect">
            <a:avLst/>
          </a:prstGeom>
          <a:noFill/>
          <a:ln/>
        </p:spPr>
        <p:txBody>
          <a:bodyPr wrap="square" lIns="0" tIns="0" rIns="0" bIns="0" rtlCol="0" anchor="ctr"/>
          <a:lstStyle/>
          <a:p>
            <a:pPr algn="ctr" indent="0" marL="0">
              <a:buNone/>
            </a:pPr>
            <a:r>
              <a:rPr lang="en-US" sz="1200" b="1" dirty="0">
                <a:solidFill>
                  <a:schemeClr val="tx1"/>
                </a:solidFill>
              </a:rPr>
              <a:t>Smart Utilities &amp; Infrastructure</a:t>
            </a:r>
            <a:endParaRPr lang="en-US" sz="1200" dirty="0"/>
          </a:p>
        </p:txBody>
      </p:sp>
      <p:sp>
        <p:nvSpPr>
          <p:cNvPr id="10" name="Text 8"/>
          <p:cNvSpPr txBox="1"/>
          <p:nvPr/>
        </p:nvSpPr>
        <p:spPr>
          <a:xfrm>
            <a:off x="2011680" y="5074920"/>
            <a:ext cx="1325880" cy="365760"/>
          </a:xfrm>
          <a:prstGeom prst="rect">
            <a:avLst/>
          </a:prstGeom>
          <a:noFill/>
          <a:ln/>
        </p:spPr>
        <p:txBody>
          <a:bodyPr wrap="square" lIns="0" tIns="0" rIns="0" bIns="0" rtlCol="0" anchor="ctr"/>
          <a:lstStyle/>
          <a:p>
            <a:pPr algn="ctr" indent="0" marL="0">
              <a:buNone/>
            </a:pPr>
            <a:r>
              <a:rPr lang="en-US" sz="1200" b="1" dirty="0">
                <a:solidFill>
                  <a:schemeClr val="tx1"/>
                </a:solidFill>
              </a:rPr>
              <a:t>Urban Solutions</a:t>
            </a:r>
            <a:endParaRPr lang="en-US" sz="1200" dirty="0"/>
          </a:p>
        </p:txBody>
      </p:sp>
      <p:sp>
        <p:nvSpPr>
          <p:cNvPr id="11" name="Shape 9"/>
          <p:cNvSpPr/>
          <p:nvPr/>
        </p:nvSpPr>
        <p:spPr>
          <a:xfrm>
            <a:off x="2167128" y="3657600"/>
            <a:ext cx="1005840" cy="329184"/>
          </a:xfrm>
          <a:prstGeom prst="roundRect">
            <a:avLst>
              <a:gd name="adj" fmla="val 50000"/>
            </a:avLst>
          </a:prstGeom>
          <a:solidFill>
            <a:schemeClr val="accent6"/>
          </a:solidFill>
          <a:ln w="12700">
            <a:solidFill>
              <a:schemeClr val="accent1"/>
            </a:solidFill>
            <a:prstDash val="solid"/>
          </a:ln>
        </p:spPr>
      </p:sp>
      <p:sp>
        <p:nvSpPr>
          <p:cNvPr id="12" name="Text 10"/>
          <p:cNvSpPr txBox="1"/>
          <p:nvPr/>
        </p:nvSpPr>
        <p:spPr>
          <a:xfrm>
            <a:off x="2167128" y="3657600"/>
            <a:ext cx="1005840" cy="329184"/>
          </a:xfrm>
          <a:prstGeom prst="rect">
            <a:avLst/>
          </a:prstGeom>
          <a:noFill/>
          <a:ln/>
        </p:spPr>
        <p:txBody>
          <a:bodyPr wrap="square" lIns="0" tIns="0" rIns="0" bIns="0" rtlCol="0" anchor="ctr"/>
          <a:lstStyle/>
          <a:p>
            <a:pPr algn="ctr" indent="0" marL="0">
              <a:buNone/>
            </a:pPr>
            <a:r>
              <a:rPr lang="en-US" sz="1200" b="1" dirty="0">
                <a:solidFill>
                  <a:schemeClr val="bg1"/>
                </a:solidFill>
              </a:rPr>
              <a:t>FastPass</a:t>
            </a:r>
            <a:endParaRPr lang="en-US" sz="1200" dirty="0"/>
          </a:p>
        </p:txBody>
      </p:sp>
      <p:sp>
        <p:nvSpPr>
          <p:cNvPr id="13" name="Text 11"/>
          <p:cNvSpPr txBox="1"/>
          <p:nvPr/>
        </p:nvSpPr>
        <p:spPr>
          <a:xfrm>
            <a:off x="548640" y="5724144"/>
            <a:ext cx="4846320" cy="329184"/>
          </a:xfrm>
          <a:prstGeom prst="rect">
            <a:avLst/>
          </a:prstGeom>
          <a:noFill/>
          <a:ln/>
        </p:spPr>
        <p:txBody>
          <a:bodyPr wrap="square" lIns="0" tIns="0" rIns="0" bIns="0" rtlCol="0" anchor="ctr"/>
          <a:lstStyle/>
          <a:p>
            <a:pPr algn="ctr" indent="0" marL="0">
              <a:buNone/>
            </a:pPr>
            <a:r>
              <a:rPr lang="en-US" sz="1200" dirty="0">
                <a:solidFill>
                  <a:schemeClr val="tx2"/>
                </a:solidFill>
              </a:rPr>
              <a:t>Joint team: product, mobile, biometrics, e-gate, ISMP, Sales</a:t>
            </a:r>
            <a:endParaRPr lang="en-US" sz="1200" dirty="0"/>
          </a:p>
        </p:txBody>
      </p:sp>
      <p:sp>
        <p:nvSpPr>
          <p:cNvPr id="14" name="Text 12"/>
          <p:cNvSpPr txBox="1"/>
          <p:nvPr/>
        </p:nvSpPr>
        <p:spPr>
          <a:xfrm>
            <a:off x="5760720" y="2084832"/>
            <a:ext cx="5882335"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ENTRY BARRIERS</a:t>
            </a:r>
            <a:endParaRPr lang="en-US" sz="1100" dirty="0"/>
          </a:p>
        </p:txBody>
      </p:sp>
      <p:sp>
        <p:nvSpPr>
          <p:cNvPr id="15" name="Shape 13"/>
          <p:cNvSpPr/>
          <p:nvPr/>
        </p:nvSpPr>
        <p:spPr>
          <a:xfrm>
            <a:off x="5760720" y="2432304"/>
            <a:ext cx="5882335" cy="3035808"/>
          </a:xfrm>
          <a:prstGeom prst="roundRect">
            <a:avLst>
              <a:gd name="adj" fmla="val 4819"/>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16" name="Shape 14"/>
          <p:cNvSpPr/>
          <p:nvPr/>
        </p:nvSpPr>
        <p:spPr>
          <a:xfrm>
            <a:off x="6035040" y="2651760"/>
            <a:ext cx="402336" cy="402336"/>
          </a:xfrm>
          <a:prstGeom prst="ellipse">
            <a:avLst/>
          </a:prstGeom>
          <a:solidFill>
            <a:schemeClr val="accent1">
              <a:alpha val="12000"/>
            </a:schemeClr>
          </a:solidFill>
          <a:ln/>
        </p:spPr>
      </p:sp>
      <p:pic>
        <p:nvPicPr>
          <p:cNvPr id="17" name="Image 0" descr="preencoded.png">    </p:cNvPr>
          <p:cNvPicPr>
            <a:picLocks noChangeAspect="1"/>
          </p:cNvPicPr>
          <p:nvPr/>
        </p:nvPicPr>
        <p:blipFill>
          <a:blip r:embed="rId1"/>
          <a:stretch>
            <a:fillRect/>
          </a:stretch>
        </p:blipFill>
        <p:spPr>
          <a:xfrm>
            <a:off x="6127577" y="2744297"/>
            <a:ext cx="217261" cy="217261"/>
          </a:xfrm>
          <a:prstGeom prst="rect">
            <a:avLst/>
          </a:prstGeom>
        </p:spPr>
      </p:pic>
      <p:sp>
        <p:nvSpPr>
          <p:cNvPr id="18" name="Text 15"/>
          <p:cNvSpPr txBox="1"/>
          <p:nvPr/>
        </p:nvSpPr>
        <p:spPr>
          <a:xfrm>
            <a:off x="6601968" y="2596896"/>
            <a:ext cx="4830775" cy="256032"/>
          </a:xfrm>
          <a:prstGeom prst="rect">
            <a:avLst/>
          </a:prstGeom>
          <a:noFill/>
          <a:ln/>
        </p:spPr>
        <p:txBody>
          <a:bodyPr wrap="square" lIns="0" tIns="0" rIns="0" bIns="0" rtlCol="0" anchor="ctr"/>
          <a:lstStyle/>
          <a:p>
            <a:pPr indent="0" marL="0">
              <a:buNone/>
            </a:pPr>
            <a:r>
              <a:rPr lang="en-US" sz="1500" b="1" dirty="0">
                <a:solidFill>
                  <a:schemeClr val="tx1"/>
                </a:solidFill>
              </a:rPr>
              <a:t>Owned IP</a:t>
            </a:r>
            <a:endParaRPr lang="en-US" sz="1500" dirty="0"/>
          </a:p>
        </p:txBody>
      </p:sp>
      <p:sp>
        <p:nvSpPr>
          <p:cNvPr id="19" name="Text 16"/>
          <p:cNvSpPr txBox="1"/>
          <p:nvPr/>
        </p:nvSpPr>
        <p:spPr>
          <a:xfrm>
            <a:off x="6601968" y="2852928"/>
            <a:ext cx="4830775" cy="274320"/>
          </a:xfrm>
          <a:prstGeom prst="rect">
            <a:avLst/>
          </a:prstGeom>
          <a:noFill/>
          <a:ln/>
        </p:spPr>
        <p:txBody>
          <a:bodyPr wrap="square" lIns="0" tIns="0" rIns="0" bIns="0" rtlCol="0" anchor="ctr"/>
          <a:lstStyle/>
          <a:p>
            <a:pPr indent="0" marL="0">
              <a:buNone/>
            </a:pPr>
            <a:r>
              <a:rPr lang="en-US" sz="1300" dirty="0">
                <a:solidFill>
                  <a:schemeClr val="tx2"/>
                </a:solidFill>
              </a:rPr>
              <a:t>Credential workflow, lane logic and ISMP are Group-owned</a:t>
            </a:r>
            <a:endParaRPr lang="en-US" sz="1300" dirty="0"/>
          </a:p>
        </p:txBody>
      </p:sp>
      <p:sp>
        <p:nvSpPr>
          <p:cNvPr id="20" name="Shape 17"/>
          <p:cNvSpPr/>
          <p:nvPr/>
        </p:nvSpPr>
        <p:spPr>
          <a:xfrm>
            <a:off x="6035040" y="3218688"/>
            <a:ext cx="5333695" cy="0"/>
          </a:xfrm>
          <a:prstGeom prst="line">
            <a:avLst/>
          </a:prstGeom>
          <a:noFill/>
          <a:ln w="9525">
            <a:solidFill>
              <a:schemeClr val="accent5"/>
            </a:solidFill>
            <a:prstDash val="solid"/>
          </a:ln>
        </p:spPr>
      </p:sp>
      <p:sp>
        <p:nvSpPr>
          <p:cNvPr id="21" name="Shape 18"/>
          <p:cNvSpPr/>
          <p:nvPr/>
        </p:nvSpPr>
        <p:spPr>
          <a:xfrm>
            <a:off x="6035040" y="3364992"/>
            <a:ext cx="402336" cy="402336"/>
          </a:xfrm>
          <a:prstGeom prst="ellipse">
            <a:avLst/>
          </a:prstGeom>
          <a:solidFill>
            <a:schemeClr val="accent1">
              <a:alpha val="12000"/>
            </a:schemeClr>
          </a:solidFill>
          <a:ln/>
        </p:spPr>
      </p:sp>
      <p:pic>
        <p:nvPicPr>
          <p:cNvPr id="22" name="Image 1" descr="preencoded.png">    </p:cNvPr>
          <p:cNvPicPr>
            <a:picLocks noChangeAspect="1"/>
          </p:cNvPicPr>
          <p:nvPr/>
        </p:nvPicPr>
        <p:blipFill>
          <a:blip r:embed="rId2"/>
          <a:stretch>
            <a:fillRect/>
          </a:stretch>
        </p:blipFill>
        <p:spPr>
          <a:xfrm>
            <a:off x="6127577" y="3457529"/>
            <a:ext cx="217261" cy="217261"/>
          </a:xfrm>
          <a:prstGeom prst="rect">
            <a:avLst/>
          </a:prstGeom>
        </p:spPr>
      </p:pic>
      <p:sp>
        <p:nvSpPr>
          <p:cNvPr id="23" name="Text 19"/>
          <p:cNvSpPr txBox="1"/>
          <p:nvPr/>
        </p:nvSpPr>
        <p:spPr>
          <a:xfrm>
            <a:off x="6601968" y="3310128"/>
            <a:ext cx="4830775" cy="256032"/>
          </a:xfrm>
          <a:prstGeom prst="rect">
            <a:avLst/>
          </a:prstGeom>
          <a:noFill/>
          <a:ln/>
        </p:spPr>
        <p:txBody>
          <a:bodyPr wrap="square" lIns="0" tIns="0" rIns="0" bIns="0" rtlCol="0" anchor="ctr"/>
          <a:lstStyle/>
          <a:p>
            <a:pPr indent="0" marL="0">
              <a:buNone/>
            </a:pPr>
            <a:r>
              <a:rPr lang="en-US" sz="1500" b="1" dirty="0">
                <a:solidFill>
                  <a:schemeClr val="tx1"/>
                </a:solidFill>
              </a:rPr>
              <a:t>Deep know-how</a:t>
            </a:r>
            <a:endParaRPr lang="en-US" sz="1500" dirty="0"/>
          </a:p>
        </p:txBody>
      </p:sp>
      <p:sp>
        <p:nvSpPr>
          <p:cNvPr id="24" name="Text 20"/>
          <p:cNvSpPr txBox="1"/>
          <p:nvPr/>
        </p:nvSpPr>
        <p:spPr>
          <a:xfrm>
            <a:off x="6601968" y="3566160"/>
            <a:ext cx="4830775" cy="274320"/>
          </a:xfrm>
          <a:prstGeom prst="rect">
            <a:avLst/>
          </a:prstGeom>
          <a:noFill/>
          <a:ln/>
        </p:spPr>
        <p:txBody>
          <a:bodyPr wrap="square" lIns="0" tIns="0" rIns="0" bIns="0" rtlCol="0" anchor="ctr"/>
          <a:lstStyle/>
          <a:p>
            <a:pPr indent="0" marL="0">
              <a:buNone/>
            </a:pPr>
            <a:r>
              <a:rPr lang="en-US" sz="1300" dirty="0">
                <a:solidFill>
                  <a:schemeClr val="tx2"/>
                </a:solidFill>
              </a:rPr>
              <a:t>35+ years of government-grade, mission-critical delivery</a:t>
            </a:r>
            <a:endParaRPr lang="en-US" sz="1300" dirty="0"/>
          </a:p>
        </p:txBody>
      </p:sp>
      <p:sp>
        <p:nvSpPr>
          <p:cNvPr id="25" name="Shape 21"/>
          <p:cNvSpPr/>
          <p:nvPr/>
        </p:nvSpPr>
        <p:spPr>
          <a:xfrm>
            <a:off x="6035040" y="3931920"/>
            <a:ext cx="5333695" cy="0"/>
          </a:xfrm>
          <a:prstGeom prst="line">
            <a:avLst/>
          </a:prstGeom>
          <a:noFill/>
          <a:ln w="9525">
            <a:solidFill>
              <a:schemeClr val="accent5"/>
            </a:solidFill>
            <a:prstDash val="solid"/>
          </a:ln>
        </p:spPr>
      </p:sp>
      <p:sp>
        <p:nvSpPr>
          <p:cNvPr id="26" name="Shape 22"/>
          <p:cNvSpPr/>
          <p:nvPr/>
        </p:nvSpPr>
        <p:spPr>
          <a:xfrm>
            <a:off x="6035040" y="4078224"/>
            <a:ext cx="402336" cy="402336"/>
          </a:xfrm>
          <a:prstGeom prst="ellipse">
            <a:avLst/>
          </a:prstGeom>
          <a:solidFill>
            <a:schemeClr val="accent1">
              <a:alpha val="12000"/>
            </a:schemeClr>
          </a:solidFill>
          <a:ln/>
        </p:spPr>
      </p:sp>
      <p:pic>
        <p:nvPicPr>
          <p:cNvPr id="27" name="Image 2" descr="preencoded.png">    </p:cNvPr>
          <p:cNvPicPr>
            <a:picLocks noChangeAspect="1"/>
          </p:cNvPicPr>
          <p:nvPr/>
        </p:nvPicPr>
        <p:blipFill>
          <a:blip r:embed="rId3"/>
          <a:stretch>
            <a:fillRect/>
          </a:stretch>
        </p:blipFill>
        <p:spPr>
          <a:xfrm>
            <a:off x="6127577" y="4170761"/>
            <a:ext cx="217261" cy="217261"/>
          </a:xfrm>
          <a:prstGeom prst="rect">
            <a:avLst/>
          </a:prstGeom>
        </p:spPr>
      </p:pic>
      <p:sp>
        <p:nvSpPr>
          <p:cNvPr id="28" name="Text 23"/>
          <p:cNvSpPr txBox="1"/>
          <p:nvPr/>
        </p:nvSpPr>
        <p:spPr>
          <a:xfrm>
            <a:off x="6601968" y="4023360"/>
            <a:ext cx="4830775" cy="256032"/>
          </a:xfrm>
          <a:prstGeom prst="rect">
            <a:avLst/>
          </a:prstGeom>
          <a:noFill/>
          <a:ln/>
        </p:spPr>
        <p:txBody>
          <a:bodyPr wrap="square" lIns="0" tIns="0" rIns="0" bIns="0" rtlCol="0" anchor="ctr"/>
          <a:lstStyle/>
          <a:p>
            <a:pPr indent="0" marL="0">
              <a:buNone/>
            </a:pPr>
            <a:r>
              <a:rPr lang="en-US" sz="1500" b="1" dirty="0">
                <a:solidFill>
                  <a:schemeClr val="tx1"/>
                </a:solidFill>
              </a:rPr>
              <a:t>Specialised set-up</a:t>
            </a:r>
            <a:endParaRPr lang="en-US" sz="1500" dirty="0"/>
          </a:p>
        </p:txBody>
      </p:sp>
      <p:sp>
        <p:nvSpPr>
          <p:cNvPr id="29" name="Text 24"/>
          <p:cNvSpPr txBox="1"/>
          <p:nvPr/>
        </p:nvSpPr>
        <p:spPr>
          <a:xfrm>
            <a:off x="6601968" y="4279392"/>
            <a:ext cx="4830775" cy="274320"/>
          </a:xfrm>
          <a:prstGeom prst="rect">
            <a:avLst/>
          </a:prstGeom>
          <a:noFill/>
          <a:ln/>
        </p:spPr>
        <p:txBody>
          <a:bodyPr wrap="square" lIns="0" tIns="0" rIns="0" bIns="0" rtlCol="0" anchor="ctr"/>
          <a:lstStyle/>
          <a:p>
            <a:pPr indent="0" marL="0">
              <a:buNone/>
            </a:pPr>
            <a:r>
              <a:rPr lang="en-US" sz="1300" dirty="0">
                <a:solidFill>
                  <a:schemeClr val="tx2"/>
                </a:solidFill>
              </a:rPr>
              <a:t>Clearance converged with CCTV, access control and intrusion</a:t>
            </a:r>
            <a:endParaRPr lang="en-US" sz="1300" dirty="0"/>
          </a:p>
        </p:txBody>
      </p:sp>
      <p:sp>
        <p:nvSpPr>
          <p:cNvPr id="30" name="Shape 25"/>
          <p:cNvSpPr/>
          <p:nvPr/>
        </p:nvSpPr>
        <p:spPr>
          <a:xfrm>
            <a:off x="6035040" y="4645152"/>
            <a:ext cx="5333695" cy="0"/>
          </a:xfrm>
          <a:prstGeom prst="line">
            <a:avLst/>
          </a:prstGeom>
          <a:noFill/>
          <a:ln w="9525">
            <a:solidFill>
              <a:schemeClr val="accent5"/>
            </a:solidFill>
            <a:prstDash val="solid"/>
          </a:ln>
        </p:spPr>
      </p:sp>
      <p:sp>
        <p:nvSpPr>
          <p:cNvPr id="31" name="Shape 26"/>
          <p:cNvSpPr/>
          <p:nvPr/>
        </p:nvSpPr>
        <p:spPr>
          <a:xfrm>
            <a:off x="6035040" y="4791456"/>
            <a:ext cx="402336" cy="402336"/>
          </a:xfrm>
          <a:prstGeom prst="ellipse">
            <a:avLst/>
          </a:prstGeom>
          <a:solidFill>
            <a:schemeClr val="accent1">
              <a:alpha val="12000"/>
            </a:schemeClr>
          </a:solidFill>
          <a:ln/>
        </p:spPr>
      </p:sp>
      <p:pic>
        <p:nvPicPr>
          <p:cNvPr id="32" name="Image 3" descr="preencoded.png">    </p:cNvPr>
          <p:cNvPicPr>
            <a:picLocks noChangeAspect="1"/>
          </p:cNvPicPr>
          <p:nvPr/>
        </p:nvPicPr>
        <p:blipFill>
          <a:blip r:embed="rId4"/>
          <a:stretch>
            <a:fillRect/>
          </a:stretch>
        </p:blipFill>
        <p:spPr>
          <a:xfrm>
            <a:off x="6127577" y="4883993"/>
            <a:ext cx="217261" cy="217261"/>
          </a:xfrm>
          <a:prstGeom prst="rect">
            <a:avLst/>
          </a:prstGeom>
        </p:spPr>
      </p:pic>
      <p:sp>
        <p:nvSpPr>
          <p:cNvPr id="33" name="Text 27"/>
          <p:cNvSpPr txBox="1"/>
          <p:nvPr/>
        </p:nvSpPr>
        <p:spPr>
          <a:xfrm>
            <a:off x="6601968" y="4736592"/>
            <a:ext cx="4830775" cy="256032"/>
          </a:xfrm>
          <a:prstGeom prst="rect">
            <a:avLst/>
          </a:prstGeom>
          <a:noFill/>
          <a:ln/>
        </p:spPr>
        <p:txBody>
          <a:bodyPr wrap="square" lIns="0" tIns="0" rIns="0" bIns="0" rtlCol="0" anchor="ctr"/>
          <a:lstStyle/>
          <a:p>
            <a:pPr indent="0" marL="0">
              <a:buNone/>
            </a:pPr>
            <a:r>
              <a:rPr lang="en-US" sz="1500" b="1" dirty="0">
                <a:solidFill>
                  <a:schemeClr val="tx1"/>
                </a:solidFill>
              </a:rPr>
              <a:t>Sales network</a:t>
            </a:r>
            <a:endParaRPr lang="en-US" sz="1500" dirty="0"/>
          </a:p>
        </p:txBody>
      </p:sp>
      <p:sp>
        <p:nvSpPr>
          <p:cNvPr id="34" name="Text 28"/>
          <p:cNvSpPr txBox="1"/>
          <p:nvPr/>
        </p:nvSpPr>
        <p:spPr>
          <a:xfrm>
            <a:off x="6601968" y="4992624"/>
            <a:ext cx="4830775" cy="274320"/>
          </a:xfrm>
          <a:prstGeom prst="rect">
            <a:avLst/>
          </a:prstGeom>
          <a:noFill/>
          <a:ln/>
        </p:spPr>
        <p:txBody>
          <a:bodyPr wrap="square" lIns="0" tIns="0" rIns="0" bIns="0" rtlCol="0" anchor="ctr"/>
          <a:lstStyle/>
          <a:p>
            <a:pPr indent="0" marL="0">
              <a:buNone/>
            </a:pPr>
            <a:r>
              <a:rPr lang="en-US" sz="1300" dirty="0">
                <a:solidFill>
                  <a:schemeClr val="tx2"/>
                </a:solidFill>
              </a:rPr>
              <a:t>Group Sales in ME &amp; SEA, plus ISMP accounts to cross-sell</a:t>
            </a:r>
            <a:endParaRPr lang="en-US" sz="1300" dirty="0"/>
          </a:p>
        </p:txBody>
      </p:sp>
      <p:sp>
        <p:nvSpPr>
          <p:cNvPr id="35" name="Shape 29"/>
          <p:cNvSpPr/>
          <p:nvPr/>
        </p:nvSpPr>
        <p:spPr>
          <a:xfrm>
            <a:off x="5760720" y="5614416"/>
            <a:ext cx="5882335" cy="457200"/>
          </a:xfrm>
          <a:prstGeom prst="roundRect">
            <a:avLst>
              <a:gd name="adj" fmla="val 50000"/>
            </a:avLst>
          </a:prstGeom>
          <a:solidFill>
            <a:schemeClr val="accent1">
              <a:alpha val="9000"/>
            </a:schemeClr>
          </a:solidFill>
          <a:ln w="9525">
            <a:solidFill>
              <a:schemeClr val="accent1">
                <a:alpha val="45000"/>
              </a:schemeClr>
            </a:solidFill>
            <a:prstDash val="solid"/>
          </a:ln>
        </p:spPr>
      </p:sp>
      <p:sp>
        <p:nvSpPr>
          <p:cNvPr id="36" name="Text 30"/>
          <p:cNvSpPr txBox="1"/>
          <p:nvPr/>
        </p:nvSpPr>
        <p:spPr>
          <a:xfrm>
            <a:off x="6035040" y="5614416"/>
            <a:ext cx="5425135" cy="457200"/>
          </a:xfrm>
          <a:prstGeom prst="rect">
            <a:avLst/>
          </a:prstGeom>
          <a:noFill/>
          <a:ln/>
        </p:spPr>
        <p:txBody>
          <a:bodyPr wrap="square" lIns="0" tIns="0" rIns="0" bIns="0" rtlCol="0" anchor="ctr"/>
          <a:lstStyle/>
          <a:p>
            <a:pPr indent="0" marL="0">
              <a:buNone/>
            </a:pPr>
            <a:r>
              <a:rPr lang="en-US" sz="1300" b="1" dirty="0">
                <a:solidFill>
                  <a:schemeClr val="tx1"/>
                </a:solidFill>
              </a:rPr>
              <a:t>vs Idemia:  </a:t>
            </a:r>
            <a:pPr indent="0" marL="0">
              <a:buNone/>
            </a:pPr>
            <a:r>
              <a:rPr lang="en-US" sz="1300" dirty="0">
                <a:solidFill>
                  <a:schemeClr val="tx2"/>
                </a:solidFill>
              </a:rPr>
              <a:t>they lead on portfolio; we lead on 2FA and converged ops</a:t>
            </a:r>
            <a:endParaRPr lang="en-US" sz="1300" dirty="0"/>
          </a:p>
        </p:txBody>
      </p:sp>
      <p:sp>
        <p:nvSpPr>
          <p:cNvPr id="37" name="Text 31"/>
          <p:cNvSpPr txBox="1"/>
          <p:nvPr/>
        </p:nvSpPr>
        <p:spPr>
          <a:xfrm>
            <a:off x="548640" y="6089904"/>
            <a:ext cx="11094415" cy="237744"/>
          </a:xfrm>
          <a:prstGeom prst="rect">
            <a:avLst/>
          </a:prstGeom>
          <a:noFill/>
          <a:ln/>
        </p:spPr>
        <p:txBody>
          <a:bodyPr wrap="square" lIns="0" tIns="0" rIns="0" bIns="0" rtlCol="0" anchor="ctr"/>
          <a:lstStyle/>
          <a:p>
            <a:pPr indent="0" marL="0">
              <a:buNone/>
            </a:pPr>
            <a:r>
              <a:rPr lang="en-US" sz="1000" dirty="0">
                <a:solidFill>
                  <a:schemeClr val="accent4"/>
                </a:solidFill>
              </a:rPr>
              <a:t>Sources: I8 corporate record · R8 Idemia PaXpress SmartLane brochure (12/2025) · I12 sales network (confirm with Group Sales). See References.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CONCLUSION</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Ready to pilot. Here is what we need</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Four reasons to back FastPass, and three asks to reach a paying customer.</a:t>
            </a:r>
            <a:endParaRPr lang="en-US" sz="1600" dirty="0"/>
          </a:p>
        </p:txBody>
      </p:sp>
      <p:sp>
        <p:nvSpPr>
          <p:cNvPr id="5" name="Text 3"/>
          <p:cNvSpPr txBox="1"/>
          <p:nvPr/>
        </p:nvSpPr>
        <p:spPr>
          <a:xfrm>
            <a:off x="548640" y="2103120"/>
            <a:ext cx="777240" cy="502920"/>
          </a:xfrm>
          <a:prstGeom prst="rect">
            <a:avLst/>
          </a:prstGeom>
          <a:noFill/>
          <a:ln/>
        </p:spPr>
        <p:txBody>
          <a:bodyPr wrap="square" lIns="0" tIns="0" rIns="0" bIns="0" rtlCol="0" anchor="ctr"/>
          <a:lstStyle/>
          <a:p>
            <a:pPr indent="0" marL="0">
              <a:buNone/>
            </a:pPr>
            <a:r>
              <a:rPr lang="en-US" sz="3000" b="1" dirty="0">
                <a:solidFill>
                  <a:schemeClr val="accent1"/>
                </a:solidFill>
              </a:rPr>
              <a:t>01</a:t>
            </a:r>
            <a:endParaRPr lang="en-US" sz="3000" dirty="0"/>
          </a:p>
        </p:txBody>
      </p:sp>
      <p:sp>
        <p:nvSpPr>
          <p:cNvPr id="6" name="Text 4"/>
          <p:cNvSpPr txBox="1"/>
          <p:nvPr/>
        </p:nvSpPr>
        <p:spPr>
          <a:xfrm>
            <a:off x="1417320" y="2139696"/>
            <a:ext cx="5577840" cy="329184"/>
          </a:xfrm>
          <a:prstGeom prst="rect">
            <a:avLst/>
          </a:prstGeom>
          <a:noFill/>
          <a:ln/>
        </p:spPr>
        <p:txBody>
          <a:bodyPr wrap="square" lIns="0" tIns="0" rIns="0" bIns="0" rtlCol="0" anchor="ctr"/>
          <a:lstStyle/>
          <a:p>
            <a:pPr indent="0" marL="0">
              <a:buNone/>
            </a:pPr>
            <a:r>
              <a:rPr lang="en-US" sz="1900" b="1" dirty="0">
                <a:solidFill>
                  <a:schemeClr val="tx1"/>
                </a:solidFill>
              </a:rPr>
              <a:t>Real pain</a:t>
            </a:r>
            <a:endParaRPr lang="en-US" sz="1900" dirty="0"/>
          </a:p>
        </p:txBody>
      </p:sp>
      <p:sp>
        <p:nvSpPr>
          <p:cNvPr id="7" name="Text 5"/>
          <p:cNvSpPr txBox="1"/>
          <p:nvPr/>
        </p:nvSpPr>
        <p:spPr>
          <a:xfrm>
            <a:off x="1417320" y="2505456"/>
            <a:ext cx="5577840" cy="457200"/>
          </a:xfrm>
          <a:prstGeom prst="rect">
            <a:avLst/>
          </a:prstGeom>
          <a:noFill/>
          <a:ln/>
        </p:spPr>
        <p:txBody>
          <a:bodyPr wrap="square" lIns="0" tIns="0" rIns="0" bIns="0" rtlCol="0" anchor="t"/>
          <a:lstStyle/>
          <a:p>
            <a:pPr indent="0" marL="0">
              <a:buNone/>
            </a:pPr>
            <a:r>
              <a:rPr lang="en-US" sz="1400" dirty="0">
                <a:solidFill>
                  <a:schemeClr val="tx2"/>
                </a:solidFill>
              </a:rPr>
              <a:t>Demand doubles by 2040; new terminals take a decade</a:t>
            </a:r>
            <a:endParaRPr lang="en-US" sz="1400" dirty="0"/>
          </a:p>
        </p:txBody>
      </p:sp>
      <p:sp>
        <p:nvSpPr>
          <p:cNvPr id="8" name="Text 6"/>
          <p:cNvSpPr txBox="1"/>
          <p:nvPr/>
        </p:nvSpPr>
        <p:spPr>
          <a:xfrm>
            <a:off x="548640" y="3081528"/>
            <a:ext cx="777240" cy="502920"/>
          </a:xfrm>
          <a:prstGeom prst="rect">
            <a:avLst/>
          </a:prstGeom>
          <a:noFill/>
          <a:ln/>
        </p:spPr>
        <p:txBody>
          <a:bodyPr wrap="square" lIns="0" tIns="0" rIns="0" bIns="0" rtlCol="0" anchor="ctr"/>
          <a:lstStyle/>
          <a:p>
            <a:pPr indent="0" marL="0">
              <a:buNone/>
            </a:pPr>
            <a:r>
              <a:rPr lang="en-US" sz="3000" b="1" dirty="0">
                <a:solidFill>
                  <a:schemeClr val="accent1"/>
                </a:solidFill>
              </a:rPr>
              <a:t>02</a:t>
            </a:r>
            <a:endParaRPr lang="en-US" sz="3000" dirty="0"/>
          </a:p>
        </p:txBody>
      </p:sp>
      <p:sp>
        <p:nvSpPr>
          <p:cNvPr id="9" name="Text 7"/>
          <p:cNvSpPr txBox="1"/>
          <p:nvPr/>
        </p:nvSpPr>
        <p:spPr>
          <a:xfrm>
            <a:off x="1417320" y="3118104"/>
            <a:ext cx="5577840" cy="329184"/>
          </a:xfrm>
          <a:prstGeom prst="rect">
            <a:avLst/>
          </a:prstGeom>
          <a:noFill/>
          <a:ln/>
        </p:spPr>
        <p:txBody>
          <a:bodyPr wrap="square" lIns="0" tIns="0" rIns="0" bIns="0" rtlCol="0" anchor="ctr"/>
          <a:lstStyle/>
          <a:p>
            <a:pPr indent="0" marL="0">
              <a:buNone/>
            </a:pPr>
            <a:r>
              <a:rPr lang="en-US" sz="1900" b="1" dirty="0">
                <a:solidFill>
                  <a:schemeClr val="tx1"/>
                </a:solidFill>
              </a:rPr>
              <a:t>Focused market</a:t>
            </a:r>
            <a:endParaRPr lang="en-US" sz="1900" dirty="0"/>
          </a:p>
        </p:txBody>
      </p:sp>
      <p:sp>
        <p:nvSpPr>
          <p:cNvPr id="10" name="Text 8"/>
          <p:cNvSpPr txBox="1"/>
          <p:nvPr/>
        </p:nvSpPr>
        <p:spPr>
          <a:xfrm>
            <a:off x="1417320" y="3483864"/>
            <a:ext cx="5577840" cy="457200"/>
          </a:xfrm>
          <a:prstGeom prst="rect">
            <a:avLst/>
          </a:prstGeom>
          <a:noFill/>
          <a:ln/>
        </p:spPr>
        <p:txBody>
          <a:bodyPr wrap="square" lIns="0" tIns="0" rIns="0" bIns="0" rtlCol="0" anchor="t"/>
          <a:lstStyle/>
          <a:p>
            <a:pPr indent="0" marL="0">
              <a:buNone/>
            </a:pPr>
            <a:r>
              <a:rPr lang="en-US" sz="1400" dirty="0">
                <a:solidFill>
                  <a:schemeClr val="tx2"/>
                </a:solidFill>
              </a:rPr>
              <a:t>US$100–140M a year serviceable in ME and Southeast Asia</a:t>
            </a:r>
            <a:endParaRPr lang="en-US" sz="1400" dirty="0"/>
          </a:p>
        </p:txBody>
      </p:sp>
      <p:sp>
        <p:nvSpPr>
          <p:cNvPr id="11" name="Text 9"/>
          <p:cNvSpPr txBox="1"/>
          <p:nvPr/>
        </p:nvSpPr>
        <p:spPr>
          <a:xfrm>
            <a:off x="548640" y="4059936"/>
            <a:ext cx="777240" cy="502920"/>
          </a:xfrm>
          <a:prstGeom prst="rect">
            <a:avLst/>
          </a:prstGeom>
          <a:noFill/>
          <a:ln/>
        </p:spPr>
        <p:txBody>
          <a:bodyPr wrap="square" lIns="0" tIns="0" rIns="0" bIns="0" rtlCol="0" anchor="ctr"/>
          <a:lstStyle/>
          <a:p>
            <a:pPr indent="0" marL="0">
              <a:buNone/>
            </a:pPr>
            <a:r>
              <a:rPr lang="en-US" sz="3000" b="1" dirty="0">
                <a:solidFill>
                  <a:schemeClr val="accent1"/>
                </a:solidFill>
              </a:rPr>
              <a:t>03</a:t>
            </a:r>
            <a:endParaRPr lang="en-US" sz="3000" dirty="0"/>
          </a:p>
        </p:txBody>
      </p:sp>
      <p:sp>
        <p:nvSpPr>
          <p:cNvPr id="12" name="Text 10"/>
          <p:cNvSpPr txBox="1"/>
          <p:nvPr/>
        </p:nvSpPr>
        <p:spPr>
          <a:xfrm>
            <a:off x="1417320" y="4096512"/>
            <a:ext cx="5577840" cy="329184"/>
          </a:xfrm>
          <a:prstGeom prst="rect">
            <a:avLst/>
          </a:prstGeom>
          <a:noFill/>
          <a:ln/>
        </p:spPr>
        <p:txBody>
          <a:bodyPr wrap="square" lIns="0" tIns="0" rIns="0" bIns="0" rtlCol="0" anchor="ctr"/>
          <a:lstStyle/>
          <a:p>
            <a:pPr indent="0" marL="0">
              <a:buNone/>
            </a:pPr>
            <a:r>
              <a:rPr lang="en-US" sz="1900" b="1" dirty="0">
                <a:solidFill>
                  <a:schemeClr val="tx1"/>
                </a:solidFill>
              </a:rPr>
              <a:t>Proven product</a:t>
            </a:r>
            <a:endParaRPr lang="en-US" sz="1900" dirty="0"/>
          </a:p>
        </p:txBody>
      </p:sp>
      <p:sp>
        <p:nvSpPr>
          <p:cNvPr id="13" name="Text 11"/>
          <p:cNvSpPr txBox="1"/>
          <p:nvPr/>
        </p:nvSpPr>
        <p:spPr>
          <a:xfrm>
            <a:off x="1417320" y="4462272"/>
            <a:ext cx="5577840" cy="457200"/>
          </a:xfrm>
          <a:prstGeom prst="rect">
            <a:avLst/>
          </a:prstGeom>
          <a:noFill/>
          <a:ln/>
        </p:spPr>
        <p:txBody>
          <a:bodyPr wrap="square" lIns="0" tIns="0" rIns="0" bIns="0" rtlCol="0" anchor="t"/>
          <a:lstStyle/>
          <a:p>
            <a:pPr indent="0" marL="0">
              <a:buNone/>
            </a:pPr>
            <a:r>
              <a:rPr lang="en-US" sz="1400" dirty="0">
                <a:solidFill>
                  <a:schemeClr val="tx2"/>
                </a:solidFill>
              </a:rPr>
              <a:t>Working prototype, shown at Singapore Airshow 2026</a:t>
            </a:r>
            <a:endParaRPr lang="en-US" sz="1400" dirty="0"/>
          </a:p>
        </p:txBody>
      </p:sp>
      <p:sp>
        <p:nvSpPr>
          <p:cNvPr id="14" name="Text 12"/>
          <p:cNvSpPr txBox="1"/>
          <p:nvPr/>
        </p:nvSpPr>
        <p:spPr>
          <a:xfrm>
            <a:off x="548640" y="5038344"/>
            <a:ext cx="777240" cy="502920"/>
          </a:xfrm>
          <a:prstGeom prst="rect">
            <a:avLst/>
          </a:prstGeom>
          <a:noFill/>
          <a:ln/>
        </p:spPr>
        <p:txBody>
          <a:bodyPr wrap="square" lIns="0" tIns="0" rIns="0" bIns="0" rtlCol="0" anchor="ctr"/>
          <a:lstStyle/>
          <a:p>
            <a:pPr indent="0" marL="0">
              <a:buNone/>
            </a:pPr>
            <a:r>
              <a:rPr lang="en-US" sz="3000" b="1" dirty="0">
                <a:solidFill>
                  <a:schemeClr val="accent1"/>
                </a:solidFill>
              </a:rPr>
              <a:t>04</a:t>
            </a:r>
            <a:endParaRPr lang="en-US" sz="3000" dirty="0"/>
          </a:p>
        </p:txBody>
      </p:sp>
      <p:sp>
        <p:nvSpPr>
          <p:cNvPr id="15" name="Text 13"/>
          <p:cNvSpPr txBox="1"/>
          <p:nvPr/>
        </p:nvSpPr>
        <p:spPr>
          <a:xfrm>
            <a:off x="1417320" y="5074920"/>
            <a:ext cx="5577840" cy="329184"/>
          </a:xfrm>
          <a:prstGeom prst="rect">
            <a:avLst/>
          </a:prstGeom>
          <a:noFill/>
          <a:ln/>
        </p:spPr>
        <p:txBody>
          <a:bodyPr wrap="square" lIns="0" tIns="0" rIns="0" bIns="0" rtlCol="0" anchor="ctr"/>
          <a:lstStyle/>
          <a:p>
            <a:pPr indent="0" marL="0">
              <a:buNone/>
            </a:pPr>
            <a:r>
              <a:rPr lang="en-US" sz="1900" b="1" dirty="0">
                <a:solidFill>
                  <a:schemeClr val="tx1"/>
                </a:solidFill>
              </a:rPr>
              <a:t>Hard to copy</a:t>
            </a:r>
            <a:endParaRPr lang="en-US" sz="1900" dirty="0"/>
          </a:p>
        </p:txBody>
      </p:sp>
      <p:sp>
        <p:nvSpPr>
          <p:cNvPr id="16" name="Text 14"/>
          <p:cNvSpPr txBox="1"/>
          <p:nvPr/>
        </p:nvSpPr>
        <p:spPr>
          <a:xfrm>
            <a:off x="1417320" y="5440680"/>
            <a:ext cx="5577840" cy="457200"/>
          </a:xfrm>
          <a:prstGeom prst="rect">
            <a:avLst/>
          </a:prstGeom>
          <a:noFill/>
          <a:ln/>
        </p:spPr>
        <p:txBody>
          <a:bodyPr wrap="square" lIns="0" tIns="0" rIns="0" bIns="0" rtlCol="0" anchor="t"/>
          <a:lstStyle/>
          <a:p>
            <a:pPr indent="0" marL="0">
              <a:buNone/>
            </a:pPr>
            <a:r>
              <a:rPr lang="en-US" sz="1400" dirty="0">
                <a:solidFill>
                  <a:schemeClr val="tx2"/>
                </a:solidFill>
              </a:rPr>
              <a:t>Two-factor, privacy-first, converged with security ops</a:t>
            </a:r>
            <a:endParaRPr lang="en-US" sz="1400" dirty="0"/>
          </a:p>
        </p:txBody>
      </p:sp>
      <p:sp>
        <p:nvSpPr>
          <p:cNvPr id="17" name="Shape 15"/>
          <p:cNvSpPr/>
          <p:nvPr/>
        </p:nvSpPr>
        <p:spPr>
          <a:xfrm>
            <a:off x="7223760" y="2084832"/>
            <a:ext cx="4419295" cy="3986784"/>
          </a:xfrm>
          <a:prstGeom prst="roundRect">
            <a:avLst>
              <a:gd name="adj" fmla="val 4128"/>
            </a:avLst>
          </a:prstGeom>
          <a:solidFill>
            <a:schemeClr val="accent6"/>
          </a:solidFill>
          <a:ln/>
          <a:effectLst>
            <a:outerShdw sx="100000" sy="100000" kx="0" ky="0" algn="bl" rotWithShape="0" blurRad="177800" dist="38100" dir="5400000">
              <a:srgbClr val="0A1628">
                <a:alpha val="8000"/>
              </a:srgbClr>
            </a:outerShdw>
          </a:effectLst>
        </p:spPr>
      </p:sp>
      <p:sp>
        <p:nvSpPr>
          <p:cNvPr id="18" name="Text 16"/>
          <p:cNvSpPr txBox="1"/>
          <p:nvPr/>
        </p:nvSpPr>
        <p:spPr>
          <a:xfrm>
            <a:off x="7589520" y="2286000"/>
            <a:ext cx="3687775" cy="274320"/>
          </a:xfrm>
          <a:prstGeom prst="rect">
            <a:avLst/>
          </a:prstGeom>
          <a:noFill/>
          <a:ln/>
        </p:spPr>
        <p:txBody>
          <a:bodyPr wrap="square" lIns="0" tIns="0" rIns="0" bIns="0" rtlCol="0" anchor="ctr"/>
          <a:lstStyle/>
          <a:p>
            <a:pPr indent="0" marL="0">
              <a:buNone/>
            </a:pPr>
            <a:r>
              <a:rPr lang="en-US" sz="1100" b="1" spc="200" kern="0" dirty="0">
                <a:solidFill>
                  <a:schemeClr val="accent5"/>
                </a:solidFill>
              </a:rPr>
              <a:t>OUR ASK</a:t>
            </a:r>
            <a:endParaRPr lang="en-US" sz="1100" dirty="0"/>
          </a:p>
        </p:txBody>
      </p:sp>
      <p:sp>
        <p:nvSpPr>
          <p:cNvPr id="19" name="Shape 17"/>
          <p:cNvSpPr/>
          <p:nvPr/>
        </p:nvSpPr>
        <p:spPr>
          <a:xfrm>
            <a:off x="7589520" y="2743200"/>
            <a:ext cx="384048" cy="384048"/>
          </a:xfrm>
          <a:prstGeom prst="ellipse">
            <a:avLst/>
          </a:prstGeom>
          <a:solidFill>
            <a:schemeClr val="accent1"/>
          </a:solidFill>
          <a:ln/>
        </p:spPr>
      </p:sp>
      <p:sp>
        <p:nvSpPr>
          <p:cNvPr id="20" name="Text 18"/>
          <p:cNvSpPr txBox="1"/>
          <p:nvPr/>
        </p:nvSpPr>
        <p:spPr>
          <a:xfrm>
            <a:off x="7589520" y="2743200"/>
            <a:ext cx="384048" cy="384048"/>
          </a:xfrm>
          <a:prstGeom prst="rect">
            <a:avLst/>
          </a:prstGeom>
          <a:noFill/>
          <a:ln/>
        </p:spPr>
        <p:txBody>
          <a:bodyPr wrap="square" lIns="0" tIns="0" rIns="0" bIns="0" rtlCol="0" anchor="ctr"/>
          <a:lstStyle/>
          <a:p>
            <a:pPr algn="ctr" indent="0" marL="0">
              <a:buNone/>
            </a:pPr>
            <a:r>
              <a:rPr lang="en-US" sz="1400" b="1" dirty="0">
                <a:solidFill>
                  <a:schemeClr val="bg2"/>
                </a:solidFill>
              </a:rPr>
              <a:t>1</a:t>
            </a:r>
            <a:endParaRPr lang="en-US" sz="1400" dirty="0"/>
          </a:p>
        </p:txBody>
      </p:sp>
      <p:sp>
        <p:nvSpPr>
          <p:cNvPr id="21" name="Text 19"/>
          <p:cNvSpPr txBox="1"/>
          <p:nvPr/>
        </p:nvSpPr>
        <p:spPr>
          <a:xfrm>
            <a:off x="8138160" y="2724912"/>
            <a:ext cx="3230575" cy="329184"/>
          </a:xfrm>
          <a:prstGeom prst="rect">
            <a:avLst/>
          </a:prstGeom>
          <a:noFill/>
          <a:ln/>
        </p:spPr>
        <p:txBody>
          <a:bodyPr wrap="square" lIns="0" tIns="0" rIns="0" bIns="0" rtlCol="0" anchor="ctr"/>
          <a:lstStyle/>
          <a:p>
            <a:pPr indent="0" marL="0">
              <a:buNone/>
            </a:pPr>
            <a:r>
              <a:rPr lang="en-US" sz="1700" b="1" dirty="0">
                <a:solidFill>
                  <a:schemeClr val="bg1"/>
                </a:solidFill>
              </a:rPr>
              <a:t>Productisation funding</a:t>
            </a:r>
            <a:endParaRPr lang="en-US" sz="1700" dirty="0"/>
          </a:p>
        </p:txBody>
      </p:sp>
      <p:sp>
        <p:nvSpPr>
          <p:cNvPr id="22" name="Text 20"/>
          <p:cNvSpPr txBox="1"/>
          <p:nvPr/>
        </p:nvSpPr>
        <p:spPr>
          <a:xfrm>
            <a:off x="8138160" y="3072384"/>
            <a:ext cx="3230575" cy="457200"/>
          </a:xfrm>
          <a:prstGeom prst="rect">
            <a:avLst/>
          </a:prstGeom>
          <a:noFill/>
          <a:ln/>
        </p:spPr>
        <p:txBody>
          <a:bodyPr wrap="square" lIns="0" tIns="0" rIns="0" bIns="0" rtlCol="0" anchor="t"/>
          <a:lstStyle/>
          <a:p>
            <a:pPr indent="0" marL="0">
              <a:buNone/>
            </a:pPr>
            <a:r>
              <a:rPr lang="en-US" sz="1400" dirty="0">
                <a:solidFill>
                  <a:schemeClr val="accent5"/>
                </a:solidFill>
              </a:rPr>
              <a:t>Offline mode, redundancy and back-end integration</a:t>
            </a:r>
            <a:endParaRPr lang="en-US" sz="1400" dirty="0"/>
          </a:p>
        </p:txBody>
      </p:sp>
      <p:sp>
        <p:nvSpPr>
          <p:cNvPr id="23" name="Shape 21"/>
          <p:cNvSpPr/>
          <p:nvPr/>
        </p:nvSpPr>
        <p:spPr>
          <a:xfrm>
            <a:off x="7589520" y="3794760"/>
            <a:ext cx="384048" cy="384048"/>
          </a:xfrm>
          <a:prstGeom prst="ellipse">
            <a:avLst/>
          </a:prstGeom>
          <a:solidFill>
            <a:schemeClr val="accent1"/>
          </a:solidFill>
          <a:ln/>
        </p:spPr>
      </p:sp>
      <p:sp>
        <p:nvSpPr>
          <p:cNvPr id="24" name="Text 22"/>
          <p:cNvSpPr txBox="1"/>
          <p:nvPr/>
        </p:nvSpPr>
        <p:spPr>
          <a:xfrm>
            <a:off x="7589520" y="3794760"/>
            <a:ext cx="384048" cy="384048"/>
          </a:xfrm>
          <a:prstGeom prst="rect">
            <a:avLst/>
          </a:prstGeom>
          <a:noFill/>
          <a:ln/>
        </p:spPr>
        <p:txBody>
          <a:bodyPr wrap="square" lIns="0" tIns="0" rIns="0" bIns="0" rtlCol="0" anchor="ctr"/>
          <a:lstStyle/>
          <a:p>
            <a:pPr algn="ctr" indent="0" marL="0">
              <a:buNone/>
            </a:pPr>
            <a:r>
              <a:rPr lang="en-US" sz="1400" b="1" dirty="0">
                <a:solidFill>
                  <a:schemeClr val="bg2"/>
                </a:solidFill>
              </a:rPr>
              <a:t>2</a:t>
            </a:r>
            <a:endParaRPr lang="en-US" sz="1400" dirty="0"/>
          </a:p>
        </p:txBody>
      </p:sp>
      <p:sp>
        <p:nvSpPr>
          <p:cNvPr id="25" name="Text 23"/>
          <p:cNvSpPr txBox="1"/>
          <p:nvPr/>
        </p:nvSpPr>
        <p:spPr>
          <a:xfrm>
            <a:off x="8138160" y="3776472"/>
            <a:ext cx="3230575" cy="329184"/>
          </a:xfrm>
          <a:prstGeom prst="rect">
            <a:avLst/>
          </a:prstGeom>
          <a:noFill/>
          <a:ln/>
        </p:spPr>
        <p:txBody>
          <a:bodyPr wrap="square" lIns="0" tIns="0" rIns="0" bIns="0" rtlCol="0" anchor="ctr"/>
          <a:lstStyle/>
          <a:p>
            <a:pPr indent="0" marL="0">
              <a:buNone/>
            </a:pPr>
            <a:r>
              <a:rPr lang="en-US" sz="1700" b="1" dirty="0">
                <a:solidFill>
                  <a:schemeClr val="bg1"/>
                </a:solidFill>
              </a:rPr>
              <a:t>A launch customer</a:t>
            </a:r>
            <a:endParaRPr lang="en-US" sz="1700" dirty="0"/>
          </a:p>
        </p:txBody>
      </p:sp>
      <p:sp>
        <p:nvSpPr>
          <p:cNvPr id="26" name="Text 24"/>
          <p:cNvSpPr txBox="1"/>
          <p:nvPr/>
        </p:nvSpPr>
        <p:spPr>
          <a:xfrm>
            <a:off x="8138160" y="4123944"/>
            <a:ext cx="3230575" cy="457200"/>
          </a:xfrm>
          <a:prstGeom prst="rect">
            <a:avLst/>
          </a:prstGeom>
          <a:noFill/>
          <a:ln/>
        </p:spPr>
        <p:txBody>
          <a:bodyPr wrap="square" lIns="0" tIns="0" rIns="0" bIns="0" rtlCol="0" anchor="t"/>
          <a:lstStyle/>
          <a:p>
            <a:pPr indent="0" marL="0">
              <a:buNone/>
            </a:pPr>
            <a:r>
              <a:rPr lang="en-US" sz="1400" dirty="0">
                <a:solidFill>
                  <a:schemeClr val="accent5"/>
                </a:solidFill>
              </a:rPr>
              <a:t>Group Sales to co-own a paid ME/SEA pilot in 2027</a:t>
            </a:r>
            <a:endParaRPr lang="en-US" sz="1400" dirty="0"/>
          </a:p>
        </p:txBody>
      </p:sp>
      <p:sp>
        <p:nvSpPr>
          <p:cNvPr id="27" name="Shape 25"/>
          <p:cNvSpPr/>
          <p:nvPr/>
        </p:nvSpPr>
        <p:spPr>
          <a:xfrm>
            <a:off x="7589520" y="4846320"/>
            <a:ext cx="384048" cy="384048"/>
          </a:xfrm>
          <a:prstGeom prst="ellipse">
            <a:avLst/>
          </a:prstGeom>
          <a:solidFill>
            <a:schemeClr val="accent1"/>
          </a:solidFill>
          <a:ln/>
        </p:spPr>
      </p:sp>
      <p:sp>
        <p:nvSpPr>
          <p:cNvPr id="28" name="Text 26"/>
          <p:cNvSpPr txBox="1"/>
          <p:nvPr/>
        </p:nvSpPr>
        <p:spPr>
          <a:xfrm>
            <a:off x="7589520" y="4846320"/>
            <a:ext cx="384048" cy="384048"/>
          </a:xfrm>
          <a:prstGeom prst="rect">
            <a:avLst/>
          </a:prstGeom>
          <a:noFill/>
          <a:ln/>
        </p:spPr>
        <p:txBody>
          <a:bodyPr wrap="square" lIns="0" tIns="0" rIns="0" bIns="0" rtlCol="0" anchor="ctr"/>
          <a:lstStyle/>
          <a:p>
            <a:pPr algn="ctr" indent="0" marL="0">
              <a:buNone/>
            </a:pPr>
            <a:r>
              <a:rPr lang="en-US" sz="1400" b="1" dirty="0">
                <a:solidFill>
                  <a:schemeClr val="bg2"/>
                </a:solidFill>
              </a:rPr>
              <a:t>3</a:t>
            </a:r>
            <a:endParaRPr lang="en-US" sz="1400" dirty="0"/>
          </a:p>
        </p:txBody>
      </p:sp>
      <p:sp>
        <p:nvSpPr>
          <p:cNvPr id="29" name="Text 27"/>
          <p:cNvSpPr txBox="1"/>
          <p:nvPr/>
        </p:nvSpPr>
        <p:spPr>
          <a:xfrm>
            <a:off x="8138160" y="4828032"/>
            <a:ext cx="3230575" cy="329184"/>
          </a:xfrm>
          <a:prstGeom prst="rect">
            <a:avLst/>
          </a:prstGeom>
          <a:noFill/>
          <a:ln/>
        </p:spPr>
        <p:txBody>
          <a:bodyPr wrap="square" lIns="0" tIns="0" rIns="0" bIns="0" rtlCol="0" anchor="ctr"/>
          <a:lstStyle/>
          <a:p>
            <a:pPr indent="0" marL="0">
              <a:buNone/>
            </a:pPr>
            <a:r>
              <a:rPr lang="en-US" sz="1700" b="1" dirty="0">
                <a:solidFill>
                  <a:schemeClr val="bg1"/>
                </a:solidFill>
              </a:rPr>
              <a:t>A global stage</a:t>
            </a:r>
            <a:endParaRPr lang="en-US" sz="1700" dirty="0"/>
          </a:p>
        </p:txBody>
      </p:sp>
      <p:sp>
        <p:nvSpPr>
          <p:cNvPr id="30" name="Text 28"/>
          <p:cNvSpPr txBox="1"/>
          <p:nvPr/>
        </p:nvSpPr>
        <p:spPr>
          <a:xfrm>
            <a:off x="8138160" y="5175504"/>
            <a:ext cx="3230575" cy="457200"/>
          </a:xfrm>
          <a:prstGeom prst="rect">
            <a:avLst/>
          </a:prstGeom>
          <a:noFill/>
          <a:ln/>
        </p:spPr>
        <p:txBody>
          <a:bodyPr wrap="square" lIns="0" tIns="0" rIns="0" bIns="0" rtlCol="0" anchor="t"/>
          <a:lstStyle/>
          <a:p>
            <a:pPr indent="0" marL="0">
              <a:buNone/>
            </a:pPr>
            <a:r>
              <a:rPr lang="en-US" sz="1400" dirty="0">
                <a:solidFill>
                  <a:schemeClr val="accent5"/>
                </a:solidFill>
              </a:rPr>
              <a:t>Showcase at Passenger Terminal World 2027</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065215" y="1051560"/>
            <a:ext cx="5577840" cy="4754880"/>
          </a:xfrm>
          <a:prstGeom prst="roundRect">
            <a:avLst>
              <a:gd name="adj" fmla="val 4231"/>
            </a:avLst>
          </a:prstGeom>
          <a:solidFill>
            <a:srgbClr val="2A2A2A"/>
          </a:solidFill>
          <a:ln/>
          <a:effectLst>
            <a:outerShdw sx="100000" sy="100000" kx="0" ky="0" algn="bl" rotWithShape="0" blurRad="381000" dist="127000" dir="5400000">
              <a:srgbClr val="0A1628">
                <a:alpha val="18000"/>
              </a:srgbClr>
            </a:outerShdw>
          </a:effectLst>
        </p:spPr>
      </p:sp>
      <p:pic>
        <p:nvPicPr>
          <p:cNvPr id="3" name="Hero — FastPass lane" descr="/tmp/claude-0/-home-user-sgqy/b70fb111-7300-56ba-abe4-4b6e17d8c33e/scratchpad/assets/common/hero_tile.png">    </p:cNvPr>
          <p:cNvPicPr>
            <a:picLocks noChangeAspect="1"/>
          </p:cNvPicPr>
          <p:nvPr/>
        </p:nvPicPr>
        <p:blipFill>
          <a:blip r:embed="rId1"/>
          <a:stretch>
            <a:fillRect/>
          </a:stretch>
        </p:blipFill>
        <p:spPr>
          <a:xfrm>
            <a:off x="6065215" y="1051560"/>
            <a:ext cx="5577840" cy="4754880"/>
          </a:xfrm>
          <a:prstGeom prst="rect">
            <a:avLst/>
          </a:prstGeom>
        </p:spPr>
      </p:pic>
      <p:sp>
        <p:nvSpPr>
          <p:cNvPr id="4" name="Text 0"/>
          <p:cNvSpPr/>
          <p:nvPr>
            <p:ph idx="101" type="body" hasCustomPrompt="1"/>
          </p:nvPr>
        </p:nvSpPr>
        <p:spPr>
          <a:xfrm>
            <a:off x="548640" y="2057400"/>
            <a:ext cx="5852160" cy="292608"/>
          </a:xfrm>
          <a:prstGeom prst="rect">
            <a:avLst/>
          </a:prstGeom>
          <a:noFill/>
          <a:ln/>
        </p:spPr>
        <p:txBody>
          <a:bodyPr wrap="square" lIns="0" tIns="0" rIns="0" bIns="0" rtlCol="0" anchor="ctr"/>
          <a:lstStyle/>
          <a:p>
            <a:pPr algn="l" indent="0" marL="0">
              <a:buNone/>
            </a:pPr>
            <a:r>
              <a:rPr lang="en-US" sz="1200" b="1" spc="300" kern="0" dirty="0">
                <a:solidFill>
                  <a:schemeClr val="accent1"/>
                </a:solidFill>
              </a:rPr>
              <a:t>AGIL® SECURE FASTPASS</a:t>
            </a:r>
            <a:endParaRPr lang="en-US" sz="1200" dirty="0"/>
          </a:p>
        </p:txBody>
      </p:sp>
      <p:sp>
        <p:nvSpPr>
          <p:cNvPr id="5" name="Text 0"/>
          <p:cNvSpPr/>
          <p:nvPr>
            <p:ph idx="102" type="title" hasCustomPrompt="1"/>
          </p:nvPr>
        </p:nvSpPr>
        <p:spPr>
          <a:xfrm>
            <a:off x="548640" y="2423160"/>
            <a:ext cx="6035040" cy="1600200"/>
          </a:xfrm>
          <a:prstGeom prst="rect">
            <a:avLst/>
          </a:prstGeom>
          <a:noFill/>
          <a:ln/>
        </p:spPr>
        <p:txBody>
          <a:bodyPr wrap="square" lIns="0" tIns="0" rIns="0" bIns="0" rtlCol="0" anchor="t"/>
          <a:lstStyle/>
          <a:p>
            <a:pPr algn="l" indent="0" marL="0">
              <a:lnSpc>
                <a:spcPct val="92000"/>
              </a:lnSpc>
              <a:buNone/>
            </a:pPr>
            <a:r>
              <a:rPr lang="en-US" sz="5400" b="1" dirty="0">
                <a:solidFill>
                  <a:schemeClr val="tx1"/>
                </a:solidFill>
              </a:rPr>
              <a:t>Thank you</a:t>
            </a:r>
            <a:endParaRPr lang="en-US" sz="5400" dirty="0"/>
          </a:p>
          <a:p>
            <a:pPr algn="l" indent="0" marL="0">
              <a:lnSpc>
                <a:spcPct val="92000"/>
              </a:lnSpc>
              <a:buNone/>
            </a:pPr>
            <a:r>
              <a:rPr lang="en-US" sz="3200" b="1" dirty="0">
                <a:solidFill>
                  <a:schemeClr val="accent1"/>
                </a:solidFill>
              </a:rPr>
              <a:t>Questions welcome</a:t>
            </a:r>
            <a:endParaRPr lang="en-US" sz="5400" dirty="0"/>
          </a:p>
        </p:txBody>
      </p:sp>
      <p:sp>
        <p:nvSpPr>
          <p:cNvPr id="6" name="Text 0"/>
          <p:cNvSpPr/>
          <p:nvPr>
            <p:ph idx="103" type="body" hasCustomPrompt="1"/>
          </p:nvPr>
        </p:nvSpPr>
        <p:spPr>
          <a:xfrm>
            <a:off x="548640" y="4114800"/>
            <a:ext cx="4663440" cy="822960"/>
          </a:xfrm>
          <a:prstGeom prst="rect">
            <a:avLst/>
          </a:prstGeom>
          <a:noFill/>
          <a:ln/>
        </p:spPr>
        <p:txBody>
          <a:bodyPr wrap="square" lIns="0" tIns="0" rIns="0" bIns="0" rtlCol="0" anchor="t"/>
          <a:lstStyle/>
          <a:p>
            <a:pPr algn="l" indent="0" marL="0">
              <a:buNone/>
            </a:pPr>
            <a:r>
              <a:rPr lang="en-US" sz="2000" dirty="0">
                <a:solidFill>
                  <a:schemeClr val="tx2"/>
                </a:solidFill>
              </a:rPr>
              <a:t>Curb to gate on one verified identity.</a:t>
            </a:r>
            <a:endParaRPr lang="en-US" sz="2000" dirty="0"/>
          </a:p>
        </p:txBody>
      </p:sp>
      <p:sp>
        <p:nvSpPr>
          <p:cNvPr id="7" name="Text 4"/>
          <p:cNvSpPr txBox="1"/>
          <p:nvPr/>
        </p:nvSpPr>
        <p:spPr>
          <a:xfrm>
            <a:off x="548640" y="6126480"/>
            <a:ext cx="5669280" cy="274320"/>
          </a:xfrm>
          <a:prstGeom prst="rect">
            <a:avLst/>
          </a:prstGeom>
          <a:noFill/>
          <a:ln/>
        </p:spPr>
        <p:txBody>
          <a:bodyPr wrap="square" lIns="0" tIns="0" rIns="0" bIns="0" rtlCol="0" anchor="ctr"/>
          <a:lstStyle/>
          <a:p>
            <a:pPr indent="0" marL="0">
              <a:buNone/>
            </a:pPr>
            <a:r>
              <a:rPr lang="en-US" sz="1100" dirty="0">
                <a:solidFill>
                  <a:schemeClr val="accent4"/>
                </a:solidFill>
              </a:rPr>
              <a:t>Smart Security &amp; Automation  ·  Smart Utilities &amp; Infrastructure  ·  Urban Solutions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body" hasCustomPrompt="1"/>
          </p:nvPr>
        </p:nvSpPr>
        <p:spPr>
          <a:xfrm>
            <a:off x="548640" y="2331720"/>
            <a:ext cx="5486400" cy="292608"/>
          </a:xfrm>
          <a:prstGeom prst="rect">
            <a:avLst/>
          </a:prstGeom>
          <a:noFill/>
          <a:ln/>
        </p:spPr>
        <p:txBody>
          <a:bodyPr wrap="square" lIns="0" tIns="0" rIns="0" bIns="0" rtlCol="0" anchor="ctr"/>
          <a:lstStyle/>
          <a:p>
            <a:pPr algn="l" indent="0" marL="0">
              <a:buNone/>
            </a:pPr>
            <a:r>
              <a:rPr lang="en-US" sz="1200" b="1" spc="300" kern="0" dirty="0">
                <a:solidFill>
                  <a:schemeClr val="accent1"/>
                </a:solidFill>
              </a:rPr>
              <a:t>REFERENCES &amp; Q&amp;A BACKUP</a:t>
            </a:r>
            <a:endParaRPr lang="en-US" sz="1200" dirty="0"/>
          </a:p>
        </p:txBody>
      </p:sp>
      <p:sp>
        <p:nvSpPr>
          <p:cNvPr id="3" name="Text 0"/>
          <p:cNvSpPr/>
          <p:nvPr>
            <p:ph idx="102" type="title" hasCustomPrompt="1"/>
          </p:nvPr>
        </p:nvSpPr>
        <p:spPr>
          <a:xfrm>
            <a:off x="548640" y="2697480"/>
            <a:ext cx="5669280" cy="914400"/>
          </a:xfrm>
          <a:prstGeom prst="rect">
            <a:avLst/>
          </a:prstGeom>
          <a:noFill/>
          <a:ln/>
        </p:spPr>
        <p:txBody>
          <a:bodyPr wrap="square" lIns="0" tIns="0" rIns="0" bIns="0" rtlCol="0" anchor="t"/>
          <a:lstStyle/>
          <a:p>
            <a:pPr algn="l" indent="0" marL="0">
              <a:buNone/>
            </a:pPr>
            <a:r>
              <a:rPr lang="en-US" sz="4800" b="1" dirty="0">
                <a:solidFill>
                  <a:schemeClr val="tx1"/>
                </a:solidFill>
              </a:rPr>
              <a:t>Appendix</a:t>
            </a:r>
            <a:endParaRPr lang="en-US" sz="4800" dirty="0"/>
          </a:p>
        </p:txBody>
      </p:sp>
      <p:sp>
        <p:nvSpPr>
          <p:cNvPr id="4" name="Text 0"/>
          <p:cNvSpPr/>
          <p:nvPr>
            <p:ph idx="103" type="body" hasCustomPrompt="1"/>
          </p:nvPr>
        </p:nvSpPr>
        <p:spPr>
          <a:xfrm>
            <a:off x="548640" y="3657600"/>
            <a:ext cx="5486400" cy="457200"/>
          </a:xfrm>
          <a:prstGeom prst="rect">
            <a:avLst/>
          </a:prstGeom>
          <a:noFill/>
          <a:ln/>
        </p:spPr>
        <p:txBody>
          <a:bodyPr wrap="square" lIns="0" tIns="0" rIns="0" bIns="0" rtlCol="0" anchor="t"/>
          <a:lstStyle/>
          <a:p>
            <a:pPr algn="l" indent="0" marL="0">
              <a:buNone/>
            </a:pPr>
            <a:r>
              <a:rPr lang="en-US" sz="2000" dirty="0">
                <a:solidFill>
                  <a:schemeClr val="tx2"/>
                </a:solidFill>
              </a:rPr>
              <a:t>Every number in the pitch, traced to its source.</a:t>
            </a:r>
            <a:endParaRPr lang="en-US" sz="2000" dirty="0"/>
          </a:p>
        </p:txBody>
      </p:sp>
      <p:sp>
        <p:nvSpPr>
          <p:cNvPr id="5" name="Shape 3"/>
          <p:cNvSpPr/>
          <p:nvPr/>
        </p:nvSpPr>
        <p:spPr>
          <a:xfrm>
            <a:off x="6675120" y="1005840"/>
            <a:ext cx="4967935" cy="5120640"/>
          </a:xfrm>
          <a:prstGeom prst="roundRect">
            <a:avLst>
              <a:gd name="adj" fmla="val 2945"/>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6" name="Text 4"/>
          <p:cNvSpPr txBox="1"/>
          <p:nvPr/>
        </p:nvSpPr>
        <p:spPr>
          <a:xfrm>
            <a:off x="6995160" y="1261872"/>
            <a:ext cx="4325112" cy="365760"/>
          </a:xfrm>
          <a:prstGeom prst="rect">
            <a:avLst/>
          </a:prstGeom>
          <a:noFill/>
          <a:ln/>
        </p:spPr>
        <p:txBody>
          <a:bodyPr wrap="square" lIns="0" tIns="0" rIns="0" bIns="0" rtlCol="0" anchor="ctr"/>
          <a:lstStyle/>
          <a:p>
            <a:pPr indent="0" marL="0">
              <a:buNone/>
            </a:pPr>
            <a:r>
              <a:rPr lang="en-US" sz="1500" b="1" dirty="0">
                <a:solidFill>
                  <a:schemeClr val="accent1"/>
                </a:solidFill>
              </a:rPr>
              <a:t>R1</a:t>
            </a:r>
            <a:pPr indent="0" marL="0">
              <a:buNone/>
            </a:pPr>
            <a:r>
              <a:rPr lang="en-US" sz="1500" dirty="0">
                <a:solidFill>
                  <a:schemeClr val="tx1"/>
                </a:solidFill>
              </a:rPr>
              <a:t>   External sources and URLs</a:t>
            </a:r>
            <a:endParaRPr lang="en-US" sz="1500" dirty="0"/>
          </a:p>
        </p:txBody>
      </p:sp>
      <p:sp>
        <p:nvSpPr>
          <p:cNvPr id="7" name="Shape 5"/>
          <p:cNvSpPr/>
          <p:nvPr/>
        </p:nvSpPr>
        <p:spPr>
          <a:xfrm>
            <a:off x="6995160" y="1709928"/>
            <a:ext cx="4325112" cy="0"/>
          </a:xfrm>
          <a:prstGeom prst="line">
            <a:avLst/>
          </a:prstGeom>
          <a:noFill/>
          <a:ln w="9525">
            <a:solidFill>
              <a:schemeClr val="accent5"/>
            </a:solidFill>
            <a:prstDash val="solid"/>
          </a:ln>
        </p:spPr>
      </p:sp>
      <p:sp>
        <p:nvSpPr>
          <p:cNvPr id="8" name="Text 6"/>
          <p:cNvSpPr txBox="1"/>
          <p:nvPr/>
        </p:nvSpPr>
        <p:spPr>
          <a:xfrm>
            <a:off x="6995160" y="1792224"/>
            <a:ext cx="4325112" cy="365760"/>
          </a:xfrm>
          <a:prstGeom prst="rect">
            <a:avLst/>
          </a:prstGeom>
          <a:noFill/>
          <a:ln/>
        </p:spPr>
        <p:txBody>
          <a:bodyPr wrap="square" lIns="0" tIns="0" rIns="0" bIns="0" rtlCol="0" anchor="ctr"/>
          <a:lstStyle/>
          <a:p>
            <a:pPr indent="0" marL="0">
              <a:buNone/>
            </a:pPr>
            <a:r>
              <a:rPr lang="en-US" sz="1500" b="1" dirty="0">
                <a:solidFill>
                  <a:schemeClr val="accent1"/>
                </a:solidFill>
              </a:rPr>
              <a:t>R2</a:t>
            </a:r>
            <a:pPr indent="0" marL="0">
              <a:buNone/>
            </a:pPr>
            <a:r>
              <a:rPr lang="en-US" sz="1500" dirty="0">
                <a:solidFill>
                  <a:schemeClr val="tx1"/>
                </a:solidFill>
              </a:rPr>
              <a:t>   Internal evidence register</a:t>
            </a:r>
            <a:endParaRPr lang="en-US" sz="1500" dirty="0"/>
          </a:p>
        </p:txBody>
      </p:sp>
      <p:sp>
        <p:nvSpPr>
          <p:cNvPr id="9" name="Shape 7"/>
          <p:cNvSpPr/>
          <p:nvPr/>
        </p:nvSpPr>
        <p:spPr>
          <a:xfrm>
            <a:off x="6995160" y="2240280"/>
            <a:ext cx="4325112" cy="0"/>
          </a:xfrm>
          <a:prstGeom prst="line">
            <a:avLst/>
          </a:prstGeom>
          <a:noFill/>
          <a:ln w="9525">
            <a:solidFill>
              <a:schemeClr val="accent5"/>
            </a:solidFill>
            <a:prstDash val="solid"/>
          </a:ln>
        </p:spPr>
      </p:sp>
      <p:sp>
        <p:nvSpPr>
          <p:cNvPr id="10" name="Text 8"/>
          <p:cNvSpPr txBox="1"/>
          <p:nvPr/>
        </p:nvSpPr>
        <p:spPr>
          <a:xfrm>
            <a:off x="6995160" y="2322576"/>
            <a:ext cx="4325112" cy="365760"/>
          </a:xfrm>
          <a:prstGeom prst="rect">
            <a:avLst/>
          </a:prstGeom>
          <a:noFill/>
          <a:ln/>
        </p:spPr>
        <p:txBody>
          <a:bodyPr wrap="square" lIns="0" tIns="0" rIns="0" bIns="0" rtlCol="0" anchor="ctr"/>
          <a:lstStyle/>
          <a:p>
            <a:pPr indent="0" marL="0">
              <a:buNone/>
            </a:pPr>
            <a:r>
              <a:rPr lang="en-US" sz="1500" b="1" dirty="0">
                <a:solidFill>
                  <a:schemeClr val="accent1"/>
                </a:solidFill>
              </a:rPr>
              <a:t>B1</a:t>
            </a:r>
            <a:pPr indent="0" marL="0">
              <a:buNone/>
            </a:pPr>
            <a:r>
              <a:rPr lang="en-US" sz="1500" dirty="0">
                <a:solidFill>
                  <a:schemeClr val="tx1"/>
                </a:solidFill>
              </a:rPr>
              <a:t>   Hard questions, short answers</a:t>
            </a:r>
            <a:endParaRPr lang="en-US" sz="1500" dirty="0"/>
          </a:p>
        </p:txBody>
      </p:sp>
      <p:sp>
        <p:nvSpPr>
          <p:cNvPr id="11" name="Shape 9"/>
          <p:cNvSpPr/>
          <p:nvPr/>
        </p:nvSpPr>
        <p:spPr>
          <a:xfrm>
            <a:off x="6995160" y="2770632"/>
            <a:ext cx="4325112" cy="0"/>
          </a:xfrm>
          <a:prstGeom prst="line">
            <a:avLst/>
          </a:prstGeom>
          <a:noFill/>
          <a:ln w="9525">
            <a:solidFill>
              <a:schemeClr val="accent5"/>
            </a:solidFill>
            <a:prstDash val="solid"/>
          </a:ln>
        </p:spPr>
      </p:sp>
      <p:sp>
        <p:nvSpPr>
          <p:cNvPr id="12" name="Text 10"/>
          <p:cNvSpPr txBox="1"/>
          <p:nvPr/>
        </p:nvSpPr>
        <p:spPr>
          <a:xfrm>
            <a:off x="6995160" y="2852928"/>
            <a:ext cx="4325112" cy="365760"/>
          </a:xfrm>
          <a:prstGeom prst="rect">
            <a:avLst/>
          </a:prstGeom>
          <a:noFill/>
          <a:ln/>
        </p:spPr>
        <p:txBody>
          <a:bodyPr wrap="square" lIns="0" tIns="0" rIns="0" bIns="0" rtlCol="0" anchor="ctr"/>
          <a:lstStyle/>
          <a:p>
            <a:pPr indent="0" marL="0">
              <a:buNone/>
            </a:pPr>
            <a:r>
              <a:rPr lang="en-US" sz="1500" b="1" dirty="0">
                <a:solidFill>
                  <a:schemeClr val="accent1"/>
                </a:solidFill>
              </a:rPr>
              <a:t>B2</a:t>
            </a:r>
            <a:pPr indent="0" marL="0">
              <a:buNone/>
            </a:pPr>
            <a:r>
              <a:rPr lang="en-US" sz="1500" dirty="0">
                <a:solidFill>
                  <a:schemeClr val="tx1"/>
                </a:solidFill>
              </a:rPr>
              <a:t>   Benchmark: FastPass vs Idemia</a:t>
            </a:r>
            <a:endParaRPr lang="en-US" sz="1500" dirty="0"/>
          </a:p>
        </p:txBody>
      </p:sp>
      <p:sp>
        <p:nvSpPr>
          <p:cNvPr id="13" name="Shape 11"/>
          <p:cNvSpPr/>
          <p:nvPr/>
        </p:nvSpPr>
        <p:spPr>
          <a:xfrm>
            <a:off x="6995160" y="3300984"/>
            <a:ext cx="4325112" cy="0"/>
          </a:xfrm>
          <a:prstGeom prst="line">
            <a:avLst/>
          </a:prstGeom>
          <a:noFill/>
          <a:ln w="9525">
            <a:solidFill>
              <a:schemeClr val="accent5"/>
            </a:solidFill>
            <a:prstDash val="solid"/>
          </a:ln>
        </p:spPr>
      </p:sp>
      <p:sp>
        <p:nvSpPr>
          <p:cNvPr id="14" name="Text 12"/>
          <p:cNvSpPr txBox="1"/>
          <p:nvPr/>
        </p:nvSpPr>
        <p:spPr>
          <a:xfrm>
            <a:off x="6995160" y="3383280"/>
            <a:ext cx="4325112" cy="365760"/>
          </a:xfrm>
          <a:prstGeom prst="rect">
            <a:avLst/>
          </a:prstGeom>
          <a:noFill/>
          <a:ln/>
        </p:spPr>
        <p:txBody>
          <a:bodyPr wrap="square" lIns="0" tIns="0" rIns="0" bIns="0" rtlCol="0" anchor="ctr"/>
          <a:lstStyle/>
          <a:p>
            <a:pPr indent="0" marL="0">
              <a:buNone/>
            </a:pPr>
            <a:r>
              <a:rPr lang="en-US" sz="1500" b="1" dirty="0">
                <a:solidFill>
                  <a:schemeClr val="accent1"/>
                </a:solidFill>
              </a:rPr>
              <a:t>B3</a:t>
            </a:r>
            <a:pPr indent="0" marL="0">
              <a:buNone/>
            </a:pPr>
            <a:r>
              <a:rPr lang="en-US" sz="1500" dirty="0">
                <a:solidFill>
                  <a:schemeClr val="tx1"/>
                </a:solidFill>
              </a:rPr>
              <a:t>   ISMP: one platform behind every touchpoint</a:t>
            </a:r>
            <a:endParaRPr lang="en-US" sz="1500" dirty="0"/>
          </a:p>
        </p:txBody>
      </p:sp>
      <p:sp>
        <p:nvSpPr>
          <p:cNvPr id="15" name="Shape 13"/>
          <p:cNvSpPr/>
          <p:nvPr/>
        </p:nvSpPr>
        <p:spPr>
          <a:xfrm>
            <a:off x="6995160" y="3831336"/>
            <a:ext cx="4325112" cy="0"/>
          </a:xfrm>
          <a:prstGeom prst="line">
            <a:avLst/>
          </a:prstGeom>
          <a:noFill/>
          <a:ln w="9525">
            <a:solidFill>
              <a:schemeClr val="accent5"/>
            </a:solidFill>
            <a:prstDash val="solid"/>
          </a:ln>
        </p:spPr>
      </p:sp>
      <p:sp>
        <p:nvSpPr>
          <p:cNvPr id="16" name="Text 14"/>
          <p:cNvSpPr txBox="1"/>
          <p:nvPr/>
        </p:nvSpPr>
        <p:spPr>
          <a:xfrm>
            <a:off x="6995160" y="3913632"/>
            <a:ext cx="4325112" cy="365760"/>
          </a:xfrm>
          <a:prstGeom prst="rect">
            <a:avLst/>
          </a:prstGeom>
          <a:noFill/>
          <a:ln/>
        </p:spPr>
        <p:txBody>
          <a:bodyPr wrap="square" lIns="0" tIns="0" rIns="0" bIns="0" rtlCol="0" anchor="ctr"/>
          <a:lstStyle/>
          <a:p>
            <a:pPr indent="0" marL="0">
              <a:buNone/>
            </a:pPr>
            <a:r>
              <a:rPr lang="en-US" sz="1500" b="1" dirty="0">
                <a:solidFill>
                  <a:schemeClr val="accent1"/>
                </a:solidFill>
              </a:rPr>
              <a:t>B4</a:t>
            </a:r>
            <a:pPr indent="0" marL="0">
              <a:buNone/>
            </a:pPr>
            <a:r>
              <a:rPr lang="en-US" sz="1500" dirty="0">
                <a:solidFill>
                  <a:schemeClr val="tx1"/>
                </a:solidFill>
              </a:rPr>
              <a:t>   Product roadmap and adjacencies</a:t>
            </a:r>
            <a:endParaRPr lang="en-US" sz="1500" dirty="0"/>
          </a:p>
        </p:txBody>
      </p:sp>
      <p:sp>
        <p:nvSpPr>
          <p:cNvPr id="17" name="Shape 15"/>
          <p:cNvSpPr/>
          <p:nvPr/>
        </p:nvSpPr>
        <p:spPr>
          <a:xfrm>
            <a:off x="6995160" y="4361688"/>
            <a:ext cx="4325112" cy="0"/>
          </a:xfrm>
          <a:prstGeom prst="line">
            <a:avLst/>
          </a:prstGeom>
          <a:noFill/>
          <a:ln w="9525">
            <a:solidFill>
              <a:schemeClr val="accent5"/>
            </a:solidFill>
            <a:prstDash val="solid"/>
          </a:ln>
        </p:spPr>
      </p:sp>
      <p:sp>
        <p:nvSpPr>
          <p:cNvPr id="18" name="Text 16"/>
          <p:cNvSpPr txBox="1"/>
          <p:nvPr/>
        </p:nvSpPr>
        <p:spPr>
          <a:xfrm>
            <a:off x="6995160" y="4443984"/>
            <a:ext cx="4325112" cy="365760"/>
          </a:xfrm>
          <a:prstGeom prst="rect">
            <a:avLst/>
          </a:prstGeom>
          <a:noFill/>
          <a:ln/>
        </p:spPr>
        <p:txBody>
          <a:bodyPr wrap="square" lIns="0" tIns="0" rIns="0" bIns="0" rtlCol="0" anchor="ctr"/>
          <a:lstStyle/>
          <a:p>
            <a:pPr indent="0" marL="0">
              <a:buNone/>
            </a:pPr>
            <a:r>
              <a:rPr lang="en-US" sz="1500" b="1" dirty="0">
                <a:solidFill>
                  <a:schemeClr val="accent1"/>
                </a:solidFill>
              </a:rPr>
              <a:t>B5</a:t>
            </a:r>
            <a:pPr indent="0" marL="0">
              <a:buNone/>
            </a:pPr>
            <a:r>
              <a:rPr lang="en-US" sz="1500" dirty="0">
                <a:solidFill>
                  <a:schemeClr val="tx1"/>
                </a:solidFill>
              </a:rPr>
              <a:t>   Market sizing method</a:t>
            </a:r>
            <a:endParaRPr lang="en-US" sz="1500" dirty="0"/>
          </a:p>
        </p:txBody>
      </p:sp>
      <p:sp>
        <p:nvSpPr>
          <p:cNvPr id="19" name="Shape 17"/>
          <p:cNvSpPr/>
          <p:nvPr/>
        </p:nvSpPr>
        <p:spPr>
          <a:xfrm>
            <a:off x="6995160" y="4892040"/>
            <a:ext cx="4325112" cy="0"/>
          </a:xfrm>
          <a:prstGeom prst="line">
            <a:avLst/>
          </a:prstGeom>
          <a:noFill/>
          <a:ln w="9525">
            <a:solidFill>
              <a:schemeClr val="accent5"/>
            </a:solidFill>
            <a:prstDash val="solid"/>
          </a:ln>
        </p:spPr>
      </p:sp>
      <p:sp>
        <p:nvSpPr>
          <p:cNvPr id="20" name="Text 18"/>
          <p:cNvSpPr txBox="1"/>
          <p:nvPr/>
        </p:nvSpPr>
        <p:spPr>
          <a:xfrm>
            <a:off x="6995160" y="4974336"/>
            <a:ext cx="4325112" cy="365760"/>
          </a:xfrm>
          <a:prstGeom prst="rect">
            <a:avLst/>
          </a:prstGeom>
          <a:noFill/>
          <a:ln/>
        </p:spPr>
        <p:txBody>
          <a:bodyPr wrap="square" lIns="0" tIns="0" rIns="0" bIns="0" rtlCol="0" anchor="ctr"/>
          <a:lstStyle/>
          <a:p>
            <a:pPr indent="0" marL="0">
              <a:buNone/>
            </a:pPr>
            <a:r>
              <a:rPr lang="en-US" sz="1500" b="1" dirty="0">
                <a:solidFill>
                  <a:schemeClr val="accent1"/>
                </a:solidFill>
              </a:rPr>
              <a:t>B6</a:t>
            </a:r>
            <a:pPr indent="0" marL="0">
              <a:buNone/>
            </a:pPr>
            <a:r>
              <a:rPr lang="en-US" sz="1500" dirty="0">
                <a:solidFill>
                  <a:schemeClr val="tx1"/>
                </a:solidFill>
              </a:rPr>
              <a:t>   E-Gate design and engineering</a:t>
            </a:r>
            <a:endParaRPr lang="en-US" sz="1500" dirty="0"/>
          </a:p>
        </p:txBody>
      </p:sp>
      <p:sp>
        <p:nvSpPr>
          <p:cNvPr id="21" name="Shape 19"/>
          <p:cNvSpPr/>
          <p:nvPr/>
        </p:nvSpPr>
        <p:spPr>
          <a:xfrm>
            <a:off x="6995160" y="5422392"/>
            <a:ext cx="4325112" cy="0"/>
          </a:xfrm>
          <a:prstGeom prst="line">
            <a:avLst/>
          </a:prstGeom>
          <a:noFill/>
          <a:ln w="9525">
            <a:solidFill>
              <a:schemeClr val="accent5"/>
            </a:solidFill>
            <a:prstDash val="solid"/>
          </a:ln>
        </p:spPr>
      </p:sp>
      <p:sp>
        <p:nvSpPr>
          <p:cNvPr id="22" name="Text 20"/>
          <p:cNvSpPr txBox="1"/>
          <p:nvPr/>
        </p:nvSpPr>
        <p:spPr>
          <a:xfrm>
            <a:off x="6995160" y="5504688"/>
            <a:ext cx="4325112" cy="365760"/>
          </a:xfrm>
          <a:prstGeom prst="rect">
            <a:avLst/>
          </a:prstGeom>
          <a:noFill/>
          <a:ln/>
        </p:spPr>
        <p:txBody>
          <a:bodyPr wrap="square" lIns="0" tIns="0" rIns="0" bIns="0" rtlCol="0" anchor="ctr"/>
          <a:lstStyle/>
          <a:p>
            <a:pPr indent="0" marL="0">
              <a:buNone/>
            </a:pPr>
            <a:r>
              <a:rPr lang="en-US" sz="1500" b="1" dirty="0">
                <a:solidFill>
                  <a:schemeClr val="accent1"/>
                </a:solidFill>
              </a:rPr>
              <a:t>B7</a:t>
            </a:r>
            <a:pPr indent="0" marL="0">
              <a:buNone/>
            </a:pPr>
            <a:r>
              <a:rPr lang="en-US" sz="1500" dirty="0">
                <a:solidFill>
                  <a:schemeClr val="tx1"/>
                </a:solidFill>
              </a:rPr>
              <a:t>   AI in the product and the build</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R1  ·  REFERENCES</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External sources</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Public sources behind every market and industry figure. Checked 15 Oct 2026.</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938528"/>
          <a:ext cx="11094415" cy="914400"/>
        </p:xfrm>
        <a:graphic>
          <a:graphicData uri="http://schemas.openxmlformats.org/drawingml/2006/table">
            <a:tbl>
              <a:tblPr/>
              <a:tblGrid>
                <a:gridCol w="502920"/>
                <a:gridCol w="3291840"/>
                <a:gridCol w="6355080"/>
                <a:gridCol w="944575"/>
              </a:tblGrid>
              <a:tr h="438912">
                <a:tc>
                  <a:txBody>
                    <a:bodyPr/>
                    <a:lstStyle/>
                    <a:p>
                      <a:pPr indent="0" marL="0">
                        <a:buNone/>
                      </a:pPr>
                      <a:r>
                        <a:rPr lang="en-US" sz="1100" b="1" dirty="0">
                          <a:solidFill>
                            <a:schemeClr val="bg1"/>
                          </a:solidFill>
                        </a:rPr>
                        <a:t>Ref</a:t>
                      </a:r>
                      <a:endParaRPr lang="en-US" sz="11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accent6"/>
                    </a:solidFill>
                  </a:tcPr>
                </a:tc>
                <a:tc>
                  <a:txBody>
                    <a:bodyPr/>
                    <a:lstStyle/>
                    <a:p>
                      <a:pPr indent="0" marL="0">
                        <a:buNone/>
                      </a:pPr>
                      <a:r>
                        <a:rPr lang="en-US" sz="1100" b="1" dirty="0">
                          <a:solidFill>
                            <a:schemeClr val="bg1"/>
                          </a:solidFill>
                        </a:rPr>
                        <a:t>What the slide says</a:t>
                      </a:r>
                      <a:endParaRPr lang="en-US" sz="11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accent6"/>
                    </a:solidFill>
                  </a:tcPr>
                </a:tc>
                <a:tc>
                  <a:txBody>
                    <a:bodyPr/>
                    <a:lstStyle/>
                    <a:p>
                      <a:pPr indent="0" marL="0">
                        <a:buNone/>
                      </a:pPr>
                      <a:r>
                        <a:rPr lang="en-US" sz="1100" b="1" dirty="0">
                          <a:solidFill>
                            <a:schemeClr val="bg1"/>
                          </a:solidFill>
                        </a:rPr>
                        <a:t>Source</a:t>
                      </a:r>
                      <a:endParaRPr lang="en-US" sz="11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accent6"/>
                    </a:solidFill>
                  </a:tcPr>
                </a:tc>
                <a:tc>
                  <a:txBody>
                    <a:bodyPr/>
                    <a:lstStyle/>
                    <a:p>
                      <a:pPr indent="0" marL="0">
                        <a:buNone/>
                      </a:pPr>
                      <a:r>
                        <a:rPr lang="en-US" sz="1100" b="1" dirty="0">
                          <a:solidFill>
                            <a:schemeClr val="bg1"/>
                          </a:solidFill>
                        </a:rPr>
                        <a:t>Status</a:t>
                      </a:r>
                      <a:endParaRPr lang="en-US" sz="11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accent6"/>
                    </a:solidFill>
                  </a:tcPr>
                </a:tc>
              </a:tr>
              <a:tr h="438912">
                <a:tc>
                  <a:txBody>
                    <a:bodyPr/>
                    <a:lstStyle/>
                    <a:p>
                      <a:pPr indent="0" marL="0">
                        <a:buNone/>
                      </a:pPr>
                      <a:r>
                        <a:rPr lang="en-US" sz="1000" b="1" dirty="0">
                          <a:solidFill>
                            <a:schemeClr val="tx1"/>
                          </a:solidFill>
                        </a:rPr>
                        <a:t>R1</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Passengers double by 2040 (7.8 bn, +4.2% a year)</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50"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IATA, Global Outlook for Air Transport, Dec 2023</a:t>
                      </a:r>
                      <a:endParaRPr lang="en-US" sz="1050" dirty="0"/>
                    </a:p>
                    <a:p>
                      <a:pPr indent="0" marL="0">
                        <a:buNone/>
                      </a:pPr>
                      <a:r>
                        <a:rPr lang="en-US" sz="800" dirty="0">
                          <a:solidFill>
                            <a:schemeClr val="accent4"/>
                          </a:solidFill>
                        </a:rPr>
                        <a:t>https://www.iata.org/en/iata-repository/publications/economic-reports/global-outlook-for-air-transport---december-2023---report/</a:t>
                      </a:r>
                      <a:endParaRPr lang="en-US" sz="105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2"/>
                          </a:solidFill>
                        </a:rPr>
                        <a:t>Verified</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438912">
                <a:tc>
                  <a:txBody>
                    <a:bodyPr/>
                    <a:lstStyle/>
                    <a:p>
                      <a:pPr indent="0" marL="0">
                        <a:buNone/>
                      </a:pPr>
                      <a:r>
                        <a:rPr lang="en-US" sz="1000" b="1" dirty="0">
                          <a:solidFill>
                            <a:schemeClr val="tx1"/>
                          </a:solidFill>
                        </a:rPr>
                        <a:t>R2</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Changi T5: ground broken 2025, opens mid-2030s</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50"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Singapore MOT, Update on Changi Airport T5</a:t>
                      </a:r>
                      <a:endParaRPr lang="en-US" sz="1050" dirty="0"/>
                    </a:p>
                    <a:p>
                      <a:pPr indent="0" marL="0">
                        <a:buNone/>
                      </a:pPr>
                      <a:r>
                        <a:rPr lang="en-US" sz="800" dirty="0">
                          <a:solidFill>
                            <a:schemeClr val="accent4"/>
                          </a:solidFill>
                        </a:rPr>
                        <a:t>https://www.mot.gov.sg/news-resources/newsroom/update-on-development-plans-for-changi-airport-terminal-5/</a:t>
                      </a:r>
                      <a:endParaRPr lang="en-US" sz="105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2"/>
                          </a:solidFill>
                        </a:rPr>
                        <a:t>Verified</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438912">
                <a:tc>
                  <a:txBody>
                    <a:bodyPr/>
                    <a:lstStyle/>
                    <a:p>
                      <a:pPr indent="0" marL="0">
                        <a:buNone/>
                      </a:pPr>
                      <a:r>
                        <a:rPr lang="en-US" sz="1000" b="1" dirty="0">
                          <a:solidFill>
                            <a:schemeClr val="tx1"/>
                          </a:solidFill>
                        </a:rPr>
                        <a:t>R3</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ABC market US$2.56B → 5.03B (2025–30), 14.4% CAGR</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50" u="sng" dirty="0">
                          <a:solidFill>
                            <a:schemeClr val="accent1"/>
                          </a:solidFill>
                          <a:hlinkClick r:id="rId3" invalidUrl="" action="" tgtFrame="" tooltip="" history="1" highlightClick="0" endSnd="0">
                            <a:extLst>
                              <a:ext uri="{A12FA001-AC4F-418D-AE19-62706E023703}">
                                <ahyp:hlinkClr xmlns:ahyp="http://schemas.microsoft.com/office/drawing/2018/hyperlinkcolor" val="tx"/>
                              </a:ext>
                            </a:extLst>
                          </a:hlinkClick>
                        </a:rPr>
                        <a:t>MarketsandMarkets press release, Jul 2025</a:t>
                      </a:r>
                      <a:endParaRPr lang="en-US" sz="1050" dirty="0"/>
                    </a:p>
                    <a:p>
                      <a:pPr indent="0" marL="0">
                        <a:buNone/>
                      </a:pPr>
                      <a:r>
                        <a:rPr lang="en-US" sz="800" dirty="0">
                          <a:solidFill>
                            <a:schemeClr val="accent4"/>
                          </a:solidFill>
                        </a:rPr>
                        <a:t>https://www.marketsandmarkets.com/PressReleases/automated-border-control.asp</a:t>
                      </a:r>
                      <a:endParaRPr lang="en-US" sz="105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2"/>
                          </a:solidFill>
                        </a:rPr>
                        <a:t>Verified</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438912">
                <a:tc>
                  <a:txBody>
                    <a:bodyPr/>
                    <a:lstStyle/>
                    <a:p>
                      <a:pPr indent="0" marL="0">
                        <a:buNone/>
                      </a:pPr>
                      <a:r>
                        <a:rPr lang="en-US" sz="1000" b="1" dirty="0">
                          <a:solidFill>
                            <a:schemeClr val="tx1"/>
                          </a:solidFill>
                        </a:rPr>
                        <a:t>R4</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Airports 83.1% of ABC market; Asia-Pacific 32.6%</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50" u="sng" dirty="0">
                          <a:solidFill>
                            <a:schemeClr val="accent1"/>
                          </a:solidFill>
                          <a:hlinkClick r:id="rId4" invalidUrl="" action="" tgtFrame="" tooltip="" history="1" highlightClick="0" endSnd="0">
                            <a:extLst>
                              <a:ext uri="{A12FA001-AC4F-418D-AE19-62706E023703}">
                                <ahyp:hlinkClr xmlns:ahyp="http://schemas.microsoft.com/office/drawing/2018/hyperlinkcolor" val="tx"/>
                              </a:ext>
                            </a:extLst>
                          </a:hlinkClick>
                        </a:rPr>
                        <a:t>MarketsandMarkets, ABC market size insight</a:t>
                      </a:r>
                      <a:endParaRPr lang="en-US" sz="1050" dirty="0"/>
                    </a:p>
                    <a:p>
                      <a:pPr indent="0" marL="0">
                        <a:buNone/>
                      </a:pPr>
                      <a:r>
                        <a:rPr lang="en-US" sz="800" dirty="0">
                          <a:solidFill>
                            <a:schemeClr val="accent4"/>
                          </a:solidFill>
                        </a:rPr>
                        <a:t>https://www.marketsandmarkets.com/ResearchInsight/automated-border-control-market-size.asp</a:t>
                      </a:r>
                      <a:endParaRPr lang="en-US" sz="105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2"/>
                          </a:solidFill>
                        </a:rPr>
                        <a:t>Verified</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438912">
                <a:tc>
                  <a:txBody>
                    <a:bodyPr/>
                    <a:lstStyle/>
                    <a:p>
                      <a:pPr indent="0" marL="0">
                        <a:buNone/>
                      </a:pPr>
                      <a:r>
                        <a:rPr lang="en-US" sz="1000" b="1" dirty="0">
                          <a:solidFill>
                            <a:schemeClr val="tx1"/>
                          </a:solidFill>
                        </a:rPr>
                        <a:t>R5</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~70% of airlines plan biometric ID by 2026</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50" u="sng" dirty="0">
                          <a:solidFill>
                            <a:schemeClr val="accent1"/>
                          </a:solidFill>
                          <a:hlinkClick r:id="rId5" invalidUrl="" action="" tgtFrame="" tooltip="" history="1" highlightClick="0" endSnd="0">
                            <a:extLst>
                              <a:ext uri="{A12FA001-AC4F-418D-AE19-62706E023703}">
                                <ahyp:hlinkClr xmlns:ahyp="http://schemas.microsoft.com/office/drawing/2018/hyperlinkcolor" val="tx"/>
                              </a:ext>
                            </a:extLst>
                          </a:hlinkClick>
                        </a:rPr>
                        <a:t>SITA, Air Transport IT Insights 2024</a:t>
                      </a:r>
                      <a:endParaRPr lang="en-US" sz="1050" dirty="0"/>
                    </a:p>
                    <a:p>
                      <a:pPr indent="0" marL="0">
                        <a:buNone/>
                      </a:pPr>
                      <a:r>
                        <a:rPr lang="en-US" sz="800" dirty="0">
                          <a:solidFill>
                            <a:schemeClr val="accent4"/>
                          </a:solidFill>
                        </a:rPr>
                        <a:t>https://www.sita.aero/resources/surveys-reports/air-transport-it-insights-2024/</a:t>
                      </a:r>
                      <a:endParaRPr lang="en-US" sz="105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2"/>
                          </a:solidFill>
                        </a:rPr>
                        <a:t>Verified</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438912">
                <a:tc>
                  <a:txBody>
                    <a:bodyPr/>
                    <a:lstStyle/>
                    <a:p>
                      <a:pPr indent="0" marL="0">
                        <a:buNone/>
                      </a:pPr>
                      <a:r>
                        <a:rPr lang="en-US" sz="1000" b="1" dirty="0">
                          <a:solidFill>
                            <a:schemeClr val="tx1"/>
                          </a:solidFill>
                        </a:rPr>
                        <a:t>R6</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Asia-Pacific (≈4.8% a year) and Middle East lead growth</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50" u="sng" dirty="0">
                          <a:solidFill>
                            <a:schemeClr val="accent1"/>
                          </a:solidFill>
                          <a:hlinkClick r:id="rId6" invalidUrl="" action="" tgtFrame="" tooltip="" history="1" highlightClick="0" endSnd="0">
                            <a:extLst>
                              <a:ext uri="{A12FA001-AC4F-418D-AE19-62706E023703}">
                                <ahyp:hlinkClr xmlns:ahyp="http://schemas.microsoft.com/office/drawing/2018/hyperlinkcolor" val="tx"/>
                              </a:ext>
                            </a:extLst>
                          </a:hlinkClick>
                        </a:rPr>
                        <a:t>SCMP on IATA 20-year outlook</a:t>
                      </a:r>
                      <a:endParaRPr lang="en-US" sz="1050" dirty="0"/>
                    </a:p>
                    <a:p>
                      <a:pPr indent="0" marL="0">
                        <a:buNone/>
                      </a:pPr>
                      <a:r>
                        <a:rPr lang="en-US" sz="800" dirty="0">
                          <a:solidFill>
                            <a:schemeClr val="accent4"/>
                          </a:solidFill>
                        </a:rPr>
                        <a:t>https://www.scmp.com/news/world/middle-east/article/3271055/global-airline-traffic-forecast-double-20-years-led-asia-middle-east</a:t>
                      </a:r>
                      <a:endParaRPr lang="en-US" sz="105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2"/>
                          </a:solidFill>
                        </a:rPr>
                        <a:t>Secondary</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438912">
                <a:tc>
                  <a:txBody>
                    <a:bodyPr/>
                    <a:lstStyle/>
                    <a:p>
                      <a:pPr indent="0" marL="0">
                        <a:buNone/>
                      </a:pPr>
                      <a:r>
                        <a:rPr lang="en-US" sz="1000" b="1" dirty="0">
                          <a:solidFill>
                            <a:schemeClr val="tx1"/>
                          </a:solidFill>
                        </a:rPr>
                        <a:t>R7</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Airports’ IT spend US$14.8B; 89% prioritise data</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50" u="sng" dirty="0">
                          <a:solidFill>
                            <a:schemeClr val="accent1"/>
                          </a:solidFill>
                          <a:hlinkClick r:id="rId7" invalidUrl="" action="" tgtFrame="" tooltip="" history="1" highlightClick="0" endSnd="0">
                            <a:extLst>
                              <a:ext uri="{A12FA001-AC4F-418D-AE19-62706E023703}">
                                <ahyp:hlinkClr xmlns:ahyp="http://schemas.microsoft.com/office/drawing/2018/hyperlinkcolor" val="tx"/>
                              </a:ext>
                            </a:extLst>
                          </a:hlinkClick>
                        </a:rPr>
                        <a:t>SITA, Air Transport IT Insights 2025</a:t>
                      </a:r>
                      <a:endParaRPr lang="en-US" sz="1050" dirty="0"/>
                    </a:p>
                    <a:p>
                      <a:pPr indent="0" marL="0">
                        <a:buNone/>
                      </a:pPr>
                      <a:r>
                        <a:rPr lang="en-US" sz="800" dirty="0">
                          <a:solidFill>
                            <a:schemeClr val="accent4"/>
                          </a:solidFill>
                        </a:rPr>
                        <a:t>https://www.sita.aero/resources/surveys-reports/air-transport-it-insights-2025/airports/</a:t>
                      </a:r>
                      <a:endParaRPr lang="en-US" sz="105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2"/>
                          </a:solidFill>
                        </a:rPr>
                        <a:t>Verified</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438912">
                <a:tc>
                  <a:txBody>
                    <a:bodyPr/>
                    <a:lstStyle/>
                    <a:p>
                      <a:pPr indent="0" marL="0">
                        <a:buNone/>
                      </a:pPr>
                      <a:r>
                        <a:rPr lang="en-US" sz="1000" b="1" dirty="0">
                          <a:solidFill>
                            <a:schemeClr val="tx1"/>
                          </a:solidFill>
                        </a:rPr>
                        <a:t>R8</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Competitor benchmark: Idemia PaXpress SmartLane</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50" u="sng" dirty="0">
                          <a:solidFill>
                            <a:schemeClr val="accent1"/>
                          </a:solidFill>
                          <a:hlinkClick r:id="rId8" invalidUrl="" action="" tgtFrame="" tooltip="" history="1" highlightClick="0" endSnd="0">
                            <a:extLst>
                              <a:ext uri="{A12FA001-AC4F-418D-AE19-62706E023703}">
                                <ahyp:hlinkClr xmlns:ahyp="http://schemas.microsoft.com/office/drawing/2018/hyperlinkcolor" val="tx"/>
                              </a:ext>
                            </a:extLst>
                          </a:hlinkClick>
                        </a:rPr>
                        <a:t>Idemia brochure EXT-Brochure-PaXpress-SmartLane-EN (12/2025)</a:t>
                      </a:r>
                      <a:endParaRPr lang="en-US" sz="1050" dirty="0"/>
                    </a:p>
                    <a:p>
                      <a:pPr indent="0" marL="0">
                        <a:buNone/>
                      </a:pPr>
                      <a:r>
                        <a:rPr lang="en-US" sz="800" dirty="0">
                          <a:solidFill>
                            <a:schemeClr val="accent4"/>
                          </a:solidFill>
                        </a:rPr>
                        <a:t>https://na.idemia.com</a:t>
                      </a:r>
                      <a:endParaRPr lang="en-US" sz="105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b="1" dirty="0">
                          <a:solidFill>
                            <a:schemeClr val="tx2"/>
                          </a:solidFill>
                        </a:rPr>
                        <a:t>On file</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bl>
          </a:graphicData>
        </a:graphic>
      </p:graphicFrame>
      <p:sp>
        <p:nvSpPr>
          <p:cNvPr id="6" name="Text 3"/>
          <p:cNvSpPr txBox="1"/>
          <p:nvPr/>
        </p:nvSpPr>
        <p:spPr>
          <a:xfrm>
            <a:off x="548640" y="6126480"/>
            <a:ext cx="11094415" cy="237744"/>
          </a:xfrm>
          <a:prstGeom prst="rect">
            <a:avLst/>
          </a:prstGeom>
          <a:noFill/>
          <a:ln/>
        </p:spPr>
        <p:txBody>
          <a:bodyPr wrap="square" lIns="0" tIns="0" rIns="0" bIns="0" rtlCol="0" anchor="ctr"/>
          <a:lstStyle/>
          <a:p>
            <a:pPr indent="0" marL="0">
              <a:buNone/>
            </a:pPr>
            <a:r>
              <a:rPr lang="en-US" sz="1000" dirty="0">
                <a:solidFill>
                  <a:schemeClr val="accent3"/>
                </a:solidFill>
              </a:rPr>
              <a:t>Removed from v1.3: “48% of airports plan cross-silo data sharing by 2027” could not be traced to SITA. Not used: US$40B e-gate TAM (source pending).</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R2  ·  REFERENCES</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Internal evidence register</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Our own estimates and targets, with the evidence and owner behind each one.</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4415" cy="914400"/>
        </p:xfrm>
        <a:graphic>
          <a:graphicData uri="http://schemas.openxmlformats.org/drawingml/2006/table">
            <a:tbl>
              <a:tblPr/>
              <a:tblGrid>
                <a:gridCol w="502920"/>
                <a:gridCol w="4160520"/>
                <a:gridCol w="4937760"/>
                <a:gridCol w="1493215"/>
              </a:tblGrid>
              <a:tr h="301752">
                <a:tc>
                  <a:txBody>
                    <a:bodyPr/>
                    <a:lstStyle/>
                    <a:p>
                      <a:pPr indent="0" marL="0">
                        <a:buNone/>
                      </a:pPr>
                      <a:r>
                        <a:rPr lang="en-US" sz="1100" b="1" dirty="0">
                          <a:solidFill>
                            <a:schemeClr val="bg1"/>
                          </a:solidFill>
                        </a:rPr>
                        <a:t>Ref</a:t>
                      </a:r>
                      <a:endParaRPr lang="en-US" sz="11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accent6"/>
                    </a:solidFill>
                  </a:tcPr>
                </a:tc>
                <a:tc>
                  <a:txBody>
                    <a:bodyPr/>
                    <a:lstStyle/>
                    <a:p>
                      <a:pPr indent="0" marL="0">
                        <a:buNone/>
                      </a:pPr>
                      <a:r>
                        <a:rPr lang="en-US" sz="1100" b="1" dirty="0">
                          <a:solidFill>
                            <a:schemeClr val="bg1"/>
                          </a:solidFill>
                        </a:rPr>
                        <a:t>Claim on slide</a:t>
                      </a:r>
                      <a:endParaRPr lang="en-US" sz="11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accent6"/>
                    </a:solidFill>
                  </a:tcPr>
                </a:tc>
                <a:tc>
                  <a:txBody>
                    <a:bodyPr/>
                    <a:lstStyle/>
                    <a:p>
                      <a:pPr indent="0" marL="0">
                        <a:buNone/>
                      </a:pPr>
                      <a:r>
                        <a:rPr lang="en-US" sz="1100" b="1" dirty="0">
                          <a:solidFill>
                            <a:schemeClr val="bg1"/>
                          </a:solidFill>
                        </a:rPr>
                        <a:t>Evidence / owner</a:t>
                      </a:r>
                      <a:endParaRPr lang="en-US" sz="11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accent6"/>
                    </a:solidFill>
                  </a:tcPr>
                </a:tc>
                <a:tc>
                  <a:txBody>
                    <a:bodyPr/>
                    <a:lstStyle/>
                    <a:p>
                      <a:pPr indent="0" marL="0">
                        <a:buNone/>
                      </a:pPr>
                      <a:r>
                        <a:rPr lang="en-US" sz="1100" b="1" dirty="0">
                          <a:solidFill>
                            <a:schemeClr val="bg1"/>
                          </a:solidFill>
                        </a:rPr>
                        <a:t>Status</a:t>
                      </a:r>
                      <a:endParaRPr lang="en-US" sz="11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accent6"/>
                    </a:solidFill>
                  </a:tcPr>
                </a:tc>
              </a:tr>
              <a:tr h="301752">
                <a:tc>
                  <a:txBody>
                    <a:bodyPr/>
                    <a:lstStyle/>
                    <a:p>
                      <a:pPr indent="0" marL="0">
                        <a:buNone/>
                      </a:pPr>
                      <a:r>
                        <a:rPr lang="en-US" sz="1000" b="1" dirty="0">
                          <a:solidFill>
                            <a:schemeClr val="tx1"/>
                          </a:solidFill>
                        </a:rPr>
                        <a:t>I1</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~3 staff freed per lane when 4 touchpoints are automated</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CEO review 14 Oct; Singapore Airshow 2026 feedback (Gareth). Build a lane-staffing worksheet.</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1"/>
                          </a:solidFill>
                        </a:rPr>
                        <a:t>Internal estimate</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301752">
                <a:tc>
                  <a:txBody>
                    <a:bodyPr/>
                    <a:lstStyle/>
                    <a:p>
                      <a:pPr indent="0" marL="0">
                        <a:buNone/>
                      </a:pPr>
                      <a:r>
                        <a:rPr lang="en-US" sz="1000" b="1" dirty="0">
                          <a:solidFill>
                            <a:schemeClr val="tx1"/>
                          </a:solidFill>
                        </a:rPr>
                        <a:t>I2</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ME + SEA ≈10–15% of ABC demand; FastPass can address ≈25%</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URS analysis (submission §5) on R3–R4 data</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1"/>
                          </a:solidFill>
                        </a:rPr>
                        <a:t>Internal estimate</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301752">
                <a:tc>
                  <a:txBody>
                    <a:bodyPr/>
                    <a:lstStyle/>
                    <a:p>
                      <a:pPr indent="0" marL="0">
                        <a:buNone/>
                      </a:pPr>
                      <a:r>
                        <a:rPr lang="en-US" sz="1000" b="1" dirty="0">
                          <a:solidFill>
                            <a:schemeClr val="tx1"/>
                          </a:solidFill>
                        </a:rPr>
                        <a:t>I4</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Curb to gate in 8–11 minutes</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Sales review 14 Oct; validate at the airport demo</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1"/>
                          </a:solidFill>
                        </a:rPr>
                        <a:t>Target</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301752">
                <a:tc>
                  <a:txBody>
                    <a:bodyPr/>
                    <a:lstStyle/>
                    <a:p>
                      <a:pPr indent="0" marL="0">
                        <a:buNone/>
                      </a:pPr>
                      <a:r>
                        <a:rPr lang="en-US" sz="1000" b="1" dirty="0">
                          <a:solidFill>
                            <a:schemeClr val="tx1"/>
                          </a:solidFill>
                        </a:rPr>
                        <a:t>I5</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3–6 s passage; 30–50% throughput (Q&amp;A only)</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v1.3 product design targets</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1"/>
                          </a:solidFill>
                        </a:rPr>
                        <a:t>Target</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301752">
                <a:tc>
                  <a:txBody>
                    <a:bodyPr/>
                    <a:lstStyle/>
                    <a:p>
                      <a:pPr indent="0" marL="0">
                        <a:buNone/>
                      </a:pPr>
                      <a:r>
                        <a:rPr lang="en-US" sz="1000" b="1" dirty="0">
                          <a:solidFill>
                            <a:schemeClr val="tx1"/>
                          </a:solidFill>
                        </a:rPr>
                        <a:t>I6</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Working prototype shown at Singapore Airshow 2026</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Submission §1; Airshow demo records</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2"/>
                          </a:solidFill>
                        </a:rPr>
                        <a:t>Verified</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301752">
                <a:tc>
                  <a:txBody>
                    <a:bodyPr/>
                    <a:lstStyle/>
                    <a:p>
                      <a:pPr indent="0" marL="0">
                        <a:buNone/>
                      </a:pPr>
                      <a:r>
                        <a:rPr lang="en-US" sz="1000" b="1" dirty="0">
                          <a:solidFill>
                            <a:schemeClr val="tx1"/>
                          </a:solidFill>
                        </a:rPr>
                        <a:t>I7</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~50% less front-end effort; ~40% better delivery efficiency</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Submission §6; engineering metrics</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1"/>
                          </a:solidFill>
                        </a:rPr>
                        <a:t>Internal measure</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301752">
                <a:tc>
                  <a:txBody>
                    <a:bodyPr/>
                    <a:lstStyle/>
                    <a:p>
                      <a:pPr indent="0" marL="0">
                        <a:buNone/>
                      </a:pPr>
                      <a:r>
                        <a:rPr lang="en-US" sz="1000" b="1" dirty="0">
                          <a:solidFill>
                            <a:schemeClr val="tx1"/>
                          </a:solidFill>
                        </a:rPr>
                        <a:t>I8</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35+ years of government-grade delivery</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Corporate record (submission §8)</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2"/>
                          </a:solidFill>
                        </a:rPr>
                        <a:t>Verified</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301752">
                <a:tc>
                  <a:txBody>
                    <a:bodyPr/>
                    <a:lstStyle/>
                    <a:p>
                      <a:pPr indent="0" marL="0">
                        <a:buNone/>
                      </a:pPr>
                      <a:r>
                        <a:rPr lang="en-US" sz="1000" b="1" dirty="0">
                          <a:solidFill>
                            <a:schemeClr val="tx1"/>
                          </a:solidFill>
                        </a:rPr>
                        <a:t>I9</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Peers mostly verify face only (1FA)</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PT Asia observations (CEO); Idemia brochure (R8)</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1"/>
                          </a:solidFill>
                        </a:rPr>
                        <a:t>Market observation</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301752">
                <a:tc>
                  <a:txBody>
                    <a:bodyPr/>
                    <a:lstStyle/>
                    <a:p>
                      <a:pPr indent="0" marL="0">
                        <a:buNone/>
                      </a:pPr>
                      <a:r>
                        <a:rPr lang="en-US" sz="1000" b="1" dirty="0">
                          <a:solidFill>
                            <a:schemeClr val="tx1"/>
                          </a:solidFill>
                        </a:rPr>
                        <a:t>I10</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Airports reluctant to hold biometrics; ME/SEA less privacy-resistant than EU/US</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Invent customer interviews; Sales review 14 Oct</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1"/>
                          </a:solidFill>
                        </a:rPr>
                        <a:t>Customer insight</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301752">
                <a:tc>
                  <a:txBody>
                    <a:bodyPr/>
                    <a:lstStyle/>
                    <a:p>
                      <a:pPr indent="0" marL="0">
                        <a:buNone/>
                      </a:pPr>
                      <a:r>
                        <a:rPr lang="en-US" sz="1000" b="1" dirty="0">
                          <a:solidFill>
                            <a:schemeClr val="tx1"/>
                          </a:solidFill>
                        </a:rPr>
                        <a:t>I11</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ISMP AI co-pilot correlates related alarms, guides SOPs</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Operator console UI review, 14 Oct (in design)</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1"/>
                          </a:solidFill>
                        </a:rPr>
                        <a:t>In design</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301752">
                <a:tc>
                  <a:txBody>
                    <a:bodyPr/>
                    <a:lstStyle/>
                    <a:p>
                      <a:pPr indent="0" marL="0">
                        <a:buNone/>
                      </a:pPr>
                      <a:r>
                        <a:rPr lang="en-US" sz="1000" b="1" dirty="0">
                          <a:solidFill>
                            <a:schemeClr val="tx1"/>
                          </a:solidFill>
                        </a:rPr>
                        <a:t>I12</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Group Sales and partners in ME &amp; SEA</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Confirm named contacts and countries with Group Sales (Riley, William)</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3"/>
                          </a:solidFill>
                        </a:rPr>
                        <a:t>To confirm</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301752">
                <a:tc>
                  <a:txBody>
                    <a:bodyPr/>
                    <a:lstStyle/>
                    <a:p>
                      <a:pPr indent="0" marL="0">
                        <a:buNone/>
                      </a:pPr>
                      <a:r>
                        <a:rPr lang="en-US" sz="1000" b="1" dirty="0">
                          <a:solidFill>
                            <a:schemeClr val="tx1"/>
                          </a:solidFill>
                        </a:rPr>
                        <a:t>—</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Target price points</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Pending Sales sync</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3"/>
                          </a:solidFill>
                        </a:rPr>
                        <a:t>Open</a:t>
                      </a:r>
                      <a:endParaRPr lang="en-US" sz="10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B1  ·  Q&amp;A BACKUP</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Hard questions, short answers</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Agreed positions for the questions division heads and Excos are most likely to ask.</a:t>
            </a:r>
            <a:endParaRPr lang="en-US" sz="1600" dirty="0"/>
          </a:p>
        </p:txBody>
      </p:sp>
      <p:sp>
        <p:nvSpPr>
          <p:cNvPr id="5" name="Shape 3"/>
          <p:cNvSpPr/>
          <p:nvPr/>
        </p:nvSpPr>
        <p:spPr>
          <a:xfrm>
            <a:off x="548640" y="2029968"/>
            <a:ext cx="5410048" cy="914400"/>
          </a:xfrm>
          <a:prstGeom prst="roundRect">
            <a:avLst>
              <a:gd name="adj" fmla="val 16000"/>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6" name="Text 4"/>
          <p:cNvSpPr txBox="1"/>
          <p:nvPr/>
        </p:nvSpPr>
        <p:spPr>
          <a:xfrm>
            <a:off x="777240" y="2139696"/>
            <a:ext cx="4952848" cy="274320"/>
          </a:xfrm>
          <a:prstGeom prst="rect">
            <a:avLst/>
          </a:prstGeom>
          <a:noFill/>
          <a:ln/>
        </p:spPr>
        <p:txBody>
          <a:bodyPr wrap="square" lIns="0" tIns="0" rIns="0" bIns="0" rtlCol="0" anchor="ctr"/>
          <a:lstStyle/>
          <a:p>
            <a:pPr indent="0" marL="0">
              <a:buNone/>
            </a:pPr>
            <a:r>
              <a:rPr lang="en-US" sz="1400" b="1" dirty="0">
                <a:solidFill>
                  <a:schemeClr val="accent1"/>
                </a:solidFill>
              </a:rPr>
              <a:t>Where is biometric data stored?</a:t>
            </a:r>
            <a:endParaRPr lang="en-US" sz="1400" dirty="0"/>
          </a:p>
        </p:txBody>
      </p:sp>
      <p:sp>
        <p:nvSpPr>
          <p:cNvPr id="7" name="Text 5"/>
          <p:cNvSpPr txBox="1"/>
          <p:nvPr/>
        </p:nvSpPr>
        <p:spPr>
          <a:xfrm>
            <a:off x="777240" y="2432304"/>
            <a:ext cx="4952848" cy="457200"/>
          </a:xfrm>
          <a:prstGeom prst="rect">
            <a:avLst/>
          </a:prstGeom>
          <a:noFill/>
          <a:ln/>
        </p:spPr>
        <p:txBody>
          <a:bodyPr wrap="square" lIns="0" tIns="0" rIns="0" bIns="0" rtlCol="0" anchor="t"/>
          <a:lstStyle/>
          <a:p>
            <a:pPr indent="0" marL="0">
              <a:buNone/>
            </a:pPr>
            <a:r>
              <a:rPr lang="en-US" sz="1200" dirty="0">
                <a:solidFill>
                  <a:schemeClr val="tx1"/>
                </a:solidFill>
              </a:rPr>
              <a:t>Encrypted on the traveller’s phone. Shared just-in-time over BLE for the 2FA match; the airport keeps no biometric database.</a:t>
            </a:r>
            <a:endParaRPr lang="en-US" sz="1200" dirty="0"/>
          </a:p>
        </p:txBody>
      </p:sp>
      <p:sp>
        <p:nvSpPr>
          <p:cNvPr id="8" name="Shape 6"/>
          <p:cNvSpPr/>
          <p:nvPr/>
        </p:nvSpPr>
        <p:spPr>
          <a:xfrm>
            <a:off x="6233008" y="2029968"/>
            <a:ext cx="5410048" cy="914400"/>
          </a:xfrm>
          <a:prstGeom prst="roundRect">
            <a:avLst>
              <a:gd name="adj" fmla="val 16000"/>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9" name="Text 7"/>
          <p:cNvSpPr txBox="1"/>
          <p:nvPr/>
        </p:nvSpPr>
        <p:spPr>
          <a:xfrm>
            <a:off x="6461608" y="2139696"/>
            <a:ext cx="4952848" cy="274320"/>
          </a:xfrm>
          <a:prstGeom prst="rect">
            <a:avLst/>
          </a:prstGeom>
          <a:noFill/>
          <a:ln/>
        </p:spPr>
        <p:txBody>
          <a:bodyPr wrap="square" lIns="0" tIns="0" rIns="0" bIns="0" rtlCol="0" anchor="ctr"/>
          <a:lstStyle/>
          <a:p>
            <a:pPr indent="0" marL="0">
              <a:buNone/>
            </a:pPr>
            <a:r>
              <a:rPr lang="en-US" sz="1400" b="1" dirty="0">
                <a:solidFill>
                  <a:schemeClr val="accent1"/>
                </a:solidFill>
              </a:rPr>
              <a:t>Do you replace immigration?</a:t>
            </a:r>
            <a:endParaRPr lang="en-US" sz="1400" dirty="0"/>
          </a:p>
        </p:txBody>
      </p:sp>
      <p:sp>
        <p:nvSpPr>
          <p:cNvPr id="10" name="Text 8"/>
          <p:cNvSpPr txBox="1"/>
          <p:nvPr/>
        </p:nvSpPr>
        <p:spPr>
          <a:xfrm>
            <a:off x="6461608" y="2432304"/>
            <a:ext cx="4952848" cy="457200"/>
          </a:xfrm>
          <a:prstGeom prst="rect">
            <a:avLst/>
          </a:prstGeom>
          <a:noFill/>
          <a:ln/>
        </p:spPr>
        <p:txBody>
          <a:bodyPr wrap="square" lIns="0" tIns="0" rIns="0" bIns="0" rtlCol="0" anchor="t"/>
          <a:lstStyle/>
          <a:p>
            <a:pPr indent="0" marL="0">
              <a:buNone/>
            </a:pPr>
            <a:r>
              <a:rPr lang="en-US" sz="1200" dirty="0">
                <a:solidFill>
                  <a:schemeClr val="tx1"/>
                </a:solidFill>
              </a:rPr>
              <a:t>No. FastPass is modular and works alongside immigration, linking to its systems where local policy allows.</a:t>
            </a:r>
            <a:endParaRPr lang="en-US" sz="1200" dirty="0"/>
          </a:p>
        </p:txBody>
      </p:sp>
      <p:sp>
        <p:nvSpPr>
          <p:cNvPr id="11" name="Shape 9"/>
          <p:cNvSpPr/>
          <p:nvPr/>
        </p:nvSpPr>
        <p:spPr>
          <a:xfrm>
            <a:off x="548640" y="3054096"/>
            <a:ext cx="5410048" cy="914400"/>
          </a:xfrm>
          <a:prstGeom prst="roundRect">
            <a:avLst>
              <a:gd name="adj" fmla="val 16000"/>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12" name="Text 10"/>
          <p:cNvSpPr txBox="1"/>
          <p:nvPr/>
        </p:nvSpPr>
        <p:spPr>
          <a:xfrm>
            <a:off x="777240" y="3163824"/>
            <a:ext cx="4952848" cy="274320"/>
          </a:xfrm>
          <a:prstGeom prst="rect">
            <a:avLst/>
          </a:prstGeom>
          <a:noFill/>
          <a:ln/>
        </p:spPr>
        <p:txBody>
          <a:bodyPr wrap="square" lIns="0" tIns="0" rIns="0" bIns="0" rtlCol="0" anchor="ctr"/>
          <a:lstStyle/>
          <a:p>
            <a:pPr indent="0" marL="0">
              <a:buNone/>
            </a:pPr>
            <a:r>
              <a:rPr lang="en-US" sz="1400" b="1" dirty="0">
                <a:solidFill>
                  <a:schemeClr val="accent1"/>
                </a:solidFill>
              </a:rPr>
              <a:t>Who owns the app?</a:t>
            </a:r>
            <a:endParaRPr lang="en-US" sz="1400" dirty="0"/>
          </a:p>
        </p:txBody>
      </p:sp>
      <p:sp>
        <p:nvSpPr>
          <p:cNvPr id="13" name="Text 11"/>
          <p:cNvSpPr txBox="1"/>
          <p:nvPr/>
        </p:nvSpPr>
        <p:spPr>
          <a:xfrm>
            <a:off x="777240" y="3456432"/>
            <a:ext cx="4952848" cy="457200"/>
          </a:xfrm>
          <a:prstGeom prst="rect">
            <a:avLst/>
          </a:prstGeom>
          <a:noFill/>
          <a:ln/>
        </p:spPr>
        <p:txBody>
          <a:bodyPr wrap="square" lIns="0" tIns="0" rIns="0" bIns="0" rtlCol="0" anchor="t"/>
          <a:lstStyle/>
          <a:p>
            <a:pPr indent="0" marL="0">
              <a:buNone/>
            </a:pPr>
            <a:r>
              <a:rPr lang="en-US" sz="1200" dirty="0">
                <a:solidFill>
                  <a:schemeClr val="tx1"/>
                </a:solidFill>
              </a:rPr>
              <a:t>The airport or airline. FastPass ships as an SDK inside their app; our own app is the reference design.</a:t>
            </a:r>
            <a:endParaRPr lang="en-US" sz="1200" dirty="0"/>
          </a:p>
        </p:txBody>
      </p:sp>
      <p:sp>
        <p:nvSpPr>
          <p:cNvPr id="14" name="Shape 12"/>
          <p:cNvSpPr/>
          <p:nvPr/>
        </p:nvSpPr>
        <p:spPr>
          <a:xfrm>
            <a:off x="6233008" y="3054096"/>
            <a:ext cx="5410048" cy="914400"/>
          </a:xfrm>
          <a:prstGeom prst="roundRect">
            <a:avLst>
              <a:gd name="adj" fmla="val 16000"/>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15" name="Text 13"/>
          <p:cNvSpPr txBox="1"/>
          <p:nvPr/>
        </p:nvSpPr>
        <p:spPr>
          <a:xfrm>
            <a:off x="6461608" y="3163824"/>
            <a:ext cx="4952848" cy="274320"/>
          </a:xfrm>
          <a:prstGeom prst="rect">
            <a:avLst/>
          </a:prstGeom>
          <a:noFill/>
          <a:ln/>
        </p:spPr>
        <p:txBody>
          <a:bodyPr wrap="square" lIns="0" tIns="0" rIns="0" bIns="0" rtlCol="0" anchor="ctr"/>
          <a:lstStyle/>
          <a:p>
            <a:pPr indent="0" marL="0">
              <a:buNone/>
            </a:pPr>
            <a:r>
              <a:rPr lang="en-US" sz="1400" b="1" dirty="0">
                <a:solidFill>
                  <a:schemeClr val="accent1"/>
                </a:solidFill>
              </a:rPr>
              <a:t>What if there is no internet?</a:t>
            </a:r>
            <a:endParaRPr lang="en-US" sz="1400" dirty="0"/>
          </a:p>
        </p:txBody>
      </p:sp>
      <p:sp>
        <p:nvSpPr>
          <p:cNvPr id="16" name="Text 14"/>
          <p:cNvSpPr txBox="1"/>
          <p:nvPr/>
        </p:nvSpPr>
        <p:spPr>
          <a:xfrm>
            <a:off x="6461608" y="3456432"/>
            <a:ext cx="4952848" cy="457200"/>
          </a:xfrm>
          <a:prstGeom prst="rect">
            <a:avLst/>
          </a:prstGeom>
          <a:noFill/>
          <a:ln/>
        </p:spPr>
        <p:txBody>
          <a:bodyPr wrap="square" lIns="0" tIns="0" rIns="0" bIns="0" rtlCol="0" anchor="t"/>
          <a:lstStyle/>
          <a:p>
            <a:pPr indent="0" marL="0">
              <a:buNone/>
            </a:pPr>
            <a:r>
              <a:rPr lang="en-US" sz="1200" dirty="0">
                <a:solidFill>
                  <a:schemeClr val="tx1"/>
                </a:solidFill>
              </a:rPr>
              <a:t>Credentials download in advance. Offline clearance and redundancy are the first productisation priority.</a:t>
            </a:r>
            <a:endParaRPr lang="en-US" sz="1200" dirty="0"/>
          </a:p>
        </p:txBody>
      </p:sp>
      <p:sp>
        <p:nvSpPr>
          <p:cNvPr id="17" name="Shape 15"/>
          <p:cNvSpPr/>
          <p:nvPr/>
        </p:nvSpPr>
        <p:spPr>
          <a:xfrm>
            <a:off x="548640" y="4078224"/>
            <a:ext cx="5410048" cy="914400"/>
          </a:xfrm>
          <a:prstGeom prst="roundRect">
            <a:avLst>
              <a:gd name="adj" fmla="val 16000"/>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18" name="Text 16"/>
          <p:cNvSpPr txBox="1"/>
          <p:nvPr/>
        </p:nvSpPr>
        <p:spPr>
          <a:xfrm>
            <a:off x="777240" y="4187952"/>
            <a:ext cx="4952848" cy="274320"/>
          </a:xfrm>
          <a:prstGeom prst="rect">
            <a:avLst/>
          </a:prstGeom>
          <a:noFill/>
          <a:ln/>
        </p:spPr>
        <p:txBody>
          <a:bodyPr wrap="square" lIns="0" tIns="0" rIns="0" bIns="0" rtlCol="0" anchor="ctr"/>
          <a:lstStyle/>
          <a:p>
            <a:pPr indent="0" marL="0">
              <a:buNone/>
            </a:pPr>
            <a:r>
              <a:rPr lang="en-US" sz="1400" b="1" dirty="0">
                <a:solidFill>
                  <a:schemeClr val="accent1"/>
                </a:solidFill>
              </a:rPr>
              <a:t>What happens when a match fails?</a:t>
            </a:r>
            <a:endParaRPr lang="en-US" sz="1400" dirty="0"/>
          </a:p>
        </p:txBody>
      </p:sp>
      <p:sp>
        <p:nvSpPr>
          <p:cNvPr id="19" name="Text 17"/>
          <p:cNvSpPr txBox="1"/>
          <p:nvPr/>
        </p:nvSpPr>
        <p:spPr>
          <a:xfrm>
            <a:off x="777240" y="4480560"/>
            <a:ext cx="4952848" cy="457200"/>
          </a:xfrm>
          <a:prstGeom prst="rect">
            <a:avLst/>
          </a:prstGeom>
          <a:noFill/>
          <a:ln/>
        </p:spPr>
        <p:txBody>
          <a:bodyPr wrap="square" lIns="0" tIns="0" rIns="0" bIns="0" rtlCol="0" anchor="t"/>
          <a:lstStyle/>
          <a:p>
            <a:pPr indent="0" marL="0">
              <a:buNone/>
            </a:pPr>
            <a:r>
              <a:rPr lang="en-US" sz="1200" dirty="0">
                <a:solidFill>
                  <a:schemeClr val="tx1"/>
                </a:solidFill>
              </a:rPr>
              <a:t>The lane closes, an officer is alerted on a tablet, and 2–3 manual counters stay open for exceptions.</a:t>
            </a:r>
            <a:endParaRPr lang="en-US" sz="1200" dirty="0"/>
          </a:p>
        </p:txBody>
      </p:sp>
      <p:sp>
        <p:nvSpPr>
          <p:cNvPr id="20" name="Shape 18"/>
          <p:cNvSpPr/>
          <p:nvPr/>
        </p:nvSpPr>
        <p:spPr>
          <a:xfrm>
            <a:off x="6233008" y="4078224"/>
            <a:ext cx="5410048" cy="914400"/>
          </a:xfrm>
          <a:prstGeom prst="roundRect">
            <a:avLst>
              <a:gd name="adj" fmla="val 16000"/>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21" name="Text 19"/>
          <p:cNvSpPr txBox="1"/>
          <p:nvPr/>
        </p:nvSpPr>
        <p:spPr>
          <a:xfrm>
            <a:off x="6461608" y="4187952"/>
            <a:ext cx="4952848" cy="274320"/>
          </a:xfrm>
          <a:prstGeom prst="rect">
            <a:avLst/>
          </a:prstGeom>
          <a:noFill/>
          <a:ln/>
        </p:spPr>
        <p:txBody>
          <a:bodyPr wrap="square" lIns="0" tIns="0" rIns="0" bIns="0" rtlCol="0" anchor="ctr"/>
          <a:lstStyle/>
          <a:p>
            <a:pPr indent="0" marL="0">
              <a:buNone/>
            </a:pPr>
            <a:r>
              <a:rPr lang="en-US" sz="1400" b="1" dirty="0">
                <a:solidFill>
                  <a:schemeClr val="accent1"/>
                </a:solidFill>
              </a:rPr>
              <a:t>Why not Europe or the US?</a:t>
            </a:r>
            <a:endParaRPr lang="en-US" sz="1400" dirty="0"/>
          </a:p>
        </p:txBody>
      </p:sp>
      <p:sp>
        <p:nvSpPr>
          <p:cNvPr id="22" name="Text 20"/>
          <p:cNvSpPr txBox="1"/>
          <p:nvPr/>
        </p:nvSpPr>
        <p:spPr>
          <a:xfrm>
            <a:off x="6461608" y="4480560"/>
            <a:ext cx="4952848" cy="457200"/>
          </a:xfrm>
          <a:prstGeom prst="rect">
            <a:avLst/>
          </a:prstGeom>
          <a:noFill/>
          <a:ln/>
        </p:spPr>
        <p:txBody>
          <a:bodyPr wrap="square" lIns="0" tIns="0" rIns="0" bIns="0" rtlCol="0" anchor="t"/>
          <a:lstStyle/>
          <a:p>
            <a:pPr indent="0" marL="0">
              <a:buNone/>
            </a:pPr>
            <a:r>
              <a:rPr lang="en-US" sz="1200" dirty="0">
                <a:solidFill>
                  <a:schemeClr val="tx1"/>
                </a:solidFill>
              </a:rPr>
              <a:t>Highest privacy resistance today. ME &amp; SEA combine growth with readiness; privacy-by-design keeps the door open.</a:t>
            </a:r>
            <a:endParaRPr lang="en-US" sz="1200" dirty="0"/>
          </a:p>
        </p:txBody>
      </p:sp>
      <p:sp>
        <p:nvSpPr>
          <p:cNvPr id="23" name="Shape 21"/>
          <p:cNvSpPr/>
          <p:nvPr/>
        </p:nvSpPr>
        <p:spPr>
          <a:xfrm>
            <a:off x="548640" y="5102352"/>
            <a:ext cx="5410048" cy="914400"/>
          </a:xfrm>
          <a:prstGeom prst="roundRect">
            <a:avLst>
              <a:gd name="adj" fmla="val 16000"/>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24" name="Text 22"/>
          <p:cNvSpPr txBox="1"/>
          <p:nvPr/>
        </p:nvSpPr>
        <p:spPr>
          <a:xfrm>
            <a:off x="777240" y="5212080"/>
            <a:ext cx="4952848" cy="274320"/>
          </a:xfrm>
          <a:prstGeom prst="rect">
            <a:avLst/>
          </a:prstGeom>
          <a:noFill/>
          <a:ln/>
        </p:spPr>
        <p:txBody>
          <a:bodyPr wrap="square" lIns="0" tIns="0" rIns="0" bIns="0" rtlCol="0" anchor="ctr"/>
          <a:lstStyle/>
          <a:p>
            <a:pPr indent="0" marL="0">
              <a:buNone/>
            </a:pPr>
            <a:r>
              <a:rPr lang="en-US" sz="1400" b="1" dirty="0">
                <a:solidFill>
                  <a:schemeClr val="accent1"/>
                </a:solidFill>
              </a:rPr>
              <a:t>How do you compare with Idemia?</a:t>
            </a:r>
            <a:endParaRPr lang="en-US" sz="1400" dirty="0"/>
          </a:p>
        </p:txBody>
      </p:sp>
      <p:sp>
        <p:nvSpPr>
          <p:cNvPr id="25" name="Text 23"/>
          <p:cNvSpPr txBox="1"/>
          <p:nvPr/>
        </p:nvSpPr>
        <p:spPr>
          <a:xfrm>
            <a:off x="777240" y="5504688"/>
            <a:ext cx="4952848" cy="457200"/>
          </a:xfrm>
          <a:prstGeom prst="rect">
            <a:avLst/>
          </a:prstGeom>
          <a:noFill/>
          <a:ln/>
        </p:spPr>
        <p:txBody>
          <a:bodyPr wrap="square" lIns="0" tIns="0" rIns="0" bIns="0" rtlCol="0" anchor="t"/>
          <a:lstStyle/>
          <a:p>
            <a:pPr indent="0" marL="0">
              <a:buNone/>
            </a:pPr>
            <a:r>
              <a:rPr lang="en-US" sz="1200" dirty="0">
                <a:solidFill>
                  <a:schemeClr val="tx1"/>
                </a:solidFill>
              </a:rPr>
              <a:t>They lead on portfolio breadth. We lead on two-factor clearance and converged security operations (B2).</a:t>
            </a:r>
            <a:endParaRPr lang="en-US" sz="1200" dirty="0"/>
          </a:p>
        </p:txBody>
      </p:sp>
      <p:sp>
        <p:nvSpPr>
          <p:cNvPr id="26" name="Shape 24"/>
          <p:cNvSpPr/>
          <p:nvPr/>
        </p:nvSpPr>
        <p:spPr>
          <a:xfrm>
            <a:off x="6233008" y="5102352"/>
            <a:ext cx="5410048" cy="914400"/>
          </a:xfrm>
          <a:prstGeom prst="roundRect">
            <a:avLst>
              <a:gd name="adj" fmla="val 16000"/>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27" name="Text 25"/>
          <p:cNvSpPr txBox="1"/>
          <p:nvPr/>
        </p:nvSpPr>
        <p:spPr>
          <a:xfrm>
            <a:off x="6461608" y="5212080"/>
            <a:ext cx="4952848" cy="274320"/>
          </a:xfrm>
          <a:prstGeom prst="rect">
            <a:avLst/>
          </a:prstGeom>
          <a:noFill/>
          <a:ln/>
        </p:spPr>
        <p:txBody>
          <a:bodyPr wrap="square" lIns="0" tIns="0" rIns="0" bIns="0" rtlCol="0" anchor="ctr"/>
          <a:lstStyle/>
          <a:p>
            <a:pPr indent="0" marL="0">
              <a:buNone/>
            </a:pPr>
            <a:r>
              <a:rPr lang="en-US" sz="1400" b="1" dirty="0">
                <a:solidFill>
                  <a:schemeClr val="accent1"/>
                </a:solidFill>
              </a:rPr>
              <a:t>What about UWB or palm-vein?</a:t>
            </a:r>
            <a:endParaRPr lang="en-US" sz="1400" dirty="0"/>
          </a:p>
        </p:txBody>
      </p:sp>
      <p:sp>
        <p:nvSpPr>
          <p:cNvPr id="28" name="Text 26"/>
          <p:cNvSpPr txBox="1"/>
          <p:nvPr/>
        </p:nvSpPr>
        <p:spPr>
          <a:xfrm>
            <a:off x="6461608" y="5504688"/>
            <a:ext cx="4952848" cy="457200"/>
          </a:xfrm>
          <a:prstGeom prst="rect">
            <a:avLst/>
          </a:prstGeom>
          <a:noFill/>
          <a:ln/>
        </p:spPr>
        <p:txBody>
          <a:bodyPr wrap="square" lIns="0" tIns="0" rIns="0" bIns="0" rtlCol="0" anchor="t"/>
          <a:lstStyle/>
          <a:p>
            <a:pPr indent="0" marL="0">
              <a:buNone/>
            </a:pPr>
            <a:r>
              <a:rPr lang="en-US" sz="1200" dirty="0">
                <a:solidFill>
                  <a:schemeClr val="tx1"/>
                </a:solidFill>
              </a:rPr>
              <a:t>Both are on the roadmap: UWB wallet for passive clearance on newer phones, palm-vein as an alternative biometric.</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B2  ·  BENCHMARK</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How we compare with Idemia</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An honest view: where Idemia PaXpress SmartLane is strong, and where FastPass differs.</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1737360"/>
                <a:gridCol w="4663440"/>
                <a:gridCol w="4693615"/>
              </a:tblGrid>
              <a:tr h="502920">
                <a:tc>
                  <a:txBody>
                    <a:bodyPr/>
                    <a:lstStyle/>
                    <a:p>
                      <a:pPr indent="0" marL="0">
                        <a:buNone/>
                      </a:pPr>
                      <a:endParaRPr lang="en-US" sz="12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accent6"/>
                    </a:solidFill>
                  </a:tcPr>
                </a:tc>
                <a:tc>
                  <a:txBody>
                    <a:bodyPr/>
                    <a:lstStyle/>
                    <a:p>
                      <a:pPr indent="0" marL="0">
                        <a:buNone/>
                      </a:pPr>
                      <a:r>
                        <a:rPr lang="en-US" sz="1200" b="1" dirty="0">
                          <a:solidFill>
                            <a:schemeClr val="bg1"/>
                          </a:solidFill>
                        </a:rPr>
                        <a:t>AGIL® Secure FastPass</a:t>
                      </a:r>
                      <a:endParaRPr lang="en-US" sz="12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accent6"/>
                    </a:solidFill>
                  </a:tcPr>
                </a:tc>
                <a:tc>
                  <a:txBody>
                    <a:bodyPr/>
                    <a:lstStyle/>
                    <a:p>
                      <a:pPr indent="0" marL="0">
                        <a:buNone/>
                      </a:pPr>
                      <a:r>
                        <a:rPr lang="en-US" sz="1200" b="1" dirty="0">
                          <a:solidFill>
                            <a:schemeClr val="bg1"/>
                          </a:solidFill>
                        </a:rPr>
                        <a:t>Idemia PaXpress SmartLane (per brochure)</a:t>
                      </a:r>
                      <a:endParaRPr lang="en-US" sz="12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accent6"/>
                    </a:solidFill>
                  </a:tcPr>
                </a:tc>
              </a:tr>
              <a:tr h="502920">
                <a:tc>
                  <a:txBody>
                    <a:bodyPr/>
                    <a:lstStyle/>
                    <a:p>
                      <a:pPr indent="0" marL="0">
                        <a:buNone/>
                      </a:pPr>
                      <a:r>
                        <a:rPr lang="en-US" sz="1200" b="1" dirty="0">
                          <a:solidFill>
                            <a:schemeClr val="tx1"/>
                          </a:solidFill>
                        </a:rPr>
                        <a:t>Verification</a:t>
                      </a:r>
                      <a:endParaRPr lang="en-US" sz="12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Two factors: phone credential (BLE) + live face</a:t>
                      </a:r>
                      <a:endParaRPr lang="en-US" sz="12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Facial recognition on the move, with IP-camera tracking</a:t>
                      </a:r>
                      <a:endParaRPr lang="en-US" sz="12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502920">
                <a:tc>
                  <a:txBody>
                    <a:bodyPr/>
                    <a:lstStyle/>
                    <a:p>
                      <a:pPr indent="0" marL="0">
                        <a:buNone/>
                      </a:pPr>
                      <a:r>
                        <a:rPr lang="en-US" sz="1200" b="1" dirty="0">
                          <a:solidFill>
                            <a:schemeClr val="tx1"/>
                          </a:solidFill>
                        </a:rPr>
                        <a:t>Identity</a:t>
                      </a:r>
                      <a:endParaRPr lang="en-US" sz="12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Credential encrypted on the traveller’s phone</a:t>
                      </a:r>
                      <a:endParaRPr lang="en-US" sz="12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Digital ID via Capture SDK or kiosk; Authorizer platform; “no personal data is stored”</a:t>
                      </a:r>
                      <a:endParaRPr lang="en-US" sz="12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502920">
                <a:tc>
                  <a:txBody>
                    <a:bodyPr/>
                    <a:lstStyle/>
                    <a:p>
                      <a:pPr indent="0" marL="0">
                        <a:buNone/>
                      </a:pPr>
                      <a:r>
                        <a:rPr lang="en-US" sz="1200" b="1" dirty="0">
                          <a:solidFill>
                            <a:schemeClr val="tx1"/>
                          </a:solidFill>
                        </a:rPr>
                        <a:t>Operations</a:t>
                      </a:r>
                      <a:endParaRPr lang="en-US" sz="12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Converged with CCTV, access control, intrusion and incidents in ISMP</a:t>
                      </a:r>
                      <a:endParaRPr lang="en-US" sz="12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Supervision screens and tablets for clearance and exceptions</a:t>
                      </a:r>
                      <a:endParaRPr lang="en-US" sz="12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502920">
                <a:tc>
                  <a:txBody>
                    <a:bodyPr/>
                    <a:lstStyle/>
                    <a:p>
                      <a:pPr indent="0" marL="0">
                        <a:buNone/>
                      </a:pPr>
                      <a:r>
                        <a:rPr lang="en-US" sz="1200" b="1" dirty="0">
                          <a:solidFill>
                            <a:schemeClr val="tx1"/>
                          </a:solidFill>
                        </a:rPr>
                        <a:t>Guidance</a:t>
                      </a:r>
                      <a:endParaRPr lang="en-US" sz="12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Pylon status light; backboard screen and AI assistant on roadmap</a:t>
                      </a:r>
                      <a:endParaRPr lang="en-US" sz="12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AI-powered guidance displays for travellers</a:t>
                      </a:r>
                      <a:endParaRPr lang="en-US" sz="12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502920">
                <a:tc>
                  <a:txBody>
                    <a:bodyPr/>
                    <a:lstStyle/>
                    <a:p>
                      <a:pPr indent="0" marL="0">
                        <a:buNone/>
                      </a:pPr>
                      <a:r>
                        <a:rPr lang="en-US" sz="1200" b="1" dirty="0">
                          <a:solidFill>
                            <a:schemeClr val="tx1"/>
                          </a:solidFill>
                        </a:rPr>
                        <a:t>Groups</a:t>
                      </a:r>
                      <a:endParaRPr lang="en-US" sz="12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Linked travellers under one group profile</a:t>
                      </a:r>
                      <a:endParaRPr lang="en-US" sz="12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Multiple travellers processed at once</a:t>
                      </a:r>
                      <a:endParaRPr lang="en-US" sz="12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502920">
                <a:tc>
                  <a:txBody>
                    <a:bodyPr/>
                    <a:lstStyle/>
                    <a:p>
                      <a:pPr indent="0" marL="0">
                        <a:buNone/>
                      </a:pPr>
                      <a:r>
                        <a:rPr lang="en-US" sz="1200" b="1" dirty="0">
                          <a:solidFill>
                            <a:schemeClr val="tx1"/>
                          </a:solidFill>
                        </a:rPr>
                        <a:t>Proof and scale</a:t>
                      </a:r>
                      <a:endParaRPr lang="en-US" sz="12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Working prototype (Singapore Airshow 2026); pilot-ready</a:t>
                      </a:r>
                      <a:endParaRPr lang="en-US" sz="12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1.5 bn+ travellers a year; 350+ ports equipped</a:t>
                      </a:r>
                      <a:endParaRPr lang="en-US" sz="12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bl>
          </a:graphicData>
        </a:graphic>
      </p:graphicFrame>
      <p:sp>
        <p:nvSpPr>
          <p:cNvPr id="6" name="Text 3"/>
          <p:cNvSpPr txBox="1"/>
          <p:nvPr/>
        </p:nvSpPr>
        <p:spPr>
          <a:xfrm>
            <a:off x="548640" y="5669280"/>
            <a:ext cx="11094415" cy="365760"/>
          </a:xfrm>
          <a:prstGeom prst="rect">
            <a:avLst/>
          </a:prstGeom>
          <a:noFill/>
          <a:ln/>
        </p:spPr>
        <p:txBody>
          <a:bodyPr wrap="square" lIns="0" tIns="0" rIns="0" bIns="0" rtlCol="0" anchor="ctr"/>
          <a:lstStyle/>
          <a:p>
            <a:pPr indent="0" marL="0">
              <a:buNone/>
            </a:pPr>
            <a:r>
              <a:rPr lang="en-US" sz="1300" b="1" dirty="0">
                <a:solidFill>
                  <a:schemeClr val="accent1"/>
                </a:solidFill>
              </a:rPr>
              <a:t>Takeaway: compete on two-factor clearance and converged security operations at a modular entry price, not on portfolio breadth.</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B3  ·  THE PLATFORM</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One platform behind every touchpoint</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ISMP links traveller clearance and airport security in one command layer.</a:t>
            </a:r>
            <a:endParaRPr lang="en-US" sz="1600" dirty="0"/>
          </a:p>
        </p:txBody>
      </p:sp>
      <p:sp>
        <p:nvSpPr>
          <p:cNvPr id="5" name="Shape 3"/>
          <p:cNvSpPr/>
          <p:nvPr/>
        </p:nvSpPr>
        <p:spPr>
          <a:xfrm>
            <a:off x="1143000" y="2688336"/>
            <a:ext cx="6309360" cy="3072384"/>
          </a:xfrm>
          <a:prstGeom prst="ellipse">
            <a:avLst/>
          </a:prstGeom>
          <a:solidFill>
            <a:schemeClr val="accent1">
              <a:alpha val="5000"/>
            </a:schemeClr>
          </a:solidFill>
          <a:ln/>
        </p:spPr>
      </p:sp>
      <p:sp>
        <p:nvSpPr>
          <p:cNvPr id="6" name="Shape 4"/>
          <p:cNvSpPr/>
          <p:nvPr/>
        </p:nvSpPr>
        <p:spPr>
          <a:xfrm>
            <a:off x="1554480" y="2898648"/>
            <a:ext cx="5486400" cy="2651760"/>
          </a:xfrm>
          <a:prstGeom prst="ellipse">
            <a:avLst/>
          </a:prstGeom>
          <a:ln w="12700">
            <a:solidFill>
              <a:schemeClr val="accent1">
                <a:alpha val="65000"/>
              </a:schemeClr>
            </a:solidFill>
            <a:prstDash val="solid"/>
          </a:ln>
        </p:spPr>
      </p:sp>
      <p:sp>
        <p:nvSpPr>
          <p:cNvPr id="7" name="Shape 5"/>
          <p:cNvSpPr/>
          <p:nvPr/>
        </p:nvSpPr>
        <p:spPr>
          <a:xfrm>
            <a:off x="2377440" y="3310128"/>
            <a:ext cx="3840480" cy="1828800"/>
          </a:xfrm>
          <a:prstGeom prst="ellipse">
            <a:avLst/>
          </a:prstGeom>
          <a:solidFill>
            <a:schemeClr val="accent1">
              <a:alpha val="10000"/>
            </a:schemeClr>
          </a:solidFill>
          <a:ln w="9525">
            <a:solidFill>
              <a:schemeClr val="accent1">
                <a:alpha val="40000"/>
              </a:schemeClr>
            </a:solidFill>
            <a:prstDash val="solid"/>
          </a:ln>
        </p:spPr>
      </p:sp>
      <p:sp>
        <p:nvSpPr>
          <p:cNvPr id="8" name="Shape 6"/>
          <p:cNvSpPr/>
          <p:nvPr/>
        </p:nvSpPr>
        <p:spPr>
          <a:xfrm>
            <a:off x="4297680" y="2898648"/>
            <a:ext cx="914" cy="662940"/>
          </a:xfrm>
          <a:prstGeom prst="line">
            <a:avLst/>
          </a:prstGeom>
          <a:noFill/>
          <a:ln w="9525">
            <a:solidFill>
              <a:schemeClr val="accent1">
                <a:alpha val="80000"/>
              </a:schemeClr>
            </a:solidFill>
            <a:prstDash val="dash"/>
          </a:ln>
        </p:spPr>
      </p:sp>
      <p:sp>
        <p:nvSpPr>
          <p:cNvPr id="9" name="Shape 7"/>
          <p:cNvSpPr/>
          <p:nvPr/>
        </p:nvSpPr>
        <p:spPr>
          <a:xfrm flipV="1">
            <a:off x="5485520" y="3561588"/>
            <a:ext cx="1187840" cy="331470"/>
          </a:xfrm>
          <a:prstGeom prst="line">
            <a:avLst/>
          </a:prstGeom>
          <a:noFill/>
          <a:ln w="9525">
            <a:solidFill>
              <a:schemeClr val="accent1">
                <a:alpha val="80000"/>
              </a:schemeClr>
            </a:solidFill>
            <a:prstDash val="dash"/>
          </a:ln>
        </p:spPr>
      </p:sp>
      <p:sp>
        <p:nvSpPr>
          <p:cNvPr id="10" name="Shape 8"/>
          <p:cNvSpPr/>
          <p:nvPr/>
        </p:nvSpPr>
        <p:spPr>
          <a:xfrm>
            <a:off x="5485520" y="4555998"/>
            <a:ext cx="1187840" cy="331470"/>
          </a:xfrm>
          <a:prstGeom prst="line">
            <a:avLst/>
          </a:prstGeom>
          <a:noFill/>
          <a:ln w="9525">
            <a:solidFill>
              <a:schemeClr val="accent1">
                <a:alpha val="80000"/>
              </a:schemeClr>
            </a:solidFill>
            <a:prstDash val="dash"/>
          </a:ln>
        </p:spPr>
      </p:sp>
      <p:sp>
        <p:nvSpPr>
          <p:cNvPr id="11" name="Shape 9"/>
          <p:cNvSpPr/>
          <p:nvPr/>
        </p:nvSpPr>
        <p:spPr>
          <a:xfrm>
            <a:off x="4297680" y="4887468"/>
            <a:ext cx="914" cy="662940"/>
          </a:xfrm>
          <a:prstGeom prst="line">
            <a:avLst/>
          </a:prstGeom>
          <a:noFill/>
          <a:ln w="9525">
            <a:solidFill>
              <a:schemeClr val="accent1">
                <a:alpha val="80000"/>
              </a:schemeClr>
            </a:solidFill>
            <a:prstDash val="dash"/>
          </a:ln>
        </p:spPr>
      </p:sp>
      <p:sp>
        <p:nvSpPr>
          <p:cNvPr id="12" name="Shape 10"/>
          <p:cNvSpPr/>
          <p:nvPr/>
        </p:nvSpPr>
        <p:spPr>
          <a:xfrm flipV="1">
            <a:off x="1921999" y="4555998"/>
            <a:ext cx="1187840" cy="331470"/>
          </a:xfrm>
          <a:prstGeom prst="line">
            <a:avLst/>
          </a:prstGeom>
          <a:noFill/>
          <a:ln w="9525">
            <a:solidFill>
              <a:schemeClr val="accent1">
                <a:alpha val="80000"/>
              </a:schemeClr>
            </a:solidFill>
            <a:prstDash val="dash"/>
          </a:ln>
        </p:spPr>
      </p:sp>
      <p:sp>
        <p:nvSpPr>
          <p:cNvPr id="13" name="Shape 11"/>
          <p:cNvSpPr/>
          <p:nvPr/>
        </p:nvSpPr>
        <p:spPr>
          <a:xfrm>
            <a:off x="1921999" y="3561588"/>
            <a:ext cx="1187840" cy="331470"/>
          </a:xfrm>
          <a:prstGeom prst="line">
            <a:avLst/>
          </a:prstGeom>
          <a:noFill/>
          <a:ln w="9525">
            <a:solidFill>
              <a:schemeClr val="accent1">
                <a:alpha val="80000"/>
              </a:schemeClr>
            </a:solidFill>
            <a:prstDash val="dash"/>
          </a:ln>
        </p:spPr>
      </p:sp>
      <p:sp>
        <p:nvSpPr>
          <p:cNvPr id="14" name="Shape 12"/>
          <p:cNvSpPr/>
          <p:nvPr/>
        </p:nvSpPr>
        <p:spPr>
          <a:xfrm>
            <a:off x="2926080" y="3803904"/>
            <a:ext cx="2743200" cy="1133856"/>
          </a:xfrm>
          <a:prstGeom prst="ellipse">
            <a:avLst/>
          </a:prstGeom>
          <a:solidFill>
            <a:schemeClr val="tx1"/>
          </a:solidFill>
          <a:ln/>
        </p:spPr>
      </p:sp>
      <p:sp>
        <p:nvSpPr>
          <p:cNvPr id="15" name="Shape 13"/>
          <p:cNvSpPr/>
          <p:nvPr/>
        </p:nvSpPr>
        <p:spPr>
          <a:xfrm>
            <a:off x="2926080" y="3657600"/>
            <a:ext cx="2743200" cy="1133856"/>
          </a:xfrm>
          <a:prstGeom prst="ellipse">
            <a:avLst/>
          </a:prstGeom>
          <a:solidFill>
            <a:schemeClr val="accent6"/>
          </a:solidFill>
          <a:ln w="15875">
            <a:solidFill>
              <a:schemeClr val="accent1"/>
            </a:solidFill>
            <a:prstDash val="solid"/>
          </a:ln>
          <a:effectLst>
            <a:outerShdw sx="100000" sy="100000" kx="0" ky="0" algn="bl" rotWithShape="0" blurRad="177800" dist="38100" dir="5400000">
              <a:srgbClr val="0A1628">
                <a:alpha val="8000"/>
              </a:srgbClr>
            </a:outerShdw>
          </a:effectLst>
        </p:spPr>
      </p:sp>
      <p:sp>
        <p:nvSpPr>
          <p:cNvPr id="16" name="Text 14"/>
          <p:cNvSpPr txBox="1"/>
          <p:nvPr/>
        </p:nvSpPr>
        <p:spPr>
          <a:xfrm>
            <a:off x="3017520" y="3895344"/>
            <a:ext cx="2560320" cy="347472"/>
          </a:xfrm>
          <a:prstGeom prst="rect">
            <a:avLst/>
          </a:prstGeom>
          <a:noFill/>
          <a:ln/>
        </p:spPr>
        <p:txBody>
          <a:bodyPr wrap="square" lIns="0" tIns="0" rIns="0" bIns="0" rtlCol="0" anchor="ctr"/>
          <a:lstStyle/>
          <a:p>
            <a:pPr algn="ctr" indent="0" marL="0">
              <a:buNone/>
            </a:pPr>
            <a:r>
              <a:rPr lang="en-US" sz="1700" b="1" dirty="0">
                <a:solidFill>
                  <a:schemeClr val="bg1"/>
                </a:solidFill>
              </a:rPr>
              <a:t>AGIL® Secure ISMP</a:t>
            </a:r>
            <a:endParaRPr lang="en-US" sz="1700" dirty="0"/>
          </a:p>
        </p:txBody>
      </p:sp>
      <p:sp>
        <p:nvSpPr>
          <p:cNvPr id="17" name="Text 15"/>
          <p:cNvSpPr txBox="1"/>
          <p:nvPr/>
        </p:nvSpPr>
        <p:spPr>
          <a:xfrm>
            <a:off x="3017520" y="4251960"/>
            <a:ext cx="2560320" cy="274320"/>
          </a:xfrm>
          <a:prstGeom prst="rect">
            <a:avLst/>
          </a:prstGeom>
          <a:noFill/>
          <a:ln/>
        </p:spPr>
        <p:txBody>
          <a:bodyPr wrap="square" lIns="0" tIns="0" rIns="0" bIns="0" rtlCol="0" anchor="ctr"/>
          <a:lstStyle/>
          <a:p>
            <a:pPr algn="ctr" indent="0" marL="0">
              <a:buNone/>
            </a:pPr>
            <a:r>
              <a:rPr lang="en-US" sz="1200" dirty="0">
                <a:solidFill>
                  <a:schemeClr val="accent5"/>
                </a:solidFill>
              </a:rPr>
              <a:t>One command layer</a:t>
            </a:r>
            <a:endParaRPr lang="en-US" sz="1200" dirty="0"/>
          </a:p>
        </p:txBody>
      </p:sp>
      <p:sp>
        <p:nvSpPr>
          <p:cNvPr id="18" name="Shape 16"/>
          <p:cNvSpPr/>
          <p:nvPr/>
        </p:nvSpPr>
        <p:spPr>
          <a:xfrm>
            <a:off x="4041648" y="2642616"/>
            <a:ext cx="512064" cy="512064"/>
          </a:xfrm>
          <a:prstGeom prst="ellipse">
            <a:avLst/>
          </a:prstGeom>
          <a:solidFill>
            <a:schemeClr val="bg2"/>
          </a:solidFill>
          <a:ln w="15875">
            <a:solidFill>
              <a:schemeClr val="accent1"/>
            </a:solidFill>
            <a:prstDash val="solid"/>
          </a:ln>
          <a:effectLst>
            <a:outerShdw sx="100000" sy="100000" kx="0" ky="0" algn="bl" rotWithShape="0" blurRad="177800" dist="38100" dir="5400000">
              <a:srgbClr val="0A1628">
                <a:alpha val="8000"/>
              </a:srgbClr>
            </a:outerShdw>
          </a:effectLst>
        </p:spPr>
      </p:sp>
      <p:pic>
        <p:nvPicPr>
          <p:cNvPr id="19" name="Image 0" descr="preencoded.png">    </p:cNvPr>
          <p:cNvPicPr>
            <a:picLocks noChangeAspect="1"/>
          </p:cNvPicPr>
          <p:nvPr/>
        </p:nvPicPr>
        <p:blipFill>
          <a:blip r:embed="rId1"/>
          <a:stretch>
            <a:fillRect/>
          </a:stretch>
        </p:blipFill>
        <p:spPr>
          <a:xfrm>
            <a:off x="4160520" y="2761488"/>
            <a:ext cx="274320" cy="274320"/>
          </a:xfrm>
          <a:prstGeom prst="rect">
            <a:avLst/>
          </a:prstGeom>
        </p:spPr>
      </p:pic>
      <p:sp>
        <p:nvSpPr>
          <p:cNvPr id="20" name="Text 17"/>
          <p:cNvSpPr txBox="1"/>
          <p:nvPr/>
        </p:nvSpPr>
        <p:spPr>
          <a:xfrm>
            <a:off x="3291840" y="2112264"/>
            <a:ext cx="2011680" cy="475488"/>
          </a:xfrm>
          <a:prstGeom prst="rect">
            <a:avLst/>
          </a:prstGeom>
          <a:noFill/>
          <a:ln/>
        </p:spPr>
        <p:txBody>
          <a:bodyPr wrap="square" lIns="0" tIns="0" rIns="0" bIns="0" rtlCol="0" anchor="b"/>
          <a:lstStyle/>
          <a:p>
            <a:pPr algn="ctr" indent="0" marL="0">
              <a:buNone/>
            </a:pPr>
            <a:r>
              <a:rPr lang="en-US" sz="1400" b="1" dirty="0">
                <a:solidFill>
                  <a:schemeClr val="tx1"/>
                </a:solidFill>
              </a:rPr>
              <a:t>Passenger log</a:t>
            </a:r>
            <a:endParaRPr lang="en-US" sz="1400" dirty="0"/>
          </a:p>
          <a:p>
            <a:pPr algn="ctr" indent="0" marL="0">
              <a:buNone/>
            </a:pPr>
            <a:r>
              <a:rPr lang="en-US" sz="1200" dirty="0">
                <a:solidFill>
                  <a:schemeClr val="tx2"/>
                </a:solidFill>
              </a:rPr>
              <a:t>Every clearance, live</a:t>
            </a:r>
            <a:endParaRPr lang="en-US" sz="1400" dirty="0"/>
          </a:p>
        </p:txBody>
      </p:sp>
      <p:sp>
        <p:nvSpPr>
          <p:cNvPr id="21" name="Shape 18"/>
          <p:cNvSpPr/>
          <p:nvPr/>
        </p:nvSpPr>
        <p:spPr>
          <a:xfrm>
            <a:off x="6417329" y="3305556"/>
            <a:ext cx="512064" cy="512064"/>
          </a:xfrm>
          <a:prstGeom prst="ellipse">
            <a:avLst/>
          </a:prstGeom>
          <a:solidFill>
            <a:schemeClr val="bg2"/>
          </a:solidFill>
          <a:ln w="15875">
            <a:solidFill>
              <a:schemeClr val="accent1"/>
            </a:solidFill>
            <a:prstDash val="solid"/>
          </a:ln>
          <a:effectLst>
            <a:outerShdw sx="100000" sy="100000" kx="0" ky="0" algn="bl" rotWithShape="0" blurRad="177800" dist="38100" dir="5400000">
              <a:srgbClr val="0A1628">
                <a:alpha val="8000"/>
              </a:srgbClr>
            </a:outerShdw>
          </a:effectLst>
        </p:spPr>
      </p:sp>
      <p:pic>
        <p:nvPicPr>
          <p:cNvPr id="22" name="Image 1" descr="preencoded.png">    </p:cNvPr>
          <p:cNvPicPr>
            <a:picLocks noChangeAspect="1"/>
          </p:cNvPicPr>
          <p:nvPr/>
        </p:nvPicPr>
        <p:blipFill>
          <a:blip r:embed="rId2"/>
          <a:stretch>
            <a:fillRect/>
          </a:stretch>
        </p:blipFill>
        <p:spPr>
          <a:xfrm>
            <a:off x="6536201" y="3424428"/>
            <a:ext cx="274320" cy="274320"/>
          </a:xfrm>
          <a:prstGeom prst="rect">
            <a:avLst/>
          </a:prstGeom>
        </p:spPr>
      </p:pic>
      <p:sp>
        <p:nvSpPr>
          <p:cNvPr id="23" name="Text 19"/>
          <p:cNvSpPr txBox="1"/>
          <p:nvPr/>
        </p:nvSpPr>
        <p:spPr>
          <a:xfrm>
            <a:off x="6124721" y="2775204"/>
            <a:ext cx="2011680" cy="475488"/>
          </a:xfrm>
          <a:prstGeom prst="rect">
            <a:avLst/>
          </a:prstGeom>
          <a:noFill/>
          <a:ln/>
        </p:spPr>
        <p:txBody>
          <a:bodyPr wrap="square" lIns="0" tIns="0" rIns="0" bIns="0" rtlCol="0" anchor="b"/>
          <a:lstStyle/>
          <a:p>
            <a:pPr algn="ctr" indent="0" marL="0">
              <a:buNone/>
            </a:pPr>
            <a:r>
              <a:rPr lang="en-US" sz="1400" b="1" dirty="0">
                <a:solidFill>
                  <a:schemeClr val="tx1"/>
                </a:solidFill>
              </a:rPr>
              <a:t>Lane &amp; gate control</a:t>
            </a:r>
            <a:endParaRPr lang="en-US" sz="1400" dirty="0"/>
          </a:p>
          <a:p>
            <a:pPr algn="ctr" indent="0" marL="0">
              <a:buNone/>
            </a:pPr>
            <a:r>
              <a:rPr lang="en-US" sz="1200" dirty="0">
                <a:solidFill>
                  <a:schemeClr val="tx2"/>
                </a:solidFill>
              </a:rPr>
              <a:t>Status, open, close</a:t>
            </a:r>
            <a:endParaRPr lang="en-US" sz="1400" dirty="0"/>
          </a:p>
        </p:txBody>
      </p:sp>
      <p:sp>
        <p:nvSpPr>
          <p:cNvPr id="24" name="Shape 20"/>
          <p:cNvSpPr/>
          <p:nvPr/>
        </p:nvSpPr>
        <p:spPr>
          <a:xfrm>
            <a:off x="6417329" y="4631436"/>
            <a:ext cx="512064" cy="512064"/>
          </a:xfrm>
          <a:prstGeom prst="ellipse">
            <a:avLst/>
          </a:prstGeom>
          <a:solidFill>
            <a:schemeClr val="bg2"/>
          </a:solidFill>
          <a:ln w="15875">
            <a:solidFill>
              <a:schemeClr val="accent1"/>
            </a:solidFill>
            <a:prstDash val="solid"/>
          </a:ln>
          <a:effectLst>
            <a:outerShdw sx="100000" sy="100000" kx="0" ky="0" algn="bl" rotWithShape="0" blurRad="177800" dist="38100" dir="5400000">
              <a:srgbClr val="0A1628">
                <a:alpha val="8000"/>
              </a:srgbClr>
            </a:outerShdw>
          </a:effectLst>
        </p:spPr>
      </p:sp>
      <p:pic>
        <p:nvPicPr>
          <p:cNvPr id="25" name="Image 2" descr="preencoded.png">    </p:cNvPr>
          <p:cNvPicPr>
            <a:picLocks noChangeAspect="1"/>
          </p:cNvPicPr>
          <p:nvPr/>
        </p:nvPicPr>
        <p:blipFill>
          <a:blip r:embed="rId3"/>
          <a:stretch>
            <a:fillRect/>
          </a:stretch>
        </p:blipFill>
        <p:spPr>
          <a:xfrm>
            <a:off x="6536201" y="4750308"/>
            <a:ext cx="274320" cy="274320"/>
          </a:xfrm>
          <a:prstGeom prst="rect">
            <a:avLst/>
          </a:prstGeom>
        </p:spPr>
      </p:pic>
      <p:sp>
        <p:nvSpPr>
          <p:cNvPr id="26" name="Text 21"/>
          <p:cNvSpPr txBox="1"/>
          <p:nvPr/>
        </p:nvSpPr>
        <p:spPr>
          <a:xfrm>
            <a:off x="6124721" y="5198364"/>
            <a:ext cx="2011680" cy="475488"/>
          </a:xfrm>
          <a:prstGeom prst="rect">
            <a:avLst/>
          </a:prstGeom>
          <a:noFill/>
          <a:ln/>
        </p:spPr>
        <p:txBody>
          <a:bodyPr wrap="square" lIns="0" tIns="0" rIns="0" bIns="0" rtlCol="0" anchor="t"/>
          <a:lstStyle/>
          <a:p>
            <a:pPr algn="ctr" indent="0" marL="0">
              <a:buNone/>
            </a:pPr>
            <a:r>
              <a:rPr lang="en-US" sz="1400" b="1" dirty="0">
                <a:solidFill>
                  <a:schemeClr val="tx1"/>
                </a:solidFill>
              </a:rPr>
              <a:t>Exception workflow</a:t>
            </a:r>
            <a:endParaRPr lang="en-US" sz="1400" dirty="0"/>
          </a:p>
          <a:p>
            <a:pPr algn="ctr" indent="0" marL="0">
              <a:buNone/>
            </a:pPr>
            <a:r>
              <a:rPr lang="en-US" sz="1200" dirty="0">
                <a:solidFill>
                  <a:schemeClr val="tx2"/>
                </a:solidFill>
              </a:rPr>
              <a:t>Alerts to officer tablets</a:t>
            </a:r>
            <a:endParaRPr lang="en-US" sz="1400" dirty="0"/>
          </a:p>
        </p:txBody>
      </p:sp>
      <p:sp>
        <p:nvSpPr>
          <p:cNvPr id="27" name="Shape 22"/>
          <p:cNvSpPr/>
          <p:nvPr/>
        </p:nvSpPr>
        <p:spPr>
          <a:xfrm>
            <a:off x="4041648" y="5294376"/>
            <a:ext cx="512064" cy="512064"/>
          </a:xfrm>
          <a:prstGeom prst="ellipse">
            <a:avLst/>
          </a:prstGeom>
          <a:solidFill>
            <a:schemeClr val="bg2"/>
          </a:solidFill>
          <a:ln w="15875">
            <a:solidFill>
              <a:schemeClr val="accent1"/>
            </a:solidFill>
            <a:prstDash val="solid"/>
          </a:ln>
          <a:effectLst>
            <a:outerShdw sx="100000" sy="100000" kx="0" ky="0" algn="bl" rotWithShape="0" blurRad="177800" dist="38100" dir="5400000">
              <a:srgbClr val="0A1628">
                <a:alpha val="8000"/>
              </a:srgbClr>
            </a:outerShdw>
          </a:effectLst>
        </p:spPr>
      </p:sp>
      <p:pic>
        <p:nvPicPr>
          <p:cNvPr id="28" name="Image 3" descr="preencoded.png">    </p:cNvPr>
          <p:cNvPicPr>
            <a:picLocks noChangeAspect="1"/>
          </p:cNvPicPr>
          <p:nvPr/>
        </p:nvPicPr>
        <p:blipFill>
          <a:blip r:embed="rId4"/>
          <a:stretch>
            <a:fillRect/>
          </a:stretch>
        </p:blipFill>
        <p:spPr>
          <a:xfrm>
            <a:off x="4160520" y="5413248"/>
            <a:ext cx="274320" cy="274320"/>
          </a:xfrm>
          <a:prstGeom prst="rect">
            <a:avLst/>
          </a:prstGeom>
        </p:spPr>
      </p:pic>
      <p:sp>
        <p:nvSpPr>
          <p:cNvPr id="29" name="Text 23"/>
          <p:cNvSpPr txBox="1"/>
          <p:nvPr/>
        </p:nvSpPr>
        <p:spPr>
          <a:xfrm>
            <a:off x="3291840" y="5861304"/>
            <a:ext cx="2011680" cy="475488"/>
          </a:xfrm>
          <a:prstGeom prst="rect">
            <a:avLst/>
          </a:prstGeom>
          <a:noFill/>
          <a:ln/>
        </p:spPr>
        <p:txBody>
          <a:bodyPr wrap="square" lIns="0" tIns="0" rIns="0" bIns="0" rtlCol="0" anchor="t"/>
          <a:lstStyle/>
          <a:p>
            <a:pPr algn="ctr" indent="0" marL="0">
              <a:buNone/>
            </a:pPr>
            <a:r>
              <a:rPr lang="en-US" sz="1400" b="1" dirty="0">
                <a:solidFill>
                  <a:schemeClr val="tx1"/>
                </a:solidFill>
              </a:rPr>
              <a:t>AI co-pilot</a:t>
            </a:r>
            <a:endParaRPr lang="en-US" sz="1400" dirty="0"/>
          </a:p>
          <a:p>
            <a:pPr algn="ctr" indent="0" marL="0">
              <a:buNone/>
            </a:pPr>
            <a:r>
              <a:rPr lang="en-US" sz="1200" dirty="0">
                <a:solidFill>
                  <a:schemeClr val="tx2"/>
                </a:solidFill>
              </a:rPr>
              <a:t>Correlates related alarms</a:t>
            </a:r>
            <a:endParaRPr lang="en-US" sz="1400" dirty="0"/>
          </a:p>
        </p:txBody>
      </p:sp>
      <p:sp>
        <p:nvSpPr>
          <p:cNvPr id="30" name="Shape 24"/>
          <p:cNvSpPr/>
          <p:nvPr/>
        </p:nvSpPr>
        <p:spPr>
          <a:xfrm>
            <a:off x="1665967" y="4631436"/>
            <a:ext cx="512064" cy="512064"/>
          </a:xfrm>
          <a:prstGeom prst="ellipse">
            <a:avLst/>
          </a:prstGeom>
          <a:solidFill>
            <a:schemeClr val="bg2"/>
          </a:solidFill>
          <a:ln w="15875">
            <a:solidFill>
              <a:schemeClr val="accent1"/>
            </a:solidFill>
            <a:prstDash val="solid"/>
          </a:ln>
          <a:effectLst>
            <a:outerShdw sx="100000" sy="100000" kx="0" ky="0" algn="bl" rotWithShape="0" blurRad="177800" dist="38100" dir="5400000">
              <a:srgbClr val="0A1628">
                <a:alpha val="8000"/>
              </a:srgbClr>
            </a:outerShdw>
          </a:effectLst>
        </p:spPr>
      </p:sp>
      <p:pic>
        <p:nvPicPr>
          <p:cNvPr id="31" name="Image 4" descr="preencoded.png">    </p:cNvPr>
          <p:cNvPicPr>
            <a:picLocks noChangeAspect="1"/>
          </p:cNvPicPr>
          <p:nvPr/>
        </p:nvPicPr>
        <p:blipFill>
          <a:blip r:embed="rId5"/>
          <a:stretch>
            <a:fillRect/>
          </a:stretch>
        </p:blipFill>
        <p:spPr>
          <a:xfrm>
            <a:off x="1784839" y="4750308"/>
            <a:ext cx="274320" cy="274320"/>
          </a:xfrm>
          <a:prstGeom prst="rect">
            <a:avLst/>
          </a:prstGeom>
        </p:spPr>
      </p:pic>
      <p:sp>
        <p:nvSpPr>
          <p:cNvPr id="32" name="Text 25"/>
          <p:cNvSpPr txBox="1"/>
          <p:nvPr/>
        </p:nvSpPr>
        <p:spPr>
          <a:xfrm>
            <a:off x="458959" y="5198364"/>
            <a:ext cx="2011680" cy="475488"/>
          </a:xfrm>
          <a:prstGeom prst="rect">
            <a:avLst/>
          </a:prstGeom>
          <a:noFill/>
          <a:ln/>
        </p:spPr>
        <p:txBody>
          <a:bodyPr wrap="square" lIns="0" tIns="0" rIns="0" bIns="0" rtlCol="0" anchor="t"/>
          <a:lstStyle/>
          <a:p>
            <a:pPr algn="ctr" indent="0" marL="0">
              <a:buNone/>
            </a:pPr>
            <a:r>
              <a:rPr lang="en-US" sz="1400" b="1" dirty="0">
                <a:solidFill>
                  <a:schemeClr val="tx1"/>
                </a:solidFill>
              </a:rPr>
              <a:t>3D digital twin</a:t>
            </a:r>
            <a:endParaRPr lang="en-US" sz="1400" dirty="0"/>
          </a:p>
          <a:p>
            <a:pPr algn="ctr" indent="0" marL="0">
              <a:buNone/>
            </a:pPr>
            <a:r>
              <a:rPr lang="en-US" sz="1200" dirty="0">
                <a:solidFill>
                  <a:schemeClr val="tx2"/>
                </a:solidFill>
              </a:rPr>
              <a:t>Passenger flow by zone</a:t>
            </a:r>
            <a:endParaRPr lang="en-US" sz="1400" dirty="0"/>
          </a:p>
        </p:txBody>
      </p:sp>
      <p:sp>
        <p:nvSpPr>
          <p:cNvPr id="33" name="Shape 26"/>
          <p:cNvSpPr/>
          <p:nvPr/>
        </p:nvSpPr>
        <p:spPr>
          <a:xfrm>
            <a:off x="1665967" y="3305556"/>
            <a:ext cx="512064" cy="512064"/>
          </a:xfrm>
          <a:prstGeom prst="ellipse">
            <a:avLst/>
          </a:prstGeom>
          <a:solidFill>
            <a:schemeClr val="bg2"/>
          </a:solidFill>
          <a:ln w="15875">
            <a:solidFill>
              <a:schemeClr val="accent1"/>
            </a:solidFill>
            <a:prstDash val="solid"/>
          </a:ln>
          <a:effectLst>
            <a:outerShdw sx="100000" sy="100000" kx="0" ky="0" algn="bl" rotWithShape="0" blurRad="177800" dist="38100" dir="5400000">
              <a:srgbClr val="0A1628">
                <a:alpha val="8000"/>
              </a:srgbClr>
            </a:outerShdw>
          </a:effectLst>
        </p:spPr>
      </p:sp>
      <p:pic>
        <p:nvPicPr>
          <p:cNvPr id="34" name="Image 5" descr="preencoded.png">    </p:cNvPr>
          <p:cNvPicPr>
            <a:picLocks noChangeAspect="1"/>
          </p:cNvPicPr>
          <p:nvPr/>
        </p:nvPicPr>
        <p:blipFill>
          <a:blip r:embed="rId6"/>
          <a:stretch>
            <a:fillRect/>
          </a:stretch>
        </p:blipFill>
        <p:spPr>
          <a:xfrm>
            <a:off x="1784839" y="3424428"/>
            <a:ext cx="274320" cy="274320"/>
          </a:xfrm>
          <a:prstGeom prst="rect">
            <a:avLst/>
          </a:prstGeom>
        </p:spPr>
      </p:pic>
      <p:sp>
        <p:nvSpPr>
          <p:cNvPr id="35" name="Text 27"/>
          <p:cNvSpPr txBox="1"/>
          <p:nvPr/>
        </p:nvSpPr>
        <p:spPr>
          <a:xfrm>
            <a:off x="458959" y="2775204"/>
            <a:ext cx="2011680" cy="475488"/>
          </a:xfrm>
          <a:prstGeom prst="rect">
            <a:avLst/>
          </a:prstGeom>
          <a:noFill/>
          <a:ln/>
        </p:spPr>
        <p:txBody>
          <a:bodyPr wrap="square" lIns="0" tIns="0" rIns="0" bIns="0" rtlCol="0" anchor="b"/>
          <a:lstStyle/>
          <a:p>
            <a:pPr algn="ctr" indent="0" marL="0">
              <a:buNone/>
            </a:pPr>
            <a:r>
              <a:rPr lang="en-US" sz="1400" b="1" dirty="0">
                <a:solidFill>
                  <a:schemeClr val="tx1"/>
                </a:solidFill>
              </a:rPr>
              <a:t>Physical security</a:t>
            </a:r>
            <a:endParaRPr lang="en-US" sz="1400" dirty="0"/>
          </a:p>
          <a:p>
            <a:pPr algn="ctr" indent="0" marL="0">
              <a:buNone/>
            </a:pPr>
            <a:r>
              <a:rPr lang="en-US" sz="1200" dirty="0">
                <a:solidFill>
                  <a:schemeClr val="tx2"/>
                </a:solidFill>
              </a:rPr>
              <a:t>CCTV, access, intrusion</a:t>
            </a:r>
            <a:endParaRPr lang="en-US" sz="1400" dirty="0"/>
          </a:p>
        </p:txBody>
      </p:sp>
      <p:sp>
        <p:nvSpPr>
          <p:cNvPr id="36" name="Shape 28"/>
          <p:cNvSpPr/>
          <p:nvPr/>
        </p:nvSpPr>
        <p:spPr>
          <a:xfrm>
            <a:off x="8366760" y="2103120"/>
            <a:ext cx="3276295" cy="2331720"/>
          </a:xfrm>
          <a:prstGeom prst="roundRect">
            <a:avLst>
              <a:gd name="adj" fmla="val 6275"/>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37" name="Text 29"/>
          <p:cNvSpPr txBox="1"/>
          <p:nvPr/>
        </p:nvSpPr>
        <p:spPr>
          <a:xfrm>
            <a:off x="8641080" y="2267712"/>
            <a:ext cx="2727655"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TOUCHPOINTS</a:t>
            </a:r>
            <a:endParaRPr lang="en-US" sz="1100" dirty="0"/>
          </a:p>
        </p:txBody>
      </p:sp>
      <p:sp>
        <p:nvSpPr>
          <p:cNvPr id="38" name="Shape 30"/>
          <p:cNvSpPr/>
          <p:nvPr/>
        </p:nvSpPr>
        <p:spPr>
          <a:xfrm>
            <a:off x="8641080" y="2670048"/>
            <a:ext cx="329184" cy="329184"/>
          </a:xfrm>
          <a:prstGeom prst="ellipse">
            <a:avLst/>
          </a:prstGeom>
          <a:solidFill>
            <a:schemeClr val="accent1">
              <a:alpha val="12000"/>
            </a:schemeClr>
          </a:solidFill>
          <a:ln/>
        </p:spPr>
      </p:sp>
      <p:pic>
        <p:nvPicPr>
          <p:cNvPr id="39" name="Image 6" descr="preencoded.png">    </p:cNvPr>
          <p:cNvPicPr>
            <a:picLocks noChangeAspect="1"/>
          </p:cNvPicPr>
          <p:nvPr/>
        </p:nvPicPr>
        <p:blipFill>
          <a:blip r:embed="rId7"/>
          <a:stretch>
            <a:fillRect/>
          </a:stretch>
        </p:blipFill>
        <p:spPr>
          <a:xfrm>
            <a:off x="8723376" y="2752344"/>
            <a:ext cx="164592" cy="164592"/>
          </a:xfrm>
          <a:prstGeom prst="rect">
            <a:avLst/>
          </a:prstGeom>
        </p:spPr>
      </p:pic>
      <p:sp>
        <p:nvSpPr>
          <p:cNvPr id="40" name="Text 31"/>
          <p:cNvSpPr txBox="1"/>
          <p:nvPr/>
        </p:nvSpPr>
        <p:spPr>
          <a:xfrm>
            <a:off x="9098280" y="2670048"/>
            <a:ext cx="2361895" cy="329184"/>
          </a:xfrm>
          <a:prstGeom prst="rect">
            <a:avLst/>
          </a:prstGeom>
          <a:noFill/>
          <a:ln/>
        </p:spPr>
        <p:txBody>
          <a:bodyPr wrap="square" lIns="0" tIns="0" rIns="0" bIns="0" rtlCol="0" anchor="ctr"/>
          <a:lstStyle/>
          <a:p>
            <a:pPr indent="0" marL="0">
              <a:buNone/>
            </a:pPr>
            <a:r>
              <a:rPr lang="en-US" sz="1400" dirty="0">
                <a:solidFill>
                  <a:schemeClr val="tx1"/>
                </a:solidFill>
              </a:rPr>
              <a:t>FastPass app or SDK</a:t>
            </a:r>
            <a:endParaRPr lang="en-US" sz="1400" dirty="0"/>
          </a:p>
        </p:txBody>
      </p:sp>
      <p:sp>
        <p:nvSpPr>
          <p:cNvPr id="41" name="Shape 32"/>
          <p:cNvSpPr/>
          <p:nvPr/>
        </p:nvSpPr>
        <p:spPr>
          <a:xfrm>
            <a:off x="8641080" y="3099816"/>
            <a:ext cx="329184" cy="329184"/>
          </a:xfrm>
          <a:prstGeom prst="ellipse">
            <a:avLst/>
          </a:prstGeom>
          <a:solidFill>
            <a:schemeClr val="accent1">
              <a:alpha val="12000"/>
            </a:schemeClr>
          </a:solidFill>
          <a:ln/>
        </p:spPr>
      </p:sp>
      <p:pic>
        <p:nvPicPr>
          <p:cNvPr id="42" name="Image 7" descr="preencoded.png">    </p:cNvPr>
          <p:cNvPicPr>
            <a:picLocks noChangeAspect="1"/>
          </p:cNvPicPr>
          <p:nvPr/>
        </p:nvPicPr>
        <p:blipFill>
          <a:blip r:embed="rId8"/>
          <a:stretch>
            <a:fillRect/>
          </a:stretch>
        </p:blipFill>
        <p:spPr>
          <a:xfrm>
            <a:off x="8723376" y="3182112"/>
            <a:ext cx="164592" cy="164592"/>
          </a:xfrm>
          <a:prstGeom prst="rect">
            <a:avLst/>
          </a:prstGeom>
        </p:spPr>
      </p:pic>
      <p:sp>
        <p:nvSpPr>
          <p:cNvPr id="43" name="Text 33"/>
          <p:cNvSpPr txBox="1"/>
          <p:nvPr/>
        </p:nvSpPr>
        <p:spPr>
          <a:xfrm>
            <a:off x="9098280" y="3099816"/>
            <a:ext cx="2361895" cy="329184"/>
          </a:xfrm>
          <a:prstGeom prst="rect">
            <a:avLst/>
          </a:prstGeom>
          <a:noFill/>
          <a:ln/>
        </p:spPr>
        <p:txBody>
          <a:bodyPr wrap="square" lIns="0" tIns="0" rIns="0" bIns="0" rtlCol="0" anchor="ctr"/>
          <a:lstStyle/>
          <a:p>
            <a:pPr indent="0" marL="0">
              <a:buNone/>
            </a:pPr>
            <a:r>
              <a:rPr lang="en-US" sz="1400" dirty="0">
                <a:solidFill>
                  <a:schemeClr val="tx1"/>
                </a:solidFill>
              </a:rPr>
              <a:t>Biometric E-Gate</a:t>
            </a:r>
            <a:endParaRPr lang="en-US" sz="1400" dirty="0"/>
          </a:p>
        </p:txBody>
      </p:sp>
      <p:sp>
        <p:nvSpPr>
          <p:cNvPr id="44" name="Shape 34"/>
          <p:cNvSpPr/>
          <p:nvPr/>
        </p:nvSpPr>
        <p:spPr>
          <a:xfrm>
            <a:off x="8641080" y="3529584"/>
            <a:ext cx="329184" cy="329184"/>
          </a:xfrm>
          <a:prstGeom prst="ellipse">
            <a:avLst/>
          </a:prstGeom>
          <a:solidFill>
            <a:schemeClr val="accent1">
              <a:alpha val="12000"/>
            </a:schemeClr>
          </a:solidFill>
          <a:ln/>
        </p:spPr>
      </p:sp>
      <p:pic>
        <p:nvPicPr>
          <p:cNvPr id="45" name="Image 8" descr="preencoded.png">    </p:cNvPr>
          <p:cNvPicPr>
            <a:picLocks noChangeAspect="1"/>
          </p:cNvPicPr>
          <p:nvPr/>
        </p:nvPicPr>
        <p:blipFill>
          <a:blip r:embed="rId9"/>
          <a:stretch>
            <a:fillRect/>
          </a:stretch>
        </p:blipFill>
        <p:spPr>
          <a:xfrm>
            <a:off x="8723376" y="3611880"/>
            <a:ext cx="164592" cy="164592"/>
          </a:xfrm>
          <a:prstGeom prst="rect">
            <a:avLst/>
          </a:prstGeom>
        </p:spPr>
      </p:pic>
      <p:sp>
        <p:nvSpPr>
          <p:cNvPr id="46" name="Text 35"/>
          <p:cNvSpPr txBox="1"/>
          <p:nvPr/>
        </p:nvSpPr>
        <p:spPr>
          <a:xfrm>
            <a:off x="9098280" y="3529584"/>
            <a:ext cx="2361895" cy="329184"/>
          </a:xfrm>
          <a:prstGeom prst="rect">
            <a:avLst/>
          </a:prstGeom>
          <a:noFill/>
          <a:ln/>
        </p:spPr>
        <p:txBody>
          <a:bodyPr wrap="square" lIns="0" tIns="0" rIns="0" bIns="0" rtlCol="0" anchor="ctr"/>
          <a:lstStyle/>
          <a:p>
            <a:pPr indent="0" marL="0">
              <a:buNone/>
            </a:pPr>
            <a:r>
              <a:rPr lang="en-US" sz="1400" dirty="0">
                <a:solidFill>
                  <a:schemeClr val="tx1"/>
                </a:solidFill>
              </a:rPr>
              <a:t>Nova+ pre-screening reader</a:t>
            </a:r>
            <a:endParaRPr lang="en-US" sz="1400" dirty="0"/>
          </a:p>
        </p:txBody>
      </p:sp>
      <p:sp>
        <p:nvSpPr>
          <p:cNvPr id="47" name="Shape 36"/>
          <p:cNvSpPr/>
          <p:nvPr/>
        </p:nvSpPr>
        <p:spPr>
          <a:xfrm>
            <a:off x="8641080" y="3959352"/>
            <a:ext cx="329184" cy="329184"/>
          </a:xfrm>
          <a:prstGeom prst="ellipse">
            <a:avLst/>
          </a:prstGeom>
          <a:solidFill>
            <a:schemeClr val="accent1">
              <a:alpha val="12000"/>
            </a:schemeClr>
          </a:solidFill>
          <a:ln/>
        </p:spPr>
      </p:sp>
      <p:pic>
        <p:nvPicPr>
          <p:cNvPr id="48" name="Image 9" descr="preencoded.png">    </p:cNvPr>
          <p:cNvPicPr>
            <a:picLocks noChangeAspect="1"/>
          </p:cNvPicPr>
          <p:nvPr/>
        </p:nvPicPr>
        <p:blipFill>
          <a:blip r:embed="rId10"/>
          <a:stretch>
            <a:fillRect/>
          </a:stretch>
        </p:blipFill>
        <p:spPr>
          <a:xfrm>
            <a:off x="8723376" y="4041648"/>
            <a:ext cx="164592" cy="164592"/>
          </a:xfrm>
          <a:prstGeom prst="rect">
            <a:avLst/>
          </a:prstGeom>
        </p:spPr>
      </p:pic>
      <p:sp>
        <p:nvSpPr>
          <p:cNvPr id="49" name="Text 37"/>
          <p:cNvSpPr txBox="1"/>
          <p:nvPr/>
        </p:nvSpPr>
        <p:spPr>
          <a:xfrm>
            <a:off x="9098280" y="3959352"/>
            <a:ext cx="2361895" cy="329184"/>
          </a:xfrm>
          <a:prstGeom prst="rect">
            <a:avLst/>
          </a:prstGeom>
          <a:noFill/>
          <a:ln/>
        </p:spPr>
        <p:txBody>
          <a:bodyPr wrap="square" lIns="0" tIns="0" rIns="0" bIns="0" rtlCol="0" anchor="ctr"/>
          <a:lstStyle/>
          <a:p>
            <a:pPr indent="0" marL="0">
              <a:buNone/>
            </a:pPr>
            <a:r>
              <a:rPr lang="en-US" sz="1400" dirty="0">
                <a:solidFill>
                  <a:schemeClr val="tx1"/>
                </a:solidFill>
              </a:rPr>
              <a:t>Smart Boarding Kiosk</a:t>
            </a:r>
            <a:endParaRPr lang="en-US" sz="1400" dirty="0"/>
          </a:p>
        </p:txBody>
      </p:sp>
      <p:sp>
        <p:nvSpPr>
          <p:cNvPr id="50" name="Shape 38"/>
          <p:cNvSpPr/>
          <p:nvPr/>
        </p:nvSpPr>
        <p:spPr>
          <a:xfrm>
            <a:off x="8366760" y="4617720"/>
            <a:ext cx="3276295" cy="960120"/>
          </a:xfrm>
          <a:prstGeom prst="roundRect">
            <a:avLst>
              <a:gd name="adj" fmla="val 15238"/>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51" name="Text 39"/>
          <p:cNvSpPr txBox="1"/>
          <p:nvPr/>
        </p:nvSpPr>
        <p:spPr>
          <a:xfrm>
            <a:off x="8641080" y="4754880"/>
            <a:ext cx="2727655"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CONNECTS TO YOUR SYSTEMS</a:t>
            </a:r>
            <a:endParaRPr lang="en-US" sz="1100" dirty="0"/>
          </a:p>
        </p:txBody>
      </p:sp>
      <p:sp>
        <p:nvSpPr>
          <p:cNvPr id="52" name="Text 40"/>
          <p:cNvSpPr txBox="1"/>
          <p:nvPr/>
        </p:nvSpPr>
        <p:spPr>
          <a:xfrm>
            <a:off x="8641080" y="5047488"/>
            <a:ext cx="2727655" cy="384048"/>
          </a:xfrm>
          <a:prstGeom prst="rect">
            <a:avLst/>
          </a:prstGeom>
          <a:noFill/>
          <a:ln/>
        </p:spPr>
        <p:txBody>
          <a:bodyPr wrap="square" lIns="0" tIns="0" rIns="0" bIns="0" rtlCol="0" anchor="ctr"/>
          <a:lstStyle/>
          <a:p>
            <a:pPr indent="0" marL="0">
              <a:buNone/>
            </a:pPr>
            <a:r>
              <a:rPr lang="en-US" sz="1300" dirty="0">
                <a:solidFill>
                  <a:schemeClr val="tx2"/>
                </a:solidFill>
              </a:rPr>
              <a:t>Airline DCS  ·  Border control  ·  Airport operations</a:t>
            </a:r>
            <a:endParaRPr lang="en-US" sz="1300" dirty="0"/>
          </a:p>
        </p:txBody>
      </p:sp>
      <p:sp>
        <p:nvSpPr>
          <p:cNvPr id="53" name="Shape 41"/>
          <p:cNvSpPr/>
          <p:nvPr/>
        </p:nvSpPr>
        <p:spPr>
          <a:xfrm flipV="1">
            <a:off x="7086600" y="3630168"/>
            <a:ext cx="1280160" cy="594360"/>
          </a:xfrm>
          <a:prstGeom prst="line">
            <a:avLst/>
          </a:prstGeom>
          <a:noFill/>
          <a:ln w="12700">
            <a:solidFill>
              <a:schemeClr val="accent1"/>
            </a:solidFill>
            <a:prstDash val="dash"/>
          </a:ln>
        </p:spPr>
      </p:sp>
      <p:sp>
        <p:nvSpPr>
          <p:cNvPr id="54" name="Shape 42"/>
          <p:cNvSpPr/>
          <p:nvPr/>
        </p:nvSpPr>
        <p:spPr>
          <a:xfrm>
            <a:off x="7086600" y="4224528"/>
            <a:ext cx="1280160" cy="877824"/>
          </a:xfrm>
          <a:prstGeom prst="line">
            <a:avLst/>
          </a:prstGeom>
          <a:noFill/>
          <a:ln w="12700">
            <a:solidFill>
              <a:schemeClr val="accent1"/>
            </a:solidFill>
            <a:prstDash val="dash"/>
          </a:ln>
        </p:spPr>
      </p:sp>
      <p:sp>
        <p:nvSpPr>
          <p:cNvPr id="55" name="Shape 43"/>
          <p:cNvSpPr/>
          <p:nvPr/>
        </p:nvSpPr>
        <p:spPr>
          <a:xfrm>
            <a:off x="7040880" y="4178808"/>
            <a:ext cx="91440" cy="91440"/>
          </a:xfrm>
          <a:prstGeom prst="ellipse">
            <a:avLst/>
          </a:prstGeom>
          <a:solidFill>
            <a:schemeClr val="accent1"/>
          </a:solidFill>
          <a:ln/>
        </p:spPr>
      </p:sp>
      <p:sp>
        <p:nvSpPr>
          <p:cNvPr id="56" name="Shape 44"/>
          <p:cNvSpPr/>
          <p:nvPr/>
        </p:nvSpPr>
        <p:spPr>
          <a:xfrm>
            <a:off x="8366760" y="5742432"/>
            <a:ext cx="3276295" cy="548640"/>
          </a:xfrm>
          <a:prstGeom prst="roundRect">
            <a:avLst>
              <a:gd name="adj" fmla="val 50000"/>
            </a:avLst>
          </a:prstGeom>
          <a:solidFill>
            <a:schemeClr val="accent6"/>
          </a:solidFill>
          <a:ln/>
        </p:spPr>
      </p:sp>
      <p:pic>
        <p:nvPicPr>
          <p:cNvPr id="57" name="Image 10" descr="preencoded.png">    </p:cNvPr>
          <p:cNvPicPr>
            <a:picLocks noChangeAspect="1"/>
          </p:cNvPicPr>
          <p:nvPr/>
        </p:nvPicPr>
        <p:blipFill>
          <a:blip r:embed="rId11"/>
          <a:stretch>
            <a:fillRect/>
          </a:stretch>
        </p:blipFill>
        <p:spPr>
          <a:xfrm>
            <a:off x="8586216" y="5888736"/>
            <a:ext cx="256032" cy="256032"/>
          </a:xfrm>
          <a:prstGeom prst="rect">
            <a:avLst/>
          </a:prstGeom>
        </p:spPr>
      </p:pic>
      <p:sp>
        <p:nvSpPr>
          <p:cNvPr id="58" name="Text 45"/>
          <p:cNvSpPr txBox="1"/>
          <p:nvPr/>
        </p:nvSpPr>
        <p:spPr>
          <a:xfrm>
            <a:off x="8970264" y="5742432"/>
            <a:ext cx="2499055" cy="548640"/>
          </a:xfrm>
          <a:prstGeom prst="rect">
            <a:avLst/>
          </a:prstGeom>
          <a:noFill/>
          <a:ln/>
        </p:spPr>
        <p:txBody>
          <a:bodyPr wrap="square" lIns="0" tIns="0" rIns="0" bIns="0" rtlCol="0" anchor="ctr"/>
          <a:lstStyle/>
          <a:p>
            <a:pPr indent="0" marL="0">
              <a:buNone/>
            </a:pPr>
            <a:r>
              <a:rPr lang="en-US" sz="1200" b="1" dirty="0">
                <a:solidFill>
                  <a:schemeClr val="bg1"/>
                </a:solidFill>
              </a:rPr>
              <a:t>Biometrics stay on the phone. ISMP keeps events only.</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B4  ·  ROADMAP</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From demo to operational product</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What exists today, what we harden next, and where the platform extends.</a:t>
            </a:r>
            <a:endParaRPr lang="en-US" sz="1600" dirty="0"/>
          </a:p>
        </p:txBody>
      </p:sp>
      <p:sp>
        <p:nvSpPr>
          <p:cNvPr id="5" name="Shape 3"/>
          <p:cNvSpPr/>
          <p:nvPr/>
        </p:nvSpPr>
        <p:spPr>
          <a:xfrm>
            <a:off x="548640" y="2103120"/>
            <a:ext cx="3515258" cy="3931920"/>
          </a:xfrm>
          <a:prstGeom prst="roundRect">
            <a:avLst>
              <a:gd name="adj" fmla="val 4162"/>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6" name="Text 4"/>
          <p:cNvSpPr txBox="1"/>
          <p:nvPr/>
        </p:nvSpPr>
        <p:spPr>
          <a:xfrm>
            <a:off x="822960" y="2286000"/>
            <a:ext cx="2966618" cy="256032"/>
          </a:xfrm>
          <a:prstGeom prst="rect">
            <a:avLst/>
          </a:prstGeom>
          <a:noFill/>
          <a:ln/>
        </p:spPr>
        <p:txBody>
          <a:bodyPr wrap="square" lIns="0" tIns="0" rIns="0" bIns="0" rtlCol="0" anchor="ctr"/>
          <a:lstStyle/>
          <a:p>
            <a:pPr indent="0" marL="0">
              <a:buNone/>
            </a:pPr>
            <a:r>
              <a:rPr lang="en-US" sz="1100" b="1" spc="200" kern="0" dirty="0">
                <a:solidFill>
                  <a:schemeClr val="accent2"/>
                </a:solidFill>
              </a:rPr>
              <a:t>NOW</a:t>
            </a:r>
            <a:endParaRPr lang="en-US" sz="1100" dirty="0"/>
          </a:p>
        </p:txBody>
      </p:sp>
      <p:sp>
        <p:nvSpPr>
          <p:cNvPr id="7" name="Text 5"/>
          <p:cNvSpPr txBox="1"/>
          <p:nvPr/>
        </p:nvSpPr>
        <p:spPr>
          <a:xfrm>
            <a:off x="822960" y="2578608"/>
            <a:ext cx="2966618" cy="365760"/>
          </a:xfrm>
          <a:prstGeom prst="rect">
            <a:avLst/>
          </a:prstGeom>
          <a:noFill/>
          <a:ln/>
        </p:spPr>
        <p:txBody>
          <a:bodyPr wrap="square" lIns="0" tIns="0" rIns="0" bIns="0" rtlCol="0" anchor="ctr"/>
          <a:lstStyle/>
          <a:p>
            <a:pPr indent="0" marL="0">
              <a:buNone/>
            </a:pPr>
            <a:r>
              <a:rPr lang="en-US" sz="1900" b="1" dirty="0">
                <a:solidFill>
                  <a:schemeClr val="tx1"/>
                </a:solidFill>
              </a:rPr>
              <a:t>Working prototype</a:t>
            </a:r>
            <a:endParaRPr lang="en-US" sz="1900" dirty="0"/>
          </a:p>
        </p:txBody>
      </p:sp>
      <p:sp>
        <p:nvSpPr>
          <p:cNvPr id="8" name="Shape 6"/>
          <p:cNvSpPr/>
          <p:nvPr/>
        </p:nvSpPr>
        <p:spPr>
          <a:xfrm>
            <a:off x="822960" y="3246120"/>
            <a:ext cx="128016" cy="128016"/>
          </a:xfrm>
          <a:prstGeom prst="ellipse">
            <a:avLst/>
          </a:prstGeom>
          <a:solidFill>
            <a:schemeClr val="accent2"/>
          </a:solidFill>
          <a:ln/>
        </p:spPr>
      </p:sp>
      <p:sp>
        <p:nvSpPr>
          <p:cNvPr id="9" name="Text 7"/>
          <p:cNvSpPr txBox="1"/>
          <p:nvPr/>
        </p:nvSpPr>
        <p:spPr>
          <a:xfrm>
            <a:off x="1078992" y="3154680"/>
            <a:ext cx="2738018" cy="548640"/>
          </a:xfrm>
          <a:prstGeom prst="rect">
            <a:avLst/>
          </a:prstGeom>
          <a:noFill/>
          <a:ln/>
        </p:spPr>
        <p:txBody>
          <a:bodyPr wrap="square" lIns="0" tIns="0" rIns="0" bIns="0" rtlCol="0" anchor="t"/>
          <a:lstStyle/>
          <a:p>
            <a:pPr indent="0" marL="0">
              <a:buNone/>
            </a:pPr>
            <a:r>
              <a:rPr lang="en-US" sz="1400" dirty="0">
                <a:solidFill>
                  <a:schemeClr val="tx1"/>
                </a:solidFill>
              </a:rPr>
              <a:t>Mobile enrolment and credential</a:t>
            </a:r>
            <a:endParaRPr lang="en-US" sz="1400" dirty="0"/>
          </a:p>
        </p:txBody>
      </p:sp>
      <p:sp>
        <p:nvSpPr>
          <p:cNvPr id="10" name="Shape 8"/>
          <p:cNvSpPr/>
          <p:nvPr/>
        </p:nvSpPr>
        <p:spPr>
          <a:xfrm>
            <a:off x="822960" y="3922776"/>
            <a:ext cx="128016" cy="128016"/>
          </a:xfrm>
          <a:prstGeom prst="ellipse">
            <a:avLst/>
          </a:prstGeom>
          <a:solidFill>
            <a:schemeClr val="accent2"/>
          </a:solidFill>
          <a:ln/>
        </p:spPr>
      </p:sp>
      <p:sp>
        <p:nvSpPr>
          <p:cNvPr id="11" name="Text 9"/>
          <p:cNvSpPr txBox="1"/>
          <p:nvPr/>
        </p:nvSpPr>
        <p:spPr>
          <a:xfrm>
            <a:off x="1078992" y="3831336"/>
            <a:ext cx="2738018" cy="548640"/>
          </a:xfrm>
          <a:prstGeom prst="rect">
            <a:avLst/>
          </a:prstGeom>
          <a:noFill/>
          <a:ln/>
        </p:spPr>
        <p:txBody>
          <a:bodyPr wrap="square" lIns="0" tIns="0" rIns="0" bIns="0" rtlCol="0" anchor="t"/>
          <a:lstStyle/>
          <a:p>
            <a:pPr indent="0" marL="0">
              <a:buNone/>
            </a:pPr>
            <a:r>
              <a:rPr lang="en-US" sz="1400" dirty="0">
                <a:solidFill>
                  <a:schemeClr val="tx1"/>
                </a:solidFill>
              </a:rPr>
              <a:t>BLE lane association, 2FA on the move</a:t>
            </a:r>
            <a:endParaRPr lang="en-US" sz="1400" dirty="0"/>
          </a:p>
        </p:txBody>
      </p:sp>
      <p:sp>
        <p:nvSpPr>
          <p:cNvPr id="12" name="Shape 10"/>
          <p:cNvSpPr/>
          <p:nvPr/>
        </p:nvSpPr>
        <p:spPr>
          <a:xfrm>
            <a:off x="822960" y="4599432"/>
            <a:ext cx="128016" cy="128016"/>
          </a:xfrm>
          <a:prstGeom prst="ellipse">
            <a:avLst/>
          </a:prstGeom>
          <a:solidFill>
            <a:schemeClr val="accent2"/>
          </a:solidFill>
          <a:ln/>
        </p:spPr>
      </p:sp>
      <p:sp>
        <p:nvSpPr>
          <p:cNvPr id="13" name="Text 11"/>
          <p:cNvSpPr txBox="1"/>
          <p:nvPr/>
        </p:nvSpPr>
        <p:spPr>
          <a:xfrm>
            <a:off x="1078992" y="4507992"/>
            <a:ext cx="2738018" cy="548640"/>
          </a:xfrm>
          <a:prstGeom prst="rect">
            <a:avLst/>
          </a:prstGeom>
          <a:noFill/>
          <a:ln/>
        </p:spPr>
        <p:txBody>
          <a:bodyPr wrap="square" lIns="0" tIns="0" rIns="0" bIns="0" rtlCol="0" anchor="t"/>
          <a:lstStyle/>
          <a:p>
            <a:pPr indent="0" marL="0">
              <a:buNone/>
            </a:pPr>
            <a:r>
              <a:rPr lang="en-US" sz="1400" dirty="0">
                <a:solidFill>
                  <a:schemeClr val="tx1"/>
                </a:solidFill>
              </a:rPr>
              <a:t>Biometric E-Gate, Nova+, boarding kiosk</a:t>
            </a:r>
            <a:endParaRPr lang="en-US" sz="1400" dirty="0"/>
          </a:p>
        </p:txBody>
      </p:sp>
      <p:sp>
        <p:nvSpPr>
          <p:cNvPr id="14" name="Shape 12"/>
          <p:cNvSpPr/>
          <p:nvPr/>
        </p:nvSpPr>
        <p:spPr>
          <a:xfrm>
            <a:off x="822960" y="5276088"/>
            <a:ext cx="128016" cy="128016"/>
          </a:xfrm>
          <a:prstGeom prst="ellipse">
            <a:avLst/>
          </a:prstGeom>
          <a:solidFill>
            <a:schemeClr val="accent2"/>
          </a:solidFill>
          <a:ln/>
        </p:spPr>
      </p:sp>
      <p:sp>
        <p:nvSpPr>
          <p:cNvPr id="15" name="Text 13"/>
          <p:cNvSpPr txBox="1"/>
          <p:nvPr/>
        </p:nvSpPr>
        <p:spPr>
          <a:xfrm>
            <a:off x="1078992" y="5184648"/>
            <a:ext cx="2738018" cy="548640"/>
          </a:xfrm>
          <a:prstGeom prst="rect">
            <a:avLst/>
          </a:prstGeom>
          <a:noFill/>
          <a:ln/>
        </p:spPr>
        <p:txBody>
          <a:bodyPr wrap="square" lIns="0" tIns="0" rIns="0" bIns="0" rtlCol="0" anchor="t"/>
          <a:lstStyle/>
          <a:p>
            <a:pPr indent="0" marL="0">
              <a:buNone/>
            </a:pPr>
            <a:r>
              <a:rPr lang="en-US" sz="1400" dirty="0">
                <a:solidFill>
                  <a:schemeClr val="tx1"/>
                </a:solidFill>
              </a:rPr>
              <a:t>ISMP monitoring and exceptions</a:t>
            </a:r>
            <a:endParaRPr lang="en-US" sz="1400" dirty="0"/>
          </a:p>
        </p:txBody>
      </p:sp>
      <p:sp>
        <p:nvSpPr>
          <p:cNvPr id="16" name="Shape 14"/>
          <p:cNvSpPr/>
          <p:nvPr/>
        </p:nvSpPr>
        <p:spPr>
          <a:xfrm>
            <a:off x="4338218" y="2103120"/>
            <a:ext cx="3515258" cy="3931920"/>
          </a:xfrm>
          <a:prstGeom prst="roundRect">
            <a:avLst>
              <a:gd name="adj" fmla="val 4162"/>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17" name="Text 15"/>
          <p:cNvSpPr txBox="1"/>
          <p:nvPr/>
        </p:nvSpPr>
        <p:spPr>
          <a:xfrm>
            <a:off x="4612538" y="2286000"/>
            <a:ext cx="2966618"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NEXT · 2027</a:t>
            </a:r>
            <a:endParaRPr lang="en-US" sz="1100" dirty="0"/>
          </a:p>
        </p:txBody>
      </p:sp>
      <p:sp>
        <p:nvSpPr>
          <p:cNvPr id="18" name="Text 16"/>
          <p:cNvSpPr txBox="1"/>
          <p:nvPr/>
        </p:nvSpPr>
        <p:spPr>
          <a:xfrm>
            <a:off x="4612538" y="2578608"/>
            <a:ext cx="2966618" cy="365760"/>
          </a:xfrm>
          <a:prstGeom prst="rect">
            <a:avLst/>
          </a:prstGeom>
          <a:noFill/>
          <a:ln/>
        </p:spPr>
        <p:txBody>
          <a:bodyPr wrap="square" lIns="0" tIns="0" rIns="0" bIns="0" rtlCol="0" anchor="ctr"/>
          <a:lstStyle/>
          <a:p>
            <a:pPr indent="0" marL="0">
              <a:buNone/>
            </a:pPr>
            <a:r>
              <a:rPr lang="en-US" sz="1900" b="1" dirty="0">
                <a:solidFill>
                  <a:schemeClr val="tx1"/>
                </a:solidFill>
              </a:rPr>
              <a:t>Operational product</a:t>
            </a:r>
            <a:endParaRPr lang="en-US" sz="1900" dirty="0"/>
          </a:p>
        </p:txBody>
      </p:sp>
      <p:sp>
        <p:nvSpPr>
          <p:cNvPr id="19" name="Shape 17"/>
          <p:cNvSpPr/>
          <p:nvPr/>
        </p:nvSpPr>
        <p:spPr>
          <a:xfrm>
            <a:off x="4612538" y="3246120"/>
            <a:ext cx="128016" cy="128016"/>
          </a:xfrm>
          <a:prstGeom prst="ellipse">
            <a:avLst/>
          </a:prstGeom>
          <a:solidFill>
            <a:schemeClr val="accent1"/>
          </a:solidFill>
          <a:ln/>
        </p:spPr>
      </p:sp>
      <p:sp>
        <p:nvSpPr>
          <p:cNvPr id="20" name="Text 18"/>
          <p:cNvSpPr txBox="1"/>
          <p:nvPr/>
        </p:nvSpPr>
        <p:spPr>
          <a:xfrm>
            <a:off x="4868570" y="3154680"/>
            <a:ext cx="2738018" cy="548640"/>
          </a:xfrm>
          <a:prstGeom prst="rect">
            <a:avLst/>
          </a:prstGeom>
          <a:noFill/>
          <a:ln/>
        </p:spPr>
        <p:txBody>
          <a:bodyPr wrap="square" lIns="0" tIns="0" rIns="0" bIns="0" rtlCol="0" anchor="t"/>
          <a:lstStyle/>
          <a:p>
            <a:pPr indent="0" marL="0">
              <a:buNone/>
            </a:pPr>
            <a:r>
              <a:rPr lang="en-US" sz="1400" dirty="0">
                <a:solidFill>
                  <a:schemeClr val="tx1"/>
                </a:solidFill>
              </a:rPr>
              <a:t>Offline credentials and redundancy</a:t>
            </a:r>
            <a:endParaRPr lang="en-US" sz="1400" dirty="0"/>
          </a:p>
        </p:txBody>
      </p:sp>
      <p:sp>
        <p:nvSpPr>
          <p:cNvPr id="21" name="Shape 19"/>
          <p:cNvSpPr/>
          <p:nvPr/>
        </p:nvSpPr>
        <p:spPr>
          <a:xfrm>
            <a:off x="4612538" y="3922776"/>
            <a:ext cx="128016" cy="128016"/>
          </a:xfrm>
          <a:prstGeom prst="ellipse">
            <a:avLst/>
          </a:prstGeom>
          <a:solidFill>
            <a:schemeClr val="accent1"/>
          </a:solidFill>
          <a:ln/>
        </p:spPr>
      </p:sp>
      <p:sp>
        <p:nvSpPr>
          <p:cNvPr id="22" name="Text 20"/>
          <p:cNvSpPr txBox="1"/>
          <p:nvPr/>
        </p:nvSpPr>
        <p:spPr>
          <a:xfrm>
            <a:off x="4868570" y="3831336"/>
            <a:ext cx="2738018" cy="548640"/>
          </a:xfrm>
          <a:prstGeom prst="rect">
            <a:avLst/>
          </a:prstGeom>
          <a:noFill/>
          <a:ln/>
        </p:spPr>
        <p:txBody>
          <a:bodyPr wrap="square" lIns="0" tIns="0" rIns="0" bIns="0" rtlCol="0" anchor="t"/>
          <a:lstStyle/>
          <a:p>
            <a:pPr indent="0" marL="0">
              <a:buNone/>
            </a:pPr>
            <a:r>
              <a:rPr lang="en-US" sz="1400" dirty="0">
                <a:solidFill>
                  <a:schemeClr val="tx1"/>
                </a:solidFill>
              </a:rPr>
              <a:t>Back-end, airline and watchlist links</a:t>
            </a:r>
            <a:endParaRPr lang="en-US" sz="1400" dirty="0"/>
          </a:p>
        </p:txBody>
      </p:sp>
      <p:sp>
        <p:nvSpPr>
          <p:cNvPr id="23" name="Shape 21"/>
          <p:cNvSpPr/>
          <p:nvPr/>
        </p:nvSpPr>
        <p:spPr>
          <a:xfrm>
            <a:off x="4612538" y="4599432"/>
            <a:ext cx="128016" cy="128016"/>
          </a:xfrm>
          <a:prstGeom prst="ellipse">
            <a:avLst/>
          </a:prstGeom>
          <a:solidFill>
            <a:schemeClr val="accent1"/>
          </a:solidFill>
          <a:ln/>
        </p:spPr>
      </p:sp>
      <p:sp>
        <p:nvSpPr>
          <p:cNvPr id="24" name="Text 22"/>
          <p:cNvSpPr txBox="1"/>
          <p:nvPr/>
        </p:nvSpPr>
        <p:spPr>
          <a:xfrm>
            <a:off x="4868570" y="4507992"/>
            <a:ext cx="2738018" cy="548640"/>
          </a:xfrm>
          <a:prstGeom prst="rect">
            <a:avLst/>
          </a:prstGeom>
          <a:noFill/>
          <a:ln/>
        </p:spPr>
        <p:txBody>
          <a:bodyPr wrap="square" lIns="0" tIns="0" rIns="0" bIns="0" rtlCol="0" anchor="t"/>
          <a:lstStyle/>
          <a:p>
            <a:pPr indent="0" marL="0">
              <a:buNone/>
            </a:pPr>
            <a:r>
              <a:rPr lang="en-US" sz="1400" dirty="0">
                <a:solidFill>
                  <a:schemeClr val="tx1"/>
                </a:solidFill>
              </a:rPr>
              <a:t>Backboard status screen at the lane</a:t>
            </a:r>
            <a:endParaRPr lang="en-US" sz="1400" dirty="0"/>
          </a:p>
        </p:txBody>
      </p:sp>
      <p:sp>
        <p:nvSpPr>
          <p:cNvPr id="25" name="Shape 23"/>
          <p:cNvSpPr/>
          <p:nvPr/>
        </p:nvSpPr>
        <p:spPr>
          <a:xfrm>
            <a:off x="4612538" y="5276088"/>
            <a:ext cx="128016" cy="128016"/>
          </a:xfrm>
          <a:prstGeom prst="ellipse">
            <a:avLst/>
          </a:prstGeom>
          <a:solidFill>
            <a:schemeClr val="accent1"/>
          </a:solidFill>
          <a:ln/>
        </p:spPr>
      </p:sp>
      <p:sp>
        <p:nvSpPr>
          <p:cNvPr id="26" name="Text 24"/>
          <p:cNvSpPr txBox="1"/>
          <p:nvPr/>
        </p:nvSpPr>
        <p:spPr>
          <a:xfrm>
            <a:off x="4868570" y="5184648"/>
            <a:ext cx="2738018" cy="548640"/>
          </a:xfrm>
          <a:prstGeom prst="rect">
            <a:avLst/>
          </a:prstGeom>
          <a:noFill/>
          <a:ln/>
        </p:spPr>
        <p:txBody>
          <a:bodyPr wrap="square" lIns="0" tIns="0" rIns="0" bIns="0" rtlCol="0" anchor="t"/>
          <a:lstStyle/>
          <a:p>
            <a:pPr indent="0" marL="0">
              <a:buNone/>
            </a:pPr>
            <a:r>
              <a:rPr lang="en-US" sz="1400" dirty="0">
                <a:solidFill>
                  <a:schemeClr val="tx1"/>
                </a:solidFill>
              </a:rPr>
              <a:t>AI lane assistant; onboard-processing LiDAR</a:t>
            </a:r>
            <a:endParaRPr lang="en-US" sz="1400" dirty="0"/>
          </a:p>
        </p:txBody>
      </p:sp>
      <p:sp>
        <p:nvSpPr>
          <p:cNvPr id="27" name="Shape 25"/>
          <p:cNvSpPr/>
          <p:nvPr/>
        </p:nvSpPr>
        <p:spPr>
          <a:xfrm>
            <a:off x="8127797" y="2103120"/>
            <a:ext cx="3515258" cy="3931920"/>
          </a:xfrm>
          <a:prstGeom prst="roundRect">
            <a:avLst>
              <a:gd name="adj" fmla="val 4162"/>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28" name="Text 26"/>
          <p:cNvSpPr txBox="1"/>
          <p:nvPr/>
        </p:nvSpPr>
        <p:spPr>
          <a:xfrm>
            <a:off x="8402117" y="2286000"/>
            <a:ext cx="2966618" cy="256032"/>
          </a:xfrm>
          <a:prstGeom prst="rect">
            <a:avLst/>
          </a:prstGeom>
          <a:noFill/>
          <a:ln/>
        </p:spPr>
        <p:txBody>
          <a:bodyPr wrap="square" lIns="0" tIns="0" rIns="0" bIns="0" rtlCol="0" anchor="ctr"/>
          <a:lstStyle/>
          <a:p>
            <a:pPr indent="0" marL="0">
              <a:buNone/>
            </a:pPr>
            <a:r>
              <a:rPr lang="en-US" sz="1100" b="1" spc="200" kern="0" dirty="0">
                <a:solidFill>
                  <a:schemeClr val="tx2"/>
                </a:solidFill>
              </a:rPr>
              <a:t>LATER</a:t>
            </a:r>
            <a:endParaRPr lang="en-US" sz="1100" dirty="0"/>
          </a:p>
        </p:txBody>
      </p:sp>
      <p:sp>
        <p:nvSpPr>
          <p:cNvPr id="29" name="Text 27"/>
          <p:cNvSpPr txBox="1"/>
          <p:nvPr/>
        </p:nvSpPr>
        <p:spPr>
          <a:xfrm>
            <a:off x="8402117" y="2578608"/>
            <a:ext cx="2966618" cy="365760"/>
          </a:xfrm>
          <a:prstGeom prst="rect">
            <a:avLst/>
          </a:prstGeom>
          <a:noFill/>
          <a:ln/>
        </p:spPr>
        <p:txBody>
          <a:bodyPr wrap="square" lIns="0" tIns="0" rIns="0" bIns="0" rtlCol="0" anchor="ctr"/>
          <a:lstStyle/>
          <a:p>
            <a:pPr indent="0" marL="0">
              <a:buNone/>
            </a:pPr>
            <a:r>
              <a:rPr lang="en-US" sz="1900" b="1" dirty="0">
                <a:solidFill>
                  <a:schemeClr val="tx1"/>
                </a:solidFill>
              </a:rPr>
              <a:t>Platform extensions</a:t>
            </a:r>
            <a:endParaRPr lang="en-US" sz="1900" dirty="0"/>
          </a:p>
        </p:txBody>
      </p:sp>
      <p:sp>
        <p:nvSpPr>
          <p:cNvPr id="30" name="Shape 28"/>
          <p:cNvSpPr/>
          <p:nvPr/>
        </p:nvSpPr>
        <p:spPr>
          <a:xfrm>
            <a:off x="8402117" y="3246120"/>
            <a:ext cx="128016" cy="128016"/>
          </a:xfrm>
          <a:prstGeom prst="ellipse">
            <a:avLst/>
          </a:prstGeom>
          <a:solidFill>
            <a:schemeClr val="tx2"/>
          </a:solidFill>
          <a:ln/>
        </p:spPr>
      </p:sp>
      <p:sp>
        <p:nvSpPr>
          <p:cNvPr id="31" name="Text 29"/>
          <p:cNvSpPr txBox="1"/>
          <p:nvPr/>
        </p:nvSpPr>
        <p:spPr>
          <a:xfrm>
            <a:off x="8658149" y="3154680"/>
            <a:ext cx="2738018" cy="548640"/>
          </a:xfrm>
          <a:prstGeom prst="rect">
            <a:avLst/>
          </a:prstGeom>
          <a:noFill/>
          <a:ln/>
        </p:spPr>
        <p:txBody>
          <a:bodyPr wrap="square" lIns="0" tIns="0" rIns="0" bIns="0" rtlCol="0" anchor="t"/>
          <a:lstStyle/>
          <a:p>
            <a:pPr indent="0" marL="0">
              <a:buNone/>
            </a:pPr>
            <a:r>
              <a:rPr lang="en-US" sz="1400" dirty="0">
                <a:solidFill>
                  <a:schemeClr val="tx1"/>
                </a:solidFill>
              </a:rPr>
              <a:t>Face + iris multimodal (Iris SecureFlow)</a:t>
            </a:r>
            <a:endParaRPr lang="en-US" sz="1400" dirty="0"/>
          </a:p>
        </p:txBody>
      </p:sp>
      <p:sp>
        <p:nvSpPr>
          <p:cNvPr id="32" name="Shape 30"/>
          <p:cNvSpPr/>
          <p:nvPr/>
        </p:nvSpPr>
        <p:spPr>
          <a:xfrm>
            <a:off x="8402117" y="3922776"/>
            <a:ext cx="128016" cy="128016"/>
          </a:xfrm>
          <a:prstGeom prst="ellipse">
            <a:avLst/>
          </a:prstGeom>
          <a:solidFill>
            <a:schemeClr val="tx2"/>
          </a:solidFill>
          <a:ln/>
        </p:spPr>
      </p:sp>
      <p:sp>
        <p:nvSpPr>
          <p:cNvPr id="33" name="Text 31"/>
          <p:cNvSpPr txBox="1"/>
          <p:nvPr/>
        </p:nvSpPr>
        <p:spPr>
          <a:xfrm>
            <a:off x="8658149" y="3831336"/>
            <a:ext cx="2738018" cy="548640"/>
          </a:xfrm>
          <a:prstGeom prst="rect">
            <a:avLst/>
          </a:prstGeom>
          <a:noFill/>
          <a:ln/>
        </p:spPr>
        <p:txBody>
          <a:bodyPr wrap="square" lIns="0" tIns="0" rIns="0" bIns="0" rtlCol="0" anchor="t"/>
          <a:lstStyle/>
          <a:p>
            <a:pPr indent="0" marL="0">
              <a:buNone/>
            </a:pPr>
            <a:r>
              <a:rPr lang="en-US" sz="1400" dirty="0">
                <a:solidFill>
                  <a:schemeClr val="tx1"/>
                </a:solidFill>
              </a:rPr>
              <a:t>UWB wallet and palm-vein options</a:t>
            </a:r>
            <a:endParaRPr lang="en-US" sz="1400" dirty="0"/>
          </a:p>
        </p:txBody>
      </p:sp>
      <p:sp>
        <p:nvSpPr>
          <p:cNvPr id="34" name="Shape 32"/>
          <p:cNvSpPr/>
          <p:nvPr/>
        </p:nvSpPr>
        <p:spPr>
          <a:xfrm>
            <a:off x="8402117" y="4599432"/>
            <a:ext cx="128016" cy="128016"/>
          </a:xfrm>
          <a:prstGeom prst="ellipse">
            <a:avLst/>
          </a:prstGeom>
          <a:solidFill>
            <a:schemeClr val="tx2"/>
          </a:solidFill>
          <a:ln/>
        </p:spPr>
      </p:sp>
      <p:sp>
        <p:nvSpPr>
          <p:cNvPr id="35" name="Text 33"/>
          <p:cNvSpPr txBox="1"/>
          <p:nvPr/>
        </p:nvSpPr>
        <p:spPr>
          <a:xfrm>
            <a:off x="8658149" y="4507992"/>
            <a:ext cx="2738018" cy="548640"/>
          </a:xfrm>
          <a:prstGeom prst="rect">
            <a:avLst/>
          </a:prstGeom>
          <a:noFill/>
          <a:ln/>
        </p:spPr>
        <p:txBody>
          <a:bodyPr wrap="square" lIns="0" tIns="0" rIns="0" bIns="0" rtlCol="0" anchor="t"/>
          <a:lstStyle/>
          <a:p>
            <a:pPr indent="0" marL="0">
              <a:buNone/>
            </a:pPr>
            <a:r>
              <a:rPr lang="en-US" sz="1400" dirty="0">
                <a:solidFill>
                  <a:schemeClr val="tx1"/>
                </a:solidFill>
              </a:rPr>
              <a:t>Front-to-back baggage partners</a:t>
            </a:r>
            <a:endParaRPr lang="en-US" sz="1400" dirty="0"/>
          </a:p>
        </p:txBody>
      </p:sp>
      <p:sp>
        <p:nvSpPr>
          <p:cNvPr id="36" name="Shape 34"/>
          <p:cNvSpPr/>
          <p:nvPr/>
        </p:nvSpPr>
        <p:spPr>
          <a:xfrm>
            <a:off x="8402117" y="5276088"/>
            <a:ext cx="128016" cy="128016"/>
          </a:xfrm>
          <a:prstGeom prst="ellipse">
            <a:avLst/>
          </a:prstGeom>
          <a:solidFill>
            <a:schemeClr val="tx2"/>
          </a:solidFill>
          <a:ln/>
        </p:spPr>
      </p:sp>
      <p:sp>
        <p:nvSpPr>
          <p:cNvPr id="37" name="Text 35"/>
          <p:cNvSpPr txBox="1"/>
          <p:nvPr/>
        </p:nvSpPr>
        <p:spPr>
          <a:xfrm>
            <a:off x="8658149" y="5184648"/>
            <a:ext cx="2738018" cy="548640"/>
          </a:xfrm>
          <a:prstGeom prst="rect">
            <a:avLst/>
          </a:prstGeom>
          <a:noFill/>
          <a:ln/>
        </p:spPr>
        <p:txBody>
          <a:bodyPr wrap="square" lIns="0" tIns="0" rIns="0" bIns="0" rtlCol="0" anchor="t"/>
          <a:lstStyle/>
          <a:p>
            <a:pPr indent="0" marL="0">
              <a:buNone/>
            </a:pPr>
            <a:r>
              <a:rPr lang="en-US" sz="1400" dirty="0">
                <a:solidFill>
                  <a:schemeClr val="tx1"/>
                </a:solidFill>
              </a:rPr>
              <a:t>Seaports and land checkpoints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B5  ·  MARKET SIZING</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How we sized the market</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Conservative, bottom-up and traceable to published sources.</a:t>
            </a:r>
            <a:endParaRPr lang="en-US" sz="1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4415" cy="914400"/>
        </p:xfrm>
        <a:graphic>
          <a:graphicData uri="http://schemas.openxmlformats.org/drawingml/2006/table">
            <a:tbl>
              <a:tblPr/>
              <a:tblGrid>
                <a:gridCol w="3840480"/>
                <a:gridCol w="4297680"/>
                <a:gridCol w="2956255"/>
              </a:tblGrid>
              <a:tr h="512064">
                <a:tc>
                  <a:txBody>
                    <a:bodyPr/>
                    <a:lstStyle/>
                    <a:p>
                      <a:pPr indent="0" marL="0">
                        <a:buNone/>
                      </a:pPr>
                      <a:r>
                        <a:rPr lang="en-US" sz="1300" b="1" dirty="0">
                          <a:solidFill>
                            <a:schemeClr val="bg1"/>
                          </a:solidFill>
                        </a:rPr>
                        <a:t>Step</a:t>
                      </a:r>
                      <a:endParaRPr lang="en-US" sz="13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accent6"/>
                    </a:solidFill>
                  </a:tcPr>
                </a:tc>
                <a:tc>
                  <a:txBody>
                    <a:bodyPr/>
                    <a:lstStyle/>
                    <a:p>
                      <a:pPr indent="0" marL="0">
                        <a:buNone/>
                      </a:pPr>
                      <a:r>
                        <a:rPr lang="en-US" sz="1300" b="1" dirty="0">
                          <a:solidFill>
                            <a:schemeClr val="bg1"/>
                          </a:solidFill>
                        </a:rPr>
                        <a:t>Figure</a:t>
                      </a:r>
                      <a:endParaRPr lang="en-US" sz="13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accent6"/>
                    </a:solidFill>
                  </a:tcPr>
                </a:tc>
                <a:tc>
                  <a:txBody>
                    <a:bodyPr/>
                    <a:lstStyle/>
                    <a:p>
                      <a:pPr indent="0" marL="0">
                        <a:buNone/>
                      </a:pPr>
                      <a:r>
                        <a:rPr lang="en-US" sz="1300" b="1" dirty="0">
                          <a:solidFill>
                            <a:schemeClr val="bg1"/>
                          </a:solidFill>
                        </a:rPr>
                        <a:t>Basis</a:t>
                      </a:r>
                      <a:endParaRPr lang="en-US" sz="13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accent6"/>
                    </a:solidFill>
                  </a:tcPr>
                </a:tc>
              </a:tr>
              <a:tr h="512064">
                <a:tc>
                  <a:txBody>
                    <a:bodyPr/>
                    <a:lstStyle/>
                    <a:p>
                      <a:pPr indent="0" marL="0">
                        <a:buNone/>
                      </a:pPr>
                      <a:r>
                        <a:rPr lang="en-US" sz="1400" dirty="0">
                          <a:solidFill>
                            <a:schemeClr val="tx1"/>
                          </a:solidFill>
                        </a:rPr>
                        <a:t>Global automated border control market</a:t>
                      </a:r>
                      <a:endParaRPr lang="en-US" sz="14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US$2.56B (2025) → US$5.03B (2030), 14.4% CAGR</a:t>
                      </a:r>
                      <a:endParaRPr lang="en-US" sz="14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R3 MarketsandMarkets</a:t>
                      </a:r>
                      <a:endParaRPr lang="en-US" sz="14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512064">
                <a:tc>
                  <a:txBody>
                    <a:bodyPr/>
                    <a:lstStyle/>
                    <a:p>
                      <a:pPr indent="0" marL="0">
                        <a:buNone/>
                      </a:pPr>
                      <a:r>
                        <a:rPr lang="en-US" sz="1400" dirty="0">
                          <a:solidFill>
                            <a:schemeClr val="tx1"/>
                          </a:solidFill>
                        </a:rPr>
                        <a:t>Airport share of demand</a:t>
                      </a:r>
                      <a:endParaRPr lang="en-US" sz="14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83.1% (2025)</a:t>
                      </a:r>
                      <a:endParaRPr lang="en-US" sz="14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R4 MarketsandMarkets</a:t>
                      </a:r>
                      <a:endParaRPr lang="en-US" sz="14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512064">
                <a:tc>
                  <a:txBody>
                    <a:bodyPr/>
                    <a:lstStyle/>
                    <a:p>
                      <a:pPr indent="0" marL="0">
                        <a:buNone/>
                      </a:pPr>
                      <a:r>
                        <a:rPr lang="en-US" sz="1400" dirty="0">
                          <a:solidFill>
                            <a:schemeClr val="tx1"/>
                          </a:solidFill>
                        </a:rPr>
                        <a:t>Middle East + Southeast Asia share</a:t>
                      </a:r>
                      <a:endParaRPr lang="en-US" sz="14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≈10–15%</a:t>
                      </a:r>
                      <a:endParaRPr lang="en-US" sz="14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I2 URS analysis (APAC is 32.6%, R4)</a:t>
                      </a:r>
                      <a:endParaRPr lang="en-US" sz="14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512064">
                <a:tc>
                  <a:txBody>
                    <a:bodyPr/>
                    <a:lstStyle/>
                    <a:p>
                      <a:pPr indent="0" marL="0">
                        <a:buNone/>
                      </a:pPr>
                      <a:r>
                        <a:rPr lang="en-US" sz="1400" dirty="0">
                          <a:solidFill>
                            <a:schemeClr val="tx1"/>
                          </a:solidFill>
                        </a:rPr>
                        <a:t>FastPass initial addressable share</a:t>
                      </a:r>
                      <a:endParaRPr lang="en-US" sz="14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≈25% of the regional market</a:t>
                      </a:r>
                      <a:endParaRPr lang="en-US" sz="14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I2 URS estimate</a:t>
                      </a:r>
                      <a:endParaRPr lang="en-US" sz="14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Serviceable market, 2026–2030</a:t>
                      </a:r>
                      <a:endParaRPr lang="en-US" sz="14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≈US$500–700M (≈US$100–140M a year)</a:t>
                      </a:r>
                      <a:endParaRPr lang="en-US" sz="14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Derived</a:t>
                      </a:r>
                      <a:endParaRPr lang="en-US" sz="1400" dirty="0"/>
                    </a:p>
                  </a:txBody>
                  <a:tcPr marL="91440" marR="91440" marT="36576" marB="36576" anchor="ctr">
                    <a:lnL w="9525" cap="flat" cmpd="sng" algn="ctr">
                      <a:solidFill>
                        <a:srgbClr val="E1E6ED"/>
                      </a:solidFill>
                      <a:prstDash val="solid"/>
                      <a:round/>
                      <a:headEnd type="none" w="med" len="med"/>
                      <a:tailEnd type="none" w="med" len="med"/>
                    </a:lnL>
                    <a:lnR w="9525" cap="flat" cmpd="sng" algn="ctr">
                      <a:solidFill>
                        <a:srgbClr val="E1E6ED"/>
                      </a:solidFill>
                      <a:prstDash val="solid"/>
                      <a:round/>
                      <a:headEnd type="none" w="med" len="med"/>
                      <a:tailEnd type="none" w="med" len="med"/>
                    </a:lnR>
                    <a:lnT w="9525" cap="flat" cmpd="sng" algn="ctr">
                      <a:solidFill>
                        <a:srgbClr val="E1E6ED"/>
                      </a:solidFill>
                      <a:prstDash val="solid"/>
                      <a:round/>
                      <a:headEnd type="none" w="med" len="med"/>
                      <a:tailEnd type="none" w="med" len="med"/>
                    </a:lnT>
                    <a:lnB w="9525" cap="flat" cmpd="sng" algn="ctr">
                      <a:solidFill>
                        <a:srgbClr val="E1E6ED"/>
                      </a:solidFill>
                      <a:prstDash val="solid"/>
                      <a:round/>
                      <a:headEnd type="none" w="med" len="med"/>
                      <a:tailEnd type="none" w="med" len="med"/>
                    </a:lnB>
                    <a:solidFill>
                      <a:schemeClr val="bg2"/>
                    </a:solidFill>
                  </a:tcPr>
                </a:tc>
              </a:tr>
            </a:tbl>
          </a:graphicData>
        </a:graphic>
      </p:graphicFrame>
      <p:sp>
        <p:nvSpPr>
          <p:cNvPr id="6" name="Text 3"/>
          <p:cNvSpPr txBox="1"/>
          <p:nvPr/>
        </p:nvSpPr>
        <p:spPr>
          <a:xfrm>
            <a:off x="548640" y="5440680"/>
            <a:ext cx="11094415" cy="365760"/>
          </a:xfrm>
          <a:prstGeom prst="rect">
            <a:avLst/>
          </a:prstGeom>
          <a:noFill/>
          <a:ln/>
        </p:spPr>
        <p:txBody>
          <a:bodyPr wrap="square" lIns="0" tIns="0" rIns="0" bIns="0" rtlCol="0" anchor="ctr"/>
          <a:lstStyle/>
          <a:p>
            <a:pPr indent="0" marL="0">
              <a:buNone/>
            </a:pPr>
            <a:r>
              <a:rPr lang="en-US" sz="1300" dirty="0">
                <a:solidFill>
                  <a:schemeClr val="tx2"/>
                </a:solidFill>
              </a:rPr>
              <a:t>Sanity check: Asia-Pacific alone is 32.6% of the market (R4), so a 10–15% share for ME + SEA is conservative.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B6  ·  DESIGN &amp; ENGINEERING</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Built for travellers and borders</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A gantry-free, infrastructure-light lane with integrated FR camera, BLE beacon and status lighting.</a:t>
            </a:r>
            <a:endParaRPr lang="en-US" sz="1600" dirty="0"/>
          </a:p>
        </p:txBody>
      </p:sp>
      <p:pic>
        <p:nvPicPr>
          <p:cNvPr id="5" name="Annotated lane" descr="/tmp/claude-0/-home-user-sgqy/b70fb111-7300-56ba-abe4-4b6e17d8c33e/scratchpad/assets/common/lane_annot.png">    </p:cNvPr>
          <p:cNvPicPr>
            <a:picLocks noChangeAspect="1"/>
          </p:cNvPicPr>
          <p:nvPr/>
        </p:nvPicPr>
        <p:blipFill>
          <a:blip r:embed="rId1"/>
          <a:stretch>
            <a:fillRect/>
          </a:stretch>
        </p:blipFill>
        <p:spPr>
          <a:xfrm>
            <a:off x="548640" y="2103120"/>
            <a:ext cx="6583680" cy="3703320"/>
          </a:xfrm>
          <a:prstGeom prst="rect">
            <a:avLst/>
          </a:prstGeom>
        </p:spPr>
      </p:pic>
      <p:sp>
        <p:nvSpPr>
          <p:cNvPr id="6" name="Shape 3"/>
          <p:cNvSpPr/>
          <p:nvPr/>
        </p:nvSpPr>
        <p:spPr>
          <a:xfrm>
            <a:off x="548640" y="2103120"/>
            <a:ext cx="6583680" cy="3703320"/>
          </a:xfrm>
          <a:prstGeom prst="roundRect">
            <a:avLst>
              <a:gd name="adj" fmla="val 3457"/>
            </a:avLst>
          </a:prstGeom>
          <a:ln w="9525">
            <a:solidFill>
              <a:schemeClr val="accent5"/>
            </a:solidFill>
            <a:prstDash val="solid"/>
          </a:ln>
        </p:spPr>
      </p:sp>
      <p:sp>
        <p:nvSpPr>
          <p:cNvPr id="7" name="Shape 4"/>
          <p:cNvSpPr/>
          <p:nvPr/>
        </p:nvSpPr>
        <p:spPr>
          <a:xfrm>
            <a:off x="7452360" y="2121408"/>
            <a:ext cx="438912" cy="438912"/>
          </a:xfrm>
          <a:prstGeom prst="ellipse">
            <a:avLst/>
          </a:prstGeom>
          <a:solidFill>
            <a:schemeClr val="accent1">
              <a:alpha val="12000"/>
            </a:schemeClr>
          </a:solidFill>
          <a:ln/>
        </p:spPr>
      </p:sp>
      <p:pic>
        <p:nvPicPr>
          <p:cNvPr id="8" name="Image 1" descr="preencoded.png">    </p:cNvPr>
          <p:cNvPicPr>
            <a:picLocks noChangeAspect="1"/>
          </p:cNvPicPr>
          <p:nvPr/>
        </p:nvPicPr>
        <p:blipFill>
          <a:blip r:embed="rId2"/>
          <a:stretch>
            <a:fillRect/>
          </a:stretch>
        </p:blipFill>
        <p:spPr>
          <a:xfrm>
            <a:off x="7553310" y="2222358"/>
            <a:ext cx="237012" cy="237012"/>
          </a:xfrm>
          <a:prstGeom prst="rect">
            <a:avLst/>
          </a:prstGeom>
        </p:spPr>
      </p:pic>
      <p:sp>
        <p:nvSpPr>
          <p:cNvPr id="9" name="Text 5"/>
          <p:cNvSpPr txBox="1"/>
          <p:nvPr/>
        </p:nvSpPr>
        <p:spPr>
          <a:xfrm>
            <a:off x="8074152" y="2103120"/>
            <a:ext cx="3566160" cy="274320"/>
          </a:xfrm>
          <a:prstGeom prst="rect">
            <a:avLst/>
          </a:prstGeom>
          <a:noFill/>
          <a:ln/>
        </p:spPr>
        <p:txBody>
          <a:bodyPr wrap="square" lIns="0" tIns="0" rIns="0" bIns="0" rtlCol="0" anchor="ctr"/>
          <a:lstStyle/>
          <a:p>
            <a:pPr indent="0" marL="0">
              <a:buNone/>
            </a:pPr>
            <a:r>
              <a:rPr lang="en-US" sz="1600" b="1" dirty="0">
                <a:solidFill>
                  <a:schemeClr val="tx1"/>
                </a:solidFill>
              </a:rPr>
              <a:t>Human-factor design</a:t>
            </a:r>
            <a:endParaRPr lang="en-US" sz="1600" dirty="0"/>
          </a:p>
        </p:txBody>
      </p:sp>
      <p:sp>
        <p:nvSpPr>
          <p:cNvPr id="10" name="Text 6"/>
          <p:cNvSpPr txBox="1"/>
          <p:nvPr/>
        </p:nvSpPr>
        <p:spPr>
          <a:xfrm>
            <a:off x="8074152" y="2395728"/>
            <a:ext cx="3566160" cy="502920"/>
          </a:xfrm>
          <a:prstGeom prst="rect">
            <a:avLst/>
          </a:prstGeom>
          <a:noFill/>
          <a:ln/>
        </p:spPr>
        <p:txBody>
          <a:bodyPr wrap="square" lIns="0" tIns="0" rIns="0" bIns="0" rtlCol="0" anchor="t"/>
          <a:lstStyle/>
          <a:p>
            <a:pPr indent="0" marL="0">
              <a:buNone/>
            </a:pPr>
            <a:r>
              <a:rPr lang="en-US" sz="1400" dirty="0">
                <a:solidFill>
                  <a:schemeClr val="tx2"/>
                </a:solidFill>
              </a:rPr>
              <a:t>Soft-white matte finish: a calm, approachable presence</a:t>
            </a:r>
            <a:endParaRPr lang="en-US" sz="1400" dirty="0"/>
          </a:p>
        </p:txBody>
      </p:sp>
      <p:sp>
        <p:nvSpPr>
          <p:cNvPr id="11" name="Shape 7"/>
          <p:cNvSpPr/>
          <p:nvPr/>
        </p:nvSpPr>
        <p:spPr>
          <a:xfrm>
            <a:off x="7452360" y="3063240"/>
            <a:ext cx="438912" cy="438912"/>
          </a:xfrm>
          <a:prstGeom prst="ellipse">
            <a:avLst/>
          </a:prstGeom>
          <a:solidFill>
            <a:schemeClr val="accent1">
              <a:alpha val="12000"/>
            </a:schemeClr>
          </a:solidFill>
          <a:ln/>
        </p:spPr>
      </p:sp>
      <p:pic>
        <p:nvPicPr>
          <p:cNvPr id="12" name="Image 2" descr="preencoded.png">    </p:cNvPr>
          <p:cNvPicPr>
            <a:picLocks noChangeAspect="1"/>
          </p:cNvPicPr>
          <p:nvPr/>
        </p:nvPicPr>
        <p:blipFill>
          <a:blip r:embed="rId3"/>
          <a:stretch>
            <a:fillRect/>
          </a:stretch>
        </p:blipFill>
        <p:spPr>
          <a:xfrm>
            <a:off x="7553310" y="3164190"/>
            <a:ext cx="237012" cy="237012"/>
          </a:xfrm>
          <a:prstGeom prst="rect">
            <a:avLst/>
          </a:prstGeom>
        </p:spPr>
      </p:pic>
      <p:sp>
        <p:nvSpPr>
          <p:cNvPr id="13" name="Text 8"/>
          <p:cNvSpPr txBox="1"/>
          <p:nvPr/>
        </p:nvSpPr>
        <p:spPr>
          <a:xfrm>
            <a:off x="8074152" y="3044952"/>
            <a:ext cx="3566160" cy="274320"/>
          </a:xfrm>
          <a:prstGeom prst="rect">
            <a:avLst/>
          </a:prstGeom>
          <a:noFill/>
          <a:ln/>
        </p:spPr>
        <p:txBody>
          <a:bodyPr wrap="square" lIns="0" tIns="0" rIns="0" bIns="0" rtlCol="0" anchor="ctr"/>
          <a:lstStyle/>
          <a:p>
            <a:pPr indent="0" marL="0">
              <a:buNone/>
            </a:pPr>
            <a:r>
              <a:rPr lang="en-US" sz="1600" b="1" dirty="0">
                <a:solidFill>
                  <a:schemeClr val="tx1"/>
                </a:solidFill>
              </a:rPr>
              <a:t>Self-service by default</a:t>
            </a:r>
            <a:endParaRPr lang="en-US" sz="1600" dirty="0"/>
          </a:p>
        </p:txBody>
      </p:sp>
      <p:sp>
        <p:nvSpPr>
          <p:cNvPr id="14" name="Text 9"/>
          <p:cNvSpPr txBox="1"/>
          <p:nvPr/>
        </p:nvSpPr>
        <p:spPr>
          <a:xfrm>
            <a:off x="8074152" y="3337560"/>
            <a:ext cx="3566160" cy="502920"/>
          </a:xfrm>
          <a:prstGeom prst="rect">
            <a:avLst/>
          </a:prstGeom>
          <a:noFill/>
          <a:ln/>
        </p:spPr>
        <p:txBody>
          <a:bodyPr wrap="square" lIns="0" tIns="0" rIns="0" bIns="0" rtlCol="0" anchor="t"/>
          <a:lstStyle/>
          <a:p>
            <a:pPr indent="0" marL="0">
              <a:buNone/>
            </a:pPr>
            <a:r>
              <a:rPr lang="en-US" sz="1400" dirty="0">
                <a:solidFill>
                  <a:schemeClr val="tx2"/>
                </a:solidFill>
              </a:rPr>
              <a:t>FR camera, RGB guidance and status light in a slim pylon</a:t>
            </a:r>
            <a:endParaRPr lang="en-US" sz="1400" dirty="0"/>
          </a:p>
        </p:txBody>
      </p:sp>
      <p:sp>
        <p:nvSpPr>
          <p:cNvPr id="15" name="Shape 10"/>
          <p:cNvSpPr/>
          <p:nvPr/>
        </p:nvSpPr>
        <p:spPr>
          <a:xfrm>
            <a:off x="7452360" y="4005072"/>
            <a:ext cx="438912" cy="438912"/>
          </a:xfrm>
          <a:prstGeom prst="ellipse">
            <a:avLst/>
          </a:prstGeom>
          <a:solidFill>
            <a:schemeClr val="accent1">
              <a:alpha val="12000"/>
            </a:schemeClr>
          </a:solidFill>
          <a:ln/>
        </p:spPr>
      </p:sp>
      <p:pic>
        <p:nvPicPr>
          <p:cNvPr id="16" name="Image 3" descr="preencoded.png">    </p:cNvPr>
          <p:cNvPicPr>
            <a:picLocks noChangeAspect="1"/>
          </p:cNvPicPr>
          <p:nvPr/>
        </p:nvPicPr>
        <p:blipFill>
          <a:blip r:embed="rId4"/>
          <a:stretch>
            <a:fillRect/>
          </a:stretch>
        </p:blipFill>
        <p:spPr>
          <a:xfrm>
            <a:off x="7553310" y="4106022"/>
            <a:ext cx="237012" cy="237012"/>
          </a:xfrm>
          <a:prstGeom prst="rect">
            <a:avLst/>
          </a:prstGeom>
        </p:spPr>
      </p:pic>
      <p:sp>
        <p:nvSpPr>
          <p:cNvPr id="17" name="Text 11"/>
          <p:cNvSpPr txBox="1"/>
          <p:nvPr/>
        </p:nvSpPr>
        <p:spPr>
          <a:xfrm>
            <a:off x="8074152" y="3986784"/>
            <a:ext cx="3566160" cy="274320"/>
          </a:xfrm>
          <a:prstGeom prst="rect">
            <a:avLst/>
          </a:prstGeom>
          <a:noFill/>
          <a:ln/>
        </p:spPr>
        <p:txBody>
          <a:bodyPr wrap="square" lIns="0" tIns="0" rIns="0" bIns="0" rtlCol="0" anchor="ctr"/>
          <a:lstStyle/>
          <a:p>
            <a:pPr indent="0" marL="0">
              <a:buNone/>
            </a:pPr>
            <a:r>
              <a:rPr lang="en-US" sz="1600" b="1" dirty="0">
                <a:solidFill>
                  <a:schemeClr val="tx1"/>
                </a:solidFill>
              </a:rPr>
              <a:t>Brownfield-ready</a:t>
            </a:r>
            <a:endParaRPr lang="en-US" sz="1600" dirty="0"/>
          </a:p>
        </p:txBody>
      </p:sp>
      <p:sp>
        <p:nvSpPr>
          <p:cNvPr id="18" name="Text 12"/>
          <p:cNvSpPr txBox="1"/>
          <p:nvPr/>
        </p:nvSpPr>
        <p:spPr>
          <a:xfrm>
            <a:off x="8074152" y="4279392"/>
            <a:ext cx="3566160" cy="502920"/>
          </a:xfrm>
          <a:prstGeom prst="rect">
            <a:avLst/>
          </a:prstGeom>
          <a:noFill/>
          <a:ln/>
        </p:spPr>
        <p:txBody>
          <a:bodyPr wrap="square" lIns="0" tIns="0" rIns="0" bIns="0" rtlCol="0" anchor="t"/>
          <a:lstStyle/>
          <a:p>
            <a:pPr indent="0" marL="0">
              <a:buNone/>
            </a:pPr>
            <a:r>
              <a:rPr lang="en-US" sz="1400" dirty="0">
                <a:solidFill>
                  <a:schemeClr val="tx2"/>
                </a:solidFill>
              </a:rPr>
              <a:t>Light footprint cuts civil works in existing terminals</a:t>
            </a:r>
            <a:endParaRPr lang="en-US" sz="1400" dirty="0"/>
          </a:p>
        </p:txBody>
      </p:sp>
      <p:sp>
        <p:nvSpPr>
          <p:cNvPr id="19" name="Shape 13"/>
          <p:cNvSpPr/>
          <p:nvPr/>
        </p:nvSpPr>
        <p:spPr>
          <a:xfrm>
            <a:off x="7452360" y="4946904"/>
            <a:ext cx="438912" cy="438912"/>
          </a:xfrm>
          <a:prstGeom prst="ellipse">
            <a:avLst/>
          </a:prstGeom>
          <a:solidFill>
            <a:schemeClr val="accent1">
              <a:alpha val="12000"/>
            </a:schemeClr>
          </a:solidFill>
          <a:ln/>
        </p:spPr>
      </p:sp>
      <p:pic>
        <p:nvPicPr>
          <p:cNvPr id="20" name="Image 4" descr="preencoded.png">    </p:cNvPr>
          <p:cNvPicPr>
            <a:picLocks noChangeAspect="1"/>
          </p:cNvPicPr>
          <p:nvPr/>
        </p:nvPicPr>
        <p:blipFill>
          <a:blip r:embed="rId5"/>
          <a:stretch>
            <a:fillRect/>
          </a:stretch>
        </p:blipFill>
        <p:spPr>
          <a:xfrm>
            <a:off x="7553310" y="5047854"/>
            <a:ext cx="237012" cy="237012"/>
          </a:xfrm>
          <a:prstGeom prst="rect">
            <a:avLst/>
          </a:prstGeom>
        </p:spPr>
      </p:pic>
      <p:sp>
        <p:nvSpPr>
          <p:cNvPr id="21" name="Text 14"/>
          <p:cNvSpPr txBox="1"/>
          <p:nvPr/>
        </p:nvSpPr>
        <p:spPr>
          <a:xfrm>
            <a:off x="8074152" y="4928616"/>
            <a:ext cx="3566160" cy="274320"/>
          </a:xfrm>
          <a:prstGeom prst="rect">
            <a:avLst/>
          </a:prstGeom>
          <a:noFill/>
          <a:ln/>
        </p:spPr>
        <p:txBody>
          <a:bodyPr wrap="square" lIns="0" tIns="0" rIns="0" bIns="0" rtlCol="0" anchor="ctr"/>
          <a:lstStyle/>
          <a:p>
            <a:pPr indent="0" marL="0">
              <a:buNone/>
            </a:pPr>
            <a:r>
              <a:rPr lang="en-US" sz="1600" b="1" dirty="0">
                <a:solidFill>
                  <a:schemeClr val="tx1"/>
                </a:solidFill>
              </a:rPr>
              <a:t>Secure to the core</a:t>
            </a:r>
            <a:endParaRPr lang="en-US" sz="1600" dirty="0"/>
          </a:p>
        </p:txBody>
      </p:sp>
      <p:sp>
        <p:nvSpPr>
          <p:cNvPr id="22" name="Text 15"/>
          <p:cNvSpPr txBox="1"/>
          <p:nvPr/>
        </p:nvSpPr>
        <p:spPr>
          <a:xfrm>
            <a:off x="8074152" y="5221224"/>
            <a:ext cx="3566160" cy="502920"/>
          </a:xfrm>
          <a:prstGeom prst="rect">
            <a:avLst/>
          </a:prstGeom>
          <a:noFill/>
          <a:ln/>
        </p:spPr>
        <p:txBody>
          <a:bodyPr wrap="square" lIns="0" tIns="0" rIns="0" bIns="0" rtlCol="0" anchor="t"/>
          <a:lstStyle/>
          <a:p>
            <a:pPr indent="0" marL="0">
              <a:buNone/>
            </a:pPr>
            <a:r>
              <a:rPr lang="en-US" sz="1400" dirty="0">
                <a:solidFill>
                  <a:schemeClr val="tx2"/>
                </a:solidFill>
              </a:rPr>
              <a:t>Zero-trust, multi-tier, cloud-ready, hardened APIs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B7  ·  AI ADOPTION</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AI in the product and in how we build it</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InnoChamp scores AI adoption in both the offering and its development.</a:t>
            </a:r>
            <a:endParaRPr lang="en-US" sz="1600" dirty="0"/>
          </a:p>
        </p:txBody>
      </p:sp>
      <p:sp>
        <p:nvSpPr>
          <p:cNvPr id="5" name="Shape 3"/>
          <p:cNvSpPr/>
          <p:nvPr/>
        </p:nvSpPr>
        <p:spPr>
          <a:xfrm>
            <a:off x="548640" y="2103120"/>
            <a:ext cx="6400800" cy="3931920"/>
          </a:xfrm>
          <a:prstGeom prst="roundRect">
            <a:avLst>
              <a:gd name="adj" fmla="val 3721"/>
            </a:avLst>
          </a:prstGeom>
          <a:solidFill>
            <a:schemeClr val="bg2"/>
          </a:solidFill>
          <a:ln w="9525">
            <a:solidFill>
              <a:schemeClr val="accent5"/>
            </a:solidFill>
            <a:prstDash val="solid"/>
          </a:ln>
          <a:effectLst>
            <a:outerShdw sx="100000" sy="100000" kx="0" ky="0" algn="bl" rotWithShape="0" blurRad="177800" dist="38100" dir="5400000">
              <a:srgbClr val="0A1628">
                <a:alpha val="8000"/>
              </a:srgbClr>
            </a:outerShdw>
          </a:effectLst>
        </p:spPr>
      </p:sp>
      <p:sp>
        <p:nvSpPr>
          <p:cNvPr id="6" name="Text 4"/>
          <p:cNvSpPr txBox="1"/>
          <p:nvPr/>
        </p:nvSpPr>
        <p:spPr>
          <a:xfrm>
            <a:off x="868680" y="2286000"/>
            <a:ext cx="54864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IN THE PRODUCT</a:t>
            </a:r>
            <a:endParaRPr lang="en-US" sz="1100" dirty="0"/>
          </a:p>
        </p:txBody>
      </p:sp>
      <p:sp>
        <p:nvSpPr>
          <p:cNvPr id="7" name="Shape 5"/>
          <p:cNvSpPr/>
          <p:nvPr/>
        </p:nvSpPr>
        <p:spPr>
          <a:xfrm>
            <a:off x="868680" y="2697480"/>
            <a:ext cx="402336" cy="402336"/>
          </a:xfrm>
          <a:prstGeom prst="ellipse">
            <a:avLst/>
          </a:prstGeom>
          <a:solidFill>
            <a:schemeClr val="accent1">
              <a:alpha val="12000"/>
            </a:schemeClr>
          </a:solidFill>
          <a:ln/>
        </p:spPr>
      </p:sp>
      <p:pic>
        <p:nvPicPr>
          <p:cNvPr id="8" name="Image 0" descr="preencoded.png">    </p:cNvPr>
          <p:cNvPicPr>
            <a:picLocks noChangeAspect="1"/>
          </p:cNvPicPr>
          <p:nvPr/>
        </p:nvPicPr>
        <p:blipFill>
          <a:blip r:embed="rId1"/>
          <a:stretch>
            <a:fillRect/>
          </a:stretch>
        </p:blipFill>
        <p:spPr>
          <a:xfrm>
            <a:off x="961217" y="2790017"/>
            <a:ext cx="217261" cy="217261"/>
          </a:xfrm>
          <a:prstGeom prst="rect">
            <a:avLst/>
          </a:prstGeom>
        </p:spPr>
      </p:pic>
      <p:sp>
        <p:nvSpPr>
          <p:cNvPr id="9" name="Text 6"/>
          <p:cNvSpPr txBox="1"/>
          <p:nvPr/>
        </p:nvSpPr>
        <p:spPr>
          <a:xfrm>
            <a:off x="1417320" y="2715768"/>
            <a:ext cx="2468880" cy="365760"/>
          </a:xfrm>
          <a:prstGeom prst="rect">
            <a:avLst/>
          </a:prstGeom>
          <a:noFill/>
          <a:ln/>
        </p:spPr>
        <p:txBody>
          <a:bodyPr wrap="square" lIns="0" tIns="0" rIns="0" bIns="0" rtlCol="0" anchor="ctr"/>
          <a:lstStyle/>
          <a:p>
            <a:pPr indent="0" marL="0">
              <a:buNone/>
            </a:pPr>
            <a:r>
              <a:rPr lang="en-US" sz="1500" b="1" dirty="0">
                <a:solidFill>
                  <a:schemeClr val="tx1"/>
                </a:solidFill>
              </a:rPr>
              <a:t>Face recognition engine</a:t>
            </a:r>
            <a:endParaRPr lang="en-US" sz="1500" dirty="0"/>
          </a:p>
        </p:txBody>
      </p:sp>
      <p:sp>
        <p:nvSpPr>
          <p:cNvPr id="10" name="Text 7"/>
          <p:cNvSpPr txBox="1"/>
          <p:nvPr/>
        </p:nvSpPr>
        <p:spPr>
          <a:xfrm>
            <a:off x="3886200" y="2715768"/>
            <a:ext cx="2834640" cy="365760"/>
          </a:xfrm>
          <a:prstGeom prst="rect">
            <a:avLst/>
          </a:prstGeom>
          <a:noFill/>
          <a:ln/>
        </p:spPr>
        <p:txBody>
          <a:bodyPr wrap="square" lIns="0" tIns="0" rIns="0" bIns="0" rtlCol="0" anchor="ctr"/>
          <a:lstStyle/>
          <a:p>
            <a:pPr indent="0" marL="0">
              <a:buNone/>
            </a:pPr>
            <a:r>
              <a:rPr lang="en-US" sz="1400" dirty="0">
                <a:solidFill>
                  <a:schemeClr val="tx2"/>
                </a:solidFill>
              </a:rPr>
              <a:t>Reliable verification on the move</a:t>
            </a:r>
            <a:endParaRPr lang="en-US" sz="1400" dirty="0"/>
          </a:p>
        </p:txBody>
      </p:sp>
      <p:sp>
        <p:nvSpPr>
          <p:cNvPr id="11" name="Shape 8"/>
          <p:cNvSpPr/>
          <p:nvPr/>
        </p:nvSpPr>
        <p:spPr>
          <a:xfrm>
            <a:off x="868680" y="3337560"/>
            <a:ext cx="402336" cy="402336"/>
          </a:xfrm>
          <a:prstGeom prst="ellipse">
            <a:avLst/>
          </a:prstGeom>
          <a:solidFill>
            <a:schemeClr val="accent1">
              <a:alpha val="12000"/>
            </a:schemeClr>
          </a:solidFill>
          <a:ln/>
        </p:spPr>
      </p:sp>
      <p:pic>
        <p:nvPicPr>
          <p:cNvPr id="12" name="Image 1" descr="preencoded.png">    </p:cNvPr>
          <p:cNvPicPr>
            <a:picLocks noChangeAspect="1"/>
          </p:cNvPicPr>
          <p:nvPr/>
        </p:nvPicPr>
        <p:blipFill>
          <a:blip r:embed="rId2"/>
          <a:stretch>
            <a:fillRect/>
          </a:stretch>
        </p:blipFill>
        <p:spPr>
          <a:xfrm>
            <a:off x="961217" y="3430097"/>
            <a:ext cx="217261" cy="217261"/>
          </a:xfrm>
          <a:prstGeom prst="rect">
            <a:avLst/>
          </a:prstGeom>
        </p:spPr>
      </p:pic>
      <p:sp>
        <p:nvSpPr>
          <p:cNvPr id="13" name="Text 9"/>
          <p:cNvSpPr txBox="1"/>
          <p:nvPr/>
        </p:nvSpPr>
        <p:spPr>
          <a:xfrm>
            <a:off x="1417320" y="3355848"/>
            <a:ext cx="2468880" cy="365760"/>
          </a:xfrm>
          <a:prstGeom prst="rect">
            <a:avLst/>
          </a:prstGeom>
          <a:noFill/>
          <a:ln/>
        </p:spPr>
        <p:txBody>
          <a:bodyPr wrap="square" lIns="0" tIns="0" rIns="0" bIns="0" rtlCol="0" anchor="ctr"/>
          <a:lstStyle/>
          <a:p>
            <a:pPr indent="0" marL="0">
              <a:buNone/>
            </a:pPr>
            <a:r>
              <a:rPr lang="en-US" sz="1500" b="1" dirty="0">
                <a:solidFill>
                  <a:schemeClr val="tx1"/>
                </a:solidFill>
              </a:rPr>
              <a:t>AI co-pilot</a:t>
            </a:r>
            <a:endParaRPr lang="en-US" sz="1500" dirty="0"/>
          </a:p>
        </p:txBody>
      </p:sp>
      <p:sp>
        <p:nvSpPr>
          <p:cNvPr id="14" name="Text 10"/>
          <p:cNvSpPr txBox="1"/>
          <p:nvPr/>
        </p:nvSpPr>
        <p:spPr>
          <a:xfrm>
            <a:off x="3886200" y="3355848"/>
            <a:ext cx="2834640" cy="365760"/>
          </a:xfrm>
          <a:prstGeom prst="rect">
            <a:avLst/>
          </a:prstGeom>
          <a:noFill/>
          <a:ln/>
        </p:spPr>
        <p:txBody>
          <a:bodyPr wrap="square" lIns="0" tIns="0" rIns="0" bIns="0" rtlCol="0" anchor="ctr"/>
          <a:lstStyle/>
          <a:p>
            <a:pPr indent="0" marL="0">
              <a:buNone/>
            </a:pPr>
            <a:r>
              <a:rPr lang="en-US" sz="1400" dirty="0">
                <a:solidFill>
                  <a:schemeClr val="tx2"/>
                </a:solidFill>
              </a:rPr>
              <a:t>Correlates related alarms, guides SOPs</a:t>
            </a:r>
            <a:endParaRPr lang="en-US" sz="1400" dirty="0"/>
          </a:p>
        </p:txBody>
      </p:sp>
      <p:sp>
        <p:nvSpPr>
          <p:cNvPr id="15" name="Shape 11"/>
          <p:cNvSpPr/>
          <p:nvPr/>
        </p:nvSpPr>
        <p:spPr>
          <a:xfrm>
            <a:off x="868680" y="3977640"/>
            <a:ext cx="402336" cy="402336"/>
          </a:xfrm>
          <a:prstGeom prst="ellipse">
            <a:avLst/>
          </a:prstGeom>
          <a:solidFill>
            <a:schemeClr val="accent1">
              <a:alpha val="12000"/>
            </a:schemeClr>
          </a:solidFill>
          <a:ln/>
        </p:spPr>
      </p:sp>
      <p:pic>
        <p:nvPicPr>
          <p:cNvPr id="16" name="Image 2" descr="preencoded.png">    </p:cNvPr>
          <p:cNvPicPr>
            <a:picLocks noChangeAspect="1"/>
          </p:cNvPicPr>
          <p:nvPr/>
        </p:nvPicPr>
        <p:blipFill>
          <a:blip r:embed="rId3"/>
          <a:stretch>
            <a:fillRect/>
          </a:stretch>
        </p:blipFill>
        <p:spPr>
          <a:xfrm>
            <a:off x="961217" y="4070177"/>
            <a:ext cx="217261" cy="217261"/>
          </a:xfrm>
          <a:prstGeom prst="rect">
            <a:avLst/>
          </a:prstGeom>
        </p:spPr>
      </p:pic>
      <p:sp>
        <p:nvSpPr>
          <p:cNvPr id="17" name="Text 12"/>
          <p:cNvSpPr txBox="1"/>
          <p:nvPr/>
        </p:nvSpPr>
        <p:spPr>
          <a:xfrm>
            <a:off x="1417320" y="3995928"/>
            <a:ext cx="2468880" cy="365760"/>
          </a:xfrm>
          <a:prstGeom prst="rect">
            <a:avLst/>
          </a:prstGeom>
          <a:noFill/>
          <a:ln/>
        </p:spPr>
        <p:txBody>
          <a:bodyPr wrap="square" lIns="0" tIns="0" rIns="0" bIns="0" rtlCol="0" anchor="ctr"/>
          <a:lstStyle/>
          <a:p>
            <a:pPr indent="0" marL="0">
              <a:buNone/>
            </a:pPr>
            <a:r>
              <a:rPr lang="en-US" sz="1500" b="1" dirty="0">
                <a:solidFill>
                  <a:schemeClr val="tx1"/>
                </a:solidFill>
              </a:rPr>
              <a:t>Behaviour analytics</a:t>
            </a:r>
            <a:endParaRPr lang="en-US" sz="1500" dirty="0"/>
          </a:p>
        </p:txBody>
      </p:sp>
      <p:sp>
        <p:nvSpPr>
          <p:cNvPr id="18" name="Text 13"/>
          <p:cNvSpPr txBox="1"/>
          <p:nvPr/>
        </p:nvSpPr>
        <p:spPr>
          <a:xfrm>
            <a:off x="3886200" y="3995928"/>
            <a:ext cx="2834640" cy="365760"/>
          </a:xfrm>
          <a:prstGeom prst="rect">
            <a:avLst/>
          </a:prstGeom>
          <a:noFill/>
          <a:ln/>
        </p:spPr>
        <p:txBody>
          <a:bodyPr wrap="square" lIns="0" tIns="0" rIns="0" bIns="0" rtlCol="0" anchor="ctr"/>
          <a:lstStyle/>
          <a:p>
            <a:pPr indent="0" marL="0">
              <a:buNone/>
            </a:pPr>
            <a:r>
              <a:rPr lang="en-US" sz="1400" dirty="0">
                <a:solidFill>
                  <a:schemeClr val="tx2"/>
                </a:solidFill>
              </a:rPr>
              <a:t>Unusual-pattern and tailgating detection</a:t>
            </a:r>
            <a:endParaRPr lang="en-US" sz="1400" dirty="0"/>
          </a:p>
        </p:txBody>
      </p:sp>
      <p:sp>
        <p:nvSpPr>
          <p:cNvPr id="19" name="Shape 14"/>
          <p:cNvSpPr/>
          <p:nvPr/>
        </p:nvSpPr>
        <p:spPr>
          <a:xfrm>
            <a:off x="868680" y="4617720"/>
            <a:ext cx="402336" cy="402336"/>
          </a:xfrm>
          <a:prstGeom prst="ellipse">
            <a:avLst/>
          </a:prstGeom>
          <a:solidFill>
            <a:schemeClr val="accent1">
              <a:alpha val="12000"/>
            </a:schemeClr>
          </a:solidFill>
          <a:ln/>
        </p:spPr>
      </p:sp>
      <p:pic>
        <p:nvPicPr>
          <p:cNvPr id="20" name="Image 3" descr="preencoded.png">    </p:cNvPr>
          <p:cNvPicPr>
            <a:picLocks noChangeAspect="1"/>
          </p:cNvPicPr>
          <p:nvPr/>
        </p:nvPicPr>
        <p:blipFill>
          <a:blip r:embed="rId4"/>
          <a:stretch>
            <a:fillRect/>
          </a:stretch>
        </p:blipFill>
        <p:spPr>
          <a:xfrm>
            <a:off x="961217" y="4710257"/>
            <a:ext cx="217261" cy="217261"/>
          </a:xfrm>
          <a:prstGeom prst="rect">
            <a:avLst/>
          </a:prstGeom>
        </p:spPr>
      </p:pic>
      <p:sp>
        <p:nvSpPr>
          <p:cNvPr id="21" name="Text 15"/>
          <p:cNvSpPr txBox="1"/>
          <p:nvPr/>
        </p:nvSpPr>
        <p:spPr>
          <a:xfrm>
            <a:off x="1417320" y="4636008"/>
            <a:ext cx="2468880" cy="365760"/>
          </a:xfrm>
          <a:prstGeom prst="rect">
            <a:avLst/>
          </a:prstGeom>
          <a:noFill/>
          <a:ln/>
        </p:spPr>
        <p:txBody>
          <a:bodyPr wrap="square" lIns="0" tIns="0" rIns="0" bIns="0" rtlCol="0" anchor="ctr"/>
          <a:lstStyle/>
          <a:p>
            <a:pPr indent="0" marL="0">
              <a:buNone/>
            </a:pPr>
            <a:r>
              <a:rPr lang="en-US" sz="1500" b="1" dirty="0">
                <a:solidFill>
                  <a:schemeClr val="tx1"/>
                </a:solidFill>
              </a:rPr>
              <a:t>Flow prediction</a:t>
            </a:r>
            <a:endParaRPr lang="en-US" sz="1500" dirty="0"/>
          </a:p>
        </p:txBody>
      </p:sp>
      <p:sp>
        <p:nvSpPr>
          <p:cNvPr id="22" name="Text 16"/>
          <p:cNvSpPr txBox="1"/>
          <p:nvPr/>
        </p:nvSpPr>
        <p:spPr>
          <a:xfrm>
            <a:off x="3886200" y="4636008"/>
            <a:ext cx="2834640" cy="365760"/>
          </a:xfrm>
          <a:prstGeom prst="rect">
            <a:avLst/>
          </a:prstGeom>
          <a:noFill/>
          <a:ln/>
        </p:spPr>
        <p:txBody>
          <a:bodyPr wrap="square" lIns="0" tIns="0" rIns="0" bIns="0" rtlCol="0" anchor="ctr"/>
          <a:lstStyle/>
          <a:p>
            <a:pPr indent="0" marL="0">
              <a:buNone/>
            </a:pPr>
            <a:r>
              <a:rPr lang="en-US" sz="1400" dirty="0">
                <a:solidFill>
                  <a:schemeClr val="tx2"/>
                </a:solidFill>
              </a:rPr>
              <a:t>Congestion forecasting across zones</a:t>
            </a:r>
            <a:endParaRPr lang="en-US" sz="1400" dirty="0"/>
          </a:p>
        </p:txBody>
      </p:sp>
      <p:sp>
        <p:nvSpPr>
          <p:cNvPr id="23" name="Shape 17"/>
          <p:cNvSpPr/>
          <p:nvPr/>
        </p:nvSpPr>
        <p:spPr>
          <a:xfrm>
            <a:off x="868680" y="5257800"/>
            <a:ext cx="402336" cy="402336"/>
          </a:xfrm>
          <a:prstGeom prst="ellipse">
            <a:avLst/>
          </a:prstGeom>
          <a:solidFill>
            <a:schemeClr val="accent1">
              <a:alpha val="12000"/>
            </a:schemeClr>
          </a:solidFill>
          <a:ln/>
        </p:spPr>
      </p:sp>
      <p:pic>
        <p:nvPicPr>
          <p:cNvPr id="24" name="Image 4" descr="preencoded.png">    </p:cNvPr>
          <p:cNvPicPr>
            <a:picLocks noChangeAspect="1"/>
          </p:cNvPicPr>
          <p:nvPr/>
        </p:nvPicPr>
        <p:blipFill>
          <a:blip r:embed="rId5"/>
          <a:stretch>
            <a:fillRect/>
          </a:stretch>
        </p:blipFill>
        <p:spPr>
          <a:xfrm>
            <a:off x="961217" y="5350337"/>
            <a:ext cx="217261" cy="217261"/>
          </a:xfrm>
          <a:prstGeom prst="rect">
            <a:avLst/>
          </a:prstGeom>
        </p:spPr>
      </p:pic>
      <p:sp>
        <p:nvSpPr>
          <p:cNvPr id="25" name="Text 18"/>
          <p:cNvSpPr txBox="1"/>
          <p:nvPr/>
        </p:nvSpPr>
        <p:spPr>
          <a:xfrm>
            <a:off x="1417320" y="5276088"/>
            <a:ext cx="2468880" cy="365760"/>
          </a:xfrm>
          <a:prstGeom prst="rect">
            <a:avLst/>
          </a:prstGeom>
          <a:noFill/>
          <a:ln/>
        </p:spPr>
        <p:txBody>
          <a:bodyPr wrap="square" lIns="0" tIns="0" rIns="0" bIns="0" rtlCol="0" anchor="ctr"/>
          <a:lstStyle/>
          <a:p>
            <a:pPr indent="0" marL="0">
              <a:buNone/>
            </a:pPr>
            <a:r>
              <a:rPr lang="en-US" sz="1500" b="1" dirty="0">
                <a:solidFill>
                  <a:schemeClr val="tx1"/>
                </a:solidFill>
              </a:rPr>
              <a:t>Predictive maintenance</a:t>
            </a:r>
            <a:endParaRPr lang="en-US" sz="1500" dirty="0"/>
          </a:p>
        </p:txBody>
      </p:sp>
      <p:sp>
        <p:nvSpPr>
          <p:cNvPr id="26" name="Text 19"/>
          <p:cNvSpPr txBox="1"/>
          <p:nvPr/>
        </p:nvSpPr>
        <p:spPr>
          <a:xfrm>
            <a:off x="3886200" y="5276088"/>
            <a:ext cx="2834640" cy="365760"/>
          </a:xfrm>
          <a:prstGeom prst="rect">
            <a:avLst/>
          </a:prstGeom>
          <a:noFill/>
          <a:ln/>
        </p:spPr>
        <p:txBody>
          <a:bodyPr wrap="square" lIns="0" tIns="0" rIns="0" bIns="0" rtlCol="0" anchor="ctr"/>
          <a:lstStyle/>
          <a:p>
            <a:pPr indent="0" marL="0">
              <a:buNone/>
            </a:pPr>
            <a:r>
              <a:rPr lang="en-US" sz="1400" dirty="0">
                <a:solidFill>
                  <a:schemeClr val="tx2"/>
                </a:solidFill>
              </a:rPr>
              <a:t>Device and network health monitoring</a:t>
            </a:r>
            <a:endParaRPr lang="en-US" sz="1400" dirty="0"/>
          </a:p>
        </p:txBody>
      </p:sp>
      <p:sp>
        <p:nvSpPr>
          <p:cNvPr id="27" name="Shape 20"/>
          <p:cNvSpPr/>
          <p:nvPr/>
        </p:nvSpPr>
        <p:spPr>
          <a:xfrm>
            <a:off x="7223760" y="2103120"/>
            <a:ext cx="4419295" cy="3931920"/>
          </a:xfrm>
          <a:prstGeom prst="roundRect">
            <a:avLst>
              <a:gd name="adj" fmla="val 3721"/>
            </a:avLst>
          </a:prstGeom>
          <a:solidFill>
            <a:schemeClr val="accent6"/>
          </a:solidFill>
          <a:ln/>
          <a:effectLst>
            <a:outerShdw sx="100000" sy="100000" kx="0" ky="0" algn="bl" rotWithShape="0" blurRad="177800" dist="38100" dir="5400000">
              <a:srgbClr val="0A1628">
                <a:alpha val="8000"/>
              </a:srgbClr>
            </a:outerShdw>
          </a:effectLst>
        </p:spPr>
      </p:sp>
      <p:sp>
        <p:nvSpPr>
          <p:cNvPr id="28" name="Text 21"/>
          <p:cNvSpPr txBox="1"/>
          <p:nvPr/>
        </p:nvSpPr>
        <p:spPr>
          <a:xfrm>
            <a:off x="7543800" y="2286000"/>
            <a:ext cx="3779215" cy="256032"/>
          </a:xfrm>
          <a:prstGeom prst="rect">
            <a:avLst/>
          </a:prstGeom>
          <a:noFill/>
          <a:ln/>
        </p:spPr>
        <p:txBody>
          <a:bodyPr wrap="square" lIns="0" tIns="0" rIns="0" bIns="0" rtlCol="0" anchor="ctr"/>
          <a:lstStyle/>
          <a:p>
            <a:pPr indent="0" marL="0">
              <a:buNone/>
            </a:pPr>
            <a:r>
              <a:rPr lang="en-US" sz="1100" b="1" spc="200" kern="0" dirty="0">
                <a:solidFill>
                  <a:schemeClr val="accent5"/>
                </a:solidFill>
              </a:rPr>
              <a:t>IN ENGINEERING</a:t>
            </a:r>
            <a:endParaRPr lang="en-US" sz="1100" dirty="0"/>
          </a:p>
        </p:txBody>
      </p:sp>
      <p:sp>
        <p:nvSpPr>
          <p:cNvPr id="29" name="Text 22"/>
          <p:cNvSpPr txBox="1"/>
          <p:nvPr/>
        </p:nvSpPr>
        <p:spPr>
          <a:xfrm>
            <a:off x="7543800" y="2697480"/>
            <a:ext cx="3779215" cy="640080"/>
          </a:xfrm>
          <a:prstGeom prst="rect">
            <a:avLst/>
          </a:prstGeom>
          <a:noFill/>
          <a:ln/>
        </p:spPr>
        <p:txBody>
          <a:bodyPr wrap="square" lIns="0" tIns="0" rIns="0" bIns="0" rtlCol="0" anchor="ctr"/>
          <a:lstStyle/>
          <a:p>
            <a:pPr indent="0" marL="0">
              <a:buNone/>
            </a:pPr>
            <a:r>
              <a:rPr lang="en-US" sz="4400" b="1" dirty="0">
                <a:solidFill>
                  <a:schemeClr val="bg1"/>
                </a:solidFill>
              </a:rPr>
              <a:t>~50%</a:t>
            </a:r>
            <a:endParaRPr lang="en-US" sz="4400" dirty="0"/>
          </a:p>
        </p:txBody>
      </p:sp>
      <p:sp>
        <p:nvSpPr>
          <p:cNvPr id="30" name="Text 23"/>
          <p:cNvSpPr txBox="1"/>
          <p:nvPr/>
        </p:nvSpPr>
        <p:spPr>
          <a:xfrm>
            <a:off x="7543800" y="3337560"/>
            <a:ext cx="3779215" cy="292608"/>
          </a:xfrm>
          <a:prstGeom prst="rect">
            <a:avLst/>
          </a:prstGeom>
          <a:noFill/>
          <a:ln/>
        </p:spPr>
        <p:txBody>
          <a:bodyPr wrap="square" lIns="0" tIns="0" rIns="0" bIns="0" rtlCol="0" anchor="ctr"/>
          <a:lstStyle/>
          <a:p>
            <a:pPr indent="0" marL="0">
              <a:buNone/>
            </a:pPr>
            <a:r>
              <a:rPr lang="en-US" sz="1400" dirty="0">
                <a:solidFill>
                  <a:schemeClr val="accent5"/>
                </a:solidFill>
              </a:rPr>
              <a:t>less effort in selected front-end activities</a:t>
            </a:r>
            <a:endParaRPr lang="en-US" sz="1400" dirty="0"/>
          </a:p>
        </p:txBody>
      </p:sp>
      <p:sp>
        <p:nvSpPr>
          <p:cNvPr id="31" name="Text 24"/>
          <p:cNvSpPr txBox="1"/>
          <p:nvPr/>
        </p:nvSpPr>
        <p:spPr>
          <a:xfrm>
            <a:off x="7543800" y="3794760"/>
            <a:ext cx="3779215" cy="640080"/>
          </a:xfrm>
          <a:prstGeom prst="rect">
            <a:avLst/>
          </a:prstGeom>
          <a:noFill/>
          <a:ln/>
        </p:spPr>
        <p:txBody>
          <a:bodyPr wrap="square" lIns="0" tIns="0" rIns="0" bIns="0" rtlCol="0" anchor="ctr"/>
          <a:lstStyle/>
          <a:p>
            <a:pPr indent="0" marL="0">
              <a:buNone/>
            </a:pPr>
            <a:r>
              <a:rPr lang="en-US" sz="4400" b="1" dirty="0">
                <a:solidFill>
                  <a:schemeClr val="bg1"/>
                </a:solidFill>
              </a:rPr>
              <a:t>~40%</a:t>
            </a:r>
            <a:endParaRPr lang="en-US" sz="4400" dirty="0"/>
          </a:p>
        </p:txBody>
      </p:sp>
      <p:sp>
        <p:nvSpPr>
          <p:cNvPr id="32" name="Text 25"/>
          <p:cNvSpPr txBox="1"/>
          <p:nvPr/>
        </p:nvSpPr>
        <p:spPr>
          <a:xfrm>
            <a:off x="7543800" y="4434840"/>
            <a:ext cx="3779215" cy="292608"/>
          </a:xfrm>
          <a:prstGeom prst="rect">
            <a:avLst/>
          </a:prstGeom>
          <a:noFill/>
          <a:ln/>
        </p:spPr>
        <p:txBody>
          <a:bodyPr wrap="square" lIns="0" tIns="0" rIns="0" bIns="0" rtlCol="0" anchor="ctr"/>
          <a:lstStyle/>
          <a:p>
            <a:pPr indent="0" marL="0">
              <a:buNone/>
            </a:pPr>
            <a:r>
              <a:rPr lang="en-US" sz="1400" dirty="0">
                <a:solidFill>
                  <a:schemeClr val="accent5"/>
                </a:solidFill>
              </a:rPr>
              <a:t>better delivery-pipeline efficiency</a:t>
            </a:r>
            <a:endParaRPr lang="en-US" sz="1400" dirty="0"/>
          </a:p>
        </p:txBody>
      </p:sp>
      <p:sp>
        <p:nvSpPr>
          <p:cNvPr id="33" name="Text 26"/>
          <p:cNvSpPr txBox="1"/>
          <p:nvPr/>
        </p:nvSpPr>
        <p:spPr>
          <a:xfrm>
            <a:off x="7543800" y="4983480"/>
            <a:ext cx="3779215" cy="731520"/>
          </a:xfrm>
          <a:prstGeom prst="rect">
            <a:avLst/>
          </a:prstGeom>
          <a:noFill/>
          <a:ln/>
        </p:spPr>
        <p:txBody>
          <a:bodyPr wrap="square" lIns="0" tIns="0" rIns="0" bIns="0" rtlCol="0" anchor="t"/>
          <a:lstStyle/>
          <a:p>
            <a:pPr indent="0" marL="0">
              <a:buNone/>
            </a:pPr>
            <a:r>
              <a:rPr lang="en-US" sz="1400" dirty="0">
                <a:solidFill>
                  <a:schemeClr val="bg1"/>
                </a:solidFill>
              </a:rPr>
              <a:t>AI-assisted engineering and CI/CD with integrated security testing</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FastPass Pearl">
  <a:themeElements>
    <a:clrScheme name="FastPass Pearl">
      <a:dk1>
        <a:srgbClr val="0A1628"/>
      </a:dk1>
      <a:lt1>
        <a:srgbClr val="F6F7F9"/>
      </a:lt1>
      <a:dk2>
        <a:srgbClr val="4F5B6D"/>
      </a:dk2>
      <a:lt2>
        <a:srgbClr val="FFFFFF"/>
      </a:lt2>
      <a:accent1>
        <a:srgbClr val="0B84AE"/>
      </a:accent1>
      <a:accent2>
        <a:srgbClr val="1E9E50"/>
      </a:accent2>
      <a:accent3>
        <a:srgbClr val="D97706"/>
      </a:accent3>
      <a:accent4>
        <a:srgbClr val="7D8899"/>
      </a:accent4>
      <a:accent5>
        <a:srgbClr val="E1E6ED"/>
      </a:accent5>
      <a:accent6>
        <a:srgbClr val="0B2545"/>
      </a:accent6>
      <a:hlink>
        <a:srgbClr val="0B84AE"/>
      </a:hlink>
      <a:folHlink>
        <a:srgbClr val="4F5B6D"/>
      </a:folHlink>
    </a:clrScheme>
    <a:fontScheme name="FastPass Pear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ST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 Secure FastPass — InnoChamp 2026</dc:title>
  <dc:subject>InnoChamp 2026 Product Category pitch</dc:subject>
  <dc:creator>URS — Smart Security &amp; Automation</dc:creator>
  <cp:lastModifiedBy>URS — Smart Security &amp; Automation</cp:lastModifiedBy>
  <cp:revision>1</cp:revision>
  <dcterms:created xsi:type="dcterms:W3CDTF">2026-10-15T07:51:32Z</dcterms:created>
  <dcterms:modified xsi:type="dcterms:W3CDTF">2026-10-15T07:51:32Z</dcterms:modified>
</cp:coreProperties>
</file>